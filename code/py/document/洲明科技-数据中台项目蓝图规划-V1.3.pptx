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9"/>
  </p:handoutMasterIdLst>
  <p:sldIdLst>
    <p:sldId id="258" r:id="rId3"/>
    <p:sldId id="16777074" r:id="rId5"/>
    <p:sldId id="16777026" r:id="rId6"/>
    <p:sldId id="16777025" r:id="rId7"/>
    <p:sldId id="16777027" r:id="rId8"/>
    <p:sldId id="16777091" r:id="rId9"/>
    <p:sldId id="16777060" r:id="rId10"/>
    <p:sldId id="16777096" r:id="rId11"/>
    <p:sldId id="16777069" r:id="rId12"/>
    <p:sldId id="16777070" r:id="rId13"/>
    <p:sldId id="16777071" r:id="rId14"/>
    <p:sldId id="16777100" r:id="rId15"/>
    <p:sldId id="16777180" r:id="rId16"/>
    <p:sldId id="16777181" r:id="rId17"/>
    <p:sldId id="16777182" r:id="rId18"/>
    <p:sldId id="31" r:id="rId19"/>
    <p:sldId id="32" r:id="rId20"/>
    <p:sldId id="33" r:id="rId21"/>
    <p:sldId id="34" r:id="rId22"/>
    <p:sldId id="35" r:id="rId23"/>
    <p:sldId id="36" r:id="rId24"/>
    <p:sldId id="37" r:id="rId25"/>
    <p:sldId id="38" r:id="rId26"/>
    <p:sldId id="16777183" r:id="rId27"/>
    <p:sldId id="16777184" r:id="rId28"/>
    <p:sldId id="16777106" r:id="rId29"/>
    <p:sldId id="16777185" r:id="rId30"/>
    <p:sldId id="16777186" r:id="rId31"/>
    <p:sldId id="16777187" r:id="rId32"/>
    <p:sldId id="16777188" r:id="rId33"/>
    <p:sldId id="16777189" r:id="rId34"/>
    <p:sldId id="16777190" r:id="rId35"/>
    <p:sldId id="16777191" r:id="rId36"/>
    <p:sldId id="16777192" r:id="rId37"/>
    <p:sldId id="16777193" r:id="rId38"/>
    <p:sldId id="16777194" r:id="rId39"/>
    <p:sldId id="16777195" r:id="rId40"/>
    <p:sldId id="16777196" r:id="rId41"/>
    <p:sldId id="16777197" r:id="rId42"/>
    <p:sldId id="16777198" r:id="rId43"/>
    <p:sldId id="16777199" r:id="rId44"/>
    <p:sldId id="16777122" r:id="rId45"/>
    <p:sldId id="16777200" r:id="rId46"/>
    <p:sldId id="16777201" r:id="rId47"/>
    <p:sldId id="16777202" r:id="rId48"/>
    <p:sldId id="16777203" r:id="rId49"/>
    <p:sldId id="16777204" r:id="rId50"/>
    <p:sldId id="16777205" r:id="rId51"/>
    <p:sldId id="16777206" r:id="rId52"/>
    <p:sldId id="16777207" r:id="rId53"/>
    <p:sldId id="16777208" r:id="rId54"/>
    <p:sldId id="16777209" r:id="rId55"/>
    <p:sldId id="16777210" r:id="rId56"/>
    <p:sldId id="16777211" r:id="rId57"/>
    <p:sldId id="16777123" r:id="rId58"/>
    <p:sldId id="16777137" r:id="rId59"/>
    <p:sldId id="16777136" r:id="rId60"/>
    <p:sldId id="16777028" r:id="rId61"/>
    <p:sldId id="16777029" r:id="rId62"/>
    <p:sldId id="16777140" r:id="rId63"/>
    <p:sldId id="16777030" r:id="rId64"/>
    <p:sldId id="16777141" r:id="rId65"/>
    <p:sldId id="16777031" r:id="rId66"/>
    <p:sldId id="16777032" r:id="rId67"/>
    <p:sldId id="29" r:id="rId68"/>
    <p:sldId id="16777034" r:id="rId69"/>
    <p:sldId id="31" r:id="rId70"/>
    <p:sldId id="2" r:id="rId71"/>
    <p:sldId id="16777039" r:id="rId72"/>
    <p:sldId id="47" r:id="rId73"/>
    <p:sldId id="48" r:id="rId74"/>
    <p:sldId id="49" r:id="rId75"/>
    <p:sldId id="50" r:id="rId76"/>
    <p:sldId id="51" r:id="rId77"/>
    <p:sldId id="52" r:id="rId78"/>
    <p:sldId id="53" r:id="rId79"/>
    <p:sldId id="54" r:id="rId80"/>
    <p:sldId id="55" r:id="rId81"/>
    <p:sldId id="56" r:id="rId82"/>
    <p:sldId id="57" r:id="rId83"/>
    <p:sldId id="58" r:id="rId84"/>
    <p:sldId id="59" r:id="rId85"/>
    <p:sldId id="60" r:id="rId86"/>
    <p:sldId id="61" r:id="rId87"/>
    <p:sldId id="62" r:id="rId88"/>
  </p:sldIdLst>
  <p:sldSz cx="12192000" cy="6858000"/>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409B6D1-BFA5-CA4D-8203-3C503843F534}">
          <p14:sldIdLst>
            <p14:sldId id="258"/>
          </p14:sldIdLst>
        </p14:section>
        <p14:section name="数据中台项目介绍" id="{2B6C9DA5-E52A-9149-A68A-9E303EC13C32}">
          <p14:sldIdLst>
            <p14:sldId id="16777074"/>
            <p14:sldId id="16777026"/>
            <p14:sldId id="16777025"/>
            <p14:sldId id="16777027"/>
          </p14:sldIdLst>
        </p14:section>
        <p14:section name="蓝图方案" id="{77AAE65F-9850-7A44-9EA9-CC5C6D0ACB3E}">
          <p14:sldIdLst>
            <p14:sldId id="16777091"/>
            <p14:sldId id="16777060"/>
            <p14:sldId id="16777096"/>
            <p14:sldId id="16777069"/>
            <p14:sldId id="16777070"/>
            <p14:sldId id="16777071"/>
            <p14:sldId id="16777100"/>
            <p14:sldId id="16777180"/>
            <p14:sldId id="16777181"/>
            <p14:sldId id="16777182"/>
            <p14:sldId id="16777183"/>
            <p14:sldId id="16777184"/>
            <p14:sldId id="16777106"/>
            <p14:sldId id="16777185"/>
            <p14:sldId id="16777186"/>
            <p14:sldId id="16777187"/>
            <p14:sldId id="16777188"/>
            <p14:sldId id="16777189"/>
            <p14:sldId id="16777190"/>
            <p14:sldId id="16777191"/>
            <p14:sldId id="16777192"/>
            <p14:sldId id="16777193"/>
            <p14:sldId id="16777194"/>
            <p14:sldId id="16777195"/>
            <p14:sldId id="16777196"/>
            <p14:sldId id="16777197"/>
            <p14:sldId id="16777198"/>
            <p14:sldId id="16777199"/>
            <p14:sldId id="16777122"/>
            <p14:sldId id="16777200"/>
            <p14:sldId id="16777201"/>
            <p14:sldId id="16777202"/>
            <p14:sldId id="16777203"/>
            <p14:sldId id="16777204"/>
            <p14:sldId id="16777205"/>
            <p14:sldId id="16777206"/>
            <p14:sldId id="16777207"/>
            <p14:sldId id="16777208"/>
            <p14:sldId id="16777209"/>
            <p14:sldId id="16777210"/>
            <p14:sldId id="16777211"/>
            <p14:sldId id="16777123"/>
            <p14:sldId id="16777137"/>
            <p14:sldId id="16777136"/>
            <p14:sldId id="16777028"/>
            <p14:sldId id="16777029"/>
            <p14:sldId id="16777140"/>
            <p14:sldId id="16777030"/>
            <p14:sldId id="16777141"/>
            <p14:sldId id="16777031"/>
            <p14:sldId id="16777032"/>
            <p14:sldId id="29"/>
            <p14:sldId id="16777034"/>
            <p14:sldId id="31"/>
            <p14:sldId id="2"/>
            <p14:sldId id="32"/>
            <p14:sldId id="33"/>
            <p14:sldId id="16777039"/>
            <p14:sldId id="47"/>
            <p14:sldId id="48"/>
            <p14:sldId id="49"/>
            <p14:sldId id="50"/>
            <p14:sldId id="51"/>
            <p14:sldId id="52"/>
            <p14:sldId id="53"/>
            <p14:sldId id="54"/>
            <p14:sldId id="55"/>
            <p14:sldId id="56"/>
            <p14:sldId id="57"/>
            <p14:sldId id="58"/>
            <p14:sldId id="59"/>
            <p14:sldId id="60"/>
            <p14:sldId id="61"/>
            <p14:sldId id="6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cs" initials="ccs" lastIdx="1" clrIdx="0"/>
  <p:cmAuthor id="557" name="未知的使用者270" initials="未" lastIdx="0" clrIdx="556"/>
  <p:cmAuthor id="1" name="樊亮" initials="l" lastIdx="3" clrIdx="0"/>
  <p:cmAuthor id="558" name="未知的使用者228" initials="未" lastIdx="0" clrIdx="557"/>
  <p:cmAuthor id="2" name="Windows 用户" initials="W" lastIdx="6" clrIdx="0"/>
  <p:cmAuthor id="559" name="未知的使用者229" initials="未" lastIdx="0" clrIdx="558"/>
  <p:cmAuthor id="3" name="WZQ" initials="s" lastIdx="2" clrIdx="3"/>
  <p:cmAuthor id="560" name="未知的使用者230" initials="未" lastIdx="0" clrIdx="559"/>
  <p:cmAuthor id="4" name="王习习" initials="王" lastIdx="2" clrIdx="0"/>
  <p:cmAuthor id="561" name="未知的使用者231" initials="未" lastIdx="0" clrIdx="560"/>
  <p:cmAuthor id="5" name="作者" initials="A" lastIdx="0" clrIdx="2"/>
  <p:cmAuthor id="562" name="未知的使用者256" initials="未" lastIdx="0" clrIdx="561"/>
  <p:cmAuthor id="6" name="G1" initials="G" lastIdx="1" clrIdx="4"/>
  <p:cmAuthor id="563" name="未知的使用者233" initials="未" lastIdx="0" clrIdx="562"/>
  <p:cmAuthor id="7" name="g" initials="g" lastIdx="1" clrIdx="6"/>
  <p:cmAuthor id="564" name="未知的使用者234" initials="未" lastIdx="0" clrIdx="563"/>
  <p:cmAuthor id="8" name="lenovo" initials="l" lastIdx="1" clrIdx="7"/>
  <p:cmAuthor id="565" name="未知的使用者235" initials="未" lastIdx="0" clrIdx="564"/>
  <p:cmAuthor id="9" name="Wang Judy" initials="WJ" lastIdx="3" clrIdx="8"/>
  <p:cmAuthor id="566" name="未知的使用者236" initials="未" lastIdx="0" clrIdx="565"/>
  <p:cmAuthor id="10" name="wang liu" initials="wl" lastIdx="2" clrIdx="9"/>
  <p:cmAuthor id="567" name="未知的使用者257" initials="未" lastIdx="0" clrIdx="566"/>
  <p:cmAuthor id="11" name="Elma Qiannan Sun" initials="" lastIdx="6" clrIdx="11"/>
  <p:cmAuthor id="568" name="未知的使用者237" initials="未" lastIdx="0" clrIdx="567"/>
  <p:cmAuthor id="12" name="Hull Hao Yang" initials="" lastIdx="257" clrIdx="5"/>
  <p:cmAuthor id="569" name="未知的使用者238" initials="未" lastIdx="0" clrIdx="568"/>
  <p:cmAuthor id="13" name="盛 文彦" initials="盛" lastIdx="2" clrIdx="12"/>
  <p:cmAuthor id="570" name="未知的使用者239" initials="未" lastIdx="0" clrIdx="569"/>
  <p:cmAuthor id="14" name="kky" initials="k" lastIdx="2" clrIdx="13"/>
  <p:cmAuthor id="571" name="未知的使用者240" initials="未" lastIdx="0" clrIdx="570"/>
  <p:cmAuthor id="15" name="wien" initials="w" lastIdx="4" clrIdx="14"/>
  <p:cmAuthor id="572" name="未知的使用者241" initials="未" lastIdx="0" clrIdx="571"/>
  <p:cmAuthor id="16" name="未知用户11" initials="未知用户11" lastIdx="1" clrIdx="14"/>
  <p:cmAuthor id="573" name="未知的使用者242" initials="未" lastIdx="0" clrIdx="572"/>
  <p:cmAuthor id="17" name="未知用户4" initials="未知用户4" lastIdx="1" clrIdx="7"/>
  <p:cmAuthor id="574" name="未知的使用者243" initials="未" lastIdx="0" clrIdx="573"/>
  <p:cmAuthor id="18" name="未知用户13" initials="未知用户13" lastIdx="1" clrIdx="16"/>
  <p:cmAuthor id="575" name="未知的使用者258" initials="未" lastIdx="0" clrIdx="574"/>
  <p:cmAuthor id="19" name="未知用户5" initials="未知用户5" lastIdx="1" clrIdx="8"/>
  <p:cmAuthor id="576" name="未知的使用者259" initials="未" lastIdx="0" clrIdx="575"/>
  <p:cmAuthor id="20" name="未知用户15" initials="未知用户15" lastIdx="1" clrIdx="18"/>
  <p:cmAuthor id="577" name="未知的使用者260" initials="未" lastIdx="0" clrIdx="576"/>
  <p:cmAuthor id="21" name="未知用户16" initials="未知用户16" lastIdx="1" clrIdx="19"/>
  <p:cmAuthor id="578" name="未知的使用者261" initials="未" lastIdx="0" clrIdx="577"/>
  <p:cmAuthor id="22" name="未知用户17" initials="未知用户17" lastIdx="1" clrIdx="20"/>
  <p:cmAuthor id="579" name="未知的使用者262" initials="未" lastIdx="0" clrIdx="578"/>
  <p:cmAuthor id="23" name="未知用户18" initials="未知用户18" lastIdx="1" clrIdx="21"/>
  <p:cmAuthor id="580" name="未知的使用者263" initials="未" lastIdx="0" clrIdx="579"/>
  <p:cmAuthor id="24" name="未知用户19" initials="未知用户19" lastIdx="1" clrIdx="22"/>
  <p:cmAuthor id="581" name="未知的使用者264" initials="未" lastIdx="0" clrIdx="580"/>
  <p:cmAuthor id="25" name="未知用户20" initials="未知用户20" lastIdx="1" clrIdx="23"/>
  <p:cmAuthor id="582" name="未知的使用者265" initials="未" lastIdx="0" clrIdx="581"/>
  <p:cmAuthor id="26" name="未知用户21" initials="未知用户21" lastIdx="1" clrIdx="24"/>
  <p:cmAuthor id="583" name="未知的使用者266" initials="未" lastIdx="0" clrIdx="582"/>
  <p:cmAuthor id="27" name="未知用户22" initials="未知用户22" lastIdx="1" clrIdx="25"/>
  <p:cmAuthor id="584" name="未知的使用者267" initials="未" lastIdx="0" clrIdx="583"/>
  <p:cmAuthor id="28" name="未知用户23" initials="未知用户23" lastIdx="1" clrIdx="26"/>
  <p:cmAuthor id="585" name="未知的使用者268" initials="未" lastIdx="0" clrIdx="584"/>
  <p:cmAuthor id="29" name="未知用户24" initials="未知用户24" lastIdx="1" clrIdx="27"/>
  <p:cmAuthor id="586" name="未知的使用者269" initials="未" lastIdx="0" clrIdx="585"/>
  <p:cmAuthor id="30" name="未知用户25" initials="未知用户25" lastIdx="1" clrIdx="28"/>
  <p:cmAuthor id="587" name="熊琳" initials="lin" lastIdx="0" clrIdx="586"/>
  <p:cmAuthor id="31" name="未知用户26" initials="未知用户26" lastIdx="1" clrIdx="29"/>
  <p:cmAuthor id="588" name="lillian" initials="l" lastIdx="0" clrIdx="587"/>
  <p:cmAuthor id="32" name="未知用户27" initials="未知用户27" lastIdx="1" clrIdx="30"/>
  <p:cmAuthor id="589" name="未知用户197" initials="未" lastIdx="0" clrIdx="588"/>
  <p:cmAuthor id="33" name="未知用户28" initials="未知用户28" lastIdx="1" clrIdx="31"/>
  <p:cmAuthor id="590" name="hongfa" initials="h" lastIdx="0" clrIdx="589"/>
  <p:cmAuthor id="34" name="未知用户6" initials="未知用户6" lastIdx="1" clrIdx="9"/>
  <p:cmAuthor id="591" name="xiaolong li" initials="xl" lastIdx="0" clrIdx="590"/>
  <p:cmAuthor id="592" name="李明阳/信息技术分公司/信息科技公司/海油发展" initials="李明阳/信息技术分公司/信息科技公司/海油发展" lastIdx="0" clrIdx="591"/>
  <p:cmAuthor id="36" name="唐承均" initials="xb21cn" lastIdx="1" clrIdx="36"/>
  <p:cmAuthor id="593" name="许晓翠/信息技术中心/集团公司机关" initials="许晓翠/信息技术中心/集团公司机关" lastIdx="0" clrIdx="592"/>
  <p:cmAuthor id="37" name="刘 铮" initials="刘" lastIdx="4" clrIdx="37"/>
  <p:cmAuthor id="594" name="kongqq" initials="k" lastIdx="0" clrIdx="593"/>
  <p:cmAuthor id="38" name="雷 鸣" initials="雷" lastIdx="1" clrIdx="38"/>
  <p:cmAuthor id="595" name="要 佳" initials="要" lastIdx="0" clrIdx="594"/>
  <p:cmAuthor id="39" name="未知用户34" initials="未知用户34" lastIdx="1" clrIdx="37"/>
  <p:cmAuthor id="596" name="shang yang" initials="sy" lastIdx="0" clrIdx="595"/>
  <p:cmAuthor id="40" name="未知用户35" initials="未知用户35" lastIdx="1" clrIdx="38"/>
  <p:cmAuthor id="597" name="huashuo" initials="h" lastIdx="0" clrIdx="596"/>
  <p:cmAuthor id="41" name="柳倩倩" initials="柳倩倩" lastIdx="0" clrIdx="40"/>
  <p:cmAuthor id="598" name="李芳振" initials="李" lastIdx="0" clrIdx="597"/>
  <p:cmAuthor id="42" name="未知用户157" initials="未" lastIdx="0" clrIdx="41"/>
  <p:cmAuthor id="599" name="admin" initials="a" lastIdx="0" clrIdx="598"/>
  <p:cmAuthor id="43" name="Ting Rong" initials="TR [5]" lastIdx="0" clrIdx="42"/>
  <p:cmAuthor id="600" name="elenaxxl" initials="e" lastIdx="0" clrIdx="599"/>
  <p:cmAuthor id="44" name="未知用户158" initials="未" lastIdx="0" clrIdx="43"/>
  <p:cmAuthor id="601" name="chen" initials="c" lastIdx="0" clrIdx="600"/>
  <p:cmAuthor id="45" name=". 沈明杰" initials=".沈" lastIdx="0" clrIdx="44"/>
  <p:cmAuthor id="602" name="吴海坡" initials="吴" lastIdx="0" clrIdx="601"/>
  <p:cmAuthor id="46" name="未知用户159" initials="未" lastIdx="0" clrIdx="45"/>
  <p:cmAuthor id="603" name="minty minty" initials="m" lastIdx="0" clrIdx="602"/>
  <p:cmAuthor id="47" name="未知用户160" initials="未" lastIdx="0" clrIdx="46"/>
  <p:cmAuthor id="604" name="CHEN LONG" initials="C" lastIdx="0" clrIdx="603"/>
  <p:cmAuthor id="48" name="韩雨" initials="韩" lastIdx="0" clrIdx="47"/>
  <p:cmAuthor id="605" name="彬 罗" initials="彬" lastIdx="0" clrIdx="604"/>
  <p:cmAuthor id="49" name="Administrator" initials="A" lastIdx="0" clrIdx="48"/>
  <p:cmAuthor id="606" name="PC" initials="P" lastIdx="0" clrIdx="605"/>
  <p:cmAuthor id="50" name="未知用户168" initials="未" lastIdx="0" clrIdx="49"/>
  <p:cmAuthor id="607" name="罗彬" initials="罗" lastIdx="0" clrIdx="606"/>
  <p:cmAuthor id="51" name="宋洁然" initials="宋" lastIdx="0" clrIdx="50"/>
  <p:cmAuthor id="608" name="刘盛潮" initials="刘" lastIdx="0" clrIdx="607"/>
  <p:cmAuthor id="52" name="順天" initials="順" lastIdx="0" clrIdx="51"/>
  <p:cmAuthor id="609" name="1 mac" initials="1" lastIdx="0" clrIdx="608"/>
  <p:cmAuthor id="53" name="ming qiu" initials="m" lastIdx="0" clrIdx="52"/>
  <p:cmAuthor id="610" name="Jinyi" initials="J" lastIdx="0" clrIdx="609"/>
  <p:cmAuthor id="54" name=" " initials="" lastIdx="0" clrIdx="53"/>
  <p:cmAuthor id="611" name="杨国" initials="杨" lastIdx="0" clrIdx="610"/>
  <p:cmAuthor id="55" name="1206988966@qq.com" initials="1" lastIdx="0" clrIdx="54"/>
  <p:cmAuthor id="612" name="tkuser" initials="t" lastIdx="0" clrIdx="611"/>
  <p:cmAuthor id="56" name="不明使用者57" initials="不" lastIdx="0" clrIdx="55"/>
  <p:cmAuthor id="613" name="caoyq0624" initials="c" lastIdx="0" clrIdx="612"/>
  <p:cmAuthor id="57" name="姜伟光" initials="姜" lastIdx="0" clrIdx="56"/>
  <p:cmAuthor id="614" name="viola_yang" initials="v" lastIdx="0" clrIdx="613"/>
  <p:cmAuthor id="58" name="yu yongchao" initials="yy" lastIdx="0" clrIdx="57"/>
  <p:cmAuthor id="615" name="张博" initials="张" lastIdx="0" clrIdx="614"/>
  <p:cmAuthor id="59" name="不明使用者56" initials="不" lastIdx="0" clrIdx="58"/>
  <p:cmAuthor id="616" name="zhenwb" initials="z" lastIdx="0" clrIdx="615"/>
  <p:cmAuthor id="60" name="kkkk" initials="k" lastIdx="0" clrIdx="59"/>
  <p:cmAuthor id="617" name="ansen emma" initials="a" lastIdx="0" clrIdx="616"/>
  <p:cmAuthor id="61" name="lucas" initials="l" lastIdx="0" clrIdx="60"/>
  <p:cmAuthor id="618" name="Q Q" initials="Q" lastIdx="0" clrIdx="617"/>
  <p:cmAuthor id="62" name="Karri Alexion-Tiernan" initials="K" lastIdx="0" clrIdx="61"/>
  <p:cmAuthor id="619" name="WHTP" initials="W" lastIdx="0" clrIdx="618"/>
  <p:cmAuthor id="63" name="Kate Kuzel" initials="K" lastIdx="0" clrIdx="62"/>
  <p:cmAuthor id="620" name="Sun Gang 孙刚(新能源-运维事业部-信息中心)" initials="SG孙" lastIdx="0" clrIdx="619"/>
  <p:cmAuthor id="64" name="傅正斌" initials="傅" lastIdx="0" clrIdx="63"/>
  <p:cmAuthor id="621" name="丹丹 高" initials="丹高" lastIdx="0" clrIdx="620"/>
  <p:cmAuthor id="65" name="未知用户293" initials="未" lastIdx="0" clrIdx="64"/>
  <p:cmAuthor id="622" name="w" initials="w" lastIdx="0" clrIdx="621"/>
  <p:cmAuthor id="66" name="wulifang" initials="wlf" lastIdx="0" clrIdx="65"/>
  <p:cmAuthor id="623" name="余潇迎" initials="余" lastIdx="0" clrIdx="622"/>
  <p:cmAuthor id="67" name="沈霄雷" initials="沈" lastIdx="0" clrIdx="66"/>
  <p:cmAuthor id="624" name="陈 橙橙" initials="陈" lastIdx="0" clrIdx="623"/>
  <p:cmAuthor id="68" name="SF" initials="S" lastIdx="0" clrIdx="67"/>
  <p:cmAuthor id="69" name="sammi" initials="s" lastIdx="0" clrIdx="68"/>
  <p:cmAuthor id="70" name="thinkbap" initials="t" lastIdx="0" clrIdx="69"/>
  <p:cmAuthor id="71" name="liq184" initials="l" lastIdx="0" clrIdx="70"/>
  <p:cmAuthor id="72" name="李 晓菲" initials="李" lastIdx="0" clrIdx="71"/>
  <p:cmAuthor id="73" name="ll z" initials="l" lastIdx="0" clrIdx="72"/>
  <p:cmAuthor id="74" name="未知用户189" initials="未" lastIdx="0" clrIdx="73"/>
  <p:cmAuthor id="75" name="未知用户178" initials="未" lastIdx="0" clrIdx="74"/>
  <p:cmAuthor id="76" name="未知用户180" initials="未" lastIdx="0" clrIdx="75"/>
  <p:cmAuthor id="77" name="未知用户186" initials="未" lastIdx="0" clrIdx="76"/>
  <p:cmAuthor id="78" name="未知用户188" initials="未" lastIdx="0" clrIdx="77"/>
  <p:cmAuthor id="79" name="aaaaaa apple" initials="a" lastIdx="0" clrIdx="78"/>
  <p:cmAuthor id="80" name="win7" initials="w" lastIdx="0" clrIdx="79"/>
  <p:cmAuthor id="81" name="未知用户87" initials="未" lastIdx="0" clrIdx="80"/>
  <p:cmAuthor id="82" name="未知用户88" initials="未" lastIdx="0" clrIdx="81"/>
  <p:cmAuthor id="83" name="panjm" initials="p" lastIdx="0" clrIdx="82"/>
  <p:cmAuthor id="84" name="柳 先涛" initials="柳" lastIdx="0" clrIdx="83"/>
  <p:cmAuthor id="85" name="catherine" initials="c" lastIdx="0" clrIdx="84"/>
  <p:cmAuthor id="86" name="未知用户199" initials="未" lastIdx="0" clrIdx="85"/>
  <p:cmAuthor id="87" name="未知用户33" initials="未知用户33" lastIdx="0" clrIdx="86"/>
  <p:cmAuthor id="88" name="未知的使用者100" initials="未" lastIdx="0" clrIdx="87"/>
  <p:cmAuthor id="89" name="未知用户2" initials="未" lastIdx="0" clrIdx="88"/>
  <p:cmAuthor id="90" name="陈静雯" initials="陈" lastIdx="0" clrIdx="89"/>
  <p:cmAuthor id="91" name="李增增" initials="李" lastIdx="0" clrIdx="90"/>
  <p:cmAuthor id="92" name="video" initials="v" lastIdx="0" clrIdx="91"/>
  <p:cmAuthor id="93" name="未知用户12" initials="未" lastIdx="0" clrIdx="92"/>
  <p:cmAuthor id="94" name="未知的使用者88" initials="未" lastIdx="0" clrIdx="93"/>
  <p:cmAuthor id="95" name="Tracy Chen" initials="T" lastIdx="0" clrIdx="94"/>
  <p:cmAuthor id="96" name="未知的使用者89" initials="未" lastIdx="0" clrIdx="95"/>
  <p:cmAuthor id="97" name="dongwc0205" initials="d" lastIdx="0" clrIdx="96"/>
  <p:cmAuthor id="98" name="未知用户310" initials="未" lastIdx="0" clrIdx="97"/>
  <p:cmAuthor id="99" name="Hi_ Young" initials="H" lastIdx="0" clrIdx="98"/>
  <p:cmAuthor id="100" name="yudi lin" initials="y" lastIdx="0" clrIdx="99"/>
  <p:cmAuthor id="101" name="李晨曦" initials="李" lastIdx="0" clrIdx="100"/>
  <p:cmAuthor id="102" name="朱雪松" initials="朱" lastIdx="0" clrIdx="101"/>
  <p:cmAuthor id="103" name="liuzga" initials="l" lastIdx="0" clrIdx="102"/>
  <p:cmAuthor id="104" name="郭禹希" initials="郭" lastIdx="0" clrIdx="103"/>
  <p:cmAuthor id="105" name="49554261@qq.com" initials="4" lastIdx="0" clrIdx="104"/>
  <p:cmAuthor id="106" name="未知用户8" initials="未" lastIdx="0" clrIdx="105"/>
  <p:cmAuthor id="107" name="未知用户9" initials="未" lastIdx="0" clrIdx="106"/>
  <p:cmAuthor id="108" name="chinalife" initials="c" lastIdx="0" clrIdx="107"/>
  <p:cmAuthor id="109" name="未知用户89" initials="未" lastIdx="0" clrIdx="108"/>
  <p:cmAuthor id="110" name="吴岩" initials="吴" lastIdx="0" clrIdx="109"/>
  <p:cmAuthor id="111" name="宋昆" initials="宋" lastIdx="0" clrIdx="110"/>
  <p:cmAuthor id="112" name="xiong" initials="x" lastIdx="0" clrIdx="111"/>
  <p:cmAuthor id="113" name="未知用户196" initials="未" lastIdx="0" clrIdx="112"/>
  <p:cmAuthor id="114" name="Machackova, Zuzana {MDAO~Basel}" initials="M" lastIdx="0" clrIdx="113"/>
  <p:cmAuthor id="115" name="Sandra" initials="S" lastIdx="0" clrIdx="114"/>
  <p:cmAuthor id="116" name="小延魔法师" initials="小" lastIdx="0" clrIdx="115"/>
  <p:cmAuthor id="117" name="spring_ren" initials="s" lastIdx="0" clrIdx="116"/>
  <p:cmAuthor id="118" name="CMDI" initials="CR" lastIdx="0" clrIdx="117"/>
  <p:cmAuthor id="119" name="Helen Keyworth (HI)" initials="H" lastIdx="0" clrIdx="118"/>
  <p:cmAuthor id="120" name="慧丽 杨" initials="慧杨" lastIdx="0" clrIdx="119"/>
  <p:cmAuthor id="121" name="hy-tkyl" initials="h" lastIdx="0" clrIdx="120"/>
  <p:cmAuthor id="122" name="localadmin" initials="l" lastIdx="0" clrIdx="121"/>
  <p:cmAuthor id="123" name="Picc" initials="P" lastIdx="0" clrIdx="122"/>
  <p:cmAuthor id="124" name="雷庭" initials="雷" lastIdx="0" clrIdx="123"/>
  <p:cmAuthor id="125" name="齐涛" initials="齐" lastIdx="0" clrIdx="124"/>
  <p:cmAuthor id="126" name="江涛 李" initials="江" lastIdx="0" clrIdx="125"/>
  <p:cmAuthor id="127" name="CommUser" initials="C" lastIdx="0" clrIdx="126"/>
  <p:cmAuthor id="128" name="�Ÿ�" initials="�" lastIdx="0" clrIdx="127"/>
  <p:cmAuthor id="129" name="dingenshi" initials="d" lastIdx="0" clrIdx="128"/>
  <p:cmAuthor id="130" name="HaoshuaiWu" initials="H" lastIdx="0" clrIdx="129"/>
  <p:cmAuthor id="131" name="ZhangYu" initials="Z" lastIdx="0" clrIdx="130"/>
  <p:cmAuthor id="132" name="cpic" initials="c" lastIdx="0" clrIdx="131"/>
  <p:cmAuthor id="133" name="wangcz2" initials="w" lastIdx="0" clrIdx="132"/>
  <p:cmAuthor id="134" name="Carol Kelly" initials="C" lastIdx="0" clrIdx="133"/>
  <p:cmAuthor id="135" name="User_2" initials="U" lastIdx="0" clrIdx="134"/>
  <p:cmAuthor id="136" name="未知的使用者155" initials="未" lastIdx="0" clrIdx="135"/>
  <p:cmAuthor id="137" name="志龙 姜" initials="志" lastIdx="0" clrIdx="136"/>
  <p:cmAuthor id="138" name="未知用户110" initials="未" lastIdx="0" clrIdx="137"/>
  <p:cmAuthor id="139" name="未知用户14" initials="未" lastIdx="0" clrIdx="138"/>
  <p:cmAuthor id="140" name="Unknown User58" initials="U" lastIdx="0" clrIdx="139"/>
  <p:cmAuthor id="141" name="刘莹" initials="刘" lastIdx="0" clrIdx="140"/>
  <p:cmAuthor id="142" name="Unknown User55" initials="U" lastIdx="0" clrIdx="141"/>
  <p:cmAuthor id="143" name="Sky123.Org" initials="S" lastIdx="0" clrIdx="142"/>
  <p:cmAuthor id="144" name="未知用户343" initials="未" lastIdx="0" clrIdx="143"/>
  <p:cmAuthor id="145" name="zhouyiming" initials="z" lastIdx="0" clrIdx="144"/>
  <p:cmAuthor id="146" name="Huipeng Cao" initials="H" lastIdx="0" clrIdx="145"/>
  <p:cmAuthor id="147" name="刘承刚" initials="刘" lastIdx="0" clrIdx="146"/>
  <p:cmAuthor id="148" name="李 雷雨" initials="李" lastIdx="0" clrIdx="147"/>
  <p:cmAuthor id="149" name="未知用户55" initials="未" lastIdx="0" clrIdx="148"/>
  <p:cmAuthor id="150" name="91257" initials="9" lastIdx="0" clrIdx="149"/>
  <p:cmAuthor id="151" name="幺以谦" initials="幺" lastIdx="0" clrIdx="150"/>
  <p:cmAuthor id="152" name="vicky" initials="v" lastIdx="0" clrIdx="151"/>
  <p:cmAuthor id="153" name="未知用户41" initials="未" lastIdx="0" clrIdx="152"/>
  <p:cmAuthor id="154" name="庆芳 许" initials="庆" lastIdx="0" clrIdx="153"/>
  <p:cmAuthor id="155" name="未知用户42" initials="未" lastIdx="0" clrIdx="154"/>
  <p:cmAuthor id="156" name="jerrychou" initials="j" lastIdx="0" clrIdx="155"/>
  <p:cmAuthor id="157" name="不明使用者12" initials="不" lastIdx="0" clrIdx="156"/>
  <p:cmAuthor id="158" name="徐 宁" initials="徐" lastIdx="0" clrIdx="157"/>
  <p:cmAuthor id="159" name="不明使用者1" initials="不" lastIdx="0" clrIdx="158"/>
  <p:cmAuthor id="160" name="QBOSSCHEN" initials="Q" lastIdx="0" clrIdx="159"/>
  <p:cmAuthor id="161" name="不明使用者2" initials="不" lastIdx="0" clrIdx="160"/>
  <p:cmAuthor id="162" name="ozg106" initials="o" lastIdx="0" clrIdx="161"/>
  <p:cmAuthor id="163" name="不明使用者3" initials="不" lastIdx="0" clrIdx="162"/>
  <p:cmAuthor id="164" name="Calvin G" initials="C" lastIdx="0" clrIdx="163"/>
  <p:cmAuthor id="165" name="不明使用者4" initials="不" lastIdx="0" clrIdx="164"/>
  <p:cmAuthor id="166" name="MC SYSTEM" initials="M" lastIdx="0" clrIdx="165"/>
  <p:cmAuthor id="167" name="不明使用者6" initials="不" lastIdx="0" clrIdx="166"/>
  <p:cmAuthor id="168" name="user" initials="u" lastIdx="0" clrIdx="167"/>
  <p:cmAuthor id="169" name="不明使用者5" initials="不" lastIdx="0" clrIdx="168"/>
  <p:cmAuthor id="170" name="李璐---寿险总公司营销管理部" initials="李" lastIdx="0" clrIdx="169"/>
  <p:cmAuthor id="171" name="不明使用者7" initials="不" lastIdx="0" clrIdx="170"/>
  <p:cmAuthor id="172" name="xuqing" initials="x" lastIdx="0" clrIdx="171"/>
  <p:cmAuthor id="173" name="不明使用者8" initials="不" lastIdx="0" clrIdx="172"/>
  <p:cmAuthor id="174" name="王顶" initials="王" lastIdx="0" clrIdx="173"/>
  <p:cmAuthor id="175" name="不明使用者9" initials="不" lastIdx="0" clrIdx="174"/>
  <p:cmAuthor id="176" name="金鹏 青岛公司 市场开发部" initials="金" lastIdx="0" clrIdx="175"/>
  <p:cmAuthor id="177" name="不明使用者10" initials="不" lastIdx="0" clrIdx="176"/>
  <p:cmAuthor id="178" name="未知用户1" initials="未知用户1" lastIdx="0" clrIdx="177"/>
  <p:cmAuthor id="179" name="不明使用者11" initials="不" lastIdx="0" clrIdx="178"/>
  <p:cmAuthor id="180" name="柴文文" initials="柴" lastIdx="0" clrIdx="179"/>
  <p:cmAuthor id="181" name="Yu Han COOEC CANADA" initials="Y" lastIdx="0" clrIdx="180"/>
  <p:cmAuthor id="182" name="xueyw" initials="x" lastIdx="0" clrIdx="181"/>
  <p:cmAuthor id="183" name="张 振华" initials="张" lastIdx="0" clrIdx="182"/>
  <p:cmAuthor id="184" name="Louis Lu" initials="L" lastIdx="0" clrIdx="183"/>
  <p:cmAuthor id="185" name="未知的使用者126" initials="未" lastIdx="0" clrIdx="184"/>
  <p:cmAuthor id="186" name="AbuSina" initials="A" lastIdx="0" clrIdx="185"/>
  <p:cmAuthor id="187" name="廖麗華" initials="廖" lastIdx="0" clrIdx="186"/>
  <p:cmAuthor id="188" name="王鹏凯" initials="王" lastIdx="0" clrIdx="187"/>
  <p:cmAuthor id="189" name="未知用户90" initials="未" lastIdx="0" clrIdx="188"/>
  <p:cmAuthor id="190" name="未知的使用者34" initials="未" lastIdx="0" clrIdx="189"/>
  <p:cmAuthor id="191" name="未知的使用者39" initials="未" lastIdx="0" clrIdx="190"/>
  <p:cmAuthor id="192" name="LeeElva" initials="L" lastIdx="0" clrIdx="191"/>
  <p:cmAuthor id="193" name="qiantong" initials="q" lastIdx="0" clrIdx="192"/>
  <p:cmAuthor id="194" name="張秀娟" initials="" lastIdx="0" clrIdx="193"/>
  <p:cmAuthor id="195" name="未知的使用者38" initials="未" lastIdx="0" clrIdx="194"/>
  <p:cmAuthor id="196" name="未知的使用者35" initials="" lastIdx="0" clrIdx="195"/>
  <p:cmAuthor id="197" name="未知的使用者30" initials="未" lastIdx="0" clrIdx="196"/>
  <p:cmAuthor id="198" name="qihua-DCMS" initials="q" lastIdx="0" clrIdx="197"/>
  <p:cmAuthor id="199" name="未知的使用者32" initials="未" lastIdx="0" clrIdx="198"/>
  <p:cmAuthor id="200" name="曾红" initials="曾" lastIdx="0" clrIdx="199"/>
  <p:cmAuthor id="201" name="不明使用者18" initials="不" lastIdx="0" clrIdx="200"/>
  <p:cmAuthor id="202" name="未知用户76" initials="未知用户76" lastIdx="0" clrIdx="201"/>
  <p:cmAuthor id="203" name="liupeng" initials="l" lastIdx="0" clrIdx="202"/>
  <p:cmAuthor id="204" name="周宏達JerryChou" initials="周" lastIdx="0" clrIdx="203"/>
  <p:cmAuthor id="205" name="luxu" initials="l" lastIdx="0" clrIdx="204"/>
  <p:cmAuthor id="206" name="hl sun" initials="h" lastIdx="0" clrIdx="205"/>
  <p:cmAuthor id="207" name="不明使用者20" initials="不" lastIdx="0" clrIdx="206"/>
  <p:cmAuthor id="208" name="不明使用者21" initials="不" lastIdx="0" clrIdx="207"/>
  <p:cmAuthor id="209" name="未知用户77" initials="未知用户77" lastIdx="0" clrIdx="208"/>
  <p:cmAuthor id="210" name="不明使用者19" initials="不" lastIdx="0" clrIdx="209"/>
  <p:cmAuthor id="211" name="yuexuejun" initials="y" lastIdx="0" clrIdx="210"/>
  <p:cmAuthor id="212" name="未知的使用者76" initials="未" lastIdx="0" clrIdx="211"/>
  <p:cmAuthor id="213" name="未知的使用者70" initials="未" lastIdx="0" clrIdx="212"/>
  <p:cmAuthor id="214" name="未知的使用者73" initials="未" lastIdx="0" clrIdx="213"/>
  <p:cmAuthor id="215" name="未知用户57" initials="未" lastIdx="0" clrIdx="214"/>
  <p:cmAuthor id="216" name="未知用户58" initials="未" lastIdx="0" clrIdx="215"/>
  <p:cmAuthor id="217" name="未知用户59" initials="未" lastIdx="0" clrIdx="216"/>
  <p:cmAuthor id="218" name="未知用户105" initials="未知用户105" lastIdx="0" clrIdx="217"/>
  <p:cmAuthor id="219" name="jet" initials="j" lastIdx="0" clrIdx="218"/>
  <p:cmAuthor id="220" name="Christina" initials="C" lastIdx="0" clrIdx="219"/>
  <p:cmAuthor id="221" name="未知用户104" initials="未" lastIdx="0" clrIdx="220"/>
  <p:cmAuthor id="222" name="yuanzh" initials="" lastIdx="0" clrIdx="221"/>
  <p:cmAuthor id="223" name="未知的使用者110" initials="未" lastIdx="0" clrIdx="222"/>
  <p:cmAuthor id="224" name="未知的使用者95" initials="未" lastIdx="0" clrIdx="223"/>
  <p:cmAuthor id="225" name="未知的使用者92" initials="未" lastIdx="0" clrIdx="224"/>
  <p:cmAuthor id="226" name="未知的使用者93" initials="未" lastIdx="0" clrIdx="225"/>
  <p:cmAuthor id="227" name="未知的使用者94" initials="未" lastIdx="0" clrIdx="226"/>
  <p:cmAuthor id="228" name="未知的使用者119" initials="未" lastIdx="0" clrIdx="227"/>
  <p:cmAuthor id="229" name="未知的使用者120" initials="未" lastIdx="0" clrIdx="228"/>
  <p:cmAuthor id="230" name="未知用户116" initials="未知用户116" lastIdx="0" clrIdx="229"/>
  <p:cmAuthor id="231" name="未知用户114" initials="未" lastIdx="0" clrIdx="230"/>
  <p:cmAuthor id="232" name="未知用户115" initials="未" lastIdx="0" clrIdx="231"/>
  <p:cmAuthor id="233" name="未知的使用者167" initials="未" lastIdx="0" clrIdx="232"/>
  <p:cmAuthor id="234" name="未知用户117" initials="未" lastIdx="0" clrIdx="233"/>
  <p:cmAuthor id="235" name="未知用户61" initials="未" lastIdx="0" clrIdx="234"/>
  <p:cmAuthor id="236" name="未知用户60" initials="未" lastIdx="0" clrIdx="235"/>
  <p:cmAuthor id="237" name="未知用户123" initials="未" lastIdx="0" clrIdx="236"/>
  <p:cmAuthor id="238" name="未知用户124" initials="未" lastIdx="0" clrIdx="237"/>
  <p:cmAuthor id="239" name="Unknown User115" initials="U" lastIdx="0" clrIdx="238"/>
  <p:cmAuthor id="240" name="未知用户106" initials="未知用户106" lastIdx="0" clrIdx="239"/>
  <p:cmAuthor id="241" name="Unknown User65" initials="U" lastIdx="0" clrIdx="240"/>
  <p:cmAuthor id="242" name="未知用户29" initials="未知用户29" lastIdx="0" clrIdx="241"/>
  <p:cmAuthor id="243" name="未知用户30" initials="未知用户30" lastIdx="0" clrIdx="242"/>
  <p:cmAuthor id="244" name="未知用户31" initials="未知用户31" lastIdx="0" clrIdx="243"/>
  <p:cmAuthor id="245" name="未知用户32" initials="未知用户32" lastIdx="0" clrIdx="244"/>
  <p:cmAuthor id="246" name="未知的使用者194" initials="未" lastIdx="0" clrIdx="245"/>
  <p:cmAuthor id="247" name="Kevin Hu" initials="" lastIdx="0" clrIdx="246"/>
  <p:cmAuthor id="248" name="未知的使用者33" initials="未" lastIdx="0" clrIdx="247"/>
  <p:cmAuthor id="249" name="Ted Su" initials="T" lastIdx="0" clrIdx="248"/>
  <p:cmAuthor id="250" name="未知的使用者118" initials="未" lastIdx="0" clrIdx="249"/>
  <p:cmAuthor id="251" name="未知的使用者115" initials="未" lastIdx="0" clrIdx="250"/>
  <p:cmAuthor id="252" name="未知用户36" initials="未知用户36" lastIdx="0" clrIdx="251"/>
  <p:cmAuthor id="253" name="石头城" initials="石" lastIdx="0" clrIdx="252"/>
  <p:cmAuthor id="254" name="未知用户85" initials="未" lastIdx="0" clrIdx="253"/>
  <p:cmAuthor id="255" name="未知用户38" initials="未知用户38" lastIdx="0" clrIdx="254"/>
  <p:cmAuthor id="256" name="未知用户127" initials="未" lastIdx="0" clrIdx="255"/>
  <p:cmAuthor id="257" name="未知用户128" initials="未" lastIdx="0" clrIdx="256"/>
  <p:cmAuthor id="258" name="shinin" initials="s" lastIdx="0" clrIdx="257"/>
  <p:cmAuthor id="259" name="未知的使用者111" initials="未" lastIdx="0" clrIdx="258"/>
  <p:cmAuthor id="260" name="未知的使用者41" initials="未" lastIdx="0" clrIdx="259"/>
  <p:cmAuthor id="261" name="YUMINGNJ" initials="" lastIdx="0" clrIdx="260"/>
  <p:cmAuthor id="262" name="未知用户118" initials="未知用户118" lastIdx="0" clrIdx="261"/>
  <p:cmAuthor id="263" name="未知用户119" initials="未知用户119" lastIdx="0" clrIdx="262"/>
  <p:cmAuthor id="264" name="未知用户91" initials="未" lastIdx="0" clrIdx="263"/>
  <p:cmAuthor id="265" name="未知用户92" initials="未" lastIdx="0" clrIdx="264"/>
  <p:cmAuthor id="266" name="未知用户74" initials="未" lastIdx="0" clrIdx="265"/>
  <p:cmAuthor id="267" name="未知用户120" initials="未知用户120" lastIdx="0" clrIdx="266"/>
  <p:cmAuthor id="268" name="未知用户125" initials="未" lastIdx="0" clrIdx="267"/>
  <p:cmAuthor id="269" name="Unknown User116" initials="U" lastIdx="0" clrIdx="268"/>
  <p:cmAuthor id="270" name="未知用户78" initials="未" lastIdx="0" clrIdx="269"/>
  <p:cmAuthor id="271" name="未知用户121" initials="未知用户121" lastIdx="0" clrIdx="270"/>
  <p:cmAuthor id="272" name="未知用户122" initials="未知用户122" lastIdx="0" clrIdx="271"/>
  <p:cmAuthor id="273" name="WPS_1679281038" initials="W" lastIdx="0" clrIdx="272"/>
  <p:cmAuthor id="274" name="Unknown User68" initials="U" lastIdx="0" clrIdx="273"/>
  <p:cmAuthor id="275" name="未知用户107" initials="未知用户107" lastIdx="0" clrIdx="274"/>
  <p:cmAuthor id="276" name="未知的使用者113" initials="未" lastIdx="0" clrIdx="275"/>
  <p:cmAuthor id="277" name="未知的使用者112" initials="未" lastIdx="0" clrIdx="276"/>
  <p:cmAuthor id="278" name="未知的使用者151" initials="未" lastIdx="0" clrIdx="277"/>
  <p:cmAuthor id="279" name="未知的使用者117" initials="未" lastIdx="0" clrIdx="278"/>
  <p:cmAuthor id="280" name="唐可欣" initials="唐" lastIdx="0" clrIdx="279"/>
  <p:cmAuthor id="281" name="未知的使用者50" initials="未" lastIdx="0" clrIdx="280"/>
  <p:cmAuthor id="282" name="未知的使用者77" initials="未" lastIdx="0" clrIdx="281"/>
  <p:cmAuthor id="283" name="未知用户40" initials="未知用户40" lastIdx="0" clrIdx="282"/>
  <p:cmAuthor id="284" name="未知用户43" initials="未知用户43" lastIdx="0" clrIdx="283"/>
  <p:cmAuthor id="285" name="未知用户44" initials="未知用户44" lastIdx="0" clrIdx="284"/>
  <p:cmAuthor id="286" name="未知用户45" initials="未知用户45" lastIdx="0" clrIdx="285"/>
  <p:cmAuthor id="287" name="未知用户46" initials="未知用户46" lastIdx="0" clrIdx="286"/>
  <p:cmAuthor id="288" name="未知用户47" initials="未知用户47" lastIdx="0" clrIdx="287"/>
  <p:cmAuthor id="289" name="未知用户48" initials="未知用户48" lastIdx="0" clrIdx="288"/>
  <p:cmAuthor id="290" name="未知用户49" initials="未知用户49" lastIdx="0" clrIdx="289"/>
  <p:cmAuthor id="291" name="未知用户50" initials="未知用户50" lastIdx="0" clrIdx="290"/>
  <p:cmAuthor id="292" name="未知用户51" initials="未知用户51" lastIdx="0" clrIdx="291"/>
  <p:cmAuthor id="293" name="未知用户52" initials="未知用户52" lastIdx="0" clrIdx="292"/>
  <p:cmAuthor id="294" name="未知用户53" initials="未知用户53" lastIdx="0" clrIdx="293"/>
  <p:cmAuthor id="295" name="未知的使用者40" initials="未" lastIdx="0" clrIdx="294"/>
  <p:cmAuthor id="296" name="未知的使用者105" initials="未" lastIdx="0" clrIdx="295"/>
  <p:cmAuthor id="297" name="未知用户54" initials="未知用户54" lastIdx="0" clrIdx="296"/>
  <p:cmAuthor id="298" name="未知的使用者59" initials="未" lastIdx="0" clrIdx="297"/>
  <p:cmAuthor id="299" name="未知用户56" initials="未知用户56" lastIdx="0" clrIdx="298"/>
  <p:cmAuthor id="300" name="Unknown User66" initials="U" lastIdx="0" clrIdx="299"/>
  <p:cmAuthor id="301" name="未知的使用者37" initials="未" lastIdx="0" clrIdx="300"/>
  <p:cmAuthor id="302" name="未知的使用者45" initials="未" lastIdx="0" clrIdx="301"/>
  <p:cmAuthor id="303" name="Unknown User70" initials="U" lastIdx="0" clrIdx="302"/>
  <p:cmAuthor id="304" name="未知用户152" initials="未" lastIdx="0" clrIdx="303"/>
  <p:cmAuthor id="305" name="曾蓓/贝贝" initials="曾" lastIdx="0" clrIdx="304"/>
  <p:cmAuthor id="306" name="未知用户62" initials="未知用户62" lastIdx="0" clrIdx="305"/>
  <p:cmAuthor id="307" name="未知用户154" initials="未" lastIdx="0" clrIdx="306"/>
  <p:cmAuthor id="308" name="施普希（菜菜）" initials="施" lastIdx="0" clrIdx="307"/>
  <p:cmAuthor id="309" name="未知用户63" initials="未知用户63" lastIdx="0" clrIdx="308"/>
  <p:cmAuthor id="310" name="曹 朝辉" initials="曹" lastIdx="0" clrIdx="309"/>
  <p:cmAuthor id="311" name="Sara Chen" initials="S" lastIdx="0" clrIdx="310"/>
  <p:cmAuthor id="312" name="mingzi wang" initials="mw" lastIdx="0" clrIdx="311"/>
  <p:cmAuthor id="313" name="未知用户64" initials="未知用户64" lastIdx="0" clrIdx="312"/>
  <p:cmAuthor id="314" name="未知用户170" initials="未" lastIdx="0" clrIdx="313"/>
  <p:cmAuthor id="315" name="未知用户65" initials="未知用户65" lastIdx="0" clrIdx="314"/>
  <p:cmAuthor id="316" name="未知用户108" initials="未知用户108" lastIdx="0" clrIdx="315"/>
  <p:cmAuthor id="317" name="未知用户67" initials="未知用户67" lastIdx="0" clrIdx="316"/>
  <p:cmAuthor id="318" name="未知用户68" initials="未知用户68" lastIdx="0" clrIdx="317"/>
  <p:cmAuthor id="319" name="未知用户69" initials="未知用户69" lastIdx="0" clrIdx="318"/>
  <p:cmAuthor id="320" name="未知用户151" initials="未" lastIdx="0" clrIdx="319"/>
  <p:cmAuthor id="321" name="未知的使用者47" initials="未" lastIdx="0" clrIdx="320"/>
  <p:cmAuthor id="322" name="未知用户70" initials="未" lastIdx="0" clrIdx="321"/>
  <p:cmAuthor id="323" name="未知的使用者60" initials="未" lastIdx="0" clrIdx="322"/>
  <p:cmAuthor id="324" name="未知用户155" initials="未" lastIdx="0" clrIdx="323"/>
  <p:cmAuthor id="325" name="。" initials="。" lastIdx="0" clrIdx="324"/>
  <p:cmAuthor id="326" name="未知的使用者57" initials="未" lastIdx="0" clrIdx="325"/>
  <p:cmAuthor id="327" name="未知的使用者54" initials="未" lastIdx="0" clrIdx="326"/>
  <p:cmAuthor id="328" name="未知的使用者66" initials="未" lastIdx="0" clrIdx="327"/>
  <p:cmAuthor id="329" name="未知用户156" initials="未" lastIdx="0" clrIdx="328"/>
  <p:cmAuthor id="330" name="maxine" initials="m" lastIdx="0" clrIdx="329"/>
  <p:cmAuthor id="331" name="未知的使用者43" initials="未" lastIdx="0" clrIdx="330"/>
  <p:cmAuthor id="332" name="Evonlin" initials="E" lastIdx="0" clrIdx="331"/>
  <p:cmAuthor id="333" name="未知的使用者106" initials="未" lastIdx="0" clrIdx="332"/>
  <p:cmAuthor id="334" name="未知的使用者107" initials="未" lastIdx="0" clrIdx="333"/>
  <p:cmAuthor id="335" name="未知的使用者108" initials="未" lastIdx="0" clrIdx="334"/>
  <p:cmAuthor id="336" name="未知的使用者86" initials="未" lastIdx="0" clrIdx="335"/>
  <p:cmAuthor id="337" name="未知的使用者103" initials="未" lastIdx="0" clrIdx="336"/>
  <p:cmAuthor id="338" name="未知的使用者104" initials="未" lastIdx="0" clrIdx="337"/>
  <p:cmAuthor id="339" name="未知的使用者98" initials="未" lastIdx="0" clrIdx="338"/>
  <p:cmAuthor id="340" name="James" initials="J" lastIdx="0" clrIdx="339"/>
  <p:cmAuthor id="341" name="未知的使用者44" initials="未" lastIdx="0" clrIdx="340"/>
  <p:cmAuthor id="342" name="Admin" initials="A" lastIdx="0" clrIdx="341"/>
  <p:cmAuthor id="343" name="Chun Chung YEH" initials="C" lastIdx="0" clrIdx="342"/>
  <p:cmAuthor id="344" name="Vicky" initials="V" lastIdx="0" clrIdx="343"/>
  <p:cmAuthor id="345" name="sharon" initials="s" lastIdx="0" clrIdx="344"/>
  <p:cmAuthor id="346" name="未知的使用者128" initials="未" lastIdx="0" clrIdx="345"/>
  <p:cmAuthor id="347" name="未知的使用者124" initials="未" lastIdx="0" clrIdx="346"/>
  <p:cmAuthor id="348" name="未知的使用者125" initials="未" lastIdx="0" clrIdx="347"/>
  <p:cmAuthor id="349" name="未知的使用者61" initials="未" lastIdx="0" clrIdx="348"/>
  <p:cmAuthor id="350" name="huang gerrard" initials="h" lastIdx="0" clrIdx="349"/>
  <p:cmAuthor id="351" name="仇怿俊" initials="仇" lastIdx="0" clrIdx="350"/>
  <p:cmAuthor id="352" name="awk zh" initials="az" lastIdx="0" clrIdx="351"/>
  <p:cmAuthor id="353" name="未知用户171" initials="未" lastIdx="0" clrIdx="352"/>
  <p:cmAuthor id="354" name="罗 罗" initials="罗" lastIdx="0" clrIdx="353"/>
  <p:cmAuthor id="355" name="未知用户172" initials="未" lastIdx="0" clrIdx="354"/>
  <p:cmAuthor id="356" name="未知用户173" initials="未" lastIdx="0" clrIdx="355"/>
  <p:cmAuthor id="357" name="未知用户149" initials="未" lastIdx="0" clrIdx="356"/>
  <p:cmAuthor id="358" name="未知用户150" initials="未" lastIdx="0" clrIdx="357"/>
  <p:cmAuthor id="359" name="未知用户95" initials="未" lastIdx="0" clrIdx="358"/>
  <p:cmAuthor id="360" name="梅芬 吳" initials="梅芬" lastIdx="0" clrIdx="359"/>
  <p:cmAuthor id="361" name="未知用户212" initials="未" lastIdx="0" clrIdx="360"/>
  <p:cmAuthor id="362" name="未知用户210" initials="未" lastIdx="0" clrIdx="361"/>
  <p:cmAuthor id="363" name="未知的使用者109" initials="未" lastIdx="0" clrIdx="362"/>
  <p:cmAuthor id="364" name="未知的使用者122" initials="未" lastIdx="0" clrIdx="363"/>
  <p:cmAuthor id="365" name="未知的使用者123" initials="未" lastIdx="0" clrIdx="364"/>
  <p:cmAuthor id="366" name="未知用户162" initials="未" lastIdx="0" clrIdx="365"/>
  <p:cmAuthor id="367" name="未知用户163" initials="未" lastIdx="0" clrIdx="366"/>
  <p:cmAuthor id="368" name="未知用户79" initials="未" lastIdx="0" clrIdx="367"/>
  <p:cmAuthor id="369" name="未知用户80" initials="未" lastIdx="0" clrIdx="368"/>
  <p:cmAuthor id="370" name="Harry xu" initials="H" lastIdx="0" clrIdx="369"/>
  <p:cmAuthor id="371" name="未知的使用者141" initials="未" lastIdx="0" clrIdx="370"/>
  <p:cmAuthor id="372" name="未知的使用者142" initials="未" lastIdx="0" clrIdx="371"/>
  <p:cmAuthor id="373" name="未知的使用者143" initials="未" lastIdx="0" clrIdx="372"/>
  <p:cmAuthor id="374" name="未知的使用者144" initials="未" lastIdx="0" clrIdx="373"/>
  <p:cmAuthor id="375" name="未知用户203" initials="未" lastIdx="0" clrIdx="374"/>
  <p:cmAuthor id="376" name="未知用户174" initials="未" lastIdx="0" clrIdx="375"/>
  <p:cmAuthor id="377" name="未知用户175" initials="未" lastIdx="0" clrIdx="376"/>
  <p:cmAuthor id="378" name="未知的使用者148" initials="未" lastIdx="0" clrIdx="377"/>
  <p:cmAuthor id="379" name="未知的使用者149" initials="未" lastIdx="0" clrIdx="378"/>
  <p:cmAuthor id="380" name="未知的使用者150" initials="未" lastIdx="0" clrIdx="379"/>
  <p:cmAuthor id="381" name="未知用户185" initials="未" lastIdx="0" clrIdx="380"/>
  <p:cmAuthor id="382" name="未知用户181" initials="未" lastIdx="0" clrIdx="381"/>
  <p:cmAuthor id="383" name="未知用户153" initials="未" lastIdx="0" clrIdx="382"/>
  <p:cmAuthor id="384" name="未知用户204" initials="未" lastIdx="0" clrIdx="383"/>
  <p:cmAuthor id="385" name="未知的使用者161" initials="未" lastIdx="0" clrIdx="384"/>
  <p:cmAuthor id="386" name="未知的使用者162" initials="未" lastIdx="0" clrIdx="385"/>
  <p:cmAuthor id="387" name="未知的使用者152" initials="未" lastIdx="0" clrIdx="386"/>
  <p:cmAuthor id="388" name="未知的使用者81" initials="未" lastIdx="0" clrIdx="387"/>
  <p:cmAuthor id="389" name="未知用户194" initials="未" lastIdx="0" clrIdx="388"/>
  <p:cmAuthor id="390" name="未知用户187" initials="未" lastIdx="0" clrIdx="389"/>
  <p:cmAuthor id="391" name="Kent" initials="K" lastIdx="0" clrIdx="390"/>
  <p:cmAuthor id="392" name="alpha" initials="a" lastIdx="0" clrIdx="391"/>
  <p:cmAuthor id="393" name="未知用户37" initials="未" lastIdx="0" clrIdx="392"/>
  <p:cmAuthor id="394" name="Unknown User22" initials="U" lastIdx="0" clrIdx="393"/>
  <p:cmAuthor id="395" name="Unknown User23" initials="U" lastIdx="0" clrIdx="394"/>
  <p:cmAuthor id="396" name="未知的使用者75" initials="未" lastIdx="0" clrIdx="395"/>
  <p:cmAuthor id="397" name="未知的使用者170" initials="未" lastIdx="0" clrIdx="396"/>
  <p:cmAuthor id="398" name="未知的使用者78" initials="未" lastIdx="0" clrIdx="397"/>
  <p:cmAuthor id="399" name="未知的使用者79" initials="未" lastIdx="0" clrIdx="398"/>
  <p:cmAuthor id="400" name="shye_EbMrZnMJ" initials="authorId_858303361" lastIdx="0" clrIdx="399"/>
  <p:cmAuthor id="401" name="未知的使用者80" initials="未" lastIdx="0" clrIdx="400"/>
  <p:cmAuthor id="402" name="wangchao" initials="w" lastIdx="0" clrIdx="401"/>
  <p:cmAuthor id="403" name="未知的使用者82" initials="未" lastIdx="0" clrIdx="402"/>
  <p:cmAuthor id="404" name="Ella Dong" initials="ED" lastIdx="0" clrIdx="403"/>
  <p:cmAuthor id="405" name="未知用户75" initials="未" lastIdx="0" clrIdx="404"/>
  <p:cmAuthor id="406" name="王 蒙" initials="王" lastIdx="0" clrIdx="405"/>
  <p:cmAuthor id="407" name="未知的使用者84" initials="未" lastIdx="0" clrIdx="406"/>
  <p:cmAuthor id="408" name="MA15" initials="M" lastIdx="0" clrIdx="407"/>
  <p:cmAuthor id="409" name="未知的使用者87" initials="未" lastIdx="0" clrIdx="408"/>
  <p:cmAuthor id="410" name="未知的使用者90" initials="未" lastIdx="0" clrIdx="409"/>
  <p:cmAuthor id="411" name="未知的使用者91" initials="未" lastIdx="0" clrIdx="410"/>
  <p:cmAuthor id="412" name="未知的使用者127" initials="未" lastIdx="0" clrIdx="411"/>
  <p:cmAuthor id="413" name="未知用户71" initials="未知用户71" lastIdx="0" clrIdx="412"/>
  <p:cmAuthor id="414" name="未知用户72" initials="未知用户72" lastIdx="0" clrIdx="413"/>
  <p:cmAuthor id="415" name="未知用户73" initials="未知用户73" lastIdx="0" clrIdx="414"/>
  <p:cmAuthor id="416" name="未知的使用者102" initials="未" lastIdx="0" clrIdx="415"/>
  <p:cmAuthor id="417" name="仝德志" initials="仝" lastIdx="0" clrIdx="416"/>
  <p:cmAuthor id="418" name="未知用户112" initials="未知用户112" lastIdx="0" clrIdx="417"/>
  <p:cmAuthor id="419" name="hanjuncompany" initials="h" lastIdx="0" clrIdx="418"/>
  <p:cmAuthor id="420" name="未知的使用者169" initials="未" lastIdx="0" clrIdx="419"/>
  <p:cmAuthor id="421" name="未知的使用者183" initials="未" lastIdx="0" clrIdx="420"/>
  <p:cmAuthor id="422" name="未知的使用者182" initials="未" lastIdx="0" clrIdx="421"/>
  <p:cmAuthor id="423" name="未知的使用者173" initials="未" lastIdx="0" clrIdx="422"/>
  <p:cmAuthor id="424" name="針對所選的門市進行小範圍實驗，捕捉驅動績效的關鍵影響因子" initials="針" lastIdx="0" clrIdx="423"/>
  <p:cmAuthor id="425" name="Johnny Hsieh" initials="J" lastIdx="0" clrIdx="424"/>
  <p:cmAuthor id="426" name="未知的使用者114" initials="未" lastIdx="0" clrIdx="425"/>
  <p:cmAuthor id="427" name="未知用户3" initials="未" lastIdx="0" clrIdx="426"/>
  <p:cmAuthor id="428" name="未知的使用者184" initials="未" lastIdx="0" clrIdx="427"/>
  <p:cmAuthor id="429" name="未知的使用者185" initials="未" lastIdx="0" clrIdx="428"/>
  <p:cmAuthor id="430" name="未知的使用者186" initials="未" lastIdx="0" clrIdx="429"/>
  <p:cmAuthor id="431" name="未知的使用者175" initials="未" lastIdx="0" clrIdx="430"/>
  <p:cmAuthor id="432" name="未知的使用者176" initials="未" lastIdx="0" clrIdx="431"/>
  <p:cmAuthor id="433" name="未知的使用者187" initials="未" lastIdx="0" clrIdx="432"/>
  <p:cmAuthor id="434" name="未知的使用者178" initials="未" lastIdx="0" clrIdx="433"/>
  <p:cmAuthor id="435" name="未知的使用者179" initials="未" lastIdx="0" clrIdx="434"/>
  <p:cmAuthor id="436" name="未知的使用者180" initials="未" lastIdx="0" clrIdx="435"/>
  <p:cmAuthor id="437" name="未知的使用者181" initials="未" lastIdx="0" clrIdx="436"/>
  <p:cmAuthor id="438" name="CHRISYU" initials="C" lastIdx="0" clrIdx="437"/>
  <p:cmAuthor id="439" name="liucunri" initials="l" lastIdx="0" clrIdx="438"/>
  <p:cmAuthor id="440" name="dcis" initials="d" lastIdx="0" clrIdx="439"/>
  <p:cmAuthor id="441" name="未知的使用者145" initials="未" lastIdx="0" clrIdx="440"/>
  <p:cmAuthor id="442" name="未知的使用者146" initials="未" lastIdx="0" clrIdx="441"/>
  <p:cmAuthor id="443" name="未知的使用者147" initials="未" lastIdx="0" clrIdx="442"/>
  <p:cmAuthor id="444" name="未知用户113" initials="未知用户113" lastIdx="0" clrIdx="443"/>
  <p:cmAuthor id="445" name="Microsoft Office User" initials="MOU" lastIdx="0" clrIdx="444"/>
  <p:cmAuthor id="446" name="未知用户86" initials="未" lastIdx="0" clrIdx="445"/>
  <p:cmAuthor id="447" name="未知用户138" initials="未" lastIdx="0" clrIdx="446"/>
  <p:cmAuthor id="448" name="未知用户130" initials="未" lastIdx="0" clrIdx="447"/>
  <p:cmAuthor id="449" name="未知用户131" initials="未" lastIdx="0" clrIdx="448"/>
  <p:cmAuthor id="450" name="未知用户132" initials="未" lastIdx="0" clrIdx="449"/>
  <p:cmAuthor id="451" name="未知用户133" initials="未" lastIdx="0" clrIdx="450"/>
  <p:cmAuthor id="452" name="未知用户134" initials="未" lastIdx="0" clrIdx="451"/>
  <p:cmAuthor id="453" name="未知用户135" initials="未" lastIdx="0" clrIdx="452"/>
  <p:cmAuthor id="454" name="未知用户137" initials="未" lastIdx="0" clrIdx="453"/>
  <p:cmAuthor id="455" name="未知用户136" initials="未" lastIdx="0" clrIdx="454"/>
  <p:cmAuthor id="456" name="未知的使用者204" initials="未" lastIdx="0" clrIdx="455"/>
  <p:cmAuthor id="457" name="黄晓平" initials="黄" lastIdx="0" clrIdx="456"/>
  <p:cmAuthor id="458" name="Yoyo Wu" initials="Y" lastIdx="0" clrIdx="457"/>
  <p:cmAuthor id="459" name="zhangbin" initials="z" lastIdx="0" clrIdx="458"/>
  <p:cmAuthor id="460" name="未知用户291" initials="未" lastIdx="0" clrIdx="459"/>
  <p:cmAuthor id="461" name="Unknown User25" initials="U" lastIdx="0" clrIdx="460"/>
  <p:cmAuthor id="462" name="Unknown User26" initials="U" lastIdx="0" clrIdx="461"/>
  <p:cmAuthor id="463" name="Unknown User27" initials="U" lastIdx="0" clrIdx="462"/>
  <p:cmAuthor id="464" name="Unknown User11" initials="U" lastIdx="0" clrIdx="463"/>
  <p:cmAuthor id="465" name="Unknown User112" initials="U" lastIdx="0" clrIdx="464"/>
  <p:cmAuthor id="466" name="Unknown User59" initials="U" lastIdx="0" clrIdx="465"/>
  <p:cmAuthor id="467" name="Unknown User113" initials="U" lastIdx="0" clrIdx="466"/>
  <p:cmAuthor id="468" name="秦 艺" initials="秦" lastIdx="0" clrIdx="467"/>
  <p:cmAuthor id="469" name="Arno.Du(杜明星)" initials="A" lastIdx="0" clrIdx="468"/>
  <p:cmAuthor id="470" name="kathy chen" initials="k" lastIdx="0" clrIdx="469"/>
  <p:cmAuthor id="471" name="未知的使用者63" initials="未" lastIdx="0" clrIdx="470"/>
  <p:cmAuthor id="472" name="Unknown User114" initials="U" lastIdx="0" clrIdx="471"/>
  <p:cmAuthor id="473" name="Unknown User111" initials="U" lastIdx="0" clrIdx="472"/>
  <p:cmAuthor id="474" name="Unknown User117" initials="U" lastIdx="0" clrIdx="473"/>
  <p:cmAuthor id="475" name="Unknown User63" initials="U" lastIdx="0" clrIdx="474"/>
  <p:cmAuthor id="476" name="Unknown User67" initials="U" lastIdx="0" clrIdx="475"/>
  <p:cmAuthor id="477" name="Unknown User69" initials="U" lastIdx="0" clrIdx="476"/>
  <p:cmAuthor id="478" name="Unknown User48" initials="U" lastIdx="0" clrIdx="477"/>
  <p:cmAuthor id="479" name="Unknown User52" initials="U" lastIdx="0" clrIdx="478"/>
  <p:cmAuthor id="480" name="Unknown User50" initials="U" lastIdx="0" clrIdx="479"/>
  <p:cmAuthor id="481" name="未知的使用者134" initials="未" lastIdx="0" clrIdx="480"/>
  <p:cmAuthor id="482" name="未知的使用者136" initials="未" lastIdx="0" clrIdx="481"/>
  <p:cmAuthor id="483" name="未知的使用者139" initials="未" lastIdx="0" clrIdx="482"/>
  <p:cmAuthor id="484" name="nancy" initials="n" lastIdx="0" clrIdx="483"/>
  <p:cmAuthor id="485" name="未知的使用者197" initials="未" lastIdx="0" clrIdx="484"/>
  <p:cmAuthor id="486" name="王丽君" initials="王" lastIdx="0" clrIdx="485"/>
  <p:cmAuthor id="487" name="未知用户126" initials="未" lastIdx="0" clrIdx="486"/>
  <p:cmAuthor id="488" name="未知用户84" initials="未" lastIdx="0" clrIdx="487"/>
  <p:cmAuthor id="489" name="未知用户10" initials="未" lastIdx="0" clrIdx="488"/>
  <p:cmAuthor id="490" name="未知用户129" initials="未" lastIdx="0" clrIdx="489"/>
  <p:cmAuthor id="491" name="未知用户202" initials="未" lastIdx="0" clrIdx="490"/>
  <p:cmAuthor id="492" name="未知的使用者165" initials="未" lastIdx="0" clrIdx="491"/>
  <p:cmAuthor id="493" name="未知的使用者159" initials="未" lastIdx="0" clrIdx="492"/>
  <p:cmAuthor id="494" name="未知的使用者160" initials="未" lastIdx="0" clrIdx="493"/>
  <p:cmAuthor id="495" name="未知用户166" initials="未知用户166" lastIdx="0" clrIdx="494"/>
  <p:cmAuthor id="496" name="未知用户139" initials="未" lastIdx="0" clrIdx="495"/>
  <p:cmAuthor id="497" name="未知用户141" initials="未" lastIdx="0" clrIdx="496"/>
  <p:cmAuthor id="498" name="未知用户143" initials="未" lastIdx="0" clrIdx="497"/>
  <p:cmAuthor id="499" name="未知用户144" initials="未" lastIdx="0" clrIdx="498"/>
  <p:cmAuthor id="500" name="未知用户145" initials="未" lastIdx="0" clrIdx="499"/>
  <p:cmAuthor id="501" name="未知用户140" initials="未" lastIdx="0" clrIdx="500"/>
  <p:cmAuthor id="502" name="未知用户142" initials="未" lastIdx="0" clrIdx="501"/>
  <p:cmAuthor id="503" name="未知用户146" initials="未" lastIdx="0" clrIdx="502"/>
  <p:cmAuthor id="504" name="未知用户147" initials="未" lastIdx="0" clrIdx="503"/>
  <p:cmAuthor id="505" name="未知用户148" initials="未" lastIdx="0" clrIdx="504"/>
  <p:cmAuthor id="506" name="未知用户195" initials="未" lastIdx="0" clrIdx="505"/>
  <p:cmAuthor id="507" name="未知用户207" initials="未" lastIdx="0" clrIdx="506"/>
  <p:cmAuthor id="508" name="未知用户208" initials="未" lastIdx="0" clrIdx="507"/>
  <p:cmAuthor id="509" name="未知用户198" initials="未" lastIdx="0" clrIdx="508"/>
  <p:cmAuthor id="510" name="未知用户209" initials="未" lastIdx="0" clrIdx="509"/>
  <p:cmAuthor id="511" name="未知用户206" initials="未" lastIdx="0" clrIdx="510"/>
  <p:cmAuthor id="512" name="未知的使用者207" initials="未" lastIdx="0" clrIdx="511"/>
  <p:cmAuthor id="513" name="未知的使用者208" initials="未" lastIdx="0" clrIdx="512"/>
  <p:cmAuthor id="514" name="未知的使用者188" initials="未" lastIdx="0" clrIdx="513"/>
  <p:cmAuthor id="515" name="未知的使用者189" initials="未" lastIdx="0" clrIdx="514"/>
  <p:cmAuthor id="516" name="未知的使用者190" initials="未" lastIdx="0" clrIdx="515"/>
  <p:cmAuthor id="517" name="未知的使用者191" initials="未" lastIdx="0" clrIdx="516"/>
  <p:cmAuthor id="518" name="未知的使用者192" initials="未" lastIdx="0" clrIdx="517"/>
  <p:cmAuthor id="519" name="未知的使用者193" initials="未" lastIdx="0" clrIdx="518"/>
  <p:cmAuthor id="520" name="未知的使用者209" initials="未" lastIdx="0" clrIdx="519"/>
  <p:cmAuthor id="521" name="未知的使用者210" initials="未" lastIdx="0" clrIdx="520"/>
  <p:cmAuthor id="522" name="未知的使用者211" initials="未" lastIdx="0" clrIdx="521"/>
  <p:cmAuthor id="523" name="未知的使用者212" initials="未" lastIdx="0" clrIdx="522"/>
  <p:cmAuthor id="524" name="未知的使用者213" initials="未" lastIdx="0" clrIdx="523"/>
  <p:cmAuthor id="525" name="未知的使用者214" initials="未" lastIdx="0" clrIdx="524"/>
  <p:cmAuthor id="526" name="未知的使用者215" initials="未" lastIdx="0" clrIdx="525"/>
  <p:cmAuthor id="527" name="未知的使用者216" initials="未" lastIdx="0" clrIdx="526"/>
  <p:cmAuthor id="528" name="未知的使用者217" initials="未" lastIdx="0" clrIdx="527"/>
  <p:cmAuthor id="529" name="未知的使用者218" initials="未" lastIdx="0" clrIdx="528"/>
  <p:cmAuthor id="530" name="未知的使用者219" initials="未" lastIdx="0" clrIdx="529"/>
  <p:cmAuthor id="531" name="未知的使用者220" initials="未" lastIdx="0" clrIdx="530"/>
  <p:cmAuthor id="532" name="未知的使用者153" initials="未" lastIdx="0" clrIdx="531"/>
  <p:cmAuthor id="533" name="未知的使用者154" initials="未" lastIdx="0" clrIdx="532"/>
  <p:cmAuthor id="534" name="未知的使用者156" initials="未" lastIdx="0" clrIdx="533"/>
  <p:cmAuthor id="535" name="未知的使用者157" initials="未" lastIdx="0" clrIdx="534"/>
  <p:cmAuthor id="536" name="未知用户66" initials="未" lastIdx="0" clrIdx="535"/>
  <p:cmAuthor id="537" name="未知的使用者129" initials="未" lastIdx="0" clrIdx="536"/>
  <p:cmAuthor id="538" name="未知的使用者130" initials="未" lastIdx="0" clrIdx="537"/>
  <p:cmAuthor id="539" name="未知的使用者131" initials="未" lastIdx="0" clrIdx="538"/>
  <p:cmAuthor id="540" name="未知的使用者132" initials="未" lastIdx="0" clrIdx="539"/>
  <p:cmAuthor id="541" name="未知的使用者164" initials="未" lastIdx="0" clrIdx="540"/>
  <p:cmAuthor id="542" name="未知的使用者172" initials="未" lastIdx="0" clrIdx="541"/>
  <p:cmAuthor id="543" name="未知的使用者174" initials="未" lastIdx="0" clrIdx="542"/>
  <p:cmAuthor id="544" name="未知的使用者247" initials="未" lastIdx="0" clrIdx="543"/>
  <p:cmAuthor id="545" name="未知的使用者249" initials="未" lastIdx="0" clrIdx="544"/>
  <p:cmAuthor id="546" name="未知的使用者250" initials="未" lastIdx="0" clrIdx="545"/>
  <p:cmAuthor id="547" name="未知的使用者251" initials="未" lastIdx="0" clrIdx="546"/>
  <p:cmAuthor id="548" name="未知的使用者246" initials="未" lastIdx="0" clrIdx="547"/>
  <p:cmAuthor id="549" name="未知的使用者224" initials="未" lastIdx="0" clrIdx="548"/>
  <p:cmAuthor id="550" name="未知的使用者252" initials="未" lastIdx="0" clrIdx="549"/>
  <p:cmAuthor id="551" name="未知的使用者253" initials="未" lastIdx="0" clrIdx="550"/>
  <p:cmAuthor id="552" name="未知的使用者254" initials="未" lastIdx="0" clrIdx="551"/>
  <p:cmAuthor id="553" name="未知的使用者255" initials="未" lastIdx="0" clrIdx="552"/>
  <p:cmAuthor id="554" name="未知的使用者226" initials="未" lastIdx="0" clrIdx="553"/>
  <p:cmAuthor id="555" name="未知的使用者227" initials="未" lastIdx="0" clrIdx="554"/>
  <p:cmAuthor id="556" name="群智集" initials="群" lastIdx="0" clrIdx="555"/>
  <p:cmAuthor id="625" name="Mia Vida Villanueva" initials="MVV" lastIdx="0" clrIdx="624"/>
  <p:cmAuthor id="626" name="曹 琦" initials="曹" lastIdx="0" clrIdx="625"/>
  <p:cmAuthor id="627" name="施怡 张" initials="施张" lastIdx="0" clrIdx="626"/>
  <p:cmAuthor id="628" name="YINZHE ZHANG" initials="YZ" lastIdx="0" clrIdx="627"/>
  <p:cmAuthor id="629" name="wayne" initials="w" lastIdx="0" clrIdx="628"/>
  <p:cmAuthor id="630" name="tc" initials="t" lastIdx="0" clrIdx="629"/>
  <p:cmAuthor id="631" name="树颖" initials="树" lastIdx="0" clrIdx="630"/>
  <p:cmAuthor id="632" name="东方_b3dea543bad08e97" initials="authorId_278826930" lastIdx="0" clrIdx="631"/>
  <p:cmAuthor id="633" name="yf" initials="y" lastIdx="0" clrIdx="632"/>
  <p:cmAuthor id="634" name="杨 雨松" initials="杨" lastIdx="0" clrIdx="633"/>
  <p:cmAuthor id="635" name="徐 国统" initials="徐" lastIdx="0" clrIdx="634"/>
  <p:cmAuthor id="636" name="Su Yi" initials="SY" lastIdx="0" clrIdx="635"/>
  <p:cmAuthor id="637" name="mao qiqi" initials="mq" lastIdx="0" clrIdx="636"/>
  <p:cmAuthor id="638" name="昊天 关" initials="昊" lastIdx="0" clrIdx="637"/>
  <p:cmAuthor id="639" name="杨 茗兮" initials="杨" lastIdx="0" clrIdx="638"/>
  <p:cmAuthor id="640" name="陈 安怡" initials="陈" lastIdx="0" clrIdx="639"/>
  <p:cmAuthor id="641" name="lin" initials="l" lastIdx="0" clrIdx="640"/>
  <p:cmAuthor id="642" name="段昌伟" initials="段" lastIdx="0" clrIdx="641"/>
  <p:cmAuthor id="643" name="LIJIE" initials="L" lastIdx="0" clrIdx="642"/>
  <p:cmAuthor id="644" name="Yu Bingyan" initials="YB" lastIdx="0" clrIdx="643"/>
  <p:cmAuthor id="645" name="何志睿" initials="何志睿" lastIdx="0" clrIdx="644"/>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E9A"/>
    <a:srgbClr val="11AFBB"/>
    <a:srgbClr val="B8DFDB"/>
    <a:srgbClr val="CEEAEE"/>
    <a:srgbClr val="7F7F86"/>
    <a:srgbClr val="0C7F8A"/>
    <a:srgbClr val="7F7F7F"/>
    <a:srgbClr val="D4E5F7"/>
    <a:srgbClr val="C7F6FA"/>
    <a:srgbClr val="00A3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70" autoAdjust="0"/>
    <p:restoredTop sz="93963" autoAdjust="0"/>
  </p:normalViewPr>
  <p:slideViewPr>
    <p:cSldViewPr snapToGrid="0">
      <p:cViewPr varScale="1">
        <p:scale>
          <a:sx n="106" d="100"/>
          <a:sy n="106" d="100"/>
        </p:scale>
        <p:origin x="192"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gs" Target="tags/tag987.xml"/><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CB0CE-CB42-468C-A93A-31811084D88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F654D-CC60-49DA-9BBA-F1294D1562C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需求访谈阶段，我们进行了相关的资料收集、会议讨论、最终梳理出需求文档。</a:t>
            </a:r>
            <a:endParaRPr kumimoji="1" lang="en-US" altLang="zh-CN" dirty="0"/>
          </a:p>
          <a:p>
            <a:r>
              <a:rPr kumimoji="1" lang="zh-CN" altLang="en-US" dirty="0"/>
              <a:t>每次访谈都会编辑会议纪要协助后续梳理。</a:t>
            </a:r>
            <a:endParaRPr kumimoji="1" lang="en-US" altLang="zh-CN" dirty="0"/>
          </a:p>
          <a:p>
            <a:r>
              <a:rPr kumimoji="1" lang="zh-CN" altLang="en-US" dirty="0"/>
              <a:t>正式访谈如有遗留确认项，也分别与相关人员单独确认</a:t>
            </a:r>
            <a:endParaRPr kumimoji="1" lang="en-US" altLang="zh-CN" dirty="0"/>
          </a:p>
          <a:p>
            <a:endParaRPr kumimoji="1" lang="en-US" altLang="zh-CN" dirty="0"/>
          </a:p>
          <a:p>
            <a:r>
              <a:rPr kumimoji="1" lang="zh-CN" altLang="en-US" dirty="0"/>
              <a:t>具体关联文件，各位可以前往</a:t>
            </a:r>
            <a:r>
              <a:rPr kumimoji="1" lang="en-US" altLang="zh-CN" dirty="0"/>
              <a:t>SVN</a:t>
            </a:r>
            <a:r>
              <a:rPr kumimoji="1" lang="zh-CN" altLang="en-US" dirty="0"/>
              <a:t>进行查看。</a:t>
            </a:r>
            <a:endParaRPr kumimoji="1" lang="zh-CN" altLang="en-US" dirty="0"/>
          </a:p>
        </p:txBody>
      </p:sp>
      <p:sp>
        <p:nvSpPr>
          <p:cNvPr id="4" name="灯片编号占位符 3"/>
          <p:cNvSpPr>
            <a:spLocks noGrp="1"/>
          </p:cNvSpPr>
          <p:nvPr>
            <p:ph type="sldNum" sz="quarter" idx="5"/>
          </p:nvPr>
        </p:nvSpPr>
        <p:spPr/>
        <p:txBody>
          <a:bodyPr/>
          <a:lstStyle/>
          <a:p>
            <a:fld id="{DD366756-4EDB-4D4A-BF8B-5A5F0E8573A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、产品报价</a:t>
            </a:r>
            <a:r>
              <a:rPr lang="en-US" altLang="zh-CN" dirty="0"/>
              <a:t>BOM</a:t>
            </a:r>
            <a:r>
              <a:rPr lang="zh-CN" altLang="en-US" dirty="0"/>
              <a:t>、替代规则，无法快速动态生成产品报价</a:t>
            </a:r>
            <a:r>
              <a:rPr lang="en-US" altLang="zh-CN" dirty="0"/>
              <a:t>BOM</a:t>
            </a:r>
            <a:br>
              <a:rPr lang="en-US" altLang="zh-CN" dirty="0"/>
            </a:br>
            <a:r>
              <a:rPr lang="en-US" altLang="zh-CN" dirty="0"/>
              <a:t>2</a:t>
            </a:r>
            <a:r>
              <a:rPr lang="zh-CN" altLang="en-US" dirty="0"/>
              <a:t>、产品标准</a:t>
            </a:r>
            <a:r>
              <a:rPr lang="en-US" altLang="zh-CN" dirty="0"/>
              <a:t>BOM</a:t>
            </a:r>
            <a:r>
              <a:rPr lang="zh-CN" altLang="en-US" dirty="0"/>
              <a:t>、损耗率、制费率的界定规则不清晰，存在重复计算的情况</a:t>
            </a:r>
            <a:endParaRPr lang="en-US" altLang="zh-CN" dirty="0"/>
          </a:p>
          <a:p>
            <a:r>
              <a:rPr lang="zh-CN" altLang="en-US" dirty="0"/>
              <a:t>        目前制费率包含制造费用、制造人工、辅料（如锡膏锡线、三防漆等，除标准</a:t>
            </a:r>
            <a:r>
              <a:rPr lang="en-US" altLang="zh-CN" dirty="0"/>
              <a:t>BOM</a:t>
            </a:r>
            <a:r>
              <a:rPr lang="zh-CN" altLang="en-US" dirty="0"/>
              <a:t>包含的胶水之外的辅料），而制费率是固定值的两个值，可是有一些产品的标准</a:t>
            </a:r>
            <a:r>
              <a:rPr lang="en-US" altLang="zh-CN" dirty="0"/>
              <a:t>BOM</a:t>
            </a:r>
            <a:r>
              <a:rPr lang="zh-CN" altLang="en-US" dirty="0"/>
              <a:t>已经包含了锡膏锡线、三防漆了，这里是重复计算的</a:t>
            </a:r>
            <a:endParaRPr lang="en-US" altLang="zh-CN" dirty="0"/>
          </a:p>
          <a:p>
            <a:r>
              <a:rPr lang="zh-CN" altLang="en-US" dirty="0"/>
              <a:t>        损耗率有订单（特殊工艺）损耗，</a:t>
            </a:r>
            <a:r>
              <a:rPr lang="en-US" altLang="zh-CN" dirty="0"/>
              <a:t>BOM</a:t>
            </a:r>
            <a:r>
              <a:rPr lang="zh-CN" altLang="en-US" dirty="0"/>
              <a:t>的损耗，工单的损耗，哪些是在标准</a:t>
            </a:r>
            <a:r>
              <a:rPr lang="en-US" altLang="zh-CN" dirty="0"/>
              <a:t>BOM</a:t>
            </a:r>
            <a:r>
              <a:rPr lang="zh-CN" altLang="en-US" dirty="0"/>
              <a:t>体现，哪些是在订单（特殊工艺）层面体现，哪些是需要手工干预的，也需要清晰的界定规则。</a:t>
            </a:r>
            <a:endParaRPr lang="en-US" altLang="zh-CN" dirty="0"/>
          </a:p>
          <a:p>
            <a:r>
              <a:rPr lang="en-US" altLang="zh-CN" dirty="0"/>
              <a:t>        BOM</a:t>
            </a:r>
            <a:r>
              <a:rPr lang="zh-CN" altLang="en-US" dirty="0"/>
              <a:t>的损耗应该是考虑在标准</a:t>
            </a:r>
            <a:r>
              <a:rPr lang="en-US" altLang="zh-CN" dirty="0"/>
              <a:t>BOM</a:t>
            </a:r>
            <a:r>
              <a:rPr lang="zh-CN" altLang="en-US" dirty="0"/>
              <a:t>的；工单的损耗应该是考虑在标准工时标准费的；订单（特殊工艺）的损耗，应该是</a:t>
            </a:r>
            <a:r>
              <a:rPr lang="en-US" altLang="zh-CN" dirty="0"/>
              <a:t>CPQ</a:t>
            </a:r>
            <a:r>
              <a:rPr lang="zh-CN" altLang="en-US" dirty="0"/>
              <a:t>订单报价测算的时候考虑的。</a:t>
            </a:r>
            <a:endParaRPr lang="en-US" altLang="zh-CN" dirty="0"/>
          </a:p>
          <a:p>
            <a:r>
              <a:rPr lang="en-US" altLang="zh-CN" dirty="0"/>
              <a:t>3</a:t>
            </a:r>
            <a:r>
              <a:rPr lang="zh-CN" altLang="en-US" dirty="0"/>
              <a:t>、制费率使用</a:t>
            </a:r>
            <a:r>
              <a:rPr lang="en-US" altLang="zh-CN" dirty="0"/>
              <a:t>1.12/1.16</a:t>
            </a:r>
            <a:r>
              <a:rPr lang="zh-CN" altLang="en-US" dirty="0"/>
              <a:t>这两个多年的公司未线上化的经验值，未及时跟财务制费率预估联动，无法最贴合各产品线实际制费率情况</a:t>
            </a:r>
            <a:endParaRPr lang="en-US" altLang="zh-CN" dirty="0"/>
          </a:p>
          <a:p>
            <a:r>
              <a:rPr lang="zh-CN" altLang="en-US" dirty="0"/>
              <a:t>        产品线的产品工程师们跟我们说的，他们用</a:t>
            </a:r>
            <a:r>
              <a:rPr lang="en-US" altLang="zh-CN" dirty="0"/>
              <a:t>1.16</a:t>
            </a:r>
            <a:r>
              <a:rPr lang="zh-CN" altLang="en-US" dirty="0"/>
              <a:t>或者</a:t>
            </a:r>
            <a:r>
              <a:rPr lang="en-US" altLang="zh-CN" dirty="0"/>
              <a:t>1.12</a:t>
            </a:r>
            <a:r>
              <a:rPr lang="zh-CN" altLang="en-US" dirty="0"/>
              <a:t>来算的，问他们数据哪里来的，说是上一任的产品工程师给他们的，多年没有边了</a:t>
            </a:r>
            <a:br>
              <a:rPr lang="zh-CN" altLang="en-US" dirty="0"/>
            </a:br>
            <a:r>
              <a:rPr lang="en-US" altLang="zh-CN" dirty="0"/>
              <a:t>4</a:t>
            </a:r>
            <a:r>
              <a:rPr lang="zh-CN" altLang="en-US" dirty="0"/>
              <a:t>、产品单位材料成本、产品单位成本测算全部依赖线下底稿，准确性差，数据质量差</a:t>
            </a:r>
            <a:br>
              <a:rPr lang="zh-CN" altLang="en-US" dirty="0"/>
            </a:br>
            <a:r>
              <a:rPr lang="en-US" altLang="zh-CN" dirty="0"/>
              <a:t>5</a:t>
            </a:r>
            <a:r>
              <a:rPr lang="zh-CN" altLang="en-US" dirty="0"/>
              <a:t>、从客户角度看，报价周期长达</a:t>
            </a:r>
            <a:r>
              <a:rPr lang="en-US" altLang="zh-CN" dirty="0"/>
              <a:t>2-5</a:t>
            </a:r>
            <a:r>
              <a:rPr lang="zh-CN" altLang="en-US" dirty="0"/>
              <a:t>天，效率低（流程复杂，经过多人处理）</a:t>
            </a:r>
            <a:br>
              <a:rPr lang="zh-CN" altLang="en-US" dirty="0"/>
            </a:br>
            <a:r>
              <a:rPr lang="en-US" altLang="zh-CN" dirty="0"/>
              <a:t>6</a:t>
            </a:r>
            <a:r>
              <a:rPr lang="zh-CN" altLang="en-US" dirty="0"/>
              <a:t>、产品单位成本测算报价后未能有效跟踪，进行预测和实际的数据分析，有效跟踪报价环节的问题</a:t>
            </a:r>
            <a:br>
              <a:rPr lang="zh-CN" altLang="en-US" dirty="0"/>
            </a:b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、产品报价后实际成本无法知悉（后台会根据交期时间可能会更换物料、或挪用更早期的库存产品）。</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、低毛利项目需要成本优化时周期较长，无法快速响应。</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BOM</a:t>
            </a:r>
            <a:r>
              <a:rPr lang="zh-CN" altLang="en-US" dirty="0"/>
              <a:t>损耗率：未来在标准</a:t>
            </a:r>
            <a:r>
              <a:rPr lang="en-US" altLang="zh-CN" dirty="0"/>
              <a:t>BOM</a:t>
            </a:r>
            <a:r>
              <a:rPr lang="zh-CN" altLang="en-US" dirty="0"/>
              <a:t>中体现，在基准价测算不考虑人为干预</a:t>
            </a:r>
            <a:br>
              <a:rPr lang="zh-CN" altLang="en-US" dirty="0"/>
            </a:br>
            <a:r>
              <a:rPr lang="zh-CN" altLang="en-US" dirty="0"/>
              <a:t>订单损耗率：特殊工艺的损耗率，未来也在标准</a:t>
            </a:r>
            <a:r>
              <a:rPr lang="en-US" altLang="zh-CN" dirty="0"/>
              <a:t>BOM</a:t>
            </a:r>
            <a:r>
              <a:rPr lang="zh-CN" altLang="en-US" dirty="0"/>
              <a:t>中体现，当前</a:t>
            </a:r>
            <a:r>
              <a:rPr lang="en-US" altLang="zh-CN" dirty="0"/>
              <a:t>PCI</a:t>
            </a:r>
            <a:r>
              <a:rPr lang="zh-CN" altLang="en-US" dirty="0"/>
              <a:t>标准化过程同步进行标准</a:t>
            </a:r>
            <a:r>
              <a:rPr lang="en-US" altLang="zh-CN" dirty="0"/>
              <a:t>BOM</a:t>
            </a:r>
            <a:r>
              <a:rPr lang="zh-CN" altLang="en-US" dirty="0"/>
              <a:t>的规则制定，在基准价测算不考虑人为干预</a:t>
            </a:r>
            <a:endParaRPr lang="en-US" altLang="zh-CN" dirty="0"/>
          </a:p>
          <a:p>
            <a:r>
              <a:rPr lang="zh-CN" altLang="en-US" dirty="0"/>
              <a:t>                    订单损耗，就是半成品直接在</a:t>
            </a:r>
            <a:r>
              <a:rPr lang="en-US" altLang="zh-CN" dirty="0"/>
              <a:t>BOM</a:t>
            </a:r>
            <a:r>
              <a:rPr lang="zh-CN" altLang="en-US" dirty="0"/>
              <a:t>加上损耗数量，比如特殊工艺的，是直接在备品中增加模组损耗的数量</a:t>
            </a:r>
            <a:br>
              <a:rPr lang="zh-CN" altLang="en-US" dirty="0"/>
            </a:br>
            <a:r>
              <a:rPr lang="zh-CN" altLang="en-US" dirty="0"/>
              <a:t>工单损耗率：在基准价测算保留填报入口，由成本工程师按产品进行维护，如果不填写，则默认不考虑工单损耗</a:t>
            </a:r>
            <a:endParaRPr lang="en-US" altLang="zh-CN" dirty="0"/>
          </a:p>
          <a:p>
            <a:r>
              <a:rPr lang="zh-CN" altLang="en-US" dirty="0"/>
              <a:t>                    工单损耗，比如</a:t>
            </a:r>
            <a:r>
              <a:rPr lang="en-US" altLang="zh-CN" dirty="0"/>
              <a:t>CIP:MIP:10A</a:t>
            </a:r>
            <a:r>
              <a:rPr lang="zh-CN" altLang="en-US" dirty="0"/>
              <a:t>的比例是</a:t>
            </a:r>
            <a:r>
              <a:rPr lang="en-US" altLang="zh-CN" dirty="0"/>
              <a:t>1</a:t>
            </a:r>
            <a:r>
              <a:rPr lang="zh-CN" altLang="en-US" dirty="0"/>
              <a:t>：</a:t>
            </a:r>
            <a:r>
              <a:rPr lang="en-US" altLang="zh-CN" dirty="0"/>
              <a:t>1</a:t>
            </a:r>
            <a:r>
              <a:rPr lang="zh-CN" altLang="en-US" dirty="0"/>
              <a:t>：</a:t>
            </a:r>
            <a:r>
              <a:rPr lang="en-US" altLang="zh-CN" dirty="0"/>
              <a:t>1</a:t>
            </a:r>
            <a:r>
              <a:rPr lang="zh-CN" altLang="en-US" dirty="0"/>
              <a:t>关系的话，那如果在</a:t>
            </a:r>
            <a:r>
              <a:rPr lang="en-US" altLang="zh-CN" dirty="0"/>
              <a:t>10A</a:t>
            </a:r>
            <a:r>
              <a:rPr lang="zh-CN" altLang="en-US" dirty="0"/>
              <a:t>层维护了装配报废率</a:t>
            </a:r>
            <a:r>
              <a:rPr lang="en-US" altLang="zh-CN" dirty="0"/>
              <a:t>3%</a:t>
            </a:r>
            <a:r>
              <a:rPr lang="zh-CN" altLang="en-US" dirty="0"/>
              <a:t>，那订单</a:t>
            </a:r>
            <a:r>
              <a:rPr lang="en-US" altLang="zh-CN" dirty="0"/>
              <a:t>BOM</a:t>
            </a:r>
            <a:r>
              <a:rPr lang="zh-CN" altLang="en-US" dirty="0"/>
              <a:t>中</a:t>
            </a:r>
            <a:r>
              <a:rPr lang="en-US" altLang="zh-CN" dirty="0"/>
              <a:t>CIP:MIP:10A</a:t>
            </a:r>
            <a:r>
              <a:rPr lang="zh-CN" altLang="en-US" dirty="0"/>
              <a:t>还是</a:t>
            </a:r>
            <a:r>
              <a:rPr lang="en-US" altLang="zh-CN" dirty="0"/>
              <a:t>1</a:t>
            </a:r>
            <a:r>
              <a:rPr lang="zh-CN" altLang="en-US" dirty="0"/>
              <a:t>：</a:t>
            </a:r>
            <a:r>
              <a:rPr lang="en-US" altLang="zh-CN" dirty="0"/>
              <a:t>1</a:t>
            </a:r>
            <a:r>
              <a:rPr lang="zh-CN" altLang="en-US" dirty="0"/>
              <a:t>：</a:t>
            </a:r>
            <a:r>
              <a:rPr lang="en-US" altLang="zh-CN" dirty="0"/>
              <a:t>1</a:t>
            </a:r>
            <a:r>
              <a:rPr lang="zh-CN" altLang="en-US" dirty="0"/>
              <a:t>关系，但生产工单数量是</a:t>
            </a:r>
            <a:r>
              <a:rPr lang="en-US" altLang="zh-CN" dirty="0"/>
              <a:t>1</a:t>
            </a:r>
            <a:r>
              <a:rPr lang="zh-CN" altLang="en-US" dirty="0"/>
              <a:t>：</a:t>
            </a:r>
            <a:r>
              <a:rPr lang="en-US" altLang="zh-CN" dirty="0"/>
              <a:t>1</a:t>
            </a:r>
            <a:r>
              <a:rPr lang="zh-CN" altLang="en-US" dirty="0"/>
              <a:t>：</a:t>
            </a:r>
            <a:r>
              <a:rPr lang="en-US" altLang="zh-CN" dirty="0"/>
              <a:t>1.03</a:t>
            </a:r>
            <a:r>
              <a:rPr lang="zh-CN" altLang="en-US" dirty="0"/>
              <a:t>的关系，多生产出来的</a:t>
            </a:r>
            <a:r>
              <a:rPr lang="en-US" altLang="zh-CN" dirty="0"/>
              <a:t>3%10A</a:t>
            </a:r>
            <a:r>
              <a:rPr lang="zh-CN" altLang="en-US" dirty="0"/>
              <a:t>，不良可以报废，良品视情况处理，要么入库待消耗，要么报废等。</a:t>
            </a:r>
            <a:endParaRPr lang="en-US" altLang="zh-CN" dirty="0"/>
          </a:p>
          <a:p>
            <a:r>
              <a:rPr lang="en-US" altLang="zh-CN" dirty="0"/>
              <a:t>                    MIP</a:t>
            </a:r>
            <a:r>
              <a:rPr lang="zh-CN" altLang="en-US" dirty="0"/>
              <a:t>中反冲</a:t>
            </a:r>
            <a:r>
              <a:rPr lang="en-US" altLang="zh-CN" dirty="0"/>
              <a:t>10A</a:t>
            </a:r>
            <a:r>
              <a:rPr lang="zh-CN" altLang="en-US" dirty="0"/>
              <a:t>数量，是根据订单</a:t>
            </a:r>
            <a:r>
              <a:rPr lang="en-US" altLang="zh-CN" dirty="0"/>
              <a:t>BOM</a:t>
            </a:r>
            <a:r>
              <a:rPr lang="zh-CN" altLang="en-US" dirty="0"/>
              <a:t>的比例来反冲的，现在</a:t>
            </a:r>
            <a:r>
              <a:rPr lang="en-US" altLang="zh-CN" dirty="0"/>
              <a:t>1</a:t>
            </a:r>
            <a:r>
              <a:rPr lang="zh-CN" altLang="en-US" dirty="0"/>
              <a:t>：</a:t>
            </a:r>
            <a:r>
              <a:rPr lang="en-US" altLang="zh-CN" dirty="0"/>
              <a:t>1</a:t>
            </a:r>
            <a:r>
              <a:rPr lang="zh-CN" altLang="en-US" dirty="0"/>
              <a:t>：</a:t>
            </a:r>
            <a:r>
              <a:rPr lang="en-US" altLang="zh-CN" dirty="0"/>
              <a:t>1</a:t>
            </a:r>
            <a:r>
              <a:rPr lang="zh-CN" altLang="en-US" dirty="0"/>
              <a:t>的比例，那</a:t>
            </a:r>
            <a:r>
              <a:rPr lang="en-US" altLang="zh-CN" dirty="0"/>
              <a:t>MIP</a:t>
            </a:r>
            <a:r>
              <a:rPr lang="zh-CN" altLang="en-US" dirty="0"/>
              <a:t>入库</a:t>
            </a:r>
            <a:r>
              <a:rPr lang="en-US" altLang="zh-CN" dirty="0"/>
              <a:t>100PCS</a:t>
            </a:r>
            <a:r>
              <a:rPr lang="zh-CN" altLang="en-US" dirty="0"/>
              <a:t>，就反冲</a:t>
            </a:r>
            <a:r>
              <a:rPr lang="en-US" altLang="zh-CN" dirty="0"/>
              <a:t>100PCS</a:t>
            </a:r>
            <a:r>
              <a:rPr lang="zh-CN" altLang="en-US" dirty="0"/>
              <a:t>的</a:t>
            </a:r>
            <a:r>
              <a:rPr lang="en-US" altLang="zh-CN" dirty="0"/>
              <a:t>10A</a:t>
            </a:r>
            <a:r>
              <a:rPr lang="zh-CN" altLang="en-US" dirty="0"/>
              <a:t>，多出来的</a:t>
            </a:r>
            <a:r>
              <a:rPr lang="en-US" altLang="zh-CN" dirty="0"/>
              <a:t>3%</a:t>
            </a:r>
            <a:r>
              <a:rPr lang="zh-CN" altLang="en-US" dirty="0"/>
              <a:t>即</a:t>
            </a:r>
            <a:r>
              <a:rPr lang="en-US" altLang="zh-CN" dirty="0"/>
              <a:t>3PCS</a:t>
            </a:r>
            <a:r>
              <a:rPr lang="zh-CN" altLang="en-US" dirty="0"/>
              <a:t>挂在现场仓的账上，视情况处理。</a:t>
            </a:r>
            <a:endParaRPr lang="en-US" altLang="zh-CN" dirty="0"/>
          </a:p>
          <a:p>
            <a:endParaRPr lang="en-US" altLang="zh-CN" dirty="0"/>
          </a:p>
          <a:p>
            <a:endParaRPr lang="en-US" altLang="zh-CN" dirty="0"/>
          </a:p>
          <a:p>
            <a:endParaRPr lang="en-US" altLang="zh-CN" dirty="0"/>
          </a:p>
          <a:p>
            <a:r>
              <a:rPr lang="zh-CN" altLang="en-US" dirty="0"/>
              <a:t>方案一</a:t>
            </a:r>
            <a:endParaRPr lang="zh-CN" altLang="en-US" dirty="0"/>
          </a:p>
          <a:p>
            <a:r>
              <a:rPr lang="zh-CN" altLang="en-US" dirty="0"/>
              <a:t>损耗率设置两个损耗率，</a:t>
            </a:r>
            <a:endParaRPr lang="zh-CN" altLang="en-US" dirty="0"/>
          </a:p>
          <a:p>
            <a:r>
              <a:rPr lang="zh-CN" altLang="en-US" dirty="0"/>
              <a:t>一个是工单的损耗率，</a:t>
            </a:r>
            <a:r>
              <a:rPr lang="en-US" altLang="zh-CN" dirty="0"/>
              <a:t>by</a:t>
            </a:r>
            <a:r>
              <a:rPr lang="zh-CN" altLang="en-US" dirty="0"/>
              <a:t>产品录入，默认是没有工单损耗的，如果成本工程师录入了就考虑纳入计算；</a:t>
            </a:r>
            <a:endParaRPr lang="zh-CN" altLang="en-US" dirty="0"/>
          </a:p>
          <a:p>
            <a:r>
              <a:rPr lang="zh-CN" altLang="en-US" dirty="0"/>
              <a:t>一个是特殊工艺的损耗率，</a:t>
            </a:r>
            <a:r>
              <a:rPr lang="en-US" altLang="zh-CN" dirty="0"/>
              <a:t>by</a:t>
            </a:r>
            <a:r>
              <a:rPr lang="zh-CN" altLang="en-US" dirty="0"/>
              <a:t>产品录入，默认是没有特殊工艺损耗的，如果成本工程师录入了就考虑纳入计算。</a:t>
            </a:r>
            <a:endParaRPr lang="zh-CN" altLang="en-US" dirty="0"/>
          </a:p>
          <a:p>
            <a:endParaRPr lang="zh-CN" altLang="en-US" dirty="0"/>
          </a:p>
          <a:p>
            <a:r>
              <a:rPr lang="zh-CN" altLang="en-US" dirty="0"/>
              <a:t>如果录入了特殊工艺损耗率的，基准价测算要额外生成另外的五个版本的产品基准价（含特殊工艺损耗率）；</a:t>
            </a:r>
            <a:endParaRPr lang="zh-CN" altLang="en-US" dirty="0"/>
          </a:p>
          <a:p>
            <a:r>
              <a:rPr lang="zh-CN" altLang="en-US" dirty="0"/>
              <a:t>同时要求</a:t>
            </a:r>
            <a:r>
              <a:rPr lang="en-US" altLang="zh-CN" dirty="0"/>
              <a:t>CPQ</a:t>
            </a:r>
            <a:r>
              <a:rPr lang="zh-CN" altLang="en-US" dirty="0"/>
              <a:t>在选配的时候，屏体的选择上， 增加一个选择，是否有指定特殊工艺，如果指定了特殊工艺的，要用的是含特殊工艺损耗率的基准价，否则用的是不含特殊工艺损耗率的基准价。</a:t>
            </a:r>
            <a:endParaRPr lang="zh-CN" altLang="en-US" dirty="0"/>
          </a:p>
          <a:p>
            <a:endParaRPr lang="zh-CN" altLang="en-US" dirty="0"/>
          </a:p>
          <a:p>
            <a:r>
              <a:rPr lang="zh-CN" altLang="en-US" dirty="0"/>
              <a:t>方案二</a:t>
            </a:r>
            <a:endParaRPr lang="zh-CN" altLang="en-US" dirty="0"/>
          </a:p>
          <a:p>
            <a:r>
              <a:rPr lang="zh-CN" altLang="en-US" dirty="0"/>
              <a:t>从产品标准化推行和管理分析来看，需要走特殊工艺的产品最好是单独设置</a:t>
            </a:r>
            <a:r>
              <a:rPr lang="en-US" altLang="zh-CN" dirty="0"/>
              <a:t>PCI</a:t>
            </a:r>
            <a:r>
              <a:rPr lang="zh-CN" altLang="en-US" dirty="0"/>
              <a:t>编码，独立于原先的产品，特殊工艺有特殊工艺存在的必然性和必要性，就该是独立的</a:t>
            </a:r>
            <a:r>
              <a:rPr lang="en-US" altLang="zh-CN" dirty="0"/>
              <a:t>PCI</a:t>
            </a:r>
            <a:r>
              <a:rPr lang="zh-CN" altLang="en-US" dirty="0"/>
              <a:t>进行管理和跟踪。</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制费率的问题：</a:t>
            </a:r>
            <a:endParaRPr lang="en-US" altLang="zh-CN" dirty="0"/>
          </a:p>
          <a:p>
            <a:r>
              <a:rPr lang="zh-CN" altLang="en-US" dirty="0"/>
              <a:t>订单挪用，现在订单挪用的情况，要人为识别和匹配，哪个订单挪用了哪个订单的数据，成本会计一笔笔订单去识别</a:t>
            </a:r>
            <a:endParaRPr lang="en-US" altLang="zh-CN" dirty="0"/>
          </a:p>
          <a:p>
            <a:r>
              <a:rPr lang="zh-CN" altLang="en-US" dirty="0"/>
              <a:t>产品系列维护不规范，要人为去识别和匹配产品系列，未来</a:t>
            </a:r>
            <a:r>
              <a:rPr lang="en-US" altLang="zh-CN" dirty="0"/>
              <a:t>PBI</a:t>
            </a:r>
            <a:r>
              <a:rPr lang="zh-CN" altLang="en-US" dirty="0"/>
              <a:t>做未来要规范化</a:t>
            </a:r>
            <a:endParaRPr lang="en-US" altLang="zh-CN"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CPQ</a:t>
            </a:r>
            <a:r>
              <a:rPr lang="zh-CN" altLang="en-US" dirty="0"/>
              <a:t>：</a:t>
            </a:r>
            <a:endParaRPr lang="en-US" altLang="zh-CN" dirty="0"/>
          </a:p>
          <a:p>
            <a:r>
              <a:rPr lang="zh-CN" altLang="en-US" dirty="0"/>
              <a:t>选产品（标准</a:t>
            </a:r>
            <a:r>
              <a:rPr lang="en-US" altLang="zh-CN" dirty="0"/>
              <a:t>BOM+</a:t>
            </a:r>
            <a:r>
              <a:rPr lang="zh-CN" altLang="en-US" dirty="0"/>
              <a:t>替代关系）</a:t>
            </a:r>
            <a:endParaRPr lang="en-US" altLang="zh-CN" dirty="0"/>
          </a:p>
          <a:p>
            <a:r>
              <a:rPr lang="zh-CN" altLang="en-US" dirty="0"/>
              <a:t>选配套（线材、安装件、外设）</a:t>
            </a:r>
            <a:endParaRPr lang="en-US" altLang="zh-CN" dirty="0"/>
          </a:p>
          <a:p>
            <a:r>
              <a:rPr lang="zh-CN" altLang="en-US" dirty="0"/>
              <a:t>选备品备件（模组</a:t>
            </a:r>
            <a:r>
              <a:rPr lang="en-US" altLang="zh-CN" dirty="0"/>
              <a:t>【</a:t>
            </a:r>
            <a:r>
              <a:rPr lang="zh-CN" altLang="en-US" dirty="0"/>
              <a:t>存在不同工艺额外选购数量</a:t>
            </a:r>
            <a:r>
              <a:rPr lang="en-US" altLang="zh-CN" dirty="0"/>
              <a:t>】</a:t>
            </a:r>
            <a:r>
              <a:rPr lang="zh-CN" altLang="en-US" dirty="0"/>
              <a:t>、）</a:t>
            </a:r>
            <a:endParaRPr lang="en-US" altLang="zh-CN" dirty="0"/>
          </a:p>
          <a:p>
            <a:r>
              <a:rPr lang="zh-CN" altLang="en-US" dirty="0"/>
              <a:t>包装包材（）</a:t>
            </a:r>
            <a:endParaRPr lang="en-US" altLang="zh-CN" dirty="0"/>
          </a:p>
          <a:p>
            <a:r>
              <a:rPr lang="zh-CN" altLang="en-US" dirty="0"/>
              <a:t>标准质保</a:t>
            </a:r>
            <a:endParaRPr lang="en-US" altLang="zh-CN" dirty="0"/>
          </a:p>
          <a:p>
            <a:r>
              <a:rPr lang="zh-CN" altLang="en-US" dirty="0"/>
              <a:t>额外工艺</a:t>
            </a:r>
            <a:endParaRPr lang="en-US" altLang="zh-CN" dirty="0"/>
          </a:p>
          <a:p>
            <a:r>
              <a:rPr lang="zh-CN" altLang="en-US" dirty="0"/>
              <a:t>工程安装</a:t>
            </a:r>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首次采购的新物料，采购要有实际订单需要时才维护</a:t>
            </a:r>
            <a:r>
              <a:rPr lang="en-US" altLang="zh-CN" dirty="0"/>
              <a:t>SAP</a:t>
            </a:r>
            <a:r>
              <a:rPr lang="zh-CN" altLang="en-US" dirty="0"/>
              <a:t>系统成本，而财务要拿到产品实际成本审批毛利后才能下达订单需求，这两个点存在冲突</a:t>
            </a:r>
            <a:endParaRPr lang="en-US" altLang="zh-CN" dirty="0"/>
          </a:p>
          <a:p>
            <a:r>
              <a:rPr lang="zh-CN" altLang="en-US" dirty="0"/>
              <a:t>物料成本可能涉及多个数据来源，比如物料主数据上存在</a:t>
            </a:r>
            <a:r>
              <a:rPr lang="en-US" altLang="zh-CN" dirty="0"/>
              <a:t>S</a:t>
            </a:r>
            <a:r>
              <a:rPr lang="zh-CN" altLang="en-US" dirty="0"/>
              <a:t>标准价</a:t>
            </a:r>
            <a:r>
              <a:rPr lang="en-US" altLang="zh-CN" dirty="0"/>
              <a:t>/V</a:t>
            </a:r>
            <a:r>
              <a:rPr lang="zh-CN" altLang="en-US" dirty="0"/>
              <a:t>移动平均价、计划价格，采购业务含采购信息记录报价、采购最低价、采购最高价、最近采购价等；如果物料是新建，会存在物料无采购业务、无报价、无主数据价格的情况，需要采购前置，洲明内部进行材料采购价格维护的优化流程</a:t>
            </a:r>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制费率的问题：</a:t>
            </a:r>
            <a:endParaRPr lang="en-US" altLang="zh-CN" dirty="0"/>
          </a:p>
          <a:p>
            <a:r>
              <a:rPr lang="zh-CN" altLang="en-US" dirty="0"/>
              <a:t>订单挪用，现在订单挪用的情况，要人为识别和匹配，哪个订单挪用了哪个订单的数据，成本会计一笔笔订单去识别</a:t>
            </a:r>
            <a:endParaRPr lang="en-US" altLang="zh-CN" dirty="0"/>
          </a:p>
          <a:p>
            <a:r>
              <a:rPr lang="zh-CN" altLang="en-US" dirty="0"/>
              <a:t>产品系列维护不规范，要人为去识别和匹配产品系列，未来</a:t>
            </a:r>
            <a:r>
              <a:rPr lang="en-US" altLang="zh-CN" dirty="0"/>
              <a:t>PBI</a:t>
            </a:r>
            <a:r>
              <a:rPr lang="zh-CN" altLang="en-US" dirty="0"/>
              <a:t>做未来要规范化</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生产工单出现替代料的问题，需要将生产工单的有效物料输出，如主料和替代料的用量和成本，</a:t>
            </a:r>
            <a:endParaRPr lang="en-US" altLang="zh-CN" dirty="0"/>
          </a:p>
          <a:p>
            <a:r>
              <a:rPr lang="zh-CN" altLang="en-US" dirty="0"/>
              <a:t>生产工单需要补充标准用量和标准成本，目前有一部分生产工单没有</a:t>
            </a:r>
            <a:endParaRPr lang="en-US" altLang="zh-CN" dirty="0"/>
          </a:p>
          <a:p>
            <a:endParaRPr lang="en-US" altLang="zh-CN" dirty="0"/>
          </a:p>
          <a:p>
            <a:r>
              <a:rPr lang="zh-CN" altLang="en-US" dirty="0"/>
              <a:t>找黄攀沟通订单实际成本的取值逻辑，还有产品的实际成本的取值逻辑，实际成本基于实际工单和实际报工单进行测算</a:t>
            </a:r>
            <a:r>
              <a:rPr lang="zh-CN" altLang="en-US"/>
              <a:t>，需要考虑如何将成本差异还原回去</a:t>
            </a:r>
            <a:endParaRPr lang="en-US" altLang="zh-CN" dirty="0"/>
          </a:p>
          <a:p>
            <a:endParaRPr lang="en-US" altLang="zh-CN" dirty="0"/>
          </a:p>
          <a:p>
            <a:r>
              <a:rPr lang="zh-CN" altLang="en-US" dirty="0"/>
              <a:t>分销产品的模组可以输出产品实际成本，其他可以输出到订单的实际成本</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68F654D-CC60-49DA-9BBA-F1294D1562C0}"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 </a:t>
            </a:r>
            <a:r>
              <a:rPr lang="zh-CN" altLang="en-US" dirty="0"/>
              <a:t>数据同源：确立北森</a:t>
            </a:r>
            <a:r>
              <a:rPr lang="en-US" altLang="zh-CN" dirty="0"/>
              <a:t> EHR </a:t>
            </a:r>
            <a:r>
              <a:rPr lang="zh-CN" altLang="en-US" dirty="0"/>
              <a:t>为</a:t>
            </a:r>
            <a:r>
              <a:rPr lang="en-US" altLang="zh-CN" dirty="0"/>
              <a:t> HR </a:t>
            </a:r>
            <a:r>
              <a:rPr lang="zh-CN" altLang="en-US" dirty="0"/>
              <a:t>主数据唯一真实来源（</a:t>
            </a:r>
            <a:r>
              <a:rPr lang="en-US" altLang="zh-CN" dirty="0"/>
              <a:t>SSOT</a:t>
            </a:r>
            <a:r>
              <a:rPr lang="zh-CN" altLang="en-US" dirty="0"/>
              <a:t>），实现员工、组织、岗位数据的集中管控。</a:t>
            </a:r>
            <a:endParaRPr lang="zh-CN" altLang="en-US" dirty="0"/>
          </a:p>
          <a:p>
            <a:r>
              <a:rPr lang="en-US" altLang="zh-CN" dirty="0"/>
              <a:t>2. </a:t>
            </a:r>
            <a:r>
              <a:rPr lang="zh-CN" altLang="en-US" dirty="0"/>
              <a:t>流程贯通：构建</a:t>
            </a:r>
            <a:r>
              <a:rPr lang="en-US" altLang="zh-CN" dirty="0"/>
              <a:t> EHR </a:t>
            </a:r>
            <a:r>
              <a:rPr lang="zh-CN" altLang="en-US" dirty="0"/>
              <a:t>与</a:t>
            </a:r>
            <a:r>
              <a:rPr lang="en-US" altLang="zh-CN" dirty="0"/>
              <a:t> SAP </a:t>
            </a:r>
            <a:r>
              <a:rPr lang="zh-CN" altLang="en-US" dirty="0"/>
              <a:t>等系统的自动化数据同步机制，人员异动触发全链路数据更新。</a:t>
            </a:r>
            <a:endParaRPr lang="zh-CN" altLang="en-US" dirty="0"/>
          </a:p>
          <a:p>
            <a:r>
              <a:rPr lang="en-US" altLang="zh-CN" dirty="0"/>
              <a:t>3. </a:t>
            </a:r>
            <a:r>
              <a:rPr lang="zh-CN" altLang="en-US" dirty="0"/>
              <a:t>标准统一：建立覆盖岗位、组织、账号的统一数据标准，适配行政与业务双重场景。</a:t>
            </a:r>
            <a:endParaRPr lang="zh-CN" altLang="en-US" dirty="0"/>
          </a:p>
          <a:p>
            <a:r>
              <a:rPr lang="en-US" altLang="zh-CN" dirty="0"/>
              <a:t>4. </a:t>
            </a:r>
            <a:r>
              <a:rPr lang="zh-CN" altLang="en-US" dirty="0"/>
              <a:t>效率提升：消除手工操作与线下传递，降低数据错误率，缩短流程响应时间。</a:t>
            </a:r>
            <a:endParaRPr lang="zh-CN" altLang="en-US" dirty="0"/>
          </a:p>
        </p:txBody>
      </p:sp>
      <p:sp>
        <p:nvSpPr>
          <p:cNvPr id="4" name="Slide Number Placeholder 3"/>
          <p:cNvSpPr>
            <a:spLocks noGrp="1"/>
          </p:cNvSpPr>
          <p:nvPr>
            <p:ph type="sldNum" sz="quarter" idx="5"/>
          </p:nvPr>
        </p:nvSpPr>
        <p:spPr/>
        <p:txBody>
          <a:bodyPr/>
          <a:lstStyle/>
          <a:p>
            <a:fld id="{D4F0F49D-39E9-416A-9402-DD6BBA81C291}" type="slidenum">
              <a:rPr lang="en-US" smtClean="0"/>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0" lang="zh-CN" altLang="en-US"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4" name="灯片编号占位符 3"/>
          <p:cNvSpPr>
            <a:spLocks noGrp="1"/>
          </p:cNvSpPr>
          <p:nvPr>
            <p:ph type="sldNum" sz="quarter" idx="5"/>
          </p:nvPr>
        </p:nvSpPr>
        <p:spPr/>
        <p:txBody>
          <a:bodyPr/>
          <a:lstStyle/>
          <a:p>
            <a:fld id="{99BB6E9D-A839-4B48-BBF2-E10C14B06389}" type="slidenum">
              <a:rPr lang="en-US" smtClean="0"/>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4B5F2F-98EA-4B85-9842-FF9D271B1BD8}"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538F9E9-A6B2-9246-AD4D-DCFDBBE6348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4B5F2F-98EA-4B85-9842-FF9D271B1BD8}"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15B0B7-7914-47D5-950B-B0DC25FD0671}"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i="1" dirty="0"/>
          </a:p>
        </p:txBody>
      </p:sp>
      <p:sp>
        <p:nvSpPr>
          <p:cNvPr id="4" name="灯片编号占位符 3"/>
          <p:cNvSpPr>
            <a:spLocks noGrp="1"/>
          </p:cNvSpPr>
          <p:nvPr>
            <p:ph type="sldNum" sz="quarter" idx="5"/>
          </p:nvPr>
        </p:nvSpPr>
        <p:spPr/>
        <p:txBody>
          <a:bodyPr/>
          <a:lstStyle/>
          <a:p>
            <a:fld id="{15DE467A-8487-44D8-B15B-CBE35187BF47}" type="slidenum">
              <a:rPr lang="en-US" smtClean="0"/>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solidFill>
                <a:srgbClr val="FF0000"/>
              </a:solidFill>
            </a:endParaRPr>
          </a:p>
        </p:txBody>
      </p:sp>
      <p:sp>
        <p:nvSpPr>
          <p:cNvPr id="4" name="灯片编号占位符 3"/>
          <p:cNvSpPr>
            <a:spLocks noGrp="1"/>
          </p:cNvSpPr>
          <p:nvPr>
            <p:ph type="sldNum" sz="quarter" idx="10"/>
          </p:nvPr>
        </p:nvSpPr>
        <p:spPr/>
        <p:txBody>
          <a:bodyPr/>
          <a:lstStyle/>
          <a:p>
            <a:fld id="{3D208143-0673-4A61-A4CD-BC841AF91C5A}"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tags" Target="../tags/tag2.xml"/><Relationship Id="rId4" Type="http://schemas.openxmlformats.org/officeDocument/2006/relationships/image" Target="../media/image7.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emf"/><Relationship Id="rId3" Type="http://schemas.openxmlformats.org/officeDocument/2006/relationships/oleObject" Target="../embeddings/oleObject2.bin"/><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emf"/><Relationship Id="rId3" Type="http://schemas.openxmlformats.org/officeDocument/2006/relationships/oleObject" Target="../embeddings/oleObject3.bin"/><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9.xml"/><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矩形 2"/>
          <p:cNvSpPr/>
          <p:nvPr userDrawn="1"/>
        </p:nvSpPr>
        <p:spPr>
          <a:xfrm>
            <a:off x="-19343" y="8467"/>
            <a:ext cx="12192000" cy="68495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标题文本"/>
          <p:cNvSpPr txBox="1">
            <a:spLocks noGrp="1"/>
          </p:cNvSpPr>
          <p:nvPr>
            <p:ph type="title" hasCustomPrompt="1"/>
          </p:nvPr>
        </p:nvSpPr>
        <p:spPr>
          <a:xfrm>
            <a:off x="535442" y="91377"/>
            <a:ext cx="10623969" cy="509865"/>
          </a:xfrm>
          <a:prstGeom prst="rect">
            <a:avLst/>
          </a:prstGeom>
        </p:spPr>
        <p:txBody>
          <a:bodyPr lIns="0" tIns="0" rIns="0" bIns="0" anchor="ctr" anchorCtr="0">
            <a:noAutofit/>
          </a:bodyPr>
          <a:lstStyle>
            <a:lvl1pPr algn="l" defTabSz="1727835">
              <a:lnSpc>
                <a:spcPct val="130000"/>
              </a:lnSpc>
              <a:spcBef>
                <a:spcPct val="0"/>
              </a:spcBef>
              <a:spcAft>
                <a:spcPts val="0"/>
              </a:spcAft>
              <a:defRPr sz="2400" b="1">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t>标题文本</a:t>
            </a:r>
          </a:p>
        </p:txBody>
      </p:sp>
      <p:sp>
        <p:nvSpPr>
          <p:cNvPr id="30" name="同侧圆角矩形 2"/>
          <p:cNvSpPr/>
          <p:nvPr userDrawn="1"/>
        </p:nvSpPr>
        <p:spPr>
          <a:xfrm rot="5400000">
            <a:off x="-24865" y="116050"/>
            <a:ext cx="510250" cy="460520"/>
          </a:xfrm>
          <a:custGeom>
            <a:avLst/>
            <a:gdLst/>
            <a:ahLst/>
            <a:cxnLst>
              <a:cxn ang="0">
                <a:pos x="wd2" y="hd2"/>
              </a:cxn>
              <a:cxn ang="5400000">
                <a:pos x="wd2" y="hd2"/>
              </a:cxn>
              <a:cxn ang="10800000">
                <a:pos x="wd2" y="hd2"/>
              </a:cxn>
              <a:cxn ang="16200000">
                <a:pos x="wd2" y="hd2"/>
              </a:cxn>
            </a:cxnLst>
            <a:rect l="0" t="0" r="r" b="b"/>
            <a:pathLst>
              <a:path w="21600" h="21600" extrusionOk="0">
                <a:moveTo>
                  <a:pt x="1900" y="0"/>
                </a:moveTo>
                <a:lnTo>
                  <a:pt x="19700" y="0"/>
                </a:lnTo>
                <a:cubicBezTo>
                  <a:pt x="20749" y="0"/>
                  <a:pt x="21600" y="1011"/>
                  <a:pt x="21600" y="2258"/>
                </a:cubicBezTo>
                <a:lnTo>
                  <a:pt x="21600" y="21600"/>
                </a:lnTo>
                <a:lnTo>
                  <a:pt x="0" y="21600"/>
                </a:lnTo>
                <a:lnTo>
                  <a:pt x="0" y="2258"/>
                </a:lnTo>
                <a:cubicBezTo>
                  <a:pt x="0" y="1011"/>
                  <a:pt x="851" y="0"/>
                  <a:pt x="1900" y="0"/>
                </a:cubicBezTo>
                <a:close/>
              </a:path>
            </a:pathLst>
          </a:custGeom>
          <a:solidFill>
            <a:srgbClr val="0C7F8A"/>
          </a:solidFill>
          <a:ln w="12700">
            <a:miter lim="400000"/>
          </a:ln>
        </p:spPr>
        <p:txBody>
          <a:bodyPr lIns="0" tIns="0" rIns="0" bIns="0" anchor="ctr"/>
          <a:lstStyle/>
          <a:p>
            <a:pPr defTabSz="1727835">
              <a:defRPr sz="3600" b="0">
                <a:solidFill>
                  <a:srgbClr val="FFFFFF"/>
                </a:solidFill>
                <a:latin typeface="Calibri" panose="020F0502020204030204"/>
                <a:ea typeface="Calibri" panose="020F0502020204030204"/>
                <a:cs typeface="Calibri" panose="020F0502020204030204"/>
                <a:sym typeface="Calibri" panose="020F0502020204030204"/>
              </a:defRPr>
            </a:pPr>
            <a:endParaRPr sz="17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幻灯片编号占位符 18"/>
          <p:cNvSpPr>
            <a:spLocks noGrp="1"/>
          </p:cNvSpPr>
          <p:nvPr>
            <p:ph type="sldNum" sz="quarter" idx="11"/>
          </p:nvPr>
        </p:nvSpPr>
        <p:spPr>
          <a:xfrm>
            <a:off x="6076657" y="6619083"/>
            <a:ext cx="555453" cy="230450"/>
          </a:xfrm>
          <a:prstGeom prst="rect">
            <a:avLst/>
          </a:prstGeom>
          <a:noFill/>
        </p:spPr>
        <p:txBody>
          <a:bodyPr lIns="36000" rIns="36000"/>
          <a:lstStyle>
            <a:lvl1pPr algn="ctr">
              <a:defRPr sz="900" b="0">
                <a:latin typeface="微软雅黑" panose="020B0503020204020204" pitchFamily="34" charset="-122"/>
                <a:ea typeface="微软雅黑" panose="020B0503020204020204" pitchFamily="34" charset="-122"/>
                <a:cs typeface="微软雅黑" panose="020B0503020204020204" pitchFamily="34" charset="-122"/>
              </a:defRPr>
            </a:lvl1pPr>
          </a:lstStyle>
          <a:p>
            <a:fld id="{629B06DC-B081-48FF-B3C8-294D2105EA92}" type="slidenum">
              <a:rPr lang="zh-CN" altLang="en-US" smtClean="0"/>
            </a:fld>
            <a:endParaRPr lang="zh-CN" altLang="en-US" dirty="0"/>
          </a:p>
        </p:txBody>
      </p:sp>
      <p:pic>
        <p:nvPicPr>
          <p:cNvPr id="4" name="图片 3"/>
          <p:cNvPicPr>
            <a:picLocks noChangeAspect="1"/>
          </p:cNvPicPr>
          <p:nvPr userDrawn="1"/>
        </p:nvPicPr>
        <p:blipFill rotWithShape="1">
          <a:blip r:embed="rId2"/>
          <a:srcRect l="2162" t="27778" r="1838" b="5555"/>
          <a:stretch>
            <a:fillRect/>
          </a:stretch>
        </p:blipFill>
        <p:spPr>
          <a:xfrm>
            <a:off x="10015347" y="6379077"/>
            <a:ext cx="1904080" cy="240006"/>
          </a:xfrm>
          <a:prstGeom prst="rect">
            <a:avLst/>
          </a:prstGeom>
        </p:spPr>
      </p:pic>
      <p:pic>
        <p:nvPicPr>
          <p:cNvPr id="5" name="图片 4"/>
          <p:cNvPicPr>
            <a:picLocks noChangeAspect="1"/>
          </p:cNvPicPr>
          <p:nvPr userDrawn="1"/>
        </p:nvPicPr>
        <p:blipFill>
          <a:blip r:embed="rId3">
            <a:clrChange>
              <a:clrFrom>
                <a:srgbClr val="FEFFFF"/>
              </a:clrFrom>
              <a:clrTo>
                <a:srgbClr val="FEFFFF">
                  <a:alpha val="0"/>
                </a:srgbClr>
              </a:clrTo>
            </a:clrChange>
          </a:blip>
          <a:stretch>
            <a:fillRect/>
          </a:stretch>
        </p:blipFill>
        <p:spPr>
          <a:xfrm>
            <a:off x="11256437" y="238917"/>
            <a:ext cx="666969" cy="328415"/>
          </a:xfrm>
          <a:prstGeom prst="rect">
            <a:avLst/>
          </a:prstGeom>
        </p:spPr>
      </p:pic>
      <p:grpSp>
        <p:nvGrpSpPr>
          <p:cNvPr id="42" name="组合 41"/>
          <p:cNvGrpSpPr/>
          <p:nvPr userDrawn="1"/>
        </p:nvGrpSpPr>
        <p:grpSpPr>
          <a:xfrm>
            <a:off x="10985871" y="-379320"/>
            <a:ext cx="1186953" cy="245356"/>
            <a:chOff x="2630721" y="7973999"/>
            <a:chExt cx="1186953" cy="245356"/>
          </a:xfrm>
        </p:grpSpPr>
        <p:sp>
          <p:nvSpPr>
            <p:cNvPr id="43" name="椭圆 42"/>
            <p:cNvSpPr/>
            <p:nvPr/>
          </p:nvSpPr>
          <p:spPr>
            <a:xfrm>
              <a:off x="2630721" y="7973999"/>
              <a:ext cx="242631" cy="242631"/>
            </a:xfrm>
            <a:prstGeom prst="ellipse">
              <a:avLst/>
            </a:prstGeom>
            <a:solidFill>
              <a:srgbClr val="0C7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椭圆 43"/>
            <p:cNvSpPr/>
            <p:nvPr/>
          </p:nvSpPr>
          <p:spPr>
            <a:xfrm>
              <a:off x="2870299" y="7976724"/>
              <a:ext cx="242631" cy="242631"/>
            </a:xfrm>
            <a:prstGeom prst="ellipse">
              <a:avLst/>
            </a:prstGeom>
            <a:solidFill>
              <a:srgbClr val="029E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椭圆 44"/>
            <p:cNvSpPr/>
            <p:nvPr/>
          </p:nvSpPr>
          <p:spPr>
            <a:xfrm>
              <a:off x="3101781" y="7973999"/>
              <a:ext cx="242631" cy="242631"/>
            </a:xfrm>
            <a:prstGeom prst="ellipse">
              <a:avLst/>
            </a:prstGeom>
            <a:solidFill>
              <a:srgbClr val="11A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椭圆 45"/>
            <p:cNvSpPr/>
            <p:nvPr/>
          </p:nvSpPr>
          <p:spPr>
            <a:xfrm>
              <a:off x="3338412" y="7973999"/>
              <a:ext cx="242631" cy="242631"/>
            </a:xfrm>
            <a:prstGeom prst="ellipse">
              <a:avLst/>
            </a:prstGeom>
            <a:solidFill>
              <a:srgbClr val="B8DF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椭圆 46"/>
            <p:cNvSpPr/>
            <p:nvPr/>
          </p:nvSpPr>
          <p:spPr>
            <a:xfrm>
              <a:off x="3575043" y="7973999"/>
              <a:ext cx="242631" cy="242631"/>
            </a:xfrm>
            <a:prstGeom prst="ellipse">
              <a:avLst/>
            </a:prstGeom>
            <a:solidFill>
              <a:srgbClr val="CEEA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矩形 1"/>
          <p:cNvSpPr/>
          <p:nvPr userDrawn="1"/>
        </p:nvSpPr>
        <p:spPr>
          <a:xfrm>
            <a:off x="-10160" y="0"/>
            <a:ext cx="12196445" cy="684720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5" name="图片 34"/>
          <p:cNvPicPr>
            <a:picLocks noChangeAspect="1"/>
          </p:cNvPicPr>
          <p:nvPr userDrawn="1"/>
        </p:nvPicPr>
        <p:blipFill>
          <a:blip r:embed="rId2">
            <a:duotone>
              <a:prstClr val="black"/>
              <a:srgbClr val="3399FF">
                <a:tint val="45000"/>
                <a:satMod val="400000"/>
              </a:srgbClr>
            </a:duotone>
          </a:blip>
          <a:stretch>
            <a:fillRect/>
          </a:stretch>
        </p:blipFill>
        <p:spPr>
          <a:xfrm rot="10800000">
            <a:off x="-1568027" y="1494574"/>
            <a:ext cx="696473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advClick="0" advTm="3000">
        <p14:vortex dir="r"/>
      </p:transition>
    </mc:Choice>
    <mc:Fallback>
      <p:transition spd="slow"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16268" y="247105"/>
            <a:ext cx="8580120" cy="368935"/>
          </a:xfrm>
          <a:prstGeom prst="rect">
            <a:avLst/>
          </a:prstGeom>
        </p:spPr>
        <p:txBody>
          <a:bodyPr anchor="ctr" anchorCtr="0">
            <a:noAutofit/>
          </a:bodyPr>
          <a:lstStyle>
            <a:lvl1pPr algn="l">
              <a:defRPr sz="2200" b="1" i="0">
                <a:solidFill>
                  <a:schemeClr val="tx1"/>
                </a:solidFill>
                <a:latin typeface="Alibaba PuHuiTi Bold" panose="00020600040101010101" charset="-122"/>
                <a:ea typeface="Alibaba PuHuiTi Bold" panose="00020600040101010101" charset="-122"/>
                <a:cs typeface="Alibaba PuHuiTi H" pitchFamily="18" charset="-122"/>
              </a:defRPr>
            </a:lvl1pPr>
          </a:lstStyle>
          <a:p>
            <a:r>
              <a:rPr lang="zh-CN" altLang="en-US" dirty="0"/>
              <a:t>单击此处编辑母版标题样式</a:t>
            </a:r>
            <a:endParaRPr lang="zh-CN" altLang="en-US" dirty="0"/>
          </a:p>
        </p:txBody>
      </p:sp>
      <p:sp>
        <p:nvSpPr>
          <p:cNvPr id="3" name="文本框 2"/>
          <p:cNvSpPr txBox="1"/>
          <p:nvPr userDrawn="1"/>
        </p:nvSpPr>
        <p:spPr>
          <a:xfrm>
            <a:off x="0" y="6533002"/>
            <a:ext cx="859316" cy="324998"/>
          </a:xfrm>
          <a:prstGeom prst="rect">
            <a:avLst/>
          </a:prstGeom>
          <a:noFill/>
        </p:spPr>
        <p:txBody>
          <a:bodyPr wrap="square" lIns="90000" rtlCol="0" anchor="ctr">
            <a:noAutofit/>
          </a:bodyPr>
          <a:lstStyle/>
          <a:p>
            <a:pPr algn="l"/>
            <a:fld id="{D90A5286-8B8F-7D4C-9FAE-4BAFAAF3B2D8}" type="slidenum">
              <a:rPr kumimoji="1" lang="zh-CN" altLang="en-US" sz="1400">
                <a:solidFill>
                  <a:schemeClr val="accent3">
                    <a:lumMod val="50000"/>
                  </a:schemeClr>
                </a:solidFill>
                <a:latin typeface="Alibaba PuHuiTi R" pitchFamily="18" charset="-122"/>
                <a:ea typeface="Alibaba PuHuiTi R" pitchFamily="18" charset="-122"/>
                <a:cs typeface="Alibaba PuHuiTi R" pitchFamily="18" charset="-122"/>
              </a:rPr>
            </a:fld>
            <a:endParaRPr kumimoji="1" lang="zh-CN" altLang="en-US" sz="1400">
              <a:solidFill>
                <a:schemeClr val="accent3">
                  <a:lumMod val="50000"/>
                </a:schemeClr>
              </a:solidFill>
              <a:latin typeface="Alibaba PuHuiTi R" pitchFamily="18" charset="-122"/>
              <a:ea typeface="Alibaba PuHuiTi R" pitchFamily="18" charset="-122"/>
              <a:cs typeface="Alibaba PuHuiTi R" pitchFamily="18" charset="-122"/>
            </a:endParaRPr>
          </a:p>
        </p:txBody>
      </p:sp>
      <p:sp>
        <p:nvSpPr>
          <p:cNvPr id="7" name="文本框 6"/>
          <p:cNvSpPr txBox="1"/>
          <p:nvPr userDrawn="1"/>
        </p:nvSpPr>
        <p:spPr>
          <a:xfrm>
            <a:off x="4995690" y="6610895"/>
            <a:ext cx="2886419" cy="324998"/>
          </a:xfrm>
          <a:prstGeom prst="rect">
            <a:avLst/>
          </a:prstGeom>
          <a:noFill/>
        </p:spPr>
        <p:txBody>
          <a:bodyPr wrap="square" lIns="90000" rtlCol="0" anchor="ctr">
            <a:noAutofit/>
          </a:bodyPr>
          <a:lstStyle/>
          <a:p>
            <a:pPr algn="l"/>
            <a:endParaRPr kumimoji="1" lang="en-US" altLang="zh-CN" sz="1400">
              <a:solidFill>
                <a:schemeClr val="accent3">
                  <a:lumMod val="50000"/>
                </a:schemeClr>
              </a:solidFill>
              <a:latin typeface="Alibaba PuHuiTi R" pitchFamily="18" charset="-122"/>
              <a:ea typeface="Alibaba PuHuiTi R" pitchFamily="18" charset="-122"/>
              <a:cs typeface="Alibaba PuHuiTi R" pitchFamily="18" charset="-122"/>
            </a:endParaRPr>
          </a:p>
        </p:txBody>
      </p:sp>
      <p:sp>
        <p:nvSpPr>
          <p:cNvPr id="13" name="文本框 12"/>
          <p:cNvSpPr txBox="1"/>
          <p:nvPr userDrawn="1"/>
        </p:nvSpPr>
        <p:spPr>
          <a:xfrm>
            <a:off x="2412694" y="2566930"/>
            <a:ext cx="0" cy="0"/>
          </a:xfrm>
          <a:prstGeom prst="rect">
            <a:avLst/>
          </a:prstGeom>
          <a:noFill/>
        </p:spPr>
        <p:txBody>
          <a:bodyPr wrap="none" lIns="90000" rtlCol="0" anchor="ctr">
            <a:noAutofit/>
          </a:bodyPr>
          <a:lstStyle/>
          <a:p>
            <a:pPr algn="l"/>
            <a:endParaRPr kumimoji="1" lang="zh-CN" altLang="en-US" sz="1400">
              <a:solidFill>
                <a:schemeClr val="accent3">
                  <a:lumMod val="50000"/>
                </a:schemeClr>
              </a:solidFill>
              <a:latin typeface="Alibaba PuHuiTi R" pitchFamily="18" charset="-122"/>
              <a:ea typeface="Alibaba PuHuiTi R" pitchFamily="18" charset="-122"/>
              <a:cs typeface="Alibaba PuHuiTi R" pitchFamily="18" charset="-122"/>
            </a:endParaRPr>
          </a:p>
        </p:txBody>
      </p:sp>
      <p:sp>
        <p:nvSpPr>
          <p:cNvPr id="10" name="矩形 9"/>
          <p:cNvSpPr/>
          <p:nvPr userDrawn="1"/>
        </p:nvSpPr>
        <p:spPr>
          <a:xfrm>
            <a:off x="1" y="305815"/>
            <a:ext cx="291402" cy="198375"/>
          </a:xfrm>
          <a:prstGeom prst="rect">
            <a:avLst/>
          </a:prstGeom>
          <a:gradFill>
            <a:gsLst>
              <a:gs pos="57000">
                <a:schemeClr val="accent1"/>
              </a:gs>
              <a:gs pos="99000">
                <a:srgbClr val="2571EC"/>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4" name="文本框 3"/>
          <p:cNvSpPr txBox="1"/>
          <p:nvPr userDrawn="1"/>
        </p:nvSpPr>
        <p:spPr>
          <a:xfrm>
            <a:off x="10227310" y="6612890"/>
            <a:ext cx="4064000" cy="914400"/>
          </a:xfrm>
          <a:prstGeom prst="rect">
            <a:avLst/>
          </a:prstGeom>
          <a:noFill/>
        </p:spPr>
        <p:txBody>
          <a:bodyPr wrap="square" lIns="90000" rtlCol="0" anchor="ctr">
            <a:noAutofit/>
          </a:bodyPr>
          <a:lstStyle/>
          <a:p>
            <a:pPr algn="l"/>
            <a:endParaRPr kumimoji="1" lang="zh-CN" altLang="en-US" sz="1400">
              <a:solidFill>
                <a:schemeClr val="accent3">
                  <a:lumMod val="50000"/>
                </a:schemeClr>
              </a:solidFill>
              <a:latin typeface="Alibaba PuHuiTi R" pitchFamily="18" charset="-122"/>
              <a:ea typeface="Alibaba PuHuiTi R" pitchFamily="18" charset="-122"/>
              <a:cs typeface="Alibaba PuHuiTi R" pitchFamily="18"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grpSp>
        <p:nvGrpSpPr>
          <p:cNvPr id="138" name="组合 8"/>
          <p:cNvGrpSpPr/>
          <p:nvPr userDrawn="1"/>
        </p:nvGrpSpPr>
        <p:grpSpPr>
          <a:xfrm>
            <a:off x="11020572" y="210164"/>
            <a:ext cx="1075962" cy="301938"/>
            <a:chOff x="0" y="0"/>
            <a:chExt cx="2524218" cy="603873"/>
          </a:xfrm>
        </p:grpSpPr>
        <p:sp>
          <p:nvSpPr>
            <p:cNvPr id="117" name="任意多边形 9"/>
            <p:cNvSpPr/>
            <p:nvPr/>
          </p:nvSpPr>
          <p:spPr>
            <a:xfrm>
              <a:off x="1346993" y="464488"/>
              <a:ext cx="81080" cy="109026"/>
            </a:xfrm>
            <a:custGeom>
              <a:avLst/>
              <a:gdLst/>
              <a:ahLst/>
              <a:cxnLst>
                <a:cxn ang="0">
                  <a:pos x="wd2" y="hd2"/>
                </a:cxn>
                <a:cxn ang="5400000">
                  <a:pos x="wd2" y="hd2"/>
                </a:cxn>
                <a:cxn ang="10800000">
                  <a:pos x="wd2" y="hd2"/>
                </a:cxn>
                <a:cxn ang="16200000">
                  <a:pos x="wd2" y="hd2"/>
                </a:cxn>
              </a:cxnLst>
              <a:rect l="0" t="0" r="r" b="b"/>
              <a:pathLst>
                <a:path w="21282" h="21600" extrusionOk="0">
                  <a:moveTo>
                    <a:pt x="5883" y="478"/>
                  </a:moveTo>
                  <a:cubicBezTo>
                    <a:pt x="7589" y="205"/>
                    <a:pt x="10104" y="0"/>
                    <a:pt x="12619" y="0"/>
                  </a:cubicBezTo>
                  <a:cubicBezTo>
                    <a:pt x="16211" y="0"/>
                    <a:pt x="18367" y="478"/>
                    <a:pt x="19804" y="1570"/>
                  </a:cubicBezTo>
                  <a:cubicBezTo>
                    <a:pt x="21016" y="2389"/>
                    <a:pt x="21600" y="3651"/>
                    <a:pt x="21106" y="5289"/>
                  </a:cubicBezTo>
                  <a:cubicBezTo>
                    <a:pt x="20522" y="7371"/>
                    <a:pt x="18232" y="9213"/>
                    <a:pt x="15133" y="9930"/>
                  </a:cubicBezTo>
                  <a:lnTo>
                    <a:pt x="15133" y="10032"/>
                  </a:lnTo>
                  <a:cubicBezTo>
                    <a:pt x="17648" y="10476"/>
                    <a:pt x="20298" y="12216"/>
                    <a:pt x="19310" y="15321"/>
                  </a:cubicBezTo>
                  <a:cubicBezTo>
                    <a:pt x="18861" y="17130"/>
                    <a:pt x="17424" y="18495"/>
                    <a:pt x="15717" y="19587"/>
                  </a:cubicBezTo>
                  <a:cubicBezTo>
                    <a:pt x="13427" y="20952"/>
                    <a:pt x="10104" y="21600"/>
                    <a:pt x="5523" y="21600"/>
                  </a:cubicBezTo>
                  <a:cubicBezTo>
                    <a:pt x="3009" y="21600"/>
                    <a:pt x="1212" y="21498"/>
                    <a:pt x="0" y="21327"/>
                  </a:cubicBezTo>
                  <a:lnTo>
                    <a:pt x="5883" y="478"/>
                  </a:lnTo>
                  <a:close/>
                  <a:moveTo>
                    <a:pt x="4086" y="19416"/>
                  </a:moveTo>
                  <a:cubicBezTo>
                    <a:pt x="4805" y="19518"/>
                    <a:pt x="5793" y="19518"/>
                    <a:pt x="7095" y="19518"/>
                  </a:cubicBezTo>
                  <a:cubicBezTo>
                    <a:pt x="10822" y="19518"/>
                    <a:pt x="14505" y="18495"/>
                    <a:pt x="15358" y="15321"/>
                  </a:cubicBezTo>
                  <a:cubicBezTo>
                    <a:pt x="16211" y="12387"/>
                    <a:pt x="13337" y="11227"/>
                    <a:pt x="9385" y="11227"/>
                  </a:cubicBezTo>
                  <a:lnTo>
                    <a:pt x="6377" y="11227"/>
                  </a:lnTo>
                  <a:lnTo>
                    <a:pt x="4086" y="19416"/>
                  </a:lnTo>
                  <a:close/>
                  <a:moveTo>
                    <a:pt x="6960" y="9213"/>
                  </a:moveTo>
                  <a:lnTo>
                    <a:pt x="10194" y="9213"/>
                  </a:lnTo>
                  <a:cubicBezTo>
                    <a:pt x="13921" y="9213"/>
                    <a:pt x="16660" y="7644"/>
                    <a:pt x="17154" y="5562"/>
                  </a:cubicBezTo>
                  <a:cubicBezTo>
                    <a:pt x="17873" y="3105"/>
                    <a:pt x="15717" y="2116"/>
                    <a:pt x="12125" y="2116"/>
                  </a:cubicBezTo>
                  <a:cubicBezTo>
                    <a:pt x="10463" y="2116"/>
                    <a:pt x="9475" y="2184"/>
                    <a:pt x="8891" y="2286"/>
                  </a:cubicBezTo>
                  <a:lnTo>
                    <a:pt x="6960" y="9213"/>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18" name="任意多边形 11"/>
            <p:cNvSpPr/>
            <p:nvPr/>
          </p:nvSpPr>
          <p:spPr>
            <a:xfrm>
              <a:off x="1436251" y="494821"/>
              <a:ext cx="70726" cy="79603"/>
            </a:xfrm>
            <a:custGeom>
              <a:avLst/>
              <a:gdLst/>
              <a:ahLst/>
              <a:cxnLst>
                <a:cxn ang="0">
                  <a:pos x="wd2" y="hd2"/>
                </a:cxn>
                <a:cxn ang="5400000">
                  <a:pos x="wd2" y="hd2"/>
                </a:cxn>
                <a:cxn ang="10800000">
                  <a:pos x="wd2" y="hd2"/>
                </a:cxn>
                <a:cxn ang="16200000">
                  <a:pos x="wd2" y="hd2"/>
                </a:cxn>
              </a:cxnLst>
              <a:rect l="0" t="0" r="r" b="b"/>
              <a:pathLst>
                <a:path w="19961" h="21600" extrusionOk="0">
                  <a:moveTo>
                    <a:pt x="3975" y="11410"/>
                  </a:moveTo>
                  <a:cubicBezTo>
                    <a:pt x="2958" y="16435"/>
                    <a:pt x="5767" y="18595"/>
                    <a:pt x="9690" y="18595"/>
                  </a:cubicBezTo>
                  <a:cubicBezTo>
                    <a:pt x="12499" y="18595"/>
                    <a:pt x="14339" y="18078"/>
                    <a:pt x="15889" y="17562"/>
                  </a:cubicBezTo>
                  <a:lnTo>
                    <a:pt x="15986" y="20191"/>
                  </a:lnTo>
                  <a:cubicBezTo>
                    <a:pt x="14436" y="20849"/>
                    <a:pt x="11869" y="21600"/>
                    <a:pt x="8527" y="21600"/>
                  </a:cubicBezTo>
                  <a:cubicBezTo>
                    <a:pt x="1892" y="21600"/>
                    <a:pt x="-1062" y="17327"/>
                    <a:pt x="342" y="11176"/>
                  </a:cubicBezTo>
                  <a:cubicBezTo>
                    <a:pt x="1795" y="4930"/>
                    <a:pt x="6832" y="0"/>
                    <a:pt x="13031" y="0"/>
                  </a:cubicBezTo>
                  <a:cubicBezTo>
                    <a:pt x="20005" y="0"/>
                    <a:pt x="20538" y="5917"/>
                    <a:pt x="19618" y="9673"/>
                  </a:cubicBezTo>
                  <a:cubicBezTo>
                    <a:pt x="19473" y="10424"/>
                    <a:pt x="19230" y="11035"/>
                    <a:pt x="19085" y="11410"/>
                  </a:cubicBezTo>
                  <a:lnTo>
                    <a:pt x="3975" y="11410"/>
                  </a:lnTo>
                  <a:close/>
                  <a:moveTo>
                    <a:pt x="16131" y="8781"/>
                  </a:moveTo>
                  <a:cubicBezTo>
                    <a:pt x="16664" y="6433"/>
                    <a:pt x="16518" y="2677"/>
                    <a:pt x="12111" y="2677"/>
                  </a:cubicBezTo>
                  <a:cubicBezTo>
                    <a:pt x="8140" y="2677"/>
                    <a:pt x="5670" y="6151"/>
                    <a:pt x="4750" y="8781"/>
                  </a:cubicBezTo>
                  <a:lnTo>
                    <a:pt x="16131" y="8781"/>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19" name="任意多边形 12"/>
            <p:cNvSpPr/>
            <p:nvPr/>
          </p:nvSpPr>
          <p:spPr>
            <a:xfrm>
              <a:off x="1515254" y="477531"/>
              <a:ext cx="47427" cy="95984"/>
            </a:xfrm>
            <a:custGeom>
              <a:avLst/>
              <a:gdLst/>
              <a:ahLst/>
              <a:cxnLst>
                <a:cxn ang="0">
                  <a:pos x="wd2" y="hd2"/>
                </a:cxn>
                <a:cxn ang="5400000">
                  <a:pos x="wd2" y="hd2"/>
                </a:cxn>
                <a:cxn ang="10800000">
                  <a:pos x="wd2" y="hd2"/>
                </a:cxn>
                <a:cxn ang="16200000">
                  <a:pos x="wd2" y="hd2"/>
                </a:cxn>
              </a:cxnLst>
              <a:rect l="0" t="0" r="r" b="b"/>
              <a:pathLst>
                <a:path w="21600" h="21600" extrusionOk="0">
                  <a:moveTo>
                    <a:pt x="14504" y="0"/>
                  </a:moveTo>
                  <a:lnTo>
                    <a:pt x="12632" y="4120"/>
                  </a:lnTo>
                  <a:lnTo>
                    <a:pt x="21600" y="4120"/>
                  </a:lnTo>
                  <a:lnTo>
                    <a:pt x="20586" y="6468"/>
                  </a:lnTo>
                  <a:lnTo>
                    <a:pt x="11619" y="6468"/>
                  </a:lnTo>
                  <a:lnTo>
                    <a:pt x="7486" y="15709"/>
                  </a:lnTo>
                  <a:cubicBezTo>
                    <a:pt x="6394" y="17904"/>
                    <a:pt x="7252" y="19020"/>
                    <a:pt x="10761" y="19020"/>
                  </a:cubicBezTo>
                  <a:cubicBezTo>
                    <a:pt x="12477" y="19020"/>
                    <a:pt x="13490" y="18905"/>
                    <a:pt x="14504" y="18828"/>
                  </a:cubicBezTo>
                  <a:lnTo>
                    <a:pt x="13724" y="21176"/>
                  </a:lnTo>
                  <a:cubicBezTo>
                    <a:pt x="12477" y="21369"/>
                    <a:pt x="10371" y="21600"/>
                    <a:pt x="7876" y="21600"/>
                  </a:cubicBezTo>
                  <a:cubicBezTo>
                    <a:pt x="4991" y="21600"/>
                    <a:pt x="2885" y="21061"/>
                    <a:pt x="1638" y="20252"/>
                  </a:cubicBezTo>
                  <a:cubicBezTo>
                    <a:pt x="390" y="19328"/>
                    <a:pt x="390" y="17788"/>
                    <a:pt x="1248" y="15709"/>
                  </a:cubicBezTo>
                  <a:lnTo>
                    <a:pt x="5381" y="6391"/>
                  </a:lnTo>
                  <a:lnTo>
                    <a:pt x="0" y="6391"/>
                  </a:lnTo>
                  <a:lnTo>
                    <a:pt x="1014" y="4004"/>
                  </a:lnTo>
                  <a:lnTo>
                    <a:pt x="6394" y="4004"/>
                  </a:lnTo>
                  <a:lnTo>
                    <a:pt x="7876" y="809"/>
                  </a:lnTo>
                  <a:lnTo>
                    <a:pt x="14504" y="0"/>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0" name="任意多边形 13"/>
            <p:cNvSpPr/>
            <p:nvPr/>
          </p:nvSpPr>
          <p:spPr>
            <a:xfrm>
              <a:off x="1569825" y="477531"/>
              <a:ext cx="47427" cy="95984"/>
            </a:xfrm>
            <a:custGeom>
              <a:avLst/>
              <a:gdLst/>
              <a:ahLst/>
              <a:cxnLst>
                <a:cxn ang="0">
                  <a:pos x="wd2" y="hd2"/>
                </a:cxn>
                <a:cxn ang="5400000">
                  <a:pos x="wd2" y="hd2"/>
                </a:cxn>
                <a:cxn ang="10800000">
                  <a:pos x="wd2" y="hd2"/>
                </a:cxn>
                <a:cxn ang="16200000">
                  <a:pos x="wd2" y="hd2"/>
                </a:cxn>
              </a:cxnLst>
              <a:rect l="0" t="0" r="r" b="b"/>
              <a:pathLst>
                <a:path w="21600" h="21600" extrusionOk="0">
                  <a:moveTo>
                    <a:pt x="14504" y="0"/>
                  </a:moveTo>
                  <a:lnTo>
                    <a:pt x="12632" y="4120"/>
                  </a:lnTo>
                  <a:lnTo>
                    <a:pt x="21600" y="4120"/>
                  </a:lnTo>
                  <a:lnTo>
                    <a:pt x="20586" y="6468"/>
                  </a:lnTo>
                  <a:lnTo>
                    <a:pt x="11619" y="6468"/>
                  </a:lnTo>
                  <a:lnTo>
                    <a:pt x="7486" y="15709"/>
                  </a:lnTo>
                  <a:cubicBezTo>
                    <a:pt x="6394" y="17904"/>
                    <a:pt x="7252" y="19020"/>
                    <a:pt x="10761" y="19020"/>
                  </a:cubicBezTo>
                  <a:cubicBezTo>
                    <a:pt x="12477" y="19020"/>
                    <a:pt x="13490" y="18905"/>
                    <a:pt x="14504" y="18828"/>
                  </a:cubicBezTo>
                  <a:lnTo>
                    <a:pt x="13724" y="21176"/>
                  </a:lnTo>
                  <a:cubicBezTo>
                    <a:pt x="12477" y="21369"/>
                    <a:pt x="10371" y="21600"/>
                    <a:pt x="7876" y="21600"/>
                  </a:cubicBezTo>
                  <a:cubicBezTo>
                    <a:pt x="4991" y="21600"/>
                    <a:pt x="2885" y="21061"/>
                    <a:pt x="1638" y="20252"/>
                  </a:cubicBezTo>
                  <a:cubicBezTo>
                    <a:pt x="390" y="19328"/>
                    <a:pt x="390" y="17788"/>
                    <a:pt x="1248" y="15709"/>
                  </a:cubicBezTo>
                  <a:lnTo>
                    <a:pt x="5381" y="6391"/>
                  </a:lnTo>
                  <a:lnTo>
                    <a:pt x="0" y="6391"/>
                  </a:lnTo>
                  <a:lnTo>
                    <a:pt x="1014" y="4004"/>
                  </a:lnTo>
                  <a:lnTo>
                    <a:pt x="6394" y="4004"/>
                  </a:lnTo>
                  <a:lnTo>
                    <a:pt x="7876" y="809"/>
                  </a:lnTo>
                  <a:lnTo>
                    <a:pt x="14504" y="0"/>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1" name="任意多边形 14"/>
            <p:cNvSpPr/>
            <p:nvPr/>
          </p:nvSpPr>
          <p:spPr>
            <a:xfrm>
              <a:off x="1619670" y="494821"/>
              <a:ext cx="70726" cy="79603"/>
            </a:xfrm>
            <a:custGeom>
              <a:avLst/>
              <a:gdLst/>
              <a:ahLst/>
              <a:cxnLst>
                <a:cxn ang="0">
                  <a:pos x="wd2" y="hd2"/>
                </a:cxn>
                <a:cxn ang="5400000">
                  <a:pos x="wd2" y="hd2"/>
                </a:cxn>
                <a:cxn ang="10800000">
                  <a:pos x="wd2" y="hd2"/>
                </a:cxn>
                <a:cxn ang="16200000">
                  <a:pos x="wd2" y="hd2"/>
                </a:cxn>
              </a:cxnLst>
              <a:rect l="0" t="0" r="r" b="b"/>
              <a:pathLst>
                <a:path w="19961" h="21600" extrusionOk="0">
                  <a:moveTo>
                    <a:pt x="3975" y="11410"/>
                  </a:moveTo>
                  <a:cubicBezTo>
                    <a:pt x="2958" y="16576"/>
                    <a:pt x="5767" y="18595"/>
                    <a:pt x="9690" y="18595"/>
                  </a:cubicBezTo>
                  <a:cubicBezTo>
                    <a:pt x="12499" y="18595"/>
                    <a:pt x="14339" y="18078"/>
                    <a:pt x="15889" y="17562"/>
                  </a:cubicBezTo>
                  <a:lnTo>
                    <a:pt x="15986" y="20191"/>
                  </a:lnTo>
                  <a:cubicBezTo>
                    <a:pt x="14436" y="20849"/>
                    <a:pt x="11869" y="21600"/>
                    <a:pt x="8527" y="21600"/>
                  </a:cubicBezTo>
                  <a:cubicBezTo>
                    <a:pt x="1892" y="21600"/>
                    <a:pt x="-1062" y="17327"/>
                    <a:pt x="342" y="11176"/>
                  </a:cubicBezTo>
                  <a:cubicBezTo>
                    <a:pt x="1795" y="4930"/>
                    <a:pt x="6832" y="0"/>
                    <a:pt x="13031" y="0"/>
                  </a:cubicBezTo>
                  <a:cubicBezTo>
                    <a:pt x="20005" y="0"/>
                    <a:pt x="20538" y="5917"/>
                    <a:pt x="19618" y="9814"/>
                  </a:cubicBezTo>
                  <a:cubicBezTo>
                    <a:pt x="19473" y="10565"/>
                    <a:pt x="19230" y="11176"/>
                    <a:pt x="19085" y="11551"/>
                  </a:cubicBezTo>
                  <a:lnTo>
                    <a:pt x="3975" y="11410"/>
                  </a:lnTo>
                  <a:close/>
                  <a:moveTo>
                    <a:pt x="15986" y="8781"/>
                  </a:moveTo>
                  <a:cubicBezTo>
                    <a:pt x="16664" y="6433"/>
                    <a:pt x="16373" y="2677"/>
                    <a:pt x="12014" y="2677"/>
                  </a:cubicBezTo>
                  <a:cubicBezTo>
                    <a:pt x="7995" y="2677"/>
                    <a:pt x="5525" y="6151"/>
                    <a:pt x="4604" y="8781"/>
                  </a:cubicBezTo>
                  <a:lnTo>
                    <a:pt x="15986" y="8781"/>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2" name="任意多边形 15"/>
            <p:cNvSpPr/>
            <p:nvPr/>
          </p:nvSpPr>
          <p:spPr>
            <a:xfrm>
              <a:off x="1699279" y="494821"/>
              <a:ext cx="54399" cy="78693"/>
            </a:xfrm>
            <a:custGeom>
              <a:avLst/>
              <a:gdLst/>
              <a:ahLst/>
              <a:cxnLst>
                <a:cxn ang="0">
                  <a:pos x="wd2" y="hd2"/>
                </a:cxn>
                <a:cxn ang="5400000">
                  <a:pos x="wd2" y="hd2"/>
                </a:cxn>
                <a:cxn ang="10800000">
                  <a:pos x="wd2" y="hd2"/>
                </a:cxn>
                <a:cxn ang="16200000">
                  <a:pos x="wd2" y="hd2"/>
                </a:cxn>
              </a:cxnLst>
              <a:rect l="0" t="0" r="r" b="b"/>
              <a:pathLst>
                <a:path w="21600" h="21600" extrusionOk="0">
                  <a:moveTo>
                    <a:pt x="4594" y="7090"/>
                  </a:moveTo>
                  <a:cubicBezTo>
                    <a:pt x="5349" y="4537"/>
                    <a:pt x="6034" y="2411"/>
                    <a:pt x="6446" y="520"/>
                  </a:cubicBezTo>
                  <a:lnTo>
                    <a:pt x="11177" y="520"/>
                  </a:lnTo>
                  <a:lnTo>
                    <a:pt x="10080" y="4679"/>
                  </a:lnTo>
                  <a:lnTo>
                    <a:pt x="10286" y="4679"/>
                  </a:lnTo>
                  <a:cubicBezTo>
                    <a:pt x="12480" y="1749"/>
                    <a:pt x="16457" y="0"/>
                    <a:pt x="20160" y="0"/>
                  </a:cubicBezTo>
                  <a:cubicBezTo>
                    <a:pt x="20709" y="0"/>
                    <a:pt x="21051" y="0"/>
                    <a:pt x="21600" y="142"/>
                  </a:cubicBezTo>
                  <a:lnTo>
                    <a:pt x="20503" y="3687"/>
                  </a:lnTo>
                  <a:cubicBezTo>
                    <a:pt x="19954" y="3687"/>
                    <a:pt x="19406" y="3545"/>
                    <a:pt x="18720" y="3545"/>
                  </a:cubicBezTo>
                  <a:cubicBezTo>
                    <a:pt x="14811" y="3545"/>
                    <a:pt x="11383" y="5577"/>
                    <a:pt x="9737" y="8460"/>
                  </a:cubicBezTo>
                  <a:cubicBezTo>
                    <a:pt x="9326" y="8980"/>
                    <a:pt x="9189" y="9595"/>
                    <a:pt x="8983" y="10351"/>
                  </a:cubicBezTo>
                  <a:lnTo>
                    <a:pt x="5486" y="21600"/>
                  </a:lnTo>
                  <a:lnTo>
                    <a:pt x="0" y="21600"/>
                  </a:lnTo>
                  <a:lnTo>
                    <a:pt x="4594" y="7090"/>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3" name="任意多边形 16"/>
            <p:cNvSpPr/>
            <p:nvPr/>
          </p:nvSpPr>
          <p:spPr>
            <a:xfrm>
              <a:off x="1784167" y="463882"/>
              <a:ext cx="81079" cy="109633"/>
            </a:xfrm>
            <a:custGeom>
              <a:avLst/>
              <a:gdLst/>
              <a:ahLst/>
              <a:cxnLst>
                <a:cxn ang="0">
                  <a:pos x="wd2" y="hd2"/>
                </a:cxn>
                <a:cxn ang="5400000">
                  <a:pos x="wd2" y="hd2"/>
                </a:cxn>
                <a:cxn ang="10800000">
                  <a:pos x="wd2" y="hd2"/>
                </a:cxn>
                <a:cxn ang="16200000">
                  <a:pos x="wd2" y="hd2"/>
                </a:cxn>
              </a:cxnLst>
              <a:rect l="0" t="0" r="r" b="b"/>
              <a:pathLst>
                <a:path w="21600" h="21600" extrusionOk="0">
                  <a:moveTo>
                    <a:pt x="17694" y="11477"/>
                  </a:moveTo>
                  <a:lnTo>
                    <a:pt x="6618" y="11477"/>
                  </a:lnTo>
                  <a:lnTo>
                    <a:pt x="4320" y="19230"/>
                  </a:lnTo>
                  <a:lnTo>
                    <a:pt x="16683" y="19230"/>
                  </a:lnTo>
                  <a:lnTo>
                    <a:pt x="15947" y="21600"/>
                  </a:lnTo>
                  <a:lnTo>
                    <a:pt x="0" y="21600"/>
                  </a:lnTo>
                  <a:lnTo>
                    <a:pt x="6250" y="0"/>
                  </a:lnTo>
                  <a:lnTo>
                    <a:pt x="21600" y="0"/>
                  </a:lnTo>
                  <a:lnTo>
                    <a:pt x="21003" y="2336"/>
                  </a:lnTo>
                  <a:lnTo>
                    <a:pt x="9191" y="2336"/>
                  </a:lnTo>
                  <a:lnTo>
                    <a:pt x="7261" y="9107"/>
                  </a:lnTo>
                  <a:lnTo>
                    <a:pt x="18291" y="9107"/>
                  </a:lnTo>
                  <a:lnTo>
                    <a:pt x="17694" y="11477"/>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4" name="任意多边形 17"/>
            <p:cNvSpPr/>
            <p:nvPr/>
          </p:nvSpPr>
          <p:spPr>
            <a:xfrm>
              <a:off x="1865417" y="494821"/>
              <a:ext cx="74107" cy="79603"/>
            </a:xfrm>
            <a:custGeom>
              <a:avLst/>
              <a:gdLst/>
              <a:ahLst/>
              <a:cxnLst>
                <a:cxn ang="0">
                  <a:pos x="wd2" y="hd2"/>
                </a:cxn>
                <a:cxn ang="5400000">
                  <a:pos x="wd2" y="hd2"/>
                </a:cxn>
                <a:cxn ang="10800000">
                  <a:pos x="wd2" y="hd2"/>
                </a:cxn>
                <a:cxn ang="16200000">
                  <a:pos x="wd2" y="hd2"/>
                </a:cxn>
              </a:cxnLst>
              <a:rect l="0" t="0" r="r" b="b"/>
              <a:pathLst>
                <a:path w="21600" h="21600" extrusionOk="0">
                  <a:moveTo>
                    <a:pt x="7732" y="0"/>
                  </a:moveTo>
                  <a:lnTo>
                    <a:pt x="11174" y="7936"/>
                  </a:lnTo>
                  <a:lnTo>
                    <a:pt x="17559" y="0"/>
                  </a:lnTo>
                  <a:lnTo>
                    <a:pt x="21600" y="0"/>
                  </a:lnTo>
                  <a:lnTo>
                    <a:pt x="12671" y="11035"/>
                  </a:lnTo>
                  <a:lnTo>
                    <a:pt x="17310" y="21600"/>
                  </a:lnTo>
                  <a:lnTo>
                    <a:pt x="13569" y="21600"/>
                  </a:lnTo>
                  <a:lnTo>
                    <a:pt x="10276" y="13946"/>
                  </a:lnTo>
                  <a:lnTo>
                    <a:pt x="3991" y="21600"/>
                  </a:lnTo>
                  <a:lnTo>
                    <a:pt x="0" y="21600"/>
                  </a:lnTo>
                  <a:lnTo>
                    <a:pt x="8780" y="10800"/>
                  </a:lnTo>
                  <a:lnTo>
                    <a:pt x="3991" y="0"/>
                  </a:lnTo>
                  <a:lnTo>
                    <a:pt x="7732" y="0"/>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5" name="任意多边形 18"/>
            <p:cNvSpPr/>
            <p:nvPr/>
          </p:nvSpPr>
          <p:spPr>
            <a:xfrm>
              <a:off x="1939695" y="494821"/>
              <a:ext cx="89094" cy="109026"/>
            </a:xfrm>
            <a:custGeom>
              <a:avLst/>
              <a:gdLst/>
              <a:ahLst/>
              <a:cxnLst>
                <a:cxn ang="0">
                  <a:pos x="wd2" y="hd2"/>
                </a:cxn>
                <a:cxn ang="5400000">
                  <a:pos x="wd2" y="hd2"/>
                </a:cxn>
                <a:cxn ang="10800000">
                  <a:pos x="wd2" y="hd2"/>
                </a:cxn>
                <a:cxn ang="16200000">
                  <a:pos x="wd2" y="hd2"/>
                </a:cxn>
              </a:cxnLst>
              <a:rect l="0" t="0" r="r" b="b"/>
              <a:pathLst>
                <a:path w="20714" h="21600" extrusionOk="0">
                  <a:moveTo>
                    <a:pt x="4224" y="5187"/>
                  </a:moveTo>
                  <a:cubicBezTo>
                    <a:pt x="4782" y="3276"/>
                    <a:pt x="5101" y="1740"/>
                    <a:pt x="5420" y="273"/>
                  </a:cubicBezTo>
                  <a:lnTo>
                    <a:pt x="8289" y="273"/>
                  </a:lnTo>
                  <a:lnTo>
                    <a:pt x="7731" y="2935"/>
                  </a:lnTo>
                  <a:lnTo>
                    <a:pt x="7851" y="2935"/>
                  </a:lnTo>
                  <a:cubicBezTo>
                    <a:pt x="9684" y="990"/>
                    <a:pt x="11996" y="0"/>
                    <a:pt x="14865" y="0"/>
                  </a:cubicBezTo>
                  <a:cubicBezTo>
                    <a:pt x="19249" y="0"/>
                    <a:pt x="21600" y="3105"/>
                    <a:pt x="20404" y="7644"/>
                  </a:cubicBezTo>
                  <a:cubicBezTo>
                    <a:pt x="19010" y="13137"/>
                    <a:pt x="14466" y="15765"/>
                    <a:pt x="10322" y="15765"/>
                  </a:cubicBezTo>
                  <a:cubicBezTo>
                    <a:pt x="7970" y="15765"/>
                    <a:pt x="6137" y="14844"/>
                    <a:pt x="5420" y="13410"/>
                  </a:cubicBezTo>
                  <a:lnTo>
                    <a:pt x="5300" y="13410"/>
                  </a:lnTo>
                  <a:lnTo>
                    <a:pt x="3188" y="21600"/>
                  </a:lnTo>
                  <a:lnTo>
                    <a:pt x="0" y="21600"/>
                  </a:lnTo>
                  <a:lnTo>
                    <a:pt x="4224" y="5187"/>
                  </a:lnTo>
                  <a:close/>
                  <a:moveTo>
                    <a:pt x="6376" y="9213"/>
                  </a:moveTo>
                  <a:cubicBezTo>
                    <a:pt x="6257" y="9555"/>
                    <a:pt x="6137" y="10032"/>
                    <a:pt x="6257" y="10305"/>
                  </a:cubicBezTo>
                  <a:cubicBezTo>
                    <a:pt x="6376" y="12216"/>
                    <a:pt x="7970" y="13479"/>
                    <a:pt x="10202" y="13479"/>
                  </a:cubicBezTo>
                  <a:cubicBezTo>
                    <a:pt x="13590" y="13479"/>
                    <a:pt x="16140" y="11124"/>
                    <a:pt x="17097" y="7644"/>
                  </a:cubicBezTo>
                  <a:cubicBezTo>
                    <a:pt x="17854" y="4641"/>
                    <a:pt x="16698" y="2013"/>
                    <a:pt x="13271" y="2013"/>
                  </a:cubicBezTo>
                  <a:cubicBezTo>
                    <a:pt x="11039" y="2013"/>
                    <a:pt x="8688" y="3276"/>
                    <a:pt x="7532" y="5391"/>
                  </a:cubicBezTo>
                  <a:cubicBezTo>
                    <a:pt x="7333" y="5733"/>
                    <a:pt x="7094" y="6210"/>
                    <a:pt x="7094" y="6483"/>
                  </a:cubicBezTo>
                  <a:lnTo>
                    <a:pt x="6376" y="9213"/>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6" name="任意多边形 19"/>
            <p:cNvSpPr/>
            <p:nvPr/>
          </p:nvSpPr>
          <p:spPr>
            <a:xfrm>
              <a:off x="2037426" y="494821"/>
              <a:ext cx="70447" cy="79603"/>
            </a:xfrm>
            <a:custGeom>
              <a:avLst/>
              <a:gdLst/>
              <a:ahLst/>
              <a:cxnLst>
                <a:cxn ang="0">
                  <a:pos x="wd2" y="hd2"/>
                </a:cxn>
                <a:cxn ang="5400000">
                  <a:pos x="wd2" y="hd2"/>
                </a:cxn>
                <a:cxn ang="10800000">
                  <a:pos x="wd2" y="hd2"/>
                </a:cxn>
                <a:cxn ang="16200000">
                  <a:pos x="wd2" y="hd2"/>
                </a:cxn>
              </a:cxnLst>
              <a:rect l="0" t="0" r="r" b="b"/>
              <a:pathLst>
                <a:path w="19962" h="21600" extrusionOk="0">
                  <a:moveTo>
                    <a:pt x="3975" y="11410"/>
                  </a:moveTo>
                  <a:cubicBezTo>
                    <a:pt x="2958" y="16576"/>
                    <a:pt x="5767" y="18595"/>
                    <a:pt x="9641" y="18595"/>
                  </a:cubicBezTo>
                  <a:cubicBezTo>
                    <a:pt x="12499" y="18595"/>
                    <a:pt x="14339" y="18078"/>
                    <a:pt x="15889" y="17562"/>
                  </a:cubicBezTo>
                  <a:lnTo>
                    <a:pt x="15986" y="20191"/>
                  </a:lnTo>
                  <a:cubicBezTo>
                    <a:pt x="14436" y="20849"/>
                    <a:pt x="11869" y="21600"/>
                    <a:pt x="8479" y="21600"/>
                  </a:cubicBezTo>
                  <a:cubicBezTo>
                    <a:pt x="1892" y="21600"/>
                    <a:pt x="-1062" y="17327"/>
                    <a:pt x="342" y="11176"/>
                  </a:cubicBezTo>
                  <a:cubicBezTo>
                    <a:pt x="1795" y="4930"/>
                    <a:pt x="6832" y="0"/>
                    <a:pt x="13031" y="0"/>
                  </a:cubicBezTo>
                  <a:cubicBezTo>
                    <a:pt x="20005" y="0"/>
                    <a:pt x="20538" y="5917"/>
                    <a:pt x="19618" y="9814"/>
                  </a:cubicBezTo>
                  <a:cubicBezTo>
                    <a:pt x="19473" y="10565"/>
                    <a:pt x="19230" y="11176"/>
                    <a:pt x="19085" y="11551"/>
                  </a:cubicBezTo>
                  <a:lnTo>
                    <a:pt x="3975" y="11410"/>
                  </a:lnTo>
                  <a:close/>
                  <a:moveTo>
                    <a:pt x="15986" y="8781"/>
                  </a:moveTo>
                  <a:cubicBezTo>
                    <a:pt x="16664" y="6433"/>
                    <a:pt x="16373" y="2677"/>
                    <a:pt x="12014" y="2677"/>
                  </a:cubicBezTo>
                  <a:cubicBezTo>
                    <a:pt x="7995" y="2677"/>
                    <a:pt x="5525" y="6151"/>
                    <a:pt x="4604" y="8781"/>
                  </a:cubicBezTo>
                  <a:lnTo>
                    <a:pt x="15986" y="8781"/>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7" name="任意多边形 21"/>
            <p:cNvSpPr/>
            <p:nvPr/>
          </p:nvSpPr>
          <p:spPr>
            <a:xfrm>
              <a:off x="2116141" y="494214"/>
              <a:ext cx="54400" cy="78694"/>
            </a:xfrm>
            <a:custGeom>
              <a:avLst/>
              <a:gdLst/>
              <a:ahLst/>
              <a:cxnLst>
                <a:cxn ang="0">
                  <a:pos x="wd2" y="hd2"/>
                </a:cxn>
                <a:cxn ang="5400000">
                  <a:pos x="wd2" y="hd2"/>
                </a:cxn>
                <a:cxn ang="10800000">
                  <a:pos x="wd2" y="hd2"/>
                </a:cxn>
                <a:cxn ang="16200000">
                  <a:pos x="wd2" y="hd2"/>
                </a:cxn>
              </a:cxnLst>
              <a:rect l="0" t="0" r="r" b="b"/>
              <a:pathLst>
                <a:path w="21600" h="21600" extrusionOk="0">
                  <a:moveTo>
                    <a:pt x="4580" y="7153"/>
                  </a:moveTo>
                  <a:cubicBezTo>
                    <a:pt x="5332" y="4659"/>
                    <a:pt x="6084" y="2494"/>
                    <a:pt x="6425" y="471"/>
                  </a:cubicBezTo>
                  <a:lnTo>
                    <a:pt x="11142" y="471"/>
                  </a:lnTo>
                  <a:lnTo>
                    <a:pt x="10048" y="4659"/>
                  </a:lnTo>
                  <a:lnTo>
                    <a:pt x="10253" y="4659"/>
                  </a:lnTo>
                  <a:cubicBezTo>
                    <a:pt x="12441" y="1741"/>
                    <a:pt x="16473" y="0"/>
                    <a:pt x="20096" y="0"/>
                  </a:cubicBezTo>
                  <a:cubicBezTo>
                    <a:pt x="20643" y="0"/>
                    <a:pt x="20985" y="0"/>
                    <a:pt x="21600" y="94"/>
                  </a:cubicBezTo>
                  <a:lnTo>
                    <a:pt x="20438" y="3624"/>
                  </a:lnTo>
                  <a:cubicBezTo>
                    <a:pt x="19891" y="3624"/>
                    <a:pt x="19344" y="3529"/>
                    <a:pt x="18661" y="3529"/>
                  </a:cubicBezTo>
                  <a:cubicBezTo>
                    <a:pt x="14833" y="3529"/>
                    <a:pt x="11347" y="5506"/>
                    <a:pt x="9706" y="8424"/>
                  </a:cubicBezTo>
                  <a:cubicBezTo>
                    <a:pt x="9365" y="9035"/>
                    <a:pt x="9159" y="9553"/>
                    <a:pt x="8954" y="10306"/>
                  </a:cubicBezTo>
                  <a:lnTo>
                    <a:pt x="5537" y="21600"/>
                  </a:lnTo>
                  <a:lnTo>
                    <a:pt x="0" y="21600"/>
                  </a:lnTo>
                  <a:lnTo>
                    <a:pt x="4580" y="7153"/>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8" name="任意多边形 22"/>
            <p:cNvSpPr/>
            <p:nvPr/>
          </p:nvSpPr>
          <p:spPr>
            <a:xfrm>
              <a:off x="2170712" y="463882"/>
              <a:ext cx="37050" cy="110542"/>
            </a:xfrm>
            <a:custGeom>
              <a:avLst/>
              <a:gdLst/>
              <a:ahLst/>
              <a:cxnLst>
                <a:cxn ang="0">
                  <a:pos x="wd2" y="hd2"/>
                </a:cxn>
                <a:cxn ang="5400000">
                  <a:pos x="wd2" y="hd2"/>
                </a:cxn>
                <a:cxn ang="10800000">
                  <a:pos x="wd2" y="hd2"/>
                </a:cxn>
                <a:cxn ang="16200000">
                  <a:pos x="wd2" y="hd2"/>
                </a:cxn>
              </a:cxnLst>
              <a:rect l="0" t="0" r="r" b="b"/>
              <a:pathLst>
                <a:path w="21213" h="21600" extrusionOk="0">
                  <a:moveTo>
                    <a:pt x="0" y="21600"/>
                  </a:moveTo>
                  <a:lnTo>
                    <a:pt x="9676" y="6369"/>
                  </a:lnTo>
                  <a:lnTo>
                    <a:pt x="17495" y="6369"/>
                  </a:lnTo>
                  <a:lnTo>
                    <a:pt x="7819" y="21600"/>
                  </a:lnTo>
                  <a:lnTo>
                    <a:pt x="0" y="21600"/>
                  </a:lnTo>
                  <a:close/>
                  <a:moveTo>
                    <a:pt x="14856" y="3606"/>
                  </a:moveTo>
                  <a:cubicBezTo>
                    <a:pt x="12022" y="3606"/>
                    <a:pt x="10458" y="2797"/>
                    <a:pt x="10947" y="1786"/>
                  </a:cubicBezTo>
                  <a:cubicBezTo>
                    <a:pt x="11435" y="809"/>
                    <a:pt x="14074" y="0"/>
                    <a:pt x="17202" y="0"/>
                  </a:cubicBezTo>
                  <a:cubicBezTo>
                    <a:pt x="20329" y="0"/>
                    <a:pt x="21600" y="809"/>
                    <a:pt x="21111" y="1786"/>
                  </a:cubicBezTo>
                  <a:cubicBezTo>
                    <a:pt x="20623" y="2797"/>
                    <a:pt x="18277" y="3606"/>
                    <a:pt x="14856" y="3606"/>
                  </a:cubicBez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29" name="任意多边形 23"/>
            <p:cNvSpPr/>
            <p:nvPr/>
          </p:nvSpPr>
          <p:spPr>
            <a:xfrm>
              <a:off x="2210855" y="494821"/>
              <a:ext cx="70727" cy="79603"/>
            </a:xfrm>
            <a:custGeom>
              <a:avLst/>
              <a:gdLst/>
              <a:ahLst/>
              <a:cxnLst>
                <a:cxn ang="0">
                  <a:pos x="wd2" y="hd2"/>
                </a:cxn>
                <a:cxn ang="5400000">
                  <a:pos x="wd2" y="hd2"/>
                </a:cxn>
                <a:cxn ang="10800000">
                  <a:pos x="wd2" y="hd2"/>
                </a:cxn>
                <a:cxn ang="16200000">
                  <a:pos x="wd2" y="hd2"/>
                </a:cxn>
              </a:cxnLst>
              <a:rect l="0" t="0" r="r" b="b"/>
              <a:pathLst>
                <a:path w="19962" h="21600" extrusionOk="0">
                  <a:moveTo>
                    <a:pt x="3975" y="11410"/>
                  </a:moveTo>
                  <a:cubicBezTo>
                    <a:pt x="2958" y="16435"/>
                    <a:pt x="5767" y="18595"/>
                    <a:pt x="9641" y="18595"/>
                  </a:cubicBezTo>
                  <a:cubicBezTo>
                    <a:pt x="12499" y="18595"/>
                    <a:pt x="14290" y="18078"/>
                    <a:pt x="15889" y="17562"/>
                  </a:cubicBezTo>
                  <a:lnTo>
                    <a:pt x="15986" y="20191"/>
                  </a:lnTo>
                  <a:cubicBezTo>
                    <a:pt x="14436" y="20849"/>
                    <a:pt x="11869" y="21600"/>
                    <a:pt x="8479" y="21600"/>
                  </a:cubicBezTo>
                  <a:cubicBezTo>
                    <a:pt x="1892" y="21600"/>
                    <a:pt x="-1062" y="17327"/>
                    <a:pt x="342" y="11176"/>
                  </a:cubicBezTo>
                  <a:cubicBezTo>
                    <a:pt x="1747" y="4930"/>
                    <a:pt x="6832" y="0"/>
                    <a:pt x="13031" y="0"/>
                  </a:cubicBezTo>
                  <a:cubicBezTo>
                    <a:pt x="20005" y="0"/>
                    <a:pt x="20538" y="5917"/>
                    <a:pt x="19618" y="9814"/>
                  </a:cubicBezTo>
                  <a:cubicBezTo>
                    <a:pt x="19473" y="10565"/>
                    <a:pt x="19230" y="11176"/>
                    <a:pt x="19085" y="11551"/>
                  </a:cubicBezTo>
                  <a:lnTo>
                    <a:pt x="3975" y="11410"/>
                  </a:lnTo>
                  <a:close/>
                  <a:moveTo>
                    <a:pt x="16131" y="8781"/>
                  </a:moveTo>
                  <a:cubicBezTo>
                    <a:pt x="16760" y="6433"/>
                    <a:pt x="16518" y="2677"/>
                    <a:pt x="12111" y="2677"/>
                  </a:cubicBezTo>
                  <a:cubicBezTo>
                    <a:pt x="8091" y="2677"/>
                    <a:pt x="5670" y="6151"/>
                    <a:pt x="4750" y="8781"/>
                  </a:cubicBezTo>
                  <a:lnTo>
                    <a:pt x="16131" y="8781"/>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0" name="任意多边形 24"/>
            <p:cNvSpPr/>
            <p:nvPr/>
          </p:nvSpPr>
          <p:spPr>
            <a:xfrm>
              <a:off x="2290465" y="494821"/>
              <a:ext cx="76404" cy="79603"/>
            </a:xfrm>
            <a:custGeom>
              <a:avLst/>
              <a:gdLst/>
              <a:ahLst/>
              <a:cxnLst>
                <a:cxn ang="0">
                  <a:pos x="wd2" y="hd2"/>
                </a:cxn>
                <a:cxn ang="5400000">
                  <a:pos x="wd2" y="hd2"/>
                </a:cxn>
                <a:cxn ang="10800000">
                  <a:pos x="wd2" y="hd2"/>
                </a:cxn>
                <a:cxn ang="16200000">
                  <a:pos x="wd2" y="hd2"/>
                </a:cxn>
              </a:cxnLst>
              <a:rect l="0" t="0" r="r" b="b"/>
              <a:pathLst>
                <a:path w="20355" h="21600" extrusionOk="0">
                  <a:moveTo>
                    <a:pt x="3033" y="6151"/>
                  </a:moveTo>
                  <a:cubicBezTo>
                    <a:pt x="3539" y="3897"/>
                    <a:pt x="3906" y="2160"/>
                    <a:pt x="4136" y="376"/>
                  </a:cubicBezTo>
                  <a:lnTo>
                    <a:pt x="7491" y="376"/>
                  </a:lnTo>
                  <a:lnTo>
                    <a:pt x="6986" y="3897"/>
                  </a:lnTo>
                  <a:lnTo>
                    <a:pt x="7123" y="3897"/>
                  </a:lnTo>
                  <a:cubicBezTo>
                    <a:pt x="8594" y="1878"/>
                    <a:pt x="11260" y="0"/>
                    <a:pt x="14706" y="0"/>
                  </a:cubicBezTo>
                  <a:cubicBezTo>
                    <a:pt x="17510" y="0"/>
                    <a:pt x="21600" y="1784"/>
                    <a:pt x="19991" y="9063"/>
                  </a:cubicBezTo>
                  <a:lnTo>
                    <a:pt x="17280" y="21600"/>
                  </a:lnTo>
                  <a:lnTo>
                    <a:pt x="13603" y="21600"/>
                  </a:lnTo>
                  <a:lnTo>
                    <a:pt x="16177" y="9438"/>
                  </a:lnTo>
                  <a:cubicBezTo>
                    <a:pt x="16912" y="6057"/>
                    <a:pt x="16315" y="3146"/>
                    <a:pt x="12730" y="3146"/>
                  </a:cubicBezTo>
                  <a:cubicBezTo>
                    <a:pt x="10294" y="3146"/>
                    <a:pt x="8089" y="4930"/>
                    <a:pt x="6986" y="7043"/>
                  </a:cubicBezTo>
                  <a:cubicBezTo>
                    <a:pt x="6756" y="7560"/>
                    <a:pt x="6480" y="8170"/>
                    <a:pt x="6388" y="8781"/>
                  </a:cubicBezTo>
                  <a:lnTo>
                    <a:pt x="3677" y="21459"/>
                  </a:lnTo>
                  <a:lnTo>
                    <a:pt x="0" y="21459"/>
                  </a:lnTo>
                  <a:lnTo>
                    <a:pt x="3033" y="6151"/>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1" name="任意多边形 25"/>
            <p:cNvSpPr/>
            <p:nvPr/>
          </p:nvSpPr>
          <p:spPr>
            <a:xfrm>
              <a:off x="2381708" y="494821"/>
              <a:ext cx="69267" cy="79603"/>
            </a:xfrm>
            <a:custGeom>
              <a:avLst/>
              <a:gdLst/>
              <a:ahLst/>
              <a:cxnLst>
                <a:cxn ang="0">
                  <a:pos x="wd2" y="hd2"/>
                </a:cxn>
                <a:cxn ang="5400000">
                  <a:pos x="wd2" y="hd2"/>
                </a:cxn>
                <a:cxn ang="10800000">
                  <a:pos x="wd2" y="hd2"/>
                </a:cxn>
                <a:cxn ang="16200000">
                  <a:pos x="wd2" y="hd2"/>
                </a:cxn>
              </a:cxnLst>
              <a:rect l="0" t="0" r="r" b="b"/>
              <a:pathLst>
                <a:path w="20440" h="21600" extrusionOk="0">
                  <a:moveTo>
                    <a:pt x="15736" y="20332"/>
                  </a:moveTo>
                  <a:cubicBezTo>
                    <a:pt x="14521" y="20849"/>
                    <a:pt x="11942" y="21600"/>
                    <a:pt x="9008" y="21600"/>
                  </a:cubicBezTo>
                  <a:cubicBezTo>
                    <a:pt x="2229" y="21600"/>
                    <a:pt x="-1160" y="17327"/>
                    <a:pt x="358" y="11035"/>
                  </a:cubicBezTo>
                  <a:cubicBezTo>
                    <a:pt x="1825" y="4649"/>
                    <a:pt x="7794" y="0"/>
                    <a:pt x="15078" y="0"/>
                  </a:cubicBezTo>
                  <a:cubicBezTo>
                    <a:pt x="17506" y="0"/>
                    <a:pt x="19529" y="517"/>
                    <a:pt x="20440" y="1127"/>
                  </a:cubicBezTo>
                  <a:lnTo>
                    <a:pt x="18821" y="4038"/>
                  </a:lnTo>
                  <a:cubicBezTo>
                    <a:pt x="18012" y="3522"/>
                    <a:pt x="16545" y="3052"/>
                    <a:pt x="14370" y="3052"/>
                  </a:cubicBezTo>
                  <a:cubicBezTo>
                    <a:pt x="9261" y="3052"/>
                    <a:pt x="5618" y="6527"/>
                    <a:pt x="4506" y="10941"/>
                  </a:cubicBezTo>
                  <a:cubicBezTo>
                    <a:pt x="3443" y="15683"/>
                    <a:pt x="6023" y="18689"/>
                    <a:pt x="10475" y="18689"/>
                  </a:cubicBezTo>
                  <a:cubicBezTo>
                    <a:pt x="12751" y="18689"/>
                    <a:pt x="14370" y="18219"/>
                    <a:pt x="15736" y="17703"/>
                  </a:cubicBezTo>
                  <a:lnTo>
                    <a:pt x="15736" y="20332"/>
                  </a:lnTo>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2" name="任意多边形 26"/>
            <p:cNvSpPr/>
            <p:nvPr/>
          </p:nvSpPr>
          <p:spPr>
            <a:xfrm>
              <a:off x="2453505" y="494821"/>
              <a:ext cx="70714" cy="79603"/>
            </a:xfrm>
            <a:custGeom>
              <a:avLst/>
              <a:gdLst/>
              <a:ahLst/>
              <a:cxnLst>
                <a:cxn ang="0">
                  <a:pos x="wd2" y="hd2"/>
                </a:cxn>
                <a:cxn ang="5400000">
                  <a:pos x="wd2" y="hd2"/>
                </a:cxn>
                <a:cxn ang="10800000">
                  <a:pos x="wd2" y="hd2"/>
                </a:cxn>
                <a:cxn ang="16200000">
                  <a:pos x="wd2" y="hd2"/>
                </a:cxn>
              </a:cxnLst>
              <a:rect l="0" t="0" r="r" b="b"/>
              <a:pathLst>
                <a:path w="19958" h="21600" extrusionOk="0">
                  <a:moveTo>
                    <a:pt x="3991" y="11410"/>
                  </a:moveTo>
                  <a:cubicBezTo>
                    <a:pt x="2926" y="16576"/>
                    <a:pt x="5783" y="18595"/>
                    <a:pt x="9658" y="18595"/>
                  </a:cubicBezTo>
                  <a:cubicBezTo>
                    <a:pt x="12515" y="18595"/>
                    <a:pt x="14307" y="18078"/>
                    <a:pt x="15857" y="17562"/>
                  </a:cubicBezTo>
                  <a:lnTo>
                    <a:pt x="16002" y="20191"/>
                  </a:lnTo>
                  <a:cubicBezTo>
                    <a:pt x="14452" y="20849"/>
                    <a:pt x="11837" y="21600"/>
                    <a:pt x="8495" y="21600"/>
                  </a:cubicBezTo>
                  <a:cubicBezTo>
                    <a:pt x="1909" y="21600"/>
                    <a:pt x="-1094" y="17327"/>
                    <a:pt x="359" y="11176"/>
                  </a:cubicBezTo>
                  <a:cubicBezTo>
                    <a:pt x="1763" y="4930"/>
                    <a:pt x="6800" y="0"/>
                    <a:pt x="12999" y="0"/>
                  </a:cubicBezTo>
                  <a:cubicBezTo>
                    <a:pt x="20022" y="0"/>
                    <a:pt x="20506" y="5917"/>
                    <a:pt x="19634" y="9814"/>
                  </a:cubicBezTo>
                  <a:cubicBezTo>
                    <a:pt x="19489" y="10565"/>
                    <a:pt x="19247" y="11176"/>
                    <a:pt x="19102" y="11551"/>
                  </a:cubicBezTo>
                  <a:lnTo>
                    <a:pt x="3991" y="11410"/>
                  </a:lnTo>
                  <a:close/>
                  <a:moveTo>
                    <a:pt x="16002" y="8781"/>
                  </a:moveTo>
                  <a:cubicBezTo>
                    <a:pt x="16535" y="6433"/>
                    <a:pt x="16389" y="2677"/>
                    <a:pt x="11982" y="2677"/>
                  </a:cubicBezTo>
                  <a:cubicBezTo>
                    <a:pt x="7963" y="2677"/>
                    <a:pt x="5541" y="6151"/>
                    <a:pt x="4621" y="8781"/>
                  </a:cubicBezTo>
                  <a:lnTo>
                    <a:pt x="16002" y="8781"/>
                  </a:lnTo>
                  <a:close/>
                </a:path>
              </a:pathLst>
            </a:custGeom>
            <a:solidFill>
              <a:srgbClr val="008390"/>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3" name="任意多边形 27"/>
            <p:cNvSpPr/>
            <p:nvPr/>
          </p:nvSpPr>
          <p:spPr>
            <a:xfrm>
              <a:off x="1209050" y="185428"/>
              <a:ext cx="231861" cy="139360"/>
            </a:xfrm>
            <a:custGeom>
              <a:avLst/>
              <a:gdLst/>
              <a:ahLst/>
              <a:cxnLst>
                <a:cxn ang="0">
                  <a:pos x="wd2" y="hd2"/>
                </a:cxn>
                <a:cxn ang="5400000">
                  <a:pos x="wd2" y="hd2"/>
                </a:cxn>
                <a:cxn ang="10800000">
                  <a:pos x="wd2" y="hd2"/>
                </a:cxn>
                <a:cxn ang="16200000">
                  <a:pos x="wd2" y="hd2"/>
                </a:cxn>
              </a:cxnLst>
              <a:rect l="0" t="0" r="r" b="b"/>
              <a:pathLst>
                <a:path w="21553" h="21600" extrusionOk="0">
                  <a:moveTo>
                    <a:pt x="10688" y="80"/>
                  </a:moveTo>
                  <a:cubicBezTo>
                    <a:pt x="9747" y="0"/>
                    <a:pt x="8726" y="0"/>
                    <a:pt x="7625" y="0"/>
                  </a:cubicBezTo>
                  <a:lnTo>
                    <a:pt x="0" y="0"/>
                  </a:lnTo>
                  <a:lnTo>
                    <a:pt x="0" y="21600"/>
                  </a:lnTo>
                  <a:lnTo>
                    <a:pt x="6269" y="21600"/>
                  </a:lnTo>
                  <a:cubicBezTo>
                    <a:pt x="7833" y="21600"/>
                    <a:pt x="9332" y="21440"/>
                    <a:pt x="10688" y="21387"/>
                  </a:cubicBezTo>
                  <a:cubicBezTo>
                    <a:pt x="17931" y="20323"/>
                    <a:pt x="21552" y="16679"/>
                    <a:pt x="21552" y="10241"/>
                  </a:cubicBezTo>
                  <a:cubicBezTo>
                    <a:pt x="21600" y="7182"/>
                    <a:pt x="20324" y="4469"/>
                    <a:pt x="17803" y="2554"/>
                  </a:cubicBezTo>
                  <a:cubicBezTo>
                    <a:pt x="16017" y="1277"/>
                    <a:pt x="13624" y="426"/>
                    <a:pt x="10688" y="80"/>
                  </a:cubicBezTo>
                  <a:close/>
                  <a:moveTo>
                    <a:pt x="10688" y="18461"/>
                  </a:moveTo>
                  <a:cubicBezTo>
                    <a:pt x="9795" y="18674"/>
                    <a:pt x="8774" y="18833"/>
                    <a:pt x="7753" y="18833"/>
                  </a:cubicBezTo>
                  <a:cubicBezTo>
                    <a:pt x="6222" y="18833"/>
                    <a:pt x="5280" y="18887"/>
                    <a:pt x="4307" y="18887"/>
                  </a:cubicBezTo>
                  <a:lnTo>
                    <a:pt x="4307" y="2713"/>
                  </a:lnTo>
                  <a:cubicBezTo>
                    <a:pt x="5966" y="2633"/>
                    <a:pt x="6732" y="2633"/>
                    <a:pt x="7418" y="2633"/>
                  </a:cubicBezTo>
                  <a:cubicBezTo>
                    <a:pt x="8646" y="2633"/>
                    <a:pt x="9747" y="2633"/>
                    <a:pt x="10688" y="2846"/>
                  </a:cubicBezTo>
                  <a:cubicBezTo>
                    <a:pt x="15043" y="3565"/>
                    <a:pt x="17165" y="6038"/>
                    <a:pt x="17165" y="10162"/>
                  </a:cubicBezTo>
                  <a:cubicBezTo>
                    <a:pt x="17165" y="12848"/>
                    <a:pt x="16399" y="14976"/>
                    <a:pt x="14661" y="16546"/>
                  </a:cubicBezTo>
                  <a:cubicBezTo>
                    <a:pt x="13624" y="17477"/>
                    <a:pt x="12268" y="18035"/>
                    <a:pt x="10688" y="18461"/>
                  </a:cubicBezTo>
                  <a:close/>
                </a:path>
              </a:pathLst>
            </a:custGeom>
            <a:solidFill>
              <a:srgbClr val="231815"/>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4" name="任意多边形 28"/>
            <p:cNvSpPr/>
            <p:nvPr/>
          </p:nvSpPr>
          <p:spPr>
            <a:xfrm>
              <a:off x="139687" y="0"/>
              <a:ext cx="1067911" cy="603874"/>
            </a:xfrm>
            <a:custGeom>
              <a:avLst/>
              <a:gdLst/>
              <a:ahLst/>
              <a:cxnLst>
                <a:cxn ang="0">
                  <a:pos x="wd2" y="hd2"/>
                </a:cxn>
                <a:cxn ang="5400000">
                  <a:pos x="wd2" y="hd2"/>
                </a:cxn>
                <a:cxn ang="10800000">
                  <a:pos x="wd2" y="hd2"/>
                </a:cxn>
                <a:cxn ang="16200000">
                  <a:pos x="wd2" y="hd2"/>
                </a:cxn>
              </a:cxnLst>
              <a:rect l="0" t="0" r="r" b="b"/>
              <a:pathLst>
                <a:path w="20445" h="19202" extrusionOk="0">
                  <a:moveTo>
                    <a:pt x="9469" y="966"/>
                  </a:moveTo>
                  <a:cubicBezTo>
                    <a:pt x="13553" y="-521"/>
                    <a:pt x="19042" y="119"/>
                    <a:pt x="19437" y="4160"/>
                  </a:cubicBezTo>
                  <a:cubicBezTo>
                    <a:pt x="19789" y="7752"/>
                    <a:pt x="17193" y="11881"/>
                    <a:pt x="12622" y="14216"/>
                  </a:cubicBezTo>
                  <a:cubicBezTo>
                    <a:pt x="8035" y="16524"/>
                    <a:pt x="3872" y="16480"/>
                    <a:pt x="2019" y="13877"/>
                  </a:cubicBezTo>
                  <a:cubicBezTo>
                    <a:pt x="1272" y="12860"/>
                    <a:pt x="1042" y="11558"/>
                    <a:pt x="1147" y="10279"/>
                  </a:cubicBezTo>
                  <a:cubicBezTo>
                    <a:pt x="1220" y="9404"/>
                    <a:pt x="1457" y="8540"/>
                    <a:pt x="1789" y="7752"/>
                  </a:cubicBezTo>
                  <a:cubicBezTo>
                    <a:pt x="2210" y="6774"/>
                    <a:pt x="2793" y="5926"/>
                    <a:pt x="3431" y="5374"/>
                  </a:cubicBezTo>
                  <a:cubicBezTo>
                    <a:pt x="2825" y="5811"/>
                    <a:pt x="2263" y="6424"/>
                    <a:pt x="1789" y="7124"/>
                  </a:cubicBezTo>
                  <a:cubicBezTo>
                    <a:pt x="1463" y="7605"/>
                    <a:pt x="1167" y="8135"/>
                    <a:pt x="920" y="8704"/>
                  </a:cubicBezTo>
                  <a:cubicBezTo>
                    <a:pt x="104" y="10541"/>
                    <a:pt x="-248" y="12668"/>
                    <a:pt x="190" y="14391"/>
                  </a:cubicBezTo>
                  <a:cubicBezTo>
                    <a:pt x="1305" y="18771"/>
                    <a:pt x="5665" y="20696"/>
                    <a:pt x="11789" y="17880"/>
                  </a:cubicBezTo>
                  <a:cubicBezTo>
                    <a:pt x="17920" y="15091"/>
                    <a:pt x="21352" y="8616"/>
                    <a:pt x="20236" y="4236"/>
                  </a:cubicBezTo>
                  <a:cubicBezTo>
                    <a:pt x="19104" y="-188"/>
                    <a:pt x="13484" y="-904"/>
                    <a:pt x="9469" y="966"/>
                  </a:cubicBezTo>
                </a:path>
              </a:pathLst>
            </a:custGeom>
            <a:solidFill>
              <a:srgbClr val="E50012"/>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5" name="任意多边形 29"/>
            <p:cNvSpPr/>
            <p:nvPr/>
          </p:nvSpPr>
          <p:spPr>
            <a:xfrm>
              <a:off x="0" y="185428"/>
              <a:ext cx="232664" cy="139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7363" y="0"/>
                  </a:lnTo>
                  <a:lnTo>
                    <a:pt x="17363" y="8033"/>
                  </a:lnTo>
                  <a:lnTo>
                    <a:pt x="4269" y="8033"/>
                  </a:lnTo>
                  <a:lnTo>
                    <a:pt x="4269" y="0"/>
                  </a:lnTo>
                  <a:lnTo>
                    <a:pt x="0" y="0"/>
                  </a:lnTo>
                  <a:lnTo>
                    <a:pt x="0" y="21600"/>
                  </a:lnTo>
                  <a:lnTo>
                    <a:pt x="4269" y="21600"/>
                  </a:lnTo>
                  <a:lnTo>
                    <a:pt x="4269" y="10720"/>
                  </a:lnTo>
                  <a:lnTo>
                    <a:pt x="17363" y="10720"/>
                  </a:lnTo>
                  <a:lnTo>
                    <a:pt x="17363" y="21520"/>
                  </a:lnTo>
                  <a:lnTo>
                    <a:pt x="21600" y="21600"/>
                  </a:lnTo>
                  <a:lnTo>
                    <a:pt x="21600" y="0"/>
                  </a:lnTo>
                </a:path>
              </a:pathLst>
            </a:custGeom>
            <a:solidFill>
              <a:srgbClr val="231815"/>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6" name="任意多边形 30"/>
            <p:cNvSpPr/>
            <p:nvPr/>
          </p:nvSpPr>
          <p:spPr>
            <a:xfrm>
              <a:off x="791279" y="184822"/>
              <a:ext cx="232665" cy="13996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7379" y="0"/>
                  </a:lnTo>
                  <a:lnTo>
                    <a:pt x="17379" y="15372"/>
                  </a:lnTo>
                  <a:lnTo>
                    <a:pt x="2142" y="80"/>
                  </a:lnTo>
                  <a:lnTo>
                    <a:pt x="0" y="0"/>
                  </a:lnTo>
                  <a:lnTo>
                    <a:pt x="0" y="21600"/>
                  </a:lnTo>
                  <a:lnTo>
                    <a:pt x="4269" y="21600"/>
                  </a:lnTo>
                  <a:lnTo>
                    <a:pt x="4269" y="6175"/>
                  </a:lnTo>
                  <a:lnTo>
                    <a:pt x="19426" y="21600"/>
                  </a:lnTo>
                  <a:lnTo>
                    <a:pt x="21600" y="21600"/>
                  </a:lnTo>
                  <a:lnTo>
                    <a:pt x="21600" y="0"/>
                  </a:lnTo>
                </a:path>
              </a:pathLst>
            </a:custGeom>
            <a:solidFill>
              <a:srgbClr val="231815"/>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sp>
          <p:nvSpPr>
            <p:cNvPr id="137" name="任意多边形 31"/>
            <p:cNvSpPr/>
            <p:nvPr/>
          </p:nvSpPr>
          <p:spPr>
            <a:xfrm>
              <a:off x="372295" y="185428"/>
              <a:ext cx="277838" cy="140269"/>
            </a:xfrm>
            <a:custGeom>
              <a:avLst/>
              <a:gdLst/>
              <a:ahLst/>
              <a:cxnLst>
                <a:cxn ang="0">
                  <a:pos x="wd2" y="hd2"/>
                </a:cxn>
                <a:cxn ang="5400000">
                  <a:pos x="wd2" y="hd2"/>
                </a:cxn>
                <a:cxn ang="10800000">
                  <a:pos x="wd2" y="hd2"/>
                </a:cxn>
                <a:cxn ang="16200000">
                  <a:pos x="wd2" y="hd2"/>
                </a:cxn>
              </a:cxnLst>
              <a:rect l="0" t="0" r="r" b="b"/>
              <a:pathLst>
                <a:path w="21600" h="21600" extrusionOk="0">
                  <a:moveTo>
                    <a:pt x="11694" y="0"/>
                  </a:moveTo>
                  <a:lnTo>
                    <a:pt x="9906" y="0"/>
                  </a:lnTo>
                  <a:lnTo>
                    <a:pt x="0" y="21547"/>
                  </a:lnTo>
                  <a:lnTo>
                    <a:pt x="4032" y="21547"/>
                  </a:lnTo>
                  <a:lnTo>
                    <a:pt x="5954" y="16930"/>
                  </a:lnTo>
                  <a:lnTo>
                    <a:pt x="15646" y="16930"/>
                  </a:lnTo>
                  <a:lnTo>
                    <a:pt x="17608" y="21600"/>
                  </a:lnTo>
                  <a:lnTo>
                    <a:pt x="21600" y="21600"/>
                  </a:lnTo>
                  <a:lnTo>
                    <a:pt x="11694" y="0"/>
                  </a:lnTo>
                  <a:close/>
                  <a:moveTo>
                    <a:pt x="7049" y="14170"/>
                  </a:moveTo>
                  <a:lnTo>
                    <a:pt x="10760" y="5254"/>
                  </a:lnTo>
                  <a:lnTo>
                    <a:pt x="14498" y="14170"/>
                  </a:lnTo>
                  <a:lnTo>
                    <a:pt x="7049" y="14170"/>
                  </a:lnTo>
                  <a:close/>
                </a:path>
              </a:pathLst>
            </a:custGeom>
            <a:solidFill>
              <a:srgbClr val="231815"/>
            </a:solidFill>
            <a:ln w="12700" cap="flat">
              <a:noFill/>
              <a:miter lim="400000"/>
            </a:ln>
            <a:effectLst/>
          </p:spPr>
          <p:txBody>
            <a:bodyPr wrap="square" lIns="0" tIns="0" rIns="0" bIns="0" numCol="1" anchor="t">
              <a:noAutofit/>
            </a:bodyPr>
            <a:lstStyle/>
            <a:p>
              <a:pPr algn="l" defTabSz="1828800">
                <a:defRPr sz="3600" b="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1800"/>
            </a:p>
          </p:txBody>
        </p:sp>
      </p:grpSp>
      <p:sp>
        <p:nvSpPr>
          <p:cNvPr id="141" name="标题文本"/>
          <p:cNvSpPr txBox="1">
            <a:spLocks noGrp="1"/>
          </p:cNvSpPr>
          <p:nvPr>
            <p:ph type="title" hasCustomPrompt="1"/>
          </p:nvPr>
        </p:nvSpPr>
        <p:spPr>
          <a:xfrm>
            <a:off x="566653" y="159225"/>
            <a:ext cx="10427130" cy="539593"/>
          </a:xfrm>
          <a:prstGeom prst="rect">
            <a:avLst/>
          </a:prstGeom>
        </p:spPr>
        <p:txBody>
          <a:bodyPr lIns="0" tIns="0" rIns="0" bIns="0" anchor="t">
            <a:noAutofit/>
          </a:bodyPr>
          <a:lstStyle>
            <a:lvl1pPr algn="l" defTabSz="1828800">
              <a:lnSpc>
                <a:spcPct val="130000"/>
              </a:lnSpc>
              <a:spcBef>
                <a:spcPct val="0"/>
              </a:spcBef>
              <a:spcAft>
                <a:spcPts val="0"/>
              </a:spcAft>
              <a:defRPr sz="2540" b="1">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t>标题文本</a:t>
            </a:r>
          </a:p>
        </p:txBody>
      </p:sp>
      <p:sp>
        <p:nvSpPr>
          <p:cNvPr id="142" name="同侧圆角矩形 2"/>
          <p:cNvSpPr/>
          <p:nvPr userDrawn="1"/>
        </p:nvSpPr>
        <p:spPr>
          <a:xfrm rot="5400000">
            <a:off x="-26318" y="185545"/>
            <a:ext cx="540000" cy="487363"/>
          </a:xfrm>
          <a:custGeom>
            <a:avLst/>
            <a:gdLst/>
            <a:ahLst/>
            <a:cxnLst>
              <a:cxn ang="0">
                <a:pos x="wd2" y="hd2"/>
              </a:cxn>
              <a:cxn ang="5400000">
                <a:pos x="wd2" y="hd2"/>
              </a:cxn>
              <a:cxn ang="10800000">
                <a:pos x="wd2" y="hd2"/>
              </a:cxn>
              <a:cxn ang="16200000">
                <a:pos x="wd2" y="hd2"/>
              </a:cxn>
            </a:cxnLst>
            <a:rect l="0" t="0" r="r" b="b"/>
            <a:pathLst>
              <a:path w="21600" h="21600" extrusionOk="0">
                <a:moveTo>
                  <a:pt x="1900" y="0"/>
                </a:moveTo>
                <a:lnTo>
                  <a:pt x="19700" y="0"/>
                </a:lnTo>
                <a:cubicBezTo>
                  <a:pt x="20749" y="0"/>
                  <a:pt x="21600" y="1011"/>
                  <a:pt x="21600" y="2258"/>
                </a:cubicBezTo>
                <a:lnTo>
                  <a:pt x="21600" y="21600"/>
                </a:lnTo>
                <a:lnTo>
                  <a:pt x="0" y="21600"/>
                </a:lnTo>
                <a:lnTo>
                  <a:pt x="0" y="2258"/>
                </a:lnTo>
                <a:cubicBezTo>
                  <a:pt x="0" y="1011"/>
                  <a:pt x="851" y="0"/>
                  <a:pt x="1900" y="0"/>
                </a:cubicBezTo>
                <a:close/>
              </a:path>
            </a:pathLst>
          </a:custGeom>
          <a:solidFill>
            <a:srgbClr val="0C7F8A"/>
          </a:solidFill>
          <a:ln w="12700">
            <a:miter lim="400000"/>
          </a:ln>
        </p:spPr>
        <p:txBody>
          <a:bodyPr lIns="0" tIns="0" rIns="0" bIns="0" anchor="ctr"/>
          <a:lstStyle/>
          <a:p>
            <a:pPr defTabSz="1828800">
              <a:defRPr sz="3600" b="0">
                <a:solidFill>
                  <a:srgbClr val="FFFFFF"/>
                </a:solidFill>
                <a:latin typeface="Calibri" panose="020F0502020204030204"/>
                <a:ea typeface="Calibri" panose="020F0502020204030204"/>
                <a:cs typeface="Calibri" panose="020F0502020204030204"/>
                <a:sym typeface="Calibri" panose="020F0502020204030204"/>
              </a:defRPr>
            </a:pP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幻灯片编号占位符 18"/>
          <p:cNvSpPr>
            <a:spLocks noGrp="1"/>
          </p:cNvSpPr>
          <p:nvPr>
            <p:ph type="sldNum" sz="quarter" idx="11"/>
          </p:nvPr>
        </p:nvSpPr>
        <p:spPr>
          <a:xfrm>
            <a:off x="5803644" y="6614115"/>
            <a:ext cx="587830" cy="243886"/>
          </a:xfrm>
          <a:prstGeom prst="rect">
            <a:avLst/>
          </a:prstGeom>
          <a:noFill/>
        </p:spPr>
        <p:txBody>
          <a:bodyPr lIns="36000" rIns="36000"/>
          <a:lstStyle>
            <a:lvl1pPr algn="ctr">
              <a:defRPr sz="950" b="0">
                <a:latin typeface="微软雅黑" panose="020B0503020204020204" pitchFamily="34" charset="-122"/>
                <a:ea typeface="微软雅黑" panose="020B0503020204020204" pitchFamily="34" charset="-122"/>
                <a:cs typeface="微软雅黑" panose="020B0503020204020204" pitchFamily="34" charset="-122"/>
              </a:defRPr>
            </a:lvl1pPr>
          </a:lstStyle>
          <a:p>
            <a:fld id="{629B06DC-B081-48FF-B3C8-294D2105EA92}" type="slidenum">
              <a:rPr lang="zh-CN" altLang="en-US" smtClean="0"/>
            </a:fld>
            <a:endParaRPr lang="zh-CN" altLang="en-US"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单标题">
    <p:spTree>
      <p:nvGrpSpPr>
        <p:cNvPr id="1" name=""/>
        <p:cNvGrpSpPr/>
        <p:nvPr/>
      </p:nvGrpSpPr>
      <p:grpSpPr>
        <a:xfrm>
          <a:off x="0" y="0"/>
          <a:ext cx="0" cy="0"/>
          <a:chOff x="0" y="0"/>
          <a:chExt cx="0" cy="0"/>
        </a:xfrm>
      </p:grpSpPr>
      <p:cxnSp>
        <p:nvCxnSpPr>
          <p:cNvPr id="4" name="直接连接符 3"/>
          <p:cNvCxnSpPr/>
          <p:nvPr userDrawn="1"/>
        </p:nvCxnSpPr>
        <p:spPr>
          <a:xfrm>
            <a:off x="247650" y="571500"/>
            <a:ext cx="116967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nvPicPr>
        <p:blipFill>
          <a:blip r:embed="rId2" cstate="screen"/>
          <a:stretch>
            <a:fillRect/>
          </a:stretch>
        </p:blipFill>
        <p:spPr>
          <a:xfrm>
            <a:off x="10962454" y="6400800"/>
            <a:ext cx="1113514" cy="301241"/>
          </a:xfrm>
          <a:prstGeom prst="rect">
            <a:avLst/>
          </a:prstGeom>
        </p:spPr>
      </p:pic>
      <p:sp>
        <p:nvSpPr>
          <p:cNvPr id="6" name="标题 2"/>
          <p:cNvSpPr>
            <a:spLocks noGrp="1"/>
          </p:cNvSpPr>
          <p:nvPr>
            <p:ph type="title"/>
          </p:nvPr>
        </p:nvSpPr>
        <p:spPr>
          <a:xfrm>
            <a:off x="247650" y="183164"/>
            <a:ext cx="10583186" cy="332399"/>
          </a:xfrm>
          <a:prstGeom prst="rect">
            <a:avLst/>
          </a:prstGeom>
          <a:noFill/>
        </p:spPr>
        <p:txBody>
          <a:bodyPr vert="horz" wrap="square" lIns="0" tIns="0" rIns="0" bIns="0" rtlCol="0" anchor="ctr" anchorCtr="0">
            <a:spAutoFit/>
          </a:bodyPr>
          <a:lstStyle>
            <a:lvl1pPr>
              <a:defRPr lang="zh-CN" altLang="en-US" sz="2400" dirty="0">
                <a:solidFill>
                  <a:schemeClr val="accent1"/>
                </a:solidFill>
                <a:latin typeface="微软雅黑" panose="020B0503020204020204" pitchFamily="34" charset="-122"/>
                <a:ea typeface="微软雅黑" panose="020B0503020204020204" pitchFamily="34" charset="-122"/>
                <a:cs typeface="+mn-cs"/>
              </a:defRPr>
            </a:lvl1pPr>
          </a:lstStyle>
          <a:p>
            <a:pPr marL="0" lvl="0" indent="0" defTabSz="0">
              <a:buClrTx/>
              <a:buSzTx/>
              <a:buFontTx/>
            </a:pPr>
            <a:r>
              <a:rPr lang="zh-CN" altLang="en-US" dirty="0"/>
              <a:t>单击此处编辑母版标题样式</a:t>
            </a:r>
            <a:endParaRPr lang="zh-CN" altLang="en-US" dirty="0"/>
          </a:p>
        </p:txBody>
      </p:sp>
      <p:pic>
        <p:nvPicPr>
          <p:cNvPr id="2" name="图片 1" descr="20250414-111127"/>
          <p:cNvPicPr>
            <a:picLocks noChangeAspect="1"/>
          </p:cNvPicPr>
          <p:nvPr userDrawn="1"/>
        </p:nvPicPr>
        <p:blipFill>
          <a:blip r:embed="rId3"/>
          <a:stretch>
            <a:fillRect/>
          </a:stretch>
        </p:blipFill>
        <p:spPr>
          <a:xfrm>
            <a:off x="10880725" y="137160"/>
            <a:ext cx="1109980" cy="299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正文（带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9351" y="260649"/>
            <a:ext cx="10515600" cy="566539"/>
          </a:xfrm>
          <a:prstGeom prst="rect">
            <a:avLst/>
          </a:prstGeom>
        </p:spPr>
        <p:txBody>
          <a:bodyPr anchor="ctr"/>
          <a:lstStyle>
            <a:lvl1pPr>
              <a:defRPr sz="24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4" name="内容占位符 3"/>
          <p:cNvSpPr>
            <a:spLocks noGrp="1"/>
          </p:cNvSpPr>
          <p:nvPr>
            <p:ph sz="quarter" idx="10"/>
          </p:nvPr>
        </p:nvSpPr>
        <p:spPr>
          <a:xfrm>
            <a:off x="334435" y="1028700"/>
            <a:ext cx="11618384" cy="5471584"/>
          </a:xfrm>
          <a:prstGeom prst="rect">
            <a:avLst/>
          </a:prstGeom>
        </p:spPr>
        <p:txBody>
          <a:bodyPr/>
          <a:lstStyle>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2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cxnSp>
        <p:nvCxnSpPr>
          <p:cNvPr id="5" name="直接连接符 50"/>
          <p:cNvCxnSpPr/>
          <p:nvPr userDrawn="1"/>
        </p:nvCxnSpPr>
        <p:spPr>
          <a:xfrm flipV="1">
            <a:off x="471712" y="6672974"/>
            <a:ext cx="11248575" cy="2898"/>
          </a:xfrm>
          <a:prstGeom prst="line">
            <a:avLst/>
          </a:prstGeom>
          <a:ln w="12700">
            <a:solidFill>
              <a:srgbClr val="0076AE"/>
            </a:solidFill>
          </a:ln>
        </p:spPr>
        <p:style>
          <a:lnRef idx="1">
            <a:schemeClr val="accent1"/>
          </a:lnRef>
          <a:fillRef idx="0">
            <a:schemeClr val="accent1"/>
          </a:fillRef>
          <a:effectRef idx="0">
            <a:schemeClr val="accent1"/>
          </a:effectRef>
          <a:fontRef idx="minor">
            <a:schemeClr val="tx1"/>
          </a:fontRef>
        </p:style>
      </p:cxnSp>
      <p:sp>
        <p:nvSpPr>
          <p:cNvPr id="6" name="幻灯片编号占位符 18"/>
          <p:cNvSpPr>
            <a:spLocks noGrp="1"/>
          </p:cNvSpPr>
          <p:nvPr>
            <p:ph type="sldNum" sz="quarter" idx="11"/>
          </p:nvPr>
        </p:nvSpPr>
        <p:spPr>
          <a:xfrm>
            <a:off x="5711579" y="6546995"/>
            <a:ext cx="864095" cy="251957"/>
          </a:xfrm>
          <a:prstGeom prst="rect">
            <a:avLst/>
          </a:prstGeom>
          <a:solidFill>
            <a:schemeClr val="bg1"/>
          </a:solidFill>
        </p:spPr>
        <p:txBody>
          <a:bodyPr/>
          <a:lstStyle>
            <a:lvl1pPr algn="ctr">
              <a:defRPr sz="10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961" name="think-cell Slide" r:id="rId3" imgW="0" imgH="0" progId="TCLayout.ActiveDocument.1">
                  <p:embed/>
                </p:oleObj>
              </mc:Choice>
              <mc:Fallback>
                <p:oleObj name="think-cell Slide" r:id="rId3" imgW="0" imgH="0" progId="TCLayout.ActiveDocument.1">
                  <p:embed/>
                  <p:pic>
                    <p:nvPicPr>
                      <p:cNvPr id="0" name="Object 7"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altLang="zh-CN" sz="2800" b="1" i="0" baseline="0"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幻灯片内容页">
    <p:spTree>
      <p:nvGrpSpPr>
        <p:cNvPr id="1" name=""/>
        <p:cNvGrpSpPr/>
        <p:nvPr/>
      </p:nvGrpSpPr>
      <p:grpSpPr>
        <a:xfrm>
          <a:off x="0" y="0"/>
          <a:ext cx="0" cy="0"/>
          <a:chOff x="0" y="0"/>
          <a:chExt cx="0" cy="0"/>
        </a:xfrm>
      </p:grpSpPr>
      <p:sp>
        <p:nvSpPr>
          <p:cNvPr id="3" name="标题 2"/>
          <p:cNvSpPr>
            <a:spLocks noGrp="1"/>
          </p:cNvSpPr>
          <p:nvPr>
            <p:ph type="title"/>
          </p:nvPr>
        </p:nvSpPr>
        <p:spPr>
          <a:xfrm>
            <a:off x="247650" y="193040"/>
            <a:ext cx="4116070" cy="332105"/>
          </a:xfrm>
          <a:prstGeom prst="rect">
            <a:avLst/>
          </a:prstGeom>
          <a:noFill/>
        </p:spPr>
        <p:txBody>
          <a:bodyPr wrap="square" rtlCol="0">
            <a:spAutoFit/>
          </a:bodyPr>
          <a:lstStyle>
            <a:lvl1pPr algn="l">
              <a:defRPr lang="zh-CN" altLang="en-US" sz="2400" b="1">
                <a:solidFill>
                  <a:schemeClr val="accent1">
                    <a:lumMod val="75000"/>
                  </a:schemeClr>
                </a:solidFill>
                <a:latin typeface="微软雅黑" panose="020B0503020204020204" pitchFamily="34" charset="-122"/>
                <a:ea typeface="微软雅黑" panose="020B0503020204020204" pitchFamily="34" charset="-122"/>
                <a:cs typeface="+mn-cs"/>
              </a:defRPr>
            </a:lvl1pPr>
          </a:lstStyle>
          <a:p>
            <a:pPr marL="0" lvl="0" algn="ctr"/>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31274" name="think-cell Slide" r:id="rId3" imgW="0" imgH="0" progId="TCLayout.ActiveDocument.1">
                  <p:embed/>
                </p:oleObj>
              </mc:Choice>
              <mc:Fallback>
                <p:oleObj name="think-cell Slide" r:id="rId3" imgW="0" imgH="0" progId="TCLayout.ActiveDocument.1">
                  <p:embed/>
                  <p:pic>
                    <p:nvPicPr>
                      <p:cNvPr id="0"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矩形 2"/>
          <p:cNvSpPr/>
          <p:nvPr/>
        </p:nvSpPr>
        <p:spPr>
          <a:xfrm>
            <a:off x="0" y="925533"/>
            <a:ext cx="12192000" cy="3268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0" hangingPunct="0">
              <a:defRPr/>
            </a:pPr>
            <a:endParaRPr lang="en-US" altLang="zh-CN" dirty="0">
              <a:solidFill>
                <a:srgbClr val="FFFFFF"/>
              </a:solidFill>
              <a:latin typeface="微软雅黑" panose="020B0503020204020204" pitchFamily="34" charset="-122"/>
              <a:sym typeface="华文楷体" panose="02010600040101010101" pitchFamily="2" charset="-122"/>
            </a:endParaRPr>
          </a:p>
        </p:txBody>
      </p:sp>
      <p:sp>
        <p:nvSpPr>
          <p:cNvPr id="11" name="标题占位符 17"/>
          <p:cNvSpPr>
            <a:spLocks noGrp="1"/>
          </p:cNvSpPr>
          <p:nvPr>
            <p:ph type="title"/>
          </p:nvPr>
        </p:nvSpPr>
        <p:spPr>
          <a:xfrm>
            <a:off x="294825" y="208430"/>
            <a:ext cx="11587561" cy="725702"/>
          </a:xfrm>
          <a:prstGeom prst="rect">
            <a:avLst/>
          </a:prstGeom>
        </p:spPr>
        <p:txBody>
          <a:bodyPr anchor="b"/>
          <a:lstStyle>
            <a:lvl1pPr>
              <a:defRPr sz="2000" b="1">
                <a:latin typeface="楷体" panose="02010609060101010101" pitchFamily="49" charset="-122"/>
                <a:ea typeface="楷体" panose="02010609060101010101" pitchFamily="49" charset="-122"/>
                <a:sym typeface="华文楷体" panose="02010600040101010101" pitchFamily="2" charset="-122"/>
              </a:defRPr>
            </a:lvl1pPr>
          </a:lstStyle>
          <a:p>
            <a:r>
              <a:rPr lang="zh-CN" altLang="en-US" dirty="0"/>
              <a:t>单击此处编辑母版标题样式</a:t>
            </a:r>
            <a:endParaRPr lang="zh-CN" altLang="en-US" dirty="0"/>
          </a:p>
        </p:txBody>
      </p:sp>
      <p:sp>
        <p:nvSpPr>
          <p:cNvPr id="14" name="Rectangle 13"/>
          <p:cNvSpPr>
            <a:spLocks noChangeArrowheads="1"/>
          </p:cNvSpPr>
          <p:nvPr/>
        </p:nvSpPr>
        <p:spPr bwMode="gray">
          <a:xfrm>
            <a:off x="11882387" y="6583979"/>
            <a:ext cx="185949" cy="169277"/>
          </a:xfrm>
          <a:prstGeom prst="rect">
            <a:avLst/>
          </a:prstGeom>
          <a:noFill/>
          <a:ln w="9525" algn="ctr">
            <a:noFill/>
            <a:miter lim="800000"/>
          </a:ln>
          <a:effectLst/>
        </p:spPr>
        <p:txBody>
          <a:bodyPr wrap="none" lIns="0" tIns="0" rIns="0" bIns="0" anchor="b">
            <a:spAutoFit/>
          </a:bodyPr>
          <a:lstStyle/>
          <a:p>
            <a:pPr algn="r">
              <a:defRPr/>
            </a:pPr>
            <a:fld id="{65691EE2-A0D7-4F9F-B88A-21ED547124E4}" type="slidenum">
              <a:rPr lang="en-US" sz="1100">
                <a:solidFill>
                  <a:srgbClr val="4C4948"/>
                </a:solidFill>
                <a:latin typeface="微软雅黑" panose="020B0503020204020204" pitchFamily="34" charset="-122"/>
                <a:cs typeface="Arial" panose="020B0604020202020204" pitchFamily="34" charset="0"/>
              </a:rPr>
            </a:fld>
            <a:endParaRPr lang="en-US" sz="1100" dirty="0">
              <a:solidFill>
                <a:srgbClr val="4C4948"/>
              </a:solidFill>
              <a:latin typeface="微软雅黑" panose="020B0503020204020204" pitchFamily="34" charset="-122"/>
              <a:cs typeface="Arial" panose="020B0604020202020204" pitchFamily="34" charset="0"/>
            </a:endParaRPr>
          </a:p>
        </p:txBody>
      </p:sp>
      <p:grpSp>
        <p:nvGrpSpPr>
          <p:cNvPr id="12" name="组合 11"/>
          <p:cNvGrpSpPr/>
          <p:nvPr userDrawn="1"/>
        </p:nvGrpSpPr>
        <p:grpSpPr>
          <a:xfrm>
            <a:off x="-6017" y="92064"/>
            <a:ext cx="354035" cy="218195"/>
            <a:chOff x="0" y="272317"/>
            <a:chExt cx="1058750" cy="602995"/>
          </a:xfrm>
        </p:grpSpPr>
        <p:sp>
          <p:nvSpPr>
            <p:cNvPr id="13" name="任意多边形: 形状 59"/>
            <p:cNvSpPr/>
            <p:nvPr/>
          </p:nvSpPr>
          <p:spPr>
            <a:xfrm flipV="1">
              <a:off x="0" y="272317"/>
              <a:ext cx="610547" cy="602995"/>
            </a:xfrm>
            <a:custGeom>
              <a:avLst/>
              <a:gdLst>
                <a:gd name="connsiteX0" fmla="*/ 0 w 610547"/>
                <a:gd name="connsiteY0" fmla="*/ 602995 h 602995"/>
                <a:gd name="connsiteX1" fmla="*/ 223388 w 610547"/>
                <a:gd name="connsiteY1" fmla="*/ 602995 h 602995"/>
                <a:gd name="connsiteX2" fmla="*/ 385117 w 610547"/>
                <a:gd name="connsiteY2" fmla="*/ 602995 h 602995"/>
                <a:gd name="connsiteX3" fmla="*/ 448818 w 610547"/>
                <a:gd name="connsiteY3" fmla="*/ 602995 h 602995"/>
                <a:gd name="connsiteX4" fmla="*/ 610547 w 610547"/>
                <a:gd name="connsiteY4" fmla="*/ 602995 h 602995"/>
                <a:gd name="connsiteX5" fmla="*/ 385117 w 610547"/>
                <a:gd name="connsiteY5" fmla="*/ 0 h 602995"/>
                <a:gd name="connsiteX6" fmla="*/ 223388 w 610547"/>
                <a:gd name="connsiteY6" fmla="*/ 0 h 602995"/>
                <a:gd name="connsiteX7" fmla="*/ 0 w 610547"/>
                <a:gd name="connsiteY7" fmla="*/ 0 h 60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547" h="602995">
                  <a:moveTo>
                    <a:pt x="0" y="602995"/>
                  </a:moveTo>
                  <a:lnTo>
                    <a:pt x="223388" y="602995"/>
                  </a:lnTo>
                  <a:lnTo>
                    <a:pt x="385117" y="602995"/>
                  </a:lnTo>
                  <a:lnTo>
                    <a:pt x="448818" y="602995"/>
                  </a:lnTo>
                  <a:lnTo>
                    <a:pt x="610547" y="602995"/>
                  </a:lnTo>
                  <a:lnTo>
                    <a:pt x="385117" y="0"/>
                  </a:lnTo>
                  <a:lnTo>
                    <a:pt x="223388" y="0"/>
                  </a:lnTo>
                  <a:lnTo>
                    <a:pt x="0" y="0"/>
                  </a:lnTo>
                  <a:close/>
                </a:path>
              </a:pathLst>
            </a:custGeom>
            <a:gradFill flip="none" rotWithShape="1">
              <a:gsLst>
                <a:gs pos="0">
                  <a:srgbClr val="F47821"/>
                </a:gs>
                <a:gs pos="100000">
                  <a:srgbClr val="F8981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平行四边形 14"/>
            <p:cNvSpPr/>
            <p:nvPr/>
          </p:nvSpPr>
          <p:spPr>
            <a:xfrm flipH="1" flipV="1">
              <a:off x="451474" y="275885"/>
              <a:ext cx="384503" cy="595859"/>
            </a:xfrm>
            <a:prstGeom prst="parallelogram">
              <a:avLst>
                <a:gd name="adj" fmla="val 59142"/>
              </a:avLst>
            </a:prstGeom>
            <a:solidFill>
              <a:srgbClr val="F47821">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flipV="1">
              <a:off x="674247" y="275885"/>
              <a:ext cx="384503" cy="595859"/>
            </a:xfrm>
            <a:prstGeom prst="parallelogram">
              <a:avLst>
                <a:gd name="adj" fmla="val 59142"/>
              </a:avLst>
            </a:prstGeom>
            <a:solidFill>
              <a:srgbClr val="F4782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Rectangle: Rounded Corners 11"/>
          <p:cNvSpPr/>
          <p:nvPr userDrawn="1"/>
        </p:nvSpPr>
        <p:spPr>
          <a:xfrm>
            <a:off x="-699711" y="5490422"/>
            <a:ext cx="374912" cy="374912"/>
          </a:xfrm>
          <a:prstGeom prst="roundRect">
            <a:avLst/>
          </a:prstGeom>
          <a:solidFill>
            <a:schemeClr val="accent6">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18" name="Rectangle: Rounded Corners 13"/>
          <p:cNvSpPr/>
          <p:nvPr userDrawn="1"/>
        </p:nvSpPr>
        <p:spPr>
          <a:xfrm>
            <a:off x="-699711" y="1897098"/>
            <a:ext cx="374912" cy="374912"/>
          </a:xfrm>
          <a:prstGeom prst="roundRect">
            <a:avLst/>
          </a:prstGeom>
          <a:solidFill>
            <a:schemeClr val="accent2">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19" name="Rectangle: Rounded Corners 14"/>
          <p:cNvSpPr/>
          <p:nvPr userDrawn="1"/>
        </p:nvSpPr>
        <p:spPr>
          <a:xfrm>
            <a:off x="-699711" y="3437094"/>
            <a:ext cx="374912" cy="374912"/>
          </a:xfrm>
          <a:prstGeom prst="roundRect">
            <a:avLst/>
          </a:prstGeom>
          <a:solidFill>
            <a:schemeClr val="accent2">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0" name="Rectangle: Rounded Corners 15"/>
          <p:cNvSpPr/>
          <p:nvPr userDrawn="1"/>
        </p:nvSpPr>
        <p:spPr>
          <a:xfrm>
            <a:off x="-699711" y="2923762"/>
            <a:ext cx="374912" cy="374912"/>
          </a:xfrm>
          <a:prstGeom prst="round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1" name="Rectangle: Rounded Corners 11"/>
          <p:cNvSpPr/>
          <p:nvPr userDrawn="1"/>
        </p:nvSpPr>
        <p:spPr>
          <a:xfrm>
            <a:off x="-699711" y="4977090"/>
            <a:ext cx="374912" cy="374912"/>
          </a:xfrm>
          <a:prstGeom prst="roundRect">
            <a:avLst/>
          </a:prstGeom>
          <a:solidFill>
            <a:srgbClr val="79D1F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2" name="Rectangle: Rounded Corners 15"/>
          <p:cNvSpPr/>
          <p:nvPr userDrawn="1"/>
        </p:nvSpPr>
        <p:spPr>
          <a:xfrm>
            <a:off x="-699711" y="3950426"/>
            <a:ext cx="374912" cy="374912"/>
          </a:xfrm>
          <a:prstGeom prst="roundRect">
            <a:avLst/>
          </a:prstGeom>
          <a:solidFill>
            <a:schemeClr val="accent2">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3" name="Rectangle: Rounded Corners 11"/>
          <p:cNvSpPr/>
          <p:nvPr userDrawn="1"/>
        </p:nvSpPr>
        <p:spPr>
          <a:xfrm>
            <a:off x="-699711" y="4463758"/>
            <a:ext cx="374912" cy="374912"/>
          </a:xfrm>
          <a:prstGeom prst="roundRect">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4" name="Rectangle: Rounded Corners 15"/>
          <p:cNvSpPr/>
          <p:nvPr userDrawn="1"/>
        </p:nvSpPr>
        <p:spPr>
          <a:xfrm>
            <a:off x="-699711" y="2410430"/>
            <a:ext cx="374912" cy="374912"/>
          </a:xfrm>
          <a:prstGeom prst="roundRect">
            <a:avLst/>
          </a:prstGeom>
          <a:solidFill>
            <a:schemeClr val="accent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3" name="TextBox 2"/>
          <p:cNvSpPr txBox="1"/>
          <p:nvPr userDrawn="1"/>
        </p:nvSpPr>
        <p:spPr>
          <a:xfrm>
            <a:off x="-877163" y="1388821"/>
            <a:ext cx="877163" cy="369332"/>
          </a:xfrm>
          <a:prstGeom prst="rect">
            <a:avLst/>
          </a:prstGeom>
          <a:noFill/>
        </p:spPr>
        <p:txBody>
          <a:bodyPr wrap="none" rtlCol="0">
            <a:spAutoFit/>
          </a:bodyPr>
          <a:lstStyle/>
          <a:p>
            <a:r>
              <a:rPr lang="zh-CN" altLang="en-US" dirty="0">
                <a:solidFill>
                  <a:schemeClr val="tx1"/>
                </a:solidFill>
                <a:latin typeface="楷体" panose="02010609060101010101" pitchFamily="49" charset="-122"/>
                <a:ea typeface="楷体" panose="02010609060101010101" pitchFamily="49" charset="-122"/>
              </a:rPr>
              <a:t>配色表</a:t>
            </a:r>
            <a:endParaRPr lang="en-US" dirty="0">
              <a:solidFill>
                <a:schemeClr val="tx1"/>
              </a:solidFill>
              <a:latin typeface="楷体" panose="02010609060101010101" pitchFamily="49" charset="-122"/>
              <a:ea typeface="楷体" panose="02010609060101010101" pitchFamily="49" charset="-122"/>
            </a:endParaRPr>
          </a:p>
        </p:txBody>
      </p:sp>
      <p:sp>
        <p:nvSpPr>
          <p:cNvPr id="25" name="TextBox 24"/>
          <p:cNvSpPr txBox="1"/>
          <p:nvPr userDrawn="1"/>
        </p:nvSpPr>
        <p:spPr>
          <a:xfrm>
            <a:off x="-1544216" y="2929346"/>
            <a:ext cx="646331" cy="369332"/>
          </a:xfrm>
          <a:prstGeom prst="rect">
            <a:avLst/>
          </a:prstGeom>
          <a:noFill/>
        </p:spPr>
        <p:txBody>
          <a:bodyPr wrap="none" rtlCol="0">
            <a:spAutoFit/>
          </a:bodyPr>
          <a:lstStyle/>
          <a:p>
            <a:r>
              <a:rPr lang="zh-CN" altLang="en-US" dirty="0">
                <a:solidFill>
                  <a:schemeClr val="tx1"/>
                </a:solidFill>
                <a:latin typeface="楷体" panose="02010609060101010101" pitchFamily="49" charset="-122"/>
                <a:ea typeface="楷体" panose="02010609060101010101" pitchFamily="49" charset="-122"/>
              </a:rPr>
              <a:t>主色</a:t>
            </a:r>
            <a:endParaRPr lang="en-US" dirty="0">
              <a:solidFill>
                <a:schemeClr val="tx1"/>
              </a:solidFill>
              <a:latin typeface="楷体" panose="02010609060101010101" pitchFamily="49" charset="-122"/>
              <a:ea typeface="楷体" panose="02010609060101010101" pitchFamily="49" charset="-122"/>
            </a:endParaRPr>
          </a:p>
        </p:txBody>
      </p:sp>
      <p:cxnSp>
        <p:nvCxnSpPr>
          <p:cNvPr id="9" name="Straight Arrow Connector 8"/>
          <p:cNvCxnSpPr>
            <a:stCxn id="25" idx="3"/>
            <a:endCxn id="20" idx="1"/>
          </p:cNvCxnSpPr>
          <p:nvPr userDrawn="1"/>
        </p:nvCxnSpPr>
        <p:spPr>
          <a:xfrm flipV="1">
            <a:off x="-897885" y="3111218"/>
            <a:ext cx="198174" cy="2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内容占位符 9"/>
          <p:cNvSpPr>
            <a:spLocks noGrp="1"/>
          </p:cNvSpPr>
          <p:nvPr>
            <p:ph sz="quarter" idx="10" hasCustomPrompt="1"/>
          </p:nvPr>
        </p:nvSpPr>
        <p:spPr>
          <a:xfrm>
            <a:off x="243491" y="1112923"/>
            <a:ext cx="11745409" cy="5311104"/>
          </a:xfrm>
        </p:spPr>
        <p:txBody>
          <a:bodyPr>
            <a:normAutofit/>
          </a:bodyPr>
          <a:lstStyle>
            <a:lvl1pPr>
              <a:defRPr sz="2000">
                <a:solidFill>
                  <a:schemeClr val="tx1"/>
                </a:solidFill>
                <a:latin typeface="楷体" panose="02010609060101010101" pitchFamily="49" charset="-122"/>
                <a:ea typeface="楷体" panose="02010609060101010101" pitchFamily="49" charset="-122"/>
              </a:defRPr>
            </a:lvl1pPr>
            <a:lvl2pPr marL="647700">
              <a:spcBef>
                <a:spcPts val="0"/>
              </a:spcBef>
              <a:defRPr sz="2000">
                <a:solidFill>
                  <a:schemeClr val="tx1"/>
                </a:solidFill>
                <a:latin typeface="楷体" panose="02010609060101010101" pitchFamily="49" charset="-122"/>
                <a:ea typeface="楷体" panose="02010609060101010101" pitchFamily="49" charset="-122"/>
              </a:defRPr>
            </a:lvl2pPr>
            <a:lvl3pPr marL="913130" indent="-303530">
              <a:spcBef>
                <a:spcPts val="0"/>
              </a:spcBef>
              <a:buSzPct val="80000"/>
              <a:buFont typeface="Wingdings" panose="05000000000000000000" pitchFamily="2" charset="2"/>
              <a:buChar char="Ø"/>
              <a:defRPr sz="2000">
                <a:solidFill>
                  <a:schemeClr val="tx1"/>
                </a:solidFill>
                <a:latin typeface="楷体" panose="02010609060101010101" pitchFamily="49" charset="-122"/>
                <a:ea typeface="楷体" panose="02010609060101010101" pitchFamily="49" charset="-122"/>
              </a:defRPr>
            </a:lvl3pPr>
            <a:lvl4pPr marL="1188085" indent="-303530">
              <a:spcBef>
                <a:spcPts val="0"/>
              </a:spcBef>
              <a:buSzPct val="80000"/>
              <a:buFont typeface="Arial" panose="020B0604020202020204" pitchFamily="34" charset="0"/>
              <a:buChar char="•"/>
              <a:defRPr sz="2000">
                <a:solidFill>
                  <a:schemeClr val="tx1"/>
                </a:solidFill>
                <a:latin typeface="楷体" panose="02010609060101010101" pitchFamily="49" charset="-122"/>
                <a:ea typeface="楷体" panose="02010609060101010101" pitchFamily="49" charset="-122"/>
              </a:defRPr>
            </a:lvl4pPr>
          </a:lstStyle>
          <a:p>
            <a:r>
              <a:rPr kumimoji="1" lang="zh-CN" altLang="en-US" dirty="0"/>
              <a:t>编辑母版文本样式
第二级
第三级
第四级
第五级</a:t>
            </a:r>
            <a:endParaRPr kumimoji="1" lang="en-US" altLang="zh-CN" dirty="0"/>
          </a:p>
          <a:p>
            <a:pPr lvl="1"/>
            <a:endParaRPr kumimoji="1" lang="en-US" altLang="zh-CN" dirty="0"/>
          </a:p>
          <a:p>
            <a:pPr lvl="2"/>
            <a:r>
              <a:rPr kumimoji="1" lang="en-US" altLang="zh-CN" dirty="0"/>
              <a:t> </a:t>
            </a:r>
            <a:endParaRPr kumimoji="1" lang="en-US" altLang="zh-CN" dirty="0"/>
          </a:p>
          <a:p>
            <a:pPr lvl="3"/>
            <a:endParaRPr kumimoji="1" lang="en-US" altLang="zh-CN" dirty="0"/>
          </a:p>
        </p:txBody>
      </p:sp>
      <p:grpSp>
        <p:nvGrpSpPr>
          <p:cNvPr id="26" name="组合 25"/>
          <p:cNvGrpSpPr/>
          <p:nvPr userDrawn="1"/>
        </p:nvGrpSpPr>
        <p:grpSpPr>
          <a:xfrm>
            <a:off x="10380394" y="92064"/>
            <a:ext cx="1758371" cy="215613"/>
            <a:chOff x="10065601" y="62319"/>
            <a:chExt cx="2043705" cy="250601"/>
          </a:xfrm>
        </p:grpSpPr>
        <p:pic>
          <p:nvPicPr>
            <p:cNvPr id="27" name="Picture 9"/>
            <p:cNvPicPr>
              <a:picLocks noChangeAspect="1"/>
            </p:cNvPicPr>
            <p:nvPr userDrawn="1"/>
          </p:nvPicPr>
          <p:blipFill>
            <a:blip r:embed="rId5" cstate="email">
              <a:duotone>
                <a:prstClr val="black"/>
                <a:schemeClr val="accent1">
                  <a:tint val="45000"/>
                  <a:satMod val="400000"/>
                </a:schemeClr>
              </a:duotone>
            </a:blip>
            <a:srcRect/>
            <a:stretch>
              <a:fillRect/>
            </a:stretch>
          </p:blipFill>
          <p:spPr bwMode="auto">
            <a:xfrm rot="5400000">
              <a:off x="11754483" y="-62334"/>
              <a:ext cx="204798" cy="504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27"/>
            <p:cNvPicPr>
              <a:picLocks noChangeAspect="1"/>
            </p:cNvPicPr>
            <p:nvPr userDrawn="1"/>
          </p:nvPicPr>
          <p:blipFill>
            <a:blip r:embed="rId6" cstate="email"/>
            <a:stretch>
              <a:fillRect/>
            </a:stretch>
          </p:blipFill>
          <p:spPr>
            <a:xfrm>
              <a:off x="10065601" y="62319"/>
              <a:ext cx="1347574" cy="250601"/>
            </a:xfrm>
            <a:prstGeom prst="rect">
              <a:avLst/>
            </a:prstGeom>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4_标题和内容">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32257" name="think-cell Slide" r:id="rId3" imgW="0" imgH="0" progId="TCLayout.ActiveDocument.1">
                  <p:embed/>
                </p:oleObj>
              </mc:Choice>
              <mc:Fallback>
                <p:oleObj name="think-cell Slide" r:id="rId3" imgW="0" imgH="0" progId="TCLayout.ActiveDocument.1">
                  <p:embed/>
                  <p:pic>
                    <p:nvPicPr>
                      <p:cNvPr id="0"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矩形 2"/>
          <p:cNvSpPr/>
          <p:nvPr/>
        </p:nvSpPr>
        <p:spPr>
          <a:xfrm>
            <a:off x="0" y="925533"/>
            <a:ext cx="12192000" cy="3268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0" hangingPunct="0">
              <a:defRPr/>
            </a:pPr>
            <a:endParaRPr lang="en-US" altLang="zh-CN" dirty="0">
              <a:solidFill>
                <a:srgbClr val="FFFFFF"/>
              </a:solidFill>
              <a:latin typeface="微软雅黑" panose="020B0503020204020204" pitchFamily="34" charset="-122"/>
              <a:sym typeface="华文楷体" panose="02010600040101010101" pitchFamily="2" charset="-122"/>
            </a:endParaRPr>
          </a:p>
        </p:txBody>
      </p:sp>
      <p:sp>
        <p:nvSpPr>
          <p:cNvPr id="11" name="标题占位符 17"/>
          <p:cNvSpPr>
            <a:spLocks noGrp="1"/>
          </p:cNvSpPr>
          <p:nvPr>
            <p:ph type="title"/>
          </p:nvPr>
        </p:nvSpPr>
        <p:spPr>
          <a:xfrm>
            <a:off x="750277" y="164886"/>
            <a:ext cx="10608756" cy="725702"/>
          </a:xfrm>
          <a:prstGeom prst="rect">
            <a:avLst/>
          </a:prstGeom>
        </p:spPr>
        <p:txBody>
          <a:bodyPr anchor="b"/>
          <a:lstStyle>
            <a:lvl1pPr>
              <a:defRPr sz="2000" b="1">
                <a:latin typeface="楷体" panose="02010609060101010101" pitchFamily="49" charset="-122"/>
                <a:ea typeface="楷体" panose="02010609060101010101" pitchFamily="49" charset="-122"/>
                <a:sym typeface="华文楷体" panose="02010600040101010101" pitchFamily="2" charset="-122"/>
              </a:defRPr>
            </a:lvl1pPr>
          </a:lstStyle>
          <a:p>
            <a:r>
              <a:rPr lang="zh-CN" altLang="en-US"/>
              <a:t>单击此处编辑母版标题样式</a:t>
            </a:r>
            <a:endParaRPr lang="zh-CN" altLang="en-US" dirty="0"/>
          </a:p>
        </p:txBody>
      </p:sp>
      <p:sp>
        <p:nvSpPr>
          <p:cNvPr id="14" name="Rectangle 13"/>
          <p:cNvSpPr>
            <a:spLocks noChangeArrowheads="1"/>
          </p:cNvSpPr>
          <p:nvPr/>
        </p:nvSpPr>
        <p:spPr bwMode="gray">
          <a:xfrm>
            <a:off x="11882387" y="6583979"/>
            <a:ext cx="185949" cy="169277"/>
          </a:xfrm>
          <a:prstGeom prst="rect">
            <a:avLst/>
          </a:prstGeom>
          <a:noFill/>
          <a:ln w="9525" algn="ctr">
            <a:noFill/>
            <a:miter lim="800000"/>
          </a:ln>
          <a:effectLst/>
        </p:spPr>
        <p:txBody>
          <a:bodyPr wrap="none" lIns="0" tIns="0" rIns="0" bIns="0" anchor="b">
            <a:spAutoFit/>
          </a:bodyPr>
          <a:lstStyle/>
          <a:p>
            <a:pPr algn="r">
              <a:defRPr/>
            </a:pPr>
            <a:fld id="{65691EE2-A0D7-4F9F-B88A-21ED547124E4}" type="slidenum">
              <a:rPr lang="en-US" sz="1100">
                <a:solidFill>
                  <a:srgbClr val="4C4948"/>
                </a:solidFill>
                <a:latin typeface="微软雅黑" panose="020B0503020204020204" pitchFamily="34" charset="-122"/>
                <a:cs typeface="Arial" panose="020B0604020202020204" pitchFamily="34" charset="0"/>
              </a:rPr>
            </a:fld>
            <a:endParaRPr lang="en-US" sz="1100" dirty="0">
              <a:solidFill>
                <a:srgbClr val="4C4948"/>
              </a:solidFill>
              <a:latin typeface="微软雅黑" panose="020B0503020204020204" pitchFamily="34" charset="-122"/>
              <a:cs typeface="Arial" panose="020B0604020202020204" pitchFamily="34" charset="0"/>
            </a:endParaRPr>
          </a:p>
        </p:txBody>
      </p:sp>
      <p:grpSp>
        <p:nvGrpSpPr>
          <p:cNvPr id="5" name="组合 4"/>
          <p:cNvGrpSpPr/>
          <p:nvPr userDrawn="1"/>
        </p:nvGrpSpPr>
        <p:grpSpPr>
          <a:xfrm>
            <a:off x="10380394" y="92064"/>
            <a:ext cx="1758371" cy="215613"/>
            <a:chOff x="10065601" y="62319"/>
            <a:chExt cx="2043705" cy="250601"/>
          </a:xfrm>
        </p:grpSpPr>
        <p:pic>
          <p:nvPicPr>
            <p:cNvPr id="6" name="Picture 9"/>
            <p:cNvPicPr>
              <a:picLocks noChangeAspect="1"/>
            </p:cNvPicPr>
            <p:nvPr userDrawn="1"/>
          </p:nvPicPr>
          <p:blipFill>
            <a:blip r:embed="rId5" cstate="email">
              <a:duotone>
                <a:prstClr val="black"/>
                <a:schemeClr val="accent1">
                  <a:tint val="45000"/>
                  <a:satMod val="400000"/>
                </a:schemeClr>
              </a:duotone>
            </a:blip>
            <a:srcRect/>
            <a:stretch>
              <a:fillRect/>
            </a:stretch>
          </p:blipFill>
          <p:spPr bwMode="auto">
            <a:xfrm rot="5400000">
              <a:off x="11754483" y="-62334"/>
              <a:ext cx="204798" cy="504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userDrawn="1"/>
          </p:nvPicPr>
          <p:blipFill>
            <a:blip r:embed="rId6" cstate="email"/>
            <a:stretch>
              <a:fillRect/>
            </a:stretch>
          </p:blipFill>
          <p:spPr>
            <a:xfrm>
              <a:off x="10065601" y="62319"/>
              <a:ext cx="1347574" cy="250601"/>
            </a:xfrm>
            <a:prstGeom prst="rect">
              <a:avLst/>
            </a:prstGeom>
          </p:spPr>
        </p:pic>
      </p:grpSp>
      <p:grpSp>
        <p:nvGrpSpPr>
          <p:cNvPr id="12" name="组合 11"/>
          <p:cNvGrpSpPr/>
          <p:nvPr userDrawn="1"/>
        </p:nvGrpSpPr>
        <p:grpSpPr>
          <a:xfrm>
            <a:off x="-6017" y="92064"/>
            <a:ext cx="354035" cy="218195"/>
            <a:chOff x="0" y="272317"/>
            <a:chExt cx="1058750" cy="602995"/>
          </a:xfrm>
        </p:grpSpPr>
        <p:sp>
          <p:nvSpPr>
            <p:cNvPr id="13" name="任意多边形: 形状 59"/>
            <p:cNvSpPr/>
            <p:nvPr/>
          </p:nvSpPr>
          <p:spPr>
            <a:xfrm flipV="1">
              <a:off x="0" y="272317"/>
              <a:ext cx="610547" cy="602995"/>
            </a:xfrm>
            <a:custGeom>
              <a:avLst/>
              <a:gdLst>
                <a:gd name="connsiteX0" fmla="*/ 0 w 610547"/>
                <a:gd name="connsiteY0" fmla="*/ 602995 h 602995"/>
                <a:gd name="connsiteX1" fmla="*/ 223388 w 610547"/>
                <a:gd name="connsiteY1" fmla="*/ 602995 h 602995"/>
                <a:gd name="connsiteX2" fmla="*/ 385117 w 610547"/>
                <a:gd name="connsiteY2" fmla="*/ 602995 h 602995"/>
                <a:gd name="connsiteX3" fmla="*/ 448818 w 610547"/>
                <a:gd name="connsiteY3" fmla="*/ 602995 h 602995"/>
                <a:gd name="connsiteX4" fmla="*/ 610547 w 610547"/>
                <a:gd name="connsiteY4" fmla="*/ 602995 h 602995"/>
                <a:gd name="connsiteX5" fmla="*/ 385117 w 610547"/>
                <a:gd name="connsiteY5" fmla="*/ 0 h 602995"/>
                <a:gd name="connsiteX6" fmla="*/ 223388 w 610547"/>
                <a:gd name="connsiteY6" fmla="*/ 0 h 602995"/>
                <a:gd name="connsiteX7" fmla="*/ 0 w 610547"/>
                <a:gd name="connsiteY7" fmla="*/ 0 h 60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547" h="602995">
                  <a:moveTo>
                    <a:pt x="0" y="602995"/>
                  </a:moveTo>
                  <a:lnTo>
                    <a:pt x="223388" y="602995"/>
                  </a:lnTo>
                  <a:lnTo>
                    <a:pt x="385117" y="602995"/>
                  </a:lnTo>
                  <a:lnTo>
                    <a:pt x="448818" y="602995"/>
                  </a:lnTo>
                  <a:lnTo>
                    <a:pt x="610547" y="602995"/>
                  </a:lnTo>
                  <a:lnTo>
                    <a:pt x="385117" y="0"/>
                  </a:lnTo>
                  <a:lnTo>
                    <a:pt x="223388" y="0"/>
                  </a:lnTo>
                  <a:lnTo>
                    <a:pt x="0" y="0"/>
                  </a:lnTo>
                  <a:close/>
                </a:path>
              </a:pathLst>
            </a:custGeom>
            <a:gradFill flip="none" rotWithShape="1">
              <a:gsLst>
                <a:gs pos="0">
                  <a:srgbClr val="F47821"/>
                </a:gs>
                <a:gs pos="100000">
                  <a:srgbClr val="F8981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平行四边形 14"/>
            <p:cNvSpPr/>
            <p:nvPr/>
          </p:nvSpPr>
          <p:spPr>
            <a:xfrm flipH="1" flipV="1">
              <a:off x="451474" y="275885"/>
              <a:ext cx="384503" cy="595859"/>
            </a:xfrm>
            <a:prstGeom prst="parallelogram">
              <a:avLst>
                <a:gd name="adj" fmla="val 59142"/>
              </a:avLst>
            </a:prstGeom>
            <a:solidFill>
              <a:srgbClr val="F47821">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flipH="1" flipV="1">
              <a:off x="674247" y="275885"/>
              <a:ext cx="384503" cy="595859"/>
            </a:xfrm>
            <a:prstGeom prst="parallelogram">
              <a:avLst>
                <a:gd name="adj" fmla="val 59142"/>
              </a:avLst>
            </a:prstGeom>
            <a:solidFill>
              <a:srgbClr val="F4782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Rectangle: Rounded Corners 11"/>
          <p:cNvSpPr/>
          <p:nvPr userDrawn="1"/>
        </p:nvSpPr>
        <p:spPr>
          <a:xfrm>
            <a:off x="-699711" y="5490422"/>
            <a:ext cx="374912" cy="374912"/>
          </a:xfrm>
          <a:prstGeom prst="roundRect">
            <a:avLst/>
          </a:prstGeom>
          <a:solidFill>
            <a:schemeClr val="accent6">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18" name="Rectangle: Rounded Corners 13"/>
          <p:cNvSpPr/>
          <p:nvPr userDrawn="1"/>
        </p:nvSpPr>
        <p:spPr>
          <a:xfrm>
            <a:off x="-699711" y="1897098"/>
            <a:ext cx="374912" cy="374912"/>
          </a:xfrm>
          <a:prstGeom prst="roundRect">
            <a:avLst/>
          </a:prstGeom>
          <a:solidFill>
            <a:schemeClr val="accent2">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19" name="Rectangle: Rounded Corners 14"/>
          <p:cNvSpPr/>
          <p:nvPr userDrawn="1"/>
        </p:nvSpPr>
        <p:spPr>
          <a:xfrm>
            <a:off x="-699711" y="3437094"/>
            <a:ext cx="374912" cy="374912"/>
          </a:xfrm>
          <a:prstGeom prst="roundRect">
            <a:avLst/>
          </a:prstGeom>
          <a:solidFill>
            <a:schemeClr val="accent2">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0" name="Rectangle: Rounded Corners 15"/>
          <p:cNvSpPr/>
          <p:nvPr userDrawn="1"/>
        </p:nvSpPr>
        <p:spPr>
          <a:xfrm>
            <a:off x="-699711" y="2923762"/>
            <a:ext cx="374912" cy="374912"/>
          </a:xfrm>
          <a:prstGeom prst="round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1" name="Rectangle: Rounded Corners 11"/>
          <p:cNvSpPr/>
          <p:nvPr userDrawn="1"/>
        </p:nvSpPr>
        <p:spPr>
          <a:xfrm>
            <a:off x="-699711" y="4977090"/>
            <a:ext cx="374912" cy="374912"/>
          </a:xfrm>
          <a:prstGeom prst="roundRect">
            <a:avLst/>
          </a:prstGeom>
          <a:solidFill>
            <a:srgbClr val="79D1F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2" name="Rectangle: Rounded Corners 15"/>
          <p:cNvSpPr/>
          <p:nvPr userDrawn="1"/>
        </p:nvSpPr>
        <p:spPr>
          <a:xfrm>
            <a:off x="-699711" y="3950426"/>
            <a:ext cx="374912" cy="374912"/>
          </a:xfrm>
          <a:prstGeom prst="roundRect">
            <a:avLst/>
          </a:prstGeom>
          <a:solidFill>
            <a:schemeClr val="accent2">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3" name="Rectangle: Rounded Corners 11"/>
          <p:cNvSpPr/>
          <p:nvPr userDrawn="1"/>
        </p:nvSpPr>
        <p:spPr>
          <a:xfrm>
            <a:off x="-699711" y="4463758"/>
            <a:ext cx="374912" cy="374912"/>
          </a:xfrm>
          <a:prstGeom prst="roundRect">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4" name="Rectangle: Rounded Corners 15"/>
          <p:cNvSpPr/>
          <p:nvPr userDrawn="1"/>
        </p:nvSpPr>
        <p:spPr>
          <a:xfrm>
            <a:off x="-699711" y="2410430"/>
            <a:ext cx="374912" cy="374912"/>
          </a:xfrm>
          <a:prstGeom prst="roundRect">
            <a:avLst/>
          </a:prstGeom>
          <a:solidFill>
            <a:schemeClr val="accent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031" tIns="34031" rIns="34031" bIns="34031" numCol="1" spcCol="0" rtlCol="0" fromWordArt="0" anchor="ctr" anchorCtr="0" forceAA="0" compatLnSpc="1">
            <a:noAutofit/>
          </a:bodyPr>
          <a:lstStyle/>
          <a:p>
            <a:pPr algn="ctr"/>
            <a:endParaRPr lang="zh-CN" altLang="en-US" sz="1700" dirty="0">
              <a:latin typeface="宋体" pitchFamily="2" charset="-122"/>
              <a:ea typeface="宋体" pitchFamily="2" charset="-122"/>
            </a:endParaRPr>
          </a:p>
        </p:txBody>
      </p:sp>
      <p:sp>
        <p:nvSpPr>
          <p:cNvPr id="25" name="TextBox 2"/>
          <p:cNvSpPr txBox="1"/>
          <p:nvPr userDrawn="1"/>
        </p:nvSpPr>
        <p:spPr>
          <a:xfrm>
            <a:off x="-877163" y="1388821"/>
            <a:ext cx="877163" cy="369332"/>
          </a:xfrm>
          <a:prstGeom prst="rect">
            <a:avLst/>
          </a:prstGeom>
          <a:noFill/>
        </p:spPr>
        <p:txBody>
          <a:bodyPr wrap="none" rtlCol="0">
            <a:spAutoFit/>
          </a:bodyPr>
          <a:lstStyle/>
          <a:p>
            <a:r>
              <a:rPr lang="zh-CN" altLang="en-US" dirty="0">
                <a:solidFill>
                  <a:schemeClr val="tx1"/>
                </a:solidFill>
                <a:latin typeface="楷体" panose="02010609060101010101" pitchFamily="49" charset="-122"/>
                <a:ea typeface="楷体" panose="02010609060101010101" pitchFamily="49" charset="-122"/>
              </a:rPr>
              <a:t>配色表</a:t>
            </a:r>
            <a:endParaRPr lang="en-US" dirty="0">
              <a:solidFill>
                <a:schemeClr val="tx1"/>
              </a:solidFill>
              <a:latin typeface="楷体" panose="02010609060101010101" pitchFamily="49" charset="-122"/>
              <a:ea typeface="楷体" panose="02010609060101010101" pitchFamily="49" charset="-122"/>
            </a:endParaRPr>
          </a:p>
        </p:txBody>
      </p:sp>
      <p:sp>
        <p:nvSpPr>
          <p:cNvPr id="26" name="TextBox 24"/>
          <p:cNvSpPr txBox="1"/>
          <p:nvPr userDrawn="1"/>
        </p:nvSpPr>
        <p:spPr>
          <a:xfrm>
            <a:off x="-1544216" y="2929346"/>
            <a:ext cx="646331" cy="369332"/>
          </a:xfrm>
          <a:prstGeom prst="rect">
            <a:avLst/>
          </a:prstGeom>
          <a:noFill/>
        </p:spPr>
        <p:txBody>
          <a:bodyPr wrap="none" rtlCol="0">
            <a:spAutoFit/>
          </a:bodyPr>
          <a:lstStyle/>
          <a:p>
            <a:r>
              <a:rPr lang="zh-CN" altLang="en-US" dirty="0">
                <a:solidFill>
                  <a:schemeClr val="tx1"/>
                </a:solidFill>
                <a:latin typeface="楷体" panose="02010609060101010101" pitchFamily="49" charset="-122"/>
                <a:ea typeface="楷体" panose="02010609060101010101" pitchFamily="49" charset="-122"/>
              </a:rPr>
              <a:t>主色</a:t>
            </a:r>
            <a:endParaRPr lang="en-US" dirty="0">
              <a:solidFill>
                <a:schemeClr val="tx1"/>
              </a:solidFill>
              <a:latin typeface="楷体" panose="02010609060101010101" pitchFamily="49" charset="-122"/>
              <a:ea typeface="楷体" panose="02010609060101010101" pitchFamily="49" charset="-122"/>
            </a:endParaRPr>
          </a:p>
        </p:txBody>
      </p:sp>
      <p:cxnSp>
        <p:nvCxnSpPr>
          <p:cNvPr id="27" name="Straight Arrow Connector 8"/>
          <p:cNvCxnSpPr>
            <a:stCxn id="26" idx="3"/>
            <a:endCxn id="20" idx="1"/>
          </p:cNvCxnSpPr>
          <p:nvPr userDrawn="1"/>
        </p:nvCxnSpPr>
        <p:spPr>
          <a:xfrm flipV="1">
            <a:off x="-897885" y="3111218"/>
            <a:ext cx="198174" cy="2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日期占位符 6"/>
          <p:cNvSpPr>
            <a:spLocks noGrp="1"/>
          </p:cNvSpPr>
          <p:nvPr>
            <p:ph type="dt" sz="half" idx="10"/>
          </p:nvPr>
        </p:nvSpPr>
        <p:spPr>
          <a:xfrm>
            <a:off x="5401732" y="6515100"/>
            <a:ext cx="1388536" cy="206381"/>
          </a:xfrm>
        </p:spPr>
        <p:txBody>
          <a:bodyPr/>
          <a:lstStyle/>
          <a:p>
            <a:endParaRPr lang="zh-CN" altLang="en-US"/>
          </a:p>
        </p:txBody>
      </p:sp>
      <p:sp>
        <p:nvSpPr>
          <p:cNvPr id="9" name="灯片编号占位符 8"/>
          <p:cNvSpPr>
            <a:spLocks noGrp="1"/>
          </p:cNvSpPr>
          <p:nvPr>
            <p:ph type="sldNum" sz="quarter" idx="12"/>
          </p:nvPr>
        </p:nvSpPr>
        <p:spPr>
          <a:xfrm>
            <a:off x="8610599" y="6515100"/>
            <a:ext cx="2909888" cy="206381"/>
          </a:xfrm>
        </p:spPr>
        <p:txBody>
          <a:bodyPr/>
          <a:lstStyle/>
          <a:p>
            <a:fld id="{5DD3DB80-B894-403A-B48E-6FDC1A72010E}" type="slidenum">
              <a:rPr lang="zh-CN" altLang="en-US" smtClean="0"/>
            </a:fld>
            <a:endParaRPr lang="zh-CN" altLang="en-US"/>
          </a:p>
        </p:txBody>
      </p:sp>
      <p:grpSp>
        <p:nvGrpSpPr>
          <p:cNvPr id="19" name="组合 18"/>
          <p:cNvGrpSpPr/>
          <p:nvPr userDrawn="1"/>
        </p:nvGrpSpPr>
        <p:grpSpPr>
          <a:xfrm>
            <a:off x="12377660" y="850846"/>
            <a:ext cx="787514" cy="3164751"/>
            <a:chOff x="12377660" y="850846"/>
            <a:chExt cx="787514" cy="3164751"/>
          </a:xfrm>
        </p:grpSpPr>
        <p:sp>
          <p:nvSpPr>
            <p:cNvPr id="20" name="矩形 19"/>
            <p:cNvSpPr/>
            <p:nvPr/>
          </p:nvSpPr>
          <p:spPr>
            <a:xfrm>
              <a:off x="12382713" y="3835597"/>
              <a:ext cx="782461" cy="180000"/>
            </a:xfrm>
            <a:prstGeom prst="rect">
              <a:avLst/>
            </a:prstGeom>
            <a:solidFill>
              <a:srgbClr val="E6AE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1" name="矩形 20"/>
            <p:cNvSpPr/>
            <p:nvPr/>
          </p:nvSpPr>
          <p:spPr>
            <a:xfrm>
              <a:off x="12377660" y="850846"/>
              <a:ext cx="782461" cy="324000"/>
            </a:xfrm>
            <a:prstGeom prst="rect">
              <a:avLst/>
            </a:prstGeom>
            <a:solidFill>
              <a:srgbClr val="010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2" name="矩形 21"/>
            <p:cNvSpPr/>
            <p:nvPr/>
          </p:nvSpPr>
          <p:spPr>
            <a:xfrm>
              <a:off x="12377660" y="1795516"/>
              <a:ext cx="782461" cy="324000"/>
            </a:xfrm>
            <a:prstGeom prst="rect">
              <a:avLst/>
            </a:prstGeom>
            <a:solidFill>
              <a:srgbClr val="008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3" name="矩形 22"/>
            <p:cNvSpPr/>
            <p:nvPr/>
          </p:nvSpPr>
          <p:spPr>
            <a:xfrm>
              <a:off x="12382713" y="3568997"/>
              <a:ext cx="782461" cy="18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4" name="矩形 23"/>
            <p:cNvSpPr/>
            <p:nvPr/>
          </p:nvSpPr>
          <p:spPr>
            <a:xfrm>
              <a:off x="12382713" y="3302397"/>
              <a:ext cx="782461" cy="180000"/>
            </a:xfrm>
            <a:prstGeom prst="rect">
              <a:avLst/>
            </a:prstGeom>
            <a:solidFill>
              <a:srgbClr val="B802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5" name="矩形 24"/>
            <p:cNvSpPr/>
            <p:nvPr/>
          </p:nvSpPr>
          <p:spPr>
            <a:xfrm>
              <a:off x="12382713" y="2769197"/>
              <a:ext cx="782461" cy="180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6" name="矩形 25"/>
            <p:cNvSpPr/>
            <p:nvPr/>
          </p:nvSpPr>
          <p:spPr>
            <a:xfrm>
              <a:off x="12382713" y="3035797"/>
              <a:ext cx="782461" cy="180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7" name="矩形 26"/>
            <p:cNvSpPr/>
            <p:nvPr userDrawn="1"/>
          </p:nvSpPr>
          <p:spPr>
            <a:xfrm>
              <a:off x="12377660" y="2267850"/>
              <a:ext cx="782461" cy="324000"/>
            </a:xfrm>
            <a:prstGeom prst="rect">
              <a:avLst/>
            </a:prstGeom>
            <a:solidFill>
              <a:srgbClr val="01A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12377660" y="1323181"/>
              <a:ext cx="782461" cy="324000"/>
            </a:xfrm>
            <a:prstGeom prst="rect">
              <a:avLst/>
            </a:prstGeom>
            <a:solidFill>
              <a:srgbClr val="056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标题 1"/>
          <p:cNvSpPr>
            <a:spLocks noGrp="1"/>
          </p:cNvSpPr>
          <p:nvPr>
            <p:ph type="title" hasCustomPrompt="1"/>
          </p:nvPr>
        </p:nvSpPr>
        <p:spPr>
          <a:xfrm>
            <a:off x="590400" y="140400"/>
            <a:ext cx="8167141" cy="478800"/>
          </a:xfrm>
        </p:spPr>
        <p:txBody>
          <a:bodyPr vert="horz" lIns="91440" tIns="45720" rIns="91440" bIns="45720" rtlCol="0" anchor="ctr">
            <a:normAutofit/>
          </a:bodyPr>
          <a:lstStyle>
            <a:lvl1pPr>
              <a:lnSpc>
                <a:spcPct val="100000"/>
              </a:lnSpc>
              <a:defRPr sz="2400">
                <a:latin typeface="微软雅黑" panose="020B0503020204020204" pitchFamily="34" charset="-122"/>
                <a:ea typeface="微软雅黑" panose="020B0503020204020204" pitchFamily="34" charset="-122"/>
              </a:defRPr>
            </a:lvl1pPr>
          </a:lstStyle>
          <a:p>
            <a:r>
              <a:rPr lang="zh-CN" altLang="en-US" sz="2400"/>
              <a:t>标题</a:t>
            </a:r>
            <a:endParaRPr lang="zh-CN" altLang="en-US" sz="2400"/>
          </a:p>
        </p:txBody>
      </p: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61072" y="125073"/>
            <a:ext cx="1451397" cy="445883"/>
          </a:xfrm>
          <a:prstGeom prst="rect">
            <a:avLst/>
          </a:prstGeom>
        </p:spPr>
      </p:pic>
      <p:pic>
        <p:nvPicPr>
          <p:cNvPr id="4" name="图片 3" descr="徽标&#10;&#10;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519530" y="139214"/>
            <a:ext cx="1628641" cy="417600"/>
          </a:xfrm>
          <a:prstGeom prst="rect">
            <a:avLst/>
          </a:prstGeom>
        </p:spPr>
      </p:pic>
      <p:cxnSp>
        <p:nvCxnSpPr>
          <p:cNvPr id="6" name="直接连接符 5"/>
          <p:cNvCxnSpPr/>
          <p:nvPr userDrawn="1">
            <p:custDataLst>
              <p:tags r:id="rId5"/>
            </p:custDataLst>
          </p:nvPr>
        </p:nvCxnSpPr>
        <p:spPr>
          <a:xfrm>
            <a:off x="10416000" y="138464"/>
            <a:ext cx="0" cy="41910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image" Target="../media/image14.jpeg"/></Relationships>
</file>

<file path=ppt/slides/_rels/slide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5" Type="http://schemas.openxmlformats.org/officeDocument/2006/relationships/notesSlide" Target="../notesSlides/notesSlide3.xml"/><Relationship Id="rId34" Type="http://schemas.openxmlformats.org/officeDocument/2006/relationships/slideLayout" Target="../slideLayouts/slideLayout1.xml"/><Relationship Id="rId33" Type="http://schemas.openxmlformats.org/officeDocument/2006/relationships/tags" Target="../tags/tag54.xml"/><Relationship Id="rId32" Type="http://schemas.openxmlformats.org/officeDocument/2006/relationships/tags" Target="../tags/tag53.xml"/><Relationship Id="rId31" Type="http://schemas.openxmlformats.org/officeDocument/2006/relationships/tags" Target="../tags/tag52.xml"/><Relationship Id="rId30" Type="http://schemas.openxmlformats.org/officeDocument/2006/relationships/tags" Target="../tags/tag51.xml"/><Relationship Id="rId3" Type="http://schemas.openxmlformats.org/officeDocument/2006/relationships/tags" Target="../tags/tag24.xml"/><Relationship Id="rId29" Type="http://schemas.openxmlformats.org/officeDocument/2006/relationships/tags" Target="../tags/tag50.xml"/><Relationship Id="rId28" Type="http://schemas.openxmlformats.org/officeDocument/2006/relationships/tags" Target="../tags/tag49.xml"/><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3.xml"/><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6.wmf"/></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4" Type="http://schemas.openxmlformats.org/officeDocument/2006/relationships/notesSlide" Target="../notesSlides/notesSlide6.xml"/><Relationship Id="rId13" Type="http://schemas.openxmlformats.org/officeDocument/2006/relationships/slideLayout" Target="../slideLayouts/slideLayout1.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4" Type="http://schemas.openxmlformats.org/officeDocument/2006/relationships/notesSlide" Target="../notesSlides/notesSlide7.xml"/><Relationship Id="rId23" Type="http://schemas.openxmlformats.org/officeDocument/2006/relationships/slideLayout" Target="../slideLayouts/slideLayout1.xml"/><Relationship Id="rId22" Type="http://schemas.openxmlformats.org/officeDocument/2006/relationships/tags" Target="../tags/tag88.xml"/><Relationship Id="rId21" Type="http://schemas.openxmlformats.org/officeDocument/2006/relationships/tags" Target="../tags/tag87.xml"/><Relationship Id="rId20" Type="http://schemas.openxmlformats.org/officeDocument/2006/relationships/tags" Target="../tags/tag86.xml"/><Relationship Id="rId2" Type="http://schemas.openxmlformats.org/officeDocument/2006/relationships/tags" Target="../tags/tag68.xml"/><Relationship Id="rId19" Type="http://schemas.openxmlformats.org/officeDocument/2006/relationships/tags" Target="../tags/tag85.xml"/><Relationship Id="rId18" Type="http://schemas.openxmlformats.org/officeDocument/2006/relationships/tags" Target="../tags/tag84.xml"/><Relationship Id="rId17" Type="http://schemas.openxmlformats.org/officeDocument/2006/relationships/tags" Target="../tags/tag83.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4" Type="http://schemas.openxmlformats.org/officeDocument/2006/relationships/notesSlide" Target="../notesSlides/notesSlide11.xml"/><Relationship Id="rId23" Type="http://schemas.openxmlformats.org/officeDocument/2006/relationships/slideLayout" Target="../slideLayouts/slideLayout1.xml"/><Relationship Id="rId22" Type="http://schemas.openxmlformats.org/officeDocument/2006/relationships/tags" Target="../tags/tag110.xml"/><Relationship Id="rId21" Type="http://schemas.openxmlformats.org/officeDocument/2006/relationships/tags" Target="../tags/tag109.xml"/><Relationship Id="rId20" Type="http://schemas.openxmlformats.org/officeDocument/2006/relationships/tags" Target="../tags/tag108.xml"/><Relationship Id="rId2" Type="http://schemas.openxmlformats.org/officeDocument/2006/relationships/tags" Target="../tags/tag90.xml"/><Relationship Id="rId19" Type="http://schemas.openxmlformats.org/officeDocument/2006/relationships/tags" Target="../tags/tag107.xml"/><Relationship Id="rId18" Type="http://schemas.openxmlformats.org/officeDocument/2006/relationships/tags" Target="../tags/tag106.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tags" Target="../tags/tag111.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1" Type="http://schemas.openxmlformats.org/officeDocument/2006/relationships/notesSlide" Target="../notesSlides/notesSlide13.xml"/><Relationship Id="rId30" Type="http://schemas.openxmlformats.org/officeDocument/2006/relationships/slideLayout" Target="../slideLayouts/slideLayout1.xml"/><Relationship Id="rId3" Type="http://schemas.openxmlformats.org/officeDocument/2006/relationships/tags" Target="../tags/tag114.xml"/><Relationship Id="rId29" Type="http://schemas.openxmlformats.org/officeDocument/2006/relationships/tags" Target="../tags/tag137.xml"/><Relationship Id="rId28" Type="http://schemas.openxmlformats.org/officeDocument/2006/relationships/tags" Target="../tags/tag136.xml"/><Relationship Id="rId27" Type="http://schemas.openxmlformats.org/officeDocument/2006/relationships/image" Target="../media/image27.png"/><Relationship Id="rId26" Type="http://schemas.openxmlformats.org/officeDocument/2006/relationships/image" Target="../media/image26.png"/><Relationship Id="rId25" Type="http://schemas.openxmlformats.org/officeDocument/2006/relationships/tags" Target="../tags/tag135.xml"/><Relationship Id="rId24" Type="http://schemas.openxmlformats.org/officeDocument/2006/relationships/image" Target="../media/image25.png"/><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tags" Target="../tags/tag132.xml"/><Relationship Id="rId20" Type="http://schemas.openxmlformats.org/officeDocument/2006/relationships/tags" Target="../tags/tag131.xml"/><Relationship Id="rId2" Type="http://schemas.openxmlformats.org/officeDocument/2006/relationships/tags" Target="../tags/tag113.xml"/><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15.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9" Type="http://schemas.openxmlformats.org/officeDocument/2006/relationships/notesSlide" Target="../notesSlides/notesSlide14.xml"/><Relationship Id="rId28" Type="http://schemas.openxmlformats.org/officeDocument/2006/relationships/slideLayout" Target="../slideLayouts/slideLayout1.xml"/><Relationship Id="rId27" Type="http://schemas.openxmlformats.org/officeDocument/2006/relationships/image" Target="../media/image29.png"/><Relationship Id="rId26" Type="http://schemas.openxmlformats.org/officeDocument/2006/relationships/tags" Target="../tags/tag161.xml"/><Relationship Id="rId25" Type="http://schemas.openxmlformats.org/officeDocument/2006/relationships/tags" Target="../tags/tag160.xml"/><Relationship Id="rId24" Type="http://schemas.openxmlformats.org/officeDocument/2006/relationships/image" Target="../media/image26.png"/><Relationship Id="rId23" Type="http://schemas.openxmlformats.org/officeDocument/2006/relationships/image" Target="../media/image28.png"/><Relationship Id="rId22" Type="http://schemas.openxmlformats.org/officeDocument/2006/relationships/tags" Target="../tags/tag159.xml"/><Relationship Id="rId21" Type="http://schemas.openxmlformats.org/officeDocument/2006/relationships/tags" Target="../tags/tag158.xml"/><Relationship Id="rId20" Type="http://schemas.openxmlformats.org/officeDocument/2006/relationships/tags" Target="../tags/tag157.xml"/><Relationship Id="rId2" Type="http://schemas.openxmlformats.org/officeDocument/2006/relationships/tags" Target="../tags/tag139.xml"/><Relationship Id="rId19" Type="http://schemas.openxmlformats.org/officeDocument/2006/relationships/tags" Target="../tags/tag156.xml"/><Relationship Id="rId18" Type="http://schemas.openxmlformats.org/officeDocument/2006/relationships/tags" Target="../tags/tag155.xml"/><Relationship Id="rId17" Type="http://schemas.openxmlformats.org/officeDocument/2006/relationships/tags" Target="../tags/tag154.xml"/><Relationship Id="rId16" Type="http://schemas.openxmlformats.org/officeDocument/2006/relationships/tags" Target="../tags/tag153.xml"/><Relationship Id="rId15" Type="http://schemas.openxmlformats.org/officeDocument/2006/relationships/tags" Target="../tags/tag152.xml"/><Relationship Id="rId14" Type="http://schemas.openxmlformats.org/officeDocument/2006/relationships/tags" Target="../tags/tag151.xml"/><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tags" Target="../tags/tag138.xml"/></Relationships>
</file>

<file path=ppt/slides/_rels/slide16.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7" Type="http://schemas.openxmlformats.org/officeDocument/2006/relationships/notesSlide" Target="../notesSlides/notesSlide15.xml"/><Relationship Id="rId26" Type="http://schemas.openxmlformats.org/officeDocument/2006/relationships/slideLayout" Target="../slideLayouts/slideLayout1.xml"/><Relationship Id="rId25" Type="http://schemas.openxmlformats.org/officeDocument/2006/relationships/tags" Target="../tags/tag184.xml"/><Relationship Id="rId24" Type="http://schemas.openxmlformats.org/officeDocument/2006/relationships/tags" Target="../tags/tag183.xml"/><Relationship Id="rId23" Type="http://schemas.openxmlformats.org/officeDocument/2006/relationships/tags" Target="../tags/tag182.xml"/><Relationship Id="rId22" Type="http://schemas.openxmlformats.org/officeDocument/2006/relationships/tags" Target="../tags/tag181.xml"/><Relationship Id="rId21" Type="http://schemas.openxmlformats.org/officeDocument/2006/relationships/image" Target="../media/image30.png"/><Relationship Id="rId20" Type="http://schemas.openxmlformats.org/officeDocument/2006/relationships/tags" Target="../tags/tag180.xml"/><Relationship Id="rId2" Type="http://schemas.openxmlformats.org/officeDocument/2006/relationships/tags" Target="../tags/tag163.xml"/><Relationship Id="rId19" Type="http://schemas.openxmlformats.org/officeDocument/2006/relationships/tags" Target="../tags/tag179.xml"/><Relationship Id="rId18" Type="http://schemas.openxmlformats.org/officeDocument/2006/relationships/image" Target="../media/image26.png"/><Relationship Id="rId17" Type="http://schemas.openxmlformats.org/officeDocument/2006/relationships/tags" Target="../tags/tag178.xml"/><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2.xml"/></Relationships>
</file>

<file path=ppt/slides/_rels/slide17.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5" Type="http://schemas.openxmlformats.org/officeDocument/2006/relationships/notesSlide" Target="../notesSlides/notesSlide16.xml"/><Relationship Id="rId24" Type="http://schemas.openxmlformats.org/officeDocument/2006/relationships/slideLayout" Target="../slideLayouts/slideLayout1.xml"/><Relationship Id="rId23" Type="http://schemas.openxmlformats.org/officeDocument/2006/relationships/tags" Target="../tags/tag207.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tags" Target="../tags/tag204.xml"/><Relationship Id="rId2" Type="http://schemas.openxmlformats.org/officeDocument/2006/relationships/tags" Target="../tags/tag186.xml"/><Relationship Id="rId19" Type="http://schemas.openxmlformats.org/officeDocument/2006/relationships/tags" Target="../tags/tag203.xml"/><Relationship Id="rId18" Type="http://schemas.openxmlformats.org/officeDocument/2006/relationships/tags" Target="../tags/tag202.xml"/><Relationship Id="rId17" Type="http://schemas.openxmlformats.org/officeDocument/2006/relationships/tags" Target="../tags/tag201.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tags" Target="../tags/tag185.xml"/></Relationships>
</file>

<file path=ppt/slides/_rels/slide18.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5" Type="http://schemas.openxmlformats.org/officeDocument/2006/relationships/notesSlide" Target="../notesSlides/notesSlide17.xml"/><Relationship Id="rId24" Type="http://schemas.openxmlformats.org/officeDocument/2006/relationships/slideLayout" Target="../slideLayouts/slideLayout1.xml"/><Relationship Id="rId23" Type="http://schemas.openxmlformats.org/officeDocument/2006/relationships/tags" Target="../tags/tag230.xml"/><Relationship Id="rId22" Type="http://schemas.openxmlformats.org/officeDocument/2006/relationships/tags" Target="../tags/tag229.xml"/><Relationship Id="rId21" Type="http://schemas.openxmlformats.org/officeDocument/2006/relationships/tags" Target="../tags/tag228.xml"/><Relationship Id="rId20" Type="http://schemas.openxmlformats.org/officeDocument/2006/relationships/tags" Target="../tags/tag227.xml"/><Relationship Id="rId2" Type="http://schemas.openxmlformats.org/officeDocument/2006/relationships/tags" Target="../tags/tag209.xml"/><Relationship Id="rId19" Type="http://schemas.openxmlformats.org/officeDocument/2006/relationships/tags" Target="../tags/tag226.xml"/><Relationship Id="rId18" Type="http://schemas.openxmlformats.org/officeDocument/2006/relationships/tags" Target="../tags/tag225.xml"/><Relationship Id="rId17" Type="http://schemas.openxmlformats.org/officeDocument/2006/relationships/tags" Target="../tags/tag224.xml"/><Relationship Id="rId16" Type="http://schemas.openxmlformats.org/officeDocument/2006/relationships/tags" Target="../tags/tag223.xml"/><Relationship Id="rId15" Type="http://schemas.openxmlformats.org/officeDocument/2006/relationships/tags" Target="../tags/tag222.xml"/><Relationship Id="rId14" Type="http://schemas.openxmlformats.org/officeDocument/2006/relationships/tags" Target="../tags/tag221.xml"/><Relationship Id="rId13" Type="http://schemas.openxmlformats.org/officeDocument/2006/relationships/tags" Target="../tags/tag220.xml"/><Relationship Id="rId12" Type="http://schemas.openxmlformats.org/officeDocument/2006/relationships/tags" Target="../tags/tag219.xml"/><Relationship Id="rId11" Type="http://schemas.openxmlformats.org/officeDocument/2006/relationships/tags" Target="../tags/tag218.xml"/><Relationship Id="rId10" Type="http://schemas.openxmlformats.org/officeDocument/2006/relationships/tags" Target="../tags/tag217.xml"/><Relationship Id="rId1" Type="http://schemas.openxmlformats.org/officeDocument/2006/relationships/tags" Target="../tags/tag208.xml"/></Relationships>
</file>

<file path=ppt/slides/_rels/slide19.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2" Type="http://schemas.openxmlformats.org/officeDocument/2006/relationships/notesSlide" Target="../notesSlides/notesSlide18.xml"/><Relationship Id="rId21" Type="http://schemas.openxmlformats.org/officeDocument/2006/relationships/slideLayout" Target="../slideLayouts/slideLayout1.xml"/><Relationship Id="rId20" Type="http://schemas.openxmlformats.org/officeDocument/2006/relationships/tags" Target="../tags/tag250.xml"/><Relationship Id="rId2" Type="http://schemas.openxmlformats.org/officeDocument/2006/relationships/tags" Target="../tags/tag232.xml"/><Relationship Id="rId19" Type="http://schemas.openxmlformats.org/officeDocument/2006/relationships/tags" Target="../tags/tag249.xml"/><Relationship Id="rId18" Type="http://schemas.openxmlformats.org/officeDocument/2006/relationships/tags" Target="../tags/tag248.xml"/><Relationship Id="rId17" Type="http://schemas.openxmlformats.org/officeDocument/2006/relationships/tags" Target="../tags/tag247.xml"/><Relationship Id="rId16" Type="http://schemas.openxmlformats.org/officeDocument/2006/relationships/tags" Target="../tags/tag246.xml"/><Relationship Id="rId15" Type="http://schemas.openxmlformats.org/officeDocument/2006/relationships/tags" Target="../tags/tag245.xml"/><Relationship Id="rId14" Type="http://schemas.openxmlformats.org/officeDocument/2006/relationships/tags" Target="../tags/tag244.xml"/><Relationship Id="rId13" Type="http://schemas.openxmlformats.org/officeDocument/2006/relationships/tags" Target="../tags/tag243.xml"/><Relationship Id="rId12" Type="http://schemas.openxmlformats.org/officeDocument/2006/relationships/tags" Target="../tags/tag242.xml"/><Relationship Id="rId11" Type="http://schemas.openxmlformats.org/officeDocument/2006/relationships/tags" Target="../tags/tag241.xml"/><Relationship Id="rId10" Type="http://schemas.openxmlformats.org/officeDocument/2006/relationships/tags" Target="../tags/tag240.xml"/><Relationship Id="rId1" Type="http://schemas.openxmlformats.org/officeDocument/2006/relationships/tags" Target="../tags/tag231.xml"/></Relationships>
</file>

<file path=ppt/slides/_rels/slide20.xml.rels><?xml version="1.0" encoding="UTF-8" standalone="yes"?>
<Relationships xmlns="http://schemas.openxmlformats.org/package/2006/relationships"><Relationship Id="rId9" Type="http://schemas.openxmlformats.org/officeDocument/2006/relationships/tags" Target="../tags/tag258.xml"/><Relationship Id="rId8" Type="http://schemas.openxmlformats.org/officeDocument/2006/relationships/tags" Target="../tags/tag25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8" Type="http://schemas.openxmlformats.org/officeDocument/2006/relationships/notesSlide" Target="../notesSlides/notesSlide19.xml"/><Relationship Id="rId27" Type="http://schemas.openxmlformats.org/officeDocument/2006/relationships/slideLayout" Target="../slideLayouts/slideLayout1.xml"/><Relationship Id="rId26" Type="http://schemas.openxmlformats.org/officeDocument/2006/relationships/tags" Target="../tags/tag274.xml"/><Relationship Id="rId25" Type="http://schemas.openxmlformats.org/officeDocument/2006/relationships/image" Target="../media/image32.png"/><Relationship Id="rId24" Type="http://schemas.openxmlformats.org/officeDocument/2006/relationships/tags" Target="../tags/tag273.xml"/><Relationship Id="rId23" Type="http://schemas.openxmlformats.org/officeDocument/2006/relationships/tags" Target="../tags/tag272.xml"/><Relationship Id="rId22" Type="http://schemas.openxmlformats.org/officeDocument/2006/relationships/tags" Target="../tags/tag271.xml"/><Relationship Id="rId21" Type="http://schemas.openxmlformats.org/officeDocument/2006/relationships/tags" Target="../tags/tag270.xml"/><Relationship Id="rId20" Type="http://schemas.openxmlformats.org/officeDocument/2006/relationships/tags" Target="../tags/tag269.xml"/><Relationship Id="rId2" Type="http://schemas.openxmlformats.org/officeDocument/2006/relationships/image" Target="../media/image31.png"/><Relationship Id="rId19" Type="http://schemas.openxmlformats.org/officeDocument/2006/relationships/tags" Target="../tags/tag268.xml"/><Relationship Id="rId18" Type="http://schemas.openxmlformats.org/officeDocument/2006/relationships/tags" Target="../tags/tag267.xml"/><Relationship Id="rId17" Type="http://schemas.openxmlformats.org/officeDocument/2006/relationships/tags" Target="../tags/tag266.xml"/><Relationship Id="rId16" Type="http://schemas.openxmlformats.org/officeDocument/2006/relationships/tags" Target="../tags/tag265.xml"/><Relationship Id="rId15" Type="http://schemas.openxmlformats.org/officeDocument/2006/relationships/tags" Target="../tags/tag264.xml"/><Relationship Id="rId14" Type="http://schemas.openxmlformats.org/officeDocument/2006/relationships/tags" Target="../tags/tag263.xml"/><Relationship Id="rId13" Type="http://schemas.openxmlformats.org/officeDocument/2006/relationships/tags" Target="../tags/tag262.xml"/><Relationship Id="rId12" Type="http://schemas.openxmlformats.org/officeDocument/2006/relationships/tags" Target="../tags/tag261.xml"/><Relationship Id="rId11" Type="http://schemas.openxmlformats.org/officeDocument/2006/relationships/tags" Target="../tags/tag260.xml"/><Relationship Id="rId10" Type="http://schemas.openxmlformats.org/officeDocument/2006/relationships/tags" Target="../tags/tag259.xml"/><Relationship Id="rId1" Type="http://schemas.openxmlformats.org/officeDocument/2006/relationships/tags" Target="../tags/tag251.xml"/></Relationships>
</file>

<file path=ppt/slides/_rels/slide21.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8" Type="http://schemas.openxmlformats.org/officeDocument/2006/relationships/notesSlide" Target="../notesSlides/notesSlide20.xml"/><Relationship Id="rId27" Type="http://schemas.openxmlformats.org/officeDocument/2006/relationships/slideLayout" Target="../slideLayouts/slideLayout1.xml"/><Relationship Id="rId26" Type="http://schemas.openxmlformats.org/officeDocument/2006/relationships/tags" Target="../tags/tag298.xml"/><Relationship Id="rId25" Type="http://schemas.openxmlformats.org/officeDocument/2006/relationships/image" Target="../media/image33.png"/><Relationship Id="rId24" Type="http://schemas.openxmlformats.org/officeDocument/2006/relationships/tags" Target="../tags/tag297.xml"/><Relationship Id="rId23" Type="http://schemas.openxmlformats.org/officeDocument/2006/relationships/tags" Target="../tags/tag296.xml"/><Relationship Id="rId22" Type="http://schemas.openxmlformats.org/officeDocument/2006/relationships/tags" Target="../tags/tag295.xml"/><Relationship Id="rId21" Type="http://schemas.openxmlformats.org/officeDocument/2006/relationships/tags" Target="../tags/tag294.xml"/><Relationship Id="rId20" Type="http://schemas.openxmlformats.org/officeDocument/2006/relationships/tags" Target="../tags/tag293.xml"/><Relationship Id="rId2" Type="http://schemas.openxmlformats.org/officeDocument/2006/relationships/image" Target="../media/image31.png"/><Relationship Id="rId19" Type="http://schemas.openxmlformats.org/officeDocument/2006/relationships/tags" Target="../tags/tag292.xml"/><Relationship Id="rId18" Type="http://schemas.openxmlformats.org/officeDocument/2006/relationships/tags" Target="../tags/tag291.xml"/><Relationship Id="rId17" Type="http://schemas.openxmlformats.org/officeDocument/2006/relationships/tags" Target="../tags/tag290.xml"/><Relationship Id="rId16" Type="http://schemas.openxmlformats.org/officeDocument/2006/relationships/tags" Target="../tags/tag289.xml"/><Relationship Id="rId15" Type="http://schemas.openxmlformats.org/officeDocument/2006/relationships/tags" Target="../tags/tag288.xml"/><Relationship Id="rId14" Type="http://schemas.openxmlformats.org/officeDocument/2006/relationships/tags" Target="../tags/tag287.xml"/><Relationship Id="rId13" Type="http://schemas.openxmlformats.org/officeDocument/2006/relationships/tags" Target="../tags/tag286.xml"/><Relationship Id="rId12" Type="http://schemas.openxmlformats.org/officeDocument/2006/relationships/tags" Target="../tags/tag285.xml"/><Relationship Id="rId11" Type="http://schemas.openxmlformats.org/officeDocument/2006/relationships/tags" Target="../tags/tag284.xml"/><Relationship Id="rId10" Type="http://schemas.openxmlformats.org/officeDocument/2006/relationships/tags" Target="../tags/tag283.xml"/><Relationship Id="rId1" Type="http://schemas.openxmlformats.org/officeDocument/2006/relationships/tags" Target="../tags/tag275.xml"/></Relationships>
</file>

<file path=ppt/slides/_rels/slide22.xml.rels><?xml version="1.0" encoding="UTF-8" standalone="yes"?>
<Relationships xmlns="http://schemas.openxmlformats.org/package/2006/relationships"><Relationship Id="rId9" Type="http://schemas.openxmlformats.org/officeDocument/2006/relationships/tags" Target="../tags/tag307.xml"/><Relationship Id="rId8" Type="http://schemas.openxmlformats.org/officeDocument/2006/relationships/tags" Target="../tags/tag306.xml"/><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1" Type="http://schemas.openxmlformats.org/officeDocument/2006/relationships/notesSlide" Target="../notesSlides/notesSlide21.xml"/><Relationship Id="rId20" Type="http://schemas.openxmlformats.org/officeDocument/2006/relationships/slideLayout" Target="../slideLayouts/slideLayout1.xml"/><Relationship Id="rId2" Type="http://schemas.openxmlformats.org/officeDocument/2006/relationships/tags" Target="../tags/tag300.xml"/><Relationship Id="rId19" Type="http://schemas.openxmlformats.org/officeDocument/2006/relationships/tags" Target="../tags/tag317.xml"/><Relationship Id="rId18" Type="http://schemas.openxmlformats.org/officeDocument/2006/relationships/tags" Target="../tags/tag316.xml"/><Relationship Id="rId17" Type="http://schemas.openxmlformats.org/officeDocument/2006/relationships/tags" Target="../tags/tag315.xml"/><Relationship Id="rId16" Type="http://schemas.openxmlformats.org/officeDocument/2006/relationships/tags" Target="../tags/tag314.xml"/><Relationship Id="rId15" Type="http://schemas.openxmlformats.org/officeDocument/2006/relationships/tags" Target="../tags/tag313.xml"/><Relationship Id="rId14" Type="http://schemas.openxmlformats.org/officeDocument/2006/relationships/tags" Target="../tags/tag312.xml"/><Relationship Id="rId13" Type="http://schemas.openxmlformats.org/officeDocument/2006/relationships/tags" Target="../tags/tag311.xml"/><Relationship Id="rId12" Type="http://schemas.openxmlformats.org/officeDocument/2006/relationships/tags" Target="../tags/tag310.xml"/><Relationship Id="rId11" Type="http://schemas.openxmlformats.org/officeDocument/2006/relationships/tags" Target="../tags/tag309.xml"/><Relationship Id="rId10" Type="http://schemas.openxmlformats.org/officeDocument/2006/relationships/tags" Target="../tags/tag308.xml"/><Relationship Id="rId1" Type="http://schemas.openxmlformats.org/officeDocument/2006/relationships/tags" Target="../tags/tag299.xml"/></Relationships>
</file>

<file path=ppt/slides/_rels/slide23.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tags" Target="../tags/tag324.xml"/><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2" Type="http://schemas.openxmlformats.org/officeDocument/2006/relationships/notesSlide" Target="../notesSlides/notesSlide22.xml"/><Relationship Id="rId21" Type="http://schemas.openxmlformats.org/officeDocument/2006/relationships/slideLayout" Target="../slideLayouts/slideLayout1.xml"/><Relationship Id="rId20" Type="http://schemas.openxmlformats.org/officeDocument/2006/relationships/tags" Target="../tags/tag337.xml"/><Relationship Id="rId2" Type="http://schemas.openxmlformats.org/officeDocument/2006/relationships/tags" Target="../tags/tag319.xml"/><Relationship Id="rId19" Type="http://schemas.openxmlformats.org/officeDocument/2006/relationships/tags" Target="../tags/tag336.xml"/><Relationship Id="rId18" Type="http://schemas.openxmlformats.org/officeDocument/2006/relationships/tags" Target="../tags/tag335.xml"/><Relationship Id="rId17" Type="http://schemas.openxmlformats.org/officeDocument/2006/relationships/tags" Target="../tags/tag334.xml"/><Relationship Id="rId16" Type="http://schemas.openxmlformats.org/officeDocument/2006/relationships/tags" Target="../tags/tag333.xml"/><Relationship Id="rId15" Type="http://schemas.openxmlformats.org/officeDocument/2006/relationships/tags" Target="../tags/tag332.xml"/><Relationship Id="rId14" Type="http://schemas.openxmlformats.org/officeDocument/2006/relationships/tags" Target="../tags/tag331.xml"/><Relationship Id="rId13" Type="http://schemas.openxmlformats.org/officeDocument/2006/relationships/tags" Target="../tags/tag330.xml"/><Relationship Id="rId12" Type="http://schemas.openxmlformats.org/officeDocument/2006/relationships/tags" Target="../tags/tag329.xml"/><Relationship Id="rId11" Type="http://schemas.openxmlformats.org/officeDocument/2006/relationships/tags" Target="../tags/tag328.xml"/><Relationship Id="rId10" Type="http://schemas.openxmlformats.org/officeDocument/2006/relationships/tags" Target="../tags/tag327.xml"/><Relationship Id="rId1" Type="http://schemas.openxmlformats.org/officeDocument/2006/relationships/tags" Target="../tags/tag318.xml"/></Relationships>
</file>

<file path=ppt/slides/_rels/slide24.xml.rels><?xml version="1.0" encoding="UTF-8" standalone="yes"?>
<Relationships xmlns="http://schemas.openxmlformats.org/package/2006/relationships"><Relationship Id="rId9" Type="http://schemas.openxmlformats.org/officeDocument/2006/relationships/tags" Target="../tags/tag346.xml"/><Relationship Id="rId8" Type="http://schemas.openxmlformats.org/officeDocument/2006/relationships/tags" Target="../tags/tag345.xml"/><Relationship Id="rId7" Type="http://schemas.openxmlformats.org/officeDocument/2006/relationships/tags" Target="../tags/tag344.xml"/><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 Id="rId3" Type="http://schemas.openxmlformats.org/officeDocument/2006/relationships/tags" Target="../tags/tag340.xml"/><Relationship Id="rId26" Type="http://schemas.openxmlformats.org/officeDocument/2006/relationships/notesSlide" Target="../notesSlides/notesSlide23.xml"/><Relationship Id="rId25" Type="http://schemas.openxmlformats.org/officeDocument/2006/relationships/slideLayout" Target="../slideLayouts/slideLayout1.xml"/><Relationship Id="rId24" Type="http://schemas.openxmlformats.org/officeDocument/2006/relationships/tags" Target="../tags/tag359.xml"/><Relationship Id="rId23" Type="http://schemas.openxmlformats.org/officeDocument/2006/relationships/tags" Target="../tags/tag358.xml"/><Relationship Id="rId22" Type="http://schemas.openxmlformats.org/officeDocument/2006/relationships/image" Target="../media/image35.png"/><Relationship Id="rId21" Type="http://schemas.openxmlformats.org/officeDocument/2006/relationships/image" Target="../media/image34.png"/><Relationship Id="rId20" Type="http://schemas.openxmlformats.org/officeDocument/2006/relationships/tags" Target="../tags/tag357.xml"/><Relationship Id="rId2" Type="http://schemas.openxmlformats.org/officeDocument/2006/relationships/tags" Target="../tags/tag339.xml"/><Relationship Id="rId19" Type="http://schemas.openxmlformats.org/officeDocument/2006/relationships/tags" Target="../tags/tag356.xml"/><Relationship Id="rId18" Type="http://schemas.openxmlformats.org/officeDocument/2006/relationships/tags" Target="../tags/tag355.xml"/><Relationship Id="rId17" Type="http://schemas.openxmlformats.org/officeDocument/2006/relationships/tags" Target="../tags/tag354.xml"/><Relationship Id="rId16" Type="http://schemas.openxmlformats.org/officeDocument/2006/relationships/tags" Target="../tags/tag353.xml"/><Relationship Id="rId15" Type="http://schemas.openxmlformats.org/officeDocument/2006/relationships/tags" Target="../tags/tag352.xml"/><Relationship Id="rId14" Type="http://schemas.openxmlformats.org/officeDocument/2006/relationships/tags" Target="../tags/tag351.xml"/><Relationship Id="rId13" Type="http://schemas.openxmlformats.org/officeDocument/2006/relationships/tags" Target="../tags/tag350.xml"/><Relationship Id="rId12" Type="http://schemas.openxmlformats.org/officeDocument/2006/relationships/tags" Target="../tags/tag349.xml"/><Relationship Id="rId11" Type="http://schemas.openxmlformats.org/officeDocument/2006/relationships/tags" Target="../tags/tag348.xml"/><Relationship Id="rId10" Type="http://schemas.openxmlformats.org/officeDocument/2006/relationships/tags" Target="../tags/tag347.xml"/><Relationship Id="rId1" Type="http://schemas.openxmlformats.org/officeDocument/2006/relationships/tags" Target="../tags/tag338.xml"/></Relationships>
</file>

<file path=ppt/slides/_rels/slide25.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8" Type="http://schemas.openxmlformats.org/officeDocument/2006/relationships/notesSlide" Target="../notesSlides/notesSlide24.xml"/><Relationship Id="rId27" Type="http://schemas.openxmlformats.org/officeDocument/2006/relationships/slideLayout" Target="../slideLayouts/slideLayout1.xml"/><Relationship Id="rId26" Type="http://schemas.openxmlformats.org/officeDocument/2006/relationships/image" Target="../media/image37.png"/><Relationship Id="rId25" Type="http://schemas.openxmlformats.org/officeDocument/2006/relationships/image" Target="../media/image36.png"/><Relationship Id="rId24" Type="http://schemas.openxmlformats.org/officeDocument/2006/relationships/tags" Target="../tags/tag382.xml"/><Relationship Id="rId23" Type="http://schemas.openxmlformats.org/officeDocument/2006/relationships/tags" Target="../tags/tag381.xml"/><Relationship Id="rId22" Type="http://schemas.openxmlformats.org/officeDocument/2006/relationships/image" Target="../media/image35.png"/><Relationship Id="rId21" Type="http://schemas.openxmlformats.org/officeDocument/2006/relationships/tags" Target="../tags/tag380.xml"/><Relationship Id="rId20" Type="http://schemas.openxmlformats.org/officeDocument/2006/relationships/tags" Target="../tags/tag379.xml"/><Relationship Id="rId2" Type="http://schemas.openxmlformats.org/officeDocument/2006/relationships/tags" Target="../tags/tag361.xml"/><Relationship Id="rId19" Type="http://schemas.openxmlformats.org/officeDocument/2006/relationships/tags" Target="../tags/tag378.xml"/><Relationship Id="rId18" Type="http://schemas.openxmlformats.org/officeDocument/2006/relationships/tags" Target="../tags/tag377.xml"/><Relationship Id="rId17" Type="http://schemas.openxmlformats.org/officeDocument/2006/relationships/tags" Target="../tags/tag376.xml"/><Relationship Id="rId16" Type="http://schemas.openxmlformats.org/officeDocument/2006/relationships/tags" Target="../tags/tag375.xml"/><Relationship Id="rId15" Type="http://schemas.openxmlformats.org/officeDocument/2006/relationships/tags" Target="../tags/tag374.xml"/><Relationship Id="rId14" Type="http://schemas.openxmlformats.org/officeDocument/2006/relationships/tags" Target="../tags/tag373.xml"/><Relationship Id="rId13" Type="http://schemas.openxmlformats.org/officeDocument/2006/relationships/tags" Target="../tags/tag372.xml"/><Relationship Id="rId12" Type="http://schemas.openxmlformats.org/officeDocument/2006/relationships/tags" Target="../tags/tag371.xml"/><Relationship Id="rId11" Type="http://schemas.openxmlformats.org/officeDocument/2006/relationships/tags" Target="../tags/tag370.xml"/><Relationship Id="rId10" Type="http://schemas.openxmlformats.org/officeDocument/2006/relationships/tags" Target="../tags/tag369.xml"/><Relationship Id="rId1" Type="http://schemas.openxmlformats.org/officeDocument/2006/relationships/tags" Target="../tags/tag360.xml"/></Relationships>
</file>

<file path=ppt/slides/_rels/slide26.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tags" Target="../tags/tag390.xml"/><Relationship Id="rId7" Type="http://schemas.openxmlformats.org/officeDocument/2006/relationships/tags" Target="../tags/tag389.xml"/><Relationship Id="rId6" Type="http://schemas.openxmlformats.org/officeDocument/2006/relationships/tags" Target="../tags/tag388.xml"/><Relationship Id="rId5" Type="http://schemas.openxmlformats.org/officeDocument/2006/relationships/tags" Target="../tags/tag387.xml"/><Relationship Id="rId4" Type="http://schemas.openxmlformats.org/officeDocument/2006/relationships/tags" Target="../tags/tag386.xml"/><Relationship Id="rId3" Type="http://schemas.openxmlformats.org/officeDocument/2006/relationships/tags" Target="../tags/tag385.xml"/><Relationship Id="rId24" Type="http://schemas.openxmlformats.org/officeDocument/2006/relationships/notesSlide" Target="../notesSlides/notesSlide25.xml"/><Relationship Id="rId23" Type="http://schemas.openxmlformats.org/officeDocument/2006/relationships/slideLayout" Target="../slideLayouts/slideLayout1.xml"/><Relationship Id="rId22" Type="http://schemas.openxmlformats.org/officeDocument/2006/relationships/tags" Target="../tags/tag404.xml"/><Relationship Id="rId21" Type="http://schemas.openxmlformats.org/officeDocument/2006/relationships/tags" Target="../tags/tag403.xml"/><Relationship Id="rId20" Type="http://schemas.openxmlformats.org/officeDocument/2006/relationships/tags" Target="../tags/tag402.xml"/><Relationship Id="rId2" Type="http://schemas.openxmlformats.org/officeDocument/2006/relationships/tags" Target="../tags/tag384.xml"/><Relationship Id="rId19" Type="http://schemas.openxmlformats.org/officeDocument/2006/relationships/tags" Target="../tags/tag401.xml"/><Relationship Id="rId18" Type="http://schemas.openxmlformats.org/officeDocument/2006/relationships/tags" Target="../tags/tag400.xml"/><Relationship Id="rId17" Type="http://schemas.openxmlformats.org/officeDocument/2006/relationships/tags" Target="../tags/tag399.xml"/><Relationship Id="rId16" Type="http://schemas.openxmlformats.org/officeDocument/2006/relationships/tags" Target="../tags/tag398.xml"/><Relationship Id="rId15" Type="http://schemas.openxmlformats.org/officeDocument/2006/relationships/tags" Target="../tags/tag397.xml"/><Relationship Id="rId14" Type="http://schemas.openxmlformats.org/officeDocument/2006/relationships/tags" Target="../tags/tag396.xml"/><Relationship Id="rId13" Type="http://schemas.openxmlformats.org/officeDocument/2006/relationships/tags" Target="../tags/tag395.xml"/><Relationship Id="rId12" Type="http://schemas.openxmlformats.org/officeDocument/2006/relationships/tags" Target="../tags/tag394.xml"/><Relationship Id="rId11" Type="http://schemas.openxmlformats.org/officeDocument/2006/relationships/tags" Target="../tags/tag393.xml"/><Relationship Id="rId10" Type="http://schemas.openxmlformats.org/officeDocument/2006/relationships/tags" Target="../tags/tag392.xml"/><Relationship Id="rId1" Type="http://schemas.openxmlformats.org/officeDocument/2006/relationships/tags" Target="../tags/tag383.xml"/></Relationships>
</file>

<file path=ppt/slides/_rels/slide27.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4" Type="http://schemas.openxmlformats.org/officeDocument/2006/relationships/notesSlide" Target="../notesSlides/notesSlide26.xml"/><Relationship Id="rId33" Type="http://schemas.openxmlformats.org/officeDocument/2006/relationships/slideLayout" Target="../slideLayouts/slideLayout1.xml"/><Relationship Id="rId32" Type="http://schemas.openxmlformats.org/officeDocument/2006/relationships/image" Target="../media/image52.png"/><Relationship Id="rId31" Type="http://schemas.openxmlformats.org/officeDocument/2006/relationships/tags" Target="../tags/tag421.xml"/><Relationship Id="rId30" Type="http://schemas.openxmlformats.org/officeDocument/2006/relationships/image" Target="../media/image51.png"/><Relationship Id="rId3" Type="http://schemas.openxmlformats.org/officeDocument/2006/relationships/image" Target="../media/image40.png"/><Relationship Id="rId29" Type="http://schemas.openxmlformats.org/officeDocument/2006/relationships/tags" Target="../tags/tag420.xml"/><Relationship Id="rId28" Type="http://schemas.openxmlformats.org/officeDocument/2006/relationships/tags" Target="../tags/tag419.xml"/><Relationship Id="rId27" Type="http://schemas.openxmlformats.org/officeDocument/2006/relationships/tags" Target="../tags/tag418.xml"/><Relationship Id="rId26" Type="http://schemas.openxmlformats.org/officeDocument/2006/relationships/image" Target="../media/image50.png"/><Relationship Id="rId25" Type="http://schemas.openxmlformats.org/officeDocument/2006/relationships/tags" Target="../tags/tag417.xml"/><Relationship Id="rId24" Type="http://schemas.openxmlformats.org/officeDocument/2006/relationships/tags" Target="../tags/tag416.xml"/><Relationship Id="rId23" Type="http://schemas.openxmlformats.org/officeDocument/2006/relationships/tags" Target="../tags/tag415.xml"/><Relationship Id="rId22" Type="http://schemas.openxmlformats.org/officeDocument/2006/relationships/tags" Target="../tags/tag414.xml"/><Relationship Id="rId21" Type="http://schemas.openxmlformats.org/officeDocument/2006/relationships/tags" Target="../tags/tag413.xml"/><Relationship Id="rId20" Type="http://schemas.openxmlformats.org/officeDocument/2006/relationships/image" Target="../media/image49.png"/><Relationship Id="rId2" Type="http://schemas.openxmlformats.org/officeDocument/2006/relationships/image" Target="../media/image39.svg"/><Relationship Id="rId19" Type="http://schemas.openxmlformats.org/officeDocument/2006/relationships/tags" Target="../tags/tag412.xml"/><Relationship Id="rId18" Type="http://schemas.openxmlformats.org/officeDocument/2006/relationships/image" Target="../media/image48.png"/><Relationship Id="rId17" Type="http://schemas.openxmlformats.org/officeDocument/2006/relationships/tags" Target="../tags/tag411.xml"/><Relationship Id="rId16" Type="http://schemas.openxmlformats.org/officeDocument/2006/relationships/tags" Target="../tags/tag410.xml"/><Relationship Id="rId15" Type="http://schemas.openxmlformats.org/officeDocument/2006/relationships/tags" Target="../tags/tag409.xml"/><Relationship Id="rId14" Type="http://schemas.openxmlformats.org/officeDocument/2006/relationships/tags" Target="../tags/tag408.xml"/><Relationship Id="rId13" Type="http://schemas.openxmlformats.org/officeDocument/2006/relationships/tags" Target="../tags/tag407.xml"/><Relationship Id="rId12" Type="http://schemas.openxmlformats.org/officeDocument/2006/relationships/tags" Target="../tags/tag406.xml"/><Relationship Id="rId11" Type="http://schemas.openxmlformats.org/officeDocument/2006/relationships/tags" Target="../tags/tag405.xml"/><Relationship Id="rId10" Type="http://schemas.openxmlformats.org/officeDocument/2006/relationships/image" Target="../media/image47.svg"/><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422.xml"/></Relationships>
</file>

<file path=ppt/slides/_rels/slide30.xml.rels><?xml version="1.0" encoding="UTF-8" standalone="yes"?>
<Relationships xmlns="http://schemas.openxmlformats.org/package/2006/relationships"><Relationship Id="rId9" Type="http://schemas.openxmlformats.org/officeDocument/2006/relationships/tags" Target="../tags/tag431.xml"/><Relationship Id="rId8" Type="http://schemas.openxmlformats.org/officeDocument/2006/relationships/tags" Target="../tags/tag430.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4" Type="http://schemas.openxmlformats.org/officeDocument/2006/relationships/notesSlide" Target="../notesSlides/notesSlide29.xml"/><Relationship Id="rId13" Type="http://schemas.openxmlformats.org/officeDocument/2006/relationships/slideLayout" Target="../slideLayouts/slideLayout1.xml"/><Relationship Id="rId12" Type="http://schemas.openxmlformats.org/officeDocument/2006/relationships/tags" Target="../tags/tag434.xml"/><Relationship Id="rId11" Type="http://schemas.openxmlformats.org/officeDocument/2006/relationships/tags" Target="../tags/tag433.xml"/><Relationship Id="rId10" Type="http://schemas.openxmlformats.org/officeDocument/2006/relationships/tags" Target="../tags/tag432.xml"/><Relationship Id="rId1" Type="http://schemas.openxmlformats.org/officeDocument/2006/relationships/tags" Target="../tags/tag4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31.xml"/><Relationship Id="rId8" Type="http://schemas.openxmlformats.org/officeDocument/2006/relationships/slideLayout" Target="../slideLayouts/slideLayout1.xml"/><Relationship Id="rId7" Type="http://schemas.openxmlformats.org/officeDocument/2006/relationships/tags" Target="../tags/tag441.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 Id="rId3" Type="http://schemas.openxmlformats.org/officeDocument/2006/relationships/tags" Target="../tags/tag437.xml"/><Relationship Id="rId2" Type="http://schemas.openxmlformats.org/officeDocument/2006/relationships/tags" Target="../tags/tag436.xml"/><Relationship Id="rId1" Type="http://schemas.openxmlformats.org/officeDocument/2006/relationships/tags" Target="../tags/tag435.xml"/></Relationships>
</file>

<file path=ppt/slides/_rels/slide33.xml.rels><?xml version="1.0" encoding="UTF-8" standalone="yes"?>
<Relationships xmlns="http://schemas.openxmlformats.org/package/2006/relationships"><Relationship Id="rId9" Type="http://schemas.openxmlformats.org/officeDocument/2006/relationships/tags" Target="../tags/tag450.xml"/><Relationship Id="rId8" Type="http://schemas.openxmlformats.org/officeDocument/2006/relationships/tags" Target="../tags/tag449.xml"/><Relationship Id="rId7" Type="http://schemas.openxmlformats.org/officeDocument/2006/relationships/tags" Target="../tags/tag448.xml"/><Relationship Id="rId6" Type="http://schemas.openxmlformats.org/officeDocument/2006/relationships/tags" Target="../tags/tag447.xml"/><Relationship Id="rId5" Type="http://schemas.openxmlformats.org/officeDocument/2006/relationships/tags" Target="../tags/tag446.xml"/><Relationship Id="rId4" Type="http://schemas.openxmlformats.org/officeDocument/2006/relationships/tags" Target="../tags/tag445.xml"/><Relationship Id="rId3" Type="http://schemas.openxmlformats.org/officeDocument/2006/relationships/tags" Target="../tags/tag444.xml"/><Relationship Id="rId24" Type="http://schemas.openxmlformats.org/officeDocument/2006/relationships/notesSlide" Target="../notesSlides/notesSlide32.xml"/><Relationship Id="rId23" Type="http://schemas.openxmlformats.org/officeDocument/2006/relationships/slideLayout" Target="../slideLayouts/slideLayout1.xml"/><Relationship Id="rId22" Type="http://schemas.openxmlformats.org/officeDocument/2006/relationships/tags" Target="../tags/tag463.xml"/><Relationship Id="rId21" Type="http://schemas.openxmlformats.org/officeDocument/2006/relationships/tags" Target="../tags/tag462.xml"/><Relationship Id="rId20" Type="http://schemas.openxmlformats.org/officeDocument/2006/relationships/tags" Target="../tags/tag461.xml"/><Relationship Id="rId2" Type="http://schemas.openxmlformats.org/officeDocument/2006/relationships/tags" Target="../tags/tag443.xml"/><Relationship Id="rId19" Type="http://schemas.openxmlformats.org/officeDocument/2006/relationships/tags" Target="../tags/tag460.xml"/><Relationship Id="rId18" Type="http://schemas.openxmlformats.org/officeDocument/2006/relationships/tags" Target="../tags/tag459.xml"/><Relationship Id="rId17" Type="http://schemas.openxmlformats.org/officeDocument/2006/relationships/tags" Target="../tags/tag458.xml"/><Relationship Id="rId16" Type="http://schemas.openxmlformats.org/officeDocument/2006/relationships/tags" Target="../tags/tag457.xml"/><Relationship Id="rId15" Type="http://schemas.openxmlformats.org/officeDocument/2006/relationships/tags" Target="../tags/tag456.xml"/><Relationship Id="rId14" Type="http://schemas.openxmlformats.org/officeDocument/2006/relationships/tags" Target="../tags/tag455.xml"/><Relationship Id="rId13" Type="http://schemas.openxmlformats.org/officeDocument/2006/relationships/tags" Target="../tags/tag454.xml"/><Relationship Id="rId12" Type="http://schemas.openxmlformats.org/officeDocument/2006/relationships/tags" Target="../tags/tag453.xml"/><Relationship Id="rId11" Type="http://schemas.openxmlformats.org/officeDocument/2006/relationships/tags" Target="../tags/tag452.xml"/><Relationship Id="rId10" Type="http://schemas.openxmlformats.org/officeDocument/2006/relationships/tags" Target="../tags/tag451.xml"/><Relationship Id="rId1" Type="http://schemas.openxmlformats.org/officeDocument/2006/relationships/tags" Target="../tags/tag442.xml"/></Relationships>
</file>

<file path=ppt/slides/_rels/slide34.xml.rels><?xml version="1.0" encoding="UTF-8" standalone="yes"?>
<Relationships xmlns="http://schemas.openxmlformats.org/package/2006/relationships"><Relationship Id="rId9" Type="http://schemas.openxmlformats.org/officeDocument/2006/relationships/tags" Target="../tags/tag466.xml"/><Relationship Id="rId8" Type="http://schemas.openxmlformats.org/officeDocument/2006/relationships/tags" Target="../tags/tag465.xml"/><Relationship Id="rId7" Type="http://schemas.openxmlformats.org/officeDocument/2006/relationships/tags" Target="../tags/tag464.xml"/><Relationship Id="rId6" Type="http://schemas.openxmlformats.org/officeDocument/2006/relationships/image" Target="../media/image56.svg"/><Relationship Id="rId51" Type="http://schemas.openxmlformats.org/officeDocument/2006/relationships/notesSlide" Target="../notesSlides/notesSlide33.xml"/><Relationship Id="rId50" Type="http://schemas.openxmlformats.org/officeDocument/2006/relationships/slideLayout" Target="../slideLayouts/slideLayout1.xml"/><Relationship Id="rId5" Type="http://schemas.openxmlformats.org/officeDocument/2006/relationships/image" Target="../media/image55.png"/><Relationship Id="rId49" Type="http://schemas.openxmlformats.org/officeDocument/2006/relationships/tags" Target="../tags/tag501.xml"/><Relationship Id="rId48" Type="http://schemas.openxmlformats.org/officeDocument/2006/relationships/tags" Target="../tags/tag500.xml"/><Relationship Id="rId47" Type="http://schemas.openxmlformats.org/officeDocument/2006/relationships/tags" Target="../tags/tag499.xml"/><Relationship Id="rId46" Type="http://schemas.openxmlformats.org/officeDocument/2006/relationships/tags" Target="../tags/tag498.xml"/><Relationship Id="rId45" Type="http://schemas.openxmlformats.org/officeDocument/2006/relationships/tags" Target="../tags/tag497.xml"/><Relationship Id="rId44" Type="http://schemas.openxmlformats.org/officeDocument/2006/relationships/tags" Target="../tags/tag496.xml"/><Relationship Id="rId43" Type="http://schemas.openxmlformats.org/officeDocument/2006/relationships/tags" Target="../tags/tag495.xml"/><Relationship Id="rId42" Type="http://schemas.openxmlformats.org/officeDocument/2006/relationships/tags" Target="../tags/tag494.xml"/><Relationship Id="rId41" Type="http://schemas.openxmlformats.org/officeDocument/2006/relationships/tags" Target="../tags/tag493.xml"/><Relationship Id="rId40" Type="http://schemas.openxmlformats.org/officeDocument/2006/relationships/tags" Target="../tags/tag492.xml"/><Relationship Id="rId4" Type="http://schemas.openxmlformats.org/officeDocument/2006/relationships/image" Target="../media/image54.svg"/><Relationship Id="rId39" Type="http://schemas.openxmlformats.org/officeDocument/2006/relationships/tags" Target="../tags/tag491.xml"/><Relationship Id="rId38" Type="http://schemas.openxmlformats.org/officeDocument/2006/relationships/tags" Target="../tags/tag490.xml"/><Relationship Id="rId37" Type="http://schemas.openxmlformats.org/officeDocument/2006/relationships/tags" Target="../tags/tag489.xml"/><Relationship Id="rId36" Type="http://schemas.openxmlformats.org/officeDocument/2006/relationships/tags" Target="../tags/tag488.xml"/><Relationship Id="rId35" Type="http://schemas.openxmlformats.org/officeDocument/2006/relationships/tags" Target="../tags/tag487.xml"/><Relationship Id="rId34" Type="http://schemas.openxmlformats.org/officeDocument/2006/relationships/image" Target="../media/image59.svg"/><Relationship Id="rId33" Type="http://schemas.openxmlformats.org/officeDocument/2006/relationships/image" Target="../media/image38.png"/><Relationship Id="rId32" Type="http://schemas.openxmlformats.org/officeDocument/2006/relationships/tags" Target="../tags/tag486.xml"/><Relationship Id="rId31" Type="http://schemas.openxmlformats.org/officeDocument/2006/relationships/tags" Target="../tags/tag485.xml"/><Relationship Id="rId30" Type="http://schemas.openxmlformats.org/officeDocument/2006/relationships/tags" Target="../tags/tag484.xml"/><Relationship Id="rId3" Type="http://schemas.openxmlformats.org/officeDocument/2006/relationships/image" Target="../media/image44.png"/><Relationship Id="rId29" Type="http://schemas.openxmlformats.org/officeDocument/2006/relationships/tags" Target="../tags/tag483.xml"/><Relationship Id="rId28" Type="http://schemas.openxmlformats.org/officeDocument/2006/relationships/image" Target="../media/image58.svg"/><Relationship Id="rId27" Type="http://schemas.openxmlformats.org/officeDocument/2006/relationships/image" Target="../media/image40.png"/><Relationship Id="rId26" Type="http://schemas.openxmlformats.org/officeDocument/2006/relationships/tags" Target="../tags/tag482.xml"/><Relationship Id="rId25" Type="http://schemas.openxmlformats.org/officeDocument/2006/relationships/tags" Target="../tags/tag481.xml"/><Relationship Id="rId24" Type="http://schemas.openxmlformats.org/officeDocument/2006/relationships/tags" Target="../tags/tag480.xml"/><Relationship Id="rId23" Type="http://schemas.openxmlformats.org/officeDocument/2006/relationships/tags" Target="../tags/tag479.xml"/><Relationship Id="rId22" Type="http://schemas.openxmlformats.org/officeDocument/2006/relationships/tags" Target="../tags/tag478.xml"/><Relationship Id="rId21" Type="http://schemas.openxmlformats.org/officeDocument/2006/relationships/tags" Target="../tags/tag477.xml"/><Relationship Id="rId20" Type="http://schemas.openxmlformats.org/officeDocument/2006/relationships/tags" Target="../tags/tag476.xml"/><Relationship Id="rId2" Type="http://schemas.openxmlformats.org/officeDocument/2006/relationships/image" Target="../media/image53.svg"/><Relationship Id="rId19" Type="http://schemas.openxmlformats.org/officeDocument/2006/relationships/tags" Target="../tags/tag475.xml"/><Relationship Id="rId18" Type="http://schemas.openxmlformats.org/officeDocument/2006/relationships/tags" Target="../tags/tag474.xml"/><Relationship Id="rId17" Type="http://schemas.openxmlformats.org/officeDocument/2006/relationships/tags" Target="../tags/tag473.xml"/><Relationship Id="rId16" Type="http://schemas.openxmlformats.org/officeDocument/2006/relationships/tags" Target="../tags/tag472.xml"/><Relationship Id="rId15" Type="http://schemas.openxmlformats.org/officeDocument/2006/relationships/tags" Target="../tags/tag471.xml"/><Relationship Id="rId14" Type="http://schemas.openxmlformats.org/officeDocument/2006/relationships/image" Target="../media/image57.png"/><Relationship Id="rId13" Type="http://schemas.openxmlformats.org/officeDocument/2006/relationships/tags" Target="../tags/tag470.xml"/><Relationship Id="rId12" Type="http://schemas.openxmlformats.org/officeDocument/2006/relationships/tags" Target="../tags/tag469.xml"/><Relationship Id="rId11" Type="http://schemas.openxmlformats.org/officeDocument/2006/relationships/tags" Target="../tags/tag468.xml"/><Relationship Id="rId10" Type="http://schemas.openxmlformats.org/officeDocument/2006/relationships/tags" Target="../tags/tag467.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9" Type="http://schemas.openxmlformats.org/officeDocument/2006/relationships/tags" Target="../tags/tag506.xml"/><Relationship Id="rId8" Type="http://schemas.openxmlformats.org/officeDocument/2006/relationships/tags" Target="../tags/tag505.xml"/><Relationship Id="rId7" Type="http://schemas.openxmlformats.org/officeDocument/2006/relationships/tags" Target="../tags/tag504.xml"/><Relationship Id="rId6" Type="http://schemas.openxmlformats.org/officeDocument/2006/relationships/tags" Target="../tags/tag503.xml"/><Relationship Id="rId5" Type="http://schemas.openxmlformats.org/officeDocument/2006/relationships/tags" Target="../tags/tag502.xml"/><Relationship Id="rId4" Type="http://schemas.openxmlformats.org/officeDocument/2006/relationships/image" Target="../media/image54.svg"/><Relationship Id="rId36" Type="http://schemas.openxmlformats.org/officeDocument/2006/relationships/notesSlide" Target="../notesSlides/notesSlide34.xml"/><Relationship Id="rId35" Type="http://schemas.openxmlformats.org/officeDocument/2006/relationships/slideLayout" Target="../slideLayouts/slideLayout1.xml"/><Relationship Id="rId34" Type="http://schemas.openxmlformats.org/officeDocument/2006/relationships/tags" Target="../tags/tag528.xml"/><Relationship Id="rId33" Type="http://schemas.openxmlformats.org/officeDocument/2006/relationships/tags" Target="../tags/tag527.xml"/><Relationship Id="rId32" Type="http://schemas.openxmlformats.org/officeDocument/2006/relationships/tags" Target="../tags/tag526.xml"/><Relationship Id="rId31" Type="http://schemas.openxmlformats.org/officeDocument/2006/relationships/tags" Target="../tags/tag525.xml"/><Relationship Id="rId30" Type="http://schemas.openxmlformats.org/officeDocument/2006/relationships/tags" Target="../tags/tag524.xml"/><Relationship Id="rId3" Type="http://schemas.openxmlformats.org/officeDocument/2006/relationships/image" Target="../media/image44.png"/><Relationship Id="rId29" Type="http://schemas.openxmlformats.org/officeDocument/2006/relationships/tags" Target="../tags/tag523.xml"/><Relationship Id="rId28" Type="http://schemas.openxmlformats.org/officeDocument/2006/relationships/tags" Target="../tags/tag522.xml"/><Relationship Id="rId27" Type="http://schemas.openxmlformats.org/officeDocument/2006/relationships/tags" Target="../tags/tag521.xml"/><Relationship Id="rId26" Type="http://schemas.openxmlformats.org/officeDocument/2006/relationships/tags" Target="../tags/tag520.xml"/><Relationship Id="rId25" Type="http://schemas.openxmlformats.org/officeDocument/2006/relationships/image" Target="../media/image58.svg"/><Relationship Id="rId24" Type="http://schemas.openxmlformats.org/officeDocument/2006/relationships/image" Target="../media/image40.png"/><Relationship Id="rId23" Type="http://schemas.openxmlformats.org/officeDocument/2006/relationships/tags" Target="../tags/tag519.xml"/><Relationship Id="rId22" Type="http://schemas.openxmlformats.org/officeDocument/2006/relationships/tags" Target="../tags/tag518.xml"/><Relationship Id="rId21" Type="http://schemas.openxmlformats.org/officeDocument/2006/relationships/tags" Target="../tags/tag517.xml"/><Relationship Id="rId20" Type="http://schemas.openxmlformats.org/officeDocument/2006/relationships/tags" Target="../tags/tag516.xml"/><Relationship Id="rId2" Type="http://schemas.openxmlformats.org/officeDocument/2006/relationships/image" Target="../media/image53.svg"/><Relationship Id="rId19" Type="http://schemas.openxmlformats.org/officeDocument/2006/relationships/tags" Target="../tags/tag515.xml"/><Relationship Id="rId18" Type="http://schemas.openxmlformats.org/officeDocument/2006/relationships/tags" Target="../tags/tag514.xml"/><Relationship Id="rId17" Type="http://schemas.openxmlformats.org/officeDocument/2006/relationships/tags" Target="../tags/tag513.xml"/><Relationship Id="rId16" Type="http://schemas.openxmlformats.org/officeDocument/2006/relationships/tags" Target="../tags/tag512.xml"/><Relationship Id="rId15" Type="http://schemas.openxmlformats.org/officeDocument/2006/relationships/tags" Target="../tags/tag511.xml"/><Relationship Id="rId14" Type="http://schemas.openxmlformats.org/officeDocument/2006/relationships/tags" Target="../tags/tag510.xml"/><Relationship Id="rId13" Type="http://schemas.openxmlformats.org/officeDocument/2006/relationships/tags" Target="../tags/tag509.xml"/><Relationship Id="rId12" Type="http://schemas.openxmlformats.org/officeDocument/2006/relationships/image" Target="../media/image57.png"/><Relationship Id="rId11" Type="http://schemas.openxmlformats.org/officeDocument/2006/relationships/tags" Target="../tags/tag508.xml"/><Relationship Id="rId10" Type="http://schemas.openxmlformats.org/officeDocument/2006/relationships/tags" Target="../tags/tag507.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529.xml"/></Relationships>
</file>

<file path=ppt/slides/_rels/slide37.xml.rels><?xml version="1.0" encoding="UTF-8" standalone="yes"?>
<Relationships xmlns="http://schemas.openxmlformats.org/package/2006/relationships"><Relationship Id="rId9" Type="http://schemas.openxmlformats.org/officeDocument/2006/relationships/tags" Target="../tags/tag538.xml"/><Relationship Id="rId8" Type="http://schemas.openxmlformats.org/officeDocument/2006/relationships/tags" Target="../tags/tag537.xml"/><Relationship Id="rId7" Type="http://schemas.openxmlformats.org/officeDocument/2006/relationships/tags" Target="../tags/tag536.xml"/><Relationship Id="rId6" Type="http://schemas.openxmlformats.org/officeDocument/2006/relationships/tags" Target="../tags/tag535.xml"/><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 Type="http://schemas.openxmlformats.org/officeDocument/2006/relationships/tags" Target="../tags/tag531.xml"/><Relationship Id="rId18" Type="http://schemas.openxmlformats.org/officeDocument/2006/relationships/notesSlide" Target="../notesSlides/notesSlide36.xml"/><Relationship Id="rId17" Type="http://schemas.openxmlformats.org/officeDocument/2006/relationships/slideLayout" Target="../slideLayouts/slideLayout1.xml"/><Relationship Id="rId16" Type="http://schemas.openxmlformats.org/officeDocument/2006/relationships/image" Target="../media/image60.png"/><Relationship Id="rId15" Type="http://schemas.openxmlformats.org/officeDocument/2006/relationships/tags" Target="../tags/tag544.xml"/><Relationship Id="rId14" Type="http://schemas.openxmlformats.org/officeDocument/2006/relationships/tags" Target="../tags/tag543.xml"/><Relationship Id="rId13" Type="http://schemas.openxmlformats.org/officeDocument/2006/relationships/tags" Target="../tags/tag542.xml"/><Relationship Id="rId12" Type="http://schemas.openxmlformats.org/officeDocument/2006/relationships/tags" Target="../tags/tag541.xml"/><Relationship Id="rId11" Type="http://schemas.openxmlformats.org/officeDocument/2006/relationships/tags" Target="../tags/tag540.xml"/><Relationship Id="rId10" Type="http://schemas.openxmlformats.org/officeDocument/2006/relationships/tags" Target="../tags/tag539.xml"/><Relationship Id="rId1" Type="http://schemas.openxmlformats.org/officeDocument/2006/relationships/tags" Target="../tags/tag530.xml"/></Relationships>
</file>

<file path=ppt/slides/_rels/slide38.xml.rels><?xml version="1.0" encoding="UTF-8" standalone="yes"?>
<Relationships xmlns="http://schemas.openxmlformats.org/package/2006/relationships"><Relationship Id="rId9" Type="http://schemas.openxmlformats.org/officeDocument/2006/relationships/tags" Target="../tags/tag553.xml"/><Relationship Id="rId8" Type="http://schemas.openxmlformats.org/officeDocument/2006/relationships/tags" Target="../tags/tag552.xml"/><Relationship Id="rId7" Type="http://schemas.openxmlformats.org/officeDocument/2006/relationships/tags" Target="../tags/tag551.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1" Type="http://schemas.openxmlformats.org/officeDocument/2006/relationships/notesSlide" Target="../notesSlides/notesSlide37.xml"/><Relationship Id="rId10" Type="http://schemas.openxmlformats.org/officeDocument/2006/relationships/slideLayout" Target="../slideLayouts/slideLayout1.xml"/><Relationship Id="rId1" Type="http://schemas.openxmlformats.org/officeDocument/2006/relationships/tags" Target="../tags/tag545.xml"/></Relationships>
</file>

<file path=ppt/slides/_rels/slide39.xml.rels><?xml version="1.0" encoding="UTF-8" standalone="yes"?>
<Relationships xmlns="http://schemas.openxmlformats.org/package/2006/relationships"><Relationship Id="rId9" Type="http://schemas.openxmlformats.org/officeDocument/2006/relationships/tags" Target="../tags/tag562.xml"/><Relationship Id="rId8" Type="http://schemas.openxmlformats.org/officeDocument/2006/relationships/tags" Target="../tags/tag561.xml"/><Relationship Id="rId7" Type="http://schemas.openxmlformats.org/officeDocument/2006/relationships/tags" Target="../tags/tag560.xml"/><Relationship Id="rId6" Type="http://schemas.openxmlformats.org/officeDocument/2006/relationships/tags" Target="../tags/tag559.xml"/><Relationship Id="rId5" Type="http://schemas.openxmlformats.org/officeDocument/2006/relationships/tags" Target="../tags/tag558.xml"/><Relationship Id="rId4" Type="http://schemas.openxmlformats.org/officeDocument/2006/relationships/tags" Target="../tags/tag557.xml"/><Relationship Id="rId3" Type="http://schemas.openxmlformats.org/officeDocument/2006/relationships/tags" Target="../tags/tag556.xml"/><Relationship Id="rId2" Type="http://schemas.openxmlformats.org/officeDocument/2006/relationships/tags" Target="../tags/tag555.xml"/><Relationship Id="rId11" Type="http://schemas.openxmlformats.org/officeDocument/2006/relationships/notesSlide" Target="../notesSlides/notesSlide38.xml"/><Relationship Id="rId10" Type="http://schemas.openxmlformats.org/officeDocument/2006/relationships/slideLayout" Target="../slideLayouts/slideLayout1.xml"/><Relationship Id="rId1" Type="http://schemas.openxmlformats.org/officeDocument/2006/relationships/tags" Target="../tags/tag554.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1.xml"/><Relationship Id="rId5" Type="http://schemas.openxmlformats.org/officeDocument/2006/relationships/tags" Target="../tags/tag567.xml"/><Relationship Id="rId4" Type="http://schemas.openxmlformats.org/officeDocument/2006/relationships/tags" Target="../tags/tag566.xml"/><Relationship Id="rId3" Type="http://schemas.openxmlformats.org/officeDocument/2006/relationships/tags" Target="../tags/tag565.xml"/><Relationship Id="rId2" Type="http://schemas.openxmlformats.org/officeDocument/2006/relationships/tags" Target="../tags/tag564.xml"/><Relationship Id="rId1" Type="http://schemas.openxmlformats.org/officeDocument/2006/relationships/tags" Target="../tags/tag563.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62.png"/><Relationship Id="rId1" Type="http://schemas.openxmlformats.org/officeDocument/2006/relationships/image" Target="../media/image61.png"/></Relationships>
</file>

<file path=ppt/slides/_rels/slide42.xml.rels><?xml version="1.0" encoding="UTF-8" standalone="yes"?>
<Relationships xmlns="http://schemas.openxmlformats.org/package/2006/relationships"><Relationship Id="rId9" Type="http://schemas.openxmlformats.org/officeDocument/2006/relationships/tags" Target="../tags/tag576.xml"/><Relationship Id="rId8" Type="http://schemas.openxmlformats.org/officeDocument/2006/relationships/tags" Target="../tags/tag575.xml"/><Relationship Id="rId7" Type="http://schemas.openxmlformats.org/officeDocument/2006/relationships/tags" Target="../tags/tag574.xml"/><Relationship Id="rId6" Type="http://schemas.openxmlformats.org/officeDocument/2006/relationships/tags" Target="../tags/tag573.xml"/><Relationship Id="rId5" Type="http://schemas.openxmlformats.org/officeDocument/2006/relationships/tags" Target="../tags/tag572.xml"/><Relationship Id="rId4" Type="http://schemas.openxmlformats.org/officeDocument/2006/relationships/tags" Target="../tags/tag571.xml"/><Relationship Id="rId3" Type="http://schemas.openxmlformats.org/officeDocument/2006/relationships/tags" Target="../tags/tag570.xml"/><Relationship Id="rId24" Type="http://schemas.openxmlformats.org/officeDocument/2006/relationships/notesSlide" Target="../notesSlides/notesSlide41.xml"/><Relationship Id="rId23" Type="http://schemas.openxmlformats.org/officeDocument/2006/relationships/slideLayout" Target="../slideLayouts/slideLayout1.xml"/><Relationship Id="rId22" Type="http://schemas.openxmlformats.org/officeDocument/2006/relationships/tags" Target="../tags/tag589.xml"/><Relationship Id="rId21" Type="http://schemas.openxmlformats.org/officeDocument/2006/relationships/tags" Target="../tags/tag588.xml"/><Relationship Id="rId20" Type="http://schemas.openxmlformats.org/officeDocument/2006/relationships/tags" Target="../tags/tag587.xml"/><Relationship Id="rId2" Type="http://schemas.openxmlformats.org/officeDocument/2006/relationships/tags" Target="../tags/tag569.xml"/><Relationship Id="rId19" Type="http://schemas.openxmlformats.org/officeDocument/2006/relationships/tags" Target="../tags/tag586.xml"/><Relationship Id="rId18" Type="http://schemas.openxmlformats.org/officeDocument/2006/relationships/tags" Target="../tags/tag585.xml"/><Relationship Id="rId17" Type="http://schemas.openxmlformats.org/officeDocument/2006/relationships/tags" Target="../tags/tag584.xml"/><Relationship Id="rId16" Type="http://schemas.openxmlformats.org/officeDocument/2006/relationships/tags" Target="../tags/tag583.xml"/><Relationship Id="rId15" Type="http://schemas.openxmlformats.org/officeDocument/2006/relationships/tags" Target="../tags/tag582.xml"/><Relationship Id="rId14" Type="http://schemas.openxmlformats.org/officeDocument/2006/relationships/tags" Target="../tags/tag581.xml"/><Relationship Id="rId13" Type="http://schemas.openxmlformats.org/officeDocument/2006/relationships/tags" Target="../tags/tag580.xml"/><Relationship Id="rId12" Type="http://schemas.openxmlformats.org/officeDocument/2006/relationships/tags" Target="../tags/tag579.xml"/><Relationship Id="rId11" Type="http://schemas.openxmlformats.org/officeDocument/2006/relationships/tags" Target="../tags/tag578.xml"/><Relationship Id="rId10" Type="http://schemas.openxmlformats.org/officeDocument/2006/relationships/tags" Target="../tags/tag577.xml"/><Relationship Id="rId1" Type="http://schemas.openxmlformats.org/officeDocument/2006/relationships/tags" Target="../tags/tag568.xml"/></Relationships>
</file>

<file path=ppt/slides/_rels/slide43.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4" Type="http://schemas.openxmlformats.org/officeDocument/2006/relationships/notesSlide" Target="../notesSlides/notesSlide42.xml"/><Relationship Id="rId33" Type="http://schemas.openxmlformats.org/officeDocument/2006/relationships/slideLayout" Target="../slideLayouts/slideLayout1.xml"/><Relationship Id="rId32" Type="http://schemas.openxmlformats.org/officeDocument/2006/relationships/image" Target="../media/image52.png"/><Relationship Id="rId31" Type="http://schemas.openxmlformats.org/officeDocument/2006/relationships/tags" Target="../tags/tag606.xml"/><Relationship Id="rId30" Type="http://schemas.openxmlformats.org/officeDocument/2006/relationships/image" Target="../media/image51.png"/><Relationship Id="rId3" Type="http://schemas.openxmlformats.org/officeDocument/2006/relationships/image" Target="../media/image40.png"/><Relationship Id="rId29" Type="http://schemas.openxmlformats.org/officeDocument/2006/relationships/tags" Target="../tags/tag605.xml"/><Relationship Id="rId28" Type="http://schemas.openxmlformats.org/officeDocument/2006/relationships/tags" Target="../tags/tag604.xml"/><Relationship Id="rId27" Type="http://schemas.openxmlformats.org/officeDocument/2006/relationships/tags" Target="../tags/tag603.xml"/><Relationship Id="rId26" Type="http://schemas.openxmlformats.org/officeDocument/2006/relationships/image" Target="../media/image50.png"/><Relationship Id="rId25" Type="http://schemas.openxmlformats.org/officeDocument/2006/relationships/tags" Target="../tags/tag602.xml"/><Relationship Id="rId24" Type="http://schemas.openxmlformats.org/officeDocument/2006/relationships/tags" Target="../tags/tag601.xml"/><Relationship Id="rId23" Type="http://schemas.openxmlformats.org/officeDocument/2006/relationships/tags" Target="../tags/tag600.xml"/><Relationship Id="rId22" Type="http://schemas.openxmlformats.org/officeDocument/2006/relationships/tags" Target="../tags/tag599.xml"/><Relationship Id="rId21" Type="http://schemas.openxmlformats.org/officeDocument/2006/relationships/tags" Target="../tags/tag598.xml"/><Relationship Id="rId20" Type="http://schemas.openxmlformats.org/officeDocument/2006/relationships/image" Target="../media/image49.png"/><Relationship Id="rId2" Type="http://schemas.openxmlformats.org/officeDocument/2006/relationships/image" Target="../media/image39.svg"/><Relationship Id="rId19" Type="http://schemas.openxmlformats.org/officeDocument/2006/relationships/tags" Target="../tags/tag597.xml"/><Relationship Id="rId18" Type="http://schemas.openxmlformats.org/officeDocument/2006/relationships/image" Target="../media/image48.png"/><Relationship Id="rId17" Type="http://schemas.openxmlformats.org/officeDocument/2006/relationships/tags" Target="../tags/tag596.xml"/><Relationship Id="rId16" Type="http://schemas.openxmlformats.org/officeDocument/2006/relationships/tags" Target="../tags/tag595.xml"/><Relationship Id="rId15" Type="http://schemas.openxmlformats.org/officeDocument/2006/relationships/tags" Target="../tags/tag594.xml"/><Relationship Id="rId14" Type="http://schemas.openxmlformats.org/officeDocument/2006/relationships/tags" Target="../tags/tag593.xml"/><Relationship Id="rId13" Type="http://schemas.openxmlformats.org/officeDocument/2006/relationships/tags" Target="../tags/tag592.xml"/><Relationship Id="rId12" Type="http://schemas.openxmlformats.org/officeDocument/2006/relationships/tags" Target="../tags/tag591.xml"/><Relationship Id="rId11" Type="http://schemas.openxmlformats.org/officeDocument/2006/relationships/tags" Target="../tags/tag590.xml"/><Relationship Id="rId10" Type="http://schemas.openxmlformats.org/officeDocument/2006/relationships/image" Target="../media/image47.svg"/><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607.xml"/></Relationships>
</file>

<file path=ppt/slides/_rels/slide46.xml.rels><?xml version="1.0" encoding="UTF-8" standalone="yes"?>
<Relationships xmlns="http://schemas.openxmlformats.org/package/2006/relationships"><Relationship Id="rId9" Type="http://schemas.openxmlformats.org/officeDocument/2006/relationships/tags" Target="../tags/tag616.xml"/><Relationship Id="rId8" Type="http://schemas.openxmlformats.org/officeDocument/2006/relationships/tags" Target="../tags/tag615.xml"/><Relationship Id="rId7" Type="http://schemas.openxmlformats.org/officeDocument/2006/relationships/tags" Target="../tags/tag614.xml"/><Relationship Id="rId6" Type="http://schemas.openxmlformats.org/officeDocument/2006/relationships/tags" Target="../tags/tag613.xml"/><Relationship Id="rId5" Type="http://schemas.openxmlformats.org/officeDocument/2006/relationships/tags" Target="../tags/tag612.xml"/><Relationship Id="rId4" Type="http://schemas.openxmlformats.org/officeDocument/2006/relationships/tags" Target="../tags/tag611.xml"/><Relationship Id="rId3" Type="http://schemas.openxmlformats.org/officeDocument/2006/relationships/tags" Target="../tags/tag610.xml"/><Relationship Id="rId2" Type="http://schemas.openxmlformats.org/officeDocument/2006/relationships/tags" Target="../tags/tag609.xml"/><Relationship Id="rId14" Type="http://schemas.openxmlformats.org/officeDocument/2006/relationships/notesSlide" Target="../notesSlides/notesSlide45.xml"/><Relationship Id="rId13" Type="http://schemas.openxmlformats.org/officeDocument/2006/relationships/slideLayout" Target="../slideLayouts/slideLayout1.xml"/><Relationship Id="rId12" Type="http://schemas.openxmlformats.org/officeDocument/2006/relationships/tags" Target="../tags/tag619.xml"/><Relationship Id="rId11" Type="http://schemas.openxmlformats.org/officeDocument/2006/relationships/tags" Target="../tags/tag618.xml"/><Relationship Id="rId10" Type="http://schemas.openxmlformats.org/officeDocument/2006/relationships/tags" Target="../tags/tag617.xml"/><Relationship Id="rId1" Type="http://schemas.openxmlformats.org/officeDocument/2006/relationships/tags" Target="../tags/tag60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9" Type="http://schemas.openxmlformats.org/officeDocument/2006/relationships/notesSlide" Target="../notesSlides/notesSlide47.xml"/><Relationship Id="rId8" Type="http://schemas.openxmlformats.org/officeDocument/2006/relationships/slideLayout" Target="../slideLayouts/slideLayout1.xml"/><Relationship Id="rId7" Type="http://schemas.openxmlformats.org/officeDocument/2006/relationships/tags" Target="../tags/tag626.xml"/><Relationship Id="rId6" Type="http://schemas.openxmlformats.org/officeDocument/2006/relationships/tags" Target="../tags/tag625.xml"/><Relationship Id="rId5" Type="http://schemas.openxmlformats.org/officeDocument/2006/relationships/tags" Target="../tags/tag624.xml"/><Relationship Id="rId4" Type="http://schemas.openxmlformats.org/officeDocument/2006/relationships/tags" Target="../tags/tag623.xml"/><Relationship Id="rId3" Type="http://schemas.openxmlformats.org/officeDocument/2006/relationships/tags" Target="../tags/tag622.xml"/><Relationship Id="rId2" Type="http://schemas.openxmlformats.org/officeDocument/2006/relationships/tags" Target="../tags/tag621.xml"/><Relationship Id="rId1" Type="http://schemas.openxmlformats.org/officeDocument/2006/relationships/tags" Target="../tags/tag620.xml"/></Relationships>
</file>

<file path=ppt/slides/_rels/slide49.xml.rels><?xml version="1.0" encoding="UTF-8" standalone="yes"?>
<Relationships xmlns="http://schemas.openxmlformats.org/package/2006/relationships"><Relationship Id="rId9" Type="http://schemas.openxmlformats.org/officeDocument/2006/relationships/tags" Target="../tags/tag635.xml"/><Relationship Id="rId8" Type="http://schemas.openxmlformats.org/officeDocument/2006/relationships/tags" Target="../tags/tag634.xml"/><Relationship Id="rId7" Type="http://schemas.openxmlformats.org/officeDocument/2006/relationships/tags" Target="../tags/tag633.xml"/><Relationship Id="rId6" Type="http://schemas.openxmlformats.org/officeDocument/2006/relationships/tags" Target="../tags/tag632.xml"/><Relationship Id="rId5" Type="http://schemas.openxmlformats.org/officeDocument/2006/relationships/tags" Target="../tags/tag631.xml"/><Relationship Id="rId4" Type="http://schemas.openxmlformats.org/officeDocument/2006/relationships/tags" Target="../tags/tag630.xml"/><Relationship Id="rId3" Type="http://schemas.openxmlformats.org/officeDocument/2006/relationships/tags" Target="../tags/tag629.xml"/><Relationship Id="rId24" Type="http://schemas.openxmlformats.org/officeDocument/2006/relationships/notesSlide" Target="../notesSlides/notesSlide48.xml"/><Relationship Id="rId23" Type="http://schemas.openxmlformats.org/officeDocument/2006/relationships/slideLayout" Target="../slideLayouts/slideLayout1.xml"/><Relationship Id="rId22" Type="http://schemas.openxmlformats.org/officeDocument/2006/relationships/tags" Target="../tags/tag648.xml"/><Relationship Id="rId21" Type="http://schemas.openxmlformats.org/officeDocument/2006/relationships/tags" Target="../tags/tag647.xml"/><Relationship Id="rId20" Type="http://schemas.openxmlformats.org/officeDocument/2006/relationships/tags" Target="../tags/tag646.xml"/><Relationship Id="rId2" Type="http://schemas.openxmlformats.org/officeDocument/2006/relationships/tags" Target="../tags/tag628.xml"/><Relationship Id="rId19" Type="http://schemas.openxmlformats.org/officeDocument/2006/relationships/tags" Target="../tags/tag645.xml"/><Relationship Id="rId18" Type="http://schemas.openxmlformats.org/officeDocument/2006/relationships/tags" Target="../tags/tag644.xml"/><Relationship Id="rId17" Type="http://schemas.openxmlformats.org/officeDocument/2006/relationships/tags" Target="../tags/tag643.xml"/><Relationship Id="rId16" Type="http://schemas.openxmlformats.org/officeDocument/2006/relationships/tags" Target="../tags/tag642.xml"/><Relationship Id="rId15" Type="http://schemas.openxmlformats.org/officeDocument/2006/relationships/tags" Target="../tags/tag641.xml"/><Relationship Id="rId14" Type="http://schemas.openxmlformats.org/officeDocument/2006/relationships/tags" Target="../tags/tag640.xml"/><Relationship Id="rId13" Type="http://schemas.openxmlformats.org/officeDocument/2006/relationships/tags" Target="../tags/tag639.xml"/><Relationship Id="rId12" Type="http://schemas.openxmlformats.org/officeDocument/2006/relationships/tags" Target="../tags/tag638.xml"/><Relationship Id="rId11" Type="http://schemas.openxmlformats.org/officeDocument/2006/relationships/tags" Target="../tags/tag637.xml"/><Relationship Id="rId10" Type="http://schemas.openxmlformats.org/officeDocument/2006/relationships/tags" Target="../tags/tag636.xml"/><Relationship Id="rId1" Type="http://schemas.openxmlformats.org/officeDocument/2006/relationships/tags" Target="../tags/tag627.xml"/></Relationships>
</file>

<file path=ppt/slides/_rels/slide50.xml.rels><?xml version="1.0" encoding="UTF-8" standalone="yes"?>
<Relationships xmlns="http://schemas.openxmlformats.org/package/2006/relationships"><Relationship Id="rId9" Type="http://schemas.openxmlformats.org/officeDocument/2006/relationships/tags" Target="../tags/tag651.xml"/><Relationship Id="rId8" Type="http://schemas.openxmlformats.org/officeDocument/2006/relationships/tags" Target="../tags/tag650.xml"/><Relationship Id="rId7" Type="http://schemas.openxmlformats.org/officeDocument/2006/relationships/tags" Target="../tags/tag649.xml"/><Relationship Id="rId6" Type="http://schemas.openxmlformats.org/officeDocument/2006/relationships/image" Target="../media/image68.svg"/><Relationship Id="rId52" Type="http://schemas.openxmlformats.org/officeDocument/2006/relationships/notesSlide" Target="../notesSlides/notesSlide49.xml"/><Relationship Id="rId51" Type="http://schemas.openxmlformats.org/officeDocument/2006/relationships/slideLayout" Target="../slideLayouts/slideLayout1.xml"/><Relationship Id="rId50" Type="http://schemas.openxmlformats.org/officeDocument/2006/relationships/tags" Target="../tags/tag687.xml"/><Relationship Id="rId5" Type="http://schemas.openxmlformats.org/officeDocument/2006/relationships/image" Target="../media/image67.png"/><Relationship Id="rId49" Type="http://schemas.openxmlformats.org/officeDocument/2006/relationships/tags" Target="../tags/tag686.xml"/><Relationship Id="rId48" Type="http://schemas.openxmlformats.org/officeDocument/2006/relationships/tags" Target="../tags/tag685.xml"/><Relationship Id="rId47" Type="http://schemas.openxmlformats.org/officeDocument/2006/relationships/tags" Target="../tags/tag684.xml"/><Relationship Id="rId46" Type="http://schemas.openxmlformats.org/officeDocument/2006/relationships/tags" Target="../tags/tag683.xml"/><Relationship Id="rId45" Type="http://schemas.openxmlformats.org/officeDocument/2006/relationships/tags" Target="../tags/tag682.xml"/><Relationship Id="rId44" Type="http://schemas.openxmlformats.org/officeDocument/2006/relationships/tags" Target="../tags/tag681.xml"/><Relationship Id="rId43" Type="http://schemas.openxmlformats.org/officeDocument/2006/relationships/tags" Target="../tags/tag680.xml"/><Relationship Id="rId42" Type="http://schemas.openxmlformats.org/officeDocument/2006/relationships/tags" Target="../tags/tag679.xml"/><Relationship Id="rId41" Type="http://schemas.openxmlformats.org/officeDocument/2006/relationships/tags" Target="../tags/tag678.xml"/><Relationship Id="rId40" Type="http://schemas.openxmlformats.org/officeDocument/2006/relationships/tags" Target="../tags/tag677.xml"/><Relationship Id="rId4" Type="http://schemas.openxmlformats.org/officeDocument/2006/relationships/image" Target="../media/image66.svg"/><Relationship Id="rId39" Type="http://schemas.openxmlformats.org/officeDocument/2006/relationships/tags" Target="../tags/tag676.xml"/><Relationship Id="rId38" Type="http://schemas.openxmlformats.org/officeDocument/2006/relationships/image" Target="../media/image72.svg"/><Relationship Id="rId37" Type="http://schemas.openxmlformats.org/officeDocument/2006/relationships/image" Target="../media/image71.png"/><Relationship Id="rId36" Type="http://schemas.openxmlformats.org/officeDocument/2006/relationships/tags" Target="../tags/tag675.xml"/><Relationship Id="rId35" Type="http://schemas.openxmlformats.org/officeDocument/2006/relationships/tags" Target="../tags/tag674.xml"/><Relationship Id="rId34" Type="http://schemas.openxmlformats.org/officeDocument/2006/relationships/tags" Target="../tags/tag673.xml"/><Relationship Id="rId33" Type="http://schemas.openxmlformats.org/officeDocument/2006/relationships/tags" Target="../tags/tag672.xml"/><Relationship Id="rId32" Type="http://schemas.openxmlformats.org/officeDocument/2006/relationships/image" Target="../media/image70.svg"/><Relationship Id="rId31" Type="http://schemas.openxmlformats.org/officeDocument/2006/relationships/image" Target="../media/image69.png"/><Relationship Id="rId30" Type="http://schemas.openxmlformats.org/officeDocument/2006/relationships/tags" Target="../tags/tag671.xml"/><Relationship Id="rId3" Type="http://schemas.openxmlformats.org/officeDocument/2006/relationships/image" Target="../media/image65.png"/><Relationship Id="rId29" Type="http://schemas.openxmlformats.org/officeDocument/2006/relationships/tags" Target="../tags/tag670.xml"/><Relationship Id="rId28" Type="http://schemas.openxmlformats.org/officeDocument/2006/relationships/tags" Target="../tags/tag669.xml"/><Relationship Id="rId27" Type="http://schemas.openxmlformats.org/officeDocument/2006/relationships/tags" Target="../tags/tag668.xml"/><Relationship Id="rId26" Type="http://schemas.openxmlformats.org/officeDocument/2006/relationships/tags" Target="../tags/tag667.xml"/><Relationship Id="rId25" Type="http://schemas.openxmlformats.org/officeDocument/2006/relationships/tags" Target="../tags/tag666.xml"/><Relationship Id="rId24" Type="http://schemas.openxmlformats.org/officeDocument/2006/relationships/tags" Target="../tags/tag665.xml"/><Relationship Id="rId23" Type="http://schemas.openxmlformats.org/officeDocument/2006/relationships/tags" Target="../tags/tag664.xml"/><Relationship Id="rId22" Type="http://schemas.openxmlformats.org/officeDocument/2006/relationships/tags" Target="../tags/tag663.xml"/><Relationship Id="rId21" Type="http://schemas.openxmlformats.org/officeDocument/2006/relationships/tags" Target="../tags/tag662.xml"/><Relationship Id="rId20" Type="http://schemas.openxmlformats.org/officeDocument/2006/relationships/tags" Target="../tags/tag661.xml"/><Relationship Id="rId2" Type="http://schemas.openxmlformats.org/officeDocument/2006/relationships/image" Target="../media/image64.svg"/><Relationship Id="rId19" Type="http://schemas.openxmlformats.org/officeDocument/2006/relationships/tags" Target="../tags/tag660.xml"/><Relationship Id="rId18" Type="http://schemas.openxmlformats.org/officeDocument/2006/relationships/tags" Target="../tags/tag659.xml"/><Relationship Id="rId17" Type="http://schemas.openxmlformats.org/officeDocument/2006/relationships/tags" Target="../tags/tag658.xml"/><Relationship Id="rId16" Type="http://schemas.openxmlformats.org/officeDocument/2006/relationships/image" Target="../media/image57.png"/><Relationship Id="rId15" Type="http://schemas.openxmlformats.org/officeDocument/2006/relationships/tags" Target="../tags/tag657.xml"/><Relationship Id="rId14" Type="http://schemas.openxmlformats.org/officeDocument/2006/relationships/tags" Target="../tags/tag656.xml"/><Relationship Id="rId13" Type="http://schemas.openxmlformats.org/officeDocument/2006/relationships/tags" Target="../tags/tag655.xml"/><Relationship Id="rId12" Type="http://schemas.openxmlformats.org/officeDocument/2006/relationships/tags" Target="../tags/tag654.xml"/><Relationship Id="rId11" Type="http://schemas.openxmlformats.org/officeDocument/2006/relationships/tags" Target="../tags/tag653.xml"/><Relationship Id="rId10" Type="http://schemas.openxmlformats.org/officeDocument/2006/relationships/tags" Target="../tags/tag652.xml"/><Relationship Id="rId1"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tags" Target="../tags/tag688.xml"/></Relationships>
</file>

<file path=ppt/slides/_rels/slide52.xml.rels><?xml version="1.0" encoding="UTF-8" standalone="yes"?>
<Relationships xmlns="http://schemas.openxmlformats.org/package/2006/relationships"><Relationship Id="rId9" Type="http://schemas.openxmlformats.org/officeDocument/2006/relationships/tags" Target="../tags/tag697.xml"/><Relationship Id="rId8" Type="http://schemas.openxmlformats.org/officeDocument/2006/relationships/tags" Target="../tags/tag696.xml"/><Relationship Id="rId7" Type="http://schemas.openxmlformats.org/officeDocument/2006/relationships/tags" Target="../tags/tag695.xml"/><Relationship Id="rId6" Type="http://schemas.openxmlformats.org/officeDocument/2006/relationships/tags" Target="../tags/tag694.xml"/><Relationship Id="rId5" Type="http://schemas.openxmlformats.org/officeDocument/2006/relationships/tags" Target="../tags/tag693.xml"/><Relationship Id="rId4" Type="http://schemas.openxmlformats.org/officeDocument/2006/relationships/tags" Target="../tags/tag692.xml"/><Relationship Id="rId3" Type="http://schemas.openxmlformats.org/officeDocument/2006/relationships/tags" Target="../tags/tag691.xml"/><Relationship Id="rId2" Type="http://schemas.openxmlformats.org/officeDocument/2006/relationships/tags" Target="../tags/tag690.xml"/><Relationship Id="rId18" Type="http://schemas.openxmlformats.org/officeDocument/2006/relationships/notesSlide" Target="../notesSlides/notesSlide51.xml"/><Relationship Id="rId17" Type="http://schemas.openxmlformats.org/officeDocument/2006/relationships/slideLayout" Target="../slideLayouts/slideLayout1.xml"/><Relationship Id="rId16" Type="http://schemas.openxmlformats.org/officeDocument/2006/relationships/image" Target="../media/image60.png"/><Relationship Id="rId15" Type="http://schemas.openxmlformats.org/officeDocument/2006/relationships/tags" Target="../tags/tag703.xml"/><Relationship Id="rId14" Type="http://schemas.openxmlformats.org/officeDocument/2006/relationships/tags" Target="../tags/tag702.xml"/><Relationship Id="rId13" Type="http://schemas.openxmlformats.org/officeDocument/2006/relationships/tags" Target="../tags/tag701.xml"/><Relationship Id="rId12" Type="http://schemas.openxmlformats.org/officeDocument/2006/relationships/tags" Target="../tags/tag700.xml"/><Relationship Id="rId11" Type="http://schemas.openxmlformats.org/officeDocument/2006/relationships/tags" Target="../tags/tag699.xml"/><Relationship Id="rId10" Type="http://schemas.openxmlformats.org/officeDocument/2006/relationships/tags" Target="../tags/tag698.xml"/><Relationship Id="rId1" Type="http://schemas.openxmlformats.org/officeDocument/2006/relationships/tags" Target="../tags/tag689.xml"/></Relationships>
</file>

<file path=ppt/slides/_rels/slide53.xml.rels><?xml version="1.0" encoding="UTF-8" standalone="yes"?>
<Relationships xmlns="http://schemas.openxmlformats.org/package/2006/relationships"><Relationship Id="rId9" Type="http://schemas.openxmlformats.org/officeDocument/2006/relationships/tags" Target="../tags/tag712.xml"/><Relationship Id="rId8" Type="http://schemas.openxmlformats.org/officeDocument/2006/relationships/tags" Target="../tags/tag711.xml"/><Relationship Id="rId7" Type="http://schemas.openxmlformats.org/officeDocument/2006/relationships/tags" Target="../tags/tag710.xml"/><Relationship Id="rId6" Type="http://schemas.openxmlformats.org/officeDocument/2006/relationships/tags" Target="../tags/tag709.xml"/><Relationship Id="rId5" Type="http://schemas.openxmlformats.org/officeDocument/2006/relationships/tags" Target="../tags/tag708.xml"/><Relationship Id="rId4" Type="http://schemas.openxmlformats.org/officeDocument/2006/relationships/tags" Target="../tags/tag707.xml"/><Relationship Id="rId3" Type="http://schemas.openxmlformats.org/officeDocument/2006/relationships/tags" Target="../tags/tag706.xml"/><Relationship Id="rId2" Type="http://schemas.openxmlformats.org/officeDocument/2006/relationships/tags" Target="../tags/tag705.xml"/><Relationship Id="rId11" Type="http://schemas.openxmlformats.org/officeDocument/2006/relationships/notesSlide" Target="../notesSlides/notesSlide52.xml"/><Relationship Id="rId10" Type="http://schemas.openxmlformats.org/officeDocument/2006/relationships/slideLayout" Target="../slideLayouts/slideLayout1.xml"/><Relationship Id="rId1" Type="http://schemas.openxmlformats.org/officeDocument/2006/relationships/tags" Target="../tags/tag704.xml"/></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slideLayout" Target="../slideLayouts/slideLayout1.xml"/><Relationship Id="rId5" Type="http://schemas.openxmlformats.org/officeDocument/2006/relationships/tags" Target="../tags/tag717.xml"/><Relationship Id="rId4" Type="http://schemas.openxmlformats.org/officeDocument/2006/relationships/tags" Target="../tags/tag716.xml"/><Relationship Id="rId3" Type="http://schemas.openxmlformats.org/officeDocument/2006/relationships/tags" Target="../tags/tag715.xml"/><Relationship Id="rId2" Type="http://schemas.openxmlformats.org/officeDocument/2006/relationships/tags" Target="../tags/tag714.xml"/><Relationship Id="rId1" Type="http://schemas.openxmlformats.org/officeDocument/2006/relationships/tags" Target="../tags/tag713.xml"/></Relationships>
</file>

<file path=ppt/slides/_rels/slide55.xml.rels><?xml version="1.0" encoding="UTF-8" standalone="yes"?>
<Relationships xmlns="http://schemas.openxmlformats.org/package/2006/relationships"><Relationship Id="rId9" Type="http://schemas.openxmlformats.org/officeDocument/2006/relationships/tags" Target="../tags/tag726.xml"/><Relationship Id="rId8" Type="http://schemas.openxmlformats.org/officeDocument/2006/relationships/tags" Target="../tags/tag725.xml"/><Relationship Id="rId7" Type="http://schemas.openxmlformats.org/officeDocument/2006/relationships/tags" Target="../tags/tag724.xml"/><Relationship Id="rId6" Type="http://schemas.openxmlformats.org/officeDocument/2006/relationships/tags" Target="../tags/tag723.xml"/><Relationship Id="rId5" Type="http://schemas.openxmlformats.org/officeDocument/2006/relationships/tags" Target="../tags/tag722.xml"/><Relationship Id="rId4" Type="http://schemas.openxmlformats.org/officeDocument/2006/relationships/tags" Target="../tags/tag721.xml"/><Relationship Id="rId3" Type="http://schemas.openxmlformats.org/officeDocument/2006/relationships/tags" Target="../tags/tag720.xml"/><Relationship Id="rId24" Type="http://schemas.openxmlformats.org/officeDocument/2006/relationships/notesSlide" Target="../notesSlides/notesSlide54.xml"/><Relationship Id="rId23" Type="http://schemas.openxmlformats.org/officeDocument/2006/relationships/slideLayout" Target="../slideLayouts/slideLayout1.xml"/><Relationship Id="rId22" Type="http://schemas.openxmlformats.org/officeDocument/2006/relationships/tags" Target="../tags/tag739.xml"/><Relationship Id="rId21" Type="http://schemas.openxmlformats.org/officeDocument/2006/relationships/tags" Target="../tags/tag738.xml"/><Relationship Id="rId20" Type="http://schemas.openxmlformats.org/officeDocument/2006/relationships/tags" Target="../tags/tag737.xml"/><Relationship Id="rId2" Type="http://schemas.openxmlformats.org/officeDocument/2006/relationships/tags" Target="../tags/tag719.xml"/><Relationship Id="rId19" Type="http://schemas.openxmlformats.org/officeDocument/2006/relationships/tags" Target="../tags/tag736.xml"/><Relationship Id="rId18" Type="http://schemas.openxmlformats.org/officeDocument/2006/relationships/tags" Target="../tags/tag735.xml"/><Relationship Id="rId17" Type="http://schemas.openxmlformats.org/officeDocument/2006/relationships/tags" Target="../tags/tag734.xml"/><Relationship Id="rId16" Type="http://schemas.openxmlformats.org/officeDocument/2006/relationships/tags" Target="../tags/tag733.xml"/><Relationship Id="rId15" Type="http://schemas.openxmlformats.org/officeDocument/2006/relationships/tags" Target="../tags/tag732.xml"/><Relationship Id="rId14" Type="http://schemas.openxmlformats.org/officeDocument/2006/relationships/tags" Target="../tags/tag731.xml"/><Relationship Id="rId13" Type="http://schemas.openxmlformats.org/officeDocument/2006/relationships/tags" Target="../tags/tag730.xml"/><Relationship Id="rId12" Type="http://schemas.openxmlformats.org/officeDocument/2006/relationships/tags" Target="../tags/tag729.xml"/><Relationship Id="rId11" Type="http://schemas.openxmlformats.org/officeDocument/2006/relationships/tags" Target="../tags/tag728.xml"/><Relationship Id="rId10" Type="http://schemas.openxmlformats.org/officeDocument/2006/relationships/tags" Target="../tags/tag727.xml"/><Relationship Id="rId1" Type="http://schemas.openxmlformats.org/officeDocument/2006/relationships/tags" Target="../tags/tag7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9" Type="http://schemas.openxmlformats.org/officeDocument/2006/relationships/tags" Target="../tags/tag748.xml"/><Relationship Id="rId8" Type="http://schemas.openxmlformats.org/officeDocument/2006/relationships/tags" Target="../tags/tag747.xml"/><Relationship Id="rId7" Type="http://schemas.openxmlformats.org/officeDocument/2006/relationships/tags" Target="../tags/tag746.xml"/><Relationship Id="rId6" Type="http://schemas.openxmlformats.org/officeDocument/2006/relationships/tags" Target="../tags/tag745.xml"/><Relationship Id="rId5" Type="http://schemas.openxmlformats.org/officeDocument/2006/relationships/tags" Target="../tags/tag744.xml"/><Relationship Id="rId4" Type="http://schemas.openxmlformats.org/officeDocument/2006/relationships/tags" Target="../tags/tag743.xml"/><Relationship Id="rId3" Type="http://schemas.openxmlformats.org/officeDocument/2006/relationships/tags" Target="../tags/tag742.xml"/><Relationship Id="rId20" Type="http://schemas.openxmlformats.org/officeDocument/2006/relationships/notesSlide" Target="../notesSlides/notesSlide56.xml"/><Relationship Id="rId2" Type="http://schemas.openxmlformats.org/officeDocument/2006/relationships/tags" Target="../tags/tag741.xml"/><Relationship Id="rId19" Type="http://schemas.openxmlformats.org/officeDocument/2006/relationships/slideLayout" Target="../slideLayouts/slideLayout1.xml"/><Relationship Id="rId18" Type="http://schemas.openxmlformats.org/officeDocument/2006/relationships/tags" Target="../tags/tag757.xml"/><Relationship Id="rId17" Type="http://schemas.openxmlformats.org/officeDocument/2006/relationships/tags" Target="../tags/tag756.xml"/><Relationship Id="rId16" Type="http://schemas.openxmlformats.org/officeDocument/2006/relationships/tags" Target="../tags/tag755.xml"/><Relationship Id="rId15" Type="http://schemas.openxmlformats.org/officeDocument/2006/relationships/tags" Target="../tags/tag754.xml"/><Relationship Id="rId14" Type="http://schemas.openxmlformats.org/officeDocument/2006/relationships/tags" Target="../tags/tag753.xml"/><Relationship Id="rId13" Type="http://schemas.openxmlformats.org/officeDocument/2006/relationships/tags" Target="../tags/tag752.xml"/><Relationship Id="rId12" Type="http://schemas.openxmlformats.org/officeDocument/2006/relationships/tags" Target="../tags/tag751.xml"/><Relationship Id="rId11" Type="http://schemas.openxmlformats.org/officeDocument/2006/relationships/tags" Target="../tags/tag750.xml"/><Relationship Id="rId10" Type="http://schemas.openxmlformats.org/officeDocument/2006/relationships/tags" Target="../tags/tag749.xml"/><Relationship Id="rId1" Type="http://schemas.openxmlformats.org/officeDocument/2006/relationships/tags" Target="../tags/tag74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9" Type="http://schemas.openxmlformats.org/officeDocument/2006/relationships/tags" Target="../tags/tag766.xml"/><Relationship Id="rId8" Type="http://schemas.openxmlformats.org/officeDocument/2006/relationships/tags" Target="../tags/tag765.xml"/><Relationship Id="rId7" Type="http://schemas.openxmlformats.org/officeDocument/2006/relationships/tags" Target="../tags/tag764.xml"/><Relationship Id="rId6" Type="http://schemas.openxmlformats.org/officeDocument/2006/relationships/tags" Target="../tags/tag763.xml"/><Relationship Id="rId5" Type="http://schemas.openxmlformats.org/officeDocument/2006/relationships/tags" Target="../tags/tag762.xml"/><Relationship Id="rId4" Type="http://schemas.openxmlformats.org/officeDocument/2006/relationships/tags" Target="../tags/tag761.xml"/><Relationship Id="rId3" Type="http://schemas.openxmlformats.org/officeDocument/2006/relationships/tags" Target="../tags/tag760.xml"/><Relationship Id="rId20" Type="http://schemas.openxmlformats.org/officeDocument/2006/relationships/notesSlide" Target="../notesSlides/notesSlide59.xml"/><Relationship Id="rId2" Type="http://schemas.openxmlformats.org/officeDocument/2006/relationships/tags" Target="../tags/tag759.xml"/><Relationship Id="rId19" Type="http://schemas.openxmlformats.org/officeDocument/2006/relationships/slideLayout" Target="../slideLayouts/slideLayout1.xml"/><Relationship Id="rId18" Type="http://schemas.openxmlformats.org/officeDocument/2006/relationships/tags" Target="../tags/tag775.xml"/><Relationship Id="rId17" Type="http://schemas.openxmlformats.org/officeDocument/2006/relationships/tags" Target="../tags/tag774.xml"/><Relationship Id="rId16" Type="http://schemas.openxmlformats.org/officeDocument/2006/relationships/tags" Target="../tags/tag773.xml"/><Relationship Id="rId15" Type="http://schemas.openxmlformats.org/officeDocument/2006/relationships/tags" Target="../tags/tag772.xml"/><Relationship Id="rId14" Type="http://schemas.openxmlformats.org/officeDocument/2006/relationships/tags" Target="../tags/tag771.xml"/><Relationship Id="rId13" Type="http://schemas.openxmlformats.org/officeDocument/2006/relationships/tags" Target="../tags/tag770.xml"/><Relationship Id="rId12" Type="http://schemas.openxmlformats.org/officeDocument/2006/relationships/tags" Target="../tags/tag769.xml"/><Relationship Id="rId11" Type="http://schemas.openxmlformats.org/officeDocument/2006/relationships/tags" Target="../tags/tag768.xml"/><Relationship Id="rId10" Type="http://schemas.openxmlformats.org/officeDocument/2006/relationships/tags" Target="../tags/tag767.xml"/><Relationship Id="rId1" Type="http://schemas.openxmlformats.org/officeDocument/2006/relationships/tags" Target="../tags/tag75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9" Type="http://schemas.openxmlformats.org/officeDocument/2006/relationships/tags" Target="../tags/tag784.xml"/><Relationship Id="rId8" Type="http://schemas.openxmlformats.org/officeDocument/2006/relationships/tags" Target="../tags/tag783.xml"/><Relationship Id="rId7" Type="http://schemas.openxmlformats.org/officeDocument/2006/relationships/tags" Target="../tags/tag782.xml"/><Relationship Id="rId6" Type="http://schemas.openxmlformats.org/officeDocument/2006/relationships/tags" Target="../tags/tag781.xml"/><Relationship Id="rId5" Type="http://schemas.openxmlformats.org/officeDocument/2006/relationships/tags" Target="../tags/tag780.xml"/><Relationship Id="rId4" Type="http://schemas.openxmlformats.org/officeDocument/2006/relationships/tags" Target="../tags/tag779.xml"/><Relationship Id="rId3" Type="http://schemas.openxmlformats.org/officeDocument/2006/relationships/tags" Target="../tags/tag778.xml"/><Relationship Id="rId20" Type="http://schemas.openxmlformats.org/officeDocument/2006/relationships/notesSlide" Target="../notesSlides/notesSlide61.xml"/><Relationship Id="rId2" Type="http://schemas.openxmlformats.org/officeDocument/2006/relationships/tags" Target="../tags/tag777.xml"/><Relationship Id="rId19" Type="http://schemas.openxmlformats.org/officeDocument/2006/relationships/slideLayout" Target="../slideLayouts/slideLayout1.xml"/><Relationship Id="rId18" Type="http://schemas.openxmlformats.org/officeDocument/2006/relationships/tags" Target="../tags/tag793.xml"/><Relationship Id="rId17" Type="http://schemas.openxmlformats.org/officeDocument/2006/relationships/tags" Target="../tags/tag792.xml"/><Relationship Id="rId16" Type="http://schemas.openxmlformats.org/officeDocument/2006/relationships/tags" Target="../tags/tag791.xml"/><Relationship Id="rId15" Type="http://schemas.openxmlformats.org/officeDocument/2006/relationships/tags" Target="../tags/tag790.xml"/><Relationship Id="rId14" Type="http://schemas.openxmlformats.org/officeDocument/2006/relationships/tags" Target="../tags/tag789.xml"/><Relationship Id="rId13" Type="http://schemas.openxmlformats.org/officeDocument/2006/relationships/tags" Target="../tags/tag788.xml"/><Relationship Id="rId12" Type="http://schemas.openxmlformats.org/officeDocument/2006/relationships/tags" Target="../tags/tag787.xml"/><Relationship Id="rId11" Type="http://schemas.openxmlformats.org/officeDocument/2006/relationships/tags" Target="../tags/tag786.xml"/><Relationship Id="rId10" Type="http://schemas.openxmlformats.org/officeDocument/2006/relationships/tags" Target="../tags/tag785.xml"/><Relationship Id="rId1" Type="http://schemas.openxmlformats.org/officeDocument/2006/relationships/tags" Target="../tags/tag77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tags" Target="../tags/tag79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tags" Target="../tags/tag79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9" Type="http://schemas.openxmlformats.org/officeDocument/2006/relationships/tags" Target="../tags/tag804.xml"/><Relationship Id="rId8" Type="http://schemas.openxmlformats.org/officeDocument/2006/relationships/tags" Target="../tags/tag803.xml"/><Relationship Id="rId7" Type="http://schemas.openxmlformats.org/officeDocument/2006/relationships/tags" Target="../tags/tag802.xml"/><Relationship Id="rId6" Type="http://schemas.openxmlformats.org/officeDocument/2006/relationships/tags" Target="../tags/tag801.xml"/><Relationship Id="rId5" Type="http://schemas.openxmlformats.org/officeDocument/2006/relationships/tags" Target="../tags/tag800.xml"/><Relationship Id="rId4" Type="http://schemas.openxmlformats.org/officeDocument/2006/relationships/tags" Target="../tags/tag799.xml"/><Relationship Id="rId3" Type="http://schemas.openxmlformats.org/officeDocument/2006/relationships/tags" Target="../tags/tag798.xml"/><Relationship Id="rId2" Type="http://schemas.openxmlformats.org/officeDocument/2006/relationships/tags" Target="../tags/tag797.xml"/><Relationship Id="rId12" Type="http://schemas.openxmlformats.org/officeDocument/2006/relationships/notesSlide" Target="../notesSlides/notesSlide67.xml"/><Relationship Id="rId11" Type="http://schemas.openxmlformats.org/officeDocument/2006/relationships/slideLayout" Target="../slideLayouts/slideLayout1.xml"/><Relationship Id="rId10" Type="http://schemas.openxmlformats.org/officeDocument/2006/relationships/tags" Target="../tags/tag805.xml"/><Relationship Id="rId1" Type="http://schemas.openxmlformats.org/officeDocument/2006/relationships/tags" Target="../tags/tag796.xml"/></Relationships>
</file>

<file path=ppt/slides/_rels/slide69.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xml"/><Relationship Id="rId4" Type="http://schemas.openxmlformats.org/officeDocument/2006/relationships/tags" Target="../tags/tag807.xml"/><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tags" Target="../tags/tag806.xml"/></Relationships>
</file>

<file path=ppt/slides/_rels/slide70.xml.rels><?xml version="1.0" encoding="UTF-8" standalone="yes"?>
<Relationships xmlns="http://schemas.openxmlformats.org/package/2006/relationships"><Relationship Id="rId9" Type="http://schemas.openxmlformats.org/officeDocument/2006/relationships/tags" Target="../tags/tag816.xml"/><Relationship Id="rId8" Type="http://schemas.openxmlformats.org/officeDocument/2006/relationships/tags" Target="../tags/tag815.xml"/><Relationship Id="rId7" Type="http://schemas.openxmlformats.org/officeDocument/2006/relationships/tags" Target="../tags/tag814.xml"/><Relationship Id="rId6" Type="http://schemas.openxmlformats.org/officeDocument/2006/relationships/tags" Target="../tags/tag813.xml"/><Relationship Id="rId5" Type="http://schemas.openxmlformats.org/officeDocument/2006/relationships/tags" Target="../tags/tag812.xml"/><Relationship Id="rId4" Type="http://schemas.openxmlformats.org/officeDocument/2006/relationships/tags" Target="../tags/tag811.xml"/><Relationship Id="rId3" Type="http://schemas.openxmlformats.org/officeDocument/2006/relationships/tags" Target="../tags/tag810.xml"/><Relationship Id="rId22" Type="http://schemas.openxmlformats.org/officeDocument/2006/relationships/notesSlide" Target="../notesSlides/notesSlide69.xml"/><Relationship Id="rId21" Type="http://schemas.openxmlformats.org/officeDocument/2006/relationships/slideLayout" Target="../slideLayouts/slideLayout1.xml"/><Relationship Id="rId20" Type="http://schemas.openxmlformats.org/officeDocument/2006/relationships/tags" Target="../tags/tag827.xml"/><Relationship Id="rId2" Type="http://schemas.openxmlformats.org/officeDocument/2006/relationships/tags" Target="../tags/tag809.xml"/><Relationship Id="rId19" Type="http://schemas.openxmlformats.org/officeDocument/2006/relationships/tags" Target="../tags/tag826.xml"/><Relationship Id="rId18" Type="http://schemas.openxmlformats.org/officeDocument/2006/relationships/tags" Target="../tags/tag825.xml"/><Relationship Id="rId17" Type="http://schemas.openxmlformats.org/officeDocument/2006/relationships/tags" Target="../tags/tag824.xml"/><Relationship Id="rId16" Type="http://schemas.openxmlformats.org/officeDocument/2006/relationships/tags" Target="../tags/tag823.xml"/><Relationship Id="rId15" Type="http://schemas.openxmlformats.org/officeDocument/2006/relationships/tags" Target="../tags/tag822.xml"/><Relationship Id="rId14" Type="http://schemas.openxmlformats.org/officeDocument/2006/relationships/tags" Target="../tags/tag821.xml"/><Relationship Id="rId13" Type="http://schemas.openxmlformats.org/officeDocument/2006/relationships/tags" Target="../tags/tag820.xml"/><Relationship Id="rId12" Type="http://schemas.openxmlformats.org/officeDocument/2006/relationships/tags" Target="../tags/tag819.xml"/><Relationship Id="rId11" Type="http://schemas.openxmlformats.org/officeDocument/2006/relationships/tags" Target="../tags/tag818.xml"/><Relationship Id="rId10" Type="http://schemas.openxmlformats.org/officeDocument/2006/relationships/tags" Target="../tags/tag817.xml"/><Relationship Id="rId1" Type="http://schemas.openxmlformats.org/officeDocument/2006/relationships/tags" Target="../tags/tag808.xml"/></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35.xml"/><Relationship Id="rId7" Type="http://schemas.openxmlformats.org/officeDocument/2006/relationships/tags" Target="../tags/tag834.xml"/><Relationship Id="rId6" Type="http://schemas.openxmlformats.org/officeDocument/2006/relationships/tags" Target="../tags/tag833.xml"/><Relationship Id="rId5" Type="http://schemas.openxmlformats.org/officeDocument/2006/relationships/tags" Target="../tags/tag832.xml"/><Relationship Id="rId4" Type="http://schemas.openxmlformats.org/officeDocument/2006/relationships/tags" Target="../tags/tag831.xml"/><Relationship Id="rId3" Type="http://schemas.openxmlformats.org/officeDocument/2006/relationships/tags" Target="../tags/tag830.xml"/><Relationship Id="rId2" Type="http://schemas.openxmlformats.org/officeDocument/2006/relationships/tags" Target="../tags/tag829.xml"/><Relationship Id="rId10" Type="http://schemas.openxmlformats.org/officeDocument/2006/relationships/notesSlide" Target="../notesSlides/notesSlide70.xml"/><Relationship Id="rId1" Type="http://schemas.openxmlformats.org/officeDocument/2006/relationships/tags" Target="../tags/tag828.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1.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73.xml.rels><?xml version="1.0" encoding="UTF-8" standalone="yes"?>
<Relationships xmlns="http://schemas.openxmlformats.org/package/2006/relationships"><Relationship Id="rId9" Type="http://schemas.openxmlformats.org/officeDocument/2006/relationships/tags" Target="../tags/tag844.xml"/><Relationship Id="rId8" Type="http://schemas.openxmlformats.org/officeDocument/2006/relationships/tags" Target="../tags/tag843.xml"/><Relationship Id="rId7" Type="http://schemas.openxmlformats.org/officeDocument/2006/relationships/tags" Target="../tags/tag842.xml"/><Relationship Id="rId6" Type="http://schemas.openxmlformats.org/officeDocument/2006/relationships/tags" Target="../tags/tag841.xml"/><Relationship Id="rId5" Type="http://schemas.openxmlformats.org/officeDocument/2006/relationships/tags" Target="../tags/tag840.xml"/><Relationship Id="rId4" Type="http://schemas.openxmlformats.org/officeDocument/2006/relationships/tags" Target="../tags/tag839.xml"/><Relationship Id="rId3" Type="http://schemas.openxmlformats.org/officeDocument/2006/relationships/tags" Target="../tags/tag838.xml"/><Relationship Id="rId22" Type="http://schemas.openxmlformats.org/officeDocument/2006/relationships/notesSlide" Target="../notesSlides/notesSlide72.xml"/><Relationship Id="rId21" Type="http://schemas.openxmlformats.org/officeDocument/2006/relationships/slideLayout" Target="../slideLayouts/slideLayout1.xml"/><Relationship Id="rId20" Type="http://schemas.openxmlformats.org/officeDocument/2006/relationships/tags" Target="../tags/tag855.xml"/><Relationship Id="rId2" Type="http://schemas.openxmlformats.org/officeDocument/2006/relationships/tags" Target="../tags/tag837.xml"/><Relationship Id="rId19" Type="http://schemas.openxmlformats.org/officeDocument/2006/relationships/tags" Target="../tags/tag854.xml"/><Relationship Id="rId18" Type="http://schemas.openxmlformats.org/officeDocument/2006/relationships/tags" Target="../tags/tag853.xml"/><Relationship Id="rId17" Type="http://schemas.openxmlformats.org/officeDocument/2006/relationships/tags" Target="../tags/tag852.xml"/><Relationship Id="rId16" Type="http://schemas.openxmlformats.org/officeDocument/2006/relationships/tags" Target="../tags/tag851.xml"/><Relationship Id="rId15" Type="http://schemas.openxmlformats.org/officeDocument/2006/relationships/tags" Target="../tags/tag850.xml"/><Relationship Id="rId14" Type="http://schemas.openxmlformats.org/officeDocument/2006/relationships/tags" Target="../tags/tag849.xml"/><Relationship Id="rId13" Type="http://schemas.openxmlformats.org/officeDocument/2006/relationships/tags" Target="../tags/tag848.xml"/><Relationship Id="rId12" Type="http://schemas.openxmlformats.org/officeDocument/2006/relationships/tags" Target="../tags/tag847.xml"/><Relationship Id="rId11" Type="http://schemas.openxmlformats.org/officeDocument/2006/relationships/tags" Target="../tags/tag846.xml"/><Relationship Id="rId10" Type="http://schemas.openxmlformats.org/officeDocument/2006/relationships/tags" Target="../tags/tag845.xml"/><Relationship Id="rId1" Type="http://schemas.openxmlformats.org/officeDocument/2006/relationships/tags" Target="../tags/tag836.xml"/></Relationships>
</file>

<file path=ppt/slides/_rels/slide74.xml.rels><?xml version="1.0" encoding="UTF-8" standalone="yes"?>
<Relationships xmlns="http://schemas.openxmlformats.org/package/2006/relationships"><Relationship Id="rId9" Type="http://schemas.openxmlformats.org/officeDocument/2006/relationships/tags" Target="../tags/tag864.xml"/><Relationship Id="rId8" Type="http://schemas.openxmlformats.org/officeDocument/2006/relationships/tags" Target="../tags/tag863.xml"/><Relationship Id="rId7" Type="http://schemas.openxmlformats.org/officeDocument/2006/relationships/tags" Target="../tags/tag862.xml"/><Relationship Id="rId6" Type="http://schemas.openxmlformats.org/officeDocument/2006/relationships/tags" Target="../tags/tag861.xml"/><Relationship Id="rId5" Type="http://schemas.openxmlformats.org/officeDocument/2006/relationships/tags" Target="../tags/tag860.xml"/><Relationship Id="rId4" Type="http://schemas.openxmlformats.org/officeDocument/2006/relationships/tags" Target="../tags/tag859.xml"/><Relationship Id="rId3" Type="http://schemas.openxmlformats.org/officeDocument/2006/relationships/tags" Target="../tags/tag858.xml"/><Relationship Id="rId28" Type="http://schemas.openxmlformats.org/officeDocument/2006/relationships/slideLayout" Target="../slideLayouts/slideLayout1.xml"/><Relationship Id="rId27" Type="http://schemas.openxmlformats.org/officeDocument/2006/relationships/tags" Target="../tags/tag882.xml"/><Relationship Id="rId26" Type="http://schemas.openxmlformats.org/officeDocument/2006/relationships/tags" Target="../tags/tag881.xml"/><Relationship Id="rId25" Type="http://schemas.openxmlformats.org/officeDocument/2006/relationships/tags" Target="../tags/tag880.xml"/><Relationship Id="rId24" Type="http://schemas.openxmlformats.org/officeDocument/2006/relationships/tags" Target="../tags/tag879.xml"/><Relationship Id="rId23" Type="http://schemas.openxmlformats.org/officeDocument/2006/relationships/tags" Target="../tags/tag878.xml"/><Relationship Id="rId22" Type="http://schemas.openxmlformats.org/officeDocument/2006/relationships/tags" Target="../tags/tag877.xml"/><Relationship Id="rId21" Type="http://schemas.openxmlformats.org/officeDocument/2006/relationships/tags" Target="../tags/tag876.xml"/><Relationship Id="rId20" Type="http://schemas.openxmlformats.org/officeDocument/2006/relationships/tags" Target="../tags/tag875.xml"/><Relationship Id="rId2" Type="http://schemas.openxmlformats.org/officeDocument/2006/relationships/tags" Target="../tags/tag857.xml"/><Relationship Id="rId19" Type="http://schemas.openxmlformats.org/officeDocument/2006/relationships/tags" Target="../tags/tag874.xml"/><Relationship Id="rId18" Type="http://schemas.openxmlformats.org/officeDocument/2006/relationships/tags" Target="../tags/tag873.xml"/><Relationship Id="rId17" Type="http://schemas.openxmlformats.org/officeDocument/2006/relationships/tags" Target="../tags/tag872.xml"/><Relationship Id="rId16" Type="http://schemas.openxmlformats.org/officeDocument/2006/relationships/tags" Target="../tags/tag871.xml"/><Relationship Id="rId15" Type="http://schemas.openxmlformats.org/officeDocument/2006/relationships/tags" Target="../tags/tag870.xml"/><Relationship Id="rId14" Type="http://schemas.openxmlformats.org/officeDocument/2006/relationships/tags" Target="../tags/tag869.xml"/><Relationship Id="rId13" Type="http://schemas.openxmlformats.org/officeDocument/2006/relationships/tags" Target="../tags/tag868.xml"/><Relationship Id="rId12" Type="http://schemas.openxmlformats.org/officeDocument/2006/relationships/tags" Target="../tags/tag867.xml"/><Relationship Id="rId11" Type="http://schemas.openxmlformats.org/officeDocument/2006/relationships/tags" Target="../tags/tag866.xml"/><Relationship Id="rId10" Type="http://schemas.openxmlformats.org/officeDocument/2006/relationships/tags" Target="../tags/tag865.xml"/><Relationship Id="rId1" Type="http://schemas.openxmlformats.org/officeDocument/2006/relationships/tags" Target="../tags/tag856.xml"/></Relationships>
</file>

<file path=ppt/slides/_rels/slide75.xml.rels><?xml version="1.0" encoding="UTF-8" standalone="yes"?>
<Relationships xmlns="http://schemas.openxmlformats.org/package/2006/relationships"><Relationship Id="rId9" Type="http://schemas.openxmlformats.org/officeDocument/2006/relationships/tags" Target="../tags/tag891.xml"/><Relationship Id="rId8" Type="http://schemas.openxmlformats.org/officeDocument/2006/relationships/tags" Target="../tags/tag890.xml"/><Relationship Id="rId7" Type="http://schemas.openxmlformats.org/officeDocument/2006/relationships/tags" Target="../tags/tag889.xml"/><Relationship Id="rId6" Type="http://schemas.openxmlformats.org/officeDocument/2006/relationships/tags" Target="../tags/tag888.xml"/><Relationship Id="rId5" Type="http://schemas.openxmlformats.org/officeDocument/2006/relationships/tags" Target="../tags/tag887.xml"/><Relationship Id="rId4" Type="http://schemas.openxmlformats.org/officeDocument/2006/relationships/tags" Target="../tags/tag886.xml"/><Relationship Id="rId3" Type="http://schemas.openxmlformats.org/officeDocument/2006/relationships/tags" Target="../tags/tag885.xml"/><Relationship Id="rId22" Type="http://schemas.openxmlformats.org/officeDocument/2006/relationships/notesSlide" Target="../notesSlides/notesSlide73.xml"/><Relationship Id="rId21" Type="http://schemas.openxmlformats.org/officeDocument/2006/relationships/slideLayout" Target="../slideLayouts/slideLayout1.xml"/><Relationship Id="rId20" Type="http://schemas.openxmlformats.org/officeDocument/2006/relationships/tags" Target="../tags/tag902.xml"/><Relationship Id="rId2" Type="http://schemas.openxmlformats.org/officeDocument/2006/relationships/tags" Target="../tags/tag884.xml"/><Relationship Id="rId19" Type="http://schemas.openxmlformats.org/officeDocument/2006/relationships/tags" Target="../tags/tag901.xml"/><Relationship Id="rId18" Type="http://schemas.openxmlformats.org/officeDocument/2006/relationships/tags" Target="../tags/tag900.xml"/><Relationship Id="rId17" Type="http://schemas.openxmlformats.org/officeDocument/2006/relationships/tags" Target="../tags/tag899.xml"/><Relationship Id="rId16" Type="http://schemas.openxmlformats.org/officeDocument/2006/relationships/tags" Target="../tags/tag898.xml"/><Relationship Id="rId15" Type="http://schemas.openxmlformats.org/officeDocument/2006/relationships/tags" Target="../tags/tag897.xml"/><Relationship Id="rId14" Type="http://schemas.openxmlformats.org/officeDocument/2006/relationships/tags" Target="../tags/tag896.xml"/><Relationship Id="rId13" Type="http://schemas.openxmlformats.org/officeDocument/2006/relationships/tags" Target="../tags/tag895.xml"/><Relationship Id="rId12" Type="http://schemas.openxmlformats.org/officeDocument/2006/relationships/tags" Target="../tags/tag894.xml"/><Relationship Id="rId11" Type="http://schemas.openxmlformats.org/officeDocument/2006/relationships/tags" Target="../tags/tag893.xml"/><Relationship Id="rId10" Type="http://schemas.openxmlformats.org/officeDocument/2006/relationships/tags" Target="../tags/tag892.xml"/><Relationship Id="rId1" Type="http://schemas.openxmlformats.org/officeDocument/2006/relationships/tags" Target="../tags/tag883.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xml"/><Relationship Id="rId1" Type="http://schemas.openxmlformats.org/officeDocument/2006/relationships/tags" Target="../tags/tag90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1.xml"/><Relationship Id="rId2" Type="http://schemas.openxmlformats.org/officeDocument/2006/relationships/tags" Target="../tags/tag905.xml"/><Relationship Id="rId1" Type="http://schemas.openxmlformats.org/officeDocument/2006/relationships/tags" Target="../tags/tag904.xml"/></Relationships>
</file>

<file path=ppt/slides/_rels/slide79.xml.rels><?xml version="1.0" encoding="UTF-8" standalone="yes"?>
<Relationships xmlns="http://schemas.openxmlformats.org/package/2006/relationships"><Relationship Id="rId9" Type="http://schemas.openxmlformats.org/officeDocument/2006/relationships/tags" Target="../tags/tag914.xml"/><Relationship Id="rId8" Type="http://schemas.openxmlformats.org/officeDocument/2006/relationships/tags" Target="../tags/tag913.xml"/><Relationship Id="rId7" Type="http://schemas.openxmlformats.org/officeDocument/2006/relationships/tags" Target="../tags/tag912.xml"/><Relationship Id="rId6" Type="http://schemas.openxmlformats.org/officeDocument/2006/relationships/tags" Target="../tags/tag911.xml"/><Relationship Id="rId5" Type="http://schemas.openxmlformats.org/officeDocument/2006/relationships/tags" Target="../tags/tag910.xml"/><Relationship Id="rId4" Type="http://schemas.openxmlformats.org/officeDocument/2006/relationships/tags" Target="../tags/tag909.xml"/><Relationship Id="rId35" Type="http://schemas.openxmlformats.org/officeDocument/2006/relationships/notesSlide" Target="../notesSlides/notesSlide77.xml"/><Relationship Id="rId34" Type="http://schemas.openxmlformats.org/officeDocument/2006/relationships/slideLayout" Target="../slideLayouts/slideLayout1.xml"/><Relationship Id="rId33" Type="http://schemas.openxmlformats.org/officeDocument/2006/relationships/image" Target="../media/image80.png"/><Relationship Id="rId32" Type="http://schemas.openxmlformats.org/officeDocument/2006/relationships/image" Target="../media/image79.png"/><Relationship Id="rId31" Type="http://schemas.openxmlformats.org/officeDocument/2006/relationships/image" Target="../media/image78.png"/><Relationship Id="rId30" Type="http://schemas.openxmlformats.org/officeDocument/2006/relationships/tags" Target="../tags/tag935.xml"/><Relationship Id="rId3" Type="http://schemas.openxmlformats.org/officeDocument/2006/relationships/tags" Target="../tags/tag908.xml"/><Relationship Id="rId29" Type="http://schemas.openxmlformats.org/officeDocument/2006/relationships/tags" Target="../tags/tag934.xml"/><Relationship Id="rId28" Type="http://schemas.openxmlformats.org/officeDocument/2006/relationships/tags" Target="../tags/tag933.xml"/><Relationship Id="rId27" Type="http://schemas.openxmlformats.org/officeDocument/2006/relationships/tags" Target="../tags/tag932.xml"/><Relationship Id="rId26" Type="http://schemas.openxmlformats.org/officeDocument/2006/relationships/tags" Target="../tags/tag931.xml"/><Relationship Id="rId25" Type="http://schemas.openxmlformats.org/officeDocument/2006/relationships/tags" Target="../tags/tag930.xml"/><Relationship Id="rId24" Type="http://schemas.openxmlformats.org/officeDocument/2006/relationships/tags" Target="../tags/tag929.xml"/><Relationship Id="rId23" Type="http://schemas.openxmlformats.org/officeDocument/2006/relationships/tags" Target="../tags/tag928.xml"/><Relationship Id="rId22" Type="http://schemas.openxmlformats.org/officeDocument/2006/relationships/tags" Target="../tags/tag927.xml"/><Relationship Id="rId21" Type="http://schemas.openxmlformats.org/officeDocument/2006/relationships/tags" Target="../tags/tag926.xml"/><Relationship Id="rId20" Type="http://schemas.openxmlformats.org/officeDocument/2006/relationships/tags" Target="../tags/tag925.xml"/><Relationship Id="rId2" Type="http://schemas.openxmlformats.org/officeDocument/2006/relationships/tags" Target="../tags/tag907.xml"/><Relationship Id="rId19" Type="http://schemas.openxmlformats.org/officeDocument/2006/relationships/tags" Target="../tags/tag924.xml"/><Relationship Id="rId18" Type="http://schemas.openxmlformats.org/officeDocument/2006/relationships/tags" Target="../tags/tag923.xml"/><Relationship Id="rId17" Type="http://schemas.openxmlformats.org/officeDocument/2006/relationships/tags" Target="../tags/tag922.xml"/><Relationship Id="rId16" Type="http://schemas.openxmlformats.org/officeDocument/2006/relationships/tags" Target="../tags/tag921.xml"/><Relationship Id="rId15" Type="http://schemas.openxmlformats.org/officeDocument/2006/relationships/tags" Target="../tags/tag920.xml"/><Relationship Id="rId14" Type="http://schemas.openxmlformats.org/officeDocument/2006/relationships/tags" Target="../tags/tag919.xml"/><Relationship Id="rId13" Type="http://schemas.openxmlformats.org/officeDocument/2006/relationships/tags" Target="../tags/tag918.xml"/><Relationship Id="rId12" Type="http://schemas.openxmlformats.org/officeDocument/2006/relationships/tags" Target="../tags/tag917.xml"/><Relationship Id="rId11" Type="http://schemas.openxmlformats.org/officeDocument/2006/relationships/tags" Target="../tags/tag916.xml"/><Relationship Id="rId10" Type="http://schemas.openxmlformats.org/officeDocument/2006/relationships/tags" Target="../tags/tag915.xml"/><Relationship Id="rId1" Type="http://schemas.openxmlformats.org/officeDocument/2006/relationships/tags" Target="../tags/tag90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9" Type="http://schemas.openxmlformats.org/officeDocument/2006/relationships/tags" Target="../tags/tag944.xml"/><Relationship Id="rId8" Type="http://schemas.openxmlformats.org/officeDocument/2006/relationships/tags" Target="../tags/tag943.xml"/><Relationship Id="rId7" Type="http://schemas.openxmlformats.org/officeDocument/2006/relationships/tags" Target="../tags/tag942.xml"/><Relationship Id="rId6" Type="http://schemas.openxmlformats.org/officeDocument/2006/relationships/tags" Target="../tags/tag941.xml"/><Relationship Id="rId5" Type="http://schemas.openxmlformats.org/officeDocument/2006/relationships/tags" Target="../tags/tag940.xml"/><Relationship Id="rId4" Type="http://schemas.openxmlformats.org/officeDocument/2006/relationships/tags" Target="../tags/tag939.xml"/><Relationship Id="rId3" Type="http://schemas.openxmlformats.org/officeDocument/2006/relationships/tags" Target="../tags/tag938.xml"/><Relationship Id="rId22" Type="http://schemas.openxmlformats.org/officeDocument/2006/relationships/notesSlide" Target="../notesSlides/notesSlide79.xml"/><Relationship Id="rId21" Type="http://schemas.openxmlformats.org/officeDocument/2006/relationships/slideLayout" Target="../slideLayouts/slideLayout1.xml"/><Relationship Id="rId20" Type="http://schemas.openxmlformats.org/officeDocument/2006/relationships/tags" Target="../tags/tag955.xml"/><Relationship Id="rId2" Type="http://schemas.openxmlformats.org/officeDocument/2006/relationships/tags" Target="../tags/tag937.xml"/><Relationship Id="rId19" Type="http://schemas.openxmlformats.org/officeDocument/2006/relationships/tags" Target="../tags/tag954.xml"/><Relationship Id="rId18" Type="http://schemas.openxmlformats.org/officeDocument/2006/relationships/tags" Target="../tags/tag953.xml"/><Relationship Id="rId17" Type="http://schemas.openxmlformats.org/officeDocument/2006/relationships/tags" Target="../tags/tag952.xml"/><Relationship Id="rId16" Type="http://schemas.openxmlformats.org/officeDocument/2006/relationships/tags" Target="../tags/tag951.xml"/><Relationship Id="rId15" Type="http://schemas.openxmlformats.org/officeDocument/2006/relationships/tags" Target="../tags/tag950.xml"/><Relationship Id="rId14" Type="http://schemas.openxmlformats.org/officeDocument/2006/relationships/tags" Target="../tags/tag949.xml"/><Relationship Id="rId13" Type="http://schemas.openxmlformats.org/officeDocument/2006/relationships/tags" Target="../tags/tag948.xml"/><Relationship Id="rId12" Type="http://schemas.openxmlformats.org/officeDocument/2006/relationships/tags" Target="../tags/tag947.xml"/><Relationship Id="rId11" Type="http://schemas.openxmlformats.org/officeDocument/2006/relationships/tags" Target="../tags/tag946.xml"/><Relationship Id="rId10" Type="http://schemas.openxmlformats.org/officeDocument/2006/relationships/tags" Target="../tags/tag945.xml"/><Relationship Id="rId1" Type="http://schemas.openxmlformats.org/officeDocument/2006/relationships/tags" Target="../tags/tag936.xml"/></Relationships>
</file>

<file path=ppt/slides/_rels/slide82.xml.rels><?xml version="1.0" encoding="UTF-8" standalone="yes"?>
<Relationships xmlns="http://schemas.openxmlformats.org/package/2006/relationships"><Relationship Id="rId9" Type="http://schemas.openxmlformats.org/officeDocument/2006/relationships/tags" Target="../tags/tag964.xml"/><Relationship Id="rId8" Type="http://schemas.openxmlformats.org/officeDocument/2006/relationships/tags" Target="../tags/tag963.xml"/><Relationship Id="rId7" Type="http://schemas.openxmlformats.org/officeDocument/2006/relationships/tags" Target="../tags/tag962.xml"/><Relationship Id="rId6" Type="http://schemas.openxmlformats.org/officeDocument/2006/relationships/tags" Target="../tags/tag961.xml"/><Relationship Id="rId5" Type="http://schemas.openxmlformats.org/officeDocument/2006/relationships/tags" Target="../tags/tag960.xml"/><Relationship Id="rId4" Type="http://schemas.openxmlformats.org/officeDocument/2006/relationships/tags" Target="../tags/tag959.xml"/><Relationship Id="rId3" Type="http://schemas.openxmlformats.org/officeDocument/2006/relationships/tags" Target="../tags/tag958.xml"/><Relationship Id="rId21" Type="http://schemas.openxmlformats.org/officeDocument/2006/relationships/notesSlide" Target="../notesSlides/notesSlide80.xml"/><Relationship Id="rId20" Type="http://schemas.openxmlformats.org/officeDocument/2006/relationships/slideLayout" Target="../slideLayouts/slideLayout1.xml"/><Relationship Id="rId2" Type="http://schemas.openxmlformats.org/officeDocument/2006/relationships/tags" Target="../tags/tag957.xml"/><Relationship Id="rId19" Type="http://schemas.openxmlformats.org/officeDocument/2006/relationships/tags" Target="../tags/tag974.xml"/><Relationship Id="rId18" Type="http://schemas.openxmlformats.org/officeDocument/2006/relationships/tags" Target="../tags/tag973.xml"/><Relationship Id="rId17" Type="http://schemas.openxmlformats.org/officeDocument/2006/relationships/tags" Target="../tags/tag972.xml"/><Relationship Id="rId16" Type="http://schemas.openxmlformats.org/officeDocument/2006/relationships/tags" Target="../tags/tag971.xml"/><Relationship Id="rId15" Type="http://schemas.openxmlformats.org/officeDocument/2006/relationships/tags" Target="../tags/tag970.xml"/><Relationship Id="rId14" Type="http://schemas.openxmlformats.org/officeDocument/2006/relationships/tags" Target="../tags/tag969.xml"/><Relationship Id="rId13" Type="http://schemas.openxmlformats.org/officeDocument/2006/relationships/tags" Target="../tags/tag968.xml"/><Relationship Id="rId12" Type="http://schemas.openxmlformats.org/officeDocument/2006/relationships/tags" Target="../tags/tag967.xml"/><Relationship Id="rId11" Type="http://schemas.openxmlformats.org/officeDocument/2006/relationships/tags" Target="../tags/tag966.xml"/><Relationship Id="rId10" Type="http://schemas.openxmlformats.org/officeDocument/2006/relationships/tags" Target="../tags/tag965.xml"/><Relationship Id="rId1" Type="http://schemas.openxmlformats.org/officeDocument/2006/relationships/tags" Target="../tags/tag95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9" Type="http://schemas.openxmlformats.org/officeDocument/2006/relationships/tags" Target="../tags/tag983.xml"/><Relationship Id="rId8" Type="http://schemas.openxmlformats.org/officeDocument/2006/relationships/tags" Target="../tags/tag982.xml"/><Relationship Id="rId7" Type="http://schemas.openxmlformats.org/officeDocument/2006/relationships/tags" Target="../tags/tag981.xml"/><Relationship Id="rId6" Type="http://schemas.openxmlformats.org/officeDocument/2006/relationships/tags" Target="../tags/tag980.xml"/><Relationship Id="rId5" Type="http://schemas.openxmlformats.org/officeDocument/2006/relationships/tags" Target="../tags/tag979.xml"/><Relationship Id="rId4" Type="http://schemas.openxmlformats.org/officeDocument/2006/relationships/tags" Target="../tags/tag978.xml"/><Relationship Id="rId3" Type="http://schemas.openxmlformats.org/officeDocument/2006/relationships/tags" Target="../tags/tag977.xml"/><Relationship Id="rId2" Type="http://schemas.openxmlformats.org/officeDocument/2006/relationships/tags" Target="../tags/tag976.xml"/><Relationship Id="rId14" Type="http://schemas.openxmlformats.org/officeDocument/2006/relationships/notesSlide" Target="../notesSlides/notesSlide82.xml"/><Relationship Id="rId13" Type="http://schemas.openxmlformats.org/officeDocument/2006/relationships/slideLayout" Target="../slideLayouts/slideLayout1.xml"/><Relationship Id="rId12" Type="http://schemas.openxmlformats.org/officeDocument/2006/relationships/tags" Target="../tags/tag986.xml"/><Relationship Id="rId11" Type="http://schemas.openxmlformats.org/officeDocument/2006/relationships/tags" Target="../tags/tag985.xml"/><Relationship Id="rId10" Type="http://schemas.openxmlformats.org/officeDocument/2006/relationships/tags" Target="../tags/tag984.xml"/><Relationship Id="rId1" Type="http://schemas.openxmlformats.org/officeDocument/2006/relationships/tags" Target="../tags/tag975.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xml"/><Relationship Id="rId1"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t="14257" b="7552"/>
          <a:stretch>
            <a:fillRect/>
          </a:stretch>
        </p:blipFill>
        <p:spPr>
          <a:xfrm>
            <a:off x="0" y="8255"/>
            <a:ext cx="12192635" cy="6866255"/>
          </a:xfrm>
          <a:prstGeom prst="rect">
            <a:avLst/>
          </a:prstGeom>
        </p:spPr>
      </p:pic>
      <p:cxnSp>
        <p:nvCxnSpPr>
          <p:cNvPr id="9" name="直接连接符 8"/>
          <p:cNvCxnSpPr/>
          <p:nvPr/>
        </p:nvCxnSpPr>
        <p:spPr>
          <a:xfrm>
            <a:off x="1989836" y="5835613"/>
            <a:ext cx="9474055" cy="0"/>
          </a:xfrm>
          <a:prstGeom prst="line">
            <a:avLst/>
          </a:prstGeom>
          <a:noFill/>
          <a:ln w="25400" cap="flat">
            <a:solidFill>
              <a:schemeClr val="bg1">
                <a:alpha val="40000"/>
              </a:schemeClr>
            </a:solidFill>
            <a:prstDash val="solid"/>
            <a:miter lim="400000"/>
          </a:ln>
        </p:spPr>
        <p:style>
          <a:lnRef idx="0">
            <a:srgbClr val="FFFFFF"/>
          </a:lnRef>
          <a:fillRef idx="0">
            <a:srgbClr val="FFFFFF"/>
          </a:fillRef>
          <a:effectRef idx="0">
            <a:srgbClr val="FFFFFF"/>
          </a:effectRef>
          <a:fontRef idx="none"/>
        </p:style>
      </p:cxnSp>
      <p:sp>
        <p:nvSpPr>
          <p:cNvPr id="4" name="矩形 3"/>
          <p:cNvSpPr/>
          <p:nvPr/>
        </p:nvSpPr>
        <p:spPr>
          <a:xfrm>
            <a:off x="635" y="0"/>
            <a:ext cx="12192000" cy="6858000"/>
          </a:xfrm>
          <a:prstGeom prst="rect">
            <a:avLst/>
          </a:prstGeom>
          <a:solidFill>
            <a:srgbClr val="171F2C">
              <a:alpha val="37312"/>
            </a:srgbClr>
          </a:solid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0" tIns="0" rIns="0" bIns="0" numCol="1" spcCol="38100" rtlCol="0" anchor="ctr" forceAA="0">
            <a:noAutofit/>
          </a:bodyPr>
          <a:lstStyle/>
          <a:p>
            <a:pPr defTabSz="412750"/>
            <a:endParaRPr lang="zh-CN" altLang="en-US" sz="1600" dirty="0">
              <a:solidFill>
                <a:srgbClr val="FFFFFF"/>
              </a:solidFill>
              <a:sym typeface="Helvetica Neue Medium" panose="02000503000000020004"/>
            </a:endParaRPr>
          </a:p>
        </p:txBody>
      </p:sp>
      <p:sp>
        <p:nvSpPr>
          <p:cNvPr id="10" name="2022年10月"/>
          <p:cNvSpPr txBox="1"/>
          <p:nvPr/>
        </p:nvSpPr>
        <p:spPr>
          <a:xfrm>
            <a:off x="535442" y="4837294"/>
            <a:ext cx="1354455" cy="296545"/>
          </a:xfrm>
          <a:prstGeom prst="rect">
            <a:avLst/>
          </a:prstGeom>
          <a:ln w="12700">
            <a:miter lim="400000"/>
          </a:ln>
        </p:spPr>
        <p:txBody>
          <a:bodyPr wrap="none" lIns="25400" tIns="25400" rIns="25400" bIns="25400" anchor="ctr">
            <a:spAutoFit/>
          </a:bodyPr>
          <a:lstStyle>
            <a:lvl1pPr>
              <a:defRPr>
                <a:gradFill flip="none" rotWithShape="1">
                  <a:gsLst>
                    <a:gs pos="0">
                      <a:srgbClr val="E8E7EA"/>
                    </a:gs>
                    <a:gs pos="100000">
                      <a:srgbClr val="FFFFFF"/>
                    </a:gs>
                  </a:gsLst>
                  <a:lin ang="5400000" scaled="0"/>
                </a:gradFill>
              </a:defRPr>
            </a:lvl1pPr>
          </a:lstStyle>
          <a:p>
            <a:r>
              <a:rPr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202</a:t>
            </a:r>
            <a:r>
              <a:rPr lang="en-US" altLang="zh-CN"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5</a:t>
            </a:r>
            <a:r>
              <a:rPr lang="en-US"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年</a:t>
            </a:r>
            <a:r>
              <a:rPr lang="en-US"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 10</a:t>
            </a:r>
            <a:r>
              <a:rPr lang="zh-CN" altLang="en-US"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err="1">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rPr>
              <a:t>月</a:t>
            </a:r>
            <a:endParaRPr sz="1600" dirty="0">
              <a:solidFill>
                <a:schemeClr val="bg1">
                  <a:alpha val="7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汉得信息：企业数字化转型全面服务能力提供商"/>
          <p:cNvSpPr/>
          <p:nvPr/>
        </p:nvSpPr>
        <p:spPr>
          <a:xfrm>
            <a:off x="535442" y="4324232"/>
            <a:ext cx="5043063" cy="375842"/>
          </a:xfrm>
          <a:prstGeom prst="roundRect">
            <a:avLst>
              <a:gd name="adj" fmla="val 50000"/>
            </a:avLst>
          </a:prstGeom>
          <a:solidFill>
            <a:srgbClr val="3DC5D2"/>
          </a:solidFill>
          <a:ln w="12700">
            <a:miter lim="400000"/>
          </a:ln>
        </p:spPr>
        <p:txBody>
          <a:bodyPr lIns="0" tIns="0" rIns="0" bIns="0" anchor="ctr"/>
          <a:lstStyle>
            <a:lvl1pPr>
              <a:defRPr b="0">
                <a:gradFill flip="none" rotWithShape="1">
                  <a:gsLst>
                    <a:gs pos="0">
                      <a:srgbClr val="E8E7EA"/>
                    </a:gs>
                    <a:gs pos="100000">
                      <a:srgbClr val="FFFFFF"/>
                    </a:gs>
                  </a:gsLst>
                  <a:lin ang="5400000" scaled="0"/>
                </a:gradFill>
                <a:latin typeface="FZLanTingHeiS-EB-GB" panose="02000000000000000000" charset="-122"/>
                <a:ea typeface="FZLanTingHeiS-EB-GB" panose="02000000000000000000" charset="-122"/>
                <a:cs typeface="FZLanTingHeiS-EB-GB" panose="02000000000000000000" charset="-122"/>
                <a:sym typeface="FZLanTingHeiS-EB-GB" panose="02000000000000000000" charset="-122"/>
              </a:defRPr>
            </a:lvl1pPr>
          </a:lstStyle>
          <a:p>
            <a:r>
              <a:rPr lang="zh-CN" altLang="en-US" sz="1500" b="1" dirty="0">
                <a:solidFill>
                  <a:schemeClr val="bg1"/>
                </a:solidFill>
                <a:latin typeface="微软雅黑" panose="020B0503020204020204" pitchFamily="34" charset="-122"/>
                <a:ea typeface="微软雅黑" panose="020B0503020204020204" pitchFamily="34" charset="-122"/>
              </a:rPr>
              <a:t>汉得信息：企业数字化转型全面服务能力提供商</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pic>
        <p:nvPicPr>
          <p:cNvPr id="12" name="图片 11" descr="数字化，放心交给我（横版） - 反白@4x"/>
          <p:cNvPicPr>
            <a:picLocks noChangeAspect="1"/>
          </p:cNvPicPr>
          <p:nvPr/>
        </p:nvPicPr>
        <p:blipFill>
          <a:blip r:embed="rId2">
            <a:lum bright="-6000" contrast="-36000"/>
          </a:blip>
          <a:stretch>
            <a:fillRect/>
          </a:stretch>
        </p:blipFill>
        <p:spPr>
          <a:xfrm>
            <a:off x="535442" y="5299509"/>
            <a:ext cx="1325901" cy="539992"/>
          </a:xfrm>
          <a:prstGeom prst="rect">
            <a:avLst/>
          </a:prstGeom>
        </p:spPr>
      </p:pic>
      <p:cxnSp>
        <p:nvCxnSpPr>
          <p:cNvPr id="13" name="直接连接符 12"/>
          <p:cNvCxnSpPr/>
          <p:nvPr/>
        </p:nvCxnSpPr>
        <p:spPr>
          <a:xfrm>
            <a:off x="1989836" y="5835613"/>
            <a:ext cx="9474055" cy="0"/>
          </a:xfrm>
          <a:prstGeom prst="line">
            <a:avLst/>
          </a:prstGeom>
          <a:noFill/>
          <a:ln w="25400" cap="flat">
            <a:solidFill>
              <a:schemeClr val="bg1">
                <a:alpha val="40000"/>
              </a:schemeClr>
            </a:solidFill>
            <a:prstDash val="solid"/>
            <a:miter lim="400000"/>
          </a:ln>
        </p:spPr>
        <p:style>
          <a:lnRef idx="0">
            <a:srgbClr val="FFFFFF"/>
          </a:lnRef>
          <a:fillRef idx="0">
            <a:srgbClr val="FFFFFF"/>
          </a:fillRef>
          <a:effectRef idx="0">
            <a:srgbClr val="FFFFFF"/>
          </a:effectRef>
          <a:fontRef idx="none"/>
        </p:style>
      </p:cxnSp>
      <p:sp>
        <p:nvSpPr>
          <p:cNvPr id="325" name="标题 1"/>
          <p:cNvSpPr>
            <a:spLocks noGrp="1"/>
          </p:cNvSpPr>
          <p:nvPr>
            <p:ph type="title"/>
          </p:nvPr>
        </p:nvSpPr>
        <p:spPr>
          <a:xfrm>
            <a:off x="452736" y="1413453"/>
            <a:ext cx="10623969" cy="2494805"/>
          </a:xfrm>
        </p:spPr>
        <p:txBody>
          <a:bodyPr vert="horz" lIns="0" tIns="0" rIns="0" bIns="0" rtlCol="0" anchor="ctr">
            <a:noAutofit/>
          </a:bodyPr>
          <a:lstStyle/>
          <a:p>
            <a:r>
              <a:rPr lang="zh-CN" altLang="en-US" sz="5400" dirty="0">
                <a:solidFill>
                  <a:schemeClr val="bg1"/>
                </a:solidFill>
                <a:effectLst>
                  <a:outerShdw blurRad="50800" dist="38100" dir="2700000" algn="tl" rotWithShape="0">
                    <a:prstClr val="black">
                      <a:alpha val="40000"/>
                    </a:prstClr>
                  </a:outerShdw>
                </a:effectLst>
              </a:rPr>
              <a:t>洲明科技</a:t>
            </a:r>
            <a:r>
              <a:rPr lang="en-US" altLang="zh-CN" sz="5400" dirty="0">
                <a:solidFill>
                  <a:schemeClr val="bg1"/>
                </a:solidFill>
                <a:effectLst>
                  <a:outerShdw blurRad="50800" dist="38100" dir="2700000" algn="tl" rotWithShape="0">
                    <a:prstClr val="black">
                      <a:alpha val="40000"/>
                    </a:prstClr>
                  </a:outerShdw>
                </a:effectLst>
              </a:rPr>
              <a:t>-</a:t>
            </a:r>
            <a:r>
              <a:rPr lang="zh-CN" altLang="en-US" sz="5400" dirty="0">
                <a:solidFill>
                  <a:schemeClr val="bg1"/>
                </a:solidFill>
                <a:effectLst>
                  <a:outerShdw blurRad="50800" dist="38100" dir="2700000" algn="tl" rotWithShape="0">
                    <a:prstClr val="black">
                      <a:alpha val="40000"/>
                    </a:prstClr>
                  </a:outerShdw>
                </a:effectLst>
              </a:rPr>
              <a:t>数据中台蓝图</a:t>
            </a:r>
            <a:r>
              <a:rPr lang="zh-CN" altLang="en-US" sz="5400" dirty="0">
                <a:solidFill>
                  <a:schemeClr val="bg1"/>
                </a:solidFill>
                <a:effectLst>
                  <a:outerShdw blurRad="50800" dist="38100" dir="2700000" algn="tl" rotWithShape="0">
                    <a:prstClr val="black">
                      <a:alpha val="40000"/>
                    </a:prstClr>
                  </a:outerShdw>
                </a:effectLst>
              </a:rPr>
              <a:t>规划</a:t>
            </a:r>
            <a:endParaRPr lang="zh-CN" altLang="en-US" sz="5400" dirty="0">
              <a:solidFill>
                <a:schemeClr val="bg1"/>
              </a:solidFill>
              <a:effectLst>
                <a:outerShdw blurRad="50800" dist="38100" dir="2700000" algn="tl" rotWithShape="0">
                  <a:prstClr val="black">
                    <a:alpha val="40000"/>
                  </a:prstClr>
                </a:outerShdw>
              </a:effectLst>
            </a:endParaRPr>
          </a:p>
        </p:txBody>
      </p:sp>
      <p:sp>
        <p:nvSpPr>
          <p:cNvPr id="5" name="灯片编号占位符 4"/>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6" name="矩形 5"/>
          <p:cNvSpPr/>
          <p:nvPr/>
        </p:nvSpPr>
        <p:spPr>
          <a:xfrm>
            <a:off x="453007" y="359951"/>
            <a:ext cx="3106827" cy="785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3"/>
          <a:srcRect l="2162" t="27778" r="1838" b="5555"/>
          <a:stretch>
            <a:fillRect/>
          </a:stretch>
        </p:blipFill>
        <p:spPr>
          <a:xfrm>
            <a:off x="453007" y="511093"/>
            <a:ext cx="3106827" cy="486500"/>
          </a:xfrm>
          <a:prstGeom prst="rect">
            <a:avLst/>
          </a:prstGeom>
        </p:spPr>
      </p:pic>
      <p:pic>
        <p:nvPicPr>
          <p:cNvPr id="2" name="图片 1"/>
          <p:cNvPicPr>
            <a:picLocks noChangeAspect="1"/>
          </p:cNvPicPr>
          <p:nvPr userDrawn="1"/>
        </p:nvPicPr>
        <p:blipFill>
          <a:blip r:embed="rId4">
            <a:clrChange>
              <a:clrFrom>
                <a:srgbClr val="FEFFFF"/>
              </a:clrFrom>
              <a:clrTo>
                <a:srgbClr val="FEFFFF">
                  <a:alpha val="0"/>
                </a:srgbClr>
              </a:clrTo>
            </a:clrChange>
          </a:blip>
          <a:stretch>
            <a:fillRect/>
          </a:stretch>
        </p:blipFill>
        <p:spPr>
          <a:xfrm>
            <a:off x="11187857" y="588802"/>
            <a:ext cx="666969" cy="328415"/>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20196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201993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86167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指标体系</a:t>
            </a:r>
            <a:r>
              <a:rPr lang="zh-CN" altLang="en-US" dirty="0"/>
              <a:t>方案</a:t>
            </a:r>
            <a:endParaRPr lang="zh-CN" altLang="en-US" dirty="0"/>
          </a:p>
        </p:txBody>
      </p:sp>
      <p:sp>
        <p:nvSpPr>
          <p:cNvPr id="18" name="文本占位符 17"/>
          <p:cNvSpPr txBox="1"/>
          <p:nvPr>
            <p:custDataLst>
              <p:tags r:id="rId4"/>
            </p:custDataLst>
          </p:nvPr>
        </p:nvSpPr>
        <p:spPr>
          <a:xfrm>
            <a:off x="3566795" y="286194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03</a:t>
            </a:r>
            <a:endParaRPr lang="en-US" altLang="zh-CN" dirty="0">
              <a:sym typeface="+mn-ea"/>
            </a:endParaRPr>
          </a:p>
        </p:txBody>
      </p:sp>
      <p:sp>
        <p:nvSpPr>
          <p:cNvPr id="19" name="文本占位符 17"/>
          <p:cNvSpPr txBox="1"/>
          <p:nvPr>
            <p:custDataLst>
              <p:tags r:id="rId5"/>
            </p:custDataLst>
          </p:nvPr>
        </p:nvSpPr>
        <p:spPr>
          <a:xfrm>
            <a:off x="4456884" y="1176715"/>
            <a:ext cx="6357357" cy="566726"/>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调研情况</a:t>
            </a:r>
            <a:r>
              <a:rPr lang="zh-CN" altLang="en-US" dirty="0">
                <a:sym typeface="+mn-ea"/>
              </a:rPr>
              <a:t>总结</a:t>
            </a:r>
            <a:endParaRPr lang="zh-CN" altLang="en-US" dirty="0">
              <a:sym typeface="+mn-ea"/>
            </a:endParaRPr>
          </a:p>
        </p:txBody>
      </p:sp>
      <p:sp>
        <p:nvSpPr>
          <p:cNvPr id="20" name="文本占位符 17"/>
          <p:cNvSpPr txBox="1"/>
          <p:nvPr>
            <p:custDataLst>
              <p:tags r:id="rId6"/>
            </p:custDataLst>
          </p:nvPr>
        </p:nvSpPr>
        <p:spPr>
          <a:xfrm>
            <a:off x="3566160" y="1176655"/>
            <a:ext cx="704850" cy="56642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01</a:t>
            </a:r>
            <a:endParaRPr lang="zh-CN" altLang="en-US"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370368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370395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454569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454596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38770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38797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项目目标</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文本框 3"/>
          <p:cNvSpPr txBox="1"/>
          <p:nvPr/>
        </p:nvSpPr>
        <p:spPr>
          <a:xfrm>
            <a:off x="339587" y="714225"/>
            <a:ext cx="11741577" cy="1706880"/>
          </a:xfrm>
          <a:prstGeom prst="rect">
            <a:avLst/>
          </a:prstGeom>
          <a:noFill/>
        </p:spPr>
        <p:txBody>
          <a:bodyPr wrap="square" rtlCol="0">
            <a:spAutoFit/>
          </a:bodyPr>
          <a:lstStyle/>
          <a:p>
            <a:pPr marL="171450" indent="-171450">
              <a:lnSpc>
                <a:spcPct val="150000"/>
              </a:lnSpc>
              <a:buFont typeface="Wingdings" panose="05000000000000000000" charset="0"/>
              <a:buChar char="Ø"/>
            </a:pPr>
            <a:r>
              <a:rPr lang="zh-CN" altLang="en-US" sz="1400" b="1" dirty="0">
                <a:solidFill>
                  <a:schemeClr val="tx1"/>
                </a:solidFill>
                <a:latin typeface="微软雅黑" panose="020B0503020204020204" pitchFamily="34" charset="-122"/>
                <a:ea typeface="微软雅黑" panose="020B0503020204020204" pitchFamily="34" charset="-122"/>
              </a:rPr>
              <a:t>梳理</a:t>
            </a:r>
            <a:r>
              <a:rPr lang="zh-CN" altLang="en-US" sz="1400" b="1" dirty="0">
                <a:solidFill>
                  <a:srgbClr val="1A757E"/>
                </a:solidFill>
                <a:latin typeface="微软雅黑" panose="020B0503020204020204" pitchFamily="34" charset="-122"/>
                <a:ea typeface="微软雅黑" panose="020B0503020204020204" pitchFamily="34" charset="-122"/>
                <a:sym typeface="+mn-ea"/>
              </a:rPr>
              <a:t>洲明经营分析指标体系，</a:t>
            </a:r>
            <a:r>
              <a:rPr lang="zh-CN" altLang="en-US" sz="1400" b="1" dirty="0">
                <a:latin typeface="微软雅黑" panose="020B0503020204020204" pitchFamily="34" charset="-122"/>
                <a:ea typeface="微软雅黑" panose="020B0503020204020204" pitchFamily="34" charset="-122"/>
              </a:rPr>
              <a:t>搭建</a:t>
            </a:r>
            <a:r>
              <a:rPr lang="zh-CN" altLang="en-US" sz="1400" b="1" dirty="0">
                <a:solidFill>
                  <a:srgbClr val="1A757E"/>
                </a:solidFill>
                <a:latin typeface="微软雅黑" panose="020B0503020204020204" pitchFamily="34" charset="-122"/>
                <a:ea typeface="微软雅黑" panose="020B0503020204020204" pitchFamily="34" charset="-122"/>
              </a:rPr>
              <a:t>洲明数据资产管理平台</a:t>
            </a:r>
            <a:r>
              <a:rPr lang="zh-CN" altLang="en-US" sz="1400" dirty="0">
                <a:latin typeface="微软雅黑" panose="020B0503020204020204" pitchFamily="34" charset="-122"/>
                <a:ea typeface="微软雅黑" panose="020B0503020204020204" pitchFamily="34" charset="-122"/>
              </a:rPr>
              <a:t>，该平台包含：数据采集、数据存储、数据开发、任务管理、指标管理、数据标准、数据质量、数据安全、数据资产、数据服务、平台管理、运维监控等功能模块。</a:t>
            </a:r>
            <a:endParaRPr lang="zh-CN" altLang="en-US" sz="1400" dirty="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charset="0"/>
              <a:buChar char="Ø"/>
            </a:pPr>
            <a:r>
              <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zh-CN" altLang="en-US" sz="1400" b="1" dirty="0">
                <a:solidFill>
                  <a:srgbClr val="1A757E"/>
                </a:solidFill>
                <a:latin typeface="微软雅黑" panose="020B0503020204020204" pitchFamily="34" charset="-122"/>
                <a:ea typeface="微软雅黑" panose="020B0503020204020204" pitchFamily="34" charset="-122"/>
                <a:cs typeface="微软雅黑" panose="020B0503020204020204" pitchFamily="34" charset="-122"/>
                <a:sym typeface="+mn-ea"/>
              </a:rPr>
              <a:t>数据治理体系、打造洲明自有的数据中台团队</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：数据治理组织规划咨询服务、数据治理相关制度规划咨询服务、</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HR</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主数据</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管理、数据中台产品部署、数仓搭建服务、数据集成、开发服务、数据模型、指标搭建服务、数据中台产品使用培训等。</a:t>
            </a:r>
            <a:endParaRPr lang="zh-CN" altLang="en-US" sz="1400" dirty="0">
              <a:latin typeface="微软雅黑" panose="020B0503020204020204" pitchFamily="34" charset="-122"/>
              <a:ea typeface="微软雅黑" panose="020B0503020204020204" pitchFamily="34" charset="-122"/>
            </a:endParaRPr>
          </a:p>
          <a:p>
            <a:pPr marL="171450" indent="-171450">
              <a:lnSpc>
                <a:spcPct val="150000"/>
              </a:lnSpc>
              <a:spcBef>
                <a:spcPts val="0"/>
              </a:spcBef>
              <a:spcAft>
                <a:spcPts val="0"/>
              </a:spcAft>
              <a:buFont typeface="Wingdings" panose="05000000000000000000" charset="0"/>
              <a:buChar char="Ø"/>
            </a:pPr>
            <a:r>
              <a:rPr lang="zh-CN" altLang="en-US" sz="1400" b="1" dirty="0">
                <a:latin typeface="微软雅黑" panose="020B0503020204020204" pitchFamily="34" charset="-122"/>
                <a:ea typeface="微软雅黑" panose="020B0503020204020204" pitchFamily="34" charset="-122"/>
              </a:rPr>
              <a:t>落地</a:t>
            </a:r>
            <a:r>
              <a:rPr lang="zh-CN" altLang="en-US" sz="1400" b="1" dirty="0">
                <a:solidFill>
                  <a:srgbClr val="1A757E"/>
                </a:solidFill>
                <a:latin typeface="微软雅黑" panose="020B0503020204020204" pitchFamily="34" charset="-122"/>
                <a:ea typeface="微软雅黑" panose="020B0503020204020204" pitchFamily="34" charset="-122"/>
              </a:rPr>
              <a:t>基准价测算、财务与营销数据应用</a:t>
            </a:r>
            <a:r>
              <a:rPr lang="zh-CN" altLang="en-US" sz="1400" dirty="0">
                <a:latin typeface="微软雅黑" panose="020B0503020204020204" pitchFamily="34" charset="-122"/>
                <a:ea typeface="微软雅黑" panose="020B0503020204020204" pitchFamily="34" charset="-122"/>
              </a:rPr>
              <a:t>三个试点应用场景</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，拉通底层业务系统数据，进行数据清洗与治理。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 name="组合 4"/>
          <p:cNvGrpSpPr/>
          <p:nvPr/>
        </p:nvGrpSpPr>
        <p:grpSpPr>
          <a:xfrm>
            <a:off x="739659" y="2646252"/>
            <a:ext cx="3136900" cy="2585720"/>
            <a:chOff x="1076" y="3945"/>
            <a:chExt cx="4940" cy="4072"/>
          </a:xfrm>
        </p:grpSpPr>
        <p:sp>
          <p:nvSpPr>
            <p:cNvPr id="6" name="矩形 5"/>
            <p:cNvSpPr/>
            <p:nvPr/>
          </p:nvSpPr>
          <p:spPr>
            <a:xfrm>
              <a:off x="1076" y="3945"/>
              <a:ext cx="4940" cy="896"/>
            </a:xfrm>
            <a:prstGeom prst="rect">
              <a:avLst/>
            </a:prstGeom>
            <a:solidFill>
              <a:srgbClr val="3DC5D2"/>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、指标体系梳理</a:t>
              </a:r>
              <a:endParaRPr lang="zh-CN" altLang="en-US" b="1" dirty="0">
                <a:latin typeface="微软雅黑" panose="020B0503020204020204" pitchFamily="34" charset="-122"/>
                <a:ea typeface="微软雅黑" panose="020B0503020204020204" pitchFamily="34" charset="-122"/>
              </a:endParaRPr>
            </a:p>
          </p:txBody>
        </p:sp>
        <p:sp>
          <p:nvSpPr>
            <p:cNvPr id="7" name="矩形 6"/>
            <p:cNvSpPr/>
            <p:nvPr/>
          </p:nvSpPr>
          <p:spPr>
            <a:xfrm>
              <a:off x="1076" y="5001"/>
              <a:ext cx="4875" cy="3017"/>
            </a:xfrm>
            <a:prstGeom prst="rect">
              <a:avLst/>
            </a:prstGeom>
            <a:noFill/>
            <a:ln>
              <a:solidFill>
                <a:srgbClr val="1A757E"/>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0" name="燕尾形 31"/>
          <p:cNvSpPr/>
          <p:nvPr/>
        </p:nvSpPr>
        <p:spPr>
          <a:xfrm>
            <a:off x="3970979" y="2745682"/>
            <a:ext cx="249555" cy="394970"/>
          </a:xfrm>
          <a:prstGeom prst="chevron">
            <a:avLst/>
          </a:prstGeom>
          <a:gradFill flip="none" rotWithShape="0">
            <a:gsLst>
              <a:gs pos="50000">
                <a:srgbClr val="11AFBB"/>
              </a:gs>
              <a:gs pos="0">
                <a:schemeClr val="accent1">
                  <a:lumMod val="25000"/>
                  <a:lumOff val="75000"/>
                </a:schemeClr>
              </a:gs>
              <a:gs pos="100000">
                <a:srgbClr val="0C818A"/>
              </a:gs>
            </a:gsLst>
            <a:lin ang="5400000" scaled="1"/>
          </a:gradFill>
          <a:ln w="20066" cap="flat" cmpd="sng" algn="ctr">
            <a:noFill/>
            <a:prstDash val="solid"/>
            <a:miter lim="800000"/>
          </a:ln>
          <a:effectLst>
            <a:outerShdw blurRad="254000" dist="101600" dir="5400000" sx="95000" sy="95000" algn="t" rotWithShape="0">
              <a:schemeClr val="accent1">
                <a:alpha val="30000"/>
              </a:schemeClr>
            </a:outerShdw>
          </a:effectLst>
        </p:spPr>
        <p:txBody>
          <a:bodyPr lIns="14630" tIns="7315" rIns="14630" bIns="7315" rtlCol="0" anchor="ctr">
            <a:noAutofit/>
          </a:bodyPr>
          <a:lstStyle/>
          <a:p>
            <a:pPr lvl="0" algn="ctr" defTabSz="609600">
              <a:buClrTx/>
              <a:buSzTx/>
              <a:buFontTx/>
            </a:pPr>
            <a:endParaRPr lang="zh-CN" altLang="en-US" sz="1000" kern="0" dirty="0">
              <a:solidFill>
                <a:prstClr val="white"/>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12" name="梯形 11"/>
          <p:cNvSpPr/>
          <p:nvPr>
            <p:custDataLst>
              <p:tags r:id="rId1"/>
            </p:custDataLst>
          </p:nvPr>
        </p:nvSpPr>
        <p:spPr>
          <a:xfrm>
            <a:off x="339587" y="5232607"/>
            <a:ext cx="11490960" cy="492125"/>
          </a:xfrm>
          <a:prstGeom prst="trapezoid">
            <a:avLst>
              <a:gd name="adj" fmla="val 99755"/>
            </a:avLst>
          </a:prstGeom>
          <a:gradFill>
            <a:gsLst>
              <a:gs pos="12000">
                <a:schemeClr val="bg1">
                  <a:alpha val="0"/>
                </a:schemeClr>
              </a:gs>
              <a:gs pos="100000">
                <a:srgbClr val="3DC5D2">
                  <a:alpha val="10000"/>
                  <a:lumMod val="98000"/>
                </a:srgbClr>
              </a:gs>
            </a:gsLst>
            <a:lin ang="5400000" scaled="1"/>
          </a:gradFill>
          <a:ln w="12700" cap="flat">
            <a:gradFill>
              <a:gsLst>
                <a:gs pos="0">
                  <a:schemeClr val="accent1">
                    <a:alpha val="0"/>
                  </a:schemeClr>
                </a:gs>
                <a:gs pos="100000">
                  <a:schemeClr val="accent1">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a:solidFill>
                <a:prstClr val="black"/>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434423" y="5228752"/>
            <a:ext cx="5325745" cy="36830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高效、安全、可靠的数据管理平台</a:t>
            </a:r>
            <a:endParaRPr lang="zh-CN" altLang="en-US" dirty="0">
              <a:latin typeface="微软雅黑" panose="020B0503020204020204" pitchFamily="34" charset="-122"/>
              <a:ea typeface="微软雅黑" panose="020B0503020204020204" pitchFamily="34" charset="-122"/>
            </a:endParaRPr>
          </a:p>
        </p:txBody>
      </p:sp>
      <p:sp>
        <p:nvSpPr>
          <p:cNvPr id="16" name="矩形 15"/>
          <p:cNvSpPr/>
          <p:nvPr>
            <p:custDataLst>
              <p:tags r:id="rId2"/>
            </p:custDataLst>
          </p:nvPr>
        </p:nvSpPr>
        <p:spPr>
          <a:xfrm>
            <a:off x="774584" y="3368247"/>
            <a:ext cx="540000" cy="36000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数据资产</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17" name="矩形 16"/>
          <p:cNvSpPr/>
          <p:nvPr>
            <p:custDataLst>
              <p:tags r:id="rId3"/>
            </p:custDataLst>
          </p:nvPr>
        </p:nvSpPr>
        <p:spPr>
          <a:xfrm>
            <a:off x="3391419" y="3368247"/>
            <a:ext cx="359410" cy="177927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运维监控</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18" name="矩形 17"/>
          <p:cNvSpPr/>
          <p:nvPr>
            <p:custDataLst>
              <p:tags r:id="rId4"/>
            </p:custDataLst>
          </p:nvPr>
        </p:nvSpPr>
        <p:spPr>
          <a:xfrm>
            <a:off x="1232419" y="4856687"/>
            <a:ext cx="2036445" cy="307975"/>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基础管理</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19" name="矩形 18"/>
          <p:cNvSpPr/>
          <p:nvPr>
            <p:custDataLst>
              <p:tags r:id="rId5"/>
            </p:custDataLst>
          </p:nvPr>
        </p:nvSpPr>
        <p:spPr>
          <a:xfrm>
            <a:off x="774584" y="3757502"/>
            <a:ext cx="371475" cy="1390015"/>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调度平台</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20" name="矩形 19"/>
          <p:cNvSpPr/>
          <p:nvPr>
            <p:custDataLst>
              <p:tags r:id="rId6"/>
            </p:custDataLst>
          </p:nvPr>
        </p:nvSpPr>
        <p:spPr>
          <a:xfrm>
            <a:off x="2903104" y="3765122"/>
            <a:ext cx="391160" cy="1015365"/>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数据治理</a:t>
            </a:r>
            <a:endParaRPr lang="en-US" altLang="zh-CN" sz="1200">
              <a:solidFill>
                <a:srgbClr val="07393D"/>
              </a:solidFill>
              <a:latin typeface="微软雅黑" panose="020B0503020204020204" pitchFamily="34" charset="-122"/>
              <a:ea typeface="微软雅黑" panose="020B0503020204020204" pitchFamily="34" charset="-122"/>
            </a:endParaRPr>
          </a:p>
        </p:txBody>
      </p:sp>
      <p:sp>
        <p:nvSpPr>
          <p:cNvPr id="21" name="矩形 20"/>
          <p:cNvSpPr/>
          <p:nvPr>
            <p:custDataLst>
              <p:tags r:id="rId7"/>
            </p:custDataLst>
          </p:nvPr>
        </p:nvSpPr>
        <p:spPr>
          <a:xfrm>
            <a:off x="2306204" y="3808937"/>
            <a:ext cx="499745" cy="517525"/>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实时开发</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22" name="矩形 21"/>
          <p:cNvSpPr/>
          <p:nvPr>
            <p:custDataLst>
              <p:tags r:id="rId8"/>
            </p:custDataLst>
          </p:nvPr>
        </p:nvSpPr>
        <p:spPr>
          <a:xfrm>
            <a:off x="1222894" y="3808937"/>
            <a:ext cx="523875" cy="51816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离线开发</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23" name="矩形 22"/>
          <p:cNvSpPr/>
          <p:nvPr>
            <p:custDataLst>
              <p:tags r:id="rId9"/>
            </p:custDataLst>
          </p:nvPr>
        </p:nvSpPr>
        <p:spPr>
          <a:xfrm>
            <a:off x="1764549" y="3808937"/>
            <a:ext cx="523875" cy="51816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算法开发</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24" name="矩形 23"/>
          <p:cNvSpPr/>
          <p:nvPr>
            <p:custDataLst>
              <p:tags r:id="rId10"/>
            </p:custDataLst>
          </p:nvPr>
        </p:nvSpPr>
        <p:spPr>
          <a:xfrm>
            <a:off x="1244484" y="4402662"/>
            <a:ext cx="1544955" cy="39878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数据集成</a:t>
            </a:r>
            <a:endParaRPr lang="en-US" altLang="zh-CN" sz="1200">
              <a:solidFill>
                <a:srgbClr val="07393D"/>
              </a:solidFill>
              <a:latin typeface="微软雅黑" panose="020B0503020204020204" pitchFamily="34" charset="-122"/>
              <a:ea typeface="微软雅黑" panose="020B0503020204020204" pitchFamily="34" charset="-122"/>
            </a:endParaRPr>
          </a:p>
        </p:txBody>
      </p:sp>
      <p:sp>
        <p:nvSpPr>
          <p:cNvPr id="25" name="矩形 24"/>
          <p:cNvSpPr/>
          <p:nvPr>
            <p:custDataLst>
              <p:tags r:id="rId11"/>
            </p:custDataLst>
          </p:nvPr>
        </p:nvSpPr>
        <p:spPr>
          <a:xfrm>
            <a:off x="1452379" y="3368247"/>
            <a:ext cx="539750" cy="36000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rgbClr val="07393D"/>
                </a:solidFill>
                <a:latin typeface="微软雅黑" panose="020B0503020204020204" pitchFamily="34" charset="-122"/>
                <a:ea typeface="微软雅黑" panose="020B0503020204020204" pitchFamily="34" charset="-122"/>
              </a:rPr>
              <a:t>数据模型</a:t>
            </a:r>
            <a:endParaRPr lang="zh-CN" altLang="en-US" sz="1200" dirty="0">
              <a:solidFill>
                <a:srgbClr val="07393D"/>
              </a:solidFill>
              <a:latin typeface="微软雅黑" panose="020B0503020204020204" pitchFamily="34" charset="-122"/>
              <a:ea typeface="微软雅黑" panose="020B0503020204020204" pitchFamily="34" charset="-122"/>
            </a:endParaRPr>
          </a:p>
        </p:txBody>
      </p:sp>
      <p:sp>
        <p:nvSpPr>
          <p:cNvPr id="26" name="矩形 25"/>
          <p:cNvSpPr/>
          <p:nvPr>
            <p:custDataLst>
              <p:tags r:id="rId12"/>
            </p:custDataLst>
          </p:nvPr>
        </p:nvSpPr>
        <p:spPr>
          <a:xfrm>
            <a:off x="2129924" y="3368247"/>
            <a:ext cx="539750" cy="36000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指标字典</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27" name="矩形 26"/>
          <p:cNvSpPr/>
          <p:nvPr>
            <p:custDataLst>
              <p:tags r:id="rId13"/>
            </p:custDataLst>
          </p:nvPr>
        </p:nvSpPr>
        <p:spPr>
          <a:xfrm>
            <a:off x="2807469" y="3368247"/>
            <a:ext cx="539750" cy="360000"/>
          </a:xfrm>
          <a:prstGeom prst="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rgbClr val="07393D"/>
                </a:solidFill>
                <a:latin typeface="微软雅黑" panose="020B0503020204020204" pitchFamily="34" charset="-122"/>
                <a:ea typeface="微软雅黑" panose="020B0503020204020204" pitchFamily="34" charset="-122"/>
              </a:rPr>
              <a:t>数据服务</a:t>
            </a:r>
            <a:endParaRPr lang="zh-CN" altLang="en-US" sz="1200">
              <a:solidFill>
                <a:srgbClr val="07393D"/>
              </a:solidFill>
              <a:latin typeface="微软雅黑" panose="020B0503020204020204" pitchFamily="34" charset="-122"/>
              <a:ea typeface="微软雅黑" panose="020B0503020204020204" pitchFamily="34" charset="-122"/>
            </a:endParaRPr>
          </a:p>
        </p:txBody>
      </p:sp>
      <p:sp>
        <p:nvSpPr>
          <p:cNvPr id="52" name="圆角矩形 4"/>
          <p:cNvSpPr/>
          <p:nvPr>
            <p:custDataLst>
              <p:tags r:id="rId14"/>
            </p:custDataLst>
          </p:nvPr>
        </p:nvSpPr>
        <p:spPr>
          <a:xfrm>
            <a:off x="4637527" y="3368247"/>
            <a:ext cx="2817491" cy="360000"/>
          </a:xfrm>
          <a:prstGeom prst="roundRect">
            <a:avLst/>
          </a:prstGeom>
          <a:solidFill>
            <a:schemeClr val="bg1"/>
          </a:solidFill>
          <a:ln w="12700" cap="flat" cmpd="sng" algn="ctr">
            <a:noFill/>
            <a:prstDash val="solid"/>
            <a:miter lim="800000"/>
          </a:ln>
          <a:effectLst>
            <a:outerShdw blurRad="254000" algn="t" rotWithShape="0">
              <a:schemeClr val="accent1">
                <a:alpha val="8000"/>
              </a:schemeClr>
            </a:outerShdw>
          </a:effectLst>
        </p:spPr>
        <p:txBody>
          <a:bodyPr lIns="14630" tIns="7315" rIns="14630" bIns="7315" rtlCol="0" anchor="ctr">
            <a:noAutofit/>
          </a:bodyPr>
          <a:lstStyle/>
          <a:p>
            <a:pPr lvl="0" algn="ctr" defTabSz="609600">
              <a:buClrTx/>
              <a:buSzTx/>
              <a:buFontTx/>
            </a:pPr>
            <a:endParaRPr lang="zh-CN" altLang="en-US" sz="1600" kern="0" dirty="0">
              <a:solidFill>
                <a:srgbClr val="07393D"/>
              </a:solidFill>
              <a:latin typeface="微软雅黑" panose="020B0503020204020204" pitchFamily="34" charset="-122"/>
              <a:ea typeface="微软雅黑" panose="020B0503020204020204" pitchFamily="34" charset="-122"/>
              <a:cs typeface="Alibaba PuHuiTi 2.0 55" pitchFamily="18" charset="-122"/>
              <a:sym typeface="+mn-ea"/>
            </a:endParaRPr>
          </a:p>
        </p:txBody>
      </p:sp>
      <p:grpSp>
        <p:nvGrpSpPr>
          <p:cNvPr id="53" name="组合 52"/>
          <p:cNvGrpSpPr/>
          <p:nvPr/>
        </p:nvGrpSpPr>
        <p:grpSpPr>
          <a:xfrm>
            <a:off x="4330700" y="2646045"/>
            <a:ext cx="3482340" cy="2586355"/>
            <a:chOff x="6947" y="3945"/>
            <a:chExt cx="5366" cy="4073"/>
          </a:xfrm>
        </p:grpSpPr>
        <p:sp>
          <p:nvSpPr>
            <p:cNvPr id="54" name="矩形 53"/>
            <p:cNvSpPr/>
            <p:nvPr>
              <p:custDataLst>
                <p:tags r:id="rId15"/>
              </p:custDataLst>
            </p:nvPr>
          </p:nvSpPr>
          <p:spPr>
            <a:xfrm>
              <a:off x="6947" y="3945"/>
              <a:ext cx="5366" cy="896"/>
            </a:xfrm>
            <a:prstGeom prst="rect">
              <a:avLst/>
            </a:prstGeom>
            <a:solidFill>
              <a:srgbClr val="3DC5D2"/>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b="1" dirty="0">
                  <a:latin typeface="微软雅黑" panose="020B0503020204020204" pitchFamily="34" charset="-122"/>
                  <a:ea typeface="微软雅黑" panose="020B0503020204020204" pitchFamily="34" charset="-122"/>
                  <a:sym typeface="+mn-ea"/>
                </a:rPr>
                <a:t>3</a:t>
              </a:r>
              <a:r>
                <a:rPr lang="zh-CN" altLang="en-US" b="1" dirty="0">
                  <a:latin typeface="微软雅黑" panose="020B0503020204020204" pitchFamily="34" charset="-122"/>
                  <a:ea typeface="微软雅黑" panose="020B0503020204020204" pitchFamily="34" charset="-122"/>
                  <a:sym typeface="+mn-ea"/>
                </a:rPr>
                <a:t>、业务应用落地</a:t>
              </a:r>
              <a:endParaRPr lang="zh-CN" altLang="en-US" b="1" dirty="0">
                <a:latin typeface="微软雅黑" panose="020B0503020204020204" pitchFamily="34" charset="-122"/>
                <a:ea typeface="微软雅黑" panose="020B0503020204020204" pitchFamily="34" charset="-122"/>
                <a:sym typeface="+mn-ea"/>
              </a:endParaRPr>
            </a:p>
          </p:txBody>
        </p:sp>
        <p:sp>
          <p:nvSpPr>
            <p:cNvPr id="55" name="矩形 54"/>
            <p:cNvSpPr/>
            <p:nvPr>
              <p:custDataLst>
                <p:tags r:id="rId16"/>
              </p:custDataLst>
            </p:nvPr>
          </p:nvSpPr>
          <p:spPr>
            <a:xfrm>
              <a:off x="6947" y="5001"/>
              <a:ext cx="5366" cy="3017"/>
            </a:xfrm>
            <a:prstGeom prst="rect">
              <a:avLst/>
            </a:prstGeom>
            <a:noFill/>
            <a:ln>
              <a:solidFill>
                <a:srgbClr val="1A757E"/>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6" name="圆角矩形 75"/>
          <p:cNvSpPr/>
          <p:nvPr>
            <p:custDataLst>
              <p:tags r:id="rId17"/>
            </p:custDataLst>
          </p:nvPr>
        </p:nvSpPr>
        <p:spPr>
          <a:xfrm>
            <a:off x="4783317" y="3403390"/>
            <a:ext cx="765810" cy="312420"/>
          </a:xfrm>
          <a:prstGeom prst="round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latin typeface="微软雅黑" panose="020B0503020204020204" pitchFamily="34" charset="-122"/>
                <a:ea typeface="微软雅黑" panose="020B0503020204020204" pitchFamily="34" charset="-122"/>
              </a:rPr>
              <a:t>营销</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7" name="圆角矩形 77"/>
          <p:cNvSpPr/>
          <p:nvPr>
            <p:custDataLst>
              <p:tags r:id="rId18"/>
            </p:custDataLst>
          </p:nvPr>
        </p:nvSpPr>
        <p:spPr>
          <a:xfrm>
            <a:off x="4637527" y="3846357"/>
            <a:ext cx="2872696" cy="359410"/>
          </a:xfrm>
          <a:prstGeom prst="roundRect">
            <a:avLst/>
          </a:prstGeom>
          <a:solidFill>
            <a:schemeClr val="bg1"/>
          </a:solidFill>
          <a:ln w="12700" cap="flat" cmpd="sng" algn="ctr">
            <a:noFill/>
            <a:prstDash val="solid"/>
            <a:miter lim="800000"/>
          </a:ln>
          <a:effectLst>
            <a:outerShdw blurRad="254000" algn="t" rotWithShape="0">
              <a:schemeClr val="accent1">
                <a:alpha val="8000"/>
              </a:schemeClr>
            </a:outerShdw>
          </a:effectLst>
        </p:spPr>
        <p:txBody>
          <a:bodyPr lIns="14630" tIns="7315" rIns="14630" bIns="7315" rtlCol="0" anchor="ctr">
            <a:noAutofit/>
          </a:bodyPr>
          <a:lstStyle/>
          <a:p>
            <a:pPr lvl="0" algn="ctr" defTabSz="609600">
              <a:buClrTx/>
              <a:buSzTx/>
              <a:buFontTx/>
            </a:pPr>
            <a:endParaRPr lang="zh-CN" altLang="en-US" sz="1600" kern="0" dirty="0">
              <a:solidFill>
                <a:srgbClr val="07393D"/>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58" name="圆角矩形 78"/>
          <p:cNvSpPr/>
          <p:nvPr>
            <p:custDataLst>
              <p:tags r:id="rId19"/>
            </p:custDataLst>
          </p:nvPr>
        </p:nvSpPr>
        <p:spPr>
          <a:xfrm>
            <a:off x="4637527" y="4323877"/>
            <a:ext cx="2872696" cy="359410"/>
          </a:xfrm>
          <a:prstGeom prst="roundRect">
            <a:avLst/>
          </a:prstGeom>
          <a:solidFill>
            <a:schemeClr val="bg1"/>
          </a:solidFill>
          <a:ln w="12700" cap="flat" cmpd="sng" algn="ctr">
            <a:noFill/>
            <a:prstDash val="solid"/>
            <a:miter lim="800000"/>
          </a:ln>
          <a:effectLst>
            <a:outerShdw blurRad="254000" algn="t" rotWithShape="0">
              <a:schemeClr val="accent1">
                <a:alpha val="8000"/>
              </a:schemeClr>
            </a:outerShdw>
          </a:effectLst>
        </p:spPr>
        <p:txBody>
          <a:bodyPr lIns="14630" tIns="7315" rIns="14630" bIns="7315" rtlCol="0" anchor="ctr">
            <a:noAutofit/>
          </a:bodyPr>
          <a:lstStyle/>
          <a:p>
            <a:pPr lvl="0" algn="ctr" defTabSz="609600">
              <a:buClrTx/>
              <a:buSzTx/>
              <a:buFontTx/>
            </a:pPr>
            <a:endParaRPr lang="zh-CN" altLang="en-US" sz="1600" kern="0" dirty="0">
              <a:solidFill>
                <a:srgbClr val="07393D"/>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59" name="圆角矩形 79"/>
          <p:cNvSpPr/>
          <p:nvPr>
            <p:custDataLst>
              <p:tags r:id="rId20"/>
            </p:custDataLst>
          </p:nvPr>
        </p:nvSpPr>
        <p:spPr>
          <a:xfrm>
            <a:off x="4637527" y="4801397"/>
            <a:ext cx="2872696" cy="359410"/>
          </a:xfrm>
          <a:prstGeom prst="roundRect">
            <a:avLst/>
          </a:prstGeom>
          <a:solidFill>
            <a:schemeClr val="bg1"/>
          </a:solidFill>
          <a:ln w="12700" cap="flat" cmpd="sng" algn="ctr">
            <a:noFill/>
            <a:prstDash val="solid"/>
            <a:miter lim="800000"/>
          </a:ln>
          <a:effectLst>
            <a:outerShdw blurRad="254000" algn="t" rotWithShape="0">
              <a:schemeClr val="accent1">
                <a:alpha val="8000"/>
              </a:schemeClr>
            </a:outerShdw>
          </a:effectLst>
        </p:spPr>
        <p:txBody>
          <a:bodyPr lIns="14630" tIns="7315" rIns="14630" bIns="7315" rtlCol="0" anchor="ctr">
            <a:noAutofit/>
          </a:bodyPr>
          <a:lstStyle/>
          <a:p>
            <a:pPr lvl="0" algn="ctr" defTabSz="609600">
              <a:buClrTx/>
              <a:buSzTx/>
              <a:buFontTx/>
            </a:pPr>
            <a:endParaRPr lang="zh-CN" altLang="en-US" sz="1600" kern="0" dirty="0">
              <a:solidFill>
                <a:srgbClr val="07393D"/>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60" name="文本框 59"/>
          <p:cNvSpPr txBox="1"/>
          <p:nvPr/>
        </p:nvSpPr>
        <p:spPr>
          <a:xfrm>
            <a:off x="4791025" y="4870657"/>
            <a:ext cx="2947250" cy="398780"/>
          </a:xfrm>
          <a:prstGeom prst="rect">
            <a:avLst/>
          </a:prstGeom>
          <a:noFill/>
        </p:spPr>
        <p:txBody>
          <a:bodyPr wrap="square" rtlCol="0">
            <a:spAutoFit/>
          </a:bodyPr>
          <a:lstStyle/>
          <a:p>
            <a:r>
              <a:rPr lang="en-US" altLang="zh-CN" sz="1000" dirty="0">
                <a:latin typeface="微软雅黑" panose="020B0503020204020204" pitchFamily="34" charset="-122"/>
                <a:ea typeface="微软雅黑" panose="020B0503020204020204" pitchFamily="34" charset="-122"/>
              </a:rPr>
              <a:t>MES</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PLM</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CRM</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SRM</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WMS</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a:t>
            </a:r>
            <a:r>
              <a:rPr lang="zh-CN" altLang="en-US" sz="1000" dirty="0">
                <a:latin typeface="微软雅黑" panose="020B0503020204020204" pitchFamily="34" charset="-122"/>
                <a:ea typeface="微软雅黑" panose="020B0503020204020204" pitchFamily="34" charset="-122"/>
              </a:rPr>
              <a:t>汇联易、 </a:t>
            </a:r>
            <a:r>
              <a:rPr lang="en-US" altLang="zh-CN" sz="1000" dirty="0">
                <a:latin typeface="微软雅黑" panose="020B0503020204020204" pitchFamily="34" charset="-122"/>
                <a:ea typeface="微软雅黑" panose="020B0503020204020204" pitchFamily="34" charset="-122"/>
              </a:rPr>
              <a:t>OA</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HR</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OMS</a:t>
            </a:r>
            <a:r>
              <a:rPr lang="zh-CN" altLang="en-US" sz="1000" dirty="0">
                <a:latin typeface="微软雅黑" panose="020B0503020204020204" pitchFamily="34" charset="-122"/>
                <a:ea typeface="微软雅黑" panose="020B0503020204020204" pitchFamily="34" charset="-122"/>
              </a:rPr>
              <a:t>等</a:t>
            </a:r>
            <a:endParaRPr lang="zh-CN" altLang="en-US" sz="1000" dirty="0">
              <a:latin typeface="微软雅黑" panose="020B0503020204020204" pitchFamily="34" charset="-122"/>
              <a:ea typeface="微软雅黑" panose="020B0503020204020204" pitchFamily="34" charset="-122"/>
            </a:endParaRPr>
          </a:p>
        </p:txBody>
      </p:sp>
      <p:sp>
        <p:nvSpPr>
          <p:cNvPr id="61" name="文本框 60"/>
          <p:cNvSpPr txBox="1"/>
          <p:nvPr>
            <p:custDataLst>
              <p:tags r:id="rId21"/>
            </p:custDataLst>
          </p:nvPr>
        </p:nvSpPr>
        <p:spPr>
          <a:xfrm>
            <a:off x="4783620" y="4397890"/>
            <a:ext cx="2947251" cy="245110"/>
          </a:xfrm>
          <a:prstGeom prst="rect">
            <a:avLst/>
          </a:prstGeom>
          <a:noFill/>
        </p:spPr>
        <p:txBody>
          <a:bodyPr wrap="square" rtlCol="0">
            <a:spAutoFit/>
          </a:bodyPr>
          <a:lstStyle/>
          <a:p>
            <a:r>
              <a:rPr lang="zh-CN" altLang="en-US" sz="1000" dirty="0">
                <a:latin typeface="微软雅黑" panose="020B0503020204020204" pitchFamily="34" charset="-122"/>
                <a:ea typeface="微软雅黑" panose="020B0503020204020204" pitchFamily="34" charset="-122"/>
              </a:rPr>
              <a:t>产品基准价测算、财务盈利能力、数据</a:t>
            </a:r>
            <a:endParaRPr lang="en-US" altLang="zh-CN" sz="1000" dirty="0">
              <a:latin typeface="微软雅黑" panose="020B0503020204020204" pitchFamily="34" charset="-122"/>
              <a:ea typeface="微软雅黑" panose="020B0503020204020204" pitchFamily="34" charset="-122"/>
            </a:endParaRPr>
          </a:p>
        </p:txBody>
      </p:sp>
      <p:sp>
        <p:nvSpPr>
          <p:cNvPr id="62" name="文本框 61"/>
          <p:cNvSpPr txBox="1"/>
          <p:nvPr>
            <p:custDataLst>
              <p:tags r:id="rId22"/>
            </p:custDataLst>
          </p:nvPr>
        </p:nvSpPr>
        <p:spPr>
          <a:xfrm>
            <a:off x="4791025" y="3862912"/>
            <a:ext cx="3022154" cy="398780"/>
          </a:xfrm>
          <a:prstGeom prst="rect">
            <a:avLst/>
          </a:prstGeom>
          <a:noFill/>
        </p:spPr>
        <p:txBody>
          <a:bodyPr wrap="square" rtlCol="0">
            <a:spAutoFit/>
          </a:bodyPr>
          <a:lstStyle/>
          <a:p>
            <a:r>
              <a:rPr lang="zh-CN" altLang="en-US" sz="1000" dirty="0">
                <a:latin typeface="微软雅黑" panose="020B0503020204020204" pitchFamily="34" charset="-122"/>
                <a:ea typeface="微软雅黑" panose="020B0503020204020204" pitchFamily="34" charset="-122"/>
              </a:rPr>
              <a:t>营业收入、净利润、流动比率、订单数量、销售回款、产销率</a:t>
            </a:r>
            <a:r>
              <a:rPr lang="en-US" altLang="zh-CN" sz="1000" dirty="0">
                <a:latin typeface="微软雅黑" panose="020B0503020204020204" pitchFamily="34" charset="-122"/>
                <a:ea typeface="微软雅黑" panose="020B0503020204020204" pitchFamily="34" charset="-122"/>
              </a:rPr>
              <a:t>.....</a:t>
            </a:r>
            <a:endParaRPr lang="en-US" altLang="zh-CN" sz="1000" dirty="0">
              <a:latin typeface="微软雅黑" panose="020B0503020204020204" pitchFamily="34" charset="-122"/>
              <a:ea typeface="微软雅黑" panose="020B0503020204020204" pitchFamily="34" charset="-122"/>
            </a:endParaRPr>
          </a:p>
        </p:txBody>
      </p:sp>
      <p:sp>
        <p:nvSpPr>
          <p:cNvPr id="63" name="上箭头 84"/>
          <p:cNvSpPr/>
          <p:nvPr/>
        </p:nvSpPr>
        <p:spPr>
          <a:xfrm>
            <a:off x="5906240" y="4666822"/>
            <a:ext cx="295550" cy="196850"/>
          </a:xfrm>
          <a:prstGeom prst="upArrow">
            <a:avLst/>
          </a:prstGeom>
          <a:gradFill flip="none" rotWithShape="0">
            <a:gsLst>
              <a:gs pos="100000">
                <a:srgbClr val="B3CED5"/>
              </a:gs>
              <a:gs pos="0">
                <a:srgbClr val="DDE3D8"/>
              </a:gs>
            </a:gsLst>
            <a:lin ang="5400000" scaled="1"/>
          </a:gradFill>
          <a:ln w="20066" cap="flat" cmpd="sng" algn="ctr">
            <a:noFill/>
            <a:prstDash val="solid"/>
            <a:miter lim="800000"/>
          </a:ln>
          <a:effectLst>
            <a:outerShdw blurRad="254000" dist="101600" dir="5400000" sx="95000" sy="95000" algn="t" rotWithShape="0">
              <a:schemeClr val="accent1">
                <a:alpha val="30000"/>
              </a:schemeClr>
            </a:outerShdw>
          </a:effectLst>
        </p:spPr>
        <p:txBody>
          <a:bodyPr lIns="14630" tIns="7315" rIns="14630" bIns="7315" rtlCol="0" anchor="ctr">
            <a:noAutofit/>
          </a:bodyPr>
          <a:lstStyle/>
          <a:p>
            <a:pPr lvl="0" algn="ctr" defTabSz="609600">
              <a:buClrTx/>
              <a:buSzTx/>
              <a:buFontTx/>
            </a:pPr>
            <a:endParaRPr lang="zh-CN" altLang="en-US" sz="1000" kern="0" dirty="0">
              <a:solidFill>
                <a:prstClr val="white"/>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64" name="上箭头 85"/>
          <p:cNvSpPr/>
          <p:nvPr>
            <p:custDataLst>
              <p:tags r:id="rId23"/>
            </p:custDataLst>
          </p:nvPr>
        </p:nvSpPr>
        <p:spPr>
          <a:xfrm>
            <a:off x="5906240" y="4162632"/>
            <a:ext cx="295550" cy="196850"/>
          </a:xfrm>
          <a:prstGeom prst="upArrow">
            <a:avLst/>
          </a:prstGeom>
          <a:gradFill flip="none" rotWithShape="0">
            <a:gsLst>
              <a:gs pos="100000">
                <a:srgbClr val="B3CED5"/>
              </a:gs>
              <a:gs pos="0">
                <a:srgbClr val="DDE3D8"/>
              </a:gs>
            </a:gsLst>
            <a:lin ang="5400000" scaled="1"/>
          </a:gradFill>
          <a:ln w="20066" cap="flat" cmpd="sng" algn="ctr">
            <a:noFill/>
            <a:prstDash val="solid"/>
            <a:miter lim="800000"/>
          </a:ln>
          <a:effectLst>
            <a:outerShdw blurRad="254000" dist="101600" dir="5400000" sx="95000" sy="95000" algn="t" rotWithShape="0">
              <a:schemeClr val="accent1">
                <a:alpha val="30000"/>
              </a:schemeClr>
            </a:outerShdw>
          </a:effectLst>
        </p:spPr>
        <p:txBody>
          <a:bodyPr lIns="14630" tIns="7315" rIns="14630" bIns="7315" rtlCol="0" anchor="ctr">
            <a:noAutofit/>
          </a:bodyPr>
          <a:lstStyle/>
          <a:p>
            <a:pPr lvl="0" algn="ctr" defTabSz="609600">
              <a:buClrTx/>
              <a:buSzTx/>
              <a:buFontTx/>
            </a:pPr>
            <a:endParaRPr lang="zh-CN" altLang="en-US" sz="1000" kern="0" dirty="0">
              <a:solidFill>
                <a:prstClr val="white"/>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65" name="上箭头 86"/>
          <p:cNvSpPr/>
          <p:nvPr>
            <p:custDataLst>
              <p:tags r:id="rId24"/>
            </p:custDataLst>
          </p:nvPr>
        </p:nvSpPr>
        <p:spPr>
          <a:xfrm>
            <a:off x="5906240" y="3694637"/>
            <a:ext cx="295550" cy="196850"/>
          </a:xfrm>
          <a:prstGeom prst="upArrow">
            <a:avLst/>
          </a:prstGeom>
          <a:gradFill flip="none" rotWithShape="0">
            <a:gsLst>
              <a:gs pos="100000">
                <a:srgbClr val="B3CED5"/>
              </a:gs>
              <a:gs pos="0">
                <a:srgbClr val="DDE3D8"/>
              </a:gs>
            </a:gsLst>
            <a:lin ang="5400000" scaled="1"/>
          </a:gradFill>
          <a:ln w="20066" cap="flat" cmpd="sng" algn="ctr">
            <a:noFill/>
            <a:prstDash val="solid"/>
            <a:miter lim="800000"/>
          </a:ln>
          <a:effectLst>
            <a:outerShdw blurRad="254000" dist="101600" dir="5400000" sx="95000" sy="95000" algn="t" rotWithShape="0">
              <a:schemeClr val="accent1">
                <a:alpha val="30000"/>
              </a:schemeClr>
            </a:outerShdw>
          </a:effectLst>
        </p:spPr>
        <p:txBody>
          <a:bodyPr lIns="14630" tIns="7315" rIns="14630" bIns="7315" rtlCol="0" anchor="ctr">
            <a:noAutofit/>
          </a:bodyPr>
          <a:lstStyle/>
          <a:p>
            <a:pPr lvl="0" algn="ctr" defTabSz="609600">
              <a:buClrTx/>
              <a:buSzTx/>
              <a:buFontTx/>
            </a:pPr>
            <a:endParaRPr lang="zh-CN" altLang="en-US" sz="1000" kern="0" dirty="0">
              <a:solidFill>
                <a:prstClr val="white"/>
              </a:solidFill>
              <a:latin typeface="微软雅黑" panose="020B0503020204020204" pitchFamily="34" charset="-122"/>
              <a:ea typeface="微软雅黑" panose="020B0503020204020204" pitchFamily="34" charset="-122"/>
              <a:cs typeface="Alibaba PuHuiTi 2.0 55" pitchFamily="18" charset="-122"/>
              <a:sym typeface="+mn-ea"/>
            </a:endParaRPr>
          </a:p>
        </p:txBody>
      </p:sp>
      <p:sp>
        <p:nvSpPr>
          <p:cNvPr id="66" name="文本框 65"/>
          <p:cNvSpPr txBox="1"/>
          <p:nvPr/>
        </p:nvSpPr>
        <p:spPr>
          <a:xfrm>
            <a:off x="4334571" y="3375867"/>
            <a:ext cx="562152" cy="398780"/>
          </a:xfrm>
          <a:prstGeom prst="rect">
            <a:avLst/>
          </a:prstGeom>
          <a:noFill/>
        </p:spPr>
        <p:txBody>
          <a:bodyPr wrap="square" rtlCol="0">
            <a:spAutoFit/>
          </a:bodyPr>
          <a:lstStyle/>
          <a:p>
            <a:r>
              <a:rPr lang="zh-CN" altLang="en-US" sz="1000" dirty="0">
                <a:solidFill>
                  <a:srgbClr val="0C808A"/>
                </a:solidFill>
                <a:latin typeface="微软雅黑" panose="020B0503020204020204" pitchFamily="34" charset="-122"/>
                <a:ea typeface="微软雅黑" panose="020B0503020204020204" pitchFamily="34" charset="-122"/>
              </a:rPr>
              <a:t>数据应用</a:t>
            </a:r>
            <a:endParaRPr lang="zh-CN" altLang="en-US" sz="1000" dirty="0">
              <a:solidFill>
                <a:srgbClr val="0C808A"/>
              </a:solidFill>
              <a:latin typeface="微软雅黑" panose="020B0503020204020204" pitchFamily="34" charset="-122"/>
              <a:ea typeface="微软雅黑" panose="020B0503020204020204" pitchFamily="34" charset="-122"/>
            </a:endParaRPr>
          </a:p>
        </p:txBody>
      </p:sp>
      <p:sp>
        <p:nvSpPr>
          <p:cNvPr id="67" name="文本框 66"/>
          <p:cNvSpPr txBox="1"/>
          <p:nvPr>
            <p:custDataLst>
              <p:tags r:id="rId25"/>
            </p:custDataLst>
          </p:nvPr>
        </p:nvSpPr>
        <p:spPr>
          <a:xfrm>
            <a:off x="4334571" y="3861642"/>
            <a:ext cx="562152" cy="398780"/>
          </a:xfrm>
          <a:prstGeom prst="rect">
            <a:avLst/>
          </a:prstGeom>
          <a:noFill/>
        </p:spPr>
        <p:txBody>
          <a:bodyPr wrap="square" rtlCol="0">
            <a:spAutoFit/>
          </a:bodyPr>
          <a:lstStyle/>
          <a:p>
            <a:r>
              <a:rPr lang="zh-CN" altLang="en-US" sz="1000" dirty="0">
                <a:solidFill>
                  <a:srgbClr val="0C808A"/>
                </a:solidFill>
                <a:latin typeface="微软雅黑" panose="020B0503020204020204" pitchFamily="34" charset="-122"/>
                <a:ea typeface="微软雅黑" panose="020B0503020204020204" pitchFamily="34" charset="-122"/>
              </a:rPr>
              <a:t>指标体系</a:t>
            </a:r>
            <a:endParaRPr lang="zh-CN" altLang="en-US" sz="1000" dirty="0">
              <a:solidFill>
                <a:srgbClr val="0C808A"/>
              </a:solidFill>
              <a:latin typeface="微软雅黑" panose="020B0503020204020204" pitchFamily="34" charset="-122"/>
              <a:ea typeface="微软雅黑" panose="020B0503020204020204" pitchFamily="34" charset="-122"/>
            </a:endParaRPr>
          </a:p>
        </p:txBody>
      </p:sp>
      <p:sp>
        <p:nvSpPr>
          <p:cNvPr id="68" name="文本框 67"/>
          <p:cNvSpPr txBox="1"/>
          <p:nvPr>
            <p:custDataLst>
              <p:tags r:id="rId26"/>
            </p:custDataLst>
          </p:nvPr>
        </p:nvSpPr>
        <p:spPr>
          <a:xfrm>
            <a:off x="4334571" y="4347417"/>
            <a:ext cx="562152" cy="398780"/>
          </a:xfrm>
          <a:prstGeom prst="rect">
            <a:avLst/>
          </a:prstGeom>
          <a:noFill/>
        </p:spPr>
        <p:txBody>
          <a:bodyPr wrap="square" rtlCol="0">
            <a:spAutoFit/>
          </a:bodyPr>
          <a:lstStyle/>
          <a:p>
            <a:r>
              <a:rPr lang="zh-CN" altLang="en-US" sz="1000" dirty="0">
                <a:solidFill>
                  <a:srgbClr val="0C808A"/>
                </a:solidFill>
                <a:latin typeface="微软雅黑" panose="020B0503020204020204" pitchFamily="34" charset="-122"/>
                <a:ea typeface="微软雅黑" panose="020B0503020204020204" pitchFamily="34" charset="-122"/>
              </a:rPr>
              <a:t>模型建设</a:t>
            </a:r>
            <a:endParaRPr lang="zh-CN" altLang="en-US" sz="1000" dirty="0">
              <a:solidFill>
                <a:srgbClr val="0C808A"/>
              </a:solidFill>
              <a:latin typeface="微软雅黑" panose="020B0503020204020204" pitchFamily="34" charset="-122"/>
              <a:ea typeface="微软雅黑" panose="020B0503020204020204" pitchFamily="34" charset="-122"/>
            </a:endParaRPr>
          </a:p>
        </p:txBody>
      </p:sp>
      <p:sp>
        <p:nvSpPr>
          <p:cNvPr id="69" name="文本框 68"/>
          <p:cNvSpPr txBox="1"/>
          <p:nvPr>
            <p:custDataLst>
              <p:tags r:id="rId27"/>
            </p:custDataLst>
          </p:nvPr>
        </p:nvSpPr>
        <p:spPr>
          <a:xfrm>
            <a:off x="4334571" y="4833192"/>
            <a:ext cx="562152" cy="398780"/>
          </a:xfrm>
          <a:prstGeom prst="rect">
            <a:avLst/>
          </a:prstGeom>
          <a:noFill/>
        </p:spPr>
        <p:txBody>
          <a:bodyPr wrap="square" rtlCol="0">
            <a:spAutoFit/>
          </a:bodyPr>
          <a:lstStyle/>
          <a:p>
            <a:r>
              <a:rPr lang="zh-CN" altLang="en-US" sz="1000">
                <a:solidFill>
                  <a:srgbClr val="0C808A"/>
                </a:solidFill>
                <a:latin typeface="微软雅黑" panose="020B0503020204020204" pitchFamily="34" charset="-122"/>
                <a:ea typeface="微软雅黑" panose="020B0503020204020204" pitchFamily="34" charset="-122"/>
              </a:rPr>
              <a:t>数据拉通</a:t>
            </a:r>
            <a:endParaRPr lang="zh-CN" altLang="en-US" sz="1000">
              <a:solidFill>
                <a:srgbClr val="0C808A"/>
              </a:solidFill>
              <a:latin typeface="微软雅黑" panose="020B0503020204020204" pitchFamily="34" charset="-122"/>
              <a:ea typeface="微软雅黑" panose="020B0503020204020204" pitchFamily="34" charset="-122"/>
            </a:endParaRPr>
          </a:p>
        </p:txBody>
      </p:sp>
      <p:sp>
        <p:nvSpPr>
          <p:cNvPr id="70" name="圆角矩形 75"/>
          <p:cNvSpPr/>
          <p:nvPr>
            <p:custDataLst>
              <p:tags r:id="rId28"/>
            </p:custDataLst>
          </p:nvPr>
        </p:nvSpPr>
        <p:spPr>
          <a:xfrm>
            <a:off x="5632312" y="3403390"/>
            <a:ext cx="744855" cy="312420"/>
          </a:xfrm>
          <a:prstGeom prst="round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latin typeface="微软雅黑" panose="020B0503020204020204" pitchFamily="34" charset="-122"/>
                <a:ea typeface="微软雅黑" panose="020B0503020204020204" pitchFamily="34" charset="-122"/>
              </a:rPr>
              <a:t>财经</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71" name="圆角矩形 75"/>
          <p:cNvSpPr/>
          <p:nvPr>
            <p:custDataLst>
              <p:tags r:id="rId29"/>
            </p:custDataLst>
          </p:nvPr>
        </p:nvSpPr>
        <p:spPr>
          <a:xfrm>
            <a:off x="6447017" y="3416090"/>
            <a:ext cx="892810" cy="312420"/>
          </a:xfrm>
          <a:prstGeom prst="roundRect">
            <a:avLst/>
          </a:prstGeom>
          <a:solidFill>
            <a:srgbClr val="EAF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tx1"/>
                </a:solidFill>
                <a:latin typeface="微软雅黑" panose="020B0503020204020204" pitchFamily="34" charset="-122"/>
                <a:ea typeface="微软雅黑" panose="020B0503020204020204" pitchFamily="34" charset="-122"/>
              </a:rPr>
              <a:t>基准价</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0" name="梯形 49"/>
          <p:cNvSpPr/>
          <p:nvPr>
            <p:custDataLst>
              <p:tags r:id="rId30"/>
            </p:custDataLst>
          </p:nvPr>
        </p:nvSpPr>
        <p:spPr>
          <a:xfrm>
            <a:off x="331177" y="5726742"/>
            <a:ext cx="11490960" cy="492125"/>
          </a:xfrm>
          <a:prstGeom prst="trapezoid">
            <a:avLst>
              <a:gd name="adj" fmla="val 99755"/>
            </a:avLst>
          </a:prstGeom>
          <a:gradFill>
            <a:gsLst>
              <a:gs pos="12000">
                <a:schemeClr val="bg1">
                  <a:alpha val="0"/>
                </a:schemeClr>
              </a:gs>
              <a:gs pos="100000">
                <a:srgbClr val="3DC5D2">
                  <a:alpha val="10000"/>
                  <a:lumMod val="98000"/>
                </a:srgbClr>
              </a:gs>
            </a:gsLst>
            <a:lin ang="5400000" scaled="1"/>
          </a:gradFill>
          <a:ln w="12700" cap="flat">
            <a:gradFill>
              <a:gsLst>
                <a:gs pos="0">
                  <a:schemeClr val="accent1">
                    <a:alpha val="0"/>
                  </a:schemeClr>
                </a:gs>
                <a:gs pos="100000">
                  <a:schemeClr val="accent1">
                    <a:alpha val="50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a:solidFill>
                <a:prstClr val="black"/>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3426013" y="5722887"/>
            <a:ext cx="5325745" cy="368300"/>
          </a:xfrm>
          <a:prstGeom prst="rect">
            <a:avLst/>
          </a:prstGeom>
          <a:noFill/>
        </p:spPr>
        <p:txBody>
          <a:bodyPr wrap="square" rtlCol="0">
            <a:sp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内化后的洲明数据管理团队</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custDataLst>
              <p:tags r:id="rId31"/>
            </p:custDataLst>
          </p:nvPr>
        </p:nvSpPr>
        <p:spPr>
          <a:xfrm>
            <a:off x="8355616" y="2658952"/>
            <a:ext cx="3136900" cy="568960"/>
          </a:xfrm>
          <a:prstGeom prst="rect">
            <a:avLst/>
          </a:prstGeom>
          <a:solidFill>
            <a:srgbClr val="3DC5D2"/>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dirty="0">
                <a:latin typeface="微软雅黑" panose="020B0503020204020204" pitchFamily="34" charset="-122"/>
                <a:ea typeface="微软雅黑" panose="020B0503020204020204" pitchFamily="34" charset="-122"/>
                <a:sym typeface="+mn-ea"/>
              </a:rPr>
              <a:t>2</a:t>
            </a:r>
            <a:r>
              <a:rPr lang="zh-CN" altLang="en-US" b="1" dirty="0">
                <a:latin typeface="微软雅黑" panose="020B0503020204020204" pitchFamily="34" charset="-122"/>
                <a:ea typeface="微软雅黑" panose="020B0503020204020204" pitchFamily="34" charset="-122"/>
                <a:sym typeface="+mn-ea"/>
              </a:rPr>
              <a:t>、数据治理体系构建</a:t>
            </a:r>
            <a:endParaRPr lang="zh-CN" altLang="en-US" b="1" dirty="0">
              <a:latin typeface="微软雅黑" panose="020B0503020204020204" pitchFamily="34" charset="-122"/>
              <a:ea typeface="微软雅黑" panose="020B0503020204020204" pitchFamily="34" charset="-122"/>
              <a:sym typeface="+mn-ea"/>
            </a:endParaRPr>
          </a:p>
        </p:txBody>
      </p:sp>
      <p:sp>
        <p:nvSpPr>
          <p:cNvPr id="29" name="矩形 28"/>
          <p:cNvSpPr/>
          <p:nvPr>
            <p:custDataLst>
              <p:tags r:id="rId32"/>
            </p:custDataLst>
          </p:nvPr>
        </p:nvSpPr>
        <p:spPr>
          <a:xfrm>
            <a:off x="8355616" y="3329512"/>
            <a:ext cx="3095625" cy="1915795"/>
          </a:xfrm>
          <a:prstGeom prst="rect">
            <a:avLst/>
          </a:prstGeom>
          <a:noFill/>
          <a:ln>
            <a:solidFill>
              <a:srgbClr val="1A757E"/>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圆角矩形 58"/>
          <p:cNvSpPr/>
          <p:nvPr/>
        </p:nvSpPr>
        <p:spPr>
          <a:xfrm>
            <a:off x="8428355" y="3429635"/>
            <a:ext cx="486410" cy="748665"/>
          </a:xfrm>
          <a:prstGeom prst="roundRect">
            <a:avLst/>
          </a:prstGeom>
          <a:solidFill>
            <a:srgbClr val="EAF1F2"/>
          </a:solidFill>
          <a:ln>
            <a:solidFill>
              <a:srgbClr val="1A757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rgbClr val="07393D"/>
                </a:solidFill>
                <a:latin typeface="微软雅黑" panose="020B0503020204020204" pitchFamily="34" charset="-122"/>
                <a:ea typeface="微软雅黑" panose="020B0503020204020204" pitchFamily="34" charset="-122"/>
              </a:rPr>
              <a:t>体系</a:t>
            </a:r>
            <a:endParaRPr lang="zh-CN" altLang="en-US" sz="1400">
              <a:solidFill>
                <a:srgbClr val="07393D"/>
              </a:solidFill>
              <a:latin typeface="微软雅黑" panose="020B0503020204020204" pitchFamily="34" charset="-122"/>
              <a:ea typeface="微软雅黑" panose="020B0503020204020204" pitchFamily="34" charset="-122"/>
            </a:endParaRPr>
          </a:p>
        </p:txBody>
      </p:sp>
      <p:sp>
        <p:nvSpPr>
          <p:cNvPr id="32" name="圆角矩形 62"/>
          <p:cNvSpPr/>
          <p:nvPr>
            <p:custDataLst>
              <p:tags r:id="rId33"/>
            </p:custDataLst>
          </p:nvPr>
        </p:nvSpPr>
        <p:spPr>
          <a:xfrm>
            <a:off x="8437880" y="4274185"/>
            <a:ext cx="476250" cy="886460"/>
          </a:xfrm>
          <a:prstGeom prst="roundRect">
            <a:avLst/>
          </a:prstGeom>
          <a:solidFill>
            <a:srgbClr val="EAF1F2"/>
          </a:solidFill>
          <a:ln>
            <a:solidFill>
              <a:srgbClr val="1A757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rgbClr val="07393D"/>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8848376" y="3329512"/>
            <a:ext cx="2644140" cy="1613535"/>
          </a:xfrm>
          <a:prstGeom prst="rect">
            <a:avLst/>
          </a:prstGeom>
          <a:noFill/>
        </p:spPr>
        <p:txBody>
          <a:bodyPr wrap="square" rtlCol="0" anchor="t">
            <a:noAutofit/>
          </a:bodyPr>
          <a:p>
            <a:pPr marL="171450" indent="-171450">
              <a:lnSpc>
                <a:spcPct val="150000"/>
              </a:lnSpc>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数据治理组织规划服务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nSpc>
                <a:spcPct val="150000"/>
              </a:lnSpc>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数据治理制度规划服务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nSpc>
                <a:spcPct val="150000"/>
              </a:lnSpc>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数据治理标准、流程建设</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fontAlgn="auto">
              <a:lnSpc>
                <a:spcPct val="150000"/>
              </a:lnSpc>
              <a:spcBef>
                <a:spcPts val="600"/>
              </a:spcBef>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组织数据集成、开发服务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nSpc>
                <a:spcPct val="150000"/>
              </a:lnSpc>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岗位数据集成、开发服务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nSpc>
                <a:spcPct val="150000"/>
              </a:lnSpc>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人员数据集成、开发服务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文本框 33"/>
          <p:cNvSpPr txBox="1"/>
          <p:nvPr/>
        </p:nvSpPr>
        <p:spPr>
          <a:xfrm>
            <a:off x="8427720" y="4241165"/>
            <a:ext cx="488950" cy="953135"/>
          </a:xfrm>
          <a:prstGeom prst="rect">
            <a:avLst/>
          </a:prstGeom>
          <a:noFill/>
        </p:spPr>
        <p:txBody>
          <a:bodyPr wrap="square" rtlCol="0">
            <a:spAutoFit/>
          </a:bodyPr>
          <a:p>
            <a:pPr algn="ctr"/>
            <a:r>
              <a:rPr lang="en-US" altLang="zh-CN" sz="1400">
                <a:latin typeface="微软雅黑" panose="020B0503020204020204" pitchFamily="34" charset="-122"/>
                <a:ea typeface="微软雅黑" panose="020B0503020204020204" pitchFamily="34" charset="-122"/>
                <a:cs typeface="微软雅黑" panose="020B0503020204020204" pitchFamily="34" charset="-122"/>
              </a:rPr>
              <a:t>HR</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主</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数</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据</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燕尾形 31"/>
          <p:cNvSpPr/>
          <p:nvPr/>
        </p:nvSpPr>
        <p:spPr>
          <a:xfrm rot="10800000">
            <a:off x="7993704" y="2745682"/>
            <a:ext cx="249555" cy="394970"/>
          </a:xfrm>
          <a:prstGeom prst="chevron">
            <a:avLst/>
          </a:prstGeom>
          <a:gradFill flip="none" rotWithShape="0">
            <a:gsLst>
              <a:gs pos="50000">
                <a:srgbClr val="11AFBB"/>
              </a:gs>
              <a:gs pos="0">
                <a:schemeClr val="accent1">
                  <a:lumMod val="25000"/>
                  <a:lumOff val="75000"/>
                </a:schemeClr>
              </a:gs>
              <a:gs pos="100000">
                <a:srgbClr val="0C818A"/>
              </a:gs>
            </a:gsLst>
            <a:lin ang="5400000" scaled="1"/>
          </a:gradFill>
          <a:ln w="20066" cap="flat" cmpd="sng" algn="ctr">
            <a:noFill/>
            <a:prstDash val="solid"/>
            <a:miter lim="800000"/>
          </a:ln>
          <a:effectLst>
            <a:outerShdw blurRad="254000" dist="101600" dir="5400000" sx="95000" sy="95000" algn="t" rotWithShape="0">
              <a:schemeClr val="accent1">
                <a:alpha val="30000"/>
              </a:schemeClr>
            </a:outerShdw>
          </a:effectLst>
        </p:spPr>
        <p:txBody>
          <a:bodyPr lIns="14630" tIns="7315" rIns="14630" bIns="7315" rtlCol="0" anchor="ctr">
            <a:noAutofit/>
          </a:bodyPr>
          <a:p>
            <a:pPr lvl="0" algn="ctr" defTabSz="609600">
              <a:buClrTx/>
              <a:buSzTx/>
              <a:buFontTx/>
            </a:pPr>
            <a:endParaRPr lang="zh-CN" altLang="en-US" sz="1000" kern="0" dirty="0">
              <a:solidFill>
                <a:prstClr val="white"/>
              </a:solidFill>
              <a:latin typeface="微软雅黑" panose="020B0503020204020204" pitchFamily="34" charset="-122"/>
              <a:ea typeface="微软雅黑" panose="020B0503020204020204" pitchFamily="34" charset="-122"/>
              <a:cs typeface="Alibaba PuHuiTi 2.0 55" pitchFamily="18"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项目总体计划及进展</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6" name="表格 5"/>
          <p:cNvGraphicFramePr>
            <a:graphicFrameLocks noGrp="1"/>
          </p:cNvGraphicFramePr>
          <p:nvPr/>
        </p:nvGraphicFramePr>
        <p:xfrm>
          <a:off x="431791" y="1306052"/>
          <a:ext cx="11289731" cy="4504148"/>
        </p:xfrm>
        <a:graphic>
          <a:graphicData uri="http://schemas.openxmlformats.org/drawingml/2006/table">
            <a:tbl>
              <a:tblPr firstRow="1" bandRow="1">
                <a:tableStyleId>{5C22544A-7EE6-4342-B048-85BDC9FD1C3A}</a:tableStyleId>
              </a:tblPr>
              <a:tblGrid>
                <a:gridCol w="1105830"/>
                <a:gridCol w="390698"/>
                <a:gridCol w="355679"/>
                <a:gridCol w="344207"/>
                <a:gridCol w="401577"/>
                <a:gridCol w="332735"/>
                <a:gridCol w="390100"/>
                <a:gridCol w="344207"/>
                <a:gridCol w="390101"/>
                <a:gridCol w="413048"/>
                <a:gridCol w="413048"/>
                <a:gridCol w="355681"/>
                <a:gridCol w="378627"/>
                <a:gridCol w="394691"/>
                <a:gridCol w="35504"/>
                <a:gridCol w="410753"/>
                <a:gridCol w="458943"/>
                <a:gridCol w="378627"/>
                <a:gridCol w="332734"/>
                <a:gridCol w="332735"/>
                <a:gridCol w="694738"/>
                <a:gridCol w="464681"/>
                <a:gridCol w="464681"/>
                <a:gridCol w="444012"/>
                <a:gridCol w="344207"/>
                <a:gridCol w="424524"/>
                <a:gridCol w="65973"/>
                <a:gridCol w="427390"/>
              </a:tblGrid>
              <a:tr h="272550">
                <a:tc rowSpan="4">
                  <a:txBody>
                    <a:bodyPr/>
                    <a:lstStyle/>
                    <a:p>
                      <a:endParaRPr lang="zh-CN" altLang="en-US" dirty="0"/>
                    </a:p>
                  </a:txBody>
                  <a:tcPr/>
                </a:tc>
                <a:tc gridSpan="4">
                  <a:txBody>
                    <a:bodyPr/>
                    <a:lstStyle/>
                    <a:p>
                      <a:pPr marL="0" algn="ctr" defTabSz="914400" rtl="0" eaLnBrk="1" latinLnBrk="0" hangingPunct="1"/>
                      <a:r>
                        <a:rPr lang="zh-CN" altLang="en-US" sz="1000" b="1" kern="1200" dirty="0">
                          <a:solidFill>
                            <a:schemeClr val="bg1"/>
                          </a:solidFill>
                          <a:latin typeface="微软雅黑" panose="020B0503020204020204" pitchFamily="34" charset="-122"/>
                          <a:ea typeface="微软雅黑" panose="020B0503020204020204" pitchFamily="34" charset="-122"/>
                          <a:cs typeface="+mn-cs"/>
                        </a:rPr>
                        <a:t>需求调研</a:t>
                      </a:r>
                      <a:endParaRPr lang="zh-CN" altLang="en-US" sz="1000" b="1" kern="1200" dirty="0">
                        <a:solidFill>
                          <a:schemeClr val="bg1"/>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hMerge="1">
                  <a:tcPr/>
                </a:tc>
                <a:tc hMerge="1">
                  <a:tcPr/>
                </a:tc>
                <a:tc hMerge="1">
                  <a:tcPr/>
                </a:tc>
                <a:tc gridSpan="4">
                  <a:txBody>
                    <a:bodyPr/>
                    <a:lstStyle/>
                    <a:p>
                      <a:pPr marL="0" algn="ctr" defTabSz="914400" rtl="0" eaLnBrk="1" latinLnBrk="0" hangingPunct="1"/>
                      <a:r>
                        <a:rPr lang="zh-CN" altLang="en-US" sz="1000" b="1" kern="1200" dirty="0">
                          <a:solidFill>
                            <a:schemeClr val="bg1"/>
                          </a:solidFill>
                          <a:latin typeface="微软雅黑" panose="020B0503020204020204" pitchFamily="34" charset="-122"/>
                          <a:ea typeface="微软雅黑" panose="020B0503020204020204" pitchFamily="34" charset="-122"/>
                          <a:cs typeface="+mn-cs"/>
                        </a:rPr>
                        <a:t>方案设计</a:t>
                      </a:r>
                      <a:endParaRPr lang="zh-CN" altLang="en-US" sz="1000" b="1" kern="1200" dirty="0">
                        <a:solidFill>
                          <a:schemeClr val="bg1"/>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hMerge="1">
                  <a:tcPr/>
                </a:tc>
                <a:tc hMerge="1">
                  <a:tcPr/>
                </a:tc>
                <a:tc hMerge="1">
                  <a:tcPr/>
                </a:tc>
                <a:tc gridSpan="5">
                  <a:txBody>
                    <a:bodyPr/>
                    <a:lstStyle/>
                    <a:p>
                      <a:pPr marL="0" algn="ctr" defTabSz="914400" rtl="0" eaLnBrk="1" latinLnBrk="0" hangingPunct="1"/>
                      <a:r>
                        <a:rPr lang="zh-CN" altLang="en-US" sz="1000" b="1" kern="1200" dirty="0">
                          <a:solidFill>
                            <a:schemeClr val="bg1"/>
                          </a:solidFill>
                          <a:latin typeface="微软雅黑" panose="020B0503020204020204" pitchFamily="34" charset="-122"/>
                          <a:ea typeface="微软雅黑" panose="020B0503020204020204" pitchFamily="34" charset="-122"/>
                          <a:cs typeface="+mn-cs"/>
                        </a:rPr>
                        <a:t>系统开发与内测</a:t>
                      </a:r>
                      <a:endParaRPr lang="zh-CN" altLang="en-US" sz="1000" b="1" kern="1200" dirty="0">
                        <a:solidFill>
                          <a:schemeClr val="bg1"/>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hMerge="1">
                  <a:tcPr/>
                </a:tc>
                <a:tc hMerge="1">
                  <a:tcPr/>
                </a:tc>
                <a:tc hMerge="1">
                  <a:tcPr/>
                </a:tc>
                <a:tc hMerge="1">
                  <a:tcPr marL="0" marR="0" marT="0" marB="0" anchor="ctr">
                    <a:solidFill>
                      <a:srgbClr val="0C7F8A"/>
                    </a:solidFill>
                  </a:tcPr>
                </a:tc>
                <a:tc gridSpan="6">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b="1" kern="1200" dirty="0">
                          <a:solidFill>
                            <a:schemeClr val="bg1"/>
                          </a:solidFill>
                          <a:latin typeface="微软雅黑" panose="020B0503020204020204" pitchFamily="34" charset="-122"/>
                          <a:ea typeface="微软雅黑" panose="020B0503020204020204" pitchFamily="34" charset="-122"/>
                          <a:cs typeface="+mn-cs"/>
                        </a:rPr>
                        <a:t>UAT</a:t>
                      </a:r>
                      <a:r>
                        <a:rPr lang="zh-CN" altLang="en-US" sz="1000" b="1" kern="1200" dirty="0">
                          <a:solidFill>
                            <a:schemeClr val="bg1"/>
                          </a:solidFill>
                          <a:latin typeface="微软雅黑" panose="020B0503020204020204" pitchFamily="34" charset="-122"/>
                          <a:ea typeface="微软雅黑" panose="020B0503020204020204" pitchFamily="34" charset="-122"/>
                          <a:cs typeface="+mn-cs"/>
                        </a:rPr>
                        <a:t>测试</a:t>
                      </a:r>
                      <a:endParaRPr lang="zh-CN" altLang="en-US" sz="1000" b="1" kern="1200" dirty="0">
                        <a:solidFill>
                          <a:schemeClr val="bg1"/>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hMerge="1">
                  <a:tcPr/>
                </a:tc>
                <a:tc hMerge="1">
                  <a:tcPr/>
                </a:tc>
                <a:tc hMerge="1">
                  <a:tcPr/>
                </a:tc>
                <a:tc hMerge="1">
                  <a:tcPr/>
                </a:tc>
                <a:tc hMerge="1">
                  <a:tcPr marL="0" marR="0" marT="0" marB="0" anchor="ctr">
                    <a:solidFill>
                      <a:srgbClr val="0C7F8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rgbClr val="FF0000"/>
                          </a:solidFill>
                          <a:latin typeface="微软雅黑" panose="020B0503020204020204" pitchFamily="34" charset="-122"/>
                          <a:ea typeface="微软雅黑" panose="020B0503020204020204" pitchFamily="34" charset="-122"/>
                          <a:cs typeface="+mn-cs"/>
                        </a:rPr>
                        <a:t>系统上线</a:t>
                      </a:r>
                      <a:endParaRPr lang="zh-CN" altLang="en-US" sz="1000" b="1" kern="1200" dirty="0">
                        <a:solidFill>
                          <a:srgbClr val="FF0000"/>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gridSpan="6">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微软雅黑" panose="020B0503020204020204" pitchFamily="34" charset="-122"/>
                          <a:ea typeface="微软雅黑" panose="020B0503020204020204" pitchFamily="34" charset="-122"/>
                          <a:cs typeface="+mn-cs"/>
                        </a:rPr>
                        <a:t>试运行支持</a:t>
                      </a:r>
                      <a:endParaRPr lang="zh-CN" altLang="en-US" sz="1000" b="1" kern="1200" dirty="0">
                        <a:solidFill>
                          <a:schemeClr val="bg1"/>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c hMerge="1">
                  <a:tcPr marL="0" marR="0" marT="0" marB="0" anchor="ctr">
                    <a:solidFill>
                      <a:srgbClr val="0C7F8A"/>
                    </a:solidFill>
                  </a:tcPr>
                </a:tc>
                <a:tc hMerge="1">
                  <a:tcPr marL="0" marR="0" marT="0" marB="0" anchor="ctr">
                    <a:solidFill>
                      <a:srgbClr val="0C7F8A"/>
                    </a:solidFill>
                  </a:tcPr>
                </a:tc>
                <a:tc hMerge="1">
                  <a:tcPr/>
                </a:tc>
                <a:tc hMerge="1">
                  <a:tcPr/>
                </a:tc>
                <a:tc hMerge="1">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rgbClr val="FF0000"/>
                          </a:solidFill>
                          <a:latin typeface="微软雅黑" panose="020B0503020204020204" pitchFamily="34" charset="-122"/>
                          <a:ea typeface="微软雅黑" panose="020B0503020204020204" pitchFamily="34" charset="-122"/>
                          <a:cs typeface="+mn-cs"/>
                        </a:rPr>
                        <a:t>验收</a:t>
                      </a:r>
                      <a:endParaRPr lang="zh-CN" altLang="en-US" sz="1000" b="1" kern="1200" dirty="0">
                        <a:solidFill>
                          <a:srgbClr val="FF0000"/>
                        </a:solidFill>
                        <a:latin typeface="微软雅黑" panose="020B0503020204020204" pitchFamily="34" charset="-122"/>
                        <a:ea typeface="微软雅黑" panose="020B0503020204020204" pitchFamily="34" charset="-122"/>
                        <a:cs typeface="+mn-cs"/>
                      </a:endParaRPr>
                    </a:p>
                  </a:txBody>
                  <a:tcPr marL="0" marR="0" marT="0" marB="0" anchor="ctr">
                    <a:solidFill>
                      <a:srgbClr val="0C7F8A"/>
                    </a:solidFill>
                  </a:tcPr>
                </a:tc>
              </a:tr>
              <a:tr h="272550">
                <a:tc vMerge="1">
                  <a:tcPr/>
                </a:tc>
                <a:tc gridSpan="4">
                  <a:txBody>
                    <a:bodyPr/>
                    <a:lstStyle/>
                    <a:p>
                      <a:pPr marL="0" algn="ctr" defTabSz="914400" rtl="0" eaLnBrk="1" latinLnBrk="0" hangingPunct="1"/>
                      <a:r>
                        <a:rPr lang="en-US" altLang="zh-CN" sz="1000" b="1" kern="1200" dirty="0">
                          <a:solidFill>
                            <a:schemeClr val="dk1"/>
                          </a:solidFill>
                          <a:latin typeface="微软雅黑" panose="020B0503020204020204" pitchFamily="34" charset="-122"/>
                          <a:ea typeface="微软雅黑" panose="020B0503020204020204" pitchFamily="34" charset="-122"/>
                          <a:cs typeface="+mn-cs"/>
                        </a:rPr>
                        <a:t>9</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nchor="ctr"/>
                </a:tc>
                <a:tc hMerge="1">
                  <a:tcPr/>
                </a:tc>
                <a:tc hMerge="1">
                  <a:tcPr/>
                </a:tc>
                <a:tc gridSpan="4">
                  <a:txBody>
                    <a:bodyPr/>
                    <a:lstStyle/>
                    <a:p>
                      <a:pPr marL="0" algn="ctr" defTabSz="914400" rtl="0" eaLnBrk="1" latinLnBrk="0" hangingPunct="1"/>
                      <a:r>
                        <a:rPr lang="en-US" altLang="zh-CN" sz="1000" b="1" kern="1200" dirty="0">
                          <a:solidFill>
                            <a:schemeClr val="dk1"/>
                          </a:solidFill>
                          <a:latin typeface="微软雅黑" panose="020B0503020204020204" pitchFamily="34" charset="-122"/>
                          <a:ea typeface="微软雅黑" panose="020B0503020204020204" pitchFamily="34" charset="-122"/>
                          <a:cs typeface="+mn-cs"/>
                        </a:rPr>
                        <a:t>10</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nchor="ctr"/>
                </a:tc>
                <a:tc hMerge="1">
                  <a:tcPr marL="86402" marR="86402" marT="43201" marB="43201" anchor="ctr"/>
                </a:tc>
                <a:tc hMerge="1">
                  <a:tcPr anchor="ctr"/>
                </a:tc>
                <a:tc gridSpan="4">
                  <a:txBody>
                    <a:bodyPr/>
                    <a:lstStyle/>
                    <a:p>
                      <a:pPr marL="0" algn="ctr" defTabSz="914400" rtl="0" eaLnBrk="1" latinLnBrk="0" hangingPunct="1"/>
                      <a:r>
                        <a:rPr lang="en-US" altLang="zh-CN" sz="1000" b="1" kern="1200" dirty="0">
                          <a:solidFill>
                            <a:schemeClr val="dk1"/>
                          </a:solidFill>
                          <a:latin typeface="微软雅黑" panose="020B0503020204020204" pitchFamily="34" charset="-122"/>
                          <a:ea typeface="微软雅黑" panose="020B0503020204020204" pitchFamily="34" charset="-122"/>
                          <a:cs typeface="+mn-cs"/>
                        </a:rPr>
                        <a:t>11</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tc>
                <a:tc hMerge="1">
                  <a:tcPr anchor="ctr"/>
                </a:tc>
                <a:tc hMerge="1">
                  <a:tcPr/>
                </a:tc>
                <a:tc gridSpan="6">
                  <a:txBody>
                    <a:bodyPr/>
                    <a:lstStyle/>
                    <a:p>
                      <a:pPr marL="0" marR="0" lvl="0" indent="0" algn="ctr" defTabSz="398780" rtl="0" eaLnBrk="1" fontAlgn="auto" latinLnBrk="0" hangingPunct="1">
                        <a:lnSpc>
                          <a:spcPct val="100000"/>
                        </a:lnSpc>
                        <a:spcBef>
                          <a:spcPts val="0"/>
                        </a:spcBef>
                        <a:spcAft>
                          <a:spcPts val="0"/>
                        </a:spcAft>
                        <a:buClrTx/>
                        <a:buSzTx/>
                        <a:buFontTx/>
                        <a:buNone/>
                        <a:defRPr/>
                      </a:pPr>
                      <a:r>
                        <a:rPr lang="en-US" altLang="zh-CN" sz="1000" b="1" kern="1200" dirty="0">
                          <a:solidFill>
                            <a:schemeClr val="dk1"/>
                          </a:solidFill>
                          <a:latin typeface="微软雅黑" panose="020B0503020204020204" pitchFamily="34" charset="-122"/>
                          <a:ea typeface="微软雅黑" panose="020B0503020204020204" pitchFamily="34" charset="-122"/>
                          <a:cs typeface="+mn-cs"/>
                        </a:rPr>
                        <a:t>12</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tc>
                <a:tc hMerge="1">
                  <a:tcPr marL="86402" marR="86402" marT="43201" marB="43201" anchor="ctr"/>
                </a:tc>
                <a:tc hMerge="1">
                  <a:tcPr/>
                </a:tc>
                <a:tc hMerge="1">
                  <a:tcPr/>
                </a:tc>
                <a:tc hMerge="1">
                  <a:tcPr/>
                </a:tc>
                <a:tc gridSpan="4">
                  <a:txBody>
                    <a:bodyPr/>
                    <a:lstStyle/>
                    <a:p>
                      <a:pPr marL="0" algn="ctr" defTabSz="914400" rtl="0" eaLnBrk="1" latinLnBrk="0" hangingPunct="1"/>
                      <a:r>
                        <a:rPr lang="en-US" altLang="zh-CN" sz="1000" b="1" kern="1200" dirty="0">
                          <a:solidFill>
                            <a:schemeClr val="dk1"/>
                          </a:solidFill>
                          <a:latin typeface="微软雅黑" panose="020B0503020204020204" pitchFamily="34" charset="-122"/>
                          <a:ea typeface="微软雅黑" panose="020B0503020204020204" pitchFamily="34" charset="-122"/>
                          <a:cs typeface="+mn-cs"/>
                        </a:rPr>
                        <a:t>1</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tc>
                <a:tc hMerge="1">
                  <a:tcPr/>
                </a:tc>
                <a:tc hMerge="1">
                  <a:tcPr marL="0" marR="0" marT="0" marB="0" anchor="ctr"/>
                </a:tc>
                <a:tc gridSpan="5">
                  <a:txBody>
                    <a:bodyPr/>
                    <a:lstStyle/>
                    <a:p>
                      <a:pPr marL="0" algn="ctr" defTabSz="914400" rtl="0" eaLnBrk="1" latinLnBrk="0" hangingPunct="1"/>
                      <a:r>
                        <a:rPr lang="en-US" altLang="zh-CN" sz="1000" b="1" kern="1200" dirty="0">
                          <a:solidFill>
                            <a:schemeClr val="dk1"/>
                          </a:solidFill>
                          <a:latin typeface="微软雅黑" panose="020B0503020204020204" pitchFamily="34" charset="-122"/>
                          <a:ea typeface="微软雅黑" panose="020B0503020204020204" pitchFamily="34" charset="-122"/>
                          <a:cs typeface="+mn-cs"/>
                        </a:rPr>
                        <a:t>2</a:t>
                      </a:r>
                      <a:r>
                        <a:rPr lang="zh-CN" altLang="en-US" sz="1000" b="1" kern="1200" dirty="0">
                          <a:solidFill>
                            <a:schemeClr val="dk1"/>
                          </a:solidFill>
                          <a:latin typeface="微软雅黑" panose="020B0503020204020204" pitchFamily="34" charset="-122"/>
                          <a:ea typeface="微软雅黑" panose="020B0503020204020204" pitchFamily="34" charset="-122"/>
                          <a:cs typeface="+mn-cs"/>
                        </a:rPr>
                        <a:t>月</a:t>
                      </a:r>
                      <a:endParaRPr lang="zh-CN" altLang="en-US" sz="10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tc>
                <a:tc hMerge="1">
                  <a:tcPr/>
                </a:tc>
                <a:tc hMerge="1">
                  <a:tcPr/>
                </a:tc>
                <a:tc hMerge="1">
                  <a:tcPr/>
                </a:tc>
              </a:tr>
              <a:tr h="205514">
                <a:tc vMerge="1">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11</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15</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22</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29</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6</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13</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20</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27</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3</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10</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17</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24</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gridSpan="2">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hMerge="1">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8</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15</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22</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91440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29</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5</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dirty="0">
                          <a:solidFill>
                            <a:schemeClr val="dk1"/>
                          </a:solidFill>
                          <a:latin typeface="微软雅黑" panose="020B0503020204020204" pitchFamily="34" charset="-122"/>
                          <a:ea typeface="微软雅黑" panose="020B0503020204020204" pitchFamily="34" charset="-122"/>
                          <a:cs typeface="+mn-cs"/>
                        </a:rPr>
                        <a:t>12</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19</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26</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2</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9</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16</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gridSpan="2">
                  <a:txBody>
                    <a:bodyPr/>
                    <a:lstStyle/>
                    <a:p>
                      <a:pPr marL="0" algn="ctr" defTabSz="398780" rtl="0" eaLnBrk="1" latinLnBrk="0" hangingPunct="1"/>
                      <a:r>
                        <a:rPr lang="en-US" altLang="zh-CN" sz="900" b="1" kern="1200">
                          <a:solidFill>
                            <a:schemeClr val="dk1"/>
                          </a:solidFill>
                          <a:latin typeface="微软雅黑" panose="020B0503020204020204" pitchFamily="34" charset="-122"/>
                          <a:ea typeface="微软雅黑" panose="020B0503020204020204" pitchFamily="34" charset="-122"/>
                          <a:cs typeface="+mn-cs"/>
                        </a:rPr>
                        <a:t>23</a:t>
                      </a:r>
                      <a:endParaRPr lang="zh-CN" altLang="en-US" sz="9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solidFill>
                      <a:schemeClr val="bg2">
                        <a:lumMod val="95000"/>
                      </a:schemeClr>
                    </a:solidFill>
                  </a:tcPr>
                </a:tc>
                <a:tc hMerge="1">
                  <a:tcPr/>
                </a:tc>
              </a:tr>
              <a:tr h="252885">
                <a:tc vMerge="1">
                  <a:tcPr/>
                </a:tc>
                <a:tc>
                  <a:txBody>
                    <a:bodyPr/>
                    <a:lstStyle/>
                    <a:p>
                      <a:pPr algn="ctr"/>
                      <a:r>
                        <a:rPr lang="en-US" altLang="zh-CN" sz="800" b="1" dirty="0">
                          <a:latin typeface="微软雅黑" panose="020B0503020204020204" pitchFamily="34" charset="-122"/>
                          <a:ea typeface="微软雅黑" panose="020B0503020204020204" pitchFamily="34" charset="-122"/>
                        </a:rPr>
                        <a:t>W1</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a:latin typeface="微软雅黑" panose="020B0503020204020204" pitchFamily="34" charset="-122"/>
                          <a:ea typeface="微软雅黑" panose="020B0503020204020204" pitchFamily="34" charset="-122"/>
                        </a:rPr>
                        <a:t>W2</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a:latin typeface="微软雅黑" panose="020B0503020204020204" pitchFamily="34" charset="-122"/>
                          <a:ea typeface="微软雅黑" panose="020B0503020204020204" pitchFamily="34" charset="-122"/>
                        </a:rPr>
                        <a:t>W3</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W4</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W5</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W6</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W7</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W8</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W9</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W10</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W11</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a:txBody>
                    <a:bodyPr/>
                    <a:lstStyle/>
                    <a:p>
                      <a:pPr algn="ctr"/>
                      <a:r>
                        <a:rPr lang="en-US" altLang="zh-CN" sz="800" b="1" dirty="0" err="1">
                          <a:latin typeface="微软雅黑" panose="020B0503020204020204" pitchFamily="34" charset="-122"/>
                          <a:ea typeface="微软雅黑" panose="020B0503020204020204" pitchFamily="34" charset="-122"/>
                        </a:rPr>
                        <a:t>W12</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gridSpan="2">
                  <a:txBody>
                    <a:bodyPr/>
                    <a:lstStyle/>
                    <a:p>
                      <a:pPr algn="ctr"/>
                      <a:r>
                        <a:rPr lang="en-US" altLang="zh-CN" sz="800" b="1" dirty="0">
                          <a:latin typeface="微软雅黑" panose="020B0503020204020204" pitchFamily="34" charset="-122"/>
                          <a:ea typeface="微软雅黑" panose="020B0503020204020204" pitchFamily="34" charset="-122"/>
                        </a:rPr>
                        <a:t>W13</a:t>
                      </a:r>
                      <a:endParaRPr lang="zh-CN" altLang="en-US" sz="800" b="1" dirty="0">
                        <a:latin typeface="微软雅黑" panose="020B0503020204020204" pitchFamily="34" charset="-122"/>
                        <a:ea typeface="微软雅黑" panose="020B0503020204020204" pitchFamily="34" charset="-122"/>
                      </a:endParaRPr>
                    </a:p>
                  </a:txBody>
                  <a:tcPr marL="0" marR="0" marT="0" marB="0" anchor="ctr"/>
                </a:tc>
                <a:tc hMerge="1">
                  <a:tcPr/>
                </a:tc>
                <a:tc>
                  <a:txBody>
                    <a:bodyPr/>
                    <a:lstStyle/>
                    <a:p>
                      <a:pPr algn="ctr"/>
                      <a:r>
                        <a:rPr lang="en-US" altLang="zh-CN" sz="800" b="1" dirty="0">
                          <a:latin typeface="微软雅黑" panose="020B0503020204020204" pitchFamily="34" charset="-122"/>
                          <a:ea typeface="微软雅黑" panose="020B0503020204020204" pitchFamily="34" charset="-122"/>
                        </a:rPr>
                        <a:t>W14</a:t>
                      </a:r>
                      <a:endParaRPr lang="zh-CN" altLang="en-US" sz="700" dirty="0"/>
                    </a:p>
                  </a:txBody>
                  <a:tcPr marL="0" marR="0" marT="0" marB="0" anchor="ctr"/>
                </a:tc>
                <a:tc>
                  <a:txBody>
                    <a:bodyPr/>
                    <a:lstStyle/>
                    <a:p>
                      <a:pPr algn="ctr"/>
                      <a:r>
                        <a:rPr lang="en-US" altLang="zh-CN" sz="800" b="1" dirty="0">
                          <a:latin typeface="微软雅黑" panose="020B0503020204020204" pitchFamily="34" charset="-122"/>
                          <a:ea typeface="微软雅黑" panose="020B0503020204020204" pitchFamily="34" charset="-122"/>
                        </a:rPr>
                        <a:t>W15</a:t>
                      </a:r>
                      <a:endParaRPr lang="zh-CN" altLang="en-US" sz="700" dirty="0"/>
                    </a:p>
                  </a:txBody>
                  <a:tcPr marL="0" marR="0" marT="0" marB="0" anchor="ctr"/>
                </a:tc>
                <a:tc>
                  <a:txBody>
                    <a:bodyPr/>
                    <a:lstStyle/>
                    <a:p>
                      <a:pPr algn="ctr"/>
                      <a:r>
                        <a:rPr lang="en-US" altLang="zh-CN" sz="800" b="1" dirty="0">
                          <a:latin typeface="微软雅黑" panose="020B0503020204020204" pitchFamily="34" charset="-122"/>
                          <a:ea typeface="微软雅黑" panose="020B0503020204020204" pitchFamily="34" charset="-122"/>
                        </a:rPr>
                        <a:t>W16</a:t>
                      </a:r>
                      <a:endParaRPr lang="zh-CN" altLang="en-US" sz="700" dirty="0"/>
                    </a:p>
                  </a:txBody>
                  <a:tcPr marL="0" marR="0" marT="0" marB="0" anchor="ctr"/>
                </a:tc>
                <a:tc>
                  <a:txBody>
                    <a:bodyPr/>
                    <a:lstStyle/>
                    <a:p>
                      <a:pPr algn="ctr"/>
                      <a:r>
                        <a:rPr lang="en-US" altLang="zh-CN" sz="800" b="1" dirty="0">
                          <a:latin typeface="微软雅黑" panose="020B0503020204020204" pitchFamily="34" charset="-122"/>
                          <a:ea typeface="微软雅黑" panose="020B0503020204020204" pitchFamily="34" charset="-122"/>
                        </a:rPr>
                        <a:t>W17</a:t>
                      </a:r>
                      <a:endParaRPr lang="zh-CN" altLang="en-US" sz="700" dirty="0"/>
                    </a:p>
                  </a:txBody>
                  <a:tcPr marL="0" marR="0" marT="0" marB="0" anchor="ctr"/>
                </a:tc>
                <a:tc>
                  <a:txBody>
                    <a:bodyPr/>
                    <a:lstStyle/>
                    <a:p>
                      <a:pPr algn="ctr"/>
                      <a:r>
                        <a:rPr lang="en-US" altLang="zh-CN" sz="800" b="1" kern="1200" dirty="0">
                          <a:solidFill>
                            <a:schemeClr val="dk1"/>
                          </a:solidFill>
                          <a:latin typeface="微软雅黑" panose="020B0503020204020204" pitchFamily="34" charset="-122"/>
                          <a:ea typeface="微软雅黑" panose="020B0503020204020204" pitchFamily="34" charset="-122"/>
                          <a:cs typeface="+mn-cs"/>
                        </a:rPr>
                        <a:t>W18</a:t>
                      </a:r>
                      <a:endParaRPr lang="zh-CN" altLang="en-US" sz="700" dirty="0"/>
                    </a:p>
                  </a:txBody>
                  <a:tcPr marL="0" marR="0" marT="0" marB="0" anchor="ctr"/>
                </a:tc>
                <a:tc>
                  <a:txBody>
                    <a:bodyPr/>
                    <a:lstStyle/>
                    <a:p>
                      <a:pPr marL="0" algn="ctr" defTabSz="398780" rtl="0" eaLnBrk="1" latinLnBrk="0" hangingPunct="1"/>
                      <a:r>
                        <a:rPr lang="en-US" altLang="zh-CN" sz="800" b="1" kern="1200" dirty="0">
                          <a:solidFill>
                            <a:schemeClr val="dk1"/>
                          </a:solidFill>
                          <a:latin typeface="微软雅黑" panose="020B0503020204020204" pitchFamily="34" charset="-122"/>
                          <a:ea typeface="微软雅黑" panose="020B0503020204020204" pitchFamily="34" charset="-122"/>
                          <a:cs typeface="+mn-cs"/>
                        </a:rPr>
                        <a:t>W19</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a:txBody>
                    <a:bodyPr/>
                    <a:lstStyle/>
                    <a:p>
                      <a:pPr marL="0" algn="ctr" defTabSz="398780" rtl="0" eaLnBrk="1" latinLnBrk="0" hangingPunct="1"/>
                      <a:r>
                        <a:rPr lang="en-US" altLang="zh-CN" sz="800" b="1" kern="1200">
                          <a:solidFill>
                            <a:schemeClr val="dk1"/>
                          </a:solidFill>
                          <a:latin typeface="微软雅黑" panose="020B0503020204020204" pitchFamily="34" charset="-122"/>
                          <a:ea typeface="微软雅黑" panose="020B0503020204020204" pitchFamily="34" charset="-122"/>
                          <a:cs typeface="+mn-cs"/>
                        </a:rPr>
                        <a:t>W20</a:t>
                      </a:r>
                      <a:endParaRPr lang="en-US" altLang="zh-CN"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a:txBody>
                    <a:bodyPr/>
                    <a:lstStyle/>
                    <a:p>
                      <a:pPr marL="0" algn="ctr" defTabSz="398780" rtl="0" eaLnBrk="1" latinLnBrk="0" hangingPunct="1"/>
                      <a:r>
                        <a:rPr lang="en-US" altLang="zh-CN" sz="800" b="1" kern="1200">
                          <a:solidFill>
                            <a:schemeClr val="dk1"/>
                          </a:solidFill>
                          <a:latin typeface="微软雅黑" panose="020B0503020204020204" pitchFamily="34" charset="-122"/>
                          <a:ea typeface="微软雅黑" panose="020B0503020204020204" pitchFamily="34" charset="-122"/>
                          <a:cs typeface="+mn-cs"/>
                        </a:rPr>
                        <a:t>W21</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a:txBody>
                    <a:bodyPr/>
                    <a:lstStyle/>
                    <a:p>
                      <a:pPr marL="0" algn="ctr" defTabSz="398780" rtl="0" eaLnBrk="1" latinLnBrk="0" hangingPunct="1"/>
                      <a:r>
                        <a:rPr lang="en-US" altLang="zh-CN" sz="800" b="1" kern="1200">
                          <a:solidFill>
                            <a:schemeClr val="dk1"/>
                          </a:solidFill>
                          <a:latin typeface="微软雅黑" panose="020B0503020204020204" pitchFamily="34" charset="-122"/>
                          <a:ea typeface="微软雅黑" panose="020B0503020204020204" pitchFamily="34" charset="-122"/>
                          <a:cs typeface="+mn-cs"/>
                        </a:rPr>
                        <a:t>W22</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a:txBody>
                    <a:bodyPr/>
                    <a:lstStyle/>
                    <a:p>
                      <a:pPr marL="0" algn="ctr" defTabSz="398780" rtl="0" eaLnBrk="1" latinLnBrk="0" hangingPunct="1"/>
                      <a:r>
                        <a:rPr lang="en-US" altLang="zh-CN" sz="800" b="1" kern="1200">
                          <a:solidFill>
                            <a:schemeClr val="dk1"/>
                          </a:solidFill>
                          <a:latin typeface="微软雅黑" panose="020B0503020204020204" pitchFamily="34" charset="-122"/>
                          <a:ea typeface="微软雅黑" panose="020B0503020204020204" pitchFamily="34" charset="-122"/>
                          <a:cs typeface="+mn-cs"/>
                        </a:rPr>
                        <a:t>W23</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a:txBody>
                    <a:bodyPr/>
                    <a:lstStyle/>
                    <a:p>
                      <a:pPr marL="0" algn="ctr" defTabSz="398780" rtl="0" eaLnBrk="1" latinLnBrk="0" hangingPunct="1"/>
                      <a:r>
                        <a:rPr lang="en-US" altLang="zh-CN" sz="800" b="1" kern="1200">
                          <a:solidFill>
                            <a:schemeClr val="dk1"/>
                          </a:solidFill>
                          <a:latin typeface="微软雅黑" panose="020B0503020204020204" pitchFamily="34" charset="-122"/>
                          <a:ea typeface="微软雅黑" panose="020B0503020204020204" pitchFamily="34" charset="-122"/>
                          <a:cs typeface="+mn-cs"/>
                        </a:rPr>
                        <a:t>W24</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gridSpan="2">
                  <a:txBody>
                    <a:bodyPr/>
                    <a:lstStyle/>
                    <a:p>
                      <a:pPr marL="0" algn="ctr" defTabSz="398780" rtl="0" eaLnBrk="1" latinLnBrk="0" hangingPunct="1"/>
                      <a:r>
                        <a:rPr lang="en-US" altLang="zh-CN" sz="800" b="1" kern="1200" dirty="0">
                          <a:solidFill>
                            <a:schemeClr val="dk1"/>
                          </a:solidFill>
                          <a:latin typeface="微软雅黑" panose="020B0503020204020204" pitchFamily="34" charset="-122"/>
                          <a:ea typeface="微软雅黑" panose="020B0503020204020204" pitchFamily="34" charset="-122"/>
                          <a:cs typeface="+mn-cs"/>
                        </a:rPr>
                        <a:t>W25</a:t>
                      </a:r>
                      <a:endParaRPr lang="zh-CN" altLang="en-US" sz="800" b="1" kern="1200" dirty="0">
                        <a:solidFill>
                          <a:schemeClr val="dk1"/>
                        </a:solidFill>
                        <a:latin typeface="微软雅黑" panose="020B0503020204020204" pitchFamily="34" charset="-122"/>
                        <a:ea typeface="微软雅黑" panose="020B0503020204020204" pitchFamily="34" charset="-122"/>
                        <a:cs typeface="+mn-cs"/>
                      </a:endParaRPr>
                    </a:p>
                  </a:txBody>
                  <a:tcPr marL="0" marR="0" marT="0" marB="0" anchor="ctr"/>
                </a:tc>
                <a:tc hMerge="1">
                  <a:tcPr/>
                </a:tc>
              </a:tr>
              <a:tr h="437451">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启动</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372533">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需求调研</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440267">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方案设计</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423333">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系统开发</a:t>
                      </a:r>
                      <a:endParaRPr lang="en-US" altLang="zh-CN" sz="1000" b="1" dirty="0">
                        <a:solidFill>
                          <a:schemeClr val="bg1"/>
                        </a:solidFill>
                        <a:latin typeface="微软雅黑" panose="020B0503020204020204" pitchFamily="34" charset="-122"/>
                        <a:ea typeface="微软雅黑" panose="020B0503020204020204" pitchFamily="34" charset="-122"/>
                      </a:endParaRPr>
                    </a:p>
                    <a:p>
                      <a:pPr algn="ctr"/>
                      <a:r>
                        <a:rPr lang="zh-CN" altLang="en-US" sz="1000" b="1" dirty="0">
                          <a:solidFill>
                            <a:schemeClr val="bg1"/>
                          </a:solidFill>
                          <a:latin typeface="微软雅黑" panose="020B0503020204020204" pitchFamily="34" charset="-122"/>
                          <a:ea typeface="微软雅黑" panose="020B0503020204020204" pitchFamily="34" charset="-122"/>
                        </a:rPr>
                        <a:t>与内测</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rgbClr val="0C7F8A"/>
                    </a:solidFill>
                  </a:tcPr>
                </a:tc>
                <a:tc gridSpan="2">
                  <a:txBody>
                    <a:bodyPr/>
                    <a:lstStyle/>
                    <a:p>
                      <a:endParaRPr lang="zh-CN" altLang="en-US" dirty="0"/>
                    </a:p>
                  </a:txBody>
                  <a:tcPr marL="0" marR="0" marT="0" marB="0" anchor="ctr">
                    <a:solidFill>
                      <a:srgbClr val="0C7F8A"/>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491067">
                <a:tc>
                  <a:txBody>
                    <a:bodyPr/>
                    <a:lstStyle/>
                    <a:p>
                      <a:pPr algn="ctr"/>
                      <a:r>
                        <a:rPr lang="en-US" altLang="zh-CN" sz="1000" b="1" dirty="0">
                          <a:solidFill>
                            <a:schemeClr val="bg1"/>
                          </a:solidFill>
                          <a:latin typeface="微软雅黑" panose="020B0503020204020204" pitchFamily="34" charset="-122"/>
                          <a:ea typeface="微软雅黑" panose="020B0503020204020204" pitchFamily="34" charset="-122"/>
                        </a:rPr>
                        <a:t>UAT</a:t>
                      </a:r>
                      <a:r>
                        <a:rPr lang="zh-CN" altLang="en-US" sz="1000" b="1" dirty="0">
                          <a:solidFill>
                            <a:schemeClr val="bg1"/>
                          </a:solidFill>
                          <a:latin typeface="微软雅黑" panose="020B0503020204020204" pitchFamily="34" charset="-122"/>
                          <a:ea typeface="微软雅黑" panose="020B0503020204020204" pitchFamily="34" charset="-122"/>
                        </a:rPr>
                        <a:t>测试</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474133">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系统上线</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0" marR="0" marT="0" marB="0" anchor="ctr">
                    <a:solidFill>
                      <a:schemeClr val="accent1"/>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rgbClr val="FF0000"/>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chemeClr val="bg2">
                        <a:lumMod val="95000"/>
                      </a:schemeClr>
                    </a:solidFill>
                  </a:tcPr>
                </a:tc>
                <a:tc hMerge="1">
                  <a:tcPr/>
                </a:tc>
              </a:tr>
              <a:tr h="515902">
                <a:tc>
                  <a:txBody>
                    <a:bodyPr/>
                    <a:lstStyle/>
                    <a:p>
                      <a:pPr marL="0" marR="0" lvl="0" indent="0" algn="ctr" defTabSz="39878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微软雅黑" panose="020B0503020204020204" pitchFamily="34" charset="-122"/>
                          <a:ea typeface="微软雅黑" panose="020B0503020204020204" pitchFamily="34" charset="-122"/>
                        </a:rPr>
                        <a:t>试运行支持</a:t>
                      </a:r>
                      <a:endParaRPr lang="zh-CN" altLang="en-US" sz="1000" b="1" dirty="0">
                        <a:solidFill>
                          <a:srgbClr val="FF0000"/>
                        </a:solidFill>
                        <a:latin typeface="微软雅黑" panose="020B0503020204020204" pitchFamily="34" charset="-122"/>
                        <a:ea typeface="微软雅黑" panose="020B0503020204020204" pitchFamily="34" charset="-122"/>
                      </a:endParaRPr>
                    </a:p>
                  </a:txBody>
                  <a:tcPr marL="86402" marR="86402" marT="43201" marB="43201" anchor="ctr">
                    <a:solidFill>
                      <a:schemeClr val="accent1"/>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a:txBody>
                    <a:bodyPr/>
                    <a:lstStyle/>
                    <a:p>
                      <a:endParaRPr lang="zh-CN" altLang="en-US" dirty="0"/>
                    </a:p>
                  </a:txBody>
                  <a:tcPr marL="0" marR="0" marT="0" marB="0" anchor="ctr">
                    <a:solidFill>
                      <a:srgbClr val="0C7F8A"/>
                    </a:solidFill>
                  </a:tcPr>
                </a:tc>
                <a:tc gridSpan="2">
                  <a:txBody>
                    <a:bodyPr/>
                    <a:lstStyle/>
                    <a:p>
                      <a:endParaRPr lang="zh-CN" altLang="en-US" dirty="0"/>
                    </a:p>
                  </a:txBody>
                  <a:tcPr marL="0" marR="0" marT="0" marB="0" anchor="ctr">
                    <a:solidFill>
                      <a:schemeClr val="bg2">
                        <a:lumMod val="95000"/>
                      </a:schemeClr>
                    </a:solidFill>
                  </a:tcPr>
                </a:tc>
                <a:tc hMerge="1">
                  <a:tcPr/>
                </a:tc>
              </a:tr>
              <a:tr h="345963">
                <a:tc>
                  <a:txBody>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验收</a:t>
                      </a:r>
                      <a:endParaRPr lang="zh-CN" altLang="en-US" sz="1000" b="1" dirty="0">
                        <a:solidFill>
                          <a:schemeClr val="bg1"/>
                        </a:solidFill>
                        <a:latin typeface="微软雅黑" panose="020B0503020204020204" pitchFamily="34" charset="-122"/>
                        <a:ea typeface="微软雅黑" panose="020B0503020204020204" pitchFamily="34" charset="-122"/>
                      </a:endParaRPr>
                    </a:p>
                  </a:txBody>
                  <a:tcPr marL="86402" marR="86402" marT="43201" marB="43201" anchor="ctr">
                    <a:solidFill>
                      <a:schemeClr val="accent1"/>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tx1">
                        <a:lumMod val="50000"/>
                        <a:lumOff val="50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a:txBody>
                    <a:bodyPr/>
                    <a:lstStyle/>
                    <a:p>
                      <a:endParaRPr lang="zh-CN" altLang="en-US" sz="700" dirty="0">
                        <a:latin typeface="微软雅黑" panose="020B0503020204020204" pitchFamily="34" charset="-122"/>
                        <a:ea typeface="微软雅黑" panose="020B0503020204020204" pitchFamily="34" charset="-122"/>
                      </a:endParaRPr>
                    </a:p>
                  </a:txBody>
                  <a:tcPr marL="0" marR="0" marT="0" marB="0" anchor="ctr">
                    <a:solidFill>
                      <a:schemeClr val="bg2">
                        <a:lumMod val="95000"/>
                      </a:schemeClr>
                    </a:solidFill>
                  </a:tcPr>
                </a:tc>
                <a:tc gridSpan="2">
                  <a:txBody>
                    <a:bodyPr/>
                    <a:lstStyle/>
                    <a:p>
                      <a:endParaRPr lang="zh-CN" altLang="en-US"/>
                    </a:p>
                  </a:txBody>
                  <a:tcPr marL="0" marR="0" marT="0" marB="0" anchor="ctr">
                    <a:solidFill>
                      <a:schemeClr val="bg2">
                        <a:lumMod val="95000"/>
                      </a:schemeClr>
                    </a:solidFill>
                  </a:tcPr>
                </a:tc>
                <a:tc hMerge="1">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a:txBody>
                    <a:bodyPr/>
                    <a:lstStyle/>
                    <a:p>
                      <a:endParaRPr lang="zh-CN" altLang="en-US" dirty="0"/>
                    </a:p>
                  </a:txBody>
                  <a:tcPr marL="0" marR="0" marT="0" marB="0" anchor="ctr">
                    <a:solidFill>
                      <a:schemeClr val="bg2">
                        <a:lumMod val="95000"/>
                      </a:schemeClr>
                    </a:solidFill>
                  </a:tcPr>
                </a:tc>
                <a:tc gridSpan="2">
                  <a:txBody>
                    <a:bodyPr/>
                    <a:lstStyle/>
                    <a:p>
                      <a:endParaRPr lang="zh-CN" altLang="en-US" dirty="0"/>
                    </a:p>
                  </a:txBody>
                  <a:tcPr marL="0" marR="0" marT="0" marB="0" anchor="ctr">
                    <a:solidFill>
                      <a:srgbClr val="FF0000"/>
                    </a:solidFill>
                  </a:tcPr>
                </a:tc>
                <a:tc hMerge="1">
                  <a:tcPr/>
                </a:tc>
              </a:tr>
            </a:tbl>
          </a:graphicData>
        </a:graphic>
      </p:graphicFrame>
      <p:sp>
        <p:nvSpPr>
          <p:cNvPr id="9" name="文本框 8"/>
          <p:cNvSpPr txBox="1"/>
          <p:nvPr/>
        </p:nvSpPr>
        <p:spPr>
          <a:xfrm>
            <a:off x="3882655" y="3095529"/>
            <a:ext cx="4593076" cy="295910"/>
          </a:xfrm>
          <a:prstGeom prst="rect">
            <a:avLst/>
          </a:prstGeom>
          <a:solidFill>
            <a:schemeClr val="bg1">
              <a:lumMod val="85000"/>
              <a:alpha val="21000"/>
            </a:schemeClr>
          </a:solidFill>
        </p:spPr>
        <p:txBody>
          <a:bodyPr wrap="square" rtlCol="0">
            <a:spAutoFit/>
          </a:bodyPr>
          <a:lstStyle>
            <a:defPPr>
              <a:defRPr lang="zh-CN"/>
            </a:defPPr>
            <a:lvl1pPr>
              <a:defRPr kumimoji="1" sz="1200" b="1">
                <a:latin typeface="微软雅黑" panose="020B0503020204020204" pitchFamily="34" charset="-122"/>
                <a:ea typeface="微软雅黑" panose="020B0503020204020204" pitchFamily="34" charset="-122"/>
              </a:defRPr>
            </a:lvl1pPr>
          </a:lstStyle>
          <a:p>
            <a:pPr algn="l"/>
            <a:r>
              <a:rPr lang="zh-CN" altLang="en-US" sz="1325" dirty="0"/>
              <a:t>本阶段标志为：需求调研报告确认</a:t>
            </a:r>
            <a:endParaRPr lang="zh-CN" altLang="en-US" sz="1325" dirty="0"/>
          </a:p>
        </p:txBody>
      </p:sp>
      <p:sp>
        <p:nvSpPr>
          <p:cNvPr id="10" name="文本框 9"/>
          <p:cNvSpPr txBox="1"/>
          <p:nvPr/>
        </p:nvSpPr>
        <p:spPr>
          <a:xfrm>
            <a:off x="4533761" y="3518724"/>
            <a:ext cx="2561590" cy="29591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本阶段标志为：蓝图方案汇报</a:t>
            </a:r>
            <a:endParaRPr lang="zh-CN" altLang="en-US" sz="1325" dirty="0"/>
          </a:p>
        </p:txBody>
      </p:sp>
      <p:sp>
        <p:nvSpPr>
          <p:cNvPr id="11" name="文本框 10"/>
          <p:cNvSpPr txBox="1"/>
          <p:nvPr/>
        </p:nvSpPr>
        <p:spPr>
          <a:xfrm>
            <a:off x="6630207" y="3945352"/>
            <a:ext cx="2427164" cy="29591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本阶段标志为：系统内测结束</a:t>
            </a:r>
            <a:endParaRPr lang="zh-CN" altLang="en-US" sz="1325" dirty="0"/>
          </a:p>
        </p:txBody>
      </p:sp>
      <p:sp>
        <p:nvSpPr>
          <p:cNvPr id="12" name="文本框 11"/>
          <p:cNvSpPr txBox="1"/>
          <p:nvPr/>
        </p:nvSpPr>
        <p:spPr>
          <a:xfrm>
            <a:off x="8475731" y="4374929"/>
            <a:ext cx="3280672" cy="29591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本阶段标志为：用户完成</a:t>
            </a:r>
            <a:r>
              <a:rPr lang="en-US" altLang="zh-CN" sz="1325" dirty="0" err="1"/>
              <a:t>UAT</a:t>
            </a:r>
            <a:r>
              <a:rPr lang="zh-CN" altLang="en-US" sz="1325" dirty="0"/>
              <a:t>测试</a:t>
            </a:r>
            <a:endParaRPr lang="zh-CN" altLang="en-US" sz="1325" dirty="0"/>
          </a:p>
        </p:txBody>
      </p:sp>
      <p:sp>
        <p:nvSpPr>
          <p:cNvPr id="13" name="文本框 12"/>
          <p:cNvSpPr txBox="1"/>
          <p:nvPr/>
        </p:nvSpPr>
        <p:spPr>
          <a:xfrm>
            <a:off x="9074244" y="4726764"/>
            <a:ext cx="2289764" cy="50038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a:t>
            </a:r>
            <a:endParaRPr lang="en-US" altLang="zh-CN" sz="1325" dirty="0"/>
          </a:p>
          <a:p>
            <a:pPr algn="l"/>
            <a:r>
              <a:rPr lang="zh-CN" altLang="en-US" sz="1325" dirty="0"/>
              <a:t>系统上线，数据初始化完成</a:t>
            </a:r>
            <a:endParaRPr lang="zh-CN" altLang="en-US" sz="1325" dirty="0"/>
          </a:p>
        </p:txBody>
      </p:sp>
      <p:pic>
        <p:nvPicPr>
          <p:cNvPr id="14"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3519691" y="3070417"/>
            <a:ext cx="362964" cy="372468"/>
          </a:xfrm>
          <a:prstGeom prst="rect">
            <a:avLst/>
          </a:prstGeom>
          <a:noFill/>
          <a:ln w="9525">
            <a:noFill/>
            <a:miter lim="800000"/>
            <a:headEnd/>
            <a:tailEnd/>
          </a:ln>
        </p:spPr>
      </p:pic>
      <p:pic>
        <p:nvPicPr>
          <p:cNvPr id="15"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4170797" y="3480454"/>
            <a:ext cx="362964" cy="372468"/>
          </a:xfrm>
          <a:prstGeom prst="rect">
            <a:avLst/>
          </a:prstGeom>
          <a:noFill/>
          <a:ln w="9525">
            <a:noFill/>
            <a:miter lim="800000"/>
            <a:headEnd/>
            <a:tailEnd/>
          </a:ln>
        </p:spPr>
      </p:pic>
      <p:pic>
        <p:nvPicPr>
          <p:cNvPr id="16"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8595175" y="4841594"/>
            <a:ext cx="362964" cy="372468"/>
          </a:xfrm>
          <a:prstGeom prst="rect">
            <a:avLst/>
          </a:prstGeom>
          <a:noFill/>
          <a:ln w="9525">
            <a:noFill/>
            <a:miter lim="800000"/>
            <a:headEnd/>
            <a:tailEnd/>
          </a:ln>
        </p:spPr>
      </p:pic>
      <p:pic>
        <p:nvPicPr>
          <p:cNvPr id="17"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8121234" y="4396271"/>
            <a:ext cx="362964" cy="372468"/>
          </a:xfrm>
          <a:prstGeom prst="rect">
            <a:avLst/>
          </a:prstGeom>
          <a:noFill/>
          <a:ln w="9525">
            <a:noFill/>
            <a:miter lim="800000"/>
            <a:headEnd/>
            <a:tailEnd/>
          </a:ln>
        </p:spPr>
      </p:pic>
      <p:pic>
        <p:nvPicPr>
          <p:cNvPr id="18"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6270530" y="3927307"/>
            <a:ext cx="362964" cy="372468"/>
          </a:xfrm>
          <a:prstGeom prst="rect">
            <a:avLst/>
          </a:prstGeom>
          <a:noFill/>
          <a:ln w="9525">
            <a:noFill/>
            <a:miter lim="800000"/>
            <a:headEnd/>
            <a:tailEnd/>
          </a:ln>
        </p:spPr>
      </p:pic>
      <p:sp>
        <p:nvSpPr>
          <p:cNvPr id="19" name="文本框 18"/>
          <p:cNvSpPr txBox="1"/>
          <p:nvPr/>
        </p:nvSpPr>
        <p:spPr>
          <a:xfrm>
            <a:off x="7527511" y="5370433"/>
            <a:ext cx="3292433" cy="29591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本阶段标志为：完成试点企业试运行总结</a:t>
            </a:r>
            <a:endParaRPr lang="zh-CN" altLang="en-US" sz="1325" dirty="0"/>
          </a:p>
        </p:txBody>
      </p:sp>
      <p:pic>
        <p:nvPicPr>
          <p:cNvPr id="20"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10819944" y="5353240"/>
            <a:ext cx="362964" cy="372468"/>
          </a:xfrm>
          <a:prstGeom prst="rect">
            <a:avLst/>
          </a:prstGeom>
          <a:noFill/>
          <a:ln w="9525">
            <a:noFill/>
            <a:miter lim="800000"/>
            <a:headEnd/>
            <a:tailEnd/>
          </a:ln>
        </p:spPr>
      </p:pic>
      <p:pic>
        <p:nvPicPr>
          <p:cNvPr id="21"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11364008" y="5782272"/>
            <a:ext cx="362964" cy="372468"/>
          </a:xfrm>
          <a:prstGeom prst="rect">
            <a:avLst/>
          </a:prstGeom>
          <a:noFill/>
          <a:ln w="9525">
            <a:noFill/>
            <a:miter lim="800000"/>
            <a:headEnd/>
            <a:tailEnd/>
          </a:ln>
        </p:spPr>
      </p:pic>
      <p:sp>
        <p:nvSpPr>
          <p:cNvPr id="22" name="文本框 21"/>
          <p:cNvSpPr txBox="1"/>
          <p:nvPr/>
        </p:nvSpPr>
        <p:spPr>
          <a:xfrm>
            <a:off x="8382638" y="5810200"/>
            <a:ext cx="3014031" cy="295910"/>
          </a:xfrm>
          <a:prstGeom prst="rect">
            <a:avLst/>
          </a:prstGeom>
          <a:solidFill>
            <a:schemeClr val="bg1">
              <a:lumMod val="85000"/>
              <a:alpha val="21000"/>
            </a:schemeClr>
          </a:solidFill>
        </p:spPr>
        <p:txBody>
          <a:bodyPr wrap="square" rtlCol="0">
            <a:spAutoFit/>
          </a:bodyPr>
          <a:lstStyle>
            <a:defPPr>
              <a:defRPr lang="zh-CN"/>
            </a:defPPr>
            <a:lvl1pPr>
              <a:defRPr kumimoji="1" sz="1400" b="1">
                <a:latin typeface="微软雅黑" panose="020B0503020204020204" pitchFamily="34" charset="-122"/>
                <a:ea typeface="微软雅黑" panose="020B0503020204020204" pitchFamily="34" charset="-122"/>
              </a:defRPr>
            </a:lvl1pPr>
          </a:lstStyle>
          <a:p>
            <a:pPr algn="l"/>
            <a:r>
              <a:rPr lang="zh-CN" altLang="en-US" sz="1325" dirty="0"/>
              <a:t>本阶段标志为：完成项目的最终验收</a:t>
            </a:r>
            <a:endParaRPr lang="zh-CN" altLang="en-US" sz="1325" dirty="0"/>
          </a:p>
        </p:txBody>
      </p:sp>
      <p:grpSp>
        <p:nvGrpSpPr>
          <p:cNvPr id="28" name="组合 27"/>
          <p:cNvGrpSpPr/>
          <p:nvPr/>
        </p:nvGrpSpPr>
        <p:grpSpPr>
          <a:xfrm>
            <a:off x="3158941" y="2160767"/>
            <a:ext cx="820794" cy="4027122"/>
            <a:chOff x="2506161" y="2526853"/>
            <a:chExt cx="820794" cy="4027122"/>
          </a:xfrm>
        </p:grpSpPr>
        <p:sp>
          <p:nvSpPr>
            <p:cNvPr id="25" name="TextBox 130"/>
            <p:cNvSpPr txBox="1">
              <a:spLocks noChangeArrowheads="1"/>
            </p:cNvSpPr>
            <p:nvPr/>
          </p:nvSpPr>
          <p:spPr bwMode="auto">
            <a:xfrm>
              <a:off x="2506161" y="6307754"/>
              <a:ext cx="8207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0">
              <a:spAutoFit/>
            </a:bodyPr>
            <a:lstStyle>
              <a:lvl1pPr>
                <a:defRPr b="1">
                  <a:solidFill>
                    <a:schemeClr val="tx1"/>
                  </a:solidFill>
                  <a:latin typeface="Arial" panose="020B0604020202020204" pitchFamily="34" charset="0"/>
                  <a:ea typeface="LF_Kai" charset="-120"/>
                </a:defRPr>
              </a:lvl1pPr>
              <a:lvl2pPr marL="742950" indent="-285750">
                <a:defRPr b="1">
                  <a:solidFill>
                    <a:schemeClr val="tx1"/>
                  </a:solidFill>
                  <a:latin typeface="Arial" panose="020B0604020202020204" pitchFamily="34" charset="0"/>
                  <a:ea typeface="LF_Kai" charset="-120"/>
                </a:defRPr>
              </a:lvl2pPr>
              <a:lvl3pPr marL="1143000" indent="-228600">
                <a:defRPr b="1">
                  <a:solidFill>
                    <a:schemeClr val="tx1"/>
                  </a:solidFill>
                  <a:latin typeface="Arial" panose="020B0604020202020204" pitchFamily="34" charset="0"/>
                  <a:ea typeface="LF_Kai" charset="-120"/>
                </a:defRPr>
              </a:lvl3pPr>
              <a:lvl4pPr marL="1600200" indent="-228600">
                <a:defRPr b="1">
                  <a:solidFill>
                    <a:schemeClr val="tx1"/>
                  </a:solidFill>
                  <a:latin typeface="Arial" panose="020B0604020202020204" pitchFamily="34" charset="0"/>
                  <a:ea typeface="LF_Kai" charset="-120"/>
                </a:defRPr>
              </a:lvl4pPr>
              <a:lvl5pPr marL="2057400" indent="-228600">
                <a:defRPr b="1">
                  <a:solidFill>
                    <a:schemeClr val="tx1"/>
                  </a:solidFill>
                  <a:latin typeface="Arial" panose="020B0604020202020204" pitchFamily="34" charset="0"/>
                  <a:ea typeface="LF_Kai" charset="-120"/>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LF_Kai" charset="-120"/>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LF_Kai" charset="-120"/>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LF_Kai" charset="-120"/>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LF_Kai" charset="-120"/>
                </a:defRPr>
              </a:lvl9pPr>
            </a:lstStyle>
            <a:p>
              <a:pPr algn="ctr">
                <a:spcBef>
                  <a:spcPct val="70000"/>
                </a:spcBef>
                <a:buClr>
                  <a:schemeClr val="folHlink"/>
                </a:buClr>
                <a:buSzPct val="120000"/>
                <a:buFont typeface="Times" panose="02020603050405020304" pitchFamily="18" charset="0"/>
                <a:buNone/>
              </a:pPr>
              <a:r>
                <a:rPr lang="zh-CN" altLang="en-US" sz="1600" dirty="0">
                  <a:solidFill>
                    <a:srgbClr val="FF0000"/>
                  </a:solidFill>
                  <a:latin typeface="微软雅黑" panose="020B0503020204020204" pitchFamily="34" charset="-122"/>
                  <a:ea typeface="微软雅黑" panose="020B0503020204020204" pitchFamily="34" charset="-122"/>
                </a:rPr>
                <a:t>当前进度</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6" name="上箭头 25"/>
            <p:cNvSpPr/>
            <p:nvPr/>
          </p:nvSpPr>
          <p:spPr>
            <a:xfrm>
              <a:off x="3145379" y="2526853"/>
              <a:ext cx="181576" cy="3649296"/>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7" name="组合 26"/>
          <p:cNvGrpSpPr/>
          <p:nvPr/>
        </p:nvGrpSpPr>
        <p:grpSpPr>
          <a:xfrm>
            <a:off x="2358748" y="2664490"/>
            <a:ext cx="3233591" cy="372468"/>
            <a:chOff x="2358748" y="2664490"/>
            <a:chExt cx="3233591" cy="372468"/>
          </a:xfrm>
        </p:grpSpPr>
        <p:pic>
          <p:nvPicPr>
            <p:cNvPr id="7" name="Picture 47" descr="MC900312098[1]"/>
            <p:cNvPicPr>
              <a:picLocks noChangeAspect="1" noChangeArrowheads="1"/>
            </p:cNvPicPr>
            <p:nvPr/>
          </p:nvPicPr>
          <p:blipFill>
            <a:blip r:embed="rId1" cstate="print">
              <a:duotone>
                <a:srgbClr val="A32020">
                  <a:shade val="45000"/>
                  <a:satMod val="135000"/>
                </a:srgbClr>
                <a:prstClr val="white"/>
              </a:duotone>
              <a:lum bright="3000" contrast="-5000"/>
            </a:blip>
            <a:srcRect/>
            <a:stretch>
              <a:fillRect/>
            </a:stretch>
          </p:blipFill>
          <p:spPr bwMode="auto">
            <a:xfrm>
              <a:off x="2358748" y="2664490"/>
              <a:ext cx="362964" cy="372468"/>
            </a:xfrm>
            <a:prstGeom prst="rect">
              <a:avLst/>
            </a:prstGeom>
            <a:noFill/>
            <a:ln w="9525">
              <a:noFill/>
              <a:miter lim="800000"/>
              <a:headEnd/>
              <a:tailEnd/>
            </a:ln>
          </p:spPr>
        </p:pic>
        <p:sp>
          <p:nvSpPr>
            <p:cNvPr id="8" name="文本框 7"/>
            <p:cNvSpPr txBox="1"/>
            <p:nvPr/>
          </p:nvSpPr>
          <p:spPr>
            <a:xfrm>
              <a:off x="2723855" y="2687807"/>
              <a:ext cx="2868484" cy="295915"/>
            </a:xfrm>
            <a:prstGeom prst="rect">
              <a:avLst/>
            </a:prstGeom>
            <a:solidFill>
              <a:schemeClr val="bg1">
                <a:lumMod val="85000"/>
                <a:alpha val="21000"/>
              </a:schemeClr>
            </a:solidFill>
          </p:spPr>
          <p:txBody>
            <a:bodyPr wrap="square" rtlCol="0">
              <a:spAutoFit/>
            </a:bodyPr>
            <a:lstStyle/>
            <a:p>
              <a:pPr algn="l"/>
              <a:r>
                <a:rPr kumimoji="1" lang="zh-CN" altLang="en-US" sz="1325" dirty="0">
                  <a:latin typeface="微软雅黑" panose="020B0503020204020204" pitchFamily="34" charset="-122"/>
                  <a:ea typeface="微软雅黑" panose="020B0503020204020204" pitchFamily="34" charset="-122"/>
                </a:rPr>
                <a:t>本阶段标志为：项目启动会的召开</a:t>
              </a:r>
              <a:endParaRPr kumimoji="1" lang="zh-CN" altLang="en-US" sz="1325"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dirty="0">
                <a:sym typeface="+mn-ea"/>
              </a:rPr>
              <a:t>需求调研工作</a:t>
            </a:r>
            <a:r>
              <a:rPr lang="zh-CN" altLang="en-US" dirty="0">
                <a:sym typeface="+mn-ea"/>
              </a:rPr>
              <a:t>汇总</a:t>
            </a:r>
            <a:endParaRPr lang="zh-CN" altLang="en-US" dirty="0">
              <a:sym typeface="+mn-ea"/>
            </a:endParaRPr>
          </a:p>
        </p:txBody>
      </p:sp>
      <p:sp>
        <p:nvSpPr>
          <p:cNvPr id="5" name="内容占位符 2"/>
          <p:cNvSpPr txBox="1"/>
          <p:nvPr/>
        </p:nvSpPr>
        <p:spPr>
          <a:xfrm>
            <a:off x="262921" y="715616"/>
            <a:ext cx="7581766" cy="325843"/>
          </a:xfrm>
          <a:prstGeom prst="rect">
            <a:avLst/>
          </a:prstGeom>
        </p:spPr>
        <p:txBody>
          <a:bodyPr/>
          <a:lstStyle>
            <a:lvl1pPr marL="0" indent="0" algn="l" defTabSz="914400" rtl="0" eaLnBrk="1" latinLnBrk="0" hangingPunct="1">
              <a:lnSpc>
                <a:spcPct val="90000"/>
              </a:lnSpc>
              <a:spcBef>
                <a:spcPts val="1000"/>
              </a:spcBef>
              <a:buFontTx/>
              <a:buNone/>
              <a:defRPr sz="16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latin typeface="微软雅黑 Light" panose="020B0502040204020203" pitchFamily="34" charset="-122"/>
                <a:ea typeface="微软雅黑 Light" panose="020B0502040204020203" pitchFamily="34" charset="-122"/>
              </a:rPr>
              <a:t>业务需求调研内容及阶段产出。</a:t>
            </a:r>
            <a:endParaRPr lang="zh-CN" altLang="en-US" sz="1400" b="0" i="0" dirty="0">
              <a:latin typeface="微软雅黑 Light" panose="020B0502040204020203" pitchFamily="34" charset="-122"/>
              <a:ea typeface="微软雅黑 Light" panose="020B0502040204020203" pitchFamily="34" charset="-122"/>
            </a:endParaRPr>
          </a:p>
        </p:txBody>
      </p:sp>
      <p:sp>
        <p:nvSpPr>
          <p:cNvPr id="6" name="Rectangle 108"/>
          <p:cNvSpPr/>
          <p:nvPr/>
        </p:nvSpPr>
        <p:spPr>
          <a:xfrm>
            <a:off x="353464" y="1340917"/>
            <a:ext cx="1691021" cy="523887"/>
          </a:xfrm>
          <a:prstGeom prst="rect">
            <a:avLst/>
          </a:prstGeom>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现状调研方法</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 name="Freeform 1414"/>
          <p:cNvSpPr/>
          <p:nvPr/>
        </p:nvSpPr>
        <p:spPr>
          <a:xfrm>
            <a:off x="353464" y="2167521"/>
            <a:ext cx="575437" cy="553719"/>
          </a:xfrm>
          <a:custGeom>
            <a:avLst/>
            <a:gdLst/>
            <a:ahLst/>
            <a:cxnLst/>
            <a:rect l="0" t="0" r="0" b="0"/>
            <a:pathLst>
              <a:path w="575437" h="553719">
                <a:moveTo>
                  <a:pt x="473075" y="98551"/>
                </a:moveTo>
                <a:cubicBezTo>
                  <a:pt x="575437" y="196976"/>
                  <a:pt x="575437" y="356743"/>
                  <a:pt x="473075" y="455168"/>
                </a:cubicBezTo>
                <a:cubicBezTo>
                  <a:pt x="370713" y="553719"/>
                  <a:pt x="204724" y="553719"/>
                  <a:pt x="102488" y="455168"/>
                </a:cubicBezTo>
                <a:cubicBezTo>
                  <a:pt x="0" y="356743"/>
                  <a:pt x="0" y="196976"/>
                  <a:pt x="102488" y="98551"/>
                </a:cubicBezTo>
                <a:cubicBezTo>
                  <a:pt x="204724" y="0"/>
                  <a:pt x="370713" y="0"/>
                  <a:pt x="473075" y="98551"/>
                </a:cubicBezTo>
                <a:close/>
              </a:path>
            </a:pathLst>
          </a:custGeom>
          <a:solidFill>
            <a:srgbClr val="F8A663"/>
          </a:solidFill>
          <a:ln w="19811">
            <a:noFill/>
          </a:ln>
        </p:spPr>
        <p:style>
          <a:lnRef idx="2">
            <a:schemeClr val="accent1">
              <a:shade val="50000"/>
            </a:schemeClr>
          </a:lnRef>
          <a:fillRef idx="1">
            <a:schemeClr val="accent1"/>
          </a:fillRef>
          <a:effectRef idx="0">
            <a:schemeClr val="accent1"/>
          </a:effectRef>
          <a:fontRef idx="minor">
            <a:schemeClr val="lt1"/>
          </a:fontRef>
        </p:style>
      </p:sp>
      <p:pic>
        <p:nvPicPr>
          <p:cNvPr id="8" name="Picture 1415"/>
          <p:cNvPicPr>
            <a:picLocks noChangeArrowheads="1"/>
          </p:cNvPicPr>
          <p:nvPr/>
        </p:nvPicPr>
        <p:blipFill>
          <a:blip r:embed="rId1">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a:xfrm>
            <a:off x="443126" y="2222380"/>
            <a:ext cx="461772" cy="397763"/>
          </a:xfrm>
          <a:prstGeom prst="rect">
            <a:avLst/>
          </a:prstGeom>
          <a:noFill/>
        </p:spPr>
      </p:pic>
      <p:sp>
        <p:nvSpPr>
          <p:cNvPr id="9" name="Rectangle 1463"/>
          <p:cNvSpPr/>
          <p:nvPr/>
        </p:nvSpPr>
        <p:spPr>
          <a:xfrm>
            <a:off x="1018563" y="2321269"/>
            <a:ext cx="1016000" cy="24574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访谈与讨论</a:t>
            </a:r>
            <a:endPar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25" name="组合 24"/>
          <p:cNvGrpSpPr/>
          <p:nvPr/>
        </p:nvGrpSpPr>
        <p:grpSpPr>
          <a:xfrm>
            <a:off x="378963" y="4588982"/>
            <a:ext cx="575437" cy="553719"/>
            <a:chOff x="1793757" y="3605819"/>
            <a:chExt cx="575437" cy="553719"/>
          </a:xfrm>
        </p:grpSpPr>
        <p:sp>
          <p:nvSpPr>
            <p:cNvPr id="91" name="Freeform 1414"/>
            <p:cNvSpPr/>
            <p:nvPr/>
          </p:nvSpPr>
          <p:spPr>
            <a:xfrm>
              <a:off x="1793757" y="3605819"/>
              <a:ext cx="575437" cy="553719"/>
            </a:xfrm>
            <a:custGeom>
              <a:avLst/>
              <a:gdLst/>
              <a:ahLst/>
              <a:cxnLst/>
              <a:rect l="0" t="0" r="0" b="0"/>
              <a:pathLst>
                <a:path w="575437" h="553719">
                  <a:moveTo>
                    <a:pt x="473075" y="98551"/>
                  </a:moveTo>
                  <a:cubicBezTo>
                    <a:pt x="575437" y="196976"/>
                    <a:pt x="575437" y="356743"/>
                    <a:pt x="473075" y="455168"/>
                  </a:cubicBezTo>
                  <a:cubicBezTo>
                    <a:pt x="370713" y="553719"/>
                    <a:pt x="204724" y="553719"/>
                    <a:pt x="102488" y="455168"/>
                  </a:cubicBezTo>
                  <a:cubicBezTo>
                    <a:pt x="0" y="356743"/>
                    <a:pt x="0" y="196976"/>
                    <a:pt x="102488" y="98551"/>
                  </a:cubicBezTo>
                  <a:cubicBezTo>
                    <a:pt x="204724" y="0"/>
                    <a:pt x="370713" y="0"/>
                    <a:pt x="473075" y="98551"/>
                  </a:cubicBezTo>
                  <a:close/>
                </a:path>
              </a:pathLst>
            </a:custGeom>
            <a:solidFill>
              <a:srgbClr val="F8A663"/>
            </a:solidFill>
            <a:ln w="19811">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430"/>
            <p:cNvSpPr/>
            <p:nvPr/>
          </p:nvSpPr>
          <p:spPr>
            <a:xfrm>
              <a:off x="1949680" y="3758383"/>
              <a:ext cx="264596" cy="309652"/>
            </a:xfrm>
            <a:custGeom>
              <a:avLst/>
              <a:gdLst/>
              <a:ahLst/>
              <a:cxnLst/>
              <a:rect l="0" t="0" r="0" b="0"/>
              <a:pathLst>
                <a:path w="306324" h="330708">
                  <a:moveTo>
                    <a:pt x="213360" y="83819"/>
                  </a:moveTo>
                  <a:lnTo>
                    <a:pt x="306324" y="83819"/>
                  </a:lnTo>
                  <a:lnTo>
                    <a:pt x="306324" y="276986"/>
                  </a:lnTo>
                  <a:lnTo>
                    <a:pt x="284988" y="276986"/>
                  </a:lnTo>
                  <a:lnTo>
                    <a:pt x="235205" y="330708"/>
                  </a:lnTo>
                  <a:lnTo>
                    <a:pt x="235205" y="276986"/>
                  </a:lnTo>
                  <a:lnTo>
                    <a:pt x="102108" y="276986"/>
                  </a:lnTo>
                  <a:lnTo>
                    <a:pt x="102108" y="200532"/>
                  </a:lnTo>
                  <a:lnTo>
                    <a:pt x="203835" y="200532"/>
                  </a:lnTo>
                  <a:lnTo>
                    <a:pt x="213360" y="200532"/>
                  </a:lnTo>
                  <a:lnTo>
                    <a:pt x="213360" y="191643"/>
                  </a:lnTo>
                  <a:close/>
                  <a:moveTo>
                    <a:pt x="79121" y="80137"/>
                  </a:moveTo>
                  <a:cubicBezTo>
                    <a:pt x="69596" y="80137"/>
                    <a:pt x="61849" y="87883"/>
                    <a:pt x="61849" y="97408"/>
                  </a:cubicBezTo>
                  <a:cubicBezTo>
                    <a:pt x="61849" y="106933"/>
                    <a:pt x="69596" y="114681"/>
                    <a:pt x="79121" y="114681"/>
                  </a:cubicBezTo>
                  <a:cubicBezTo>
                    <a:pt x="88773" y="114681"/>
                    <a:pt x="96520" y="106933"/>
                    <a:pt x="96520" y="97408"/>
                  </a:cubicBezTo>
                  <a:cubicBezTo>
                    <a:pt x="96520" y="87883"/>
                    <a:pt x="88773" y="80137"/>
                    <a:pt x="79121" y="80137"/>
                  </a:cubicBezTo>
                  <a:close/>
                  <a:moveTo>
                    <a:pt x="33909" y="80137"/>
                  </a:moveTo>
                  <a:cubicBezTo>
                    <a:pt x="24384" y="80137"/>
                    <a:pt x="16637" y="87883"/>
                    <a:pt x="16637" y="97408"/>
                  </a:cubicBezTo>
                  <a:cubicBezTo>
                    <a:pt x="16637" y="106933"/>
                    <a:pt x="24384" y="114681"/>
                    <a:pt x="33909" y="114681"/>
                  </a:cubicBezTo>
                  <a:cubicBezTo>
                    <a:pt x="43434" y="114681"/>
                    <a:pt x="51182" y="106933"/>
                    <a:pt x="51182" y="97408"/>
                  </a:cubicBezTo>
                  <a:cubicBezTo>
                    <a:pt x="51182" y="87883"/>
                    <a:pt x="43434" y="80137"/>
                    <a:pt x="33909" y="80137"/>
                  </a:cubicBezTo>
                  <a:close/>
                  <a:moveTo>
                    <a:pt x="169799" y="79756"/>
                  </a:moveTo>
                  <a:cubicBezTo>
                    <a:pt x="165482" y="79756"/>
                    <a:pt x="161545" y="82042"/>
                    <a:pt x="158496" y="83819"/>
                  </a:cubicBezTo>
                  <a:cubicBezTo>
                    <a:pt x="154813" y="87502"/>
                    <a:pt x="152400" y="91820"/>
                    <a:pt x="152400" y="97155"/>
                  </a:cubicBezTo>
                  <a:cubicBezTo>
                    <a:pt x="152400" y="106680"/>
                    <a:pt x="160147" y="114681"/>
                    <a:pt x="169799" y="114681"/>
                  </a:cubicBezTo>
                  <a:cubicBezTo>
                    <a:pt x="179324" y="114681"/>
                    <a:pt x="187071" y="106680"/>
                    <a:pt x="187071" y="97155"/>
                  </a:cubicBezTo>
                  <a:cubicBezTo>
                    <a:pt x="187071" y="91948"/>
                    <a:pt x="184658" y="87502"/>
                    <a:pt x="180975" y="83819"/>
                  </a:cubicBezTo>
                  <a:cubicBezTo>
                    <a:pt x="177928" y="82042"/>
                    <a:pt x="173991" y="79756"/>
                    <a:pt x="169799" y="79756"/>
                  </a:cubicBezTo>
                  <a:close/>
                  <a:moveTo>
                    <a:pt x="124460" y="79756"/>
                  </a:moveTo>
                  <a:cubicBezTo>
                    <a:pt x="120143" y="79756"/>
                    <a:pt x="116206" y="82042"/>
                    <a:pt x="113284" y="83819"/>
                  </a:cubicBezTo>
                  <a:cubicBezTo>
                    <a:pt x="109602" y="87502"/>
                    <a:pt x="107188" y="91820"/>
                    <a:pt x="107188" y="97155"/>
                  </a:cubicBezTo>
                  <a:cubicBezTo>
                    <a:pt x="107188" y="106680"/>
                    <a:pt x="114935" y="114681"/>
                    <a:pt x="124460" y="114681"/>
                  </a:cubicBezTo>
                  <a:cubicBezTo>
                    <a:pt x="133985" y="114681"/>
                    <a:pt x="141733" y="106680"/>
                    <a:pt x="141733" y="97155"/>
                  </a:cubicBezTo>
                  <a:cubicBezTo>
                    <a:pt x="141733" y="91948"/>
                    <a:pt x="139446" y="87502"/>
                    <a:pt x="135636" y="83819"/>
                  </a:cubicBezTo>
                  <a:cubicBezTo>
                    <a:pt x="132716" y="82042"/>
                    <a:pt x="128779" y="79756"/>
                    <a:pt x="124460" y="79756"/>
                  </a:cubicBezTo>
                  <a:close/>
                  <a:moveTo>
                    <a:pt x="0" y="0"/>
                  </a:moveTo>
                  <a:lnTo>
                    <a:pt x="204217" y="0"/>
                  </a:lnTo>
                  <a:lnTo>
                    <a:pt x="204217" y="83819"/>
                  </a:lnTo>
                  <a:lnTo>
                    <a:pt x="204217" y="191388"/>
                  </a:lnTo>
                  <a:lnTo>
                    <a:pt x="102108" y="191388"/>
                  </a:lnTo>
                  <a:lnTo>
                    <a:pt x="71120" y="191388"/>
                  </a:lnTo>
                  <a:lnTo>
                    <a:pt x="71120" y="245999"/>
                  </a:lnTo>
                  <a:lnTo>
                    <a:pt x="21082" y="191388"/>
                  </a:lnTo>
                  <a:lnTo>
                    <a:pt x="0" y="191388"/>
                  </a:lnTo>
                  <a:close/>
                </a:path>
              </a:pathLst>
            </a:custGeom>
            <a:solidFill>
              <a:srgbClr val="BE5108"/>
            </a:solidFill>
            <a:ln w="19811">
              <a:noFill/>
            </a:ln>
          </p:spPr>
          <p:style>
            <a:lnRef idx="2">
              <a:schemeClr val="accent1">
                <a:shade val="50000"/>
              </a:schemeClr>
            </a:lnRef>
            <a:fillRef idx="1">
              <a:schemeClr val="accent1"/>
            </a:fillRef>
            <a:effectRef idx="0">
              <a:schemeClr val="accent1"/>
            </a:effectRef>
            <a:fontRef idx="minor">
              <a:schemeClr val="lt1"/>
            </a:fontRef>
          </p:style>
          <p:txBody>
            <a:bodyPr/>
            <a:p>
              <a:endParaRPr lang="zh-CN" altLang="en-US"/>
            </a:p>
          </p:txBody>
        </p:sp>
      </p:grpSp>
      <p:sp>
        <p:nvSpPr>
          <p:cNvPr id="12" name="Rectangle 1466"/>
          <p:cNvSpPr/>
          <p:nvPr/>
        </p:nvSpPr>
        <p:spPr>
          <a:xfrm>
            <a:off x="1023923" y="4742732"/>
            <a:ext cx="812800" cy="24574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专家意见</a:t>
            </a:r>
            <a:endPar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24" name="组合 23"/>
          <p:cNvGrpSpPr/>
          <p:nvPr/>
        </p:nvGrpSpPr>
        <p:grpSpPr>
          <a:xfrm>
            <a:off x="370223" y="3774416"/>
            <a:ext cx="575437" cy="553719"/>
            <a:chOff x="1832848" y="3045324"/>
            <a:chExt cx="575437" cy="553719"/>
          </a:xfrm>
        </p:grpSpPr>
        <p:sp>
          <p:nvSpPr>
            <p:cNvPr id="90" name="Freeform 1414"/>
            <p:cNvSpPr/>
            <p:nvPr/>
          </p:nvSpPr>
          <p:spPr>
            <a:xfrm>
              <a:off x="1832848" y="3045324"/>
              <a:ext cx="575437" cy="553719"/>
            </a:xfrm>
            <a:custGeom>
              <a:avLst/>
              <a:gdLst/>
              <a:ahLst/>
              <a:cxnLst/>
              <a:rect l="0" t="0" r="0" b="0"/>
              <a:pathLst>
                <a:path w="575437" h="553719">
                  <a:moveTo>
                    <a:pt x="473075" y="98551"/>
                  </a:moveTo>
                  <a:cubicBezTo>
                    <a:pt x="575437" y="196976"/>
                    <a:pt x="575437" y="356743"/>
                    <a:pt x="473075" y="455168"/>
                  </a:cubicBezTo>
                  <a:cubicBezTo>
                    <a:pt x="370713" y="553719"/>
                    <a:pt x="204724" y="553719"/>
                    <a:pt x="102488" y="455168"/>
                  </a:cubicBezTo>
                  <a:cubicBezTo>
                    <a:pt x="0" y="356743"/>
                    <a:pt x="0" y="196976"/>
                    <a:pt x="102488" y="98551"/>
                  </a:cubicBezTo>
                  <a:cubicBezTo>
                    <a:pt x="204724" y="0"/>
                    <a:pt x="370713" y="0"/>
                    <a:pt x="473075" y="98551"/>
                  </a:cubicBezTo>
                  <a:close/>
                </a:path>
              </a:pathLst>
            </a:custGeom>
            <a:solidFill>
              <a:srgbClr val="F8A663"/>
            </a:solidFill>
            <a:ln w="19811">
              <a:noFill/>
            </a:ln>
          </p:spPr>
          <p:style>
            <a:lnRef idx="2">
              <a:schemeClr val="accent1">
                <a:shade val="50000"/>
              </a:schemeClr>
            </a:lnRef>
            <a:fillRef idx="1">
              <a:schemeClr val="accent1"/>
            </a:fillRef>
            <a:effectRef idx="0">
              <a:schemeClr val="accent1"/>
            </a:effectRef>
            <a:fontRef idx="minor">
              <a:schemeClr val="lt1"/>
            </a:fontRef>
          </p:style>
        </p:sp>
        <p:pic>
          <p:nvPicPr>
            <p:cNvPr id="14" name="Picture 1427"/>
            <p:cNvPicPr>
              <a:picLocks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a:xfrm>
              <a:off x="1866565" y="3135835"/>
              <a:ext cx="527304" cy="361188"/>
            </a:xfrm>
            <a:prstGeom prst="rect">
              <a:avLst/>
            </a:prstGeom>
            <a:noFill/>
          </p:spPr>
        </p:pic>
      </p:grpSp>
      <p:sp>
        <p:nvSpPr>
          <p:cNvPr id="15" name="Rectangle 1466"/>
          <p:cNvSpPr/>
          <p:nvPr/>
        </p:nvSpPr>
        <p:spPr>
          <a:xfrm>
            <a:off x="1023923" y="3928166"/>
            <a:ext cx="812800" cy="24574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案例实践</a:t>
            </a:r>
            <a:endPar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8" name="Rectangle 1466"/>
          <p:cNvSpPr/>
          <p:nvPr/>
        </p:nvSpPr>
        <p:spPr>
          <a:xfrm>
            <a:off x="1018563" y="3123229"/>
            <a:ext cx="812800" cy="24574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资料搜集</a:t>
            </a:r>
            <a:endParaRPr kumimoji="0" lang="en-US" sz="16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9" name="Rectangle 129"/>
          <p:cNvSpPr/>
          <p:nvPr/>
        </p:nvSpPr>
        <p:spPr>
          <a:xfrm>
            <a:off x="2397354" y="1340917"/>
            <a:ext cx="2924661" cy="523887"/>
          </a:xfrm>
          <a:prstGeom prst="rect">
            <a:avLst/>
          </a:prstGeom>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会议开展与研讨</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0" name="Rectangle 130"/>
          <p:cNvSpPr/>
          <p:nvPr/>
        </p:nvSpPr>
        <p:spPr>
          <a:xfrm>
            <a:off x="5674884" y="1340917"/>
            <a:ext cx="6343876" cy="523887"/>
          </a:xfrm>
          <a:prstGeom prst="rect">
            <a:avLst/>
          </a:prstGeom>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产出文档及概述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1" name="right-thin-arrowheads_32738"/>
          <p:cNvSpPr>
            <a:spLocks noChangeAspect="1"/>
          </p:cNvSpPr>
          <p:nvPr/>
        </p:nvSpPr>
        <p:spPr bwMode="auto">
          <a:xfrm>
            <a:off x="2076920" y="1458926"/>
            <a:ext cx="288000" cy="287868"/>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p:spPr>
        <p:style>
          <a:lnRef idx="2">
            <a:schemeClr val="lt1"/>
          </a:lnRef>
          <a:fillRef idx="1">
            <a:schemeClr val="accent1"/>
          </a:fillRef>
          <a:effectRef idx="1">
            <a:schemeClr val="accent1"/>
          </a:effectRef>
          <a:fontRef idx="minor">
            <a:schemeClr val="lt1"/>
          </a:fontRef>
        </p:style>
      </p:sp>
      <p:sp>
        <p:nvSpPr>
          <p:cNvPr id="22" name="right-thin-arrowheads_32738"/>
          <p:cNvSpPr>
            <a:spLocks noChangeAspect="1"/>
          </p:cNvSpPr>
          <p:nvPr/>
        </p:nvSpPr>
        <p:spPr bwMode="auto">
          <a:xfrm>
            <a:off x="5355914" y="1458926"/>
            <a:ext cx="288000" cy="287868"/>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p:spPr>
        <p:style>
          <a:lnRef idx="2">
            <a:schemeClr val="lt1"/>
          </a:lnRef>
          <a:fillRef idx="1">
            <a:schemeClr val="accent1"/>
          </a:fillRef>
          <a:effectRef idx="1">
            <a:schemeClr val="accent1"/>
          </a:effectRef>
          <a:fontRef idx="minor">
            <a:schemeClr val="lt1"/>
          </a:fontRef>
        </p:style>
      </p:sp>
      <p:sp>
        <p:nvSpPr>
          <p:cNvPr id="23" name="文本框 7"/>
          <p:cNvSpPr txBox="1"/>
          <p:nvPr/>
        </p:nvSpPr>
        <p:spPr>
          <a:xfrm>
            <a:off x="2397354" y="1975793"/>
            <a:ext cx="2924661" cy="783590"/>
          </a:xfrm>
          <a:prstGeom prst="rect">
            <a:avLst/>
          </a:prstGeom>
          <a:noFill/>
        </p:spPr>
        <p:txBody>
          <a:bodyPr wrap="square">
            <a:spAutoFit/>
          </a:bodyPr>
          <a:lstStyle/>
          <a:p>
            <a:pPr marL="0" marR="0" lvl="0" indent="0" algn="l" defTabSz="914400" rtl="0" eaLnBrk="0" fontAlgn="base" latinLnBrk="0" hangingPunct="0">
              <a:lnSpc>
                <a:spcPct val="150000"/>
              </a:lnSpc>
              <a:spcBef>
                <a:spcPts val="0"/>
              </a:spcBef>
              <a:spcAft>
                <a:spcPts val="600"/>
              </a:spcAft>
              <a:buClr>
                <a:srgbClr val="FFD200"/>
              </a:buClr>
              <a:buSzPct val="75000"/>
              <a:buFontTx/>
              <a:buNone/>
              <a:defRPr/>
            </a:pPr>
            <a:r>
              <a:rPr kumimoji="0" lang="zh-CN" altLang="en-US" sz="1000" u="none" strike="noStrike" kern="0" cap="none" spc="0" normalizeH="0" baseline="0" noProof="0" dirty="0">
                <a:ln>
                  <a:noFill/>
                </a:ln>
                <a:solidFill>
                  <a:prstClr val="black"/>
                </a:solidFill>
                <a:effectLst/>
                <a:uLnTx/>
                <a:uFillTx/>
                <a:latin typeface="微软雅黑 Light" panose="020B0502040204020203" pitchFamily="34" charset="-122"/>
                <a:ea typeface="微软雅黑 Light" panose="020B0502040204020203" pitchFamily="34" charset="-122"/>
                <a:cs typeface="Arial Unicode MS" panose="020B0604020202020204" pitchFamily="34" charset="-122"/>
              </a:rPr>
              <a:t>项目组开展正式访谈</a:t>
            </a:r>
            <a:r>
              <a:rPr kumimoji="0" lang="en-US" altLang="zh-CN" sz="1000" b="1" u="none" strike="noStrike" kern="0" cap="none" spc="0" normalizeH="0" baseline="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35</a:t>
            </a:r>
            <a:r>
              <a:rPr kumimoji="0" lang="zh-CN" altLang="en-US" sz="1000" u="none" strike="noStrike" kern="0" cap="none" spc="0" normalizeH="0" baseline="0" noProof="0" dirty="0">
                <a:ln>
                  <a:noFill/>
                </a:ln>
                <a:solidFill>
                  <a:prstClr val="black"/>
                </a:solidFill>
                <a:effectLst/>
                <a:uLnTx/>
                <a:uFillTx/>
                <a:latin typeface="微软雅黑 Light" panose="020B0502040204020203" pitchFamily="34" charset="-122"/>
                <a:ea typeface="微软雅黑 Light" panose="020B0502040204020203" pitchFamily="34" charset="-122"/>
                <a:cs typeface="Arial Unicode MS" panose="020B0604020202020204" pitchFamily="34" charset="-122"/>
              </a:rPr>
              <a:t>次，</a:t>
            </a:r>
            <a:r>
              <a:rPr lang="zh-CN" altLang="en-US" sz="1000" kern="0" dirty="0">
                <a:solidFill>
                  <a:prstClr val="black"/>
                </a:solidFill>
                <a:latin typeface="微软雅黑 Light" panose="020B0502040204020203" pitchFamily="34" charset="-122"/>
                <a:ea typeface="微软雅黑 Light" panose="020B0502040204020203" pitchFamily="34" charset="-122"/>
                <a:cs typeface="Arial Unicode MS" panose="020B0604020202020204" pitchFamily="34" charset="-122"/>
              </a:rPr>
              <a:t>涉及财务管理中心、</a:t>
            </a:r>
            <a:r>
              <a:rPr kumimoji="0" lang="zh-CN" altLang="en-US" sz="1000" u="none" strike="noStrike" kern="0" cap="none" spc="0" normalizeH="0" baseline="0" noProof="0" dirty="0">
                <a:ln>
                  <a:noFill/>
                </a:ln>
                <a:solidFill>
                  <a:prstClr val="black"/>
                </a:solidFill>
                <a:effectLst/>
                <a:uLnTx/>
                <a:uFillTx/>
                <a:latin typeface="微软雅黑 Light" panose="020B0502040204020203" pitchFamily="34" charset="-122"/>
                <a:ea typeface="微软雅黑 Light" panose="020B0502040204020203" pitchFamily="34" charset="-122"/>
                <a:cs typeface="Arial Unicode MS" panose="020B0604020202020204" pitchFamily="34" charset="-122"/>
              </a:rPr>
              <a:t>集团销服体系、集团显示研发与交付体系、人力资源管理中心等核心组织。</a:t>
            </a:r>
            <a:endParaRPr kumimoji="0" lang="zh-CN" altLang="en-US" sz="1000" u="none" strike="noStrike" kern="0" cap="none" spc="0" normalizeH="0" baseline="0" noProof="0" dirty="0">
              <a:ln>
                <a:noFill/>
              </a:ln>
              <a:solidFill>
                <a:prstClr val="black"/>
              </a:solidFill>
              <a:effectLst/>
              <a:uLnTx/>
              <a:uFillTx/>
              <a:latin typeface="微软雅黑 Light" panose="020B0502040204020203" pitchFamily="34" charset="-122"/>
              <a:ea typeface="微软雅黑 Light" panose="020B0502040204020203" pitchFamily="34" charset="-122"/>
              <a:cs typeface="Arial Unicode MS" panose="020B0604020202020204" pitchFamily="34" charset="-122"/>
            </a:endParaRPr>
          </a:p>
        </p:txBody>
      </p:sp>
      <p:sp>
        <p:nvSpPr>
          <p:cNvPr id="141" name="Rectangle 1463"/>
          <p:cNvSpPr/>
          <p:nvPr/>
        </p:nvSpPr>
        <p:spPr>
          <a:xfrm>
            <a:off x="7194278" y="2758885"/>
            <a:ext cx="1243518" cy="553720"/>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洲明科技数据中台项目</a:t>
            </a:r>
            <a:r>
              <a:rPr lang="en-US" altLang="zh-CN"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_</a:t>
            </a:r>
            <a:r>
              <a:rPr lang="zh-CN" altLang="en-US"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需求调研</a:t>
            </a:r>
            <a:r>
              <a:rPr lang="zh-CN" altLang="en-US"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报告</a:t>
            </a:r>
            <a:r>
              <a:rPr lang="en-US" altLang="zh-CN"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V1.0</a:t>
            </a:r>
            <a:endParaRPr kumimoji="0" lang="en-US" sz="120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48" name="Rectangle 1463"/>
          <p:cNvSpPr/>
          <p:nvPr/>
        </p:nvSpPr>
        <p:spPr>
          <a:xfrm>
            <a:off x="7357765" y="2038281"/>
            <a:ext cx="609600" cy="184150"/>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产出概述</a:t>
            </a:r>
            <a:endParaRPr kumimoji="0" lang="en-US" sz="12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49" name="Rectangle 1463"/>
          <p:cNvSpPr/>
          <p:nvPr/>
        </p:nvSpPr>
        <p:spPr>
          <a:xfrm>
            <a:off x="9673788" y="2012532"/>
            <a:ext cx="609600" cy="184150"/>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产出说明</a:t>
            </a:r>
            <a:endParaRPr kumimoji="0" lang="en-US" sz="12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50" name="Rectangle 1463"/>
          <p:cNvSpPr/>
          <p:nvPr/>
        </p:nvSpPr>
        <p:spPr>
          <a:xfrm>
            <a:off x="9040089" y="2630126"/>
            <a:ext cx="2016001" cy="738505"/>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各个模块涉及主要业务，数据流程，逻辑处理，集成方式，梳理本次</a:t>
            </a:r>
            <a:r>
              <a:rPr lang="zh-CN" altLang="en-US" sz="1200" dirty="0">
                <a:solidFill>
                  <a:srgbClr val="404040"/>
                </a:solidFill>
                <a:latin typeface="微软雅黑" panose="020B0503020204020204" pitchFamily="34" charset="-122"/>
                <a:ea typeface="微软雅黑" panose="020B0503020204020204" pitchFamily="34" charset="-122"/>
                <a:cs typeface="Arial Unicode MS" panose="020B0604020202020204" pitchFamily="34" charset="-122"/>
              </a:rPr>
              <a:t>工作范围及制定初步方案</a:t>
            </a:r>
            <a:r>
              <a:rPr kumimoji="0" lang="zh-CN" altLang="en-US" sz="120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rPr>
              <a:t>。</a:t>
            </a:r>
            <a:endParaRPr kumimoji="0" lang="en-US" sz="120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2" name="组合 1"/>
          <p:cNvGrpSpPr/>
          <p:nvPr/>
        </p:nvGrpSpPr>
        <p:grpSpPr>
          <a:xfrm>
            <a:off x="353464" y="2945535"/>
            <a:ext cx="575437" cy="553719"/>
            <a:chOff x="939700" y="2598720"/>
            <a:chExt cx="575437" cy="553719"/>
          </a:xfrm>
        </p:grpSpPr>
        <p:sp>
          <p:nvSpPr>
            <p:cNvPr id="89" name="Freeform 1414"/>
            <p:cNvSpPr/>
            <p:nvPr/>
          </p:nvSpPr>
          <p:spPr>
            <a:xfrm>
              <a:off x="939700" y="2598720"/>
              <a:ext cx="575437" cy="553719"/>
            </a:xfrm>
            <a:custGeom>
              <a:avLst/>
              <a:gdLst/>
              <a:ahLst/>
              <a:cxnLst/>
              <a:rect l="0" t="0" r="0" b="0"/>
              <a:pathLst>
                <a:path w="575437" h="553719">
                  <a:moveTo>
                    <a:pt x="473075" y="98551"/>
                  </a:moveTo>
                  <a:cubicBezTo>
                    <a:pt x="575437" y="196976"/>
                    <a:pt x="575437" y="356743"/>
                    <a:pt x="473075" y="455168"/>
                  </a:cubicBezTo>
                  <a:cubicBezTo>
                    <a:pt x="370713" y="553719"/>
                    <a:pt x="204724" y="553719"/>
                    <a:pt x="102488" y="455168"/>
                  </a:cubicBezTo>
                  <a:cubicBezTo>
                    <a:pt x="0" y="356743"/>
                    <a:pt x="0" y="196976"/>
                    <a:pt x="102488" y="98551"/>
                  </a:cubicBezTo>
                  <a:cubicBezTo>
                    <a:pt x="204724" y="0"/>
                    <a:pt x="370713" y="0"/>
                    <a:pt x="473075" y="98551"/>
                  </a:cubicBezTo>
                  <a:close/>
                </a:path>
              </a:pathLst>
            </a:custGeom>
            <a:solidFill>
              <a:srgbClr val="F8A663"/>
            </a:solidFill>
            <a:ln w="19811">
              <a:noFill/>
            </a:ln>
          </p:spPr>
          <p:style>
            <a:lnRef idx="2">
              <a:schemeClr val="accent1">
                <a:shade val="50000"/>
              </a:schemeClr>
            </a:lnRef>
            <a:fillRef idx="1">
              <a:schemeClr val="accent1"/>
            </a:fillRef>
            <a:effectRef idx="0">
              <a:schemeClr val="accent1"/>
            </a:effectRef>
            <a:fontRef idx="minor">
              <a:schemeClr val="lt1"/>
            </a:fontRef>
          </p:style>
        </p:sp>
        <p:pic>
          <p:nvPicPr>
            <p:cNvPr id="17" name="Picture 1424"/>
            <p:cNvPicPr>
              <a:picLocks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a:xfrm>
              <a:off x="1011364" y="2612247"/>
              <a:ext cx="483108" cy="534923"/>
            </a:xfrm>
            <a:prstGeom prst="rect">
              <a:avLst/>
            </a:prstGeom>
            <a:noFill/>
          </p:spPr>
        </p:pic>
      </p:grpSp>
      <p:pic>
        <p:nvPicPr>
          <p:cNvPr id="16" name="图片 15"/>
          <p:cNvPicPr>
            <a:picLocks noChangeAspect="1"/>
          </p:cNvPicPr>
          <p:nvPr/>
        </p:nvPicPr>
        <p:blipFill>
          <a:blip r:embed="rId4"/>
          <a:stretch>
            <a:fillRect/>
          </a:stretch>
        </p:blipFill>
        <p:spPr>
          <a:xfrm>
            <a:off x="2502535" y="4829175"/>
            <a:ext cx="1981200" cy="1895475"/>
          </a:xfrm>
          <a:prstGeom prst="rect">
            <a:avLst/>
          </a:prstGeom>
        </p:spPr>
      </p:pic>
      <p:pic>
        <p:nvPicPr>
          <p:cNvPr id="26" name="图片 25"/>
          <p:cNvPicPr>
            <a:picLocks noChangeAspect="1"/>
          </p:cNvPicPr>
          <p:nvPr/>
        </p:nvPicPr>
        <p:blipFill>
          <a:blip r:embed="rId5"/>
          <a:stretch>
            <a:fillRect/>
          </a:stretch>
        </p:blipFill>
        <p:spPr>
          <a:xfrm>
            <a:off x="2502535" y="2720975"/>
            <a:ext cx="1909445" cy="2011680"/>
          </a:xfrm>
          <a:prstGeom prst="rect">
            <a:avLst/>
          </a:prstGeom>
        </p:spPr>
      </p:pic>
      <p:pic>
        <p:nvPicPr>
          <p:cNvPr id="4" name="图片 3"/>
          <p:cNvPicPr>
            <a:picLocks noChangeAspect="1"/>
          </p:cNvPicPr>
          <p:nvPr/>
        </p:nvPicPr>
        <p:blipFill>
          <a:blip r:embed="rId6"/>
          <a:stretch>
            <a:fillRect/>
          </a:stretch>
        </p:blipFill>
        <p:spPr>
          <a:xfrm>
            <a:off x="7026275" y="3408045"/>
            <a:ext cx="3866515" cy="29775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201966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201993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02</a:t>
            </a:r>
            <a:endParaRPr lang="zh-CN" altLang="en-US" dirty="0">
              <a:sym typeface="+mn-ea"/>
            </a:endParaRPr>
          </a:p>
        </p:txBody>
      </p:sp>
      <p:sp>
        <p:nvSpPr>
          <p:cNvPr id="17" name="文本占位符 17"/>
          <p:cNvSpPr txBox="1"/>
          <p:nvPr>
            <p:custDataLst>
              <p:tags r:id="rId3"/>
            </p:custDataLst>
          </p:nvPr>
        </p:nvSpPr>
        <p:spPr>
          <a:xfrm>
            <a:off x="4456884" y="286167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指标体系</a:t>
            </a:r>
            <a:r>
              <a:rPr lang="zh-CN" altLang="en-US" dirty="0"/>
              <a:t>方案</a:t>
            </a:r>
            <a:endParaRPr lang="zh-CN" altLang="en-US" dirty="0"/>
          </a:p>
        </p:txBody>
      </p:sp>
      <p:sp>
        <p:nvSpPr>
          <p:cNvPr id="18" name="文本占位符 17"/>
          <p:cNvSpPr txBox="1"/>
          <p:nvPr>
            <p:custDataLst>
              <p:tags r:id="rId4"/>
            </p:custDataLst>
          </p:nvPr>
        </p:nvSpPr>
        <p:spPr>
          <a:xfrm>
            <a:off x="3566795" y="286194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03</a:t>
            </a:r>
            <a:endParaRPr lang="en-US" altLang="zh-CN" dirty="0">
              <a:sym typeface="+mn-ea"/>
            </a:endParaRPr>
          </a:p>
        </p:txBody>
      </p:sp>
      <p:sp>
        <p:nvSpPr>
          <p:cNvPr id="19" name="文本占位符 17"/>
          <p:cNvSpPr txBox="1"/>
          <p:nvPr>
            <p:custDataLst>
              <p:tags r:id="rId5"/>
            </p:custDataLst>
          </p:nvPr>
        </p:nvSpPr>
        <p:spPr>
          <a:xfrm>
            <a:off x="4456884" y="117671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117665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370368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370395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454569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454596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38770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38797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一体化的数据应用平台，赋能管理升级</a:t>
            </a:r>
            <a:endParaRPr lang="zh-CN" altLang="en-US" dirty="0"/>
          </a:p>
        </p:txBody>
      </p:sp>
      <p:sp>
        <p:nvSpPr>
          <p:cNvPr id="3" name="灯片编号占位符 2"/>
          <p:cNvSpPr>
            <a:spLocks noGrp="1"/>
          </p:cNvSpPr>
          <p:nvPr>
            <p:ph type="sldNum" sz="quarter" idx="11"/>
          </p:nvPr>
        </p:nvSpPr>
        <p:spPr>
          <a:prstGeom prst="rect">
            <a:avLst/>
          </a:prstGeom>
        </p:spPr>
        <p:txBody>
          <a:bodyPr/>
          <a:lstStyle/>
          <a:p>
            <a:fld id="{629B06DC-B081-48FF-B3C8-294D2105EA92}" type="slidenum">
              <a:rPr lang="zh-CN" altLang="en-US" smtClean="0"/>
            </a:fld>
            <a:endParaRPr lang="zh-CN" altLang="en-US" dirty="0"/>
          </a:p>
        </p:txBody>
      </p:sp>
      <p:sp>
        <p:nvSpPr>
          <p:cNvPr id="64" name="Content Placeholder 29"/>
          <p:cNvSpPr txBox="1"/>
          <p:nvPr/>
        </p:nvSpPr>
        <p:spPr>
          <a:xfrm>
            <a:off x="534549" y="698860"/>
            <a:ext cx="11483799" cy="327015"/>
          </a:xfrm>
          <a:prstGeom prst="rect">
            <a:avLst/>
          </a:prstGeom>
        </p:spPr>
        <p:txBody>
          <a:bodyPr lIns="38097" tIns="0" rIns="38097" bIns="0" anchor="ctr" anchorCtr="0"/>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lvl="0" algn="l">
              <a:spcBef>
                <a:spcPts val="1000"/>
              </a:spcBef>
              <a:defRPr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1695" dirty="0">
                <a:sym typeface="Arial" panose="020B0604020202020204" pitchFamily="34" charset="0"/>
              </a:rPr>
              <a:t>立足洲明科技实际，采用统一规划、建体系、落系统为抓手，建设符合洲明科技特色的数据中台。</a:t>
            </a:r>
            <a:endParaRPr lang="zh-CN" altLang="en-US" sz="1695" dirty="0">
              <a:sym typeface="Arial" panose="020B0604020202020204" pitchFamily="34" charset="0"/>
            </a:endParaRPr>
          </a:p>
        </p:txBody>
      </p:sp>
      <p:sp>
        <p:nvSpPr>
          <p:cNvPr id="63" name="圆角矩形 172"/>
          <p:cNvSpPr/>
          <p:nvPr/>
        </p:nvSpPr>
        <p:spPr>
          <a:xfrm>
            <a:off x="1482515" y="2859475"/>
            <a:ext cx="8963311" cy="208480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zh-CN" altLang="en-US" b="1" u="sng" dirty="0">
                <a:latin typeface="微软雅黑" panose="020B0503020204020204" pitchFamily="34" charset="-122"/>
                <a:ea typeface="微软雅黑" panose="020B0503020204020204" pitchFamily="34" charset="-122"/>
              </a:rPr>
              <a:t>数据平台</a:t>
            </a:r>
            <a:endParaRPr kumimoji="1" lang="en-US" altLang="zh-CN" b="1" u="sng" dirty="0">
              <a:latin typeface="微软雅黑" panose="020B0503020204020204" pitchFamily="34" charset="-122"/>
              <a:ea typeface="微软雅黑" panose="020B0503020204020204" pitchFamily="34" charset="-122"/>
            </a:endParaRPr>
          </a:p>
        </p:txBody>
      </p:sp>
      <p:sp>
        <p:nvSpPr>
          <p:cNvPr id="65" name="矩形 64"/>
          <p:cNvSpPr/>
          <p:nvPr/>
        </p:nvSpPr>
        <p:spPr>
          <a:xfrm>
            <a:off x="1689841" y="3898685"/>
            <a:ext cx="1675023" cy="357988"/>
          </a:xfrm>
          <a:prstGeom prst="rect">
            <a:avLst/>
          </a:prstGeom>
          <a:solidFill>
            <a:schemeClr val="bg1"/>
          </a:solidFill>
          <a:ln w="25400" cap="flat" cmpd="sng" algn="ctr">
            <a:solidFill>
              <a:schemeClr val="bg1"/>
            </a:solidFill>
            <a:prstDash val="solid"/>
          </a:ln>
          <a:effectLst/>
        </p:spPr>
        <p:txBody>
          <a:bodyPr lIns="0" tIns="0" rIns="0" bIns="0" anchor="ctr" anchorCtr="0"/>
          <a:lstStyle/>
          <a:p>
            <a:pPr algn="ctr" defTabSz="1218565"/>
            <a:r>
              <a:rPr lang="zh-CN" altLang="en-US" sz="1400" b="1" dirty="0">
                <a:latin typeface="微软雅黑" panose="020B0503020204020204" pitchFamily="34" charset="-122"/>
                <a:ea typeface="微软雅黑" panose="020B0503020204020204" pitchFamily="34" charset="-122"/>
              </a:rPr>
              <a:t>数据资产管理</a:t>
            </a:r>
            <a:endParaRPr lang="zh-CN" altLang="en-US" sz="1400" b="1" kern="0" dirty="0">
              <a:latin typeface="微软雅黑" panose="020B0503020204020204" pitchFamily="34" charset="-122"/>
              <a:ea typeface="微软雅黑" panose="020B0503020204020204" pitchFamily="34" charset="-122"/>
            </a:endParaRPr>
          </a:p>
        </p:txBody>
      </p:sp>
      <p:sp>
        <p:nvSpPr>
          <p:cNvPr id="66" name="矩形 65"/>
          <p:cNvSpPr/>
          <p:nvPr/>
        </p:nvSpPr>
        <p:spPr>
          <a:xfrm>
            <a:off x="1493013" y="5009404"/>
            <a:ext cx="8952813" cy="272051"/>
          </a:xfrm>
          <a:prstGeom prst="rect">
            <a:avLst/>
          </a:prstGeom>
          <a:solidFill>
            <a:schemeClr val="bg1"/>
          </a:solidFill>
          <a:ln w="25400" cap="flat" cmpd="sng" algn="ctr">
            <a:solidFill>
              <a:schemeClr val="accent3"/>
            </a:solidFill>
            <a:prstDash val="solid"/>
          </a:ln>
          <a:effectLst/>
        </p:spPr>
        <p:txBody>
          <a:bodyPr anchor="t"/>
          <a:lstStyle/>
          <a:p>
            <a:pPr algn="ctr" defTabSz="1218565"/>
            <a:r>
              <a:rPr lang="zh-CN" altLang="en-US" sz="1400" b="1" kern="0" dirty="0">
                <a:latin typeface="微软雅黑" panose="020B0503020204020204" pitchFamily="34" charset="-122"/>
                <a:ea typeface="微软雅黑" panose="020B0503020204020204" pitchFamily="34" charset="-122"/>
              </a:rPr>
              <a:t>数据集成（离线</a:t>
            </a:r>
            <a:r>
              <a:rPr lang="en-US" altLang="zh-CN" sz="1400" b="1" kern="0" dirty="0">
                <a:latin typeface="微软雅黑" panose="020B0503020204020204" pitchFamily="34" charset="-122"/>
                <a:ea typeface="微软雅黑" panose="020B0503020204020204" pitchFamily="34" charset="-122"/>
              </a:rPr>
              <a:t>+</a:t>
            </a:r>
            <a:r>
              <a:rPr lang="zh-CN" altLang="en-US" sz="1400" b="1" kern="0" dirty="0">
                <a:latin typeface="微软雅黑" panose="020B0503020204020204" pitchFamily="34" charset="-122"/>
                <a:ea typeface="微软雅黑" panose="020B0503020204020204" pitchFamily="34" charset="-122"/>
              </a:rPr>
              <a:t>实时）</a:t>
            </a:r>
            <a:endParaRPr lang="zh-CN" altLang="en-US" sz="1400" b="1" kern="0" dirty="0">
              <a:latin typeface="微软雅黑" panose="020B0503020204020204" pitchFamily="34" charset="-122"/>
              <a:ea typeface="微软雅黑" panose="020B0503020204020204" pitchFamily="34" charset="-122"/>
            </a:endParaRPr>
          </a:p>
        </p:txBody>
      </p:sp>
      <p:sp>
        <p:nvSpPr>
          <p:cNvPr id="67" name="Isosceles Triangle 195"/>
          <p:cNvSpPr/>
          <p:nvPr/>
        </p:nvSpPr>
        <p:spPr>
          <a:xfrm>
            <a:off x="1482515" y="1153420"/>
            <a:ext cx="8963311" cy="587911"/>
          </a:xfrm>
          <a:prstGeom prst="triangle">
            <a:avLst>
              <a:gd name="adj" fmla="val 50058"/>
            </a:avLst>
          </a:prstGeom>
          <a:solidFill>
            <a:schemeClr val="accent3"/>
          </a:solidFill>
          <a:ln w="25400" cap="flat" cmpd="sng" algn="ctr">
            <a:noFill/>
            <a:prstDash val="solid"/>
          </a:ln>
          <a:effectLst/>
        </p:spPr>
        <p:txBody>
          <a:bodyPr anchor="b"/>
          <a:lstStyle/>
          <a:p>
            <a:pPr algn="ctr" defTabSz="1218565">
              <a:defRPr/>
            </a:pPr>
            <a:r>
              <a:rPr lang="zh-CN" altLang="en-US" b="1" kern="0" dirty="0">
                <a:solidFill>
                  <a:schemeClr val="bg1"/>
                </a:solidFill>
                <a:latin typeface="微软雅黑" panose="020B0503020204020204" pitchFamily="34" charset="-122"/>
                <a:ea typeface="微软雅黑" panose="020B0503020204020204" pitchFamily="34" charset="-122"/>
              </a:rPr>
              <a:t>经营预测、管控、分析、决策</a:t>
            </a:r>
            <a:endParaRPr lang="zh-CN" altLang="en-US" b="1" kern="0" dirty="0">
              <a:solidFill>
                <a:schemeClr val="bg1"/>
              </a:solidFill>
              <a:latin typeface="微软雅黑" panose="020B0503020204020204" pitchFamily="34" charset="-122"/>
              <a:ea typeface="微软雅黑" panose="020B0503020204020204" pitchFamily="34" charset="-122"/>
            </a:endParaRPr>
          </a:p>
        </p:txBody>
      </p:sp>
      <p:sp>
        <p:nvSpPr>
          <p:cNvPr id="68" name="Rectangle 197"/>
          <p:cNvSpPr/>
          <p:nvPr/>
        </p:nvSpPr>
        <p:spPr bwMode="auto">
          <a:xfrm>
            <a:off x="1482561" y="1774124"/>
            <a:ext cx="2160000" cy="972000"/>
          </a:xfrm>
          <a:prstGeom prst="rect">
            <a:avLst/>
          </a:prstGeom>
          <a:solidFill>
            <a:schemeClr val="accent5"/>
          </a:solidFill>
          <a:ln w="12700" cap="flat" cmpd="sng" algn="ctr">
            <a:noFill/>
            <a:prstDash val="solid"/>
          </a:ln>
          <a:effectLst/>
        </p:spPr>
        <p:txBody>
          <a:bodyPr lIns="0" tIns="0" rIns="0" bIns="0" anchor="t"/>
          <a:lstStyle/>
          <a:p>
            <a:pPr algn="ctr" defTabSz="1218565"/>
            <a:r>
              <a:rPr lang="zh-CN" altLang="en-US" b="1" u="sng" kern="0" dirty="0">
                <a:solidFill>
                  <a:schemeClr val="bg1"/>
                </a:solidFill>
                <a:latin typeface="微软雅黑" panose="020B0503020204020204" pitchFamily="34" charset="-122"/>
                <a:ea typeface="微软雅黑" panose="020B0503020204020204" pitchFamily="34" charset="-122"/>
              </a:rPr>
              <a:t>基准价</a:t>
            </a:r>
            <a:r>
              <a:rPr lang="zh-CN" altLang="en-US" b="1" u="sng" kern="0" dirty="0">
                <a:solidFill>
                  <a:schemeClr val="bg1"/>
                </a:solidFill>
                <a:latin typeface="微软雅黑" panose="020B0503020204020204" pitchFamily="34" charset="-122"/>
                <a:ea typeface="微软雅黑" panose="020B0503020204020204" pitchFamily="34" charset="-122"/>
              </a:rPr>
              <a:t>测算</a:t>
            </a:r>
            <a:endParaRPr lang="zh-CN" altLang="en-US" b="1" u="sng" kern="0" dirty="0">
              <a:solidFill>
                <a:schemeClr val="bg1"/>
              </a:solidFill>
              <a:latin typeface="微软雅黑" panose="020B0503020204020204" pitchFamily="34" charset="-122"/>
              <a:ea typeface="微软雅黑" panose="020B0503020204020204" pitchFamily="34" charset="-122"/>
            </a:endParaRPr>
          </a:p>
        </p:txBody>
      </p:sp>
      <p:sp>
        <p:nvSpPr>
          <p:cNvPr id="69" name="Rectangle 7"/>
          <p:cNvSpPr>
            <a:spLocks noChangeArrowheads="1"/>
          </p:cNvSpPr>
          <p:nvPr/>
        </p:nvSpPr>
        <p:spPr bwMode="auto">
          <a:xfrm>
            <a:off x="1555750" y="2417445"/>
            <a:ext cx="975995" cy="215900"/>
          </a:xfrm>
          <a:prstGeom prst="rect">
            <a:avLst/>
          </a:prstGeom>
          <a:solidFill>
            <a:schemeClr val="bg1"/>
          </a:solidFill>
          <a:ln>
            <a:noFill/>
          </a:ln>
        </p:spPr>
        <p:txBody>
          <a:bodyPr wrap="none" lIns="0" tIns="0" rIns="0" bIns="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sym typeface="+mn-ea"/>
              </a:rPr>
              <a:t>产品材料成本</a:t>
            </a:r>
            <a:endParaRPr lang="zh-CN" altLang="en-US" sz="1050" b="1" kern="0" dirty="0">
              <a:latin typeface="微软雅黑" panose="020B0503020204020204" pitchFamily="34" charset="-122"/>
              <a:ea typeface="微软雅黑" panose="020B0503020204020204" pitchFamily="34" charset="-122"/>
            </a:endParaRPr>
          </a:p>
        </p:txBody>
      </p:sp>
      <p:sp>
        <p:nvSpPr>
          <p:cNvPr id="70" name="Rectangle 199"/>
          <p:cNvSpPr>
            <a:spLocks noChangeArrowheads="1"/>
          </p:cNvSpPr>
          <p:nvPr/>
        </p:nvSpPr>
        <p:spPr bwMode="auto">
          <a:xfrm>
            <a:off x="2658110" y="2417445"/>
            <a:ext cx="911860" cy="215900"/>
          </a:xfrm>
          <a:prstGeom prst="rect">
            <a:avLst/>
          </a:prstGeom>
          <a:solidFill>
            <a:schemeClr val="bg1"/>
          </a:solidFill>
          <a:ln>
            <a:noFill/>
          </a:ln>
        </p:spPr>
        <p:txBody>
          <a:bodyPr wrap="none" lIns="0" tIns="0" rIns="0" bIns="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sym typeface="+mn-ea"/>
              </a:rPr>
              <a:t>制费</a:t>
            </a:r>
            <a:endParaRPr lang="zh-CN" altLang="en-US" sz="1050" b="1" kern="0" dirty="0">
              <a:latin typeface="微软雅黑" panose="020B0503020204020204" pitchFamily="34" charset="-122"/>
              <a:ea typeface="微软雅黑" panose="020B0503020204020204" pitchFamily="34" charset="-122"/>
            </a:endParaRPr>
          </a:p>
        </p:txBody>
      </p:sp>
      <p:sp>
        <p:nvSpPr>
          <p:cNvPr id="72" name="Rectangle 7"/>
          <p:cNvSpPr>
            <a:spLocks noChangeArrowheads="1"/>
          </p:cNvSpPr>
          <p:nvPr/>
        </p:nvSpPr>
        <p:spPr bwMode="auto">
          <a:xfrm>
            <a:off x="1555750" y="2155190"/>
            <a:ext cx="975995" cy="215900"/>
          </a:xfrm>
          <a:prstGeom prst="rect">
            <a:avLst/>
          </a:prstGeom>
          <a:solidFill>
            <a:schemeClr val="bg1"/>
          </a:solidFill>
          <a:ln>
            <a:noFill/>
          </a:ln>
        </p:spPr>
        <p:txBody>
          <a:bodyPr wrap="none" lIns="0" tIns="36000" rIns="0" bIns="3600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产品报价</a:t>
            </a:r>
            <a:r>
              <a:rPr lang="en-US" altLang="zh-CN" sz="1050" b="1" kern="0" dirty="0">
                <a:latin typeface="微软雅黑" panose="020B0503020204020204" pitchFamily="34" charset="-122"/>
                <a:ea typeface="微软雅黑" panose="020B0503020204020204" pitchFamily="34" charset="-122"/>
              </a:rPr>
              <a:t>BOM</a:t>
            </a:r>
            <a:endParaRPr lang="en-US" altLang="zh-CN" sz="1050" b="1" kern="0" dirty="0">
              <a:latin typeface="微软雅黑" panose="020B0503020204020204" pitchFamily="34" charset="-122"/>
              <a:ea typeface="微软雅黑" panose="020B0503020204020204" pitchFamily="34" charset="-122"/>
            </a:endParaRPr>
          </a:p>
        </p:txBody>
      </p:sp>
      <p:sp>
        <p:nvSpPr>
          <p:cNvPr id="73" name="Rectangle 9"/>
          <p:cNvSpPr>
            <a:spLocks noChangeArrowheads="1"/>
          </p:cNvSpPr>
          <p:nvPr/>
        </p:nvSpPr>
        <p:spPr bwMode="auto">
          <a:xfrm>
            <a:off x="2658110" y="2155190"/>
            <a:ext cx="911860" cy="215900"/>
          </a:xfrm>
          <a:prstGeom prst="rect">
            <a:avLst/>
          </a:prstGeom>
          <a:solidFill>
            <a:schemeClr val="bg1"/>
          </a:solidFill>
          <a:ln>
            <a:noFill/>
          </a:ln>
        </p:spPr>
        <p:txBody>
          <a:bodyPr wrap="none" lIns="0" tIns="36000" rIns="0" bIns="36000" anchor="ctr">
            <a:noAutofit/>
          </a:bodyPr>
          <a:lstStyle/>
          <a:p>
            <a:pPr lvl="0" algn="ctr" defTabSz="1218565">
              <a:lnSpc>
                <a:spcPct val="90000"/>
              </a:lnSpc>
              <a:spcBef>
                <a:spcPct val="50000"/>
              </a:spcBef>
              <a:buClrTx/>
              <a:buSzTx/>
              <a:buFontTx/>
            </a:pPr>
            <a:r>
              <a:rPr lang="zh-CN" altLang="en-US" sz="1050" b="1" kern="0" dirty="0">
                <a:latin typeface="微软雅黑" panose="020B0503020204020204" pitchFamily="34" charset="-122"/>
                <a:ea typeface="微软雅黑" panose="020B0503020204020204" pitchFamily="34" charset="-122"/>
                <a:sym typeface="+mn-ea"/>
              </a:rPr>
              <a:t>产品基准价</a:t>
            </a:r>
            <a:endParaRPr lang="zh-CN" altLang="en-US" sz="1050" b="1" kern="0" dirty="0">
              <a:latin typeface="微软雅黑" panose="020B0503020204020204" pitchFamily="34" charset="-122"/>
              <a:ea typeface="微软雅黑" panose="020B0503020204020204" pitchFamily="34" charset="-122"/>
              <a:sym typeface="+mn-ea"/>
            </a:endParaRPr>
          </a:p>
        </p:txBody>
      </p:sp>
      <p:sp>
        <p:nvSpPr>
          <p:cNvPr id="75" name="Up Arrow 130"/>
          <p:cNvSpPr/>
          <p:nvPr/>
        </p:nvSpPr>
        <p:spPr bwMode="gray">
          <a:xfrm>
            <a:off x="7912375" y="4979318"/>
            <a:ext cx="1566966" cy="360000"/>
          </a:xfrm>
          <a:prstGeom prst="upArrow">
            <a:avLst/>
          </a:prstGeom>
          <a:solidFill>
            <a:schemeClr val="accent1">
              <a:lumMod val="60000"/>
              <a:lumOff val="40000"/>
            </a:scheme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defTabSz="914400">
              <a:defRPr/>
            </a:pPr>
            <a:r>
              <a:rPr lang="zh-CN" altLang="en-US" sz="1000" b="1" kern="0" dirty="0">
                <a:latin typeface="微软雅黑" panose="020B0503020204020204" pitchFamily="34" charset="-122"/>
                <a:ea typeface="微软雅黑" panose="020B0503020204020204" pitchFamily="34" charset="-122"/>
              </a:rPr>
              <a:t>核算数据</a:t>
            </a:r>
            <a:endParaRPr lang="en-US" sz="1000" b="1" kern="0" dirty="0">
              <a:latin typeface="微软雅黑" panose="020B0503020204020204" pitchFamily="34" charset="-122"/>
              <a:ea typeface="微软雅黑" panose="020B0503020204020204" pitchFamily="34" charset="-122"/>
            </a:endParaRPr>
          </a:p>
        </p:txBody>
      </p:sp>
      <p:sp>
        <p:nvSpPr>
          <p:cNvPr id="76" name="Rectangle 221"/>
          <p:cNvSpPr/>
          <p:nvPr/>
        </p:nvSpPr>
        <p:spPr bwMode="auto">
          <a:xfrm>
            <a:off x="6009560" y="1774124"/>
            <a:ext cx="2160000" cy="972000"/>
          </a:xfrm>
          <a:prstGeom prst="rect">
            <a:avLst/>
          </a:prstGeom>
          <a:solidFill>
            <a:schemeClr val="accent5"/>
          </a:solidFill>
          <a:ln w="12700" cap="flat" cmpd="sng" algn="ctr">
            <a:noFill/>
            <a:prstDash val="solid"/>
          </a:ln>
          <a:effectLst/>
        </p:spPr>
        <p:txBody>
          <a:bodyPr lIns="0" tIns="0" rIns="0" bIns="0" anchor="t"/>
          <a:lstStyle/>
          <a:p>
            <a:pPr algn="ctr" defTabSz="1218565"/>
            <a:r>
              <a:rPr lang="zh-CN" altLang="en-US" b="1" u="sng" kern="0" dirty="0">
                <a:solidFill>
                  <a:schemeClr val="bg1"/>
                </a:solidFill>
                <a:latin typeface="微软雅黑" panose="020B0503020204020204" pitchFamily="34" charset="-122"/>
                <a:ea typeface="微软雅黑" panose="020B0503020204020204" pitchFamily="34" charset="-122"/>
              </a:rPr>
              <a:t>财经分析</a:t>
            </a:r>
            <a:endParaRPr lang="en-US" altLang="zh-CN" b="1" u="sng" kern="0" dirty="0">
              <a:solidFill>
                <a:schemeClr val="bg1"/>
              </a:solidFill>
              <a:latin typeface="微软雅黑" panose="020B0503020204020204" pitchFamily="34" charset="-122"/>
              <a:ea typeface="微软雅黑" panose="020B0503020204020204" pitchFamily="34" charset="-122"/>
            </a:endParaRPr>
          </a:p>
          <a:p>
            <a:pPr algn="ctr" defTabSz="1218565"/>
            <a:endParaRPr lang="en-US" sz="1400" b="1" kern="0" dirty="0">
              <a:solidFill>
                <a:srgbClr val="000000"/>
              </a:solidFill>
              <a:latin typeface="微软雅黑" panose="020B0503020204020204" pitchFamily="34" charset="-122"/>
              <a:ea typeface="微软雅黑" panose="020B0503020204020204" pitchFamily="34" charset="-122"/>
            </a:endParaRPr>
          </a:p>
        </p:txBody>
      </p:sp>
      <p:sp>
        <p:nvSpPr>
          <p:cNvPr id="78" name="Rectangle 7"/>
          <p:cNvSpPr>
            <a:spLocks noChangeArrowheads="1"/>
          </p:cNvSpPr>
          <p:nvPr/>
        </p:nvSpPr>
        <p:spPr bwMode="auto">
          <a:xfrm>
            <a:off x="6801485" y="215519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收入</a:t>
            </a:r>
            <a:endParaRPr lang="zh-CN" altLang="en-US" sz="1050" b="1" kern="0" dirty="0">
              <a:latin typeface="微软雅黑" panose="020B0503020204020204" pitchFamily="34" charset="-122"/>
              <a:ea typeface="微软雅黑" panose="020B0503020204020204" pitchFamily="34" charset="-122"/>
            </a:endParaRPr>
          </a:p>
        </p:txBody>
      </p:sp>
      <p:sp>
        <p:nvSpPr>
          <p:cNvPr id="79" name="Rectangle 7"/>
          <p:cNvSpPr>
            <a:spLocks noChangeArrowheads="1"/>
          </p:cNvSpPr>
          <p:nvPr/>
        </p:nvSpPr>
        <p:spPr bwMode="auto">
          <a:xfrm>
            <a:off x="6110605" y="215519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dirty="0">
                <a:latin typeface="微软雅黑" panose="020B0503020204020204" pitchFamily="34" charset="-122"/>
                <a:ea typeface="微软雅黑" panose="020B0503020204020204" pitchFamily="34" charset="-122"/>
              </a:rPr>
              <a:t>机会</a:t>
            </a:r>
            <a:endParaRPr lang="zh-CN" altLang="en-US" sz="1050" b="1" dirty="0">
              <a:latin typeface="微软雅黑" panose="020B0503020204020204" pitchFamily="34" charset="-122"/>
              <a:ea typeface="微软雅黑" panose="020B0503020204020204" pitchFamily="34" charset="-122"/>
            </a:endParaRPr>
          </a:p>
        </p:txBody>
      </p:sp>
      <p:sp>
        <p:nvSpPr>
          <p:cNvPr id="80" name="Rectangle 200"/>
          <p:cNvSpPr/>
          <p:nvPr/>
        </p:nvSpPr>
        <p:spPr bwMode="auto">
          <a:xfrm>
            <a:off x="3736593" y="1774124"/>
            <a:ext cx="2160000" cy="972000"/>
          </a:xfrm>
          <a:prstGeom prst="rect">
            <a:avLst/>
          </a:prstGeom>
          <a:solidFill>
            <a:schemeClr val="accent5"/>
          </a:solidFill>
          <a:ln w="12700" cap="flat" cmpd="sng" algn="ctr">
            <a:noFill/>
            <a:prstDash val="solid"/>
          </a:ln>
          <a:effectLst/>
        </p:spPr>
        <p:txBody>
          <a:bodyPr lIns="0" tIns="0" rIns="0" bIns="0" anchor="t"/>
          <a:lstStyle/>
          <a:p>
            <a:pPr algn="ctr" defTabSz="1218565">
              <a:defRPr/>
            </a:pPr>
            <a:r>
              <a:rPr lang="zh-CN" altLang="en-US" b="1" u="sng" kern="0" dirty="0">
                <a:solidFill>
                  <a:schemeClr val="bg1"/>
                </a:solidFill>
                <a:latin typeface="微软雅黑" panose="020B0503020204020204" pitchFamily="34" charset="-122"/>
                <a:ea typeface="微软雅黑" panose="020B0503020204020204" pitchFamily="34" charset="-122"/>
              </a:rPr>
              <a:t>营销</a:t>
            </a:r>
            <a:r>
              <a:rPr lang="zh-CN" altLang="en-US" b="1" u="sng" kern="0" dirty="0">
                <a:solidFill>
                  <a:schemeClr val="bg1"/>
                </a:solidFill>
                <a:latin typeface="微软雅黑" panose="020B0503020204020204" pitchFamily="34" charset="-122"/>
                <a:ea typeface="微软雅黑" panose="020B0503020204020204" pitchFamily="34" charset="-122"/>
              </a:rPr>
              <a:t>分析</a:t>
            </a:r>
            <a:endParaRPr lang="en-US" altLang="zh-CN" b="1" u="sng" kern="0" dirty="0">
              <a:solidFill>
                <a:schemeClr val="bg1"/>
              </a:solidFill>
              <a:latin typeface="微软雅黑" panose="020B0503020204020204" pitchFamily="34" charset="-122"/>
              <a:ea typeface="微软雅黑" panose="020B0503020204020204" pitchFamily="34" charset="-122"/>
            </a:endParaRPr>
          </a:p>
        </p:txBody>
      </p:sp>
      <p:sp>
        <p:nvSpPr>
          <p:cNvPr id="81" name="Rectangle 12"/>
          <p:cNvSpPr>
            <a:spLocks noChangeArrowheads="1"/>
          </p:cNvSpPr>
          <p:nvPr/>
        </p:nvSpPr>
        <p:spPr bwMode="auto">
          <a:xfrm>
            <a:off x="3790862" y="2155030"/>
            <a:ext cx="648000" cy="2160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zh-CN" altLang="en-US" sz="1050" b="1" kern="0" dirty="0">
                <a:latin typeface="微软雅黑" panose="020B0503020204020204" pitchFamily="34" charset="-122"/>
                <a:ea typeface="微软雅黑" panose="020B0503020204020204" pitchFamily="34" charset="-122"/>
              </a:rPr>
              <a:t>市场</a:t>
            </a:r>
            <a:r>
              <a:rPr lang="zh-CN" altLang="en-US" sz="1050" b="1" kern="0" dirty="0">
                <a:latin typeface="微软雅黑" panose="020B0503020204020204" pitchFamily="34" charset="-122"/>
                <a:ea typeface="微软雅黑" panose="020B0503020204020204" pitchFamily="34" charset="-122"/>
              </a:rPr>
              <a:t>管理</a:t>
            </a:r>
            <a:endParaRPr lang="zh-CN" altLang="en-US" sz="1050" b="1" kern="0" dirty="0">
              <a:latin typeface="微软雅黑" panose="020B0503020204020204" pitchFamily="34" charset="-122"/>
              <a:ea typeface="微软雅黑" panose="020B0503020204020204" pitchFamily="34" charset="-122"/>
            </a:endParaRPr>
          </a:p>
        </p:txBody>
      </p:sp>
      <p:sp>
        <p:nvSpPr>
          <p:cNvPr id="82" name="Rectangle 15"/>
          <p:cNvSpPr>
            <a:spLocks noChangeArrowheads="1"/>
          </p:cNvSpPr>
          <p:nvPr/>
        </p:nvSpPr>
        <p:spPr bwMode="auto">
          <a:xfrm>
            <a:off x="5193137" y="2155030"/>
            <a:ext cx="648000" cy="2160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zh-CN" altLang="en-US" sz="1050" b="1" kern="0" dirty="0">
                <a:latin typeface="微软雅黑" panose="020B0503020204020204" pitchFamily="34" charset="-122"/>
                <a:ea typeface="微软雅黑" panose="020B0503020204020204" pitchFamily="34" charset="-122"/>
              </a:rPr>
              <a:t>销售</a:t>
            </a:r>
            <a:r>
              <a:rPr lang="zh-CN" altLang="en-US" sz="1050" b="1" kern="0" dirty="0">
                <a:latin typeface="微软雅黑" panose="020B0503020204020204" pitchFamily="34" charset="-122"/>
                <a:ea typeface="微软雅黑" panose="020B0503020204020204" pitchFamily="34" charset="-122"/>
              </a:rPr>
              <a:t>执行</a:t>
            </a:r>
            <a:endParaRPr lang="zh-CN" altLang="en-US" sz="1050" b="1" kern="0" dirty="0">
              <a:latin typeface="微软雅黑" panose="020B0503020204020204" pitchFamily="34" charset="-122"/>
              <a:ea typeface="微软雅黑" panose="020B0503020204020204" pitchFamily="34" charset="-122"/>
            </a:endParaRPr>
          </a:p>
        </p:txBody>
      </p:sp>
      <p:sp>
        <p:nvSpPr>
          <p:cNvPr id="83" name="Rectangle 15"/>
          <p:cNvSpPr>
            <a:spLocks noChangeArrowheads="1"/>
          </p:cNvSpPr>
          <p:nvPr/>
        </p:nvSpPr>
        <p:spPr bwMode="auto">
          <a:xfrm>
            <a:off x="4494638" y="2155030"/>
            <a:ext cx="648000" cy="2160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zh-CN" altLang="en-US" sz="1050" b="1" kern="0" dirty="0">
                <a:latin typeface="微软雅黑" panose="020B0503020204020204" pitchFamily="34" charset="-122"/>
                <a:ea typeface="微软雅黑" panose="020B0503020204020204" pitchFamily="34" charset="-122"/>
              </a:rPr>
              <a:t>商机</a:t>
            </a:r>
            <a:r>
              <a:rPr lang="zh-CN" altLang="en-US" sz="1050" b="1" kern="0" dirty="0">
                <a:latin typeface="微软雅黑" panose="020B0503020204020204" pitchFamily="34" charset="-122"/>
                <a:ea typeface="微软雅黑" panose="020B0503020204020204" pitchFamily="34" charset="-122"/>
              </a:rPr>
              <a:t>管理</a:t>
            </a:r>
            <a:endParaRPr lang="zh-CN" altLang="en-US" sz="1050" b="1" kern="0" dirty="0">
              <a:latin typeface="微软雅黑" panose="020B0503020204020204" pitchFamily="34" charset="-122"/>
              <a:ea typeface="微软雅黑" panose="020B0503020204020204" pitchFamily="34" charset="-122"/>
            </a:endParaRPr>
          </a:p>
        </p:txBody>
      </p:sp>
      <p:sp>
        <p:nvSpPr>
          <p:cNvPr id="84" name="Rectangle 12"/>
          <p:cNvSpPr>
            <a:spLocks noChangeArrowheads="1"/>
          </p:cNvSpPr>
          <p:nvPr/>
        </p:nvSpPr>
        <p:spPr bwMode="auto">
          <a:xfrm>
            <a:off x="3790862" y="2417697"/>
            <a:ext cx="648000" cy="216000"/>
          </a:xfrm>
          <a:prstGeom prst="rect">
            <a:avLst/>
          </a:prstGeom>
          <a:solidFill>
            <a:schemeClr val="bg1"/>
          </a:solidFill>
          <a:ln>
            <a:noFill/>
          </a:ln>
        </p:spPr>
        <p:txBody>
          <a:bodyPr wrap="none" lIns="0" tIns="0" rIns="0" bIns="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zh-CN" altLang="en-US" sz="1050" b="1" kern="0" dirty="0">
                <a:latin typeface="微软雅黑" panose="020B0503020204020204" pitchFamily="34" charset="-122"/>
                <a:ea typeface="微软雅黑" panose="020B0503020204020204" pitchFamily="34" charset="-122"/>
              </a:rPr>
              <a:t>售后</a:t>
            </a:r>
            <a:r>
              <a:rPr lang="zh-CN" altLang="en-US" sz="1050" b="1" kern="0" dirty="0">
                <a:latin typeface="微软雅黑" panose="020B0503020204020204" pitchFamily="34" charset="-122"/>
                <a:ea typeface="微软雅黑" panose="020B0503020204020204" pitchFamily="34" charset="-122"/>
              </a:rPr>
              <a:t>管理</a:t>
            </a:r>
            <a:endParaRPr lang="zh-CN" altLang="en-US" sz="1050" b="1" kern="0" dirty="0">
              <a:latin typeface="微软雅黑" panose="020B0503020204020204" pitchFamily="34" charset="-122"/>
              <a:ea typeface="微软雅黑" panose="020B0503020204020204" pitchFamily="34" charset="-122"/>
            </a:endParaRPr>
          </a:p>
        </p:txBody>
      </p:sp>
      <p:sp>
        <p:nvSpPr>
          <p:cNvPr id="85" name="Rectangle 15"/>
          <p:cNvSpPr>
            <a:spLocks noChangeArrowheads="1"/>
          </p:cNvSpPr>
          <p:nvPr/>
        </p:nvSpPr>
        <p:spPr bwMode="auto">
          <a:xfrm>
            <a:off x="5193137" y="2417697"/>
            <a:ext cx="648000" cy="216000"/>
          </a:xfrm>
          <a:prstGeom prst="rect">
            <a:avLst/>
          </a:prstGeom>
          <a:solidFill>
            <a:schemeClr val="bg1"/>
          </a:solidFill>
          <a:ln>
            <a:noFill/>
          </a:ln>
        </p:spPr>
        <p:txBody>
          <a:bodyPr wrap="none" lIns="0" tIns="0" rIns="0" bIns="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en-US" altLang="zh-CN" sz="1050" b="1" kern="0" dirty="0">
                <a:latin typeface="微软雅黑" panose="020B0503020204020204" pitchFamily="34" charset="-122"/>
                <a:ea typeface="微软雅黑" panose="020B0503020204020204" pitchFamily="34" charset="-122"/>
              </a:rPr>
              <a:t>...</a:t>
            </a:r>
            <a:endParaRPr lang="en-US" altLang="zh-CN" sz="1050" b="1" kern="0" dirty="0">
              <a:latin typeface="微软雅黑" panose="020B0503020204020204" pitchFamily="34" charset="-122"/>
              <a:ea typeface="微软雅黑" panose="020B0503020204020204" pitchFamily="34" charset="-122"/>
            </a:endParaRPr>
          </a:p>
        </p:txBody>
      </p:sp>
      <p:sp>
        <p:nvSpPr>
          <p:cNvPr id="86" name="Rectangle 15"/>
          <p:cNvSpPr>
            <a:spLocks noChangeArrowheads="1"/>
          </p:cNvSpPr>
          <p:nvPr/>
        </p:nvSpPr>
        <p:spPr bwMode="auto">
          <a:xfrm>
            <a:off x="4494638" y="2417697"/>
            <a:ext cx="648000" cy="216000"/>
          </a:xfrm>
          <a:prstGeom prst="rect">
            <a:avLst/>
          </a:prstGeom>
          <a:solidFill>
            <a:schemeClr val="bg1"/>
          </a:solidFill>
          <a:ln>
            <a:noFill/>
          </a:ln>
        </p:spPr>
        <p:txBody>
          <a:bodyPr wrap="none" lIns="0" tIns="0" rIns="0" bIns="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eaLnBrk="1" hangingPunct="1">
              <a:lnSpc>
                <a:spcPct val="90000"/>
              </a:lnSpc>
              <a:spcBef>
                <a:spcPct val="50000"/>
              </a:spcBef>
              <a:defRPr/>
            </a:pPr>
            <a:r>
              <a:rPr lang="zh-CN" altLang="en-US" sz="900" b="1" kern="0" dirty="0">
                <a:latin typeface="微软雅黑" panose="020B0503020204020204" pitchFamily="34" charset="-122"/>
                <a:ea typeface="微软雅黑" panose="020B0503020204020204" pitchFamily="34" charset="-122"/>
              </a:rPr>
              <a:t>客户持续经营</a:t>
            </a:r>
            <a:endParaRPr lang="zh-CN" altLang="en-US" sz="900" b="1" kern="0" dirty="0">
              <a:latin typeface="微软雅黑" panose="020B0503020204020204" pitchFamily="34" charset="-122"/>
              <a:ea typeface="微软雅黑" panose="020B0503020204020204" pitchFamily="34" charset="-122"/>
            </a:endParaRPr>
          </a:p>
        </p:txBody>
      </p:sp>
      <p:sp>
        <p:nvSpPr>
          <p:cNvPr id="87" name="Rectangle 249"/>
          <p:cNvSpPr/>
          <p:nvPr/>
        </p:nvSpPr>
        <p:spPr bwMode="auto">
          <a:xfrm>
            <a:off x="1522611" y="5411542"/>
            <a:ext cx="3895376" cy="1021342"/>
          </a:xfrm>
          <a:prstGeom prst="rect">
            <a:avLst/>
          </a:prstGeom>
          <a:solidFill>
            <a:schemeClr val="accent1">
              <a:lumMod val="60000"/>
              <a:lumOff val="40000"/>
            </a:schemeClr>
          </a:solidFill>
          <a:ln w="25400" cap="flat" cmpd="sng" algn="ctr">
            <a:noFill/>
            <a:prstDash val="solid"/>
          </a:ln>
          <a:effectLst/>
        </p:spPr>
        <p:txBody>
          <a:bodyPr lIns="0" tIns="0" rIns="0" bIns="0" anchor="t"/>
          <a:lstStyle/>
          <a:p>
            <a:pPr algn="ctr" defTabSz="1218565"/>
            <a:r>
              <a:rPr lang="zh-CN" altLang="en-US" b="1" kern="0" dirty="0">
                <a:latin typeface="微软雅黑" panose="020B0503020204020204" pitchFamily="34" charset="-122"/>
                <a:ea typeface="微软雅黑" panose="020B0503020204020204" pitchFamily="34" charset="-122"/>
              </a:rPr>
              <a:t>业务支撑系统</a:t>
            </a:r>
            <a:endParaRPr lang="en-US" altLang="zh-CN" b="1" kern="0" dirty="0">
              <a:latin typeface="微软雅黑" panose="020B0503020204020204" pitchFamily="34" charset="-122"/>
              <a:ea typeface="微软雅黑" panose="020B0503020204020204" pitchFamily="34" charset="-122"/>
            </a:endParaRPr>
          </a:p>
        </p:txBody>
      </p:sp>
      <p:sp>
        <p:nvSpPr>
          <p:cNvPr id="88" name="Rectangle 250"/>
          <p:cNvSpPr/>
          <p:nvPr/>
        </p:nvSpPr>
        <p:spPr bwMode="auto">
          <a:xfrm>
            <a:off x="1618106" y="5780033"/>
            <a:ext cx="615032" cy="498541"/>
          </a:xfrm>
          <a:prstGeom prst="rect">
            <a:avLst/>
          </a:prstGeom>
          <a:solidFill>
            <a:schemeClr val="bg1"/>
          </a:solidFill>
          <a:ln w="12700" cap="flat" cmpd="sng" algn="ctr">
            <a:solidFill>
              <a:sysClr val="window" lastClr="FFFFFF"/>
            </a:solidFill>
            <a:prstDash val="solid"/>
          </a:ln>
          <a:effectLst/>
        </p:spPr>
        <p:txBody>
          <a:bodyPr anchor="ctr"/>
          <a:lstStyle/>
          <a:p>
            <a:pPr marL="0" marR="0" lvl="0" indent="0" algn="ctr" defTabSz="12185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PLM</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89" name="Rectangle 251"/>
          <p:cNvSpPr/>
          <p:nvPr/>
        </p:nvSpPr>
        <p:spPr bwMode="auto">
          <a:xfrm>
            <a:off x="3082644" y="5780033"/>
            <a:ext cx="602859" cy="494653"/>
          </a:xfrm>
          <a:prstGeom prst="rect">
            <a:avLst/>
          </a:prstGeom>
          <a:solidFill>
            <a:schemeClr val="bg1"/>
          </a:solidFill>
          <a:ln w="12700" cap="flat" cmpd="sng" algn="ctr">
            <a:solidFill>
              <a:sysClr val="window" lastClr="FFFFFF"/>
            </a:solidFill>
            <a:prstDash val="solid"/>
          </a:ln>
          <a:effectLst/>
        </p:spPr>
        <p:txBody>
          <a:bodyPr anchor="ctr"/>
          <a:lstStyle/>
          <a:p>
            <a:pPr marL="0" marR="0" lvl="0" indent="0" algn="ctr" defTabSz="12185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MES</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0" name="Rectangle 252"/>
          <p:cNvSpPr/>
          <p:nvPr/>
        </p:nvSpPr>
        <p:spPr bwMode="auto">
          <a:xfrm>
            <a:off x="3802738" y="5780033"/>
            <a:ext cx="602859" cy="498541"/>
          </a:xfrm>
          <a:prstGeom prst="rect">
            <a:avLst/>
          </a:prstGeom>
          <a:solidFill>
            <a:schemeClr val="bg1"/>
          </a:solidFill>
          <a:ln w="12700" cap="flat" cmpd="sng" algn="ctr">
            <a:solidFill>
              <a:sysClr val="window" lastClr="FFFFFF"/>
            </a:solidFill>
            <a:prstDash val="solid"/>
          </a:ln>
          <a:effectLst/>
        </p:spPr>
        <p:txBody>
          <a:bodyPr anchor="ctr"/>
          <a:lstStyle/>
          <a:p>
            <a:pPr marL="0" marR="0" lvl="0" indent="0" algn="ctr" defTabSz="12185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OA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1" name="Rectangle 253"/>
          <p:cNvSpPr/>
          <p:nvPr/>
        </p:nvSpPr>
        <p:spPr bwMode="auto">
          <a:xfrm>
            <a:off x="2350377" y="5780033"/>
            <a:ext cx="615032" cy="498541"/>
          </a:xfrm>
          <a:prstGeom prst="rect">
            <a:avLst/>
          </a:prstGeom>
          <a:solidFill>
            <a:schemeClr val="bg1"/>
          </a:solidFill>
          <a:ln w="12700" cap="flat" cmpd="sng" algn="ctr">
            <a:solidFill>
              <a:sysClr val="window" lastClr="FFFFFF"/>
            </a:solidFill>
            <a:prstDash val="solid"/>
          </a:ln>
          <a:effectLst/>
        </p:spPr>
        <p:txBody>
          <a:bodyPr lIns="36000" rIns="36000" anchor="ctr"/>
          <a:lstStyle/>
          <a:p>
            <a:pPr marL="0" marR="0" lvl="0" indent="0" algn="ctr" defTabSz="12185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CRM</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2" name="Rectangle 254"/>
          <p:cNvSpPr/>
          <p:nvPr/>
        </p:nvSpPr>
        <p:spPr bwMode="auto">
          <a:xfrm>
            <a:off x="4522835" y="5780034"/>
            <a:ext cx="602859" cy="498542"/>
          </a:xfrm>
          <a:prstGeom prst="rect">
            <a:avLst/>
          </a:prstGeom>
          <a:solidFill>
            <a:schemeClr val="bg1"/>
          </a:solidFill>
          <a:ln w="12700" cap="flat" cmpd="sng" algn="ctr">
            <a:solidFill>
              <a:sysClr val="window" lastClr="FFFFFF"/>
            </a:solidFill>
            <a:prstDash val="solid"/>
          </a:ln>
          <a:effectLst/>
        </p:spPr>
        <p:txBody>
          <a:bodyPr anchor="ctr"/>
          <a:lstStyle/>
          <a:p>
            <a:pPr marL="0" marR="0" lvl="0" indent="0" algn="ctr" defTabSz="1218565" eaLnBrk="0" fontAlgn="auto" latinLnBrk="0" hangingPunct="0">
              <a:lnSpc>
                <a:spcPct val="100000"/>
              </a:lnSpc>
              <a:spcBef>
                <a:spcPts val="0"/>
              </a:spcBef>
              <a:spcAft>
                <a:spcPts val="0"/>
              </a:spcAft>
              <a:buClrTx/>
              <a:buSzTx/>
              <a:buFontTx/>
              <a:buNone/>
              <a:defRPr/>
            </a:pPr>
            <a:r>
              <a:rPr lang="zh-CN" altLang="en-US" sz="1200" b="1" kern="0" noProof="0" dirty="0">
                <a:ln>
                  <a:noFill/>
                </a:ln>
                <a:effectLst/>
                <a:uLnTx/>
                <a:uFillTx/>
                <a:latin typeface="微软雅黑" panose="020B0503020204020204" pitchFamily="34" charset="-122"/>
                <a:ea typeface="微软雅黑" panose="020B0503020204020204" pitchFamily="34" charset="-122"/>
                <a:sym typeface="+mn-ea"/>
              </a:rPr>
              <a:t>汇联易</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3" name="Rectangle 204"/>
          <p:cNvSpPr/>
          <p:nvPr/>
        </p:nvSpPr>
        <p:spPr bwMode="auto">
          <a:xfrm>
            <a:off x="6945890" y="5411541"/>
            <a:ext cx="3499936" cy="1021341"/>
          </a:xfrm>
          <a:prstGeom prst="rect">
            <a:avLst/>
          </a:prstGeom>
          <a:solidFill>
            <a:schemeClr val="accent1">
              <a:lumMod val="60000"/>
              <a:lumOff val="40000"/>
            </a:schemeClr>
          </a:solidFill>
          <a:ln w="25400" cap="flat" cmpd="sng" algn="ctr">
            <a:noFill/>
            <a:prstDash val="solid"/>
          </a:ln>
          <a:effectLst/>
        </p:spPr>
        <p:txBody>
          <a:bodyPr lIns="0" tIns="0" rIns="0" bIns="0" anchor="t"/>
          <a:lstStyle/>
          <a:p>
            <a:pPr algn="ctr" defTabSz="1218565">
              <a:defRPr/>
            </a:pPr>
            <a:r>
              <a:rPr lang="zh-CN" altLang="en-US" b="1" kern="0" dirty="0">
                <a:latin typeface="微软雅黑" panose="020B0503020204020204" pitchFamily="34" charset="-122"/>
                <a:ea typeface="微软雅黑" panose="020B0503020204020204" pitchFamily="34" charset="-122"/>
              </a:rPr>
              <a:t>财务共享</a:t>
            </a:r>
            <a:r>
              <a:rPr lang="en-US" altLang="zh-CN" b="1" kern="0" dirty="0">
                <a:latin typeface="微软雅黑" panose="020B0503020204020204" pitchFamily="34" charset="-122"/>
                <a:ea typeface="微软雅黑" panose="020B0503020204020204" pitchFamily="34" charset="-122"/>
              </a:rPr>
              <a:t>/ERP</a:t>
            </a:r>
            <a:endParaRPr lang="en-US" altLang="zh-CN" b="1" kern="0" dirty="0">
              <a:latin typeface="微软雅黑" panose="020B0503020204020204" pitchFamily="34" charset="-122"/>
              <a:ea typeface="微软雅黑" panose="020B0503020204020204" pitchFamily="34" charset="-122"/>
            </a:endParaRPr>
          </a:p>
          <a:p>
            <a:pPr algn="ctr" defTabSz="1218565">
              <a:defRPr/>
            </a:pPr>
            <a:endParaRPr lang="en-US" b="1" kern="0" dirty="0">
              <a:latin typeface="微软雅黑" panose="020B0503020204020204" pitchFamily="34" charset="-122"/>
              <a:ea typeface="微软雅黑" panose="020B0503020204020204" pitchFamily="34" charset="-122"/>
            </a:endParaRPr>
          </a:p>
        </p:txBody>
      </p:sp>
      <p:sp>
        <p:nvSpPr>
          <p:cNvPr id="94" name="Rectangle 24"/>
          <p:cNvSpPr>
            <a:spLocks noChangeArrowheads="1"/>
          </p:cNvSpPr>
          <p:nvPr/>
        </p:nvSpPr>
        <p:spPr bwMode="auto">
          <a:xfrm>
            <a:off x="7076759" y="5780033"/>
            <a:ext cx="968214" cy="211715"/>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总账</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5" name="Rectangle 25"/>
          <p:cNvSpPr>
            <a:spLocks noChangeArrowheads="1"/>
          </p:cNvSpPr>
          <p:nvPr/>
        </p:nvSpPr>
        <p:spPr bwMode="auto">
          <a:xfrm>
            <a:off x="9318881" y="5780033"/>
            <a:ext cx="968214" cy="197147"/>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应付财务</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6" name="Rectangle 26"/>
          <p:cNvSpPr>
            <a:spLocks noChangeArrowheads="1"/>
          </p:cNvSpPr>
          <p:nvPr/>
        </p:nvSpPr>
        <p:spPr bwMode="auto">
          <a:xfrm>
            <a:off x="7076759" y="6066859"/>
            <a:ext cx="968214" cy="211715"/>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资产</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7" name="Rectangle 27"/>
          <p:cNvSpPr>
            <a:spLocks noChangeArrowheads="1"/>
          </p:cNvSpPr>
          <p:nvPr/>
        </p:nvSpPr>
        <p:spPr bwMode="auto">
          <a:xfrm>
            <a:off x="8192807" y="6066859"/>
            <a:ext cx="968214" cy="211715"/>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资金</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8" name="Rectangle 27"/>
          <p:cNvSpPr>
            <a:spLocks noChangeArrowheads="1"/>
          </p:cNvSpPr>
          <p:nvPr/>
        </p:nvSpPr>
        <p:spPr bwMode="auto">
          <a:xfrm>
            <a:off x="9323110" y="6066859"/>
            <a:ext cx="967149" cy="211715"/>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费用</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9" name="Rectangle 25"/>
          <p:cNvSpPr>
            <a:spLocks noChangeArrowheads="1"/>
          </p:cNvSpPr>
          <p:nvPr/>
        </p:nvSpPr>
        <p:spPr bwMode="auto">
          <a:xfrm>
            <a:off x="8196243" y="5780033"/>
            <a:ext cx="968214" cy="197147"/>
          </a:xfrm>
          <a:prstGeom prst="rect">
            <a:avLst/>
          </a:prstGeom>
          <a:solidFill>
            <a:schemeClr val="bg1"/>
          </a:solidFill>
          <a:ln w="12700" cap="flat" cmpd="sng" algn="ctr">
            <a:solidFill>
              <a:sysClr val="window" lastClr="FFFFFF"/>
            </a:solidFill>
            <a:prstDash val="solid"/>
          </a:ln>
          <a:effectLst/>
        </p:spPr>
        <p:txBody>
          <a:bodyPr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marL="0" marR="0" lvl="0" indent="0" algn="ctr" defTabSz="12185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应收财务</a:t>
            </a:r>
            <a:endParaRPr kumimoji="0" lang="en-US"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03" name="Up Arrow 130"/>
          <p:cNvSpPr/>
          <p:nvPr/>
        </p:nvSpPr>
        <p:spPr bwMode="gray">
          <a:xfrm>
            <a:off x="2686816" y="4979318"/>
            <a:ext cx="1566966" cy="360000"/>
          </a:xfrm>
          <a:prstGeom prst="upArrow">
            <a:avLst/>
          </a:prstGeom>
          <a:solidFill>
            <a:schemeClr val="accent1">
              <a:lumMod val="60000"/>
              <a:lumOff val="40000"/>
            </a:scheme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defTabSz="914400">
              <a:defRPr/>
            </a:pPr>
            <a:r>
              <a:rPr lang="zh-CN" altLang="en-US" sz="1000" b="1" kern="0" dirty="0">
                <a:latin typeface="微软雅黑" panose="020B0503020204020204" pitchFamily="34" charset="-122"/>
                <a:ea typeface="微软雅黑" panose="020B0503020204020204" pitchFamily="34" charset="-122"/>
              </a:rPr>
              <a:t>关键业务数据</a:t>
            </a:r>
            <a:endParaRPr lang="en-US" sz="1000" b="1" kern="0" dirty="0">
              <a:latin typeface="微软雅黑" panose="020B0503020204020204" pitchFamily="34" charset="-122"/>
              <a:ea typeface="微软雅黑" panose="020B0503020204020204" pitchFamily="34" charset="-122"/>
            </a:endParaRPr>
          </a:p>
        </p:txBody>
      </p:sp>
      <p:sp>
        <p:nvSpPr>
          <p:cNvPr id="105" name="矩形 104"/>
          <p:cNvSpPr/>
          <p:nvPr/>
        </p:nvSpPr>
        <p:spPr>
          <a:xfrm>
            <a:off x="1689841" y="3366227"/>
            <a:ext cx="1675023" cy="374321"/>
          </a:xfrm>
          <a:prstGeom prst="rect">
            <a:avLst/>
          </a:prstGeom>
          <a:solidFill>
            <a:schemeClr val="bg1"/>
          </a:solidFill>
          <a:ln w="25400" cap="flat" cmpd="sng" algn="ctr">
            <a:solidFill>
              <a:schemeClr val="bg1"/>
            </a:solidFill>
            <a:prstDash val="solid"/>
          </a:ln>
          <a:effectLst/>
        </p:spPr>
        <p:txBody>
          <a:bodyPr lIns="0" tIns="0" rIns="0" bIns="0" anchor="ctr" anchorCtr="0"/>
          <a:lstStyle/>
          <a:p>
            <a:pPr algn="ctr" defTabSz="1218565"/>
            <a:r>
              <a:rPr lang="zh-CN" altLang="en-US" sz="1400" b="1" kern="0" dirty="0">
                <a:latin typeface="微软雅黑" panose="020B0503020204020204" pitchFamily="34" charset="-122"/>
                <a:ea typeface="微软雅黑" panose="020B0503020204020204" pitchFamily="34" charset="-122"/>
              </a:rPr>
              <a:t>主数据管理</a:t>
            </a:r>
            <a:endParaRPr lang="zh-CN" altLang="en-US" sz="1400" b="1" kern="0" dirty="0">
              <a:latin typeface="微软雅黑" panose="020B0503020204020204" pitchFamily="34" charset="-122"/>
              <a:ea typeface="微软雅黑" panose="020B0503020204020204" pitchFamily="34" charset="-122"/>
            </a:endParaRPr>
          </a:p>
        </p:txBody>
      </p:sp>
      <p:sp>
        <p:nvSpPr>
          <p:cNvPr id="106" name="Rectangle 197"/>
          <p:cNvSpPr/>
          <p:nvPr/>
        </p:nvSpPr>
        <p:spPr bwMode="auto">
          <a:xfrm>
            <a:off x="8285826" y="1774124"/>
            <a:ext cx="2160000" cy="972000"/>
          </a:xfrm>
          <a:prstGeom prst="rect">
            <a:avLst/>
          </a:prstGeom>
          <a:solidFill>
            <a:schemeClr val="bg1">
              <a:lumMod val="65000"/>
            </a:schemeClr>
          </a:solidFill>
          <a:ln w="12700" cap="flat" cmpd="sng" algn="ctr">
            <a:noFill/>
            <a:prstDash val="solid"/>
          </a:ln>
          <a:effectLst/>
        </p:spPr>
        <p:txBody>
          <a:bodyPr lIns="0" tIns="0" rIns="0" bIns="0" anchor="t"/>
          <a:lstStyle/>
          <a:p>
            <a:pPr algn="ctr" defTabSz="1218565"/>
            <a:r>
              <a:rPr lang="zh-CN" altLang="en-US" b="1" u="sng" kern="0" dirty="0">
                <a:solidFill>
                  <a:schemeClr val="bg1"/>
                </a:solidFill>
                <a:latin typeface="微软雅黑" panose="020B0503020204020204" pitchFamily="34" charset="-122"/>
                <a:ea typeface="微软雅黑" panose="020B0503020204020204" pitchFamily="34" charset="-122"/>
              </a:rPr>
              <a:t>未来深化</a:t>
            </a:r>
            <a:r>
              <a:rPr lang="zh-CN" altLang="en-US" b="1" u="sng" kern="0" dirty="0">
                <a:solidFill>
                  <a:schemeClr val="bg1"/>
                </a:solidFill>
                <a:latin typeface="微软雅黑" panose="020B0503020204020204" pitchFamily="34" charset="-122"/>
                <a:ea typeface="微软雅黑" panose="020B0503020204020204" pitchFamily="34" charset="-122"/>
              </a:rPr>
              <a:t>应用</a:t>
            </a:r>
            <a:endParaRPr lang="zh-CN" altLang="en-US" b="1" u="sng" kern="0" dirty="0">
              <a:solidFill>
                <a:schemeClr val="bg1"/>
              </a:solidFill>
              <a:latin typeface="微软雅黑" panose="020B0503020204020204" pitchFamily="34" charset="-122"/>
              <a:ea typeface="微软雅黑" panose="020B0503020204020204" pitchFamily="34" charset="-122"/>
            </a:endParaRPr>
          </a:p>
        </p:txBody>
      </p:sp>
      <p:sp>
        <p:nvSpPr>
          <p:cNvPr id="107" name="Rectangle 7"/>
          <p:cNvSpPr>
            <a:spLocks noChangeArrowheads="1"/>
          </p:cNvSpPr>
          <p:nvPr/>
        </p:nvSpPr>
        <p:spPr bwMode="auto">
          <a:xfrm>
            <a:off x="8347683" y="2417697"/>
            <a:ext cx="648000" cy="216000"/>
          </a:xfrm>
          <a:prstGeom prst="rect">
            <a:avLst/>
          </a:prstGeom>
          <a:solidFill>
            <a:schemeClr val="bg1"/>
          </a:solidFill>
          <a:ln>
            <a:noFill/>
          </a:ln>
        </p:spPr>
        <p:txBody>
          <a:bodyPr wrap="none" lIns="0" tIns="0" rIns="0" bIns="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sym typeface="+mn-ea"/>
              </a:rPr>
              <a:t>业务</a:t>
            </a:r>
            <a:r>
              <a:rPr lang="zh-CN" altLang="en-US" sz="1050" b="1" kern="0" dirty="0">
                <a:latin typeface="微软雅黑" panose="020B0503020204020204" pitchFamily="34" charset="-122"/>
                <a:ea typeface="微软雅黑" panose="020B0503020204020204" pitchFamily="34" charset="-122"/>
                <a:sym typeface="+mn-ea"/>
              </a:rPr>
              <a:t>挖掘</a:t>
            </a:r>
            <a:endParaRPr lang="zh-CN" altLang="en-US" sz="1050" b="1" kern="0" dirty="0">
              <a:latin typeface="微软雅黑" panose="020B0503020204020204" pitchFamily="34" charset="-122"/>
              <a:ea typeface="微软雅黑" panose="020B0503020204020204" pitchFamily="34" charset="-122"/>
              <a:sym typeface="+mn-ea"/>
            </a:endParaRPr>
          </a:p>
        </p:txBody>
      </p:sp>
      <p:sp>
        <p:nvSpPr>
          <p:cNvPr id="108" name="Rectangle 199"/>
          <p:cNvSpPr>
            <a:spLocks noChangeArrowheads="1"/>
          </p:cNvSpPr>
          <p:nvPr/>
        </p:nvSpPr>
        <p:spPr bwMode="auto">
          <a:xfrm>
            <a:off x="9746816" y="2417697"/>
            <a:ext cx="648000" cy="216000"/>
          </a:xfrm>
          <a:prstGeom prst="rect">
            <a:avLst/>
          </a:prstGeom>
          <a:solidFill>
            <a:schemeClr val="bg1"/>
          </a:solidFill>
          <a:ln>
            <a:noFill/>
          </a:ln>
        </p:spPr>
        <p:txBody>
          <a:bodyPr wrap="none" lIns="0" tIns="0" rIns="0" bIns="0" anchor="ctr"/>
          <a:lstStyle/>
          <a:p>
            <a:pPr algn="ctr" defTabSz="1218565">
              <a:lnSpc>
                <a:spcPct val="90000"/>
              </a:lnSpc>
              <a:spcBef>
                <a:spcPct val="50000"/>
              </a:spcBef>
            </a:pPr>
            <a:r>
              <a:rPr lang="en-US" altLang="zh-CN" sz="1050" b="1" kern="0" dirty="0">
                <a:latin typeface="微软雅黑" panose="020B0503020204020204" pitchFamily="34" charset="-122"/>
                <a:ea typeface="微软雅黑" panose="020B0503020204020204" pitchFamily="34" charset="-122"/>
              </a:rPr>
              <a:t>…..</a:t>
            </a:r>
            <a:endParaRPr lang="en-US" altLang="en-US" sz="1050" b="1" kern="0" dirty="0">
              <a:latin typeface="微软雅黑" panose="020B0503020204020204" pitchFamily="34" charset="-122"/>
              <a:ea typeface="微软雅黑" panose="020B0503020204020204" pitchFamily="34" charset="-122"/>
            </a:endParaRPr>
          </a:p>
        </p:txBody>
      </p:sp>
      <p:sp>
        <p:nvSpPr>
          <p:cNvPr id="109" name="Rectangle 9"/>
          <p:cNvSpPr>
            <a:spLocks noChangeArrowheads="1"/>
          </p:cNvSpPr>
          <p:nvPr/>
        </p:nvSpPr>
        <p:spPr bwMode="auto">
          <a:xfrm>
            <a:off x="9041252" y="2417697"/>
            <a:ext cx="648000" cy="216000"/>
          </a:xfrm>
          <a:prstGeom prst="rect">
            <a:avLst/>
          </a:prstGeom>
          <a:solidFill>
            <a:schemeClr val="bg1"/>
          </a:solidFill>
          <a:ln>
            <a:noFill/>
          </a:ln>
        </p:spPr>
        <p:txBody>
          <a:bodyPr wrap="none" lIns="0" tIns="0" rIns="0" bIns="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sym typeface="+mn-ea"/>
              </a:rPr>
              <a:t>员工发展</a:t>
            </a:r>
            <a:endParaRPr lang="en-US" altLang="en-US" sz="1050" b="1" kern="0" dirty="0">
              <a:latin typeface="微软雅黑" panose="020B0503020204020204" pitchFamily="34" charset="-122"/>
              <a:ea typeface="微软雅黑" panose="020B0503020204020204" pitchFamily="34" charset="-122"/>
            </a:endParaRPr>
          </a:p>
        </p:txBody>
      </p:sp>
      <p:sp>
        <p:nvSpPr>
          <p:cNvPr id="110" name="Rectangle 7"/>
          <p:cNvSpPr>
            <a:spLocks noChangeArrowheads="1"/>
          </p:cNvSpPr>
          <p:nvPr/>
        </p:nvSpPr>
        <p:spPr bwMode="auto">
          <a:xfrm>
            <a:off x="8347683" y="2155030"/>
            <a:ext cx="648000" cy="216000"/>
          </a:xfrm>
          <a:prstGeom prst="rect">
            <a:avLst/>
          </a:prstGeom>
          <a:solidFill>
            <a:schemeClr val="bg1"/>
          </a:solidFill>
          <a:ln>
            <a:noFill/>
          </a:ln>
        </p:spPr>
        <p:txBody>
          <a:bodyPr wrap="none" lIns="0" tIns="36000" rIns="0" bIns="3600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智能制造</a:t>
            </a:r>
            <a:endParaRPr lang="zh-CN" altLang="en-US" sz="1050" b="1" kern="0" dirty="0">
              <a:latin typeface="微软雅黑" panose="020B0503020204020204" pitchFamily="34" charset="-122"/>
              <a:ea typeface="微软雅黑" panose="020B0503020204020204" pitchFamily="34" charset="-122"/>
            </a:endParaRPr>
          </a:p>
        </p:txBody>
      </p:sp>
      <p:sp>
        <p:nvSpPr>
          <p:cNvPr id="111" name="Rectangle 9"/>
          <p:cNvSpPr>
            <a:spLocks noChangeArrowheads="1"/>
          </p:cNvSpPr>
          <p:nvPr/>
        </p:nvSpPr>
        <p:spPr bwMode="auto">
          <a:xfrm>
            <a:off x="9746816" y="2155030"/>
            <a:ext cx="648000" cy="216000"/>
          </a:xfrm>
          <a:prstGeom prst="rect">
            <a:avLst/>
          </a:prstGeom>
          <a:solidFill>
            <a:schemeClr val="bg1"/>
          </a:solidFill>
          <a:ln>
            <a:noFill/>
          </a:ln>
        </p:spPr>
        <p:txBody>
          <a:bodyPr wrap="none" lIns="0" tIns="36000" rIns="0" bIns="36000" anchor="ctr"/>
          <a:lstStyle/>
          <a:p>
            <a:pPr algn="ctr" defTabSz="1218565">
              <a:lnSpc>
                <a:spcPct val="90000"/>
              </a:lnSpc>
              <a:spcBef>
                <a:spcPct val="50000"/>
              </a:spcBef>
            </a:pPr>
            <a:r>
              <a:rPr lang="en-US" altLang="zh-CN" sz="1050" b="1" kern="0" dirty="0" err="1">
                <a:latin typeface="微软雅黑" panose="020B0503020204020204" pitchFamily="34" charset="-122"/>
                <a:ea typeface="微软雅黑" panose="020B0503020204020204" pitchFamily="34" charset="-122"/>
              </a:rPr>
              <a:t>AI</a:t>
            </a:r>
            <a:r>
              <a:rPr lang="zh-CN" altLang="en-US" sz="1050" b="1" kern="0" dirty="0" err="1">
                <a:latin typeface="微软雅黑" panose="020B0503020204020204" pitchFamily="34" charset="-122"/>
                <a:ea typeface="微软雅黑" panose="020B0503020204020204" pitchFamily="34" charset="-122"/>
              </a:rPr>
              <a:t>预测</a:t>
            </a:r>
            <a:endParaRPr lang="zh-CN" altLang="en-US" sz="1050" b="1" kern="0" dirty="0" err="1">
              <a:latin typeface="微软雅黑" panose="020B0503020204020204" pitchFamily="34" charset="-122"/>
              <a:ea typeface="微软雅黑" panose="020B0503020204020204" pitchFamily="34" charset="-122"/>
            </a:endParaRPr>
          </a:p>
        </p:txBody>
      </p:sp>
      <p:sp>
        <p:nvSpPr>
          <p:cNvPr id="112" name="Rectangle 9"/>
          <p:cNvSpPr>
            <a:spLocks noChangeArrowheads="1"/>
          </p:cNvSpPr>
          <p:nvPr/>
        </p:nvSpPr>
        <p:spPr bwMode="auto">
          <a:xfrm>
            <a:off x="9041252" y="2155030"/>
            <a:ext cx="648000" cy="216000"/>
          </a:xfrm>
          <a:prstGeom prst="rect">
            <a:avLst/>
          </a:prstGeom>
          <a:solidFill>
            <a:schemeClr val="bg1"/>
          </a:solidFill>
          <a:ln>
            <a:noFill/>
          </a:ln>
        </p:spPr>
        <p:txBody>
          <a:bodyPr wrap="none" lIns="0" tIns="36000" rIns="0" bIns="36000" anchor="ct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智慧</a:t>
            </a:r>
            <a:r>
              <a:rPr lang="zh-CN" altLang="en-US" sz="1050" b="1" kern="0" dirty="0">
                <a:latin typeface="微软雅黑" panose="020B0503020204020204" pitchFamily="34" charset="-122"/>
                <a:ea typeface="微软雅黑" panose="020B0503020204020204" pitchFamily="34" charset="-122"/>
              </a:rPr>
              <a:t>营销</a:t>
            </a:r>
            <a:endParaRPr lang="zh-CN" altLang="en-US" sz="1050" b="1" kern="0" dirty="0">
              <a:latin typeface="微软雅黑" panose="020B0503020204020204" pitchFamily="34" charset="-122"/>
              <a:ea typeface="微软雅黑" panose="020B0503020204020204" pitchFamily="34" charset="-122"/>
            </a:endParaRPr>
          </a:p>
        </p:txBody>
      </p:sp>
      <p:sp>
        <p:nvSpPr>
          <p:cNvPr id="118" name="右箭头 232"/>
          <p:cNvSpPr/>
          <p:nvPr/>
        </p:nvSpPr>
        <p:spPr>
          <a:xfrm>
            <a:off x="5517771" y="5673305"/>
            <a:ext cx="1280285" cy="44495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19" name="矩形 118"/>
          <p:cNvSpPr/>
          <p:nvPr/>
        </p:nvSpPr>
        <p:spPr>
          <a:xfrm>
            <a:off x="1689841" y="4424957"/>
            <a:ext cx="1675023" cy="357988"/>
          </a:xfrm>
          <a:prstGeom prst="rect">
            <a:avLst/>
          </a:prstGeom>
          <a:solidFill>
            <a:schemeClr val="bg1"/>
          </a:solidFill>
          <a:ln w="25400" cap="flat" cmpd="sng" algn="ctr">
            <a:solidFill>
              <a:schemeClr val="bg1"/>
            </a:solidFill>
            <a:prstDash val="solid"/>
          </a:ln>
          <a:effectLst/>
        </p:spPr>
        <p:txBody>
          <a:bodyPr lIns="0" tIns="0" rIns="0" bIns="0" anchor="ctr" anchorCtr="0"/>
          <a:lstStyle/>
          <a:p>
            <a:pPr algn="ctr" defTabSz="1218565"/>
            <a:r>
              <a:rPr lang="zh-CN" altLang="en-US" sz="1400" b="1" dirty="0">
                <a:latin typeface="微软雅黑" panose="020B0503020204020204" pitchFamily="34" charset="-122"/>
                <a:ea typeface="微软雅黑" panose="020B0503020204020204" pitchFamily="34" charset="-122"/>
              </a:rPr>
              <a:t>数据治理</a:t>
            </a:r>
            <a:endParaRPr lang="zh-CN" altLang="en-US" sz="1400" b="1" kern="0" dirty="0">
              <a:latin typeface="微软雅黑" panose="020B0503020204020204" pitchFamily="34" charset="-122"/>
              <a:ea typeface="微软雅黑" panose="020B0503020204020204" pitchFamily="34" charset="-122"/>
            </a:endParaRPr>
          </a:p>
        </p:txBody>
      </p:sp>
      <p:sp>
        <p:nvSpPr>
          <p:cNvPr id="10" name="矩形 9"/>
          <p:cNvSpPr/>
          <p:nvPr/>
        </p:nvSpPr>
        <p:spPr>
          <a:xfrm>
            <a:off x="3463925" y="4168775"/>
            <a:ext cx="6600190" cy="614045"/>
          </a:xfrm>
          <a:prstGeom prst="rect">
            <a:avLst/>
          </a:prstGeom>
          <a:solidFill>
            <a:schemeClr val="bg1"/>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等线" panose="02010600030101010101" charset="-122"/>
              <a:ea typeface="等线" panose="02010600030101010101" charset="-122"/>
              <a:cs typeface="+mn-cs"/>
            </a:endParaRPr>
          </a:p>
        </p:txBody>
      </p:sp>
      <p:sp>
        <p:nvSpPr>
          <p:cNvPr id="5" name="Shape 118"/>
          <p:cNvSpPr/>
          <p:nvPr/>
        </p:nvSpPr>
        <p:spPr>
          <a:xfrm>
            <a:off x="6371590" y="421259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客户</a:t>
            </a:r>
            <a:endParaRPr kumimoji="0"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 name="Shape 118"/>
          <p:cNvSpPr/>
          <p:nvPr/>
        </p:nvSpPr>
        <p:spPr>
          <a:xfrm>
            <a:off x="3958590" y="422021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时间</a:t>
            </a:r>
            <a:endParaRPr kumimoji="0"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 name="Shape 118"/>
          <p:cNvSpPr/>
          <p:nvPr/>
        </p:nvSpPr>
        <p:spPr>
          <a:xfrm>
            <a:off x="4561840" y="421513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组织</a:t>
            </a:r>
            <a:endPar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 name="Shape 118"/>
          <p:cNvSpPr/>
          <p:nvPr/>
        </p:nvSpPr>
        <p:spPr>
          <a:xfrm>
            <a:off x="5165090" y="421513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产品</a:t>
            </a:r>
            <a:endParaRPr kumimoji="0"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 name="Shape 118"/>
          <p:cNvSpPr/>
          <p:nvPr/>
        </p:nvSpPr>
        <p:spPr>
          <a:xfrm>
            <a:off x="5768340" y="422021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区域</a:t>
            </a:r>
            <a:endPar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 name="文本框 10"/>
          <p:cNvSpPr txBox="1"/>
          <p:nvPr/>
        </p:nvSpPr>
        <p:spPr>
          <a:xfrm>
            <a:off x="3511550" y="4215130"/>
            <a:ext cx="426720" cy="52197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维</a:t>
            </a:r>
            <a:endParaRPr kumimoji="0" lang="en-US" altLang="zh-CN"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度</a:t>
            </a:r>
            <a:endPar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8" name="Rectangle 7"/>
          <p:cNvSpPr>
            <a:spLocks noChangeArrowheads="1"/>
          </p:cNvSpPr>
          <p:nvPr/>
        </p:nvSpPr>
        <p:spPr bwMode="auto">
          <a:xfrm>
            <a:off x="7492365" y="215519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投入</a:t>
            </a:r>
            <a:endParaRPr lang="zh-CN" altLang="en-US" sz="1050" b="1" kern="0" dirty="0">
              <a:latin typeface="微软雅黑" panose="020B0503020204020204" pitchFamily="34" charset="-122"/>
              <a:ea typeface="微软雅黑" panose="020B0503020204020204" pitchFamily="34" charset="-122"/>
            </a:endParaRPr>
          </a:p>
        </p:txBody>
      </p:sp>
      <p:sp>
        <p:nvSpPr>
          <p:cNvPr id="19" name="Rectangle 7"/>
          <p:cNvSpPr>
            <a:spLocks noChangeArrowheads="1"/>
          </p:cNvSpPr>
          <p:nvPr/>
        </p:nvSpPr>
        <p:spPr bwMode="auto">
          <a:xfrm>
            <a:off x="6798310" y="241808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效率</a:t>
            </a:r>
            <a:endParaRPr lang="zh-CN" altLang="en-US" sz="1050" b="1" kern="0" dirty="0">
              <a:latin typeface="微软雅黑" panose="020B0503020204020204" pitchFamily="34" charset="-122"/>
              <a:ea typeface="微软雅黑" panose="020B0503020204020204" pitchFamily="34" charset="-122"/>
            </a:endParaRPr>
          </a:p>
        </p:txBody>
      </p:sp>
      <p:sp>
        <p:nvSpPr>
          <p:cNvPr id="20" name="Rectangle 7"/>
          <p:cNvSpPr>
            <a:spLocks noChangeArrowheads="1"/>
          </p:cNvSpPr>
          <p:nvPr/>
        </p:nvSpPr>
        <p:spPr bwMode="auto">
          <a:xfrm>
            <a:off x="6107430" y="241808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dirty="0">
                <a:latin typeface="微软雅黑" panose="020B0503020204020204" pitchFamily="34" charset="-122"/>
                <a:ea typeface="微软雅黑" panose="020B0503020204020204" pitchFamily="34" charset="-122"/>
              </a:rPr>
              <a:t>回报</a:t>
            </a:r>
            <a:endParaRPr lang="zh-CN" altLang="en-US" sz="1050" b="1" dirty="0">
              <a:latin typeface="微软雅黑" panose="020B0503020204020204" pitchFamily="34" charset="-122"/>
              <a:ea typeface="微软雅黑" panose="020B0503020204020204" pitchFamily="34" charset="-122"/>
            </a:endParaRPr>
          </a:p>
        </p:txBody>
      </p:sp>
      <p:sp>
        <p:nvSpPr>
          <p:cNvPr id="21" name="Rectangle 7"/>
          <p:cNvSpPr>
            <a:spLocks noChangeArrowheads="1"/>
          </p:cNvSpPr>
          <p:nvPr/>
        </p:nvSpPr>
        <p:spPr bwMode="auto">
          <a:xfrm>
            <a:off x="7489190" y="2418080"/>
            <a:ext cx="570230" cy="215900"/>
          </a:xfrm>
          <a:prstGeom prst="rect">
            <a:avLst/>
          </a:prstGeom>
          <a:solidFill>
            <a:schemeClr val="bg1"/>
          </a:solidFill>
          <a:ln>
            <a:noFill/>
          </a:ln>
        </p:spPr>
        <p:txBody>
          <a:bodyPr wrap="none" lIns="0" tIns="36000" rIns="0" bIns="36000" anchor="ctr"/>
          <a:lstStyle>
            <a:lvl1pPr eaLnBrk="0" hangingPunct="0">
              <a:defRPr sz="1400">
                <a:solidFill>
                  <a:schemeClr val="tx1"/>
                </a:solidFill>
                <a:latin typeface="Arial" panose="020B0604020202020204" pitchFamily="34" charset="0"/>
                <a:ea typeface="宋体" pitchFamily="2" charset="-122"/>
              </a:defRPr>
            </a:lvl1pPr>
            <a:lvl2pPr marL="742950" indent="-285750" eaLnBrk="0" hangingPunct="0">
              <a:defRPr sz="1400">
                <a:solidFill>
                  <a:schemeClr val="tx1"/>
                </a:solidFill>
                <a:latin typeface="Arial" panose="020B0604020202020204" pitchFamily="34" charset="0"/>
                <a:ea typeface="宋体" pitchFamily="2" charset="-122"/>
              </a:defRPr>
            </a:lvl2pPr>
            <a:lvl3pPr marL="1143000" indent="-228600" eaLnBrk="0" hangingPunct="0">
              <a:defRPr sz="1400">
                <a:solidFill>
                  <a:schemeClr val="tx1"/>
                </a:solidFill>
                <a:latin typeface="Arial" panose="020B0604020202020204" pitchFamily="34" charset="0"/>
                <a:ea typeface="宋体" pitchFamily="2" charset="-122"/>
              </a:defRPr>
            </a:lvl3pPr>
            <a:lvl4pPr marL="1600200" indent="-228600" eaLnBrk="0" hangingPunct="0">
              <a:defRPr sz="1400">
                <a:solidFill>
                  <a:schemeClr val="tx1"/>
                </a:solidFill>
                <a:latin typeface="Arial" panose="020B0604020202020204" pitchFamily="34" charset="0"/>
                <a:ea typeface="宋体" pitchFamily="2" charset="-122"/>
              </a:defRPr>
            </a:lvl4pPr>
            <a:lvl5pPr marL="2057400" indent="-228600" eaLnBrk="0" hangingPunct="0">
              <a:defRPr sz="1400">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itchFamily="2" charset="-122"/>
              </a:defRPr>
            </a:lvl9pPr>
          </a:lstStyle>
          <a:p>
            <a:pPr algn="ctr" defTabSz="1218565">
              <a:lnSpc>
                <a:spcPct val="90000"/>
              </a:lnSpc>
              <a:spcBef>
                <a:spcPct val="50000"/>
              </a:spcBef>
            </a:pPr>
            <a:r>
              <a:rPr lang="zh-CN" altLang="en-US" sz="1050" b="1" kern="0" dirty="0">
                <a:latin typeface="微软雅黑" panose="020B0503020204020204" pitchFamily="34" charset="-122"/>
                <a:ea typeface="微软雅黑" panose="020B0503020204020204" pitchFamily="34" charset="-122"/>
              </a:rPr>
              <a:t>风险</a:t>
            </a:r>
            <a:endParaRPr lang="zh-CN" altLang="en-US" sz="1050" b="1" kern="0" dirty="0">
              <a:latin typeface="微软雅黑" panose="020B0503020204020204" pitchFamily="34" charset="-122"/>
              <a:ea typeface="微软雅黑" panose="020B0503020204020204" pitchFamily="34" charset="-122"/>
            </a:endParaRPr>
          </a:p>
        </p:txBody>
      </p:sp>
      <p:sp>
        <p:nvSpPr>
          <p:cNvPr id="22" name="Shape 118"/>
          <p:cNvSpPr/>
          <p:nvPr/>
        </p:nvSpPr>
        <p:spPr>
          <a:xfrm>
            <a:off x="6974840" y="422021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人员</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3" name="文本框 22"/>
          <p:cNvSpPr txBox="1"/>
          <p:nvPr/>
        </p:nvSpPr>
        <p:spPr>
          <a:xfrm>
            <a:off x="4666615" y="6433185"/>
            <a:ext cx="5080000" cy="226060"/>
          </a:xfrm>
          <a:prstGeom prst="rect">
            <a:avLst/>
          </a:prstGeom>
        </p:spPr>
        <p:txBody>
          <a:bodyPr>
            <a:spAutoFit/>
          </a:bodyPr>
          <a:p>
            <a:pPr marL="0" indent="0">
              <a:lnSpc>
                <a:spcPts val="1050"/>
              </a:lnSpc>
              <a:spcBef>
                <a:spcPct val="0"/>
              </a:spcBef>
              <a:spcAft>
                <a:spcPct val="0"/>
              </a:spcAft>
            </a:pPr>
            <a:r>
              <a:rPr lang="zh-CN" altLang="en-US" sz="1600" b="1" i="0">
                <a:solidFill>
                  <a:srgbClr val="000000"/>
                </a:solidFill>
                <a:latin typeface="Inter"/>
                <a:ea typeface="Inter"/>
              </a:rPr>
              <a:t>渠道、场景、成本、订单、供应链</a:t>
            </a:r>
            <a:endParaRPr lang="zh-CN" altLang="en-US" sz="1600" b="1" i="0">
              <a:solidFill>
                <a:srgbClr val="000000"/>
              </a:solidFill>
              <a:latin typeface="Inter"/>
              <a:ea typeface="Inter"/>
            </a:endParaRPr>
          </a:p>
        </p:txBody>
      </p:sp>
      <p:sp>
        <p:nvSpPr>
          <p:cNvPr id="25" name="Shape 118"/>
          <p:cNvSpPr/>
          <p:nvPr/>
        </p:nvSpPr>
        <p:spPr>
          <a:xfrm>
            <a:off x="8784590" y="421767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订单</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6" name="Shape 118"/>
          <p:cNvSpPr/>
          <p:nvPr/>
        </p:nvSpPr>
        <p:spPr>
          <a:xfrm>
            <a:off x="7578090" y="422021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渠道</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7" name="Shape 118"/>
          <p:cNvSpPr/>
          <p:nvPr/>
        </p:nvSpPr>
        <p:spPr>
          <a:xfrm>
            <a:off x="8181340" y="422529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场景</a:t>
            </a:r>
            <a:endParaRPr kumimoji="0" 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8" name="Shape 118"/>
          <p:cNvSpPr/>
          <p:nvPr/>
        </p:nvSpPr>
        <p:spPr>
          <a:xfrm>
            <a:off x="9387840" y="4225290"/>
            <a:ext cx="539750" cy="53975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C7F8A"/>
          </a:solidFill>
          <a:ln w="19050" cap="flat" cmpd="sng" algn="ctr">
            <a:noFill/>
            <a:prstDash val="solid"/>
            <a:miter lim="800000"/>
          </a:ln>
          <a:effectLst/>
        </p:spPr>
        <p:txBody>
          <a:bodyPr lIns="0" tIns="0" rIns="0" bIns="0" anchor="ctr"/>
          <a:p>
            <a:pPr marL="0" marR="0" lvl="0" indent="0" algn="ctr" defTabSz="914400" eaLnBrk="1" fontAlgn="auto" latinLnBrk="0" hangingPunct="1">
              <a:lnSpc>
                <a:spcPct val="100000"/>
              </a:lnSpc>
              <a:spcBef>
                <a:spcPts val="0"/>
              </a:spcBef>
              <a:spcAft>
                <a:spcPts val="0"/>
              </a:spcAft>
              <a:buClrTx/>
              <a:buSzTx/>
              <a:buFontTx/>
              <a:buNone/>
              <a:defRPr>
                <a:latin typeface="Arial" panose="020B0604020202020204"/>
                <a:ea typeface="Arial" panose="020B0604020202020204"/>
                <a:cs typeface="Arial" panose="020B0604020202020204"/>
                <a:sym typeface="Arial" panose="020B0604020202020204"/>
              </a:defRPr>
            </a:pPr>
            <a:r>
              <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2" name="流程图: 磁盘 135"/>
          <p:cNvSpPr/>
          <p:nvPr/>
        </p:nvSpPr>
        <p:spPr>
          <a:xfrm>
            <a:off x="3463925" y="3429000"/>
            <a:ext cx="931545" cy="532130"/>
          </a:xfrm>
          <a:prstGeom prst="flowChartMagneticDisk">
            <a:avLst/>
          </a:prstGeom>
          <a:solidFill>
            <a:schemeClr val="bg1"/>
          </a:solidFill>
          <a:ln>
            <a:solidFill>
              <a:schemeClr val="tx1"/>
            </a:solidFill>
          </a:ln>
        </p:spPr>
        <p:txBody>
          <a:bodyPr wrap="none" lIns="0" tIns="0" rIns="0" bIns="0" anchor="ctr"/>
          <a:lstStyle/>
          <a:p>
            <a:pPr algn="ctr" defTabSz="1218565" eaLnBrk="0" hangingPunct="0">
              <a:lnSpc>
                <a:spcPct val="90000"/>
              </a:lnSpc>
              <a:spcBef>
                <a:spcPct val="50000"/>
              </a:spcBef>
            </a:pPr>
            <a:r>
              <a:rPr lang="zh-CN" altLang="en-US" sz="1000" b="1" kern="0" dirty="0">
                <a:latin typeface="微软雅黑" panose="020B0503020204020204" pitchFamily="34" charset="-122"/>
                <a:ea typeface="微软雅黑" panose="020B0503020204020204" pitchFamily="34" charset="-122"/>
              </a:rPr>
              <a:t>财务分析模型</a:t>
            </a:r>
            <a:endParaRPr lang="zh-CN" altLang="en-US" sz="1000" b="1" kern="0" dirty="0">
              <a:latin typeface="微软雅黑" panose="020B0503020204020204" pitchFamily="34" charset="-122"/>
              <a:ea typeface="微软雅黑" panose="020B0503020204020204" pitchFamily="34" charset="-122"/>
            </a:endParaRPr>
          </a:p>
        </p:txBody>
      </p:sp>
      <p:sp>
        <p:nvSpPr>
          <p:cNvPr id="113" name="流程图: 磁盘 135"/>
          <p:cNvSpPr/>
          <p:nvPr/>
        </p:nvSpPr>
        <p:spPr>
          <a:xfrm>
            <a:off x="4415155" y="3429000"/>
            <a:ext cx="931545" cy="532130"/>
          </a:xfrm>
          <a:prstGeom prst="flowChartMagneticDisk">
            <a:avLst/>
          </a:prstGeom>
          <a:solidFill>
            <a:schemeClr val="bg1"/>
          </a:solidFill>
          <a:ln>
            <a:solidFill>
              <a:schemeClr val="tx1"/>
            </a:solidFill>
          </a:ln>
        </p:spPr>
        <p:txBody>
          <a:bodyPr wrap="none" lIns="0" tIns="0" rIns="0" bIns="0" anchor="ctr"/>
          <a:lstStyle/>
          <a:p>
            <a:pPr marL="0" marR="0" lvl="0" indent="0" algn="ctr" defTabSz="1218565" eaLnBrk="0" fontAlgn="auto" latinLnBrk="0" hangingPunct="0">
              <a:lnSpc>
                <a:spcPct val="90000"/>
              </a:lnSpc>
              <a:spcBef>
                <a:spcPct val="5000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营销</a:t>
            </a:r>
            <a:r>
              <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分析</a:t>
            </a: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0" name="流程图: 磁盘 135"/>
          <p:cNvSpPr/>
          <p:nvPr/>
        </p:nvSpPr>
        <p:spPr>
          <a:xfrm>
            <a:off x="5367020" y="3429000"/>
            <a:ext cx="931545" cy="532130"/>
          </a:xfrm>
          <a:prstGeom prst="flowChartMagneticDisk">
            <a:avLst/>
          </a:prstGeom>
          <a:solidFill>
            <a:schemeClr val="bg1"/>
          </a:solidFill>
          <a:ln>
            <a:solidFill>
              <a:schemeClr val="tx1"/>
            </a:solidFill>
          </a:ln>
        </p:spPr>
        <p:txBody>
          <a:bodyPr wrap="none" lIns="0" tIns="0" rIns="0" bIns="0" anchor="ctr"/>
          <a:lstStyle/>
          <a:p>
            <a:pPr marL="0" marR="0" lvl="0" indent="0" algn="ctr" defTabSz="1218565" eaLnBrk="0" fontAlgn="auto" latinLnBrk="0" hangingPunct="0">
              <a:lnSpc>
                <a:spcPct val="90000"/>
              </a:lnSpc>
              <a:spcBef>
                <a:spcPct val="5000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sym typeface="+mn-ea"/>
              </a:rPr>
              <a:t>基准价测算模型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29" name="流程图: 磁盘 135"/>
          <p:cNvSpPr/>
          <p:nvPr/>
        </p:nvSpPr>
        <p:spPr>
          <a:xfrm>
            <a:off x="6311265" y="3429000"/>
            <a:ext cx="931545" cy="532130"/>
          </a:xfrm>
          <a:prstGeom prst="flowChartMagneticDisk">
            <a:avLst/>
          </a:prstGeom>
          <a:solidFill>
            <a:srgbClr val="A6A6A6"/>
          </a:solidFill>
          <a:ln>
            <a:solidFill>
              <a:schemeClr val="tx1"/>
            </a:solidFill>
          </a:ln>
        </p:spPr>
        <p:txBody>
          <a:bodyPr wrap="none" lIns="0" tIns="0" rIns="0" bIns="0" anchor="ctr"/>
          <a:p>
            <a:pPr marL="0" marR="0" lvl="0" indent="0" algn="ctr" defTabSz="1218565" eaLnBrk="0" fontAlgn="auto" latinLnBrk="0" hangingPunct="0">
              <a:lnSpc>
                <a:spcPct val="90000"/>
              </a:lnSpc>
              <a:spcBef>
                <a:spcPct val="50000"/>
              </a:spcBef>
              <a:spcAft>
                <a:spcPts val="0"/>
              </a:spcAft>
              <a:buClrTx/>
              <a:buSzTx/>
              <a:buFontTx/>
              <a:buNone/>
              <a:defRPr/>
            </a:pPr>
            <a:r>
              <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生产分析模型</a:t>
            </a:r>
            <a:endPar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0" name="流程图: 磁盘 135"/>
          <p:cNvSpPr/>
          <p:nvPr/>
        </p:nvSpPr>
        <p:spPr>
          <a:xfrm>
            <a:off x="7252335" y="3429000"/>
            <a:ext cx="931545" cy="532130"/>
          </a:xfrm>
          <a:prstGeom prst="flowChartMagneticDisk">
            <a:avLst/>
          </a:prstGeom>
          <a:solidFill>
            <a:srgbClr val="A6A6A6"/>
          </a:solidFill>
          <a:ln>
            <a:solidFill>
              <a:schemeClr val="tx1"/>
            </a:solidFill>
          </a:ln>
        </p:spPr>
        <p:txBody>
          <a:bodyPr wrap="none" lIns="0" tIns="0" rIns="0" bIns="0" anchor="ctr"/>
          <a:p>
            <a:pPr marL="0" marR="0" lvl="0" indent="0" algn="ctr" defTabSz="1218565" eaLnBrk="0" fontAlgn="auto" latinLnBrk="0" hangingPunct="0">
              <a:lnSpc>
                <a:spcPct val="90000"/>
              </a:lnSpc>
              <a:spcBef>
                <a:spcPct val="50000"/>
              </a:spcBef>
              <a:spcAft>
                <a:spcPts val="0"/>
              </a:spcAft>
              <a:buClrTx/>
              <a:buSzTx/>
              <a:buFontTx/>
              <a:buNone/>
              <a:defRPr/>
            </a:pPr>
            <a:r>
              <a:rPr lang="en-US" sz="1000" b="1" dirty="0">
                <a:latin typeface="微软雅黑" panose="020B0503020204020204" pitchFamily="34" charset="-122"/>
                <a:ea typeface="微软雅黑" panose="020B0503020204020204" pitchFamily="34" charset="-122"/>
              </a:rPr>
              <a:t>客户分析模型</a:t>
            </a:r>
            <a:endPar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1" name="流程图: 磁盘 135"/>
          <p:cNvSpPr/>
          <p:nvPr/>
        </p:nvSpPr>
        <p:spPr>
          <a:xfrm>
            <a:off x="8200390" y="3429000"/>
            <a:ext cx="931545" cy="532130"/>
          </a:xfrm>
          <a:prstGeom prst="flowChartMagneticDisk">
            <a:avLst/>
          </a:prstGeom>
          <a:solidFill>
            <a:srgbClr val="A6A6A6"/>
          </a:solidFill>
          <a:ln>
            <a:solidFill>
              <a:schemeClr val="tx1"/>
            </a:solidFill>
          </a:ln>
        </p:spPr>
        <p:txBody>
          <a:bodyPr wrap="none" lIns="0" tIns="0" rIns="0" bIns="0" anchor="ctr"/>
          <a:p>
            <a:pPr marL="0" marR="0" lvl="0" indent="0" algn="ctr" defTabSz="1218565" eaLnBrk="0" fontAlgn="auto" latinLnBrk="0" hangingPunct="0">
              <a:lnSpc>
                <a:spcPct val="90000"/>
              </a:lnSpc>
              <a:spcBef>
                <a:spcPct val="50000"/>
              </a:spcBef>
              <a:spcAft>
                <a:spcPts val="0"/>
              </a:spcAft>
              <a:buClrTx/>
              <a:buSzTx/>
              <a:buFontTx/>
              <a:buNone/>
              <a:defRPr/>
            </a:pPr>
            <a:r>
              <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采购分析</a:t>
            </a:r>
            <a:endPar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3" name="流程图: 磁盘 135"/>
          <p:cNvSpPr/>
          <p:nvPr/>
        </p:nvSpPr>
        <p:spPr>
          <a:xfrm>
            <a:off x="9131935" y="3429000"/>
            <a:ext cx="931545" cy="532130"/>
          </a:xfrm>
          <a:prstGeom prst="flowChartMagneticDisk">
            <a:avLst/>
          </a:prstGeom>
          <a:solidFill>
            <a:srgbClr val="A6A6A6"/>
          </a:solidFill>
          <a:ln>
            <a:solidFill>
              <a:schemeClr val="tx1"/>
            </a:solidFill>
          </a:ln>
        </p:spPr>
        <p:txBody>
          <a:bodyPr wrap="none" lIns="0" tIns="0" rIns="0" bIns="0" anchor="ctr"/>
          <a:p>
            <a:pPr marL="0" marR="0" lvl="0" indent="0" algn="ctr" defTabSz="1218565" eaLnBrk="0" fontAlgn="auto" latinLnBrk="0" hangingPunct="0">
              <a:lnSpc>
                <a:spcPct val="90000"/>
              </a:lnSpc>
              <a:spcBef>
                <a:spcPct val="50000"/>
              </a:spcBef>
              <a:spcAft>
                <a:spcPts val="0"/>
              </a:spcAft>
              <a:buClrTx/>
              <a:buSzTx/>
              <a:buFontTx/>
              <a:buNone/>
              <a:defRPr/>
            </a:pPr>
            <a:r>
              <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t>
            </a:r>
            <a:endParaRPr kumimoji="0" 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427264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427291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501305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501332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7534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75373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68570" y="3075305"/>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调研情况总结</a:t>
            </a:r>
            <a:endParaRPr lang="zh-CN" altLang="en-US" sz="1200" dirty="0">
              <a:sym typeface="+mn-ea"/>
            </a:endParaRPr>
          </a:p>
        </p:txBody>
      </p:sp>
      <p:sp>
        <p:nvSpPr>
          <p:cNvPr id="8" name="文本占位符 17"/>
          <p:cNvSpPr txBox="1"/>
          <p:nvPr>
            <p:custDataLst>
              <p:tags r:id="rId14"/>
            </p:custDataLst>
          </p:nvPr>
        </p:nvSpPr>
        <p:spPr>
          <a:xfrm>
            <a:off x="4484370" y="3075305"/>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3</a:t>
            </a:r>
            <a:r>
              <a:rPr lang="en-US" altLang="zh-CN" sz="1200" dirty="0">
                <a:sym typeface="+mn-ea"/>
              </a:rPr>
              <a:t>.1</a:t>
            </a:r>
            <a:endParaRPr lang="en-US" altLang="zh-CN" sz="1200" dirty="0">
              <a:sym typeface="+mn-ea"/>
            </a:endParaRPr>
          </a:p>
        </p:txBody>
      </p:sp>
      <p:sp>
        <p:nvSpPr>
          <p:cNvPr id="12" name="文本占位符 17"/>
          <p:cNvSpPr txBox="1"/>
          <p:nvPr>
            <p:custDataLst>
              <p:tags r:id="rId15"/>
            </p:custDataLst>
          </p:nvPr>
        </p:nvSpPr>
        <p:spPr>
          <a:xfrm>
            <a:off x="5068570" y="347599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国内</a:t>
            </a:r>
            <a:endParaRPr lang="zh-CN" altLang="en-US" sz="1200" dirty="0">
              <a:sym typeface="+mn-ea"/>
            </a:endParaRPr>
          </a:p>
        </p:txBody>
      </p:sp>
      <p:sp>
        <p:nvSpPr>
          <p:cNvPr id="23" name="文本占位符 17"/>
          <p:cNvSpPr txBox="1"/>
          <p:nvPr>
            <p:custDataLst>
              <p:tags r:id="rId16"/>
            </p:custDataLst>
          </p:nvPr>
        </p:nvSpPr>
        <p:spPr>
          <a:xfrm>
            <a:off x="4484370" y="34759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zh-CN" altLang="en-US" sz="1200" dirty="0">
                <a:sym typeface="+mn-ea"/>
              </a:rPr>
              <a:t>.</a:t>
            </a:r>
            <a:r>
              <a:rPr lang="en-US" altLang="zh-CN" sz="1200" dirty="0">
                <a:sym typeface="+mn-ea"/>
              </a:rPr>
              <a:t>3</a:t>
            </a:r>
            <a:endParaRPr lang="en-US" altLang="zh-CN" sz="1200" dirty="0">
              <a:sym typeface="+mn-ea"/>
            </a:endParaRPr>
          </a:p>
        </p:txBody>
      </p:sp>
      <p:sp>
        <p:nvSpPr>
          <p:cNvPr id="26" name="文本占位符 17"/>
          <p:cNvSpPr txBox="1"/>
          <p:nvPr>
            <p:custDataLst>
              <p:tags r:id="rId17"/>
            </p:custDataLst>
          </p:nvPr>
        </p:nvSpPr>
        <p:spPr>
          <a:xfrm>
            <a:off x="5068570" y="3844290"/>
            <a:ext cx="24244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指标详细设计（</a:t>
            </a:r>
            <a:r>
              <a:rPr lang="en-US" altLang="zh-CN" sz="1200" dirty="0">
                <a:sym typeface="+mn-ea"/>
              </a:rPr>
              <a:t>90</a:t>
            </a:r>
            <a:r>
              <a:rPr lang="zh-CN" altLang="en-US" sz="1200" dirty="0">
                <a:sym typeface="+mn-ea"/>
              </a:rPr>
              <a:t>个指标）</a:t>
            </a:r>
            <a:endParaRPr lang="zh-CN" altLang="en-US" sz="1200" dirty="0">
              <a:sym typeface="+mn-ea"/>
            </a:endParaRPr>
          </a:p>
        </p:txBody>
      </p:sp>
      <p:sp>
        <p:nvSpPr>
          <p:cNvPr id="28" name="文本占位符 17"/>
          <p:cNvSpPr txBox="1"/>
          <p:nvPr>
            <p:custDataLst>
              <p:tags r:id="rId18"/>
            </p:custDataLst>
          </p:nvPr>
        </p:nvSpPr>
        <p:spPr>
          <a:xfrm>
            <a:off x="4484370" y="38442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5</a:t>
            </a:r>
            <a:endParaRPr lang="en-US" altLang="zh-CN" sz="1200" dirty="0">
              <a:sym typeface="+mn-ea"/>
            </a:endParaRPr>
          </a:p>
        </p:txBody>
      </p:sp>
      <p:sp>
        <p:nvSpPr>
          <p:cNvPr id="32" name="文本占位符 17"/>
          <p:cNvSpPr txBox="1"/>
          <p:nvPr>
            <p:custDataLst>
              <p:tags r:id="rId19"/>
            </p:custDataLst>
          </p:nvPr>
        </p:nvSpPr>
        <p:spPr>
          <a:xfrm>
            <a:off x="8388985"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财经域指标分析框架与场景</a:t>
            </a:r>
            <a:endParaRPr lang="zh-CN" altLang="en-US" sz="1200" dirty="0">
              <a:sym typeface="+mn-ea"/>
            </a:endParaRPr>
          </a:p>
        </p:txBody>
      </p:sp>
      <p:sp>
        <p:nvSpPr>
          <p:cNvPr id="33" name="文本占位符 17"/>
          <p:cNvSpPr txBox="1"/>
          <p:nvPr>
            <p:custDataLst>
              <p:tags r:id="rId20"/>
            </p:custDataLst>
          </p:nvPr>
        </p:nvSpPr>
        <p:spPr>
          <a:xfrm>
            <a:off x="7804785" y="307530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2</a:t>
            </a:r>
            <a:endParaRPr lang="en-US" altLang="zh-CN" sz="1200" dirty="0">
              <a:sym typeface="+mn-ea"/>
            </a:endParaRPr>
          </a:p>
        </p:txBody>
      </p:sp>
      <p:sp>
        <p:nvSpPr>
          <p:cNvPr id="34" name="文本占位符 17"/>
          <p:cNvSpPr txBox="1"/>
          <p:nvPr>
            <p:custDataLst>
              <p:tags r:id="rId21"/>
            </p:custDataLst>
          </p:nvPr>
        </p:nvSpPr>
        <p:spPr>
          <a:xfrm>
            <a:off x="8388985" y="347853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国际</a:t>
            </a:r>
            <a:endParaRPr lang="zh-CN" altLang="en-US" sz="1200" dirty="0">
              <a:sym typeface="+mn-ea"/>
            </a:endParaRPr>
          </a:p>
        </p:txBody>
      </p:sp>
      <p:sp>
        <p:nvSpPr>
          <p:cNvPr id="35" name="文本占位符 17"/>
          <p:cNvSpPr txBox="1"/>
          <p:nvPr>
            <p:custDataLst>
              <p:tags r:id="rId22"/>
            </p:custDataLst>
          </p:nvPr>
        </p:nvSpPr>
        <p:spPr>
          <a:xfrm>
            <a:off x="7804785" y="347853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4</a:t>
            </a:r>
            <a:endParaRPr lang="en-US" altLang="zh-CN" sz="1200" dirty="0">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ysClr val="windowText" lastClr="000000"/>
                </a:solidFill>
                <a:latin typeface="微软雅黑" panose="020B0503020204020204" pitchFamily="34" charset="-122"/>
                <a:ea typeface="微软雅黑" panose="020B0503020204020204" pitchFamily="34" charset="-122"/>
                <a:cs typeface="华文仿宋" panose="02010600040101010101" charset="-122"/>
                <a:sym typeface="+mn-ea"/>
              </a:rPr>
              <a:t>数据层面：根据企业数字化不同发展阶段拥有的数据资产，推动匹配的数据处理能力建设，实现数据价值的驱动</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1" name="圆角矩形 85"/>
          <p:cNvSpPr/>
          <p:nvPr/>
        </p:nvSpPr>
        <p:spPr>
          <a:xfrm>
            <a:off x="9227523" y="1122806"/>
            <a:ext cx="1669077" cy="5473489"/>
          </a:xfrm>
          <a:prstGeom prst="roundRect">
            <a:avLst>
              <a:gd name="adj" fmla="val 9360"/>
            </a:avLst>
          </a:prstGeom>
          <a:solidFill>
            <a:srgbClr val="F79646">
              <a:lumMod val="40000"/>
              <a:lumOff val="60000"/>
            </a:srgbClr>
          </a:solidFill>
          <a:ln w="25400" cap="flat" cmpd="sng" algn="ctr">
            <a:noFill/>
            <a:prstDash val="solid"/>
          </a:ln>
          <a:effectLst/>
        </p:spPr>
        <p:txBody>
          <a:bodyPr lIns="0" tIns="0" rIns="0" bIns="0" rtlCol="0" anchor="ctr"/>
          <a:lstStyle/>
          <a:p>
            <a:pPr>
              <a:defRPr/>
            </a:pPr>
            <a:endParaRPr lang="zh-CN" altLang="en-US" sz="1600" kern="0">
              <a:solidFill>
                <a:prstClr val="black"/>
              </a:solidFill>
              <a:latin typeface="微软雅黑" panose="020B0503020204020204" pitchFamily="34" charset="-122"/>
              <a:ea typeface="微软雅黑" panose="020B0503020204020204" pitchFamily="34" charset="-122"/>
              <a:cs typeface="Helvetica"/>
            </a:endParaRPr>
          </a:p>
        </p:txBody>
      </p:sp>
      <p:sp>
        <p:nvSpPr>
          <p:cNvPr id="29" name="圆角矩形 57"/>
          <p:cNvSpPr/>
          <p:nvPr/>
        </p:nvSpPr>
        <p:spPr>
          <a:xfrm>
            <a:off x="7093923" y="1123405"/>
            <a:ext cx="1669077" cy="5472889"/>
          </a:xfrm>
          <a:prstGeom prst="roundRect">
            <a:avLst>
              <a:gd name="adj" fmla="val 9360"/>
            </a:avLst>
          </a:prstGeom>
          <a:solidFill>
            <a:srgbClr val="8064A2">
              <a:lumMod val="20000"/>
              <a:lumOff val="80000"/>
            </a:srgbClr>
          </a:solidFill>
          <a:ln w="25400" cap="flat" cmpd="sng" algn="ctr">
            <a:noFill/>
            <a:prstDash val="solid"/>
          </a:ln>
          <a:effectLst/>
        </p:spPr>
        <p:txBody>
          <a:bodyPr lIns="0" tIns="0" rIns="0" bIns="0" rtlCol="0" anchor="ctr"/>
          <a:lstStyle/>
          <a:p>
            <a:pPr>
              <a:defRPr/>
            </a:pPr>
            <a:endParaRPr lang="zh-CN" altLang="en-US" sz="1600" kern="0">
              <a:solidFill>
                <a:prstClr val="black"/>
              </a:solidFill>
              <a:latin typeface="微软雅黑" panose="020B0503020204020204" pitchFamily="34" charset="-122"/>
              <a:ea typeface="微软雅黑" panose="020B0503020204020204" pitchFamily="34" charset="-122"/>
              <a:cs typeface="Helvetica"/>
            </a:endParaRPr>
          </a:p>
        </p:txBody>
      </p:sp>
      <p:sp>
        <p:nvSpPr>
          <p:cNvPr id="31" name="圆角矩形 9"/>
          <p:cNvSpPr/>
          <p:nvPr/>
        </p:nvSpPr>
        <p:spPr>
          <a:xfrm>
            <a:off x="4884123" y="1123406"/>
            <a:ext cx="1669077" cy="5472888"/>
          </a:xfrm>
          <a:prstGeom prst="roundRect">
            <a:avLst>
              <a:gd name="adj" fmla="val 9360"/>
            </a:avLst>
          </a:prstGeom>
          <a:solidFill>
            <a:srgbClr val="FAF2D2"/>
          </a:solidFill>
          <a:ln w="25400" cap="flat" cmpd="sng" algn="ctr">
            <a:noFill/>
            <a:prstDash val="solid"/>
          </a:ln>
          <a:effectLst/>
        </p:spPr>
        <p:txBody>
          <a:bodyPr lIns="0" tIns="0" rIns="0" bIns="0" rtlCol="0" anchor="ctr"/>
          <a:lstStyle/>
          <a:p>
            <a:pPr>
              <a:defRPr/>
            </a:pPr>
            <a:endParaRPr lang="zh-CN" altLang="en-US" sz="1600" kern="0">
              <a:solidFill>
                <a:prstClr val="black"/>
              </a:solidFill>
              <a:latin typeface="微软雅黑" panose="020B0503020204020204" pitchFamily="34" charset="-122"/>
              <a:ea typeface="微软雅黑" panose="020B0503020204020204" pitchFamily="34" charset="-122"/>
              <a:cs typeface="Helvetica"/>
            </a:endParaRPr>
          </a:p>
        </p:txBody>
      </p:sp>
      <p:sp>
        <p:nvSpPr>
          <p:cNvPr id="32" name="圆角矩形 12"/>
          <p:cNvSpPr/>
          <p:nvPr/>
        </p:nvSpPr>
        <p:spPr>
          <a:xfrm>
            <a:off x="1143000" y="1126922"/>
            <a:ext cx="3162270" cy="5469372"/>
          </a:xfrm>
          <a:prstGeom prst="roundRect">
            <a:avLst>
              <a:gd name="adj" fmla="val 4563"/>
            </a:avLst>
          </a:prstGeom>
          <a:solidFill>
            <a:srgbClr val="9BBB59">
              <a:lumMod val="20000"/>
              <a:lumOff val="80000"/>
              <a:alpha val="74118"/>
            </a:srgbClr>
          </a:solidFill>
          <a:ln w="25400" cap="flat" cmpd="sng" algn="ctr">
            <a:noFill/>
            <a:prstDash val="solid"/>
          </a:ln>
          <a:effectLst/>
        </p:spPr>
        <p:txBody>
          <a:bodyPr lIns="0" tIns="0" rIns="0" bIns="0" rtlCol="0" anchor="ctr"/>
          <a:lstStyle/>
          <a:p>
            <a:pPr>
              <a:defRPr/>
            </a:pPr>
            <a:endParaRPr lang="zh-CN" altLang="en-US" sz="1600" kern="0">
              <a:solidFill>
                <a:prstClr val="black"/>
              </a:solidFill>
              <a:latin typeface="微软雅黑" panose="020B0503020204020204" pitchFamily="34" charset="-122"/>
              <a:ea typeface="微软雅黑" panose="020B0503020204020204" pitchFamily="34" charset="-122"/>
              <a:cs typeface="Helvetica"/>
            </a:endParaRPr>
          </a:p>
        </p:txBody>
      </p:sp>
      <p:sp>
        <p:nvSpPr>
          <p:cNvPr id="33" name="圆角矩形 17"/>
          <p:cNvSpPr/>
          <p:nvPr/>
        </p:nvSpPr>
        <p:spPr>
          <a:xfrm>
            <a:off x="1051528" y="5734594"/>
            <a:ext cx="10988072" cy="714591"/>
          </a:xfrm>
          <a:prstGeom prst="roundRect">
            <a:avLst/>
          </a:prstGeom>
          <a:solidFill>
            <a:srgbClr val="4F81BD">
              <a:lumMod val="60000"/>
              <a:lumOff val="40000"/>
              <a:alpha val="25098"/>
            </a:srgbClr>
          </a:solidFill>
          <a:ln w="19050" cap="flat" cmpd="sng" algn="ctr">
            <a:solidFill>
              <a:srgbClr val="1F497D">
                <a:lumMod val="75000"/>
              </a:srgbClr>
            </a:solidFill>
            <a:prstDash val="sysDash"/>
          </a:ln>
          <a:effectLst/>
        </p:spPr>
        <p:txBody>
          <a:bodyPr lIns="0" tIns="0" rIns="0" bIns="0" rtlCol="0" anchor="ctr"/>
          <a:lstStyle/>
          <a:p>
            <a:pPr>
              <a:defRPr/>
            </a:pPr>
            <a:endParaRPr lang="zh-CN" altLang="en-US" sz="16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4" name="圆角矩形 1"/>
          <p:cNvSpPr/>
          <p:nvPr/>
        </p:nvSpPr>
        <p:spPr>
          <a:xfrm>
            <a:off x="1051528" y="2685000"/>
            <a:ext cx="10988072" cy="2955952"/>
          </a:xfrm>
          <a:prstGeom prst="roundRect">
            <a:avLst>
              <a:gd name="adj" fmla="val 6941"/>
            </a:avLst>
          </a:prstGeom>
          <a:solidFill>
            <a:srgbClr val="4F81BD">
              <a:lumMod val="60000"/>
              <a:lumOff val="40000"/>
              <a:alpha val="25098"/>
            </a:srgbClr>
          </a:solidFill>
          <a:ln w="19050" cap="flat" cmpd="sng" algn="ctr">
            <a:solidFill>
              <a:srgbClr val="1F497D">
                <a:lumMod val="75000"/>
              </a:srgbClr>
            </a:solidFill>
            <a:prstDash val="sysDash"/>
          </a:ln>
          <a:effectLst/>
        </p:spPr>
        <p:txBody>
          <a:bodyPr lIns="0" tIns="0" rIns="0" bIns="0" rtlCol="0" anchor="ctr"/>
          <a:lstStyle/>
          <a:p>
            <a:pPr marL="0" lvl="3">
              <a:defRPr/>
            </a:pPr>
            <a:endParaRPr lang="zh-CN" altLang="en-US"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5" name="圆角矩形 89"/>
          <p:cNvSpPr/>
          <p:nvPr/>
        </p:nvSpPr>
        <p:spPr>
          <a:xfrm>
            <a:off x="1036288" y="1697572"/>
            <a:ext cx="10988072" cy="913183"/>
          </a:xfrm>
          <a:prstGeom prst="roundRect">
            <a:avLst>
              <a:gd name="adj" fmla="val 14284"/>
            </a:avLst>
          </a:prstGeom>
          <a:solidFill>
            <a:srgbClr val="4F81BD">
              <a:lumMod val="60000"/>
              <a:lumOff val="40000"/>
              <a:alpha val="25098"/>
            </a:srgbClr>
          </a:solidFill>
          <a:ln w="19050" cap="flat" cmpd="sng" algn="ctr">
            <a:solidFill>
              <a:srgbClr val="1F497D">
                <a:lumMod val="75000"/>
              </a:srgbClr>
            </a:solidFill>
            <a:prstDash val="sysDash"/>
          </a:ln>
          <a:effectLst/>
        </p:spPr>
        <p:txBody>
          <a:bodyPr lIns="0" tIns="0" rIns="0" bIns="0" rtlCol="0" anchor="ctr"/>
          <a:lstStyle/>
          <a:p>
            <a:pPr marL="0" lvl="3">
              <a:defRPr/>
            </a:pPr>
            <a:endParaRPr lang="zh-CN" altLang="en-US"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文本框 35"/>
          <p:cNvSpPr txBox="1"/>
          <p:nvPr/>
        </p:nvSpPr>
        <p:spPr>
          <a:xfrm>
            <a:off x="-33084" y="5915802"/>
            <a:ext cx="1048037" cy="438150"/>
          </a:xfrm>
          <a:prstGeom prst="rect">
            <a:avLst/>
          </a:prstGeom>
          <a:noFill/>
        </p:spPr>
        <p:txBody>
          <a:bodyPr wrap="square" lIns="0" tIns="0" rIns="0" bIns="0">
            <a:spAutoFit/>
          </a:bodyPr>
          <a:lstStyle/>
          <a:p>
            <a:pPr algn="ctr">
              <a:spcBef>
                <a:spcPts val="300"/>
              </a:spcBef>
            </a:pPr>
            <a:r>
              <a:rPr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初阶数字化</a:t>
            </a:r>
            <a:endParaRPr lang="en-US" altLang="zh-CN" sz="1400" b="1" kern="0" dirty="0">
              <a:solidFill>
                <a:sysClr val="windowText" lastClr="000000"/>
              </a:solidFill>
              <a:latin typeface="微软雅黑" panose="020B0503020204020204" pitchFamily="34" charset="-122"/>
              <a:ea typeface="微软雅黑" panose="020B0503020204020204" pitchFamily="34" charset="-122"/>
              <a:cs typeface="Helvetica"/>
            </a:endParaRPr>
          </a:p>
          <a:p>
            <a:pPr algn="ctr">
              <a:spcBef>
                <a:spcPts val="300"/>
              </a:spcBef>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（面向报告）</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7" name="箭头: 右 7"/>
          <p:cNvSpPr/>
          <p:nvPr/>
        </p:nvSpPr>
        <p:spPr>
          <a:xfrm rot="16200000">
            <a:off x="-106318" y="5068289"/>
            <a:ext cx="1211762" cy="181948"/>
          </a:xfrm>
          <a:prstGeom prst="rightArrow">
            <a:avLst>
              <a:gd name="adj1" fmla="val 50000"/>
              <a:gd name="adj2" fmla="val 76786"/>
            </a:avLst>
          </a:prstGeom>
          <a:solidFill>
            <a:srgbClr val="9BBB59">
              <a:lumMod val="40000"/>
              <a:lumOff val="60000"/>
            </a:srgbClr>
          </a:solidFill>
          <a:ln w="25400" cap="flat" cmpd="sng" algn="ctr">
            <a:noFill/>
            <a:prstDash val="solid"/>
          </a:ln>
          <a:effectLst/>
        </p:spPr>
        <p:txBody>
          <a:bodyPr lIns="0" tIns="0" rIns="0" bIns="0" rtlCol="0"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cs typeface="Helvetica"/>
            </a:endParaRPr>
          </a:p>
        </p:txBody>
      </p:sp>
      <p:sp>
        <p:nvSpPr>
          <p:cNvPr id="38" name="文本框 37"/>
          <p:cNvSpPr txBox="1"/>
          <p:nvPr/>
        </p:nvSpPr>
        <p:spPr>
          <a:xfrm>
            <a:off x="18656" y="4114800"/>
            <a:ext cx="1048037" cy="438150"/>
          </a:xfrm>
          <a:prstGeom prst="rect">
            <a:avLst/>
          </a:prstGeom>
          <a:noFill/>
        </p:spPr>
        <p:txBody>
          <a:bodyPr wrap="square" lIns="0" tIns="0" rIns="0" bIns="0">
            <a:spAutoFit/>
          </a:bodyPr>
          <a:lstStyle/>
          <a:p>
            <a:pPr algn="ctr">
              <a:spcBef>
                <a:spcPts val="300"/>
              </a:spcBef>
            </a:pPr>
            <a:r>
              <a:rPr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中阶数字化</a:t>
            </a:r>
            <a:endParaRPr lang="en-US" altLang="zh-CN" sz="1400" b="1" kern="0" dirty="0">
              <a:solidFill>
                <a:sysClr val="windowText" lastClr="000000"/>
              </a:solidFill>
              <a:latin typeface="微软雅黑" panose="020B0503020204020204" pitchFamily="34" charset="-122"/>
              <a:ea typeface="微软雅黑" panose="020B0503020204020204" pitchFamily="34" charset="-122"/>
              <a:cs typeface="Helvetica"/>
            </a:endParaRPr>
          </a:p>
          <a:p>
            <a:pPr algn="ctr">
              <a:spcBef>
                <a:spcPts val="300"/>
              </a:spcBef>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（面向运营）</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9" name="箭头: 右 7"/>
          <p:cNvSpPr/>
          <p:nvPr/>
        </p:nvSpPr>
        <p:spPr>
          <a:xfrm rot="16200000">
            <a:off x="-334323" y="3105111"/>
            <a:ext cx="1676400" cy="190577"/>
          </a:xfrm>
          <a:prstGeom prst="rightArrow">
            <a:avLst>
              <a:gd name="adj1" fmla="val 50000"/>
              <a:gd name="adj2" fmla="val 76786"/>
            </a:avLst>
          </a:prstGeom>
          <a:solidFill>
            <a:srgbClr val="9BBB59">
              <a:lumMod val="40000"/>
              <a:lumOff val="60000"/>
            </a:srgbClr>
          </a:solidFill>
          <a:ln w="25400" cap="flat" cmpd="sng" algn="ctr">
            <a:noFill/>
            <a:prstDash val="solid"/>
          </a:ln>
          <a:effectLst/>
        </p:spPr>
        <p:txBody>
          <a:bodyPr lIns="0" tIns="0" rIns="0" bIns="0" rtlCol="0"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cs typeface="Helvetica"/>
            </a:endParaRPr>
          </a:p>
        </p:txBody>
      </p:sp>
      <p:sp>
        <p:nvSpPr>
          <p:cNvPr id="40" name="文本框 39"/>
          <p:cNvSpPr txBox="1"/>
          <p:nvPr/>
        </p:nvSpPr>
        <p:spPr>
          <a:xfrm>
            <a:off x="18763" y="1923618"/>
            <a:ext cx="1048037" cy="438150"/>
          </a:xfrm>
          <a:prstGeom prst="rect">
            <a:avLst/>
          </a:prstGeom>
          <a:noFill/>
        </p:spPr>
        <p:txBody>
          <a:bodyPr wrap="square" lIns="0" tIns="0" rIns="0" bIns="0">
            <a:spAutoFit/>
          </a:bodyPr>
          <a:lstStyle/>
          <a:p>
            <a:pPr algn="ctr">
              <a:spcBef>
                <a:spcPts val="300"/>
              </a:spcBef>
            </a:pPr>
            <a:r>
              <a:rPr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高阶数字化</a:t>
            </a:r>
            <a:endParaRPr lang="en-US" altLang="zh-CN" sz="1400" b="1" kern="0" dirty="0">
              <a:solidFill>
                <a:sysClr val="windowText" lastClr="000000"/>
              </a:solidFill>
              <a:latin typeface="微软雅黑" panose="020B0503020204020204" pitchFamily="34" charset="-122"/>
              <a:ea typeface="微软雅黑" panose="020B0503020204020204" pitchFamily="34" charset="-122"/>
              <a:cs typeface="Helvetica"/>
            </a:endParaRPr>
          </a:p>
          <a:p>
            <a:pPr algn="ctr">
              <a:spcBef>
                <a:spcPts val="300"/>
              </a:spcBef>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（面向协同）</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1" name="圆角矩形 15"/>
          <p:cNvSpPr/>
          <p:nvPr/>
        </p:nvSpPr>
        <p:spPr>
          <a:xfrm>
            <a:off x="10978139" y="1131230"/>
            <a:ext cx="985261" cy="5465065"/>
          </a:xfrm>
          <a:prstGeom prst="roundRect">
            <a:avLst>
              <a:gd name="adj" fmla="val 9360"/>
            </a:avLst>
          </a:prstGeom>
          <a:solidFill>
            <a:srgbClr val="FF0000">
              <a:alpha val="36078"/>
            </a:srgbClr>
          </a:solidFill>
          <a:ln w="25400" cap="flat" cmpd="sng" algn="ctr">
            <a:noFill/>
            <a:prstDash val="solid"/>
          </a:ln>
          <a:effectLst/>
        </p:spPr>
        <p:txBody>
          <a:bodyPr lIns="0" tIns="0" rIns="0" bIns="0" rtlCol="0" anchor="ctr"/>
          <a:lstStyle/>
          <a:p>
            <a:pPr>
              <a:defRPr/>
            </a:pPr>
            <a:endParaRPr lang="zh-CN" altLang="en-US" sz="1600" kern="0">
              <a:solidFill>
                <a:prstClr val="black"/>
              </a:solidFill>
              <a:latin typeface="微软雅黑" panose="020B0503020204020204" pitchFamily="34" charset="-122"/>
              <a:ea typeface="微软雅黑" panose="020B0503020204020204" pitchFamily="34" charset="-122"/>
              <a:cs typeface="Helvetica"/>
            </a:endParaRPr>
          </a:p>
        </p:txBody>
      </p:sp>
      <p:sp>
        <p:nvSpPr>
          <p:cNvPr id="42" name="文本框 41"/>
          <p:cNvSpPr txBox="1"/>
          <p:nvPr/>
        </p:nvSpPr>
        <p:spPr>
          <a:xfrm>
            <a:off x="11094507" y="1174647"/>
            <a:ext cx="783706" cy="398780"/>
          </a:xfrm>
          <a:prstGeom prst="rect">
            <a:avLst/>
          </a:prstGeom>
          <a:solidFill>
            <a:srgbClr val="4F81BD">
              <a:lumMod val="20000"/>
              <a:lumOff val="80000"/>
            </a:srgbClr>
          </a:solidFill>
        </p:spPr>
        <p:txBody>
          <a:bodyPr wrap="square" rtlCol="0">
            <a:spAutoFit/>
          </a:bodyPr>
          <a:lstStyle/>
          <a:p>
            <a:pPr algn="ctr">
              <a:defRPr/>
            </a:pPr>
            <a:r>
              <a:rPr kumimoji="1" lang="zh-CN" altLang="en-US" sz="1000" b="1" kern="0" dirty="0">
                <a:solidFill>
                  <a:sysClr val="windowText" lastClr="000000"/>
                </a:solidFill>
                <a:latin typeface="微软雅黑" panose="020B0503020204020204" pitchFamily="34" charset="-122"/>
                <a:ea typeface="微软雅黑" panose="020B0503020204020204" pitchFamily="34" charset="-122"/>
                <a:cs typeface="Helvetica"/>
              </a:rPr>
              <a:t>数据服务主要对象</a:t>
            </a:r>
            <a:endParaRPr kumimoji="1" lang="zh-CN" altLang="en-US" sz="1000" b="1"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43" name="圆角矩形 125"/>
          <p:cNvSpPr/>
          <p:nvPr/>
        </p:nvSpPr>
        <p:spPr>
          <a:xfrm>
            <a:off x="11108168" y="2755231"/>
            <a:ext cx="756383" cy="287027"/>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全员</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4" name="圆角矩形 126"/>
          <p:cNvSpPr/>
          <p:nvPr/>
        </p:nvSpPr>
        <p:spPr>
          <a:xfrm>
            <a:off x="11113121" y="3132324"/>
            <a:ext cx="756383" cy="321244"/>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分管高层</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5" name="圆角矩形 150"/>
          <p:cNvSpPr/>
          <p:nvPr/>
        </p:nvSpPr>
        <p:spPr>
          <a:xfrm>
            <a:off x="11097722" y="3657600"/>
            <a:ext cx="756383" cy="1767705"/>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各领域</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管理者与运营人员</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6" name="圆角矩形 207"/>
          <p:cNvSpPr/>
          <p:nvPr/>
        </p:nvSpPr>
        <p:spPr>
          <a:xfrm>
            <a:off x="11092577" y="5808486"/>
            <a:ext cx="756383" cy="255030"/>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财务</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7" name="圆角矩形 208"/>
          <p:cNvSpPr/>
          <p:nvPr/>
        </p:nvSpPr>
        <p:spPr>
          <a:xfrm>
            <a:off x="11092577" y="6135093"/>
            <a:ext cx="756383" cy="255030"/>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业务管理者</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8" name="文本框 47"/>
          <p:cNvSpPr txBox="1"/>
          <p:nvPr/>
        </p:nvSpPr>
        <p:spPr>
          <a:xfrm>
            <a:off x="5016619" y="1214389"/>
            <a:ext cx="1352140" cy="306705"/>
          </a:xfrm>
          <a:prstGeom prst="rect">
            <a:avLst/>
          </a:prstGeom>
          <a:noFill/>
        </p:spPr>
        <p:txBody>
          <a:bodyPr wrap="square" rtlCol="0">
            <a:spAutoFit/>
          </a:bodyPr>
          <a:lstStyle/>
          <a:p>
            <a:pPr algn="ctr"/>
            <a:r>
              <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数据资产</a:t>
            </a:r>
            <a:endPar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49" name="圆角矩形 163"/>
          <p:cNvSpPr/>
          <p:nvPr/>
        </p:nvSpPr>
        <p:spPr>
          <a:xfrm>
            <a:off x="4990790" y="2751040"/>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研发管理数据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3" name="圆角矩形 168"/>
          <p:cNvSpPr/>
          <p:nvPr/>
        </p:nvSpPr>
        <p:spPr>
          <a:xfrm>
            <a:off x="4984605" y="30709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生产管理数据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5" name="圆角矩形 169"/>
          <p:cNvSpPr/>
          <p:nvPr/>
        </p:nvSpPr>
        <p:spPr>
          <a:xfrm>
            <a:off x="4990790" y="33757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供应链管理数据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6" name="圆角矩形 170"/>
          <p:cNvSpPr/>
          <p:nvPr/>
        </p:nvSpPr>
        <p:spPr>
          <a:xfrm>
            <a:off x="5002382" y="36805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销售</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客服数据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7" name="圆角矩形 171"/>
          <p:cNvSpPr/>
          <p:nvPr/>
        </p:nvSpPr>
        <p:spPr>
          <a:xfrm>
            <a:off x="4995257" y="39853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财务管理数据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8" name="圆角矩形 172"/>
          <p:cNvSpPr/>
          <p:nvPr/>
        </p:nvSpPr>
        <p:spPr>
          <a:xfrm>
            <a:off x="4995257" y="5260396"/>
            <a:ext cx="1464532"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业务全链路大数据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79" name="圆角矩形 210"/>
          <p:cNvSpPr/>
          <p:nvPr/>
        </p:nvSpPr>
        <p:spPr>
          <a:xfrm>
            <a:off x="4973354" y="5808486"/>
            <a:ext cx="971640" cy="261545"/>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财务核算数据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0" name="圆角矩形 211"/>
          <p:cNvSpPr/>
          <p:nvPr/>
        </p:nvSpPr>
        <p:spPr>
          <a:xfrm>
            <a:off x="4960423" y="6155427"/>
            <a:ext cx="971640" cy="261545"/>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经营结果数据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1" name="圆角矩形 104"/>
          <p:cNvSpPr/>
          <p:nvPr/>
        </p:nvSpPr>
        <p:spPr>
          <a:xfrm>
            <a:off x="5019114" y="1828800"/>
            <a:ext cx="661857" cy="281879"/>
          </a:xfrm>
          <a:prstGeom prst="roundRect">
            <a:avLst/>
          </a:prstGeom>
          <a:solidFill>
            <a:srgbClr val="EEECE1">
              <a:lumMod val="75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2" name="圆角矩形 106"/>
          <p:cNvSpPr/>
          <p:nvPr/>
        </p:nvSpPr>
        <p:spPr>
          <a:xfrm>
            <a:off x="5777186" y="1828800"/>
            <a:ext cx="689728" cy="281879"/>
          </a:xfrm>
          <a:prstGeom prst="roundRect">
            <a:avLst/>
          </a:prstGeom>
          <a:solidFill>
            <a:srgbClr val="EEECE1">
              <a:lumMod val="75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3" name="圆角矩形 107"/>
          <p:cNvSpPr/>
          <p:nvPr/>
        </p:nvSpPr>
        <p:spPr>
          <a:xfrm>
            <a:off x="5019114" y="2232721"/>
            <a:ext cx="661857" cy="281879"/>
          </a:xfrm>
          <a:prstGeom prst="roundRect">
            <a:avLst/>
          </a:prstGeom>
          <a:solidFill>
            <a:srgbClr val="EEECE1">
              <a:lumMod val="75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商业数据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4" name="圆角矩形 108"/>
          <p:cNvSpPr/>
          <p:nvPr/>
        </p:nvSpPr>
        <p:spPr>
          <a:xfrm>
            <a:off x="5777186" y="2232721"/>
            <a:ext cx="689728" cy="281879"/>
          </a:xfrm>
          <a:prstGeom prst="roundRect">
            <a:avLst/>
          </a:prstGeom>
          <a:solidFill>
            <a:srgbClr val="EEECE1">
              <a:lumMod val="75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行为数据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5" name="文本框 84"/>
          <p:cNvSpPr txBox="1"/>
          <p:nvPr/>
        </p:nvSpPr>
        <p:spPr>
          <a:xfrm>
            <a:off x="1583858" y="1256183"/>
            <a:ext cx="2122239" cy="306705"/>
          </a:xfrm>
          <a:prstGeom prst="rect">
            <a:avLst/>
          </a:prstGeom>
          <a:noFill/>
        </p:spPr>
        <p:txBody>
          <a:bodyPr wrap="square" rtlCol="0">
            <a:spAutoFit/>
          </a:bodyPr>
          <a:lstStyle/>
          <a:p>
            <a:pPr algn="ctr"/>
            <a:r>
              <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数据来源</a:t>
            </a:r>
            <a:endPar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86" name="圆角矩形 18"/>
          <p:cNvSpPr/>
          <p:nvPr/>
        </p:nvSpPr>
        <p:spPr>
          <a:xfrm>
            <a:off x="1216823" y="5255157"/>
            <a:ext cx="2995139"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a:solidFill>
                  <a:prstClr val="black"/>
                </a:solidFill>
                <a:latin typeface="微软雅黑" panose="020B0503020204020204" pitchFamily="34" charset="-122"/>
                <a:ea typeface="微软雅黑" panose="020B0503020204020204" pitchFamily="34" charset="-122"/>
                <a:cs typeface="Helvetica"/>
              </a:rPr>
              <a:t>终端</a:t>
            </a:r>
            <a:r>
              <a:rPr lang="en-US" altLang="zh-CN" sz="1200" b="1" kern="0">
                <a:solidFill>
                  <a:prstClr val="black"/>
                </a:solidFill>
                <a:latin typeface="微软雅黑" panose="020B0503020204020204" pitchFamily="34" charset="-122"/>
                <a:ea typeface="微软雅黑" panose="020B0503020204020204" pitchFamily="34" charset="-122"/>
                <a:cs typeface="Helvetica"/>
              </a:rPr>
              <a:t>/</a:t>
            </a:r>
            <a:r>
              <a:rPr lang="zh-CN" altLang="en-US" sz="1200" b="1" kern="0">
                <a:solidFill>
                  <a:prstClr val="black"/>
                </a:solidFill>
                <a:latin typeface="微软雅黑" panose="020B0503020204020204" pitchFamily="34" charset="-122"/>
                <a:ea typeface="微软雅黑" panose="020B0503020204020204" pitchFamily="34" charset="-122"/>
                <a:cs typeface="Helvetica"/>
              </a:rPr>
              <a:t>设备</a:t>
            </a:r>
            <a:r>
              <a:rPr lang="en-US" altLang="zh-CN" sz="1200" b="1" kern="0">
                <a:solidFill>
                  <a:prstClr val="black"/>
                </a:solidFill>
                <a:latin typeface="微软雅黑" panose="020B0503020204020204" pitchFamily="34" charset="-122"/>
                <a:ea typeface="微软雅黑" panose="020B0503020204020204" pitchFamily="34" charset="-122"/>
                <a:cs typeface="Helvetica"/>
              </a:rPr>
              <a:t>/</a:t>
            </a:r>
            <a:r>
              <a:rPr lang="zh-CN" altLang="en-US" sz="1200" b="1" kern="0">
                <a:solidFill>
                  <a:prstClr val="black"/>
                </a:solidFill>
                <a:latin typeface="微软雅黑" panose="020B0503020204020204" pitchFamily="34" charset="-122"/>
                <a:ea typeface="微软雅黑" panose="020B0503020204020204" pitchFamily="34" charset="-122"/>
                <a:cs typeface="Helvetica"/>
              </a:rPr>
              <a:t>传感器</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移动应用等数据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7" name="圆角矩形 20"/>
          <p:cNvSpPr/>
          <p:nvPr/>
        </p:nvSpPr>
        <p:spPr>
          <a:xfrm>
            <a:off x="1983121" y="2787293"/>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PLM</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8" name="圆角矩形 22"/>
          <p:cNvSpPr/>
          <p:nvPr/>
        </p:nvSpPr>
        <p:spPr>
          <a:xfrm>
            <a:off x="2741193" y="2787293"/>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MES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89" name="圆角矩形 23"/>
          <p:cNvSpPr/>
          <p:nvPr/>
        </p:nvSpPr>
        <p:spPr>
          <a:xfrm>
            <a:off x="1983121" y="3133132"/>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APS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0" name="圆角矩形 24"/>
          <p:cNvSpPr/>
          <p:nvPr/>
        </p:nvSpPr>
        <p:spPr>
          <a:xfrm>
            <a:off x="2741193" y="3133132"/>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LES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1" name="圆角矩形 25"/>
          <p:cNvSpPr/>
          <p:nvPr/>
        </p:nvSpPr>
        <p:spPr>
          <a:xfrm>
            <a:off x="1983121" y="3478971"/>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SRM</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2" name="圆角矩形 26"/>
          <p:cNvSpPr/>
          <p:nvPr/>
        </p:nvSpPr>
        <p:spPr>
          <a:xfrm>
            <a:off x="2741193" y="3478971"/>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OMS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3" name="圆角矩形 28"/>
          <p:cNvSpPr/>
          <p:nvPr/>
        </p:nvSpPr>
        <p:spPr>
          <a:xfrm>
            <a:off x="1983121" y="3824810"/>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WMS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4" name="圆角矩形 29"/>
          <p:cNvSpPr/>
          <p:nvPr/>
        </p:nvSpPr>
        <p:spPr>
          <a:xfrm>
            <a:off x="2741193" y="3824810"/>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BMS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5" name="圆角矩形 30"/>
          <p:cNvSpPr/>
          <p:nvPr/>
        </p:nvSpPr>
        <p:spPr>
          <a:xfrm>
            <a:off x="1983121" y="4170649"/>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DMS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6" name="圆角矩形 31"/>
          <p:cNvSpPr/>
          <p:nvPr/>
        </p:nvSpPr>
        <p:spPr>
          <a:xfrm>
            <a:off x="2741193" y="4170649"/>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TPM</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7" name="圆角矩形 32"/>
          <p:cNvSpPr/>
          <p:nvPr/>
        </p:nvSpPr>
        <p:spPr>
          <a:xfrm>
            <a:off x="1983121" y="4516488"/>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资金</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8" name="圆角矩形 33"/>
          <p:cNvSpPr/>
          <p:nvPr/>
        </p:nvSpPr>
        <p:spPr>
          <a:xfrm>
            <a:off x="2741193" y="4516488"/>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费控</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99" name="圆角矩形 34"/>
          <p:cNvSpPr/>
          <p:nvPr/>
        </p:nvSpPr>
        <p:spPr>
          <a:xfrm>
            <a:off x="1947284" y="5759782"/>
            <a:ext cx="661858" cy="292604"/>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ERP</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0" name="圆角矩形 35"/>
          <p:cNvSpPr/>
          <p:nvPr/>
        </p:nvSpPr>
        <p:spPr>
          <a:xfrm>
            <a:off x="1947283" y="6098488"/>
            <a:ext cx="661857" cy="292604"/>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HRMS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1" name="圆角矩形 37"/>
          <p:cNvSpPr/>
          <p:nvPr/>
        </p:nvSpPr>
        <p:spPr>
          <a:xfrm>
            <a:off x="3522234" y="2787293"/>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QMS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2" name="圆角矩形 38"/>
          <p:cNvSpPr/>
          <p:nvPr/>
        </p:nvSpPr>
        <p:spPr>
          <a:xfrm>
            <a:off x="3522234" y="3133132"/>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EAM</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3" name="圆角矩形 39"/>
          <p:cNvSpPr/>
          <p:nvPr/>
        </p:nvSpPr>
        <p:spPr>
          <a:xfrm>
            <a:off x="3522234" y="3478971"/>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TMS</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4" name="圆角矩形 40"/>
          <p:cNvSpPr/>
          <p:nvPr/>
        </p:nvSpPr>
        <p:spPr>
          <a:xfrm>
            <a:off x="3522234" y="3824810"/>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CRM</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5" name="圆角矩形 41"/>
          <p:cNvSpPr/>
          <p:nvPr/>
        </p:nvSpPr>
        <p:spPr>
          <a:xfrm>
            <a:off x="3522234" y="4170649"/>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合同</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6" name="圆角矩形 42"/>
          <p:cNvSpPr/>
          <p:nvPr/>
        </p:nvSpPr>
        <p:spPr>
          <a:xfrm>
            <a:off x="3522234" y="4516488"/>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7" name="圆角矩形 109"/>
          <p:cNvSpPr/>
          <p:nvPr/>
        </p:nvSpPr>
        <p:spPr>
          <a:xfrm>
            <a:off x="1945575" y="1835333"/>
            <a:ext cx="661857"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员工信息</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8" name="圆角矩形 110"/>
          <p:cNvSpPr/>
          <p:nvPr/>
        </p:nvSpPr>
        <p:spPr>
          <a:xfrm>
            <a:off x="2703647" y="1835333"/>
            <a:ext cx="689728"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部门信息</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09" name="圆角矩形 111"/>
          <p:cNvSpPr/>
          <p:nvPr/>
        </p:nvSpPr>
        <p:spPr>
          <a:xfrm>
            <a:off x="1945575" y="2239254"/>
            <a:ext cx="661857"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数据市场</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0" name="圆角矩形 112"/>
          <p:cNvSpPr/>
          <p:nvPr/>
        </p:nvSpPr>
        <p:spPr>
          <a:xfrm>
            <a:off x="2703647" y="2239254"/>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产业链</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1" name="圆角矩形 47"/>
          <p:cNvSpPr/>
          <p:nvPr/>
        </p:nvSpPr>
        <p:spPr>
          <a:xfrm>
            <a:off x="3503391" y="1840887"/>
            <a:ext cx="689728"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企业信息</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2" name="圆角矩形 48"/>
          <p:cNvSpPr/>
          <p:nvPr/>
        </p:nvSpPr>
        <p:spPr>
          <a:xfrm>
            <a:off x="3503391" y="2246229"/>
            <a:ext cx="689728"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公共舆情</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3" name="文本框 112"/>
          <p:cNvSpPr txBox="1"/>
          <p:nvPr/>
        </p:nvSpPr>
        <p:spPr>
          <a:xfrm>
            <a:off x="12024360" y="4465320"/>
            <a:ext cx="184731" cy="369332"/>
          </a:xfrm>
          <a:prstGeom prst="rect">
            <a:avLst/>
          </a:prstGeom>
          <a:noFill/>
        </p:spPr>
        <p:txBody>
          <a:bodyPr wrap="none" rtlCol="0">
            <a:spAutoFit/>
          </a:bodyPr>
          <a:lstStyle/>
          <a:p>
            <a:endParaRPr kumimoji="1" lang="zh-CN" altLang="en-US"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114" name="圆角矩形 45"/>
          <p:cNvSpPr/>
          <p:nvPr/>
        </p:nvSpPr>
        <p:spPr>
          <a:xfrm>
            <a:off x="1222783" y="5765144"/>
            <a:ext cx="624134" cy="635656"/>
          </a:xfrm>
          <a:prstGeom prst="roundRect">
            <a:avLst/>
          </a:prstGeom>
          <a:solidFill>
            <a:srgbClr val="E6E0EC"/>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核心    应用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5" name="圆角矩形 46"/>
          <p:cNvSpPr/>
          <p:nvPr/>
        </p:nvSpPr>
        <p:spPr>
          <a:xfrm>
            <a:off x="3491257" y="5755436"/>
            <a:ext cx="661857" cy="635656"/>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线下    文档</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6" name="圆角矩形 50"/>
          <p:cNvSpPr/>
          <p:nvPr/>
        </p:nvSpPr>
        <p:spPr>
          <a:xfrm>
            <a:off x="1216823" y="2793002"/>
            <a:ext cx="624134" cy="2007598"/>
          </a:xfrm>
          <a:prstGeom prst="roundRect">
            <a:avLst/>
          </a:prstGeom>
          <a:solidFill>
            <a:srgbClr val="E6E0EC"/>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   应用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7" name="圆角矩形 51"/>
          <p:cNvSpPr/>
          <p:nvPr/>
        </p:nvSpPr>
        <p:spPr>
          <a:xfrm>
            <a:off x="1216823" y="4899721"/>
            <a:ext cx="2995139"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企业文档与信息</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8" name="圆角矩形 53"/>
          <p:cNvSpPr/>
          <p:nvPr/>
        </p:nvSpPr>
        <p:spPr>
          <a:xfrm>
            <a:off x="1213296" y="1833524"/>
            <a:ext cx="624134" cy="300076"/>
          </a:xfrm>
          <a:prstGeom prst="roundRect">
            <a:avLst/>
          </a:prstGeom>
          <a:solidFill>
            <a:srgbClr val="E6E0EC"/>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内部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19" name="圆角矩形 54"/>
          <p:cNvSpPr/>
          <p:nvPr/>
        </p:nvSpPr>
        <p:spPr>
          <a:xfrm>
            <a:off x="1211425" y="2234115"/>
            <a:ext cx="624134" cy="300076"/>
          </a:xfrm>
          <a:prstGeom prst="roundRect">
            <a:avLst/>
          </a:prstGeom>
          <a:solidFill>
            <a:srgbClr val="E6E0EC"/>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外部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0" name="圆角矩形 55"/>
          <p:cNvSpPr/>
          <p:nvPr/>
        </p:nvSpPr>
        <p:spPr>
          <a:xfrm>
            <a:off x="2729032" y="5754467"/>
            <a:ext cx="661857" cy="635656"/>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线下    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1" name="文本框 120"/>
          <p:cNvSpPr txBox="1"/>
          <p:nvPr/>
        </p:nvSpPr>
        <p:spPr>
          <a:xfrm>
            <a:off x="7226419" y="1214389"/>
            <a:ext cx="1352140" cy="460375"/>
          </a:xfrm>
          <a:prstGeom prst="rect">
            <a:avLst/>
          </a:prstGeom>
          <a:noFill/>
        </p:spPr>
        <p:txBody>
          <a:bodyPr wrap="square" rtlCol="0">
            <a:spAutoFit/>
          </a:bodyPr>
          <a:lstStyle/>
          <a:p>
            <a:pPr algn="ctr"/>
            <a:r>
              <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数据处理手段</a:t>
            </a:r>
            <a:endParaRPr kumimoji="1" lang="en-US" altLang="zh-CN" sz="1400" b="1" kern="0" dirty="0">
              <a:solidFill>
                <a:sysClr val="windowText" lastClr="000000"/>
              </a:solidFill>
              <a:latin typeface="微软雅黑" panose="020B0503020204020204" pitchFamily="34" charset="-122"/>
              <a:ea typeface="微软雅黑" panose="020B0503020204020204" pitchFamily="34" charset="-122"/>
              <a:cs typeface="Helvetica"/>
            </a:endParaRPr>
          </a:p>
          <a:p>
            <a:pPr algn="ctr"/>
            <a:r>
              <a:rPr kumimoji="1" lang="zh-CN" altLang="en-US" sz="1000" b="1" kern="0" dirty="0">
                <a:solidFill>
                  <a:sysClr val="windowText" lastClr="000000"/>
                </a:solidFill>
                <a:latin typeface="微软雅黑" panose="020B0503020204020204" pitchFamily="34" charset="-122"/>
                <a:ea typeface="微软雅黑" panose="020B0503020204020204" pitchFamily="34" charset="-122"/>
                <a:cs typeface="Helvetica"/>
              </a:rPr>
              <a:t>（采建管存用）</a:t>
            </a:r>
            <a:endParaRPr kumimoji="1" lang="zh-CN" altLang="en-US" sz="1000" b="1"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122" name="圆角矩形 59"/>
          <p:cNvSpPr/>
          <p:nvPr/>
        </p:nvSpPr>
        <p:spPr>
          <a:xfrm>
            <a:off x="7192891" y="4899721"/>
            <a:ext cx="1464532"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AI</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知识库</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知识图谱</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3" name="圆角矩形 66"/>
          <p:cNvSpPr/>
          <p:nvPr/>
        </p:nvSpPr>
        <p:spPr>
          <a:xfrm>
            <a:off x="7158505" y="5808486"/>
            <a:ext cx="994895" cy="264593"/>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报表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4" name="圆角矩形 67"/>
          <p:cNvSpPr/>
          <p:nvPr/>
        </p:nvSpPr>
        <p:spPr>
          <a:xfrm>
            <a:off x="7158505" y="6136207"/>
            <a:ext cx="994895" cy="264593"/>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BI</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5" name="圆角矩形 68"/>
          <p:cNvSpPr/>
          <p:nvPr/>
        </p:nvSpPr>
        <p:spPr>
          <a:xfrm>
            <a:off x="7228914" y="1828800"/>
            <a:ext cx="661857" cy="281879"/>
          </a:xfrm>
          <a:prstGeom prst="roundRect">
            <a:avLst/>
          </a:prstGeom>
          <a:solidFill>
            <a:srgbClr val="F79646">
              <a:lumMod val="60000"/>
              <a:lumOff val="40000"/>
            </a:srgbClr>
          </a:solidFill>
          <a:ln w="25400" cap="flat" cmpd="sng" algn="ctr">
            <a:noFill/>
            <a:prstDash val="solid"/>
          </a:ln>
          <a:effectLst/>
        </p:spPr>
        <p:txBody>
          <a:bodyPr lIns="0" tIns="0" rIns="0" bIns="0" rtlCol="0" anchor="ctr"/>
          <a:lstStyle/>
          <a:p>
            <a:pPr algn="ctr">
              <a:defRPr/>
            </a:pPr>
            <a:r>
              <a:rPr lang="zh-CN" altLang="en-US" sz="900" b="1" kern="0" dirty="0">
                <a:solidFill>
                  <a:prstClr val="black"/>
                </a:solidFill>
                <a:latin typeface="微软雅黑" panose="020B0503020204020204" pitchFamily="34" charset="-122"/>
                <a:ea typeface="微软雅黑" panose="020B0503020204020204" pitchFamily="34" charset="-122"/>
                <a:cs typeface="Helvetica"/>
              </a:rPr>
              <a:t>专项控制塔</a:t>
            </a:r>
            <a:endParaRPr lang="zh-CN" altLang="en-US" sz="9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6" name="圆角矩形 69"/>
          <p:cNvSpPr/>
          <p:nvPr/>
        </p:nvSpPr>
        <p:spPr>
          <a:xfrm>
            <a:off x="7986986" y="1828800"/>
            <a:ext cx="689728" cy="281879"/>
          </a:xfrm>
          <a:prstGeom prst="roundRect">
            <a:avLst/>
          </a:prstGeom>
          <a:solidFill>
            <a:srgbClr val="F79646">
              <a:lumMod val="60000"/>
              <a:lumOff val="40000"/>
            </a:srgbClr>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专业工作台</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7" name="圆角矩形 70"/>
          <p:cNvSpPr/>
          <p:nvPr/>
        </p:nvSpPr>
        <p:spPr>
          <a:xfrm>
            <a:off x="7177426" y="2232721"/>
            <a:ext cx="463135" cy="281879"/>
          </a:xfrm>
          <a:prstGeom prst="roundRect">
            <a:avLst/>
          </a:prstGeom>
          <a:solidFill>
            <a:srgbClr val="F79646">
              <a:lumMod val="60000"/>
              <a:lumOff val="40000"/>
            </a:srgbClr>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算法库</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8" name="圆角矩形 71"/>
          <p:cNvSpPr/>
          <p:nvPr/>
        </p:nvSpPr>
        <p:spPr>
          <a:xfrm>
            <a:off x="7677864" y="2232721"/>
            <a:ext cx="482638" cy="281879"/>
          </a:xfrm>
          <a:prstGeom prst="roundRect">
            <a:avLst/>
          </a:prstGeom>
          <a:solidFill>
            <a:srgbClr val="F79646">
              <a:lumMod val="60000"/>
              <a:lumOff val="40000"/>
            </a:srgbClr>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模型库</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29" name="圆角矩形 73"/>
          <p:cNvSpPr/>
          <p:nvPr/>
        </p:nvSpPr>
        <p:spPr>
          <a:xfrm>
            <a:off x="4990790" y="4917594"/>
            <a:ext cx="1464532" cy="264006"/>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企业知识</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0" name="圆角矩形 74"/>
          <p:cNvSpPr/>
          <p:nvPr/>
        </p:nvSpPr>
        <p:spPr>
          <a:xfrm>
            <a:off x="7193894" y="5252905"/>
            <a:ext cx="1464532"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机器学习</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强化学习</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1" name="右箭头 76"/>
          <p:cNvSpPr/>
          <p:nvPr/>
        </p:nvSpPr>
        <p:spPr>
          <a:xfrm>
            <a:off x="4381469" y="1697572"/>
            <a:ext cx="412496" cy="4751613"/>
          </a:xfrm>
          <a:prstGeom prst="rightArrow">
            <a:avLst>
              <a:gd name="adj1" fmla="val 99416"/>
              <a:gd name="adj2" fmla="val 72168"/>
            </a:avLst>
          </a:prstGeom>
          <a:solidFill>
            <a:srgbClr val="F79646">
              <a:lumMod val="40000"/>
              <a:lumOff val="60000"/>
            </a:srgbClr>
          </a:solidFill>
          <a:ln w="25400" cap="flat" cmpd="sng" algn="ctr">
            <a:solidFill>
              <a:srgbClr val="4F81BD">
                <a:shade val="15000"/>
              </a:srgbClr>
            </a:solidFill>
            <a:prstDash val="solid"/>
          </a:ln>
          <a:effectLst/>
        </p:spPr>
        <p:txBody>
          <a:bodyPr rtlCol="0" anchor="ctr"/>
          <a:lstStyle/>
          <a:p>
            <a:pPr algn="r">
              <a:defRPr/>
            </a:pPr>
            <a:r>
              <a:rPr kumimoji="1" lang="zh-CN" altLang="en-US" sz="1200" b="1" kern="0" dirty="0">
                <a:solidFill>
                  <a:prstClr val="black"/>
                </a:solidFill>
                <a:latin typeface="微软雅黑" panose="020B0503020204020204" pitchFamily="34" charset="-122"/>
                <a:ea typeface="微软雅黑" panose="020B0503020204020204" pitchFamily="34" charset="-122"/>
                <a:cs typeface="Helvetica"/>
              </a:rPr>
              <a:t>数据治理</a:t>
            </a:r>
            <a:endParaRPr kumimoji="1" lang="en-US" altLang="zh-CN" sz="1200" b="1" kern="0" dirty="0">
              <a:solidFill>
                <a:prstClr val="black"/>
              </a:solidFill>
              <a:latin typeface="微软雅黑" panose="020B0503020204020204" pitchFamily="34" charset="-122"/>
              <a:ea typeface="微软雅黑" panose="020B0503020204020204" pitchFamily="34" charset="-122"/>
              <a:cs typeface="Helvetica"/>
            </a:endParaRPr>
          </a:p>
          <a:p>
            <a:pPr algn="r">
              <a:defRPr/>
            </a:pPr>
            <a:r>
              <a:rPr kumimoji="1" lang="en-US" altLang="zh-CN" sz="1200" b="1" kern="0" dirty="0">
                <a:solidFill>
                  <a:prstClr val="black"/>
                </a:solidFill>
                <a:latin typeface="微软雅黑" panose="020B0503020204020204" pitchFamily="34" charset="-122"/>
                <a:ea typeface="微软雅黑" panose="020B0503020204020204" pitchFamily="34" charset="-122"/>
                <a:cs typeface="Helvetica"/>
              </a:rPr>
              <a:t>1-</a:t>
            </a:r>
            <a:endParaRPr kumimoji="1" lang="en-US" altLang="zh-CN" sz="1200" b="1" kern="0" dirty="0">
              <a:solidFill>
                <a:prstClr val="black"/>
              </a:solidFill>
              <a:latin typeface="微软雅黑" panose="020B0503020204020204" pitchFamily="34" charset="-122"/>
              <a:ea typeface="微软雅黑" panose="020B0503020204020204" pitchFamily="34" charset="-122"/>
              <a:cs typeface="Helvetica"/>
            </a:endParaRPr>
          </a:p>
          <a:p>
            <a:pPr algn="r">
              <a:defRPr/>
            </a:pPr>
            <a:r>
              <a:rPr kumimoji="1" lang="zh-CN" altLang="en-US" sz="1000" kern="0" dirty="0">
                <a:solidFill>
                  <a:prstClr val="black"/>
                </a:solidFill>
                <a:latin typeface="微软雅黑" panose="020B0503020204020204" pitchFamily="34" charset="-122"/>
                <a:ea typeface="微软雅黑" panose="020B0503020204020204" pitchFamily="34" charset="-122"/>
                <a:cs typeface="Helvetica"/>
              </a:rPr>
              <a:t>组织</a:t>
            </a:r>
            <a:r>
              <a:rPr kumimoji="1" lang="en-US" altLang="zh-CN" sz="1000" kern="0" dirty="0">
                <a:solidFill>
                  <a:prstClr val="black"/>
                </a:solidFill>
                <a:latin typeface="微软雅黑" panose="020B0503020204020204" pitchFamily="34" charset="-122"/>
                <a:ea typeface="微软雅黑" panose="020B0503020204020204" pitchFamily="34" charset="-122"/>
                <a:cs typeface="Helvetica"/>
              </a:rPr>
              <a:t>/</a:t>
            </a:r>
            <a:r>
              <a:rPr kumimoji="1" lang="zh-CN" altLang="en-US" sz="1000" kern="0" dirty="0">
                <a:solidFill>
                  <a:prstClr val="black"/>
                </a:solidFill>
                <a:latin typeface="微软雅黑" panose="020B0503020204020204" pitchFamily="34" charset="-122"/>
                <a:ea typeface="微软雅黑" panose="020B0503020204020204" pitchFamily="34" charset="-122"/>
                <a:cs typeface="Helvetica"/>
              </a:rPr>
              <a:t>制度</a:t>
            </a:r>
            <a:r>
              <a:rPr kumimoji="1" lang="en-US" altLang="zh-CN" sz="1000" kern="0" dirty="0">
                <a:solidFill>
                  <a:prstClr val="black"/>
                </a:solidFill>
                <a:latin typeface="微软雅黑" panose="020B0503020204020204" pitchFamily="34" charset="-122"/>
                <a:ea typeface="微软雅黑" panose="020B0503020204020204" pitchFamily="34" charset="-122"/>
                <a:cs typeface="Helvetica"/>
              </a:rPr>
              <a:t>/</a:t>
            </a:r>
            <a:r>
              <a:rPr kumimoji="1" lang="zh-CN" altLang="en-US" sz="1000" kern="0" dirty="0">
                <a:solidFill>
                  <a:prstClr val="black"/>
                </a:solidFill>
                <a:latin typeface="微软雅黑" panose="020B0503020204020204" pitchFamily="34" charset="-122"/>
                <a:ea typeface="微软雅黑" panose="020B0503020204020204" pitchFamily="34" charset="-122"/>
                <a:cs typeface="Helvetica"/>
              </a:rPr>
              <a:t>标准</a:t>
            </a:r>
            <a:endParaRPr kumimoji="1" lang="zh-CN" altLang="en-US" sz="10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2" name="文本框 131"/>
          <p:cNvSpPr txBox="1"/>
          <p:nvPr/>
        </p:nvSpPr>
        <p:spPr>
          <a:xfrm>
            <a:off x="9360019" y="1213790"/>
            <a:ext cx="1352140" cy="306705"/>
          </a:xfrm>
          <a:prstGeom prst="rect">
            <a:avLst/>
          </a:prstGeom>
          <a:noFill/>
        </p:spPr>
        <p:txBody>
          <a:bodyPr wrap="square" rtlCol="0">
            <a:spAutoFit/>
          </a:bodyPr>
          <a:lstStyle/>
          <a:p>
            <a:pPr algn="ctr"/>
            <a:r>
              <a:rPr kumimoji="1" lang="zh-CN" altLang="en-US" sz="1400" b="1" kern="0" dirty="0">
                <a:solidFill>
                  <a:sysClr val="windowText" lastClr="000000"/>
                </a:solidFill>
                <a:latin typeface="微软雅黑" panose="020B0503020204020204" pitchFamily="34" charset="-122"/>
                <a:ea typeface="微软雅黑" panose="020B0503020204020204" pitchFamily="34" charset="-122"/>
                <a:cs typeface="Helvetica"/>
              </a:rPr>
              <a:t>数据消费</a:t>
            </a:r>
            <a:endParaRPr kumimoji="1" lang="en-US" altLang="zh-CN" sz="1400" b="1" kern="0" dirty="0">
              <a:solidFill>
                <a:sysClr val="windowText" lastClr="000000"/>
              </a:solidFill>
              <a:latin typeface="微软雅黑" panose="020B0503020204020204" pitchFamily="34" charset="-122"/>
              <a:ea typeface="微软雅黑" panose="020B0503020204020204" pitchFamily="34" charset="-122"/>
              <a:cs typeface="Helvetica"/>
            </a:endParaRPr>
          </a:p>
        </p:txBody>
      </p:sp>
      <p:sp>
        <p:nvSpPr>
          <p:cNvPr id="133" name="圆角矩形 87"/>
          <p:cNvSpPr/>
          <p:nvPr/>
        </p:nvSpPr>
        <p:spPr>
          <a:xfrm>
            <a:off x="9329795" y="4946657"/>
            <a:ext cx="1464532"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AI</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助理</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4" name="圆角矩形 113"/>
          <p:cNvSpPr/>
          <p:nvPr/>
        </p:nvSpPr>
        <p:spPr>
          <a:xfrm>
            <a:off x="9292105" y="5808486"/>
            <a:ext cx="1066651" cy="263994"/>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业财报表</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5" name="圆角矩形 114"/>
          <p:cNvSpPr/>
          <p:nvPr/>
        </p:nvSpPr>
        <p:spPr>
          <a:xfrm>
            <a:off x="9292105" y="6136207"/>
            <a:ext cx="1066651" cy="263994"/>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经营统计与分析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6" name="圆角矩形 115"/>
          <p:cNvSpPr/>
          <p:nvPr/>
        </p:nvSpPr>
        <p:spPr>
          <a:xfrm>
            <a:off x="9291956" y="1828201"/>
            <a:ext cx="338545" cy="330882"/>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IPD</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7" name="圆角矩形 116"/>
          <p:cNvSpPr/>
          <p:nvPr/>
        </p:nvSpPr>
        <p:spPr>
          <a:xfrm>
            <a:off x="9677400" y="1828201"/>
            <a:ext cx="318814" cy="305399"/>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ISC</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8" name="圆角矩形 124"/>
          <p:cNvSpPr/>
          <p:nvPr/>
        </p:nvSpPr>
        <p:spPr>
          <a:xfrm>
            <a:off x="9291956" y="2232122"/>
            <a:ext cx="732415" cy="305399"/>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企业大脑</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39" name="圆角矩形 127"/>
          <p:cNvSpPr/>
          <p:nvPr/>
        </p:nvSpPr>
        <p:spPr>
          <a:xfrm>
            <a:off x="10120586" y="2232122"/>
            <a:ext cx="689728" cy="281879"/>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数字</a:t>
            </a:r>
            <a:r>
              <a:rPr lang="en-US" altLang="zh-CN" sz="1000" b="1" kern="0" dirty="0">
                <a:solidFill>
                  <a:prstClr val="black"/>
                </a:solidFill>
                <a:latin typeface="微软雅黑" panose="020B0503020204020204" pitchFamily="34" charset="-122"/>
                <a:ea typeface="微软雅黑" panose="020B0503020204020204" pitchFamily="34" charset="-122"/>
                <a:cs typeface="Helvetica"/>
              </a:rPr>
              <a:t>CXO</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0" name="圆角矩形 128"/>
          <p:cNvSpPr/>
          <p:nvPr/>
        </p:nvSpPr>
        <p:spPr>
          <a:xfrm>
            <a:off x="9341853" y="5267169"/>
            <a:ext cx="1464532"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业务改进分析</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1" name="圆角矩形 134"/>
          <p:cNvSpPr/>
          <p:nvPr/>
        </p:nvSpPr>
        <p:spPr>
          <a:xfrm>
            <a:off x="11145075" y="1836829"/>
            <a:ext cx="689728" cy="281879"/>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CXO</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2" name="圆角矩形 135"/>
          <p:cNvSpPr/>
          <p:nvPr/>
        </p:nvSpPr>
        <p:spPr>
          <a:xfrm>
            <a:off x="11145075" y="2240750"/>
            <a:ext cx="689728" cy="281879"/>
          </a:xfrm>
          <a:prstGeom prst="roundRect">
            <a:avLst/>
          </a:prstGeom>
          <a:solidFill>
            <a:sysClr val="window" lastClr="FFFFFF"/>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员工</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3" name="圆角矩形 2"/>
          <p:cNvSpPr/>
          <p:nvPr/>
        </p:nvSpPr>
        <p:spPr>
          <a:xfrm>
            <a:off x="149513" y="1168253"/>
            <a:ext cx="689728"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000" b="1" kern="0" dirty="0">
                <a:solidFill>
                  <a:prstClr val="black"/>
                </a:solidFill>
                <a:latin typeface="微软雅黑" panose="020B0503020204020204" pitchFamily="34" charset="-122"/>
                <a:ea typeface="微软雅黑" panose="020B0503020204020204" pitchFamily="34" charset="-122"/>
                <a:cs typeface="Helvetica"/>
              </a:rPr>
              <a:t>结构化数据</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4" name="圆角矩形 3"/>
          <p:cNvSpPr/>
          <p:nvPr/>
        </p:nvSpPr>
        <p:spPr>
          <a:xfrm>
            <a:off x="146899" y="1524000"/>
            <a:ext cx="689728" cy="281879"/>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800" b="1" kern="0" dirty="0">
                <a:solidFill>
                  <a:prstClr val="black"/>
                </a:solidFill>
                <a:latin typeface="微软雅黑" panose="020B0503020204020204" pitchFamily="34" charset="-122"/>
                <a:ea typeface="微软雅黑" panose="020B0503020204020204" pitchFamily="34" charset="-122"/>
                <a:cs typeface="Helvetica"/>
              </a:rPr>
              <a:t>非结构化数据</a:t>
            </a:r>
            <a:endParaRPr lang="zh-CN" altLang="en-US" sz="8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5" name="圆角矩形 4"/>
          <p:cNvSpPr/>
          <p:nvPr/>
        </p:nvSpPr>
        <p:spPr>
          <a:xfrm>
            <a:off x="5984859" y="5788369"/>
            <a:ext cx="471118" cy="635656"/>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电子    文档</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6" name="圆角矩形 6"/>
          <p:cNvSpPr/>
          <p:nvPr/>
        </p:nvSpPr>
        <p:spPr>
          <a:xfrm>
            <a:off x="8220278" y="5807433"/>
            <a:ext cx="471118" cy="635656"/>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电子    文档库</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7" name="圆角矩形 7"/>
          <p:cNvSpPr/>
          <p:nvPr/>
        </p:nvSpPr>
        <p:spPr>
          <a:xfrm>
            <a:off x="10386570" y="5807433"/>
            <a:ext cx="471118" cy="635656"/>
          </a:xfrm>
          <a:prstGeom prst="roundRect">
            <a:avLst/>
          </a:prstGeom>
          <a:solidFill>
            <a:sysClr val="window" lastClr="FFFFFF">
              <a:lumMod val="75000"/>
            </a:sys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企业知识库</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8" name="右箭头 8"/>
          <p:cNvSpPr/>
          <p:nvPr/>
        </p:nvSpPr>
        <p:spPr>
          <a:xfrm>
            <a:off x="6597904" y="1686261"/>
            <a:ext cx="412496" cy="4751613"/>
          </a:xfrm>
          <a:prstGeom prst="rightArrow">
            <a:avLst>
              <a:gd name="adj1" fmla="val 99416"/>
              <a:gd name="adj2" fmla="val 72168"/>
            </a:avLst>
          </a:prstGeom>
          <a:solidFill>
            <a:srgbClr val="F79646">
              <a:lumMod val="40000"/>
              <a:lumOff val="60000"/>
            </a:srgbClr>
          </a:solidFill>
          <a:ln w="25400" cap="flat" cmpd="sng" algn="ctr">
            <a:solidFill>
              <a:srgbClr val="4F81BD">
                <a:shade val="15000"/>
              </a:srgbClr>
            </a:solidFill>
            <a:prstDash val="solid"/>
          </a:ln>
          <a:effectLst/>
        </p:spPr>
        <p:txBody>
          <a:bodyPr rtlCol="0" anchor="ctr"/>
          <a:lstStyle/>
          <a:p>
            <a:pPr algn="r">
              <a:defRPr/>
            </a:pPr>
            <a:r>
              <a:rPr kumimoji="1" lang="zh-CN" altLang="en-US" sz="1200" b="1" kern="0" dirty="0">
                <a:solidFill>
                  <a:prstClr val="black"/>
                </a:solidFill>
                <a:latin typeface="微软雅黑" panose="020B0503020204020204" pitchFamily="34" charset="-122"/>
                <a:ea typeface="微软雅黑" panose="020B0503020204020204" pitchFamily="34" charset="-122"/>
                <a:cs typeface="Helvetica"/>
              </a:rPr>
              <a:t>数据治理</a:t>
            </a:r>
            <a:endParaRPr kumimoji="1" lang="en-US" altLang="zh-CN" sz="1200" b="1" kern="0" dirty="0">
              <a:solidFill>
                <a:prstClr val="black"/>
              </a:solidFill>
              <a:latin typeface="微软雅黑" panose="020B0503020204020204" pitchFamily="34" charset="-122"/>
              <a:ea typeface="微软雅黑" panose="020B0503020204020204" pitchFamily="34" charset="-122"/>
              <a:cs typeface="Helvetica"/>
            </a:endParaRPr>
          </a:p>
          <a:p>
            <a:pPr algn="r">
              <a:defRPr/>
            </a:pPr>
            <a:r>
              <a:rPr kumimoji="1" lang="en-US" altLang="zh-CN" sz="1200" b="1" kern="0" dirty="0">
                <a:solidFill>
                  <a:prstClr val="black"/>
                </a:solidFill>
                <a:latin typeface="微软雅黑" panose="020B0503020204020204" pitchFamily="34" charset="-122"/>
                <a:ea typeface="微软雅黑" panose="020B0503020204020204" pitchFamily="34" charset="-122"/>
                <a:cs typeface="Helvetica"/>
              </a:rPr>
              <a:t>2-</a:t>
            </a:r>
            <a:r>
              <a:rPr kumimoji="1" lang="zh-CN" altLang="en-US" sz="1000" kern="0" dirty="0">
                <a:solidFill>
                  <a:prstClr val="black"/>
                </a:solidFill>
                <a:latin typeface="微软雅黑" panose="020B0503020204020204" pitchFamily="34" charset="-122"/>
                <a:ea typeface="微软雅黑" panose="020B0503020204020204" pitchFamily="34" charset="-122"/>
                <a:cs typeface="Helvetica"/>
              </a:rPr>
              <a:t>工具</a:t>
            </a:r>
            <a:endParaRPr kumimoji="1" lang="zh-CN" altLang="en-US" sz="10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9" name="右箭头 11"/>
          <p:cNvSpPr/>
          <p:nvPr/>
        </p:nvSpPr>
        <p:spPr>
          <a:xfrm>
            <a:off x="8839200" y="1697572"/>
            <a:ext cx="412496" cy="4751613"/>
          </a:xfrm>
          <a:prstGeom prst="rightArrow">
            <a:avLst>
              <a:gd name="adj1" fmla="val 99416"/>
              <a:gd name="adj2" fmla="val 72168"/>
            </a:avLst>
          </a:prstGeom>
          <a:solidFill>
            <a:srgbClr val="F79646">
              <a:lumMod val="40000"/>
              <a:lumOff val="60000"/>
            </a:srgbClr>
          </a:solidFill>
          <a:ln w="25400" cap="flat" cmpd="sng" algn="ctr">
            <a:solidFill>
              <a:srgbClr val="4F81BD">
                <a:shade val="15000"/>
              </a:srgbClr>
            </a:solidFill>
            <a:prstDash val="solid"/>
          </a:ln>
          <a:effectLst/>
        </p:spPr>
        <p:txBody>
          <a:bodyPr rtlCol="0" anchor="ctr"/>
          <a:lstStyle/>
          <a:p>
            <a:pPr algn="r">
              <a:defRPr/>
            </a:pPr>
            <a:r>
              <a:rPr kumimoji="1" lang="zh-CN" altLang="en-US" sz="1200" b="1" kern="0" dirty="0">
                <a:solidFill>
                  <a:prstClr val="black"/>
                </a:solidFill>
                <a:latin typeface="微软雅黑" panose="020B0503020204020204" pitchFamily="34" charset="-122"/>
                <a:ea typeface="微软雅黑" panose="020B0503020204020204" pitchFamily="34" charset="-122"/>
                <a:cs typeface="Helvetica"/>
              </a:rPr>
              <a:t>数据治理</a:t>
            </a:r>
            <a:endParaRPr kumimoji="1" lang="en-US" altLang="zh-CN" sz="1200" b="1" kern="0" dirty="0">
              <a:solidFill>
                <a:prstClr val="black"/>
              </a:solidFill>
              <a:latin typeface="微软雅黑" panose="020B0503020204020204" pitchFamily="34" charset="-122"/>
              <a:ea typeface="微软雅黑" panose="020B0503020204020204" pitchFamily="34" charset="-122"/>
              <a:cs typeface="Helvetica"/>
            </a:endParaRPr>
          </a:p>
          <a:p>
            <a:pPr algn="r">
              <a:defRPr/>
            </a:pPr>
            <a:r>
              <a:rPr kumimoji="1" lang="en-US" altLang="zh-CN" sz="1200" b="1" kern="0" dirty="0">
                <a:solidFill>
                  <a:prstClr val="black"/>
                </a:solidFill>
                <a:latin typeface="微软雅黑" panose="020B0503020204020204" pitchFamily="34" charset="-122"/>
                <a:ea typeface="微软雅黑" panose="020B0503020204020204" pitchFamily="34" charset="-122"/>
                <a:cs typeface="Helvetica"/>
              </a:rPr>
              <a:t>3-</a:t>
            </a:r>
            <a:r>
              <a:rPr kumimoji="1" lang="zh-CN" altLang="en-US" sz="1000" kern="0" dirty="0">
                <a:solidFill>
                  <a:prstClr val="black"/>
                </a:solidFill>
                <a:latin typeface="微软雅黑" panose="020B0503020204020204" pitchFamily="34" charset="-122"/>
                <a:ea typeface="微软雅黑" panose="020B0503020204020204" pitchFamily="34" charset="-122"/>
                <a:cs typeface="Helvetica"/>
              </a:rPr>
              <a:t>活动</a:t>
            </a:r>
            <a:endParaRPr kumimoji="1" lang="zh-CN" altLang="en-US" sz="10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0" name="圆角矩形 14"/>
          <p:cNvSpPr/>
          <p:nvPr/>
        </p:nvSpPr>
        <p:spPr>
          <a:xfrm>
            <a:off x="4984605" y="43081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人资管理数据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1" name="圆角矩形 19"/>
          <p:cNvSpPr/>
          <p:nvPr/>
        </p:nvSpPr>
        <p:spPr>
          <a:xfrm>
            <a:off x="4973953" y="4630921"/>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其他专项管理数据</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2" name="圆角矩形 60"/>
          <p:cNvSpPr/>
          <p:nvPr/>
        </p:nvSpPr>
        <p:spPr>
          <a:xfrm>
            <a:off x="7179637" y="2745305"/>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数据采集</a:t>
            </a:r>
            <a:r>
              <a:rPr lang="zh-CN" altLang="en-US" sz="600" b="1" kern="0" dirty="0">
                <a:solidFill>
                  <a:prstClr val="black"/>
                </a:solidFill>
                <a:latin typeface="微软雅黑" panose="020B0503020204020204" pitchFamily="34" charset="-122"/>
                <a:ea typeface="微软雅黑" panose="020B0503020204020204" pitchFamily="34" charset="-122"/>
                <a:cs typeface="Helvetica"/>
              </a:rPr>
              <a:t>（</a:t>
            </a:r>
            <a:r>
              <a:rPr lang="en-GB" altLang="zh-CN" sz="600" b="1" kern="0" dirty="0">
                <a:solidFill>
                  <a:prstClr val="black"/>
                </a:solidFill>
                <a:latin typeface="微软雅黑" panose="020B0503020204020204" pitchFamily="34" charset="-122"/>
                <a:ea typeface="微软雅黑" panose="020B0503020204020204" pitchFamily="34" charset="-122"/>
                <a:cs typeface="Helvetica"/>
              </a:rPr>
              <a:t>IOT/RPA</a:t>
            </a:r>
            <a:r>
              <a:rPr lang="en-US" altLang="zh-CN" sz="600" b="1" kern="0" dirty="0">
                <a:solidFill>
                  <a:prstClr val="black"/>
                </a:solidFill>
                <a:latin typeface="微软雅黑" panose="020B0503020204020204" pitchFamily="34" charset="-122"/>
                <a:ea typeface="微软雅黑" panose="020B0503020204020204" pitchFamily="34" charset="-122"/>
                <a:cs typeface="Helvetica"/>
              </a:rPr>
              <a:t>/Mobile</a:t>
            </a:r>
            <a:r>
              <a:rPr lang="zh-CN" altLang="en-GB" sz="600" b="1" kern="0" dirty="0">
                <a:solidFill>
                  <a:prstClr val="black"/>
                </a:solidFill>
                <a:latin typeface="微软雅黑" panose="020B0503020204020204" pitchFamily="34" charset="-122"/>
                <a:ea typeface="微软雅黑" panose="020B0503020204020204" pitchFamily="34" charset="-122"/>
                <a:cs typeface="Helvetica"/>
              </a:rPr>
              <a:t>）</a:t>
            </a:r>
            <a:endParaRPr lang="zh-CN" altLang="en-GB"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3" name="圆角矩形 61"/>
          <p:cNvSpPr/>
          <p:nvPr/>
        </p:nvSpPr>
        <p:spPr>
          <a:xfrm>
            <a:off x="7173452" y="30651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数据仓库</a:t>
            </a: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数据湖</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4" name="圆角矩形 62"/>
          <p:cNvSpPr/>
          <p:nvPr/>
        </p:nvSpPr>
        <p:spPr>
          <a:xfrm>
            <a:off x="7179637" y="33699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主题集市</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5" name="圆角矩形 64"/>
          <p:cNvSpPr/>
          <p:nvPr/>
        </p:nvSpPr>
        <p:spPr>
          <a:xfrm>
            <a:off x="7191229" y="36747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对象标签库</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6" name="圆角矩形 65"/>
          <p:cNvSpPr/>
          <p:nvPr/>
        </p:nvSpPr>
        <p:spPr>
          <a:xfrm>
            <a:off x="7184104" y="39795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业务指标库</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7" name="圆角矩形 72"/>
          <p:cNvSpPr/>
          <p:nvPr/>
        </p:nvSpPr>
        <p:spPr>
          <a:xfrm>
            <a:off x="7173452" y="43023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管理驾驶舱</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8" name="圆角矩形 75"/>
          <p:cNvSpPr/>
          <p:nvPr/>
        </p:nvSpPr>
        <p:spPr>
          <a:xfrm>
            <a:off x="7162800" y="4625186"/>
            <a:ext cx="1464532" cy="281879"/>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业务看板</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59" name="圆角矩形 80"/>
          <p:cNvSpPr/>
          <p:nvPr/>
        </p:nvSpPr>
        <p:spPr>
          <a:xfrm>
            <a:off x="8204162" y="2246229"/>
            <a:ext cx="482638" cy="281879"/>
          </a:xfrm>
          <a:prstGeom prst="roundRect">
            <a:avLst/>
          </a:prstGeom>
          <a:solidFill>
            <a:srgbClr val="F79646">
              <a:lumMod val="60000"/>
              <a:lumOff val="40000"/>
            </a:srgbClr>
          </a:solidFill>
          <a:ln w="25400" cap="flat" cmpd="sng" algn="ctr">
            <a:noFill/>
            <a:prstDash val="solid"/>
          </a:ln>
          <a:effectLst/>
        </p:spPr>
        <p:txBody>
          <a:bodyPr lIns="0" tIns="0" rIns="0" bIns="0" rtlCol="0" anchor="ctr"/>
          <a:lstStyle/>
          <a:p>
            <a:pPr algn="ctr">
              <a:defRPr/>
            </a:pPr>
            <a:r>
              <a:rPr lang="en-US" altLang="zh-CN" sz="1000" b="1" kern="0" dirty="0">
                <a:solidFill>
                  <a:prstClr val="black"/>
                </a:solidFill>
                <a:latin typeface="微软雅黑" panose="020B0503020204020204" pitchFamily="34" charset="-122"/>
                <a:ea typeface="微软雅黑" panose="020B0503020204020204" pitchFamily="34" charset="-122"/>
                <a:cs typeface="Helvetica"/>
              </a:rPr>
              <a:t>Agent</a:t>
            </a:r>
            <a:endParaRPr lang="zh-CN" altLang="en-US" sz="10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0" name="圆角矩形 81"/>
          <p:cNvSpPr/>
          <p:nvPr/>
        </p:nvSpPr>
        <p:spPr>
          <a:xfrm>
            <a:off x="10058400" y="1828800"/>
            <a:ext cx="318814" cy="305399"/>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LTC</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1" name="圆角矩形 82"/>
          <p:cNvSpPr/>
          <p:nvPr/>
        </p:nvSpPr>
        <p:spPr>
          <a:xfrm>
            <a:off x="10448859" y="1839872"/>
            <a:ext cx="318814" cy="305399"/>
          </a:xfrm>
          <a:prstGeom prst="roundRect">
            <a:avLst/>
          </a:prstGeom>
          <a:solidFill>
            <a:srgbClr val="9BBB59">
              <a:lumMod val="60000"/>
              <a:lumOff val="40000"/>
            </a:srgbClr>
          </a:solidFill>
          <a:ln w="25400" cap="flat" cmpd="sng" algn="ctr">
            <a:noFill/>
            <a:prstDash val="solid"/>
          </a:ln>
          <a:effectLst/>
        </p:spPr>
        <p:txBody>
          <a:bodyPr lIns="0" tIns="0" rIns="0" bIns="0" rtlCol="0" anchor="ctr"/>
          <a:lstStyle/>
          <a:p>
            <a:pPr algn="ctr">
              <a:defRPr/>
            </a:pPr>
            <a:r>
              <a:rPr lang="en-US" altLang="zh-CN" sz="1200" b="1" kern="0" dirty="0">
                <a:solidFill>
                  <a:prstClr val="black"/>
                </a:solidFill>
                <a:latin typeface="微软雅黑" panose="020B0503020204020204" pitchFamily="34" charset="-122"/>
                <a:ea typeface="微软雅黑" panose="020B0503020204020204" pitchFamily="34" charset="-122"/>
                <a:cs typeface="Helvetica"/>
              </a:rPr>
              <a:t>IFS</a:t>
            </a:r>
            <a:endParaRPr lang="en-US" altLang="zh-CN" sz="12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2" name="圆角矩形 83"/>
          <p:cNvSpPr/>
          <p:nvPr/>
        </p:nvSpPr>
        <p:spPr>
          <a:xfrm>
            <a:off x="9351890" y="2749292"/>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研发分析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3" name="圆角矩形 84"/>
          <p:cNvSpPr/>
          <p:nvPr/>
        </p:nvSpPr>
        <p:spPr>
          <a:xfrm>
            <a:off x="9345705" y="30691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生产分析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4" name="圆角矩形 88"/>
          <p:cNvSpPr/>
          <p:nvPr/>
        </p:nvSpPr>
        <p:spPr>
          <a:xfrm>
            <a:off x="9351890" y="33739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供应链分析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5" name="圆角矩形 90"/>
          <p:cNvSpPr/>
          <p:nvPr/>
        </p:nvSpPr>
        <p:spPr>
          <a:xfrm>
            <a:off x="9363482" y="36787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销售</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客服分析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6" name="圆角矩形 91"/>
          <p:cNvSpPr/>
          <p:nvPr/>
        </p:nvSpPr>
        <p:spPr>
          <a:xfrm>
            <a:off x="9356357" y="39835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财务分析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7" name="圆角矩形 93"/>
          <p:cNvSpPr/>
          <p:nvPr/>
        </p:nvSpPr>
        <p:spPr>
          <a:xfrm>
            <a:off x="9345705" y="43063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人资分析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8" name="圆角矩形 94"/>
          <p:cNvSpPr/>
          <p:nvPr/>
        </p:nvSpPr>
        <p:spPr>
          <a:xfrm>
            <a:off x="9335053" y="4629173"/>
            <a:ext cx="1017495" cy="283628"/>
          </a:xfrm>
          <a:prstGeom prst="roundRect">
            <a:avLst/>
          </a:prstGeom>
          <a:solidFill>
            <a:srgbClr val="4BACC6">
              <a:lumMod val="40000"/>
              <a:lumOff val="60000"/>
            </a:srgbClr>
          </a:solidFill>
          <a:ln w="25400" cap="flat" cmpd="sng" algn="ctr">
            <a:noFill/>
            <a:prstDash val="solid"/>
          </a:ln>
          <a:effectLst/>
        </p:spPr>
        <p:txBody>
          <a:bodyPr lIns="0" tIns="0" rIns="0" bIns="0" rtlCol="0" anchor="ctr"/>
          <a:lstStyle/>
          <a:p>
            <a:pPr algn="ctr">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其他专项分析</a:t>
            </a:r>
            <a:endParaRPr lang="zh-CN" altLang="en-US" sz="1100" b="1"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69" name="圆角矩形 5"/>
          <p:cNvSpPr/>
          <p:nvPr/>
        </p:nvSpPr>
        <p:spPr>
          <a:xfrm>
            <a:off x="10413681" y="2757804"/>
            <a:ext cx="330519" cy="2141917"/>
          </a:xfrm>
          <a:prstGeom prst="roundRect">
            <a:avLst/>
          </a:prstGeom>
          <a:solidFill>
            <a:srgbClr val="4BACC6">
              <a:lumMod val="60000"/>
              <a:lumOff val="40000"/>
            </a:srgbClr>
          </a:solidFill>
          <a:ln w="25400" cap="flat" cmpd="sng" algn="ctr">
            <a:noFill/>
            <a:prstDash val="solid"/>
          </a:ln>
          <a:effectLst/>
        </p:spPr>
        <p:txBody>
          <a:bodyPr lIns="0" tIns="0" rIns="0" bIns="0" rtlCol="0" anchor="ctr"/>
          <a:lstStyle/>
          <a:p>
            <a:pPr algn="ctr">
              <a:defRPr/>
            </a:pPr>
            <a:r>
              <a:rPr lang="zh-CN" altLang="en-US" sz="1200" b="1" kern="0" dirty="0">
                <a:solidFill>
                  <a:prstClr val="black"/>
                </a:solidFill>
                <a:latin typeface="微软雅黑" panose="020B0503020204020204" pitchFamily="34" charset="-122"/>
                <a:ea typeface="微软雅黑" panose="020B0503020204020204" pitchFamily="34" charset="-122"/>
                <a:cs typeface="Helvetica"/>
              </a:rPr>
              <a:t>主数据管理</a:t>
            </a:r>
            <a:endParaRPr lang="zh-CN" altLang="en-US" sz="1200" b="1" kern="0" dirty="0">
              <a:solidFill>
                <a:prstClr val="black"/>
              </a:solidFill>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lumMod val="95000"/>
                    <a:lumOff val="5000"/>
                  </a:schemeClr>
                </a:solidFill>
                <a:latin typeface="微软雅黑" charset="0"/>
                <a:ea typeface="微软雅黑" charset="0"/>
                <a:cs typeface="微软雅黑" charset="0"/>
              </a:rPr>
              <a:t>指标分析现状</a:t>
            </a:r>
            <a:endParaRPr lang="zh-CN" altLang="en-US" dirty="0">
              <a:solidFill>
                <a:schemeClr val="tx1">
                  <a:lumMod val="95000"/>
                  <a:lumOff val="5000"/>
                </a:schemeClr>
              </a:solidFill>
              <a:latin typeface="微软雅黑" charset="0"/>
              <a:ea typeface="微软雅黑" charset="0"/>
              <a:cs typeface="微软雅黑" charset="0"/>
            </a:endParaRPr>
          </a:p>
        </p:txBody>
      </p:sp>
      <p:sp>
        <p:nvSpPr>
          <p:cNvPr id="3" name="灯片编号占位符 2"/>
          <p:cNvSpPr>
            <a:spLocks noGrp="1"/>
          </p:cNvSpPr>
          <p:nvPr>
            <p:ph type="sldNum" sz="quarter" idx="11"/>
          </p:nvPr>
        </p:nvSpPr>
        <p:spPr/>
        <p:txBody>
          <a:bodyPr/>
          <a:lstStyle/>
          <a:p>
            <a:fld id="{629B06DC-B081-48FF-B3C8-294D2105EA92}" type="slidenum">
              <a:rPr lang="zh-CN" altLang="en-US" smtClean="0">
                <a:latin typeface="微软雅黑" charset="0"/>
                <a:ea typeface="微软雅黑" charset="0"/>
                <a:cs typeface="微软雅黑" charset="0"/>
              </a:rPr>
            </a:fld>
            <a:endParaRPr lang="zh-CN" altLang="en-US" dirty="0">
              <a:latin typeface="微软雅黑" charset="0"/>
              <a:ea typeface="微软雅黑" charset="0"/>
              <a:cs typeface="微软雅黑" charset="0"/>
            </a:endParaRPr>
          </a:p>
        </p:txBody>
      </p:sp>
      <p:sp>
        <p:nvSpPr>
          <p:cNvPr id="115" name="ïṡḷiḍê"/>
          <p:cNvSpPr txBox="1"/>
          <p:nvPr/>
        </p:nvSpPr>
        <p:spPr bwMode="auto">
          <a:xfrm>
            <a:off x="535433" y="780947"/>
            <a:ext cx="2196000" cy="828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charset="0"/>
                <a:ea typeface="微软雅黑" charset="0"/>
                <a:cs typeface="微软雅黑" charset="0"/>
              </a:rPr>
              <a:t>分析断层，溯源困难</a:t>
            </a:r>
            <a:endParaRPr lang="zh-CN" altLang="en-US" dirty="0">
              <a:solidFill>
                <a:schemeClr val="bg1"/>
              </a:solidFill>
              <a:latin typeface="微软雅黑" charset="0"/>
              <a:ea typeface="微软雅黑" charset="0"/>
              <a:cs typeface="微软雅黑" charset="0"/>
            </a:endParaRPr>
          </a:p>
        </p:txBody>
      </p:sp>
      <p:sp>
        <p:nvSpPr>
          <p:cNvPr id="116" name="i$ľïdé"/>
          <p:cNvSpPr txBox="1"/>
          <p:nvPr/>
        </p:nvSpPr>
        <p:spPr bwMode="auto">
          <a:xfrm>
            <a:off x="535433" y="1735010"/>
            <a:ext cx="2196000" cy="1548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charset="0"/>
                <a:ea typeface="微软雅黑" charset="0"/>
                <a:cs typeface="微软雅黑" charset="0"/>
              </a:rPr>
              <a:t>规则缺失，核算失准</a:t>
            </a:r>
            <a:endParaRPr lang="zh-CN" altLang="en-US" dirty="0">
              <a:solidFill>
                <a:schemeClr val="bg1"/>
              </a:solidFill>
              <a:latin typeface="微软雅黑" charset="0"/>
              <a:ea typeface="微软雅黑" charset="0"/>
              <a:cs typeface="微软雅黑" charset="0"/>
            </a:endParaRPr>
          </a:p>
        </p:txBody>
      </p:sp>
      <p:sp>
        <p:nvSpPr>
          <p:cNvPr id="117" name="iṧľîďé"/>
          <p:cNvSpPr txBox="1"/>
          <p:nvPr/>
        </p:nvSpPr>
        <p:spPr bwMode="auto">
          <a:xfrm>
            <a:off x="535433" y="3420606"/>
            <a:ext cx="2196000" cy="1359306"/>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charset="0"/>
                <a:ea typeface="微软雅黑" charset="0"/>
                <a:cs typeface="微软雅黑" charset="0"/>
              </a:rPr>
              <a:t>数据孤岛，支撑不足</a:t>
            </a:r>
            <a:endParaRPr lang="zh-CN" altLang="en-US" dirty="0">
              <a:solidFill>
                <a:schemeClr val="bg1"/>
              </a:solidFill>
              <a:latin typeface="微软雅黑" charset="0"/>
              <a:ea typeface="微软雅黑" charset="0"/>
              <a:cs typeface="微软雅黑" charset="0"/>
            </a:endParaRPr>
          </a:p>
        </p:txBody>
      </p:sp>
      <p:sp>
        <p:nvSpPr>
          <p:cNvPr id="118" name="iṧľîďé"/>
          <p:cNvSpPr txBox="1"/>
          <p:nvPr/>
        </p:nvSpPr>
        <p:spPr bwMode="auto">
          <a:xfrm>
            <a:off x="535433" y="4919166"/>
            <a:ext cx="2196000" cy="1240664"/>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charset="0"/>
                <a:ea typeface="微软雅黑" charset="0"/>
                <a:cs typeface="微软雅黑" charset="0"/>
              </a:rPr>
              <a:t>依赖手工，效率低下</a:t>
            </a:r>
            <a:endParaRPr lang="zh-CN" altLang="en-US" dirty="0">
              <a:solidFill>
                <a:schemeClr val="bg1"/>
              </a:solidFill>
              <a:latin typeface="微软雅黑" charset="0"/>
              <a:ea typeface="微软雅黑" charset="0"/>
              <a:cs typeface="微软雅黑" charset="0"/>
            </a:endParaRPr>
          </a:p>
        </p:txBody>
      </p:sp>
      <p:sp>
        <p:nvSpPr>
          <p:cNvPr id="119" name="isḻíḓe"/>
          <p:cNvSpPr/>
          <p:nvPr/>
        </p:nvSpPr>
        <p:spPr bwMode="auto">
          <a:xfrm>
            <a:off x="2822646" y="780947"/>
            <a:ext cx="9053036" cy="828000"/>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缺乏从财务结果向业务过程穿透的经营分析整体框架，目前指标数据反馈的结果着重体现在财务结果层，往业务层面的穿透不足，定位问题并追溯根因较为困难</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p:txBody>
      </p:sp>
      <p:sp>
        <p:nvSpPr>
          <p:cNvPr id="123" name="isḻíḓe"/>
          <p:cNvSpPr/>
          <p:nvPr/>
        </p:nvSpPr>
        <p:spPr bwMode="auto">
          <a:xfrm>
            <a:off x="2822646" y="1735010"/>
            <a:ext cx="9053036" cy="1548000"/>
          </a:xfrm>
          <a:prstGeom prst="rect">
            <a:avLst/>
          </a:prstGeom>
          <a:solidFill>
            <a:schemeClr val="accent5">
              <a:lumMod val="20000"/>
              <a:lumOff val="80000"/>
            </a:schemeClr>
          </a:solidFill>
          <a:ln>
            <a:noFill/>
          </a:ln>
        </p:spPr>
        <p:txBody>
          <a:bodyPr wrap="square" lIns="72000" tIns="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部分指标计算逻辑规则性不强，人工判断调整的成份较大，比如成本类指标、库存类指标</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成本类的指标数据来源基本上是线下计算的结果</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存货类的指标数据大部分来源于线下判断，账实不符，受到成本计算</a:t>
            </a:r>
            <a:r>
              <a:rPr lang="zh-CN" altLang="en-US" sz="1400" dirty="0">
                <a:latin typeface="微软雅黑" charset="0"/>
                <a:ea typeface="微软雅黑" charset="0"/>
                <a:cs typeface="微软雅黑" charset="0"/>
              </a:rPr>
              <a:t>准确性</a:t>
            </a:r>
            <a:r>
              <a:rPr lang="en-US" altLang="zh-CN" sz="1400" dirty="0">
                <a:latin typeface="微软雅黑" charset="0"/>
                <a:ea typeface="微软雅黑" charset="0"/>
                <a:cs typeface="微软雅黑" charset="0"/>
              </a:rPr>
              <a:t>的影响</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解决方案业绩的定位不清晰，归属于解决方案的物料标识缺失</a:t>
            </a:r>
            <a:r>
              <a:rPr lang="zh-CN" altLang="en-US" sz="1400" dirty="0">
                <a:solidFill>
                  <a:schemeClr val="tx1"/>
                </a:solidFill>
                <a:latin typeface="微软雅黑" charset="0"/>
                <a:ea typeface="微软雅黑" charset="0"/>
                <a:cs typeface="微软雅黑" charset="0"/>
              </a:rPr>
              <a:t>；</a:t>
            </a:r>
            <a:endParaRPr lang="zh-CN" altLang="en-US" sz="1400" dirty="0">
              <a:solidFill>
                <a:schemeClr val="tx1"/>
              </a:solidFill>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指标口径：有分析口径与考核口径，考核口径人员调整部分多且缺乏规则（线下商量）</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p:txBody>
      </p:sp>
      <p:sp>
        <p:nvSpPr>
          <p:cNvPr id="124" name="isḻíḓe"/>
          <p:cNvSpPr/>
          <p:nvPr/>
        </p:nvSpPr>
        <p:spPr bwMode="auto">
          <a:xfrm>
            <a:off x="2822646" y="3420606"/>
            <a:ext cx="9053036" cy="1359306"/>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维度数据：物料主数据的产品上市时间、TOP分类等维目前主要靠线下映射，需要PBI等系统提供数据源支持</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维度数据：组织维度（如产品线组织）数据需要通过物料等其他维度数据动态按时间戳关联获取，如果CRM/PBI等系统不能同步上线，会受到影响；</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业务数据：除了美国有BONE，其他海外子公司无ERP系统支撑，依靠手工入账，且存在账实不一致的情况</a:t>
            </a:r>
            <a:r>
              <a:rPr lang="zh-CN" altLang="en-US" sz="1400" dirty="0">
                <a:latin typeface="微软雅黑" charset="0"/>
                <a:ea typeface="微软雅黑" charset="0"/>
                <a:cs typeface="微软雅黑" charset="0"/>
              </a:rPr>
              <a:t>。</a:t>
            </a:r>
            <a:endParaRPr lang="en-US" altLang="zh-CN" sz="1400" dirty="0">
              <a:latin typeface="微软雅黑" charset="0"/>
              <a:ea typeface="微软雅黑" charset="0"/>
              <a:cs typeface="微软雅黑" charset="0"/>
            </a:endParaRPr>
          </a:p>
        </p:txBody>
      </p:sp>
      <p:sp>
        <p:nvSpPr>
          <p:cNvPr id="125" name="isḻíḓe"/>
          <p:cNvSpPr/>
          <p:nvPr/>
        </p:nvSpPr>
        <p:spPr bwMode="auto">
          <a:xfrm>
            <a:off x="2822646" y="4919166"/>
            <a:ext cx="9053036" cy="1240664"/>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各部门月度经营分析报告目前依靠线下手工整理，无线上报表支撑；</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部分业务部门通过企微智能表格输出日常管理看板，同样需要人工维护数据；</a:t>
            </a:r>
            <a:endParaRPr lang="en-US" altLang="zh-CN" sz="1400" dirty="0">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en-US" altLang="zh-CN" sz="1400" dirty="0">
                <a:latin typeface="微软雅黑" charset="0"/>
                <a:ea typeface="微软雅黑" charset="0"/>
                <a:cs typeface="微软雅黑" charset="0"/>
              </a:rPr>
              <a:t>经营分析报告输出存在大量手工处理，比如：收入双算，关联交易处理，成本还原，费用分摊，按管理维度重分类等，数据处理耗费大量人力，效率低下。</a:t>
            </a:r>
            <a:endParaRPr lang="en-US" altLang="zh-CN" sz="1400" dirty="0">
              <a:latin typeface="微软雅黑" charset="0"/>
              <a:ea typeface="微软雅黑" charset="0"/>
              <a:cs typeface="微软雅黑"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lumMod val="95000"/>
                    <a:lumOff val="5000"/>
                  </a:schemeClr>
                </a:solidFill>
                <a:latin typeface="微软雅黑" charset="0"/>
                <a:ea typeface="微软雅黑" charset="0"/>
                <a:cs typeface="微软雅黑" charset="0"/>
              </a:rPr>
              <a:t>指标分析需求</a:t>
            </a:r>
            <a:endParaRPr lang="zh-CN" altLang="en-US" dirty="0">
              <a:solidFill>
                <a:schemeClr val="tx1">
                  <a:lumMod val="95000"/>
                  <a:lumOff val="5000"/>
                </a:schemeClr>
              </a:solidFill>
              <a:latin typeface="微软雅黑" charset="0"/>
              <a:ea typeface="微软雅黑" charset="0"/>
              <a:cs typeface="微软雅黑" charset="0"/>
            </a:endParaRPr>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2" name="îślíḋe"/>
          <p:cNvSpPr/>
          <p:nvPr/>
        </p:nvSpPr>
        <p:spPr bwMode="auto">
          <a:xfrm>
            <a:off x="566653" y="821767"/>
            <a:ext cx="11285378" cy="1010003"/>
          </a:xfrm>
          <a:prstGeom prst="roundRect">
            <a:avLst>
              <a:gd name="adj" fmla="val 13529"/>
            </a:avLst>
          </a:prstGeom>
          <a:solidFill>
            <a:schemeClr val="accent5">
              <a:lumMod val="20000"/>
              <a:lumOff val="80000"/>
            </a:schemeClr>
          </a:solidFill>
          <a:ln w="38100" algn="ctr">
            <a:noFill/>
            <a:prstDash val="sysDot"/>
            <a:round/>
          </a:ln>
        </p:spPr>
        <p:txBody>
          <a:bodyPr wrap="none" lIns="432000" tIns="108000" bIns="0" anchor="ctr" anchorCtr="0"/>
          <a:lstStyle/>
          <a:p>
            <a:pPr>
              <a:defRPr/>
            </a:pPr>
            <a:r>
              <a:rPr lang="zh-CN" altLang="en-US" sz="2400" b="1" dirty="0">
                <a:solidFill>
                  <a:schemeClr val="accent1"/>
                </a:solidFill>
                <a:latin typeface="微软雅黑" panose="020B0503020204020204" pitchFamily="34" charset="-122"/>
                <a:ea typeface="微软雅黑" panose="020B0503020204020204" pitchFamily="34" charset="-122"/>
              </a:rPr>
              <a:t>核心诉求</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4">
              <a:defRPr/>
            </a:pPr>
            <a:r>
              <a:rPr lang="zh-CN" altLang="en-US" sz="2000" b="1" dirty="0">
                <a:solidFill>
                  <a:schemeClr val="accent1"/>
                </a:solidFill>
              </a:rPr>
              <a:t>可追溯</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准确性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及时性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charset="0"/>
                <a:ea typeface="微软雅黑" charset="0"/>
              </a:rPr>
              <a:t>线上化</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charset="0"/>
                <a:ea typeface="微软雅黑" charset="0"/>
              </a:rPr>
              <a:t>自动</a:t>
            </a:r>
            <a:r>
              <a:rPr lang="zh-CN" altLang="en-US" sz="2000" b="1" dirty="0">
                <a:solidFill>
                  <a:schemeClr val="accent1"/>
                </a:solidFill>
                <a:latin typeface="微软雅黑" panose="020B0503020204020204" pitchFamily="34" charset="-122"/>
                <a:ea typeface="微软雅黑" panose="020B0503020204020204" pitchFamily="34" charset="-122"/>
              </a:rPr>
              <a:t>化</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07" name="ïśľíḋê"/>
          <p:cNvSpPr/>
          <p:nvPr/>
        </p:nvSpPr>
        <p:spPr bwMode="auto">
          <a:xfrm>
            <a:off x="10538485" y="940228"/>
            <a:ext cx="326866" cy="478426"/>
          </a:xfrm>
          <a:custGeom>
            <a:avLst/>
            <a:gdLst>
              <a:gd name="connsiteX0" fmla="*/ 249830 w 431507"/>
              <a:gd name="connsiteY0" fmla="*/ 561058 h 608274"/>
              <a:gd name="connsiteX1" fmla="*/ 249830 w 431507"/>
              <a:gd name="connsiteY1" fmla="*/ 594884 h 608274"/>
              <a:gd name="connsiteX2" fmla="*/ 340366 w 431507"/>
              <a:gd name="connsiteY2" fmla="*/ 594884 h 608274"/>
              <a:gd name="connsiteX3" fmla="*/ 340366 w 431507"/>
              <a:gd name="connsiteY3" fmla="*/ 561058 h 608274"/>
              <a:gd name="connsiteX4" fmla="*/ 91141 w 431507"/>
              <a:gd name="connsiteY4" fmla="*/ 561058 h 608274"/>
              <a:gd name="connsiteX5" fmla="*/ 91141 w 431507"/>
              <a:gd name="connsiteY5" fmla="*/ 594884 h 608274"/>
              <a:gd name="connsiteX6" fmla="*/ 181777 w 431507"/>
              <a:gd name="connsiteY6" fmla="*/ 594884 h 608274"/>
              <a:gd name="connsiteX7" fmla="*/ 181777 w 431507"/>
              <a:gd name="connsiteY7" fmla="*/ 561058 h 608274"/>
              <a:gd name="connsiteX8" fmla="*/ 249830 w 431507"/>
              <a:gd name="connsiteY8" fmla="*/ 540923 h 608274"/>
              <a:gd name="connsiteX9" fmla="*/ 249830 w 431507"/>
              <a:gd name="connsiteY9" fmla="*/ 547668 h 608274"/>
              <a:gd name="connsiteX10" fmla="*/ 340366 w 431507"/>
              <a:gd name="connsiteY10" fmla="*/ 547668 h 608274"/>
              <a:gd name="connsiteX11" fmla="*/ 340366 w 431507"/>
              <a:gd name="connsiteY11" fmla="*/ 540923 h 608274"/>
              <a:gd name="connsiteX12" fmla="*/ 91141 w 431507"/>
              <a:gd name="connsiteY12" fmla="*/ 540923 h 608274"/>
              <a:gd name="connsiteX13" fmla="*/ 91141 w 431507"/>
              <a:gd name="connsiteY13" fmla="*/ 547668 h 608274"/>
              <a:gd name="connsiteX14" fmla="*/ 181777 w 431507"/>
              <a:gd name="connsiteY14" fmla="*/ 547668 h 608274"/>
              <a:gd name="connsiteX15" fmla="*/ 181777 w 431507"/>
              <a:gd name="connsiteY15" fmla="*/ 540923 h 608274"/>
              <a:gd name="connsiteX16" fmla="*/ 265558 w 431507"/>
              <a:gd name="connsiteY16" fmla="*/ 502063 h 608274"/>
              <a:gd name="connsiteX17" fmla="*/ 265558 w 431507"/>
              <a:gd name="connsiteY17" fmla="*/ 527533 h 608274"/>
              <a:gd name="connsiteX18" fmla="*/ 324538 w 431507"/>
              <a:gd name="connsiteY18" fmla="*/ 527533 h 608274"/>
              <a:gd name="connsiteX19" fmla="*/ 324538 w 431507"/>
              <a:gd name="connsiteY19" fmla="*/ 502063 h 608274"/>
              <a:gd name="connsiteX20" fmla="*/ 106969 w 431507"/>
              <a:gd name="connsiteY20" fmla="*/ 502063 h 608274"/>
              <a:gd name="connsiteX21" fmla="*/ 106969 w 431507"/>
              <a:gd name="connsiteY21" fmla="*/ 527533 h 608274"/>
              <a:gd name="connsiteX22" fmla="*/ 165949 w 431507"/>
              <a:gd name="connsiteY22" fmla="*/ 527533 h 608274"/>
              <a:gd name="connsiteX23" fmla="*/ 165949 w 431507"/>
              <a:gd name="connsiteY23" fmla="*/ 502063 h 608274"/>
              <a:gd name="connsiteX24" fmla="*/ 317980 w 431507"/>
              <a:gd name="connsiteY24" fmla="*/ 451238 h 608274"/>
              <a:gd name="connsiteX25" fmla="*/ 317980 w 431507"/>
              <a:gd name="connsiteY25" fmla="*/ 466846 h 608274"/>
              <a:gd name="connsiteX26" fmla="*/ 335726 w 431507"/>
              <a:gd name="connsiteY26" fmla="*/ 466846 h 608274"/>
              <a:gd name="connsiteX27" fmla="*/ 338751 w 431507"/>
              <a:gd name="connsiteY27" fmla="*/ 463825 h 608274"/>
              <a:gd name="connsiteX28" fmla="*/ 338751 w 431507"/>
              <a:gd name="connsiteY28" fmla="*/ 451238 h 608274"/>
              <a:gd name="connsiteX29" fmla="*/ 279765 w 431507"/>
              <a:gd name="connsiteY29" fmla="*/ 451238 h 608274"/>
              <a:gd name="connsiteX30" fmla="*/ 279765 w 431507"/>
              <a:gd name="connsiteY30" fmla="*/ 466846 h 608274"/>
              <a:gd name="connsiteX31" fmla="*/ 304469 w 431507"/>
              <a:gd name="connsiteY31" fmla="*/ 466846 h 608274"/>
              <a:gd name="connsiteX32" fmla="*/ 304469 w 431507"/>
              <a:gd name="connsiteY32" fmla="*/ 451238 h 608274"/>
              <a:gd name="connsiteX33" fmla="*/ 241551 w 431507"/>
              <a:gd name="connsiteY33" fmla="*/ 451238 h 608274"/>
              <a:gd name="connsiteX34" fmla="*/ 241551 w 431507"/>
              <a:gd name="connsiteY34" fmla="*/ 466846 h 608274"/>
              <a:gd name="connsiteX35" fmla="*/ 266355 w 431507"/>
              <a:gd name="connsiteY35" fmla="*/ 466846 h 608274"/>
              <a:gd name="connsiteX36" fmla="*/ 266355 w 431507"/>
              <a:gd name="connsiteY36" fmla="*/ 451238 h 608274"/>
              <a:gd name="connsiteX37" fmla="*/ 203437 w 431507"/>
              <a:gd name="connsiteY37" fmla="*/ 451238 h 608274"/>
              <a:gd name="connsiteX38" fmla="*/ 203437 w 431507"/>
              <a:gd name="connsiteY38" fmla="*/ 466846 h 608274"/>
              <a:gd name="connsiteX39" fmla="*/ 228140 w 431507"/>
              <a:gd name="connsiteY39" fmla="*/ 466846 h 608274"/>
              <a:gd name="connsiteX40" fmla="*/ 228140 w 431507"/>
              <a:gd name="connsiteY40" fmla="*/ 451238 h 608274"/>
              <a:gd name="connsiteX41" fmla="*/ 165222 w 431507"/>
              <a:gd name="connsiteY41" fmla="*/ 451238 h 608274"/>
              <a:gd name="connsiteX42" fmla="*/ 165222 w 431507"/>
              <a:gd name="connsiteY42" fmla="*/ 466846 h 608274"/>
              <a:gd name="connsiteX43" fmla="*/ 189926 w 431507"/>
              <a:gd name="connsiteY43" fmla="*/ 466846 h 608274"/>
              <a:gd name="connsiteX44" fmla="*/ 189926 w 431507"/>
              <a:gd name="connsiteY44" fmla="*/ 451238 h 608274"/>
              <a:gd name="connsiteX45" fmla="*/ 127008 w 431507"/>
              <a:gd name="connsiteY45" fmla="*/ 451238 h 608274"/>
              <a:gd name="connsiteX46" fmla="*/ 127008 w 431507"/>
              <a:gd name="connsiteY46" fmla="*/ 466846 h 608274"/>
              <a:gd name="connsiteX47" fmla="*/ 151812 w 431507"/>
              <a:gd name="connsiteY47" fmla="*/ 466846 h 608274"/>
              <a:gd name="connsiteX48" fmla="*/ 151812 w 431507"/>
              <a:gd name="connsiteY48" fmla="*/ 451238 h 608274"/>
              <a:gd name="connsiteX49" fmla="*/ 92725 w 431507"/>
              <a:gd name="connsiteY49" fmla="*/ 451238 h 608274"/>
              <a:gd name="connsiteX50" fmla="*/ 92725 w 431507"/>
              <a:gd name="connsiteY50" fmla="*/ 463825 h 608274"/>
              <a:gd name="connsiteX51" fmla="*/ 95750 w 431507"/>
              <a:gd name="connsiteY51" fmla="*/ 466846 h 608274"/>
              <a:gd name="connsiteX52" fmla="*/ 113597 w 431507"/>
              <a:gd name="connsiteY52" fmla="*/ 466846 h 608274"/>
              <a:gd name="connsiteX53" fmla="*/ 113597 w 431507"/>
              <a:gd name="connsiteY53" fmla="*/ 451238 h 608274"/>
              <a:gd name="connsiteX54" fmla="*/ 408722 w 431507"/>
              <a:gd name="connsiteY54" fmla="*/ 422832 h 608274"/>
              <a:gd name="connsiteX55" fmla="*/ 408722 w 431507"/>
              <a:gd name="connsiteY55" fmla="*/ 440953 h 608274"/>
              <a:gd name="connsiteX56" fmla="*/ 418098 w 431507"/>
              <a:gd name="connsiteY56" fmla="*/ 440953 h 608274"/>
              <a:gd name="connsiteX57" fmla="*/ 418098 w 431507"/>
              <a:gd name="connsiteY57" fmla="*/ 422832 h 608274"/>
              <a:gd name="connsiteX58" fmla="*/ 13510 w 431507"/>
              <a:gd name="connsiteY58" fmla="*/ 422832 h 608274"/>
              <a:gd name="connsiteX59" fmla="*/ 13510 w 431507"/>
              <a:gd name="connsiteY59" fmla="*/ 440953 h 608274"/>
              <a:gd name="connsiteX60" fmla="*/ 22886 w 431507"/>
              <a:gd name="connsiteY60" fmla="*/ 440953 h 608274"/>
              <a:gd name="connsiteX61" fmla="*/ 22886 w 431507"/>
              <a:gd name="connsiteY61" fmla="*/ 422832 h 608274"/>
              <a:gd name="connsiteX62" fmla="*/ 298822 w 431507"/>
              <a:gd name="connsiteY62" fmla="*/ 422136 h 608274"/>
              <a:gd name="connsiteX63" fmla="*/ 298822 w 431507"/>
              <a:gd name="connsiteY63" fmla="*/ 437744 h 608274"/>
              <a:gd name="connsiteX64" fmla="*/ 338751 w 431507"/>
              <a:gd name="connsiteY64" fmla="*/ 437744 h 608274"/>
              <a:gd name="connsiteX65" fmla="*/ 338751 w 431507"/>
              <a:gd name="connsiteY65" fmla="*/ 422136 h 608274"/>
              <a:gd name="connsiteX66" fmla="*/ 260708 w 431507"/>
              <a:gd name="connsiteY66" fmla="*/ 422136 h 608274"/>
              <a:gd name="connsiteX67" fmla="*/ 260708 w 431507"/>
              <a:gd name="connsiteY67" fmla="*/ 437744 h 608274"/>
              <a:gd name="connsiteX68" fmla="*/ 285412 w 431507"/>
              <a:gd name="connsiteY68" fmla="*/ 437744 h 608274"/>
              <a:gd name="connsiteX69" fmla="*/ 285412 w 431507"/>
              <a:gd name="connsiteY69" fmla="*/ 422136 h 608274"/>
              <a:gd name="connsiteX70" fmla="*/ 222494 w 431507"/>
              <a:gd name="connsiteY70" fmla="*/ 422136 h 608274"/>
              <a:gd name="connsiteX71" fmla="*/ 222494 w 431507"/>
              <a:gd name="connsiteY71" fmla="*/ 437744 h 608274"/>
              <a:gd name="connsiteX72" fmla="*/ 247197 w 431507"/>
              <a:gd name="connsiteY72" fmla="*/ 437744 h 608274"/>
              <a:gd name="connsiteX73" fmla="*/ 247197 w 431507"/>
              <a:gd name="connsiteY73" fmla="*/ 422136 h 608274"/>
              <a:gd name="connsiteX74" fmla="*/ 184279 w 431507"/>
              <a:gd name="connsiteY74" fmla="*/ 422136 h 608274"/>
              <a:gd name="connsiteX75" fmla="*/ 184279 w 431507"/>
              <a:gd name="connsiteY75" fmla="*/ 437744 h 608274"/>
              <a:gd name="connsiteX76" fmla="*/ 209083 w 431507"/>
              <a:gd name="connsiteY76" fmla="*/ 437744 h 608274"/>
              <a:gd name="connsiteX77" fmla="*/ 209083 w 431507"/>
              <a:gd name="connsiteY77" fmla="*/ 422136 h 608274"/>
              <a:gd name="connsiteX78" fmla="*/ 146165 w 431507"/>
              <a:gd name="connsiteY78" fmla="*/ 422136 h 608274"/>
              <a:gd name="connsiteX79" fmla="*/ 146165 w 431507"/>
              <a:gd name="connsiteY79" fmla="*/ 437744 h 608274"/>
              <a:gd name="connsiteX80" fmla="*/ 170869 w 431507"/>
              <a:gd name="connsiteY80" fmla="*/ 437744 h 608274"/>
              <a:gd name="connsiteX81" fmla="*/ 170869 w 431507"/>
              <a:gd name="connsiteY81" fmla="*/ 422136 h 608274"/>
              <a:gd name="connsiteX82" fmla="*/ 92725 w 431507"/>
              <a:gd name="connsiteY82" fmla="*/ 422136 h 608274"/>
              <a:gd name="connsiteX83" fmla="*/ 92725 w 431507"/>
              <a:gd name="connsiteY83" fmla="*/ 437744 h 608274"/>
              <a:gd name="connsiteX84" fmla="*/ 132654 w 431507"/>
              <a:gd name="connsiteY84" fmla="*/ 437744 h 608274"/>
              <a:gd name="connsiteX85" fmla="*/ 132654 w 431507"/>
              <a:gd name="connsiteY85" fmla="*/ 422136 h 608274"/>
              <a:gd name="connsiteX86" fmla="*/ 317980 w 431507"/>
              <a:gd name="connsiteY86" fmla="*/ 393035 h 608274"/>
              <a:gd name="connsiteX87" fmla="*/ 317980 w 431507"/>
              <a:gd name="connsiteY87" fmla="*/ 408743 h 608274"/>
              <a:gd name="connsiteX88" fmla="*/ 338751 w 431507"/>
              <a:gd name="connsiteY88" fmla="*/ 408743 h 608274"/>
              <a:gd name="connsiteX89" fmla="*/ 338751 w 431507"/>
              <a:gd name="connsiteY89" fmla="*/ 396056 h 608274"/>
              <a:gd name="connsiteX90" fmla="*/ 335726 w 431507"/>
              <a:gd name="connsiteY90" fmla="*/ 393035 h 608274"/>
              <a:gd name="connsiteX91" fmla="*/ 279765 w 431507"/>
              <a:gd name="connsiteY91" fmla="*/ 393035 h 608274"/>
              <a:gd name="connsiteX92" fmla="*/ 279765 w 431507"/>
              <a:gd name="connsiteY92" fmla="*/ 408743 h 608274"/>
              <a:gd name="connsiteX93" fmla="*/ 304469 w 431507"/>
              <a:gd name="connsiteY93" fmla="*/ 408743 h 608274"/>
              <a:gd name="connsiteX94" fmla="*/ 304469 w 431507"/>
              <a:gd name="connsiteY94" fmla="*/ 393035 h 608274"/>
              <a:gd name="connsiteX95" fmla="*/ 241551 w 431507"/>
              <a:gd name="connsiteY95" fmla="*/ 393035 h 608274"/>
              <a:gd name="connsiteX96" fmla="*/ 241551 w 431507"/>
              <a:gd name="connsiteY96" fmla="*/ 408743 h 608274"/>
              <a:gd name="connsiteX97" fmla="*/ 266355 w 431507"/>
              <a:gd name="connsiteY97" fmla="*/ 408743 h 608274"/>
              <a:gd name="connsiteX98" fmla="*/ 266355 w 431507"/>
              <a:gd name="connsiteY98" fmla="*/ 393035 h 608274"/>
              <a:gd name="connsiteX99" fmla="*/ 203437 w 431507"/>
              <a:gd name="connsiteY99" fmla="*/ 393035 h 608274"/>
              <a:gd name="connsiteX100" fmla="*/ 203437 w 431507"/>
              <a:gd name="connsiteY100" fmla="*/ 408743 h 608274"/>
              <a:gd name="connsiteX101" fmla="*/ 228140 w 431507"/>
              <a:gd name="connsiteY101" fmla="*/ 408743 h 608274"/>
              <a:gd name="connsiteX102" fmla="*/ 228140 w 431507"/>
              <a:gd name="connsiteY102" fmla="*/ 393035 h 608274"/>
              <a:gd name="connsiteX103" fmla="*/ 165222 w 431507"/>
              <a:gd name="connsiteY103" fmla="*/ 393035 h 608274"/>
              <a:gd name="connsiteX104" fmla="*/ 165222 w 431507"/>
              <a:gd name="connsiteY104" fmla="*/ 408743 h 608274"/>
              <a:gd name="connsiteX105" fmla="*/ 189926 w 431507"/>
              <a:gd name="connsiteY105" fmla="*/ 408743 h 608274"/>
              <a:gd name="connsiteX106" fmla="*/ 189926 w 431507"/>
              <a:gd name="connsiteY106" fmla="*/ 393035 h 608274"/>
              <a:gd name="connsiteX107" fmla="*/ 127008 w 431507"/>
              <a:gd name="connsiteY107" fmla="*/ 393035 h 608274"/>
              <a:gd name="connsiteX108" fmla="*/ 127008 w 431507"/>
              <a:gd name="connsiteY108" fmla="*/ 408743 h 608274"/>
              <a:gd name="connsiteX109" fmla="*/ 151812 w 431507"/>
              <a:gd name="connsiteY109" fmla="*/ 408743 h 608274"/>
              <a:gd name="connsiteX110" fmla="*/ 151812 w 431507"/>
              <a:gd name="connsiteY110" fmla="*/ 393035 h 608274"/>
              <a:gd name="connsiteX111" fmla="*/ 95750 w 431507"/>
              <a:gd name="connsiteY111" fmla="*/ 393035 h 608274"/>
              <a:gd name="connsiteX112" fmla="*/ 92725 w 431507"/>
              <a:gd name="connsiteY112" fmla="*/ 396056 h 608274"/>
              <a:gd name="connsiteX113" fmla="*/ 92725 w 431507"/>
              <a:gd name="connsiteY113" fmla="*/ 408743 h 608274"/>
              <a:gd name="connsiteX114" fmla="*/ 113597 w 431507"/>
              <a:gd name="connsiteY114" fmla="*/ 408743 h 608274"/>
              <a:gd name="connsiteX115" fmla="*/ 113597 w 431507"/>
              <a:gd name="connsiteY115" fmla="*/ 393035 h 608274"/>
              <a:gd name="connsiteX116" fmla="*/ 95750 w 431507"/>
              <a:gd name="connsiteY116" fmla="*/ 379642 h 608274"/>
              <a:gd name="connsiteX117" fmla="*/ 335726 w 431507"/>
              <a:gd name="connsiteY117" fmla="*/ 379642 h 608274"/>
              <a:gd name="connsiteX118" fmla="*/ 352262 w 431507"/>
              <a:gd name="connsiteY118" fmla="*/ 396056 h 608274"/>
              <a:gd name="connsiteX119" fmla="*/ 352262 w 431507"/>
              <a:gd name="connsiteY119" fmla="*/ 463825 h 608274"/>
              <a:gd name="connsiteX120" fmla="*/ 335726 w 431507"/>
              <a:gd name="connsiteY120" fmla="*/ 480339 h 608274"/>
              <a:gd name="connsiteX121" fmla="*/ 95750 w 431507"/>
              <a:gd name="connsiteY121" fmla="*/ 480339 h 608274"/>
              <a:gd name="connsiteX122" fmla="*/ 79315 w 431507"/>
              <a:gd name="connsiteY122" fmla="*/ 463825 h 608274"/>
              <a:gd name="connsiteX123" fmla="*/ 79315 w 431507"/>
              <a:gd name="connsiteY123" fmla="*/ 396056 h 608274"/>
              <a:gd name="connsiteX124" fmla="*/ 95750 w 431507"/>
              <a:gd name="connsiteY124" fmla="*/ 379642 h 608274"/>
              <a:gd name="connsiteX125" fmla="*/ 418098 w 431507"/>
              <a:gd name="connsiteY125" fmla="*/ 308869 h 608274"/>
              <a:gd name="connsiteX126" fmla="*/ 408722 w 431507"/>
              <a:gd name="connsiteY126" fmla="*/ 318231 h 608274"/>
              <a:gd name="connsiteX127" fmla="*/ 408722 w 431507"/>
              <a:gd name="connsiteY127" fmla="*/ 409442 h 608274"/>
              <a:gd name="connsiteX128" fmla="*/ 418098 w 431507"/>
              <a:gd name="connsiteY128" fmla="*/ 409442 h 608274"/>
              <a:gd name="connsiteX129" fmla="*/ 13510 w 431507"/>
              <a:gd name="connsiteY129" fmla="*/ 308869 h 608274"/>
              <a:gd name="connsiteX130" fmla="*/ 13510 w 431507"/>
              <a:gd name="connsiteY130" fmla="*/ 409442 h 608274"/>
              <a:gd name="connsiteX131" fmla="*/ 22886 w 431507"/>
              <a:gd name="connsiteY131" fmla="*/ 409442 h 608274"/>
              <a:gd name="connsiteX132" fmla="*/ 22886 w 431507"/>
              <a:gd name="connsiteY132" fmla="*/ 318231 h 608274"/>
              <a:gd name="connsiteX133" fmla="*/ 373738 w 431507"/>
              <a:gd name="connsiteY133" fmla="*/ 299305 h 608274"/>
              <a:gd name="connsiteX134" fmla="*/ 373738 w 431507"/>
              <a:gd name="connsiteY134" fmla="*/ 308768 h 608274"/>
              <a:gd name="connsiteX135" fmla="*/ 399144 w 431507"/>
              <a:gd name="connsiteY135" fmla="*/ 308768 h 608274"/>
              <a:gd name="connsiteX136" fmla="*/ 408621 w 431507"/>
              <a:gd name="connsiteY136" fmla="*/ 299305 h 608274"/>
              <a:gd name="connsiteX137" fmla="*/ 22987 w 431507"/>
              <a:gd name="connsiteY137" fmla="*/ 299305 h 608274"/>
              <a:gd name="connsiteX138" fmla="*/ 32363 w 431507"/>
              <a:gd name="connsiteY138" fmla="*/ 308768 h 608274"/>
              <a:gd name="connsiteX139" fmla="*/ 57870 w 431507"/>
              <a:gd name="connsiteY139" fmla="*/ 308768 h 608274"/>
              <a:gd name="connsiteX140" fmla="*/ 57870 w 431507"/>
              <a:gd name="connsiteY140" fmla="*/ 299305 h 608274"/>
              <a:gd name="connsiteX141" fmla="*/ 287636 w 431507"/>
              <a:gd name="connsiteY141" fmla="*/ 287249 h 608274"/>
              <a:gd name="connsiteX142" fmla="*/ 285015 w 431507"/>
              <a:gd name="connsiteY142" fmla="*/ 289866 h 608274"/>
              <a:gd name="connsiteX143" fmla="*/ 285015 w 431507"/>
              <a:gd name="connsiteY143" fmla="*/ 349950 h 608274"/>
              <a:gd name="connsiteX144" fmla="*/ 287636 w 431507"/>
              <a:gd name="connsiteY144" fmla="*/ 352567 h 608274"/>
              <a:gd name="connsiteX145" fmla="*/ 336131 w 431507"/>
              <a:gd name="connsiteY145" fmla="*/ 352567 h 608274"/>
              <a:gd name="connsiteX146" fmla="*/ 338752 w 431507"/>
              <a:gd name="connsiteY146" fmla="*/ 349950 h 608274"/>
              <a:gd name="connsiteX147" fmla="*/ 338752 w 431507"/>
              <a:gd name="connsiteY147" fmla="*/ 289866 h 608274"/>
              <a:gd name="connsiteX148" fmla="*/ 336131 w 431507"/>
              <a:gd name="connsiteY148" fmla="*/ 287249 h 608274"/>
              <a:gd name="connsiteX149" fmla="*/ 191455 w 431507"/>
              <a:gd name="connsiteY149" fmla="*/ 287249 h 608274"/>
              <a:gd name="connsiteX150" fmla="*/ 188935 w 431507"/>
              <a:gd name="connsiteY150" fmla="*/ 289866 h 608274"/>
              <a:gd name="connsiteX151" fmla="*/ 188935 w 431507"/>
              <a:gd name="connsiteY151" fmla="*/ 349950 h 608274"/>
              <a:gd name="connsiteX152" fmla="*/ 191455 w 431507"/>
              <a:gd name="connsiteY152" fmla="*/ 352567 h 608274"/>
              <a:gd name="connsiteX153" fmla="*/ 240051 w 431507"/>
              <a:gd name="connsiteY153" fmla="*/ 352567 h 608274"/>
              <a:gd name="connsiteX154" fmla="*/ 242672 w 431507"/>
              <a:gd name="connsiteY154" fmla="*/ 349950 h 608274"/>
              <a:gd name="connsiteX155" fmla="*/ 242672 w 431507"/>
              <a:gd name="connsiteY155" fmla="*/ 289866 h 608274"/>
              <a:gd name="connsiteX156" fmla="*/ 240051 w 431507"/>
              <a:gd name="connsiteY156" fmla="*/ 287249 h 608274"/>
              <a:gd name="connsiteX157" fmla="*/ 95345 w 431507"/>
              <a:gd name="connsiteY157" fmla="*/ 287249 h 608274"/>
              <a:gd name="connsiteX158" fmla="*/ 92724 w 431507"/>
              <a:gd name="connsiteY158" fmla="*/ 289866 h 608274"/>
              <a:gd name="connsiteX159" fmla="*/ 92724 w 431507"/>
              <a:gd name="connsiteY159" fmla="*/ 349950 h 608274"/>
              <a:gd name="connsiteX160" fmla="*/ 95345 w 431507"/>
              <a:gd name="connsiteY160" fmla="*/ 352567 h 608274"/>
              <a:gd name="connsiteX161" fmla="*/ 143941 w 431507"/>
              <a:gd name="connsiteY161" fmla="*/ 352567 h 608274"/>
              <a:gd name="connsiteX162" fmla="*/ 146562 w 431507"/>
              <a:gd name="connsiteY162" fmla="*/ 349950 h 608274"/>
              <a:gd name="connsiteX163" fmla="*/ 146562 w 431507"/>
              <a:gd name="connsiteY163" fmla="*/ 289866 h 608274"/>
              <a:gd name="connsiteX164" fmla="*/ 143941 w 431507"/>
              <a:gd name="connsiteY164" fmla="*/ 287249 h 608274"/>
              <a:gd name="connsiteX165" fmla="*/ 287636 w 431507"/>
              <a:gd name="connsiteY165" fmla="*/ 273864 h 608274"/>
              <a:gd name="connsiteX166" fmla="*/ 336131 w 431507"/>
              <a:gd name="connsiteY166" fmla="*/ 273864 h 608274"/>
              <a:gd name="connsiteX167" fmla="*/ 352262 w 431507"/>
              <a:gd name="connsiteY167" fmla="*/ 289866 h 608274"/>
              <a:gd name="connsiteX168" fmla="*/ 352262 w 431507"/>
              <a:gd name="connsiteY168" fmla="*/ 349950 h 608274"/>
              <a:gd name="connsiteX169" fmla="*/ 336131 w 431507"/>
              <a:gd name="connsiteY169" fmla="*/ 365952 h 608274"/>
              <a:gd name="connsiteX170" fmla="*/ 287636 w 431507"/>
              <a:gd name="connsiteY170" fmla="*/ 365952 h 608274"/>
              <a:gd name="connsiteX171" fmla="*/ 271606 w 431507"/>
              <a:gd name="connsiteY171" fmla="*/ 349950 h 608274"/>
              <a:gd name="connsiteX172" fmla="*/ 271606 w 431507"/>
              <a:gd name="connsiteY172" fmla="*/ 289866 h 608274"/>
              <a:gd name="connsiteX173" fmla="*/ 287636 w 431507"/>
              <a:gd name="connsiteY173" fmla="*/ 273864 h 608274"/>
              <a:gd name="connsiteX174" fmla="*/ 191455 w 431507"/>
              <a:gd name="connsiteY174" fmla="*/ 273864 h 608274"/>
              <a:gd name="connsiteX175" fmla="*/ 240051 w 431507"/>
              <a:gd name="connsiteY175" fmla="*/ 273864 h 608274"/>
              <a:gd name="connsiteX176" fmla="*/ 256081 w 431507"/>
              <a:gd name="connsiteY176" fmla="*/ 289866 h 608274"/>
              <a:gd name="connsiteX177" fmla="*/ 256081 w 431507"/>
              <a:gd name="connsiteY177" fmla="*/ 349950 h 608274"/>
              <a:gd name="connsiteX178" fmla="*/ 240051 w 431507"/>
              <a:gd name="connsiteY178" fmla="*/ 365952 h 608274"/>
              <a:gd name="connsiteX179" fmla="*/ 191455 w 431507"/>
              <a:gd name="connsiteY179" fmla="*/ 365952 h 608274"/>
              <a:gd name="connsiteX180" fmla="*/ 175425 w 431507"/>
              <a:gd name="connsiteY180" fmla="*/ 349950 h 608274"/>
              <a:gd name="connsiteX181" fmla="*/ 175425 w 431507"/>
              <a:gd name="connsiteY181" fmla="*/ 289866 h 608274"/>
              <a:gd name="connsiteX182" fmla="*/ 191455 w 431507"/>
              <a:gd name="connsiteY182" fmla="*/ 273864 h 608274"/>
              <a:gd name="connsiteX183" fmla="*/ 95345 w 431507"/>
              <a:gd name="connsiteY183" fmla="*/ 273864 h 608274"/>
              <a:gd name="connsiteX184" fmla="*/ 143941 w 431507"/>
              <a:gd name="connsiteY184" fmla="*/ 273864 h 608274"/>
              <a:gd name="connsiteX185" fmla="*/ 159971 w 431507"/>
              <a:gd name="connsiteY185" fmla="*/ 289866 h 608274"/>
              <a:gd name="connsiteX186" fmla="*/ 159971 w 431507"/>
              <a:gd name="connsiteY186" fmla="*/ 349950 h 608274"/>
              <a:gd name="connsiteX187" fmla="*/ 143941 w 431507"/>
              <a:gd name="connsiteY187" fmla="*/ 365952 h 608274"/>
              <a:gd name="connsiteX188" fmla="*/ 95345 w 431507"/>
              <a:gd name="connsiteY188" fmla="*/ 365952 h 608274"/>
              <a:gd name="connsiteX189" fmla="*/ 79315 w 431507"/>
              <a:gd name="connsiteY189" fmla="*/ 349950 h 608274"/>
              <a:gd name="connsiteX190" fmla="*/ 79315 w 431507"/>
              <a:gd name="connsiteY190" fmla="*/ 289866 h 608274"/>
              <a:gd name="connsiteX191" fmla="*/ 95345 w 431507"/>
              <a:gd name="connsiteY191" fmla="*/ 273864 h 608274"/>
              <a:gd name="connsiteX192" fmla="*/ 93661 w 431507"/>
              <a:gd name="connsiteY192" fmla="*/ 265780 h 608274"/>
              <a:gd name="connsiteX193" fmla="*/ 71279 w 431507"/>
              <a:gd name="connsiteY193" fmla="*/ 288130 h 608274"/>
              <a:gd name="connsiteX194" fmla="*/ 71279 w 431507"/>
              <a:gd name="connsiteY194" fmla="*/ 466323 h 608274"/>
              <a:gd name="connsiteX195" fmla="*/ 93661 w 431507"/>
              <a:gd name="connsiteY195" fmla="*/ 488572 h 608274"/>
              <a:gd name="connsiteX196" fmla="*/ 337947 w 431507"/>
              <a:gd name="connsiteY196" fmla="*/ 488572 h 608274"/>
              <a:gd name="connsiteX197" fmla="*/ 360328 w 431507"/>
              <a:gd name="connsiteY197" fmla="*/ 466323 h 608274"/>
              <a:gd name="connsiteX198" fmla="*/ 360328 w 431507"/>
              <a:gd name="connsiteY198" fmla="*/ 288130 h 608274"/>
              <a:gd name="connsiteX199" fmla="*/ 337947 w 431507"/>
              <a:gd name="connsiteY199" fmla="*/ 265780 h 608274"/>
              <a:gd name="connsiteX200" fmla="*/ 199622 w 431507"/>
              <a:gd name="connsiteY200" fmla="*/ 236283 h 608274"/>
              <a:gd name="connsiteX201" fmla="*/ 199622 w 431507"/>
              <a:gd name="connsiteY201" fmla="*/ 252390 h 608274"/>
              <a:gd name="connsiteX202" fmla="*/ 231885 w 431507"/>
              <a:gd name="connsiteY202" fmla="*/ 252390 h 608274"/>
              <a:gd name="connsiteX203" fmla="*/ 231885 w 431507"/>
              <a:gd name="connsiteY203" fmla="*/ 236283 h 608274"/>
              <a:gd name="connsiteX204" fmla="*/ 184926 w 431507"/>
              <a:gd name="connsiteY204" fmla="*/ 127088 h 608274"/>
              <a:gd name="connsiteX205" fmla="*/ 215754 w 431507"/>
              <a:gd name="connsiteY205" fmla="*/ 139841 h 608274"/>
              <a:gd name="connsiteX206" fmla="*/ 246682 w 431507"/>
              <a:gd name="connsiteY206" fmla="*/ 127088 h 608274"/>
              <a:gd name="connsiteX207" fmla="*/ 256152 w 431507"/>
              <a:gd name="connsiteY207" fmla="*/ 136527 h 608274"/>
              <a:gd name="connsiteX208" fmla="*/ 215754 w 431507"/>
              <a:gd name="connsiteY208" fmla="*/ 153197 h 608274"/>
              <a:gd name="connsiteX209" fmla="*/ 175355 w 431507"/>
              <a:gd name="connsiteY209" fmla="*/ 136527 h 608274"/>
              <a:gd name="connsiteX210" fmla="*/ 274217 w 431507"/>
              <a:gd name="connsiteY210" fmla="*/ 96675 h 608274"/>
              <a:gd name="connsiteX211" fmla="*/ 287766 w 431507"/>
              <a:gd name="connsiteY211" fmla="*/ 96675 h 608274"/>
              <a:gd name="connsiteX212" fmla="*/ 287766 w 431507"/>
              <a:gd name="connsiteY212" fmla="*/ 138238 h 608274"/>
              <a:gd name="connsiteX213" fmla="*/ 274217 w 431507"/>
              <a:gd name="connsiteY213" fmla="*/ 138238 h 608274"/>
              <a:gd name="connsiteX214" fmla="*/ 143883 w 431507"/>
              <a:gd name="connsiteY214" fmla="*/ 96675 h 608274"/>
              <a:gd name="connsiteX215" fmla="*/ 157290 w 431507"/>
              <a:gd name="connsiteY215" fmla="*/ 96675 h 608274"/>
              <a:gd name="connsiteX216" fmla="*/ 157290 w 431507"/>
              <a:gd name="connsiteY216" fmla="*/ 138238 h 608274"/>
              <a:gd name="connsiteX217" fmla="*/ 143883 w 431507"/>
              <a:gd name="connsiteY217" fmla="*/ 138238 h 608274"/>
              <a:gd name="connsiteX218" fmla="*/ 99498 w 431507"/>
              <a:gd name="connsiteY218" fmla="*/ 41613 h 608274"/>
              <a:gd name="connsiteX219" fmla="*/ 99498 w 431507"/>
              <a:gd name="connsiteY219" fmla="*/ 194609 h 608274"/>
              <a:gd name="connsiteX220" fmla="*/ 332080 w 431507"/>
              <a:gd name="connsiteY220" fmla="*/ 194609 h 608274"/>
              <a:gd name="connsiteX221" fmla="*/ 332080 w 431507"/>
              <a:gd name="connsiteY221" fmla="*/ 41613 h 608274"/>
              <a:gd name="connsiteX222" fmla="*/ 98389 w 431507"/>
              <a:gd name="connsiteY222" fmla="*/ 28226 h 608274"/>
              <a:gd name="connsiteX223" fmla="*/ 333088 w 431507"/>
              <a:gd name="connsiteY223" fmla="*/ 28226 h 608274"/>
              <a:gd name="connsiteX224" fmla="*/ 345488 w 431507"/>
              <a:gd name="connsiteY224" fmla="*/ 40607 h 608274"/>
              <a:gd name="connsiteX225" fmla="*/ 345488 w 431507"/>
              <a:gd name="connsiteY225" fmla="*/ 195716 h 608274"/>
              <a:gd name="connsiteX226" fmla="*/ 333088 w 431507"/>
              <a:gd name="connsiteY226" fmla="*/ 208097 h 608274"/>
              <a:gd name="connsiteX227" fmla="*/ 98389 w 431507"/>
              <a:gd name="connsiteY227" fmla="*/ 208097 h 608274"/>
              <a:gd name="connsiteX228" fmla="*/ 86090 w 431507"/>
              <a:gd name="connsiteY228" fmla="*/ 195716 h 608274"/>
              <a:gd name="connsiteX229" fmla="*/ 86090 w 431507"/>
              <a:gd name="connsiteY229" fmla="*/ 40607 h 608274"/>
              <a:gd name="connsiteX230" fmla="*/ 98389 w 431507"/>
              <a:gd name="connsiteY230" fmla="*/ 28226 h 608274"/>
              <a:gd name="connsiteX231" fmla="*/ 98400 w 431507"/>
              <a:gd name="connsiteY231" fmla="*/ 13390 h 608274"/>
              <a:gd name="connsiteX232" fmla="*/ 71279 w 431507"/>
              <a:gd name="connsiteY232" fmla="*/ 40572 h 608274"/>
              <a:gd name="connsiteX233" fmla="*/ 71279 w 431507"/>
              <a:gd name="connsiteY233" fmla="*/ 195711 h 608274"/>
              <a:gd name="connsiteX234" fmla="*/ 98400 w 431507"/>
              <a:gd name="connsiteY234" fmla="*/ 222792 h 608274"/>
              <a:gd name="connsiteX235" fmla="*/ 333107 w 431507"/>
              <a:gd name="connsiteY235" fmla="*/ 222792 h 608274"/>
              <a:gd name="connsiteX236" fmla="*/ 360328 w 431507"/>
              <a:gd name="connsiteY236" fmla="*/ 195711 h 608274"/>
              <a:gd name="connsiteX237" fmla="*/ 360328 w 431507"/>
              <a:gd name="connsiteY237" fmla="*/ 40572 h 608274"/>
              <a:gd name="connsiteX238" fmla="*/ 333107 w 431507"/>
              <a:gd name="connsiteY238" fmla="*/ 13390 h 608274"/>
              <a:gd name="connsiteX239" fmla="*/ 98400 w 431507"/>
              <a:gd name="connsiteY239" fmla="*/ 0 h 608274"/>
              <a:gd name="connsiteX240" fmla="*/ 333107 w 431507"/>
              <a:gd name="connsiteY240" fmla="*/ 0 h 608274"/>
              <a:gd name="connsiteX241" fmla="*/ 373738 w 431507"/>
              <a:gd name="connsiteY241" fmla="*/ 40572 h 608274"/>
              <a:gd name="connsiteX242" fmla="*/ 373738 w 431507"/>
              <a:gd name="connsiteY242" fmla="*/ 195711 h 608274"/>
              <a:gd name="connsiteX243" fmla="*/ 333107 w 431507"/>
              <a:gd name="connsiteY243" fmla="*/ 236283 h 608274"/>
              <a:gd name="connsiteX244" fmla="*/ 245394 w 431507"/>
              <a:gd name="connsiteY244" fmla="*/ 236283 h 608274"/>
              <a:gd name="connsiteX245" fmla="*/ 245394 w 431507"/>
              <a:gd name="connsiteY245" fmla="*/ 252390 h 608274"/>
              <a:gd name="connsiteX246" fmla="*/ 337947 w 431507"/>
              <a:gd name="connsiteY246" fmla="*/ 252390 h 608274"/>
              <a:gd name="connsiteX247" fmla="*/ 373637 w 431507"/>
              <a:gd name="connsiteY247" fmla="*/ 285915 h 608274"/>
              <a:gd name="connsiteX248" fmla="*/ 431507 w 431507"/>
              <a:gd name="connsiteY248" fmla="*/ 285915 h 608274"/>
              <a:gd name="connsiteX249" fmla="*/ 431507 w 431507"/>
              <a:gd name="connsiteY249" fmla="*/ 454343 h 608274"/>
              <a:gd name="connsiteX250" fmla="*/ 395212 w 431507"/>
              <a:gd name="connsiteY250" fmla="*/ 454343 h 608274"/>
              <a:gd name="connsiteX251" fmla="*/ 395212 w 431507"/>
              <a:gd name="connsiteY251" fmla="*/ 322158 h 608274"/>
              <a:gd name="connsiteX252" fmla="*/ 373738 w 431507"/>
              <a:gd name="connsiteY252" fmla="*/ 322158 h 608274"/>
              <a:gd name="connsiteX253" fmla="*/ 373738 w 431507"/>
              <a:gd name="connsiteY253" fmla="*/ 466323 h 608274"/>
              <a:gd name="connsiteX254" fmla="*/ 338047 w 431507"/>
              <a:gd name="connsiteY254" fmla="*/ 502063 h 608274"/>
              <a:gd name="connsiteX255" fmla="*/ 338047 w 431507"/>
              <a:gd name="connsiteY255" fmla="*/ 527533 h 608274"/>
              <a:gd name="connsiteX256" fmla="*/ 353775 w 431507"/>
              <a:gd name="connsiteY256" fmla="*/ 527533 h 608274"/>
              <a:gd name="connsiteX257" fmla="*/ 353775 w 431507"/>
              <a:gd name="connsiteY257" fmla="*/ 608274 h 608274"/>
              <a:gd name="connsiteX258" fmla="*/ 236321 w 431507"/>
              <a:gd name="connsiteY258" fmla="*/ 608274 h 608274"/>
              <a:gd name="connsiteX259" fmla="*/ 236321 w 431507"/>
              <a:gd name="connsiteY259" fmla="*/ 527533 h 608274"/>
              <a:gd name="connsiteX260" fmla="*/ 252149 w 431507"/>
              <a:gd name="connsiteY260" fmla="*/ 527533 h 608274"/>
              <a:gd name="connsiteX261" fmla="*/ 252149 w 431507"/>
              <a:gd name="connsiteY261" fmla="*/ 502063 h 608274"/>
              <a:gd name="connsiteX262" fmla="*/ 179358 w 431507"/>
              <a:gd name="connsiteY262" fmla="*/ 502063 h 608274"/>
              <a:gd name="connsiteX263" fmla="*/ 179358 w 431507"/>
              <a:gd name="connsiteY263" fmla="*/ 527533 h 608274"/>
              <a:gd name="connsiteX264" fmla="*/ 195186 w 431507"/>
              <a:gd name="connsiteY264" fmla="*/ 527533 h 608274"/>
              <a:gd name="connsiteX265" fmla="*/ 195186 w 431507"/>
              <a:gd name="connsiteY265" fmla="*/ 608274 h 608274"/>
              <a:gd name="connsiteX266" fmla="*/ 77732 w 431507"/>
              <a:gd name="connsiteY266" fmla="*/ 608274 h 608274"/>
              <a:gd name="connsiteX267" fmla="*/ 77732 w 431507"/>
              <a:gd name="connsiteY267" fmla="*/ 527533 h 608274"/>
              <a:gd name="connsiteX268" fmla="*/ 93560 w 431507"/>
              <a:gd name="connsiteY268" fmla="*/ 527533 h 608274"/>
              <a:gd name="connsiteX269" fmla="*/ 93560 w 431507"/>
              <a:gd name="connsiteY269" fmla="*/ 502063 h 608274"/>
              <a:gd name="connsiteX270" fmla="*/ 57870 w 431507"/>
              <a:gd name="connsiteY270" fmla="*/ 466323 h 608274"/>
              <a:gd name="connsiteX271" fmla="*/ 57870 w 431507"/>
              <a:gd name="connsiteY271" fmla="*/ 322158 h 608274"/>
              <a:gd name="connsiteX272" fmla="*/ 36295 w 431507"/>
              <a:gd name="connsiteY272" fmla="*/ 322158 h 608274"/>
              <a:gd name="connsiteX273" fmla="*/ 36295 w 431507"/>
              <a:gd name="connsiteY273" fmla="*/ 454343 h 608274"/>
              <a:gd name="connsiteX274" fmla="*/ 0 w 431507"/>
              <a:gd name="connsiteY274" fmla="*/ 454343 h 608274"/>
              <a:gd name="connsiteX275" fmla="*/ 0 w 431507"/>
              <a:gd name="connsiteY275" fmla="*/ 285915 h 608274"/>
              <a:gd name="connsiteX276" fmla="*/ 57870 w 431507"/>
              <a:gd name="connsiteY276" fmla="*/ 285915 h 608274"/>
              <a:gd name="connsiteX277" fmla="*/ 93661 w 431507"/>
              <a:gd name="connsiteY277" fmla="*/ 252390 h 608274"/>
              <a:gd name="connsiteX278" fmla="*/ 186213 w 431507"/>
              <a:gd name="connsiteY278" fmla="*/ 252390 h 608274"/>
              <a:gd name="connsiteX279" fmla="*/ 186213 w 431507"/>
              <a:gd name="connsiteY279" fmla="*/ 236283 h 608274"/>
              <a:gd name="connsiteX280" fmla="*/ 98400 w 431507"/>
              <a:gd name="connsiteY280" fmla="*/ 236283 h 608274"/>
              <a:gd name="connsiteX281" fmla="*/ 57870 w 431507"/>
              <a:gd name="connsiteY281" fmla="*/ 195711 h 608274"/>
              <a:gd name="connsiteX282" fmla="*/ 57870 w 431507"/>
              <a:gd name="connsiteY282" fmla="*/ 40572 h 608274"/>
              <a:gd name="connsiteX283" fmla="*/ 98400 w 431507"/>
              <a:gd name="connsiteY283"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Lst>
            <a:rect l="l" t="t" r="r" b="b"/>
            <a:pathLst>
              <a:path w="431507" h="608274">
                <a:moveTo>
                  <a:pt x="249830" y="561058"/>
                </a:moveTo>
                <a:lnTo>
                  <a:pt x="249830" y="594884"/>
                </a:lnTo>
                <a:lnTo>
                  <a:pt x="340366" y="594884"/>
                </a:lnTo>
                <a:lnTo>
                  <a:pt x="340366" y="561058"/>
                </a:lnTo>
                <a:close/>
                <a:moveTo>
                  <a:pt x="91141" y="561058"/>
                </a:moveTo>
                <a:lnTo>
                  <a:pt x="91141" y="594884"/>
                </a:lnTo>
                <a:lnTo>
                  <a:pt x="181777" y="594884"/>
                </a:lnTo>
                <a:lnTo>
                  <a:pt x="181777" y="561058"/>
                </a:lnTo>
                <a:close/>
                <a:moveTo>
                  <a:pt x="249830" y="540923"/>
                </a:moveTo>
                <a:lnTo>
                  <a:pt x="249830" y="547668"/>
                </a:lnTo>
                <a:lnTo>
                  <a:pt x="340366" y="547668"/>
                </a:lnTo>
                <a:lnTo>
                  <a:pt x="340366" y="540923"/>
                </a:lnTo>
                <a:close/>
                <a:moveTo>
                  <a:pt x="91141" y="540923"/>
                </a:moveTo>
                <a:lnTo>
                  <a:pt x="91141" y="547668"/>
                </a:lnTo>
                <a:lnTo>
                  <a:pt x="181777" y="547668"/>
                </a:lnTo>
                <a:lnTo>
                  <a:pt x="181777" y="540923"/>
                </a:lnTo>
                <a:close/>
                <a:moveTo>
                  <a:pt x="265558" y="502063"/>
                </a:moveTo>
                <a:lnTo>
                  <a:pt x="265558" y="527533"/>
                </a:lnTo>
                <a:lnTo>
                  <a:pt x="324538" y="527533"/>
                </a:lnTo>
                <a:lnTo>
                  <a:pt x="324538" y="502063"/>
                </a:lnTo>
                <a:close/>
                <a:moveTo>
                  <a:pt x="106969" y="502063"/>
                </a:moveTo>
                <a:lnTo>
                  <a:pt x="106969" y="527533"/>
                </a:lnTo>
                <a:lnTo>
                  <a:pt x="165949" y="527533"/>
                </a:lnTo>
                <a:lnTo>
                  <a:pt x="165949" y="502063"/>
                </a:lnTo>
                <a:close/>
                <a:moveTo>
                  <a:pt x="317980" y="451238"/>
                </a:moveTo>
                <a:lnTo>
                  <a:pt x="317980" y="466846"/>
                </a:lnTo>
                <a:lnTo>
                  <a:pt x="335726" y="466846"/>
                </a:lnTo>
                <a:cubicBezTo>
                  <a:pt x="337440" y="466846"/>
                  <a:pt x="338751" y="465537"/>
                  <a:pt x="338751" y="463825"/>
                </a:cubicBezTo>
                <a:lnTo>
                  <a:pt x="338751" y="451238"/>
                </a:lnTo>
                <a:close/>
                <a:moveTo>
                  <a:pt x="279765" y="451238"/>
                </a:moveTo>
                <a:lnTo>
                  <a:pt x="279765" y="466846"/>
                </a:lnTo>
                <a:lnTo>
                  <a:pt x="304469" y="466846"/>
                </a:lnTo>
                <a:lnTo>
                  <a:pt x="304469" y="451238"/>
                </a:lnTo>
                <a:close/>
                <a:moveTo>
                  <a:pt x="241551" y="451238"/>
                </a:moveTo>
                <a:lnTo>
                  <a:pt x="241551" y="466846"/>
                </a:lnTo>
                <a:lnTo>
                  <a:pt x="266355" y="466846"/>
                </a:lnTo>
                <a:lnTo>
                  <a:pt x="266355" y="451238"/>
                </a:lnTo>
                <a:close/>
                <a:moveTo>
                  <a:pt x="203437" y="451238"/>
                </a:moveTo>
                <a:lnTo>
                  <a:pt x="203437" y="466846"/>
                </a:lnTo>
                <a:lnTo>
                  <a:pt x="228140" y="466846"/>
                </a:lnTo>
                <a:lnTo>
                  <a:pt x="228140" y="451238"/>
                </a:lnTo>
                <a:close/>
                <a:moveTo>
                  <a:pt x="165222" y="451238"/>
                </a:moveTo>
                <a:lnTo>
                  <a:pt x="165222" y="466846"/>
                </a:lnTo>
                <a:lnTo>
                  <a:pt x="189926" y="466846"/>
                </a:lnTo>
                <a:lnTo>
                  <a:pt x="189926" y="451238"/>
                </a:lnTo>
                <a:close/>
                <a:moveTo>
                  <a:pt x="127008" y="451238"/>
                </a:moveTo>
                <a:lnTo>
                  <a:pt x="127008" y="466846"/>
                </a:lnTo>
                <a:lnTo>
                  <a:pt x="151812" y="466846"/>
                </a:lnTo>
                <a:lnTo>
                  <a:pt x="151812" y="451238"/>
                </a:lnTo>
                <a:close/>
                <a:moveTo>
                  <a:pt x="92725" y="451238"/>
                </a:moveTo>
                <a:lnTo>
                  <a:pt x="92725" y="463825"/>
                </a:lnTo>
                <a:cubicBezTo>
                  <a:pt x="92725" y="465537"/>
                  <a:pt x="94137" y="466846"/>
                  <a:pt x="95750" y="466846"/>
                </a:cubicBezTo>
                <a:lnTo>
                  <a:pt x="113597" y="466846"/>
                </a:lnTo>
                <a:lnTo>
                  <a:pt x="113597" y="451238"/>
                </a:lnTo>
                <a:close/>
                <a:moveTo>
                  <a:pt x="408722" y="422832"/>
                </a:moveTo>
                <a:lnTo>
                  <a:pt x="408722" y="440953"/>
                </a:lnTo>
                <a:lnTo>
                  <a:pt x="418098" y="440953"/>
                </a:lnTo>
                <a:lnTo>
                  <a:pt x="418098" y="422832"/>
                </a:lnTo>
                <a:close/>
                <a:moveTo>
                  <a:pt x="13510" y="422832"/>
                </a:moveTo>
                <a:lnTo>
                  <a:pt x="13510" y="440953"/>
                </a:lnTo>
                <a:lnTo>
                  <a:pt x="22886" y="440953"/>
                </a:lnTo>
                <a:lnTo>
                  <a:pt x="22886" y="422832"/>
                </a:lnTo>
                <a:close/>
                <a:moveTo>
                  <a:pt x="298822" y="422136"/>
                </a:moveTo>
                <a:lnTo>
                  <a:pt x="298822" y="437744"/>
                </a:lnTo>
                <a:lnTo>
                  <a:pt x="338751" y="437744"/>
                </a:lnTo>
                <a:lnTo>
                  <a:pt x="338751" y="422136"/>
                </a:lnTo>
                <a:close/>
                <a:moveTo>
                  <a:pt x="260708" y="422136"/>
                </a:moveTo>
                <a:lnTo>
                  <a:pt x="260708" y="437744"/>
                </a:lnTo>
                <a:lnTo>
                  <a:pt x="285412" y="437744"/>
                </a:lnTo>
                <a:lnTo>
                  <a:pt x="285412" y="422136"/>
                </a:lnTo>
                <a:close/>
                <a:moveTo>
                  <a:pt x="222494" y="422136"/>
                </a:moveTo>
                <a:lnTo>
                  <a:pt x="222494" y="437744"/>
                </a:lnTo>
                <a:lnTo>
                  <a:pt x="247197" y="437744"/>
                </a:lnTo>
                <a:lnTo>
                  <a:pt x="247197" y="422136"/>
                </a:lnTo>
                <a:close/>
                <a:moveTo>
                  <a:pt x="184279" y="422136"/>
                </a:moveTo>
                <a:lnTo>
                  <a:pt x="184279" y="437744"/>
                </a:lnTo>
                <a:lnTo>
                  <a:pt x="209083" y="437744"/>
                </a:lnTo>
                <a:lnTo>
                  <a:pt x="209083" y="422136"/>
                </a:lnTo>
                <a:close/>
                <a:moveTo>
                  <a:pt x="146165" y="422136"/>
                </a:moveTo>
                <a:lnTo>
                  <a:pt x="146165" y="437744"/>
                </a:lnTo>
                <a:lnTo>
                  <a:pt x="170869" y="437744"/>
                </a:lnTo>
                <a:lnTo>
                  <a:pt x="170869" y="422136"/>
                </a:lnTo>
                <a:close/>
                <a:moveTo>
                  <a:pt x="92725" y="422136"/>
                </a:moveTo>
                <a:lnTo>
                  <a:pt x="92725" y="437744"/>
                </a:lnTo>
                <a:lnTo>
                  <a:pt x="132654" y="437744"/>
                </a:lnTo>
                <a:lnTo>
                  <a:pt x="132654" y="422136"/>
                </a:lnTo>
                <a:close/>
                <a:moveTo>
                  <a:pt x="317980" y="393035"/>
                </a:moveTo>
                <a:lnTo>
                  <a:pt x="317980" y="408743"/>
                </a:lnTo>
                <a:lnTo>
                  <a:pt x="338751" y="408743"/>
                </a:lnTo>
                <a:lnTo>
                  <a:pt x="338751" y="396056"/>
                </a:lnTo>
                <a:cubicBezTo>
                  <a:pt x="338751" y="394344"/>
                  <a:pt x="337440" y="393035"/>
                  <a:pt x="335726" y="393035"/>
                </a:cubicBezTo>
                <a:close/>
                <a:moveTo>
                  <a:pt x="279765" y="393035"/>
                </a:moveTo>
                <a:lnTo>
                  <a:pt x="279765" y="408743"/>
                </a:lnTo>
                <a:lnTo>
                  <a:pt x="304469" y="408743"/>
                </a:lnTo>
                <a:lnTo>
                  <a:pt x="304469" y="393035"/>
                </a:lnTo>
                <a:close/>
                <a:moveTo>
                  <a:pt x="241551" y="393035"/>
                </a:moveTo>
                <a:lnTo>
                  <a:pt x="241551" y="408743"/>
                </a:lnTo>
                <a:lnTo>
                  <a:pt x="266355" y="408743"/>
                </a:lnTo>
                <a:lnTo>
                  <a:pt x="266355" y="393035"/>
                </a:lnTo>
                <a:close/>
                <a:moveTo>
                  <a:pt x="203437" y="393035"/>
                </a:moveTo>
                <a:lnTo>
                  <a:pt x="203437" y="408743"/>
                </a:lnTo>
                <a:lnTo>
                  <a:pt x="228140" y="408743"/>
                </a:lnTo>
                <a:lnTo>
                  <a:pt x="228140" y="393035"/>
                </a:lnTo>
                <a:close/>
                <a:moveTo>
                  <a:pt x="165222" y="393035"/>
                </a:moveTo>
                <a:lnTo>
                  <a:pt x="165222" y="408743"/>
                </a:lnTo>
                <a:lnTo>
                  <a:pt x="189926" y="408743"/>
                </a:lnTo>
                <a:lnTo>
                  <a:pt x="189926" y="393035"/>
                </a:lnTo>
                <a:close/>
                <a:moveTo>
                  <a:pt x="127008" y="393035"/>
                </a:moveTo>
                <a:lnTo>
                  <a:pt x="127008" y="408743"/>
                </a:lnTo>
                <a:lnTo>
                  <a:pt x="151812" y="408743"/>
                </a:lnTo>
                <a:lnTo>
                  <a:pt x="151812" y="393035"/>
                </a:lnTo>
                <a:close/>
                <a:moveTo>
                  <a:pt x="95750" y="393035"/>
                </a:moveTo>
                <a:cubicBezTo>
                  <a:pt x="94137" y="393035"/>
                  <a:pt x="92725" y="394344"/>
                  <a:pt x="92725" y="396056"/>
                </a:cubicBezTo>
                <a:lnTo>
                  <a:pt x="92725" y="408743"/>
                </a:lnTo>
                <a:lnTo>
                  <a:pt x="113597" y="408743"/>
                </a:lnTo>
                <a:lnTo>
                  <a:pt x="113597" y="393035"/>
                </a:lnTo>
                <a:close/>
                <a:moveTo>
                  <a:pt x="95750" y="379642"/>
                </a:moveTo>
                <a:lnTo>
                  <a:pt x="335726" y="379642"/>
                </a:lnTo>
                <a:cubicBezTo>
                  <a:pt x="344801" y="379642"/>
                  <a:pt x="352262" y="386993"/>
                  <a:pt x="352262" y="396056"/>
                </a:cubicBezTo>
                <a:lnTo>
                  <a:pt x="352262" y="463825"/>
                </a:lnTo>
                <a:cubicBezTo>
                  <a:pt x="352262" y="472887"/>
                  <a:pt x="344801" y="480339"/>
                  <a:pt x="335726" y="480339"/>
                </a:cubicBezTo>
                <a:lnTo>
                  <a:pt x="95750" y="480339"/>
                </a:lnTo>
                <a:cubicBezTo>
                  <a:pt x="86676" y="480339"/>
                  <a:pt x="79315" y="472887"/>
                  <a:pt x="79315" y="463825"/>
                </a:cubicBezTo>
                <a:lnTo>
                  <a:pt x="79315" y="396056"/>
                </a:lnTo>
                <a:cubicBezTo>
                  <a:pt x="79315" y="386993"/>
                  <a:pt x="86676" y="379642"/>
                  <a:pt x="95750" y="379642"/>
                </a:cubicBezTo>
                <a:close/>
                <a:moveTo>
                  <a:pt x="418098" y="308869"/>
                </a:moveTo>
                <a:lnTo>
                  <a:pt x="408722" y="318231"/>
                </a:lnTo>
                <a:lnTo>
                  <a:pt x="408722" y="409442"/>
                </a:lnTo>
                <a:lnTo>
                  <a:pt x="418098" y="409442"/>
                </a:lnTo>
                <a:close/>
                <a:moveTo>
                  <a:pt x="13510" y="308869"/>
                </a:moveTo>
                <a:lnTo>
                  <a:pt x="13510" y="409442"/>
                </a:lnTo>
                <a:lnTo>
                  <a:pt x="22886" y="409442"/>
                </a:lnTo>
                <a:lnTo>
                  <a:pt x="22886" y="318231"/>
                </a:lnTo>
                <a:close/>
                <a:moveTo>
                  <a:pt x="373738" y="299305"/>
                </a:moveTo>
                <a:lnTo>
                  <a:pt x="373738" y="308768"/>
                </a:lnTo>
                <a:lnTo>
                  <a:pt x="399144" y="308768"/>
                </a:lnTo>
                <a:lnTo>
                  <a:pt x="408621" y="299305"/>
                </a:lnTo>
                <a:close/>
                <a:moveTo>
                  <a:pt x="22987" y="299305"/>
                </a:moveTo>
                <a:lnTo>
                  <a:pt x="32363" y="308768"/>
                </a:lnTo>
                <a:lnTo>
                  <a:pt x="57870" y="308768"/>
                </a:lnTo>
                <a:lnTo>
                  <a:pt x="57870" y="299305"/>
                </a:lnTo>
                <a:close/>
                <a:moveTo>
                  <a:pt x="287636" y="287249"/>
                </a:moveTo>
                <a:cubicBezTo>
                  <a:pt x="286124" y="287249"/>
                  <a:pt x="285015" y="288457"/>
                  <a:pt x="285015" y="289866"/>
                </a:cubicBezTo>
                <a:lnTo>
                  <a:pt x="285015" y="349950"/>
                </a:lnTo>
                <a:cubicBezTo>
                  <a:pt x="285015" y="351359"/>
                  <a:pt x="286124" y="352567"/>
                  <a:pt x="287636" y="352567"/>
                </a:cubicBezTo>
                <a:lnTo>
                  <a:pt x="336131" y="352567"/>
                </a:lnTo>
                <a:cubicBezTo>
                  <a:pt x="337643" y="352567"/>
                  <a:pt x="338752" y="351359"/>
                  <a:pt x="338752" y="349950"/>
                </a:cubicBezTo>
                <a:lnTo>
                  <a:pt x="338752" y="289866"/>
                </a:lnTo>
                <a:cubicBezTo>
                  <a:pt x="338752" y="288457"/>
                  <a:pt x="337643" y="287249"/>
                  <a:pt x="336131" y="287249"/>
                </a:cubicBezTo>
                <a:close/>
                <a:moveTo>
                  <a:pt x="191455" y="287249"/>
                </a:moveTo>
                <a:cubicBezTo>
                  <a:pt x="190044" y="287249"/>
                  <a:pt x="188935" y="288457"/>
                  <a:pt x="188935" y="289866"/>
                </a:cubicBezTo>
                <a:lnTo>
                  <a:pt x="188935" y="349950"/>
                </a:lnTo>
                <a:cubicBezTo>
                  <a:pt x="188935" y="351359"/>
                  <a:pt x="190044" y="352567"/>
                  <a:pt x="191455" y="352567"/>
                </a:cubicBezTo>
                <a:lnTo>
                  <a:pt x="240051" y="352567"/>
                </a:lnTo>
                <a:cubicBezTo>
                  <a:pt x="241462" y="352567"/>
                  <a:pt x="242672" y="351359"/>
                  <a:pt x="242672" y="349950"/>
                </a:cubicBezTo>
                <a:lnTo>
                  <a:pt x="242672" y="289866"/>
                </a:lnTo>
                <a:cubicBezTo>
                  <a:pt x="242672" y="288457"/>
                  <a:pt x="241462" y="287249"/>
                  <a:pt x="240051" y="287249"/>
                </a:cubicBezTo>
                <a:close/>
                <a:moveTo>
                  <a:pt x="95345" y="287249"/>
                </a:moveTo>
                <a:cubicBezTo>
                  <a:pt x="93934" y="287249"/>
                  <a:pt x="92724" y="288457"/>
                  <a:pt x="92724" y="289866"/>
                </a:cubicBezTo>
                <a:lnTo>
                  <a:pt x="92724" y="349950"/>
                </a:lnTo>
                <a:cubicBezTo>
                  <a:pt x="92724" y="351359"/>
                  <a:pt x="93934" y="352567"/>
                  <a:pt x="95345" y="352567"/>
                </a:cubicBezTo>
                <a:lnTo>
                  <a:pt x="143941" y="352567"/>
                </a:lnTo>
                <a:cubicBezTo>
                  <a:pt x="145352" y="352567"/>
                  <a:pt x="146562" y="351359"/>
                  <a:pt x="146562" y="349950"/>
                </a:cubicBezTo>
                <a:lnTo>
                  <a:pt x="146562" y="289866"/>
                </a:lnTo>
                <a:cubicBezTo>
                  <a:pt x="146562" y="288457"/>
                  <a:pt x="145352" y="287249"/>
                  <a:pt x="143941" y="287249"/>
                </a:cubicBezTo>
                <a:close/>
                <a:moveTo>
                  <a:pt x="287636" y="273864"/>
                </a:moveTo>
                <a:lnTo>
                  <a:pt x="336131" y="273864"/>
                </a:lnTo>
                <a:cubicBezTo>
                  <a:pt x="345003" y="273864"/>
                  <a:pt x="352262" y="281010"/>
                  <a:pt x="352262" y="289866"/>
                </a:cubicBezTo>
                <a:lnTo>
                  <a:pt x="352262" y="349950"/>
                </a:lnTo>
                <a:cubicBezTo>
                  <a:pt x="352262" y="358806"/>
                  <a:pt x="345003" y="365952"/>
                  <a:pt x="336131" y="365952"/>
                </a:cubicBezTo>
                <a:lnTo>
                  <a:pt x="287636" y="365952"/>
                </a:lnTo>
                <a:cubicBezTo>
                  <a:pt x="278764" y="365952"/>
                  <a:pt x="271606" y="358806"/>
                  <a:pt x="271606" y="349950"/>
                </a:cubicBezTo>
                <a:lnTo>
                  <a:pt x="271606" y="289866"/>
                </a:lnTo>
                <a:cubicBezTo>
                  <a:pt x="271606" y="281010"/>
                  <a:pt x="278764" y="273864"/>
                  <a:pt x="287636" y="273864"/>
                </a:cubicBezTo>
                <a:close/>
                <a:moveTo>
                  <a:pt x="191455" y="273864"/>
                </a:moveTo>
                <a:lnTo>
                  <a:pt x="240051" y="273864"/>
                </a:lnTo>
                <a:cubicBezTo>
                  <a:pt x="248923" y="273864"/>
                  <a:pt x="256081" y="281010"/>
                  <a:pt x="256081" y="289866"/>
                </a:cubicBezTo>
                <a:lnTo>
                  <a:pt x="256081" y="349950"/>
                </a:lnTo>
                <a:cubicBezTo>
                  <a:pt x="256081" y="358806"/>
                  <a:pt x="248923" y="365952"/>
                  <a:pt x="240051" y="365952"/>
                </a:cubicBezTo>
                <a:lnTo>
                  <a:pt x="191455" y="365952"/>
                </a:lnTo>
                <a:cubicBezTo>
                  <a:pt x="182684" y="365952"/>
                  <a:pt x="175425" y="358806"/>
                  <a:pt x="175425" y="349950"/>
                </a:cubicBezTo>
                <a:lnTo>
                  <a:pt x="175425" y="289866"/>
                </a:lnTo>
                <a:cubicBezTo>
                  <a:pt x="175425" y="281010"/>
                  <a:pt x="182684" y="273864"/>
                  <a:pt x="191455" y="273864"/>
                </a:cubicBezTo>
                <a:close/>
                <a:moveTo>
                  <a:pt x="95345" y="273864"/>
                </a:moveTo>
                <a:lnTo>
                  <a:pt x="143941" y="273864"/>
                </a:lnTo>
                <a:cubicBezTo>
                  <a:pt x="152813" y="273864"/>
                  <a:pt x="159971" y="281010"/>
                  <a:pt x="159971" y="289866"/>
                </a:cubicBezTo>
                <a:lnTo>
                  <a:pt x="159971" y="349950"/>
                </a:lnTo>
                <a:cubicBezTo>
                  <a:pt x="159971" y="358806"/>
                  <a:pt x="152813" y="365952"/>
                  <a:pt x="143941" y="365952"/>
                </a:cubicBezTo>
                <a:lnTo>
                  <a:pt x="95345" y="365952"/>
                </a:lnTo>
                <a:cubicBezTo>
                  <a:pt x="86473" y="365952"/>
                  <a:pt x="79315" y="358806"/>
                  <a:pt x="79315" y="349950"/>
                </a:cubicBezTo>
                <a:lnTo>
                  <a:pt x="79315" y="289866"/>
                </a:lnTo>
                <a:cubicBezTo>
                  <a:pt x="79315" y="281010"/>
                  <a:pt x="86473" y="273864"/>
                  <a:pt x="95345" y="273864"/>
                </a:cubicBezTo>
                <a:close/>
                <a:moveTo>
                  <a:pt x="93661" y="265780"/>
                </a:moveTo>
                <a:cubicBezTo>
                  <a:pt x="81260" y="265780"/>
                  <a:pt x="71279" y="275747"/>
                  <a:pt x="71279" y="288130"/>
                </a:cubicBezTo>
                <a:lnTo>
                  <a:pt x="71279" y="466323"/>
                </a:lnTo>
                <a:cubicBezTo>
                  <a:pt x="71279" y="478606"/>
                  <a:pt x="81260" y="488572"/>
                  <a:pt x="93661" y="488572"/>
                </a:cubicBezTo>
                <a:lnTo>
                  <a:pt x="337947" y="488572"/>
                </a:lnTo>
                <a:cubicBezTo>
                  <a:pt x="350247" y="488572"/>
                  <a:pt x="360328" y="478606"/>
                  <a:pt x="360328" y="466323"/>
                </a:cubicBezTo>
                <a:lnTo>
                  <a:pt x="360328" y="288130"/>
                </a:lnTo>
                <a:cubicBezTo>
                  <a:pt x="360328" y="275747"/>
                  <a:pt x="350247" y="265780"/>
                  <a:pt x="337947" y="265780"/>
                </a:cubicBezTo>
                <a:close/>
                <a:moveTo>
                  <a:pt x="199622" y="236283"/>
                </a:moveTo>
                <a:lnTo>
                  <a:pt x="199622" y="252390"/>
                </a:lnTo>
                <a:lnTo>
                  <a:pt x="231885" y="252390"/>
                </a:lnTo>
                <a:lnTo>
                  <a:pt x="231885" y="236283"/>
                </a:lnTo>
                <a:close/>
                <a:moveTo>
                  <a:pt x="184926" y="127088"/>
                </a:moveTo>
                <a:cubicBezTo>
                  <a:pt x="193187" y="135322"/>
                  <a:pt x="204067" y="139841"/>
                  <a:pt x="215754" y="139841"/>
                </a:cubicBezTo>
                <a:cubicBezTo>
                  <a:pt x="227440" y="139841"/>
                  <a:pt x="238421" y="135322"/>
                  <a:pt x="246682" y="127088"/>
                </a:cubicBezTo>
                <a:lnTo>
                  <a:pt x="256152" y="136527"/>
                </a:lnTo>
                <a:cubicBezTo>
                  <a:pt x="245372" y="147272"/>
                  <a:pt x="231067" y="153197"/>
                  <a:pt x="215754" y="153197"/>
                </a:cubicBezTo>
                <a:cubicBezTo>
                  <a:pt x="200541" y="153197"/>
                  <a:pt x="186235" y="147272"/>
                  <a:pt x="175355" y="136527"/>
                </a:cubicBezTo>
                <a:close/>
                <a:moveTo>
                  <a:pt x="274217" y="96675"/>
                </a:moveTo>
                <a:lnTo>
                  <a:pt x="287766" y="96675"/>
                </a:lnTo>
                <a:lnTo>
                  <a:pt x="287766" y="138238"/>
                </a:lnTo>
                <a:lnTo>
                  <a:pt x="274217" y="138238"/>
                </a:lnTo>
                <a:close/>
                <a:moveTo>
                  <a:pt x="143883" y="96675"/>
                </a:moveTo>
                <a:lnTo>
                  <a:pt x="157290" y="96675"/>
                </a:lnTo>
                <a:lnTo>
                  <a:pt x="157290" y="138238"/>
                </a:lnTo>
                <a:lnTo>
                  <a:pt x="143883" y="138238"/>
                </a:lnTo>
                <a:close/>
                <a:moveTo>
                  <a:pt x="99498" y="41613"/>
                </a:moveTo>
                <a:lnTo>
                  <a:pt x="99498" y="194609"/>
                </a:lnTo>
                <a:lnTo>
                  <a:pt x="332080" y="194609"/>
                </a:lnTo>
                <a:lnTo>
                  <a:pt x="332080" y="41613"/>
                </a:lnTo>
                <a:close/>
                <a:moveTo>
                  <a:pt x="98389" y="28226"/>
                </a:moveTo>
                <a:lnTo>
                  <a:pt x="333088" y="28226"/>
                </a:lnTo>
                <a:cubicBezTo>
                  <a:pt x="339943" y="28226"/>
                  <a:pt x="345488" y="33762"/>
                  <a:pt x="345488" y="40607"/>
                </a:cubicBezTo>
                <a:lnTo>
                  <a:pt x="345488" y="195716"/>
                </a:lnTo>
                <a:cubicBezTo>
                  <a:pt x="345488" y="202561"/>
                  <a:pt x="339943" y="208097"/>
                  <a:pt x="333088" y="208097"/>
                </a:cubicBezTo>
                <a:lnTo>
                  <a:pt x="98389" y="208097"/>
                </a:lnTo>
                <a:cubicBezTo>
                  <a:pt x="91635" y="208097"/>
                  <a:pt x="86090" y="202561"/>
                  <a:pt x="86090" y="195716"/>
                </a:cubicBezTo>
                <a:lnTo>
                  <a:pt x="86090" y="40607"/>
                </a:lnTo>
                <a:cubicBezTo>
                  <a:pt x="86090" y="33762"/>
                  <a:pt x="91635" y="28226"/>
                  <a:pt x="98389" y="28226"/>
                </a:cubicBezTo>
                <a:close/>
                <a:moveTo>
                  <a:pt x="98400" y="13390"/>
                </a:moveTo>
                <a:cubicBezTo>
                  <a:pt x="83478" y="13390"/>
                  <a:pt x="71279" y="25571"/>
                  <a:pt x="71279" y="40572"/>
                </a:cubicBezTo>
                <a:lnTo>
                  <a:pt x="71279" y="195711"/>
                </a:lnTo>
                <a:cubicBezTo>
                  <a:pt x="71279" y="210611"/>
                  <a:pt x="83478" y="222792"/>
                  <a:pt x="98400" y="222792"/>
                </a:cubicBezTo>
                <a:lnTo>
                  <a:pt x="333107" y="222792"/>
                </a:lnTo>
                <a:cubicBezTo>
                  <a:pt x="348129" y="222792"/>
                  <a:pt x="360328" y="210611"/>
                  <a:pt x="360328" y="195711"/>
                </a:cubicBezTo>
                <a:lnTo>
                  <a:pt x="360328" y="40572"/>
                </a:lnTo>
                <a:cubicBezTo>
                  <a:pt x="360328" y="25571"/>
                  <a:pt x="348129" y="13390"/>
                  <a:pt x="333107" y="13390"/>
                </a:cubicBezTo>
                <a:close/>
                <a:moveTo>
                  <a:pt x="98400" y="0"/>
                </a:moveTo>
                <a:lnTo>
                  <a:pt x="333107" y="0"/>
                </a:lnTo>
                <a:cubicBezTo>
                  <a:pt x="355489" y="0"/>
                  <a:pt x="373738" y="18222"/>
                  <a:pt x="373738" y="40572"/>
                </a:cubicBezTo>
                <a:lnTo>
                  <a:pt x="373738" y="195711"/>
                </a:lnTo>
                <a:cubicBezTo>
                  <a:pt x="373738" y="218060"/>
                  <a:pt x="355489" y="236283"/>
                  <a:pt x="333107" y="236283"/>
                </a:cubicBezTo>
                <a:lnTo>
                  <a:pt x="245394" y="236283"/>
                </a:lnTo>
                <a:lnTo>
                  <a:pt x="245394" y="252390"/>
                </a:lnTo>
                <a:lnTo>
                  <a:pt x="337947" y="252390"/>
                </a:lnTo>
                <a:cubicBezTo>
                  <a:pt x="356901" y="252390"/>
                  <a:pt x="372528" y="267190"/>
                  <a:pt x="373637" y="285915"/>
                </a:cubicBezTo>
                <a:lnTo>
                  <a:pt x="431507" y="285915"/>
                </a:lnTo>
                <a:lnTo>
                  <a:pt x="431507" y="454343"/>
                </a:lnTo>
                <a:lnTo>
                  <a:pt x="395212" y="454343"/>
                </a:lnTo>
                <a:lnTo>
                  <a:pt x="395212" y="322158"/>
                </a:lnTo>
                <a:lnTo>
                  <a:pt x="373738" y="322158"/>
                </a:lnTo>
                <a:lnTo>
                  <a:pt x="373738" y="466323"/>
                </a:lnTo>
                <a:cubicBezTo>
                  <a:pt x="373738" y="485955"/>
                  <a:pt x="357707" y="501962"/>
                  <a:pt x="338047" y="502063"/>
                </a:cubicBezTo>
                <a:lnTo>
                  <a:pt x="338047" y="527533"/>
                </a:lnTo>
                <a:lnTo>
                  <a:pt x="353775" y="527533"/>
                </a:lnTo>
                <a:lnTo>
                  <a:pt x="353775" y="608274"/>
                </a:lnTo>
                <a:lnTo>
                  <a:pt x="236321" y="608274"/>
                </a:lnTo>
                <a:lnTo>
                  <a:pt x="236321" y="527533"/>
                </a:lnTo>
                <a:lnTo>
                  <a:pt x="252149" y="527533"/>
                </a:lnTo>
                <a:lnTo>
                  <a:pt x="252149" y="502063"/>
                </a:lnTo>
                <a:lnTo>
                  <a:pt x="179358" y="502063"/>
                </a:lnTo>
                <a:lnTo>
                  <a:pt x="179358" y="527533"/>
                </a:lnTo>
                <a:lnTo>
                  <a:pt x="195186" y="527533"/>
                </a:lnTo>
                <a:lnTo>
                  <a:pt x="195186" y="608274"/>
                </a:lnTo>
                <a:lnTo>
                  <a:pt x="77732" y="608274"/>
                </a:lnTo>
                <a:lnTo>
                  <a:pt x="77732" y="527533"/>
                </a:lnTo>
                <a:lnTo>
                  <a:pt x="93560" y="527533"/>
                </a:lnTo>
                <a:lnTo>
                  <a:pt x="93560" y="502063"/>
                </a:lnTo>
                <a:cubicBezTo>
                  <a:pt x="73800" y="501962"/>
                  <a:pt x="57870" y="485955"/>
                  <a:pt x="57870" y="466323"/>
                </a:cubicBezTo>
                <a:lnTo>
                  <a:pt x="57870" y="322158"/>
                </a:lnTo>
                <a:lnTo>
                  <a:pt x="36295" y="322158"/>
                </a:lnTo>
                <a:lnTo>
                  <a:pt x="36295" y="454343"/>
                </a:lnTo>
                <a:lnTo>
                  <a:pt x="0" y="454343"/>
                </a:lnTo>
                <a:lnTo>
                  <a:pt x="0" y="285915"/>
                </a:lnTo>
                <a:lnTo>
                  <a:pt x="57870" y="285915"/>
                </a:lnTo>
                <a:cubicBezTo>
                  <a:pt x="58979" y="267190"/>
                  <a:pt x="74606" y="252390"/>
                  <a:pt x="93661" y="252390"/>
                </a:cubicBezTo>
                <a:lnTo>
                  <a:pt x="186213" y="252390"/>
                </a:lnTo>
                <a:lnTo>
                  <a:pt x="186213" y="236283"/>
                </a:lnTo>
                <a:lnTo>
                  <a:pt x="98400" y="236283"/>
                </a:lnTo>
                <a:cubicBezTo>
                  <a:pt x="76018" y="236283"/>
                  <a:pt x="57870" y="218060"/>
                  <a:pt x="57870" y="195711"/>
                </a:cubicBezTo>
                <a:lnTo>
                  <a:pt x="57870" y="40572"/>
                </a:lnTo>
                <a:cubicBezTo>
                  <a:pt x="57870" y="18222"/>
                  <a:pt x="76018" y="0"/>
                  <a:pt x="98400" y="0"/>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p>
        </p:txBody>
      </p:sp>
      <p:sp>
        <p:nvSpPr>
          <p:cNvPr id="105" name="ïsḻîdé"/>
          <p:cNvSpPr/>
          <p:nvPr/>
        </p:nvSpPr>
        <p:spPr bwMode="auto">
          <a:xfrm>
            <a:off x="4861310" y="967006"/>
            <a:ext cx="429626" cy="408136"/>
          </a:xfrm>
          <a:custGeom>
            <a:avLst/>
            <a:gdLst>
              <a:gd name="T0" fmla="*/ 323122 h 606761"/>
              <a:gd name="T1" fmla="*/ 323122 h 606761"/>
              <a:gd name="T2" fmla="*/ 323122 h 606761"/>
              <a:gd name="T3" fmla="*/ 323122 h 606761"/>
              <a:gd name="T4" fmla="*/ 323122 h 606761"/>
              <a:gd name="T5" fmla="*/ 323122 h 606761"/>
              <a:gd name="T6" fmla="*/ 323122 h 606761"/>
              <a:gd name="T7" fmla="*/ 323122 h 606761"/>
              <a:gd name="T8" fmla="*/ 285195 h 606761"/>
              <a:gd name="T9" fmla="*/ 285195 h 606761"/>
              <a:gd name="T10" fmla="*/ 323122 h 606761"/>
              <a:gd name="T11" fmla="*/ 323122 h 606761"/>
              <a:gd name="T12" fmla="*/ 323122 h 606761"/>
              <a:gd name="T13" fmla="*/ 323122 h 606761"/>
              <a:gd name="T14" fmla="*/ 323122 h 606761"/>
              <a:gd name="T15" fmla="*/ 323122 h 606761"/>
              <a:gd name="T16" fmla="*/ 323122 h 606761"/>
              <a:gd name="T17" fmla="*/ 323122 h 606761"/>
              <a:gd name="T18" fmla="*/ 323122 h 606761"/>
              <a:gd name="T19" fmla="*/ 323122 h 606761"/>
              <a:gd name="T20" fmla="*/ 323122 h 606761"/>
              <a:gd name="T21" fmla="*/ 323122 h 606761"/>
              <a:gd name="T22" fmla="*/ 323122 h 606761"/>
              <a:gd name="T23" fmla="*/ 323122 h 606761"/>
              <a:gd name="T24" fmla="*/ 323122 h 606761"/>
              <a:gd name="T25" fmla="*/ 323122 h 606761"/>
              <a:gd name="T26" fmla="*/ 323122 h 606761"/>
              <a:gd name="T27" fmla="*/ 323122 h 606761"/>
              <a:gd name="T28" fmla="*/ 323122 h 606761"/>
              <a:gd name="T29" fmla="*/ 323122 h 606761"/>
              <a:gd name="T30" fmla="*/ 323122 h 606761"/>
              <a:gd name="T31" fmla="*/ 323122 h 606761"/>
              <a:gd name="T32" fmla="*/ 323122 h 606761"/>
              <a:gd name="T33" fmla="*/ 323122 h 606761"/>
              <a:gd name="T34" fmla="*/ 323122 h 606761"/>
              <a:gd name="T35" fmla="*/ 323122 h 606761"/>
              <a:gd name="T36" fmla="*/ 323122 h 606761"/>
              <a:gd name="T37" fmla="*/ 323122 h 606761"/>
              <a:gd name="T38" fmla="*/ 323122 h 606761"/>
              <a:gd name="T39" fmla="*/ 323122 h 606761"/>
              <a:gd name="T40" fmla="*/ 323122 h 606761"/>
              <a:gd name="T41" fmla="*/ 323122 h 606761"/>
              <a:gd name="T42" fmla="*/ 323122 h 606761"/>
              <a:gd name="T43" fmla="*/ 323122 h 606761"/>
              <a:gd name="T44" fmla="*/ 323122 h 606761"/>
              <a:gd name="T45" fmla="*/ 323122 h 606761"/>
              <a:gd name="T46" fmla="*/ 323122 h 606761"/>
              <a:gd name="T47" fmla="*/ 323122 h 606761"/>
              <a:gd name="T48" fmla="*/ 323122 h 606761"/>
              <a:gd name="T49" fmla="*/ 323122 h 606761"/>
              <a:gd name="T50" fmla="*/ 323122 h 606761"/>
              <a:gd name="T51" fmla="*/ 323122 h 606761"/>
              <a:gd name="T52" fmla="*/ 323122 h 606761"/>
              <a:gd name="T53" fmla="*/ 323122 h 606761"/>
              <a:gd name="T54" fmla="*/ 323122 h 606761"/>
              <a:gd name="T55" fmla="*/ 323122 h 606761"/>
              <a:gd name="T56" fmla="*/ 323122 h 606761"/>
              <a:gd name="T57" fmla="*/ 323122 h 606761"/>
              <a:gd name="T58" fmla="*/ 323122 h 606761"/>
              <a:gd name="T59" fmla="*/ 323122 h 606761"/>
              <a:gd name="T60" fmla="*/ 323122 h 606761"/>
              <a:gd name="T61" fmla="*/ 323122 h 606761"/>
              <a:gd name="T62" fmla="*/ 323122 h 606761"/>
              <a:gd name="T63" fmla="*/ 323122 h 606761"/>
              <a:gd name="T64" fmla="*/ 323122 h 606761"/>
              <a:gd name="T65" fmla="*/ 323122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60" h="8160">
                <a:moveTo>
                  <a:pt x="7595" y="0"/>
                </a:moveTo>
                <a:lnTo>
                  <a:pt x="565" y="0"/>
                </a:lnTo>
                <a:cubicBezTo>
                  <a:pt x="253" y="0"/>
                  <a:pt x="0" y="253"/>
                  <a:pt x="0" y="565"/>
                </a:cubicBezTo>
                <a:lnTo>
                  <a:pt x="0" y="7595"/>
                </a:lnTo>
                <a:cubicBezTo>
                  <a:pt x="0" y="7907"/>
                  <a:pt x="253" y="8160"/>
                  <a:pt x="565" y="8160"/>
                </a:cubicBezTo>
                <a:lnTo>
                  <a:pt x="7595" y="8160"/>
                </a:lnTo>
                <a:cubicBezTo>
                  <a:pt x="7907" y="8160"/>
                  <a:pt x="8160" y="7907"/>
                  <a:pt x="8160" y="7595"/>
                </a:cubicBezTo>
                <a:lnTo>
                  <a:pt x="8160" y="565"/>
                </a:lnTo>
                <a:cubicBezTo>
                  <a:pt x="8160" y="253"/>
                  <a:pt x="7907" y="0"/>
                  <a:pt x="7595" y="0"/>
                </a:cubicBezTo>
                <a:close/>
                <a:moveTo>
                  <a:pt x="7030" y="1130"/>
                </a:moveTo>
                <a:lnTo>
                  <a:pt x="7030" y="1856"/>
                </a:lnTo>
                <a:lnTo>
                  <a:pt x="4306" y="1856"/>
                </a:lnTo>
                <a:cubicBezTo>
                  <a:pt x="4227" y="1617"/>
                  <a:pt x="4004" y="1444"/>
                  <a:pt x="3739" y="1444"/>
                </a:cubicBezTo>
                <a:cubicBezTo>
                  <a:pt x="3473" y="1444"/>
                  <a:pt x="3251" y="1617"/>
                  <a:pt x="3171" y="1856"/>
                </a:cubicBezTo>
                <a:lnTo>
                  <a:pt x="2764" y="1856"/>
                </a:lnTo>
                <a:cubicBezTo>
                  <a:pt x="2685" y="1617"/>
                  <a:pt x="2462" y="1444"/>
                  <a:pt x="2197" y="1444"/>
                </a:cubicBezTo>
                <a:cubicBezTo>
                  <a:pt x="1931" y="1444"/>
                  <a:pt x="1709" y="1617"/>
                  <a:pt x="1630" y="1856"/>
                </a:cubicBezTo>
                <a:lnTo>
                  <a:pt x="1130" y="1856"/>
                </a:lnTo>
                <a:lnTo>
                  <a:pt x="1130" y="1130"/>
                </a:lnTo>
                <a:lnTo>
                  <a:pt x="7030" y="1130"/>
                </a:lnTo>
                <a:close/>
                <a:moveTo>
                  <a:pt x="6530" y="5928"/>
                </a:moveTo>
                <a:cubicBezTo>
                  <a:pt x="6451" y="5689"/>
                  <a:pt x="6228" y="5516"/>
                  <a:pt x="5963" y="5516"/>
                </a:cubicBezTo>
                <a:cubicBezTo>
                  <a:pt x="5697" y="5516"/>
                  <a:pt x="5475" y="5689"/>
                  <a:pt x="5396" y="5928"/>
                </a:cubicBezTo>
                <a:lnTo>
                  <a:pt x="4988" y="5928"/>
                </a:lnTo>
                <a:cubicBezTo>
                  <a:pt x="4909" y="5689"/>
                  <a:pt x="4687" y="5516"/>
                  <a:pt x="4421" y="5516"/>
                </a:cubicBezTo>
                <a:cubicBezTo>
                  <a:pt x="4156" y="5516"/>
                  <a:pt x="3933" y="5689"/>
                  <a:pt x="3854" y="5928"/>
                </a:cubicBezTo>
                <a:lnTo>
                  <a:pt x="1130" y="5928"/>
                </a:lnTo>
                <a:lnTo>
                  <a:pt x="1130" y="4269"/>
                </a:lnTo>
                <a:lnTo>
                  <a:pt x="3854" y="4269"/>
                </a:lnTo>
                <a:cubicBezTo>
                  <a:pt x="3934" y="4507"/>
                  <a:pt x="4156" y="4681"/>
                  <a:pt x="4421" y="4681"/>
                </a:cubicBezTo>
                <a:cubicBezTo>
                  <a:pt x="4687" y="4681"/>
                  <a:pt x="4909" y="4507"/>
                  <a:pt x="4989" y="4269"/>
                </a:cubicBezTo>
                <a:lnTo>
                  <a:pt x="5396" y="4269"/>
                </a:lnTo>
                <a:cubicBezTo>
                  <a:pt x="5475" y="4507"/>
                  <a:pt x="5698" y="4681"/>
                  <a:pt x="5963" y="4681"/>
                </a:cubicBezTo>
                <a:cubicBezTo>
                  <a:pt x="6229" y="4681"/>
                  <a:pt x="6451" y="4507"/>
                  <a:pt x="6530" y="4269"/>
                </a:cubicBezTo>
                <a:lnTo>
                  <a:pt x="7030" y="4269"/>
                </a:lnTo>
                <a:lnTo>
                  <a:pt x="7030" y="5928"/>
                </a:lnTo>
                <a:lnTo>
                  <a:pt x="6530" y="5928"/>
                </a:lnTo>
                <a:lnTo>
                  <a:pt x="6530" y="5928"/>
                </a:lnTo>
                <a:close/>
                <a:moveTo>
                  <a:pt x="6530" y="3892"/>
                </a:moveTo>
                <a:cubicBezTo>
                  <a:pt x="6451" y="3653"/>
                  <a:pt x="6228" y="3480"/>
                  <a:pt x="5963" y="3480"/>
                </a:cubicBezTo>
                <a:cubicBezTo>
                  <a:pt x="5697" y="3480"/>
                  <a:pt x="5475" y="3653"/>
                  <a:pt x="5396" y="3892"/>
                </a:cubicBezTo>
                <a:lnTo>
                  <a:pt x="4988" y="3892"/>
                </a:lnTo>
                <a:cubicBezTo>
                  <a:pt x="4909" y="3653"/>
                  <a:pt x="4687" y="3480"/>
                  <a:pt x="4421" y="3480"/>
                </a:cubicBezTo>
                <a:cubicBezTo>
                  <a:pt x="4156" y="3480"/>
                  <a:pt x="3933" y="3653"/>
                  <a:pt x="3854" y="3892"/>
                </a:cubicBezTo>
                <a:lnTo>
                  <a:pt x="1130" y="3892"/>
                </a:lnTo>
                <a:lnTo>
                  <a:pt x="1130" y="2232"/>
                </a:lnTo>
                <a:lnTo>
                  <a:pt x="1630" y="2232"/>
                </a:lnTo>
                <a:cubicBezTo>
                  <a:pt x="1709" y="2471"/>
                  <a:pt x="1931" y="2644"/>
                  <a:pt x="2197" y="2644"/>
                </a:cubicBezTo>
                <a:cubicBezTo>
                  <a:pt x="2462" y="2644"/>
                  <a:pt x="2685" y="2471"/>
                  <a:pt x="2764" y="2232"/>
                </a:cubicBezTo>
                <a:lnTo>
                  <a:pt x="3172" y="2232"/>
                </a:lnTo>
                <a:cubicBezTo>
                  <a:pt x="3251" y="2471"/>
                  <a:pt x="3473" y="2644"/>
                  <a:pt x="3739" y="2644"/>
                </a:cubicBezTo>
                <a:cubicBezTo>
                  <a:pt x="4004" y="2644"/>
                  <a:pt x="4227" y="2471"/>
                  <a:pt x="4306" y="2232"/>
                </a:cubicBezTo>
                <a:lnTo>
                  <a:pt x="7030" y="2232"/>
                </a:lnTo>
                <a:lnTo>
                  <a:pt x="7030" y="3892"/>
                </a:lnTo>
                <a:lnTo>
                  <a:pt x="6530" y="3892"/>
                </a:lnTo>
                <a:lnTo>
                  <a:pt x="6530" y="3892"/>
                </a:lnTo>
                <a:close/>
                <a:moveTo>
                  <a:pt x="1130" y="7030"/>
                </a:moveTo>
                <a:lnTo>
                  <a:pt x="1130" y="6304"/>
                </a:lnTo>
                <a:lnTo>
                  <a:pt x="3854" y="6304"/>
                </a:lnTo>
                <a:cubicBezTo>
                  <a:pt x="3934" y="6543"/>
                  <a:pt x="4156" y="6716"/>
                  <a:pt x="4421" y="6716"/>
                </a:cubicBezTo>
                <a:cubicBezTo>
                  <a:pt x="4687" y="6716"/>
                  <a:pt x="4909" y="6543"/>
                  <a:pt x="4989" y="6304"/>
                </a:cubicBezTo>
                <a:lnTo>
                  <a:pt x="5396" y="6304"/>
                </a:lnTo>
                <a:cubicBezTo>
                  <a:pt x="5475" y="6543"/>
                  <a:pt x="5698" y="6716"/>
                  <a:pt x="5963" y="6716"/>
                </a:cubicBezTo>
                <a:cubicBezTo>
                  <a:pt x="6229" y="6716"/>
                  <a:pt x="6451" y="6543"/>
                  <a:pt x="6530" y="6304"/>
                </a:cubicBezTo>
                <a:lnTo>
                  <a:pt x="7030" y="6304"/>
                </a:lnTo>
                <a:lnTo>
                  <a:pt x="7030" y="7030"/>
                </a:lnTo>
                <a:lnTo>
                  <a:pt x="1130" y="7030"/>
                </a:ln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latin typeface="微软雅黑" panose="020B0503020204020204" pitchFamily="34" charset="-122"/>
              <a:ea typeface="微软雅黑" panose="020B0503020204020204" pitchFamily="34" charset="-122"/>
            </a:endParaRPr>
          </a:p>
        </p:txBody>
      </p:sp>
      <p:sp>
        <p:nvSpPr>
          <p:cNvPr id="103" name="ïṧľîďe"/>
          <p:cNvSpPr/>
          <p:nvPr/>
        </p:nvSpPr>
        <p:spPr>
          <a:xfrm>
            <a:off x="6657354" y="934913"/>
            <a:ext cx="512789" cy="472323"/>
          </a:xfrm>
          <a:custGeom>
            <a:avLst/>
            <a:gdLst>
              <a:gd name="connsiteX0" fmla="*/ 222795 w 607639"/>
              <a:gd name="connsiteY0" fmla="*/ 404243 h 606554"/>
              <a:gd name="connsiteX1" fmla="*/ 256526 w 607639"/>
              <a:gd name="connsiteY1" fmla="*/ 422388 h 606554"/>
              <a:gd name="connsiteX2" fmla="*/ 303785 w 607639"/>
              <a:gd name="connsiteY2" fmla="*/ 404243 h 606554"/>
              <a:gd name="connsiteX3" fmla="*/ 351132 w 607639"/>
              <a:gd name="connsiteY3" fmla="*/ 422388 h 606554"/>
              <a:gd name="connsiteX4" fmla="*/ 384863 w 607639"/>
              <a:gd name="connsiteY4" fmla="*/ 404243 h 606554"/>
              <a:gd name="connsiteX5" fmla="*/ 420908 w 607639"/>
              <a:gd name="connsiteY5" fmla="*/ 426657 h 606554"/>
              <a:gd name="connsiteX6" fmla="*/ 435414 w 607639"/>
              <a:gd name="connsiteY6" fmla="*/ 424522 h 606554"/>
              <a:gd name="connsiteX7" fmla="*/ 486055 w 607639"/>
              <a:gd name="connsiteY7" fmla="*/ 475131 h 606554"/>
              <a:gd name="connsiteX8" fmla="*/ 475998 w 607639"/>
              <a:gd name="connsiteY8" fmla="*/ 485182 h 606554"/>
              <a:gd name="connsiteX9" fmla="*/ 465852 w 607639"/>
              <a:gd name="connsiteY9" fmla="*/ 475131 h 606554"/>
              <a:gd name="connsiteX10" fmla="*/ 435414 w 607639"/>
              <a:gd name="connsiteY10" fmla="*/ 444713 h 606554"/>
              <a:gd name="connsiteX11" fmla="*/ 419929 w 607639"/>
              <a:gd name="connsiteY11" fmla="*/ 449160 h 606554"/>
              <a:gd name="connsiteX12" fmla="*/ 410406 w 607639"/>
              <a:gd name="connsiteY12" fmla="*/ 449604 h 606554"/>
              <a:gd name="connsiteX13" fmla="*/ 404710 w 607639"/>
              <a:gd name="connsiteY13" fmla="*/ 441866 h 606554"/>
              <a:gd name="connsiteX14" fmla="*/ 384863 w 607639"/>
              <a:gd name="connsiteY14" fmla="*/ 424522 h 606554"/>
              <a:gd name="connsiteX15" fmla="*/ 364838 w 607639"/>
              <a:gd name="connsiteY15" fmla="*/ 442934 h 606554"/>
              <a:gd name="connsiteX16" fmla="*/ 357184 w 607639"/>
              <a:gd name="connsiteY16" fmla="*/ 451828 h 606554"/>
              <a:gd name="connsiteX17" fmla="*/ 346237 w 607639"/>
              <a:gd name="connsiteY17" fmla="*/ 447559 h 606554"/>
              <a:gd name="connsiteX18" fmla="*/ 303785 w 607639"/>
              <a:gd name="connsiteY18" fmla="*/ 424522 h 606554"/>
              <a:gd name="connsiteX19" fmla="*/ 261421 w 607639"/>
              <a:gd name="connsiteY19" fmla="*/ 447559 h 606554"/>
              <a:gd name="connsiteX20" fmla="*/ 250474 w 607639"/>
              <a:gd name="connsiteY20" fmla="*/ 451828 h 606554"/>
              <a:gd name="connsiteX21" fmla="*/ 242820 w 607639"/>
              <a:gd name="connsiteY21" fmla="*/ 442934 h 606554"/>
              <a:gd name="connsiteX22" fmla="*/ 222795 w 607639"/>
              <a:gd name="connsiteY22" fmla="*/ 424522 h 606554"/>
              <a:gd name="connsiteX23" fmla="*/ 202859 w 607639"/>
              <a:gd name="connsiteY23" fmla="*/ 441866 h 606554"/>
              <a:gd name="connsiteX24" fmla="*/ 197252 w 607639"/>
              <a:gd name="connsiteY24" fmla="*/ 449604 h 606554"/>
              <a:gd name="connsiteX25" fmla="*/ 187640 w 607639"/>
              <a:gd name="connsiteY25" fmla="*/ 449160 h 606554"/>
              <a:gd name="connsiteX26" fmla="*/ 172155 w 607639"/>
              <a:gd name="connsiteY26" fmla="*/ 444713 h 606554"/>
              <a:gd name="connsiteX27" fmla="*/ 141806 w 607639"/>
              <a:gd name="connsiteY27" fmla="*/ 475131 h 606554"/>
              <a:gd name="connsiteX28" fmla="*/ 131660 w 607639"/>
              <a:gd name="connsiteY28" fmla="*/ 485182 h 606554"/>
              <a:gd name="connsiteX29" fmla="*/ 121514 w 607639"/>
              <a:gd name="connsiteY29" fmla="*/ 475131 h 606554"/>
              <a:gd name="connsiteX30" fmla="*/ 172155 w 607639"/>
              <a:gd name="connsiteY30" fmla="*/ 424522 h 606554"/>
              <a:gd name="connsiteX31" fmla="*/ 186661 w 607639"/>
              <a:gd name="connsiteY31" fmla="*/ 426657 h 606554"/>
              <a:gd name="connsiteX32" fmla="*/ 222795 w 607639"/>
              <a:gd name="connsiteY32" fmla="*/ 404243 h 606554"/>
              <a:gd name="connsiteX33" fmla="*/ 303774 w 607639"/>
              <a:gd name="connsiteY33" fmla="*/ 282941 h 606554"/>
              <a:gd name="connsiteX34" fmla="*/ 313945 w 607639"/>
              <a:gd name="connsiteY34" fmla="*/ 293078 h 606554"/>
              <a:gd name="connsiteX35" fmla="*/ 313945 w 607639"/>
              <a:gd name="connsiteY35" fmla="*/ 373995 h 606554"/>
              <a:gd name="connsiteX36" fmla="*/ 303774 w 607639"/>
              <a:gd name="connsiteY36" fmla="*/ 384132 h 606554"/>
              <a:gd name="connsiteX37" fmla="*/ 293693 w 607639"/>
              <a:gd name="connsiteY37" fmla="*/ 373995 h 606554"/>
              <a:gd name="connsiteX38" fmla="*/ 293693 w 607639"/>
              <a:gd name="connsiteY38" fmla="*/ 293078 h 606554"/>
              <a:gd name="connsiteX39" fmla="*/ 303774 w 607639"/>
              <a:gd name="connsiteY39" fmla="*/ 282941 h 606554"/>
              <a:gd name="connsiteX40" fmla="*/ 101254 w 607639"/>
              <a:gd name="connsiteY40" fmla="*/ 202073 h 606554"/>
              <a:gd name="connsiteX41" fmla="*/ 192395 w 607639"/>
              <a:gd name="connsiteY41" fmla="*/ 202073 h 606554"/>
              <a:gd name="connsiteX42" fmla="*/ 202542 w 607639"/>
              <a:gd name="connsiteY42" fmla="*/ 212117 h 606554"/>
              <a:gd name="connsiteX43" fmla="*/ 192395 w 607639"/>
              <a:gd name="connsiteY43" fmla="*/ 222250 h 606554"/>
              <a:gd name="connsiteX44" fmla="*/ 101254 w 607639"/>
              <a:gd name="connsiteY44" fmla="*/ 222250 h 606554"/>
              <a:gd name="connsiteX45" fmla="*/ 80961 w 607639"/>
              <a:gd name="connsiteY45" fmla="*/ 232916 h 606554"/>
              <a:gd name="connsiteX46" fmla="*/ 80961 w 607639"/>
              <a:gd name="connsiteY46" fmla="*/ 505439 h 606554"/>
              <a:gd name="connsiteX47" fmla="*/ 526519 w 607639"/>
              <a:gd name="connsiteY47" fmla="*/ 505439 h 606554"/>
              <a:gd name="connsiteX48" fmla="*/ 526519 w 607639"/>
              <a:gd name="connsiteY48" fmla="*/ 232383 h 606554"/>
              <a:gd name="connsiteX49" fmla="*/ 516461 w 607639"/>
              <a:gd name="connsiteY49" fmla="*/ 222250 h 606554"/>
              <a:gd name="connsiteX50" fmla="*/ 415174 w 607639"/>
              <a:gd name="connsiteY50" fmla="*/ 222250 h 606554"/>
              <a:gd name="connsiteX51" fmla="*/ 405027 w 607639"/>
              <a:gd name="connsiteY51" fmla="*/ 212117 h 606554"/>
              <a:gd name="connsiteX52" fmla="*/ 415174 w 607639"/>
              <a:gd name="connsiteY52" fmla="*/ 202073 h 606554"/>
              <a:gd name="connsiteX53" fmla="*/ 516461 w 607639"/>
              <a:gd name="connsiteY53" fmla="*/ 202073 h 606554"/>
              <a:gd name="connsiteX54" fmla="*/ 546812 w 607639"/>
              <a:gd name="connsiteY54" fmla="*/ 232383 h 606554"/>
              <a:gd name="connsiteX55" fmla="*/ 546812 w 607639"/>
              <a:gd name="connsiteY55" fmla="*/ 515572 h 606554"/>
              <a:gd name="connsiteX56" fmla="*/ 536665 w 607639"/>
              <a:gd name="connsiteY56" fmla="*/ 525616 h 606554"/>
              <a:gd name="connsiteX57" fmla="*/ 70815 w 607639"/>
              <a:gd name="connsiteY57" fmla="*/ 525616 h 606554"/>
              <a:gd name="connsiteX58" fmla="*/ 60757 w 607639"/>
              <a:gd name="connsiteY58" fmla="*/ 515572 h 606554"/>
              <a:gd name="connsiteX59" fmla="*/ 60757 w 607639"/>
              <a:gd name="connsiteY59" fmla="*/ 232383 h 606554"/>
              <a:gd name="connsiteX60" fmla="*/ 101254 w 607639"/>
              <a:gd name="connsiteY60" fmla="*/ 202073 h 606554"/>
              <a:gd name="connsiteX61" fmla="*/ 415210 w 607639"/>
              <a:gd name="connsiteY61" fmla="*/ 161568 h 606554"/>
              <a:gd name="connsiteX62" fmla="*/ 536702 w 607639"/>
              <a:gd name="connsiteY62" fmla="*/ 161568 h 606554"/>
              <a:gd name="connsiteX63" fmla="*/ 587346 w 607639"/>
              <a:gd name="connsiteY63" fmla="*/ 212137 h 606554"/>
              <a:gd name="connsiteX64" fmla="*/ 587346 w 607639"/>
              <a:gd name="connsiteY64" fmla="*/ 505417 h 606554"/>
              <a:gd name="connsiteX65" fmla="*/ 597492 w 607639"/>
              <a:gd name="connsiteY65" fmla="*/ 505417 h 606554"/>
              <a:gd name="connsiteX66" fmla="*/ 607639 w 607639"/>
              <a:gd name="connsiteY66" fmla="*/ 515548 h 606554"/>
              <a:gd name="connsiteX67" fmla="*/ 607639 w 607639"/>
              <a:gd name="connsiteY67" fmla="*/ 555985 h 606554"/>
              <a:gd name="connsiteX68" fmla="*/ 556995 w 607639"/>
              <a:gd name="connsiteY68" fmla="*/ 606554 h 606554"/>
              <a:gd name="connsiteX69" fmla="*/ 50644 w 607639"/>
              <a:gd name="connsiteY69" fmla="*/ 606554 h 606554"/>
              <a:gd name="connsiteX70" fmla="*/ 0 w 607639"/>
              <a:gd name="connsiteY70" fmla="*/ 555985 h 606554"/>
              <a:gd name="connsiteX71" fmla="*/ 10147 w 607639"/>
              <a:gd name="connsiteY71" fmla="*/ 545854 h 606554"/>
              <a:gd name="connsiteX72" fmla="*/ 556995 w 607639"/>
              <a:gd name="connsiteY72" fmla="*/ 545854 h 606554"/>
              <a:gd name="connsiteX73" fmla="*/ 567142 w 607639"/>
              <a:gd name="connsiteY73" fmla="*/ 555985 h 606554"/>
              <a:gd name="connsiteX74" fmla="*/ 556995 w 607639"/>
              <a:gd name="connsiteY74" fmla="*/ 566117 h 606554"/>
              <a:gd name="connsiteX75" fmla="*/ 22518 w 607639"/>
              <a:gd name="connsiteY75" fmla="*/ 566117 h 606554"/>
              <a:gd name="connsiteX76" fmla="*/ 50644 w 607639"/>
              <a:gd name="connsiteY76" fmla="*/ 586291 h 606554"/>
              <a:gd name="connsiteX77" fmla="*/ 556995 w 607639"/>
              <a:gd name="connsiteY77" fmla="*/ 586291 h 606554"/>
              <a:gd name="connsiteX78" fmla="*/ 587346 w 607639"/>
              <a:gd name="connsiteY78" fmla="*/ 555985 h 606554"/>
              <a:gd name="connsiteX79" fmla="*/ 587346 w 607639"/>
              <a:gd name="connsiteY79" fmla="*/ 525591 h 606554"/>
              <a:gd name="connsiteX80" fmla="*/ 577199 w 607639"/>
              <a:gd name="connsiteY80" fmla="*/ 525591 h 606554"/>
              <a:gd name="connsiteX81" fmla="*/ 567142 w 607639"/>
              <a:gd name="connsiteY81" fmla="*/ 515548 h 606554"/>
              <a:gd name="connsiteX82" fmla="*/ 567142 w 607639"/>
              <a:gd name="connsiteY82" fmla="*/ 212137 h 606554"/>
              <a:gd name="connsiteX83" fmla="*/ 536702 w 607639"/>
              <a:gd name="connsiteY83" fmla="*/ 181831 h 606554"/>
              <a:gd name="connsiteX84" fmla="*/ 415210 w 607639"/>
              <a:gd name="connsiteY84" fmla="*/ 181831 h 606554"/>
              <a:gd name="connsiteX85" fmla="*/ 405063 w 607639"/>
              <a:gd name="connsiteY85" fmla="*/ 171699 h 606554"/>
              <a:gd name="connsiteX86" fmla="*/ 415210 w 607639"/>
              <a:gd name="connsiteY86" fmla="*/ 161568 h 606554"/>
              <a:gd name="connsiteX87" fmla="*/ 70875 w 607639"/>
              <a:gd name="connsiteY87" fmla="*/ 161568 h 606554"/>
              <a:gd name="connsiteX88" fmla="*/ 192448 w 607639"/>
              <a:gd name="connsiteY88" fmla="*/ 161568 h 606554"/>
              <a:gd name="connsiteX89" fmla="*/ 202594 w 607639"/>
              <a:gd name="connsiteY89" fmla="*/ 171700 h 606554"/>
              <a:gd name="connsiteX90" fmla="*/ 192448 w 607639"/>
              <a:gd name="connsiteY90" fmla="*/ 181832 h 606554"/>
              <a:gd name="connsiteX91" fmla="*/ 70875 w 607639"/>
              <a:gd name="connsiteY91" fmla="*/ 181832 h 606554"/>
              <a:gd name="connsiteX92" fmla="*/ 40526 w 607639"/>
              <a:gd name="connsiteY92" fmla="*/ 212140 h 606554"/>
              <a:gd name="connsiteX93" fmla="*/ 40526 w 607639"/>
              <a:gd name="connsiteY93" fmla="*/ 515572 h 606554"/>
              <a:gd name="connsiteX94" fmla="*/ 30380 w 607639"/>
              <a:gd name="connsiteY94" fmla="*/ 525615 h 606554"/>
              <a:gd name="connsiteX95" fmla="*/ 20323 w 607639"/>
              <a:gd name="connsiteY95" fmla="*/ 515572 h 606554"/>
              <a:gd name="connsiteX96" fmla="*/ 20323 w 607639"/>
              <a:gd name="connsiteY96" fmla="*/ 212140 h 606554"/>
              <a:gd name="connsiteX97" fmla="*/ 70875 w 607639"/>
              <a:gd name="connsiteY97" fmla="*/ 161568 h 606554"/>
              <a:gd name="connsiteX98" fmla="*/ 303785 w 607639"/>
              <a:gd name="connsiteY98" fmla="*/ 141391 h 606554"/>
              <a:gd name="connsiteX99" fmla="*/ 283577 w 607639"/>
              <a:gd name="connsiteY99" fmla="*/ 161559 h 606554"/>
              <a:gd name="connsiteX100" fmla="*/ 303785 w 607639"/>
              <a:gd name="connsiteY100" fmla="*/ 181816 h 606554"/>
              <a:gd name="connsiteX101" fmla="*/ 324081 w 607639"/>
              <a:gd name="connsiteY101" fmla="*/ 161559 h 606554"/>
              <a:gd name="connsiteX102" fmla="*/ 303785 w 607639"/>
              <a:gd name="connsiteY102" fmla="*/ 141391 h 606554"/>
              <a:gd name="connsiteX103" fmla="*/ 303785 w 607639"/>
              <a:gd name="connsiteY103" fmla="*/ 121134 h 606554"/>
              <a:gd name="connsiteX104" fmla="*/ 344289 w 607639"/>
              <a:gd name="connsiteY104" fmla="*/ 161559 h 606554"/>
              <a:gd name="connsiteX105" fmla="*/ 303785 w 607639"/>
              <a:gd name="connsiteY105" fmla="*/ 202073 h 606554"/>
              <a:gd name="connsiteX106" fmla="*/ 263280 w 607639"/>
              <a:gd name="connsiteY106" fmla="*/ 161559 h 606554"/>
              <a:gd name="connsiteX107" fmla="*/ 303785 w 607639"/>
              <a:gd name="connsiteY107" fmla="*/ 121134 h 606554"/>
              <a:gd name="connsiteX108" fmla="*/ 296031 w 607639"/>
              <a:gd name="connsiteY108" fmla="*/ 3466 h 606554"/>
              <a:gd name="connsiteX109" fmla="*/ 311609 w 607639"/>
              <a:gd name="connsiteY109" fmla="*/ 3466 h 606554"/>
              <a:gd name="connsiteX110" fmla="*/ 362258 w 607639"/>
              <a:gd name="connsiteY110" fmla="*/ 64170 h 606554"/>
              <a:gd name="connsiteX111" fmla="*/ 384867 w 607639"/>
              <a:gd name="connsiteY111" fmla="*/ 131273 h 606554"/>
              <a:gd name="connsiteX112" fmla="*/ 384867 w 607639"/>
              <a:gd name="connsiteY112" fmla="*/ 232417 h 606554"/>
              <a:gd name="connsiteX113" fmla="*/ 399733 w 607639"/>
              <a:gd name="connsiteY113" fmla="*/ 265213 h 606554"/>
              <a:gd name="connsiteX114" fmla="*/ 425369 w 607639"/>
              <a:gd name="connsiteY114" fmla="*/ 333560 h 606554"/>
              <a:gd name="connsiteX115" fmla="*/ 425369 w 607639"/>
              <a:gd name="connsiteY115" fmla="*/ 353736 h 606554"/>
              <a:gd name="connsiteX116" fmla="*/ 415221 w 607639"/>
              <a:gd name="connsiteY116" fmla="*/ 363868 h 606554"/>
              <a:gd name="connsiteX117" fmla="*/ 384867 w 607639"/>
              <a:gd name="connsiteY117" fmla="*/ 363868 h 606554"/>
              <a:gd name="connsiteX118" fmla="*/ 384867 w 607639"/>
              <a:gd name="connsiteY118" fmla="*/ 374000 h 606554"/>
              <a:gd name="connsiteX119" fmla="*/ 374720 w 607639"/>
              <a:gd name="connsiteY119" fmla="*/ 384132 h 606554"/>
              <a:gd name="connsiteX120" fmla="*/ 364572 w 607639"/>
              <a:gd name="connsiteY120" fmla="*/ 374000 h 606554"/>
              <a:gd name="connsiteX121" fmla="*/ 364572 w 607639"/>
              <a:gd name="connsiteY121" fmla="*/ 363868 h 606554"/>
              <a:gd name="connsiteX122" fmla="*/ 344277 w 607639"/>
              <a:gd name="connsiteY122" fmla="*/ 363868 h 606554"/>
              <a:gd name="connsiteX123" fmla="*/ 334218 w 607639"/>
              <a:gd name="connsiteY123" fmla="*/ 353736 h 606554"/>
              <a:gd name="connsiteX124" fmla="*/ 344277 w 607639"/>
              <a:gd name="connsiteY124" fmla="*/ 343603 h 606554"/>
              <a:gd name="connsiteX125" fmla="*/ 405074 w 607639"/>
              <a:gd name="connsiteY125" fmla="*/ 343603 h 606554"/>
              <a:gd name="connsiteX126" fmla="*/ 405074 w 607639"/>
              <a:gd name="connsiteY126" fmla="*/ 333560 h 606554"/>
              <a:gd name="connsiteX127" fmla="*/ 384066 w 607639"/>
              <a:gd name="connsiteY127" fmla="*/ 278011 h 606554"/>
              <a:gd name="connsiteX128" fmla="*/ 364572 w 607639"/>
              <a:gd name="connsiteY128" fmla="*/ 232417 h 606554"/>
              <a:gd name="connsiteX129" fmla="*/ 364572 w 607639"/>
              <a:gd name="connsiteY129" fmla="*/ 131273 h 606554"/>
              <a:gd name="connsiteX130" fmla="*/ 347214 w 607639"/>
              <a:gd name="connsiteY130" fmla="*/ 77679 h 606554"/>
              <a:gd name="connsiteX131" fmla="*/ 303775 w 607639"/>
              <a:gd name="connsiteY131" fmla="*/ 25685 h 606554"/>
              <a:gd name="connsiteX132" fmla="*/ 260960 w 607639"/>
              <a:gd name="connsiteY132" fmla="*/ 77057 h 606554"/>
              <a:gd name="connsiteX133" fmla="*/ 243068 w 607639"/>
              <a:gd name="connsiteY133" fmla="*/ 131273 h 606554"/>
              <a:gd name="connsiteX134" fmla="*/ 243068 w 607639"/>
              <a:gd name="connsiteY134" fmla="*/ 232417 h 606554"/>
              <a:gd name="connsiteX135" fmla="*/ 223574 w 607639"/>
              <a:gd name="connsiteY135" fmla="*/ 278011 h 606554"/>
              <a:gd name="connsiteX136" fmla="*/ 202566 w 607639"/>
              <a:gd name="connsiteY136" fmla="*/ 333560 h 606554"/>
              <a:gd name="connsiteX137" fmla="*/ 202566 w 607639"/>
              <a:gd name="connsiteY137" fmla="*/ 343603 h 606554"/>
              <a:gd name="connsiteX138" fmla="*/ 263274 w 607639"/>
              <a:gd name="connsiteY138" fmla="*/ 343603 h 606554"/>
              <a:gd name="connsiteX139" fmla="*/ 273422 w 607639"/>
              <a:gd name="connsiteY139" fmla="*/ 353736 h 606554"/>
              <a:gd name="connsiteX140" fmla="*/ 263274 w 607639"/>
              <a:gd name="connsiteY140" fmla="*/ 363868 h 606554"/>
              <a:gd name="connsiteX141" fmla="*/ 243068 w 607639"/>
              <a:gd name="connsiteY141" fmla="*/ 363868 h 606554"/>
              <a:gd name="connsiteX142" fmla="*/ 243068 w 607639"/>
              <a:gd name="connsiteY142" fmla="*/ 374000 h 606554"/>
              <a:gd name="connsiteX143" fmla="*/ 232920 w 607639"/>
              <a:gd name="connsiteY143" fmla="*/ 384132 h 606554"/>
              <a:gd name="connsiteX144" fmla="*/ 222772 w 607639"/>
              <a:gd name="connsiteY144" fmla="*/ 374000 h 606554"/>
              <a:gd name="connsiteX145" fmla="*/ 222772 w 607639"/>
              <a:gd name="connsiteY145" fmla="*/ 363868 h 606554"/>
              <a:gd name="connsiteX146" fmla="*/ 192419 w 607639"/>
              <a:gd name="connsiteY146" fmla="*/ 363868 h 606554"/>
              <a:gd name="connsiteX147" fmla="*/ 182271 w 607639"/>
              <a:gd name="connsiteY147" fmla="*/ 353736 h 606554"/>
              <a:gd name="connsiteX148" fmla="*/ 182271 w 607639"/>
              <a:gd name="connsiteY148" fmla="*/ 333560 h 606554"/>
              <a:gd name="connsiteX149" fmla="*/ 207907 w 607639"/>
              <a:gd name="connsiteY149" fmla="*/ 265213 h 606554"/>
              <a:gd name="connsiteX150" fmla="*/ 222772 w 607639"/>
              <a:gd name="connsiteY150" fmla="*/ 232417 h 606554"/>
              <a:gd name="connsiteX151" fmla="*/ 222772 w 607639"/>
              <a:gd name="connsiteY151" fmla="*/ 131273 h 606554"/>
              <a:gd name="connsiteX152" fmla="*/ 246005 w 607639"/>
              <a:gd name="connsiteY152" fmla="*/ 63459 h 60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7639" h="606554">
                <a:moveTo>
                  <a:pt x="222795" y="404243"/>
                </a:moveTo>
                <a:cubicBezTo>
                  <a:pt x="236857" y="404243"/>
                  <a:pt x="249317" y="411359"/>
                  <a:pt x="256526" y="422388"/>
                </a:cubicBezTo>
                <a:cubicBezTo>
                  <a:pt x="269342" y="410825"/>
                  <a:pt x="286074" y="404243"/>
                  <a:pt x="303785" y="404243"/>
                </a:cubicBezTo>
                <a:cubicBezTo>
                  <a:pt x="321584" y="404243"/>
                  <a:pt x="338316" y="410825"/>
                  <a:pt x="351132" y="422388"/>
                </a:cubicBezTo>
                <a:cubicBezTo>
                  <a:pt x="358341" y="411359"/>
                  <a:pt x="370712" y="404243"/>
                  <a:pt x="384863" y="404243"/>
                </a:cubicBezTo>
                <a:cubicBezTo>
                  <a:pt x="400349" y="404243"/>
                  <a:pt x="414233" y="413315"/>
                  <a:pt x="420908" y="426657"/>
                </a:cubicBezTo>
                <a:cubicBezTo>
                  <a:pt x="425625" y="425234"/>
                  <a:pt x="430519" y="424522"/>
                  <a:pt x="435414" y="424522"/>
                </a:cubicBezTo>
                <a:cubicBezTo>
                  <a:pt x="463360" y="424522"/>
                  <a:pt x="486055" y="447203"/>
                  <a:pt x="486055" y="475131"/>
                </a:cubicBezTo>
                <a:cubicBezTo>
                  <a:pt x="486055" y="480646"/>
                  <a:pt x="481516" y="485182"/>
                  <a:pt x="475998" y="485182"/>
                </a:cubicBezTo>
                <a:cubicBezTo>
                  <a:pt x="470391" y="485182"/>
                  <a:pt x="465852" y="480646"/>
                  <a:pt x="465852" y="475131"/>
                </a:cubicBezTo>
                <a:cubicBezTo>
                  <a:pt x="465852" y="458321"/>
                  <a:pt x="452235" y="444713"/>
                  <a:pt x="435414" y="444713"/>
                </a:cubicBezTo>
                <a:cubicBezTo>
                  <a:pt x="430074" y="444713"/>
                  <a:pt x="424913" y="446225"/>
                  <a:pt x="419929" y="449160"/>
                </a:cubicBezTo>
                <a:cubicBezTo>
                  <a:pt x="417081" y="450939"/>
                  <a:pt x="413432" y="451028"/>
                  <a:pt x="410406" y="449604"/>
                </a:cubicBezTo>
                <a:cubicBezTo>
                  <a:pt x="407380" y="448092"/>
                  <a:pt x="405244" y="445246"/>
                  <a:pt x="404710" y="441866"/>
                </a:cubicBezTo>
                <a:cubicBezTo>
                  <a:pt x="403375" y="431994"/>
                  <a:pt x="394742" y="424522"/>
                  <a:pt x="384863" y="424522"/>
                </a:cubicBezTo>
                <a:cubicBezTo>
                  <a:pt x="374361" y="424522"/>
                  <a:pt x="365728" y="432438"/>
                  <a:pt x="364838" y="442934"/>
                </a:cubicBezTo>
                <a:cubicBezTo>
                  <a:pt x="364393" y="447203"/>
                  <a:pt x="361367" y="450761"/>
                  <a:pt x="357184" y="451828"/>
                </a:cubicBezTo>
                <a:cubicBezTo>
                  <a:pt x="353001" y="452895"/>
                  <a:pt x="348551" y="451116"/>
                  <a:pt x="346237" y="447559"/>
                </a:cubicBezTo>
                <a:cubicBezTo>
                  <a:pt x="336803" y="433061"/>
                  <a:pt x="320961" y="424522"/>
                  <a:pt x="303785" y="424522"/>
                </a:cubicBezTo>
                <a:cubicBezTo>
                  <a:pt x="286697" y="424522"/>
                  <a:pt x="270766" y="433061"/>
                  <a:pt x="261421" y="447559"/>
                </a:cubicBezTo>
                <a:cubicBezTo>
                  <a:pt x="259018" y="451116"/>
                  <a:pt x="254657" y="452895"/>
                  <a:pt x="250474" y="451828"/>
                </a:cubicBezTo>
                <a:cubicBezTo>
                  <a:pt x="246291" y="450761"/>
                  <a:pt x="243176" y="447203"/>
                  <a:pt x="242820" y="442934"/>
                </a:cubicBezTo>
                <a:cubicBezTo>
                  <a:pt x="241841" y="432438"/>
                  <a:pt x="233297" y="424522"/>
                  <a:pt x="222795" y="424522"/>
                </a:cubicBezTo>
                <a:cubicBezTo>
                  <a:pt x="212827" y="424522"/>
                  <a:pt x="204283" y="431994"/>
                  <a:pt x="202859" y="441866"/>
                </a:cubicBezTo>
                <a:cubicBezTo>
                  <a:pt x="202414" y="445246"/>
                  <a:pt x="200278" y="448092"/>
                  <a:pt x="197252" y="449604"/>
                </a:cubicBezTo>
                <a:cubicBezTo>
                  <a:pt x="194137" y="451028"/>
                  <a:pt x="190577" y="450939"/>
                  <a:pt x="187640" y="449160"/>
                </a:cubicBezTo>
                <a:cubicBezTo>
                  <a:pt x="182745" y="446225"/>
                  <a:pt x="177584" y="444713"/>
                  <a:pt x="172155" y="444713"/>
                </a:cubicBezTo>
                <a:cubicBezTo>
                  <a:pt x="155423" y="444713"/>
                  <a:pt x="141806" y="458321"/>
                  <a:pt x="141806" y="475131"/>
                </a:cubicBezTo>
                <a:cubicBezTo>
                  <a:pt x="141806" y="480646"/>
                  <a:pt x="137267" y="485182"/>
                  <a:pt x="131660" y="485182"/>
                </a:cubicBezTo>
                <a:cubicBezTo>
                  <a:pt x="126053" y="485182"/>
                  <a:pt x="121514" y="480646"/>
                  <a:pt x="121514" y="475131"/>
                </a:cubicBezTo>
                <a:cubicBezTo>
                  <a:pt x="121514" y="447203"/>
                  <a:pt x="144298" y="424522"/>
                  <a:pt x="172155" y="424522"/>
                </a:cubicBezTo>
                <a:cubicBezTo>
                  <a:pt x="177050" y="424522"/>
                  <a:pt x="181945" y="425234"/>
                  <a:pt x="186661" y="426657"/>
                </a:cubicBezTo>
                <a:cubicBezTo>
                  <a:pt x="193425" y="413315"/>
                  <a:pt x="207220" y="404243"/>
                  <a:pt x="222795" y="404243"/>
                </a:cubicBezTo>
                <a:close/>
                <a:moveTo>
                  <a:pt x="303774" y="282941"/>
                </a:moveTo>
                <a:cubicBezTo>
                  <a:pt x="309395" y="282941"/>
                  <a:pt x="313945" y="287476"/>
                  <a:pt x="313945" y="293078"/>
                </a:cubicBezTo>
                <a:lnTo>
                  <a:pt x="313945" y="373995"/>
                </a:lnTo>
                <a:cubicBezTo>
                  <a:pt x="313945" y="379597"/>
                  <a:pt x="309395" y="384132"/>
                  <a:pt x="303774" y="384132"/>
                </a:cubicBezTo>
                <a:cubicBezTo>
                  <a:pt x="298243" y="384132"/>
                  <a:pt x="293693" y="379597"/>
                  <a:pt x="293693" y="373995"/>
                </a:cubicBezTo>
                <a:lnTo>
                  <a:pt x="293693" y="293078"/>
                </a:lnTo>
                <a:cubicBezTo>
                  <a:pt x="293693" y="287476"/>
                  <a:pt x="298243" y="282941"/>
                  <a:pt x="303774" y="282941"/>
                </a:cubicBezTo>
                <a:close/>
                <a:moveTo>
                  <a:pt x="101254" y="202073"/>
                </a:moveTo>
                <a:lnTo>
                  <a:pt x="192395" y="202073"/>
                </a:lnTo>
                <a:cubicBezTo>
                  <a:pt x="198002" y="202073"/>
                  <a:pt x="202542" y="206606"/>
                  <a:pt x="202542" y="212117"/>
                </a:cubicBezTo>
                <a:cubicBezTo>
                  <a:pt x="202542" y="217717"/>
                  <a:pt x="198002" y="222250"/>
                  <a:pt x="192395" y="222250"/>
                </a:cubicBezTo>
                <a:lnTo>
                  <a:pt x="101254" y="222250"/>
                </a:lnTo>
                <a:cubicBezTo>
                  <a:pt x="94757" y="222250"/>
                  <a:pt x="82207" y="229361"/>
                  <a:pt x="80961" y="232916"/>
                </a:cubicBezTo>
                <a:lnTo>
                  <a:pt x="80961" y="505439"/>
                </a:lnTo>
                <a:lnTo>
                  <a:pt x="526519" y="505439"/>
                </a:lnTo>
                <a:lnTo>
                  <a:pt x="526519" y="232383"/>
                </a:lnTo>
                <a:cubicBezTo>
                  <a:pt x="526519" y="227850"/>
                  <a:pt x="521001" y="222250"/>
                  <a:pt x="516461" y="222250"/>
                </a:cubicBezTo>
                <a:lnTo>
                  <a:pt x="415174" y="222250"/>
                </a:lnTo>
                <a:cubicBezTo>
                  <a:pt x="409567" y="222250"/>
                  <a:pt x="405027" y="217717"/>
                  <a:pt x="405027" y="212117"/>
                </a:cubicBezTo>
                <a:cubicBezTo>
                  <a:pt x="405027" y="206606"/>
                  <a:pt x="409567" y="202073"/>
                  <a:pt x="415174" y="202073"/>
                </a:cubicBezTo>
                <a:lnTo>
                  <a:pt x="516461" y="202073"/>
                </a:lnTo>
                <a:cubicBezTo>
                  <a:pt x="532037" y="202073"/>
                  <a:pt x="546812" y="216739"/>
                  <a:pt x="546812" y="232383"/>
                </a:cubicBezTo>
                <a:lnTo>
                  <a:pt x="546812" y="515572"/>
                </a:lnTo>
                <a:cubicBezTo>
                  <a:pt x="546812" y="521083"/>
                  <a:pt x="542273" y="525616"/>
                  <a:pt x="536665" y="525616"/>
                </a:cubicBezTo>
                <a:lnTo>
                  <a:pt x="70815" y="525616"/>
                </a:lnTo>
                <a:cubicBezTo>
                  <a:pt x="65296" y="525616"/>
                  <a:pt x="60757" y="521083"/>
                  <a:pt x="60757" y="515572"/>
                </a:cubicBezTo>
                <a:lnTo>
                  <a:pt x="60757" y="232383"/>
                </a:lnTo>
                <a:cubicBezTo>
                  <a:pt x="60757" y="214873"/>
                  <a:pt x="87369" y="202073"/>
                  <a:pt x="101254" y="202073"/>
                </a:cubicBezTo>
                <a:close/>
                <a:moveTo>
                  <a:pt x="415210" y="161568"/>
                </a:moveTo>
                <a:lnTo>
                  <a:pt x="536702" y="161568"/>
                </a:lnTo>
                <a:cubicBezTo>
                  <a:pt x="562780" y="161568"/>
                  <a:pt x="587346" y="186186"/>
                  <a:pt x="587346" y="212137"/>
                </a:cubicBezTo>
                <a:lnTo>
                  <a:pt x="587346" y="505417"/>
                </a:lnTo>
                <a:lnTo>
                  <a:pt x="597492" y="505417"/>
                </a:lnTo>
                <a:cubicBezTo>
                  <a:pt x="603100" y="505417"/>
                  <a:pt x="607639" y="509949"/>
                  <a:pt x="607639" y="515548"/>
                </a:cubicBezTo>
                <a:lnTo>
                  <a:pt x="607639" y="555985"/>
                </a:lnTo>
                <a:cubicBezTo>
                  <a:pt x="607639" y="581936"/>
                  <a:pt x="582985" y="606554"/>
                  <a:pt x="556995" y="606554"/>
                </a:cubicBezTo>
                <a:lnTo>
                  <a:pt x="50644" y="606554"/>
                </a:lnTo>
                <a:cubicBezTo>
                  <a:pt x="24565" y="606554"/>
                  <a:pt x="0" y="581936"/>
                  <a:pt x="0" y="555985"/>
                </a:cubicBezTo>
                <a:cubicBezTo>
                  <a:pt x="0" y="550386"/>
                  <a:pt x="4539" y="545854"/>
                  <a:pt x="10147" y="545854"/>
                </a:cubicBezTo>
                <a:lnTo>
                  <a:pt x="556995" y="545854"/>
                </a:lnTo>
                <a:cubicBezTo>
                  <a:pt x="562602" y="545854"/>
                  <a:pt x="567142" y="550386"/>
                  <a:pt x="567142" y="555985"/>
                </a:cubicBezTo>
                <a:cubicBezTo>
                  <a:pt x="567142" y="561584"/>
                  <a:pt x="562602" y="566117"/>
                  <a:pt x="556995" y="566117"/>
                </a:cubicBezTo>
                <a:lnTo>
                  <a:pt x="22518" y="566117"/>
                </a:lnTo>
                <a:cubicBezTo>
                  <a:pt x="27414" y="577048"/>
                  <a:pt x="39251" y="586291"/>
                  <a:pt x="50644" y="586291"/>
                </a:cubicBezTo>
                <a:lnTo>
                  <a:pt x="556995" y="586291"/>
                </a:lnTo>
                <a:cubicBezTo>
                  <a:pt x="571770" y="586291"/>
                  <a:pt x="587346" y="570738"/>
                  <a:pt x="587346" y="555985"/>
                </a:cubicBezTo>
                <a:lnTo>
                  <a:pt x="587346" y="525591"/>
                </a:lnTo>
                <a:lnTo>
                  <a:pt x="577199" y="525591"/>
                </a:lnTo>
                <a:cubicBezTo>
                  <a:pt x="571681" y="525591"/>
                  <a:pt x="567142" y="521058"/>
                  <a:pt x="567142" y="515548"/>
                </a:cubicBezTo>
                <a:lnTo>
                  <a:pt x="567142" y="212137"/>
                </a:lnTo>
                <a:cubicBezTo>
                  <a:pt x="567142" y="197384"/>
                  <a:pt x="551477" y="181831"/>
                  <a:pt x="536702" y="181831"/>
                </a:cubicBezTo>
                <a:lnTo>
                  <a:pt x="415210" y="181831"/>
                </a:lnTo>
                <a:cubicBezTo>
                  <a:pt x="409602" y="181831"/>
                  <a:pt x="405063" y="177298"/>
                  <a:pt x="405063" y="171699"/>
                </a:cubicBezTo>
                <a:cubicBezTo>
                  <a:pt x="405063" y="166101"/>
                  <a:pt x="409602" y="161568"/>
                  <a:pt x="415210" y="161568"/>
                </a:cubicBezTo>
                <a:close/>
                <a:moveTo>
                  <a:pt x="70875" y="161568"/>
                </a:moveTo>
                <a:lnTo>
                  <a:pt x="192448" y="161568"/>
                </a:lnTo>
                <a:cubicBezTo>
                  <a:pt x="198055" y="161568"/>
                  <a:pt x="202594" y="166101"/>
                  <a:pt x="202594" y="171700"/>
                </a:cubicBezTo>
                <a:cubicBezTo>
                  <a:pt x="202594" y="177300"/>
                  <a:pt x="198055" y="181832"/>
                  <a:pt x="192448" y="181832"/>
                </a:cubicBezTo>
                <a:lnTo>
                  <a:pt x="70875" y="181832"/>
                </a:lnTo>
                <a:cubicBezTo>
                  <a:pt x="56190" y="181832"/>
                  <a:pt x="40526" y="197386"/>
                  <a:pt x="40526" y="212140"/>
                </a:cubicBezTo>
                <a:lnTo>
                  <a:pt x="40526" y="515572"/>
                </a:lnTo>
                <a:cubicBezTo>
                  <a:pt x="40526" y="521082"/>
                  <a:pt x="35987" y="525615"/>
                  <a:pt x="30380" y="525615"/>
                </a:cubicBezTo>
                <a:cubicBezTo>
                  <a:pt x="24862" y="525615"/>
                  <a:pt x="20323" y="521082"/>
                  <a:pt x="20323" y="515572"/>
                </a:cubicBezTo>
                <a:lnTo>
                  <a:pt x="20323" y="212140"/>
                </a:lnTo>
                <a:cubicBezTo>
                  <a:pt x="20323" y="186187"/>
                  <a:pt x="44887" y="161568"/>
                  <a:pt x="70875" y="161568"/>
                </a:cubicBezTo>
                <a:close/>
                <a:moveTo>
                  <a:pt x="303785" y="141391"/>
                </a:moveTo>
                <a:cubicBezTo>
                  <a:pt x="292657" y="141391"/>
                  <a:pt x="283577" y="150453"/>
                  <a:pt x="283577" y="161559"/>
                </a:cubicBezTo>
                <a:cubicBezTo>
                  <a:pt x="283577" y="172754"/>
                  <a:pt x="292657" y="181816"/>
                  <a:pt x="303785" y="181816"/>
                </a:cubicBezTo>
                <a:cubicBezTo>
                  <a:pt x="315001" y="181816"/>
                  <a:pt x="324081" y="172754"/>
                  <a:pt x="324081" y="161559"/>
                </a:cubicBezTo>
                <a:cubicBezTo>
                  <a:pt x="324081" y="150453"/>
                  <a:pt x="315001" y="141391"/>
                  <a:pt x="303785" y="141391"/>
                </a:cubicBezTo>
                <a:close/>
                <a:moveTo>
                  <a:pt x="303785" y="121134"/>
                </a:moveTo>
                <a:cubicBezTo>
                  <a:pt x="326129" y="121134"/>
                  <a:pt x="344289" y="139259"/>
                  <a:pt x="344289" y="161559"/>
                </a:cubicBezTo>
                <a:cubicBezTo>
                  <a:pt x="344289" y="183860"/>
                  <a:pt x="326129" y="202073"/>
                  <a:pt x="303785" y="202073"/>
                </a:cubicBezTo>
                <a:cubicBezTo>
                  <a:pt x="281440" y="202073"/>
                  <a:pt x="263280" y="183860"/>
                  <a:pt x="263280" y="161559"/>
                </a:cubicBezTo>
                <a:cubicBezTo>
                  <a:pt x="263280" y="139259"/>
                  <a:pt x="281440" y="121134"/>
                  <a:pt x="303785" y="121134"/>
                </a:cubicBezTo>
                <a:close/>
                <a:moveTo>
                  <a:pt x="296031" y="3466"/>
                </a:moveTo>
                <a:cubicBezTo>
                  <a:pt x="299859" y="-1156"/>
                  <a:pt x="307692" y="-1156"/>
                  <a:pt x="311609" y="3466"/>
                </a:cubicBezTo>
                <a:lnTo>
                  <a:pt x="362258" y="64170"/>
                </a:lnTo>
                <a:cubicBezTo>
                  <a:pt x="362525" y="64436"/>
                  <a:pt x="384867" y="87189"/>
                  <a:pt x="384867" y="131273"/>
                </a:cubicBezTo>
                <a:lnTo>
                  <a:pt x="384867" y="232417"/>
                </a:lnTo>
                <a:cubicBezTo>
                  <a:pt x="384867" y="246993"/>
                  <a:pt x="391099" y="254636"/>
                  <a:pt x="399733" y="265213"/>
                </a:cubicBezTo>
                <a:cubicBezTo>
                  <a:pt x="411127" y="279167"/>
                  <a:pt x="425369" y="296498"/>
                  <a:pt x="425369" y="333560"/>
                </a:cubicBezTo>
                <a:lnTo>
                  <a:pt x="425369" y="353736"/>
                </a:lnTo>
                <a:cubicBezTo>
                  <a:pt x="425369" y="359335"/>
                  <a:pt x="420829" y="363868"/>
                  <a:pt x="415221" y="363868"/>
                </a:cubicBezTo>
                <a:lnTo>
                  <a:pt x="384867" y="363868"/>
                </a:lnTo>
                <a:lnTo>
                  <a:pt x="384867" y="374000"/>
                </a:lnTo>
                <a:cubicBezTo>
                  <a:pt x="384867" y="379599"/>
                  <a:pt x="380328" y="384132"/>
                  <a:pt x="374720" y="384132"/>
                </a:cubicBezTo>
                <a:cubicBezTo>
                  <a:pt x="369112" y="384132"/>
                  <a:pt x="364572" y="379599"/>
                  <a:pt x="364572" y="374000"/>
                </a:cubicBezTo>
                <a:lnTo>
                  <a:pt x="364572" y="363868"/>
                </a:lnTo>
                <a:lnTo>
                  <a:pt x="344277" y="363868"/>
                </a:lnTo>
                <a:cubicBezTo>
                  <a:pt x="338758" y="363868"/>
                  <a:pt x="334218" y="359335"/>
                  <a:pt x="334218" y="353736"/>
                </a:cubicBezTo>
                <a:cubicBezTo>
                  <a:pt x="334218" y="348136"/>
                  <a:pt x="338758" y="343603"/>
                  <a:pt x="344277" y="343603"/>
                </a:cubicBezTo>
                <a:lnTo>
                  <a:pt x="405074" y="343603"/>
                </a:lnTo>
                <a:lnTo>
                  <a:pt x="405074" y="333560"/>
                </a:lnTo>
                <a:cubicBezTo>
                  <a:pt x="405074" y="303697"/>
                  <a:pt x="394837" y="291254"/>
                  <a:pt x="384066" y="278011"/>
                </a:cubicBezTo>
                <a:cubicBezTo>
                  <a:pt x="374453" y="266279"/>
                  <a:pt x="364572" y="254192"/>
                  <a:pt x="364572" y="232417"/>
                </a:cubicBezTo>
                <a:lnTo>
                  <a:pt x="364572" y="131273"/>
                </a:lnTo>
                <a:cubicBezTo>
                  <a:pt x="364572" y="95988"/>
                  <a:pt x="347927" y="78390"/>
                  <a:pt x="347214" y="77679"/>
                </a:cubicBezTo>
                <a:lnTo>
                  <a:pt x="303775" y="25685"/>
                </a:lnTo>
                <a:lnTo>
                  <a:pt x="260960" y="77057"/>
                </a:lnTo>
                <a:cubicBezTo>
                  <a:pt x="259713" y="78479"/>
                  <a:pt x="243068" y="95988"/>
                  <a:pt x="243068" y="131273"/>
                </a:cubicBezTo>
                <a:lnTo>
                  <a:pt x="243068" y="232417"/>
                </a:lnTo>
                <a:cubicBezTo>
                  <a:pt x="243068" y="254192"/>
                  <a:pt x="233098" y="266279"/>
                  <a:pt x="223574" y="278011"/>
                </a:cubicBezTo>
                <a:cubicBezTo>
                  <a:pt x="212714" y="291254"/>
                  <a:pt x="202566" y="303697"/>
                  <a:pt x="202566" y="333560"/>
                </a:cubicBezTo>
                <a:lnTo>
                  <a:pt x="202566" y="343603"/>
                </a:lnTo>
                <a:lnTo>
                  <a:pt x="263274" y="343603"/>
                </a:lnTo>
                <a:cubicBezTo>
                  <a:pt x="268882" y="343603"/>
                  <a:pt x="273422" y="348136"/>
                  <a:pt x="273422" y="353736"/>
                </a:cubicBezTo>
                <a:cubicBezTo>
                  <a:pt x="273422" y="359335"/>
                  <a:pt x="268882" y="363868"/>
                  <a:pt x="263274" y="363868"/>
                </a:cubicBezTo>
                <a:lnTo>
                  <a:pt x="243068" y="363868"/>
                </a:lnTo>
                <a:lnTo>
                  <a:pt x="243068" y="374000"/>
                </a:lnTo>
                <a:cubicBezTo>
                  <a:pt x="243068" y="379599"/>
                  <a:pt x="238528" y="384132"/>
                  <a:pt x="232920" y="384132"/>
                </a:cubicBezTo>
                <a:cubicBezTo>
                  <a:pt x="227312" y="384132"/>
                  <a:pt x="222772" y="379599"/>
                  <a:pt x="222772" y="374000"/>
                </a:cubicBezTo>
                <a:lnTo>
                  <a:pt x="222772" y="363868"/>
                </a:lnTo>
                <a:lnTo>
                  <a:pt x="192419" y="363868"/>
                </a:lnTo>
                <a:cubicBezTo>
                  <a:pt x="186811" y="363868"/>
                  <a:pt x="182271" y="359335"/>
                  <a:pt x="182271" y="353736"/>
                </a:cubicBezTo>
                <a:lnTo>
                  <a:pt x="182271" y="333560"/>
                </a:lnTo>
                <a:cubicBezTo>
                  <a:pt x="182271" y="296498"/>
                  <a:pt x="196424" y="279167"/>
                  <a:pt x="207907" y="265213"/>
                </a:cubicBezTo>
                <a:cubicBezTo>
                  <a:pt x="216541" y="254636"/>
                  <a:pt x="222772" y="246993"/>
                  <a:pt x="222772" y="232417"/>
                </a:cubicBezTo>
                <a:lnTo>
                  <a:pt x="222772" y="131273"/>
                </a:lnTo>
                <a:cubicBezTo>
                  <a:pt x="222772" y="87189"/>
                  <a:pt x="245026" y="64436"/>
                  <a:pt x="246005" y="63459"/>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57" name="直接连接符 56"/>
          <p:cNvCxnSpPr/>
          <p:nvPr/>
        </p:nvCxnSpPr>
        <p:spPr>
          <a:xfrm>
            <a:off x="4164041"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00357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1" name="ïśľíḋê"/>
          <p:cNvSpPr/>
          <p:nvPr/>
        </p:nvSpPr>
        <p:spPr bwMode="auto">
          <a:xfrm>
            <a:off x="11376069" y="929285"/>
            <a:ext cx="398905" cy="397483"/>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5765" h="605987">
                <a:moveTo>
                  <a:pt x="25902" y="478577"/>
                </a:moveTo>
                <a:cubicBezTo>
                  <a:pt x="32673" y="476076"/>
                  <a:pt x="39351" y="479410"/>
                  <a:pt x="41763" y="486264"/>
                </a:cubicBezTo>
                <a:cubicBezTo>
                  <a:pt x="44174" y="492933"/>
                  <a:pt x="40742" y="499694"/>
                  <a:pt x="34528" y="502009"/>
                </a:cubicBezTo>
                <a:lnTo>
                  <a:pt x="16256" y="508214"/>
                </a:lnTo>
                <a:cubicBezTo>
                  <a:pt x="8373" y="510159"/>
                  <a:pt x="2900" y="505899"/>
                  <a:pt x="953" y="500527"/>
                </a:cubicBezTo>
                <a:cubicBezTo>
                  <a:pt x="-1552" y="493859"/>
                  <a:pt x="1880" y="487098"/>
                  <a:pt x="8094" y="484782"/>
                </a:cubicBezTo>
                <a:close/>
                <a:moveTo>
                  <a:pt x="122099" y="443964"/>
                </a:moveTo>
                <a:cubicBezTo>
                  <a:pt x="128879" y="441923"/>
                  <a:pt x="135567" y="445447"/>
                  <a:pt x="137424" y="451569"/>
                </a:cubicBezTo>
                <a:cubicBezTo>
                  <a:pt x="139932" y="458246"/>
                  <a:pt x="136496" y="465109"/>
                  <a:pt x="130273" y="467428"/>
                </a:cubicBezTo>
                <a:lnTo>
                  <a:pt x="111975" y="473641"/>
                </a:lnTo>
                <a:cubicBezTo>
                  <a:pt x="108353" y="474940"/>
                  <a:pt x="105752" y="474105"/>
                  <a:pt x="104730" y="473641"/>
                </a:cubicBezTo>
                <a:cubicBezTo>
                  <a:pt x="103244" y="475589"/>
                  <a:pt x="101294" y="476980"/>
                  <a:pt x="98972" y="477907"/>
                </a:cubicBezTo>
                <a:lnTo>
                  <a:pt x="59961" y="491912"/>
                </a:lnTo>
                <a:cubicBezTo>
                  <a:pt x="51788" y="493859"/>
                  <a:pt x="46587" y="489593"/>
                  <a:pt x="44543" y="484214"/>
                </a:cubicBezTo>
                <a:cubicBezTo>
                  <a:pt x="42128" y="477537"/>
                  <a:pt x="45565" y="470766"/>
                  <a:pt x="51788" y="468448"/>
                </a:cubicBezTo>
                <a:lnTo>
                  <a:pt x="90798" y="454444"/>
                </a:lnTo>
                <a:cubicBezTo>
                  <a:pt x="93120" y="453980"/>
                  <a:pt x="95628" y="453980"/>
                  <a:pt x="97950" y="454444"/>
                </a:cubicBezTo>
                <a:cubicBezTo>
                  <a:pt x="99436" y="452496"/>
                  <a:pt x="101387" y="451105"/>
                  <a:pt x="103801" y="450085"/>
                </a:cubicBezTo>
                <a:close/>
                <a:moveTo>
                  <a:pt x="107245" y="400218"/>
                </a:moveTo>
                <a:lnTo>
                  <a:pt x="126470" y="400218"/>
                </a:lnTo>
                <a:cubicBezTo>
                  <a:pt x="133249" y="400218"/>
                  <a:pt x="138450" y="405497"/>
                  <a:pt x="138450" y="412627"/>
                </a:cubicBezTo>
                <a:cubicBezTo>
                  <a:pt x="138450" y="419850"/>
                  <a:pt x="133156" y="425128"/>
                  <a:pt x="126470" y="425128"/>
                </a:cubicBezTo>
                <a:lnTo>
                  <a:pt x="107245" y="425128"/>
                </a:lnTo>
                <a:cubicBezTo>
                  <a:pt x="100558" y="425128"/>
                  <a:pt x="95264" y="419294"/>
                  <a:pt x="95264" y="412627"/>
                </a:cubicBezTo>
                <a:cubicBezTo>
                  <a:pt x="95264" y="405497"/>
                  <a:pt x="100558" y="400218"/>
                  <a:pt x="107245" y="400218"/>
                </a:cubicBezTo>
                <a:close/>
                <a:moveTo>
                  <a:pt x="12071" y="399866"/>
                </a:moveTo>
                <a:lnTo>
                  <a:pt x="31384" y="399866"/>
                </a:lnTo>
                <a:cubicBezTo>
                  <a:pt x="33706" y="399866"/>
                  <a:pt x="35563" y="400792"/>
                  <a:pt x="37513" y="401811"/>
                </a:cubicBezTo>
                <a:cubicBezTo>
                  <a:pt x="39370" y="400329"/>
                  <a:pt x="41412" y="399866"/>
                  <a:pt x="43734" y="399866"/>
                </a:cubicBezTo>
                <a:lnTo>
                  <a:pt x="81710" y="399866"/>
                </a:lnTo>
                <a:cubicBezTo>
                  <a:pt x="88396" y="399866"/>
                  <a:pt x="93781" y="405608"/>
                  <a:pt x="93781" y="412275"/>
                </a:cubicBezTo>
                <a:cubicBezTo>
                  <a:pt x="93781" y="418942"/>
                  <a:pt x="88396" y="424776"/>
                  <a:pt x="81618" y="424776"/>
                </a:cubicBezTo>
                <a:lnTo>
                  <a:pt x="43641" y="424776"/>
                </a:lnTo>
                <a:cubicBezTo>
                  <a:pt x="41227" y="424776"/>
                  <a:pt x="39370" y="423758"/>
                  <a:pt x="37420" y="422832"/>
                </a:cubicBezTo>
                <a:cubicBezTo>
                  <a:pt x="35563" y="424313"/>
                  <a:pt x="33613" y="424776"/>
                  <a:pt x="31199" y="424776"/>
                </a:cubicBezTo>
                <a:lnTo>
                  <a:pt x="12071" y="424776"/>
                </a:lnTo>
                <a:cubicBezTo>
                  <a:pt x="5386" y="424776"/>
                  <a:pt x="0" y="418942"/>
                  <a:pt x="0" y="412275"/>
                </a:cubicBezTo>
                <a:cubicBezTo>
                  <a:pt x="0" y="405145"/>
                  <a:pt x="5386" y="399866"/>
                  <a:pt x="12071" y="399866"/>
                </a:cubicBezTo>
                <a:close/>
                <a:moveTo>
                  <a:pt x="59961" y="331976"/>
                </a:moveTo>
                <a:lnTo>
                  <a:pt x="98972" y="345894"/>
                </a:lnTo>
                <a:cubicBezTo>
                  <a:pt x="101294" y="346914"/>
                  <a:pt x="103244" y="348306"/>
                  <a:pt x="104730" y="350254"/>
                </a:cubicBezTo>
                <a:cubicBezTo>
                  <a:pt x="105752" y="349790"/>
                  <a:pt x="108353" y="348863"/>
                  <a:pt x="111975" y="350254"/>
                </a:cubicBezTo>
                <a:lnTo>
                  <a:pt x="130273" y="356471"/>
                </a:lnTo>
                <a:cubicBezTo>
                  <a:pt x="136496" y="358790"/>
                  <a:pt x="139932" y="365564"/>
                  <a:pt x="137424" y="372244"/>
                </a:cubicBezTo>
                <a:cubicBezTo>
                  <a:pt x="135567" y="378461"/>
                  <a:pt x="128879" y="381801"/>
                  <a:pt x="122099" y="379945"/>
                </a:cubicBezTo>
                <a:lnTo>
                  <a:pt x="103801" y="373729"/>
                </a:lnTo>
                <a:cubicBezTo>
                  <a:pt x="101387" y="372801"/>
                  <a:pt x="99436" y="371409"/>
                  <a:pt x="97950" y="369461"/>
                </a:cubicBezTo>
                <a:cubicBezTo>
                  <a:pt x="95628" y="369924"/>
                  <a:pt x="93120" y="369924"/>
                  <a:pt x="90798" y="369461"/>
                </a:cubicBezTo>
                <a:lnTo>
                  <a:pt x="51788" y="355450"/>
                </a:lnTo>
                <a:cubicBezTo>
                  <a:pt x="45565" y="353131"/>
                  <a:pt x="42128" y="346265"/>
                  <a:pt x="44543" y="339584"/>
                </a:cubicBezTo>
                <a:cubicBezTo>
                  <a:pt x="46587" y="334296"/>
                  <a:pt x="51788" y="329935"/>
                  <a:pt x="59961" y="331976"/>
                </a:cubicBezTo>
                <a:close/>
                <a:moveTo>
                  <a:pt x="16346" y="316499"/>
                </a:moveTo>
                <a:lnTo>
                  <a:pt x="34730" y="322713"/>
                </a:lnTo>
                <a:cubicBezTo>
                  <a:pt x="40858" y="325031"/>
                  <a:pt x="44386" y="331801"/>
                  <a:pt x="41879" y="338478"/>
                </a:cubicBezTo>
                <a:cubicBezTo>
                  <a:pt x="39372" y="345155"/>
                  <a:pt x="32687" y="348494"/>
                  <a:pt x="25909" y="346175"/>
                </a:cubicBezTo>
                <a:lnTo>
                  <a:pt x="8175" y="339962"/>
                </a:lnTo>
                <a:cubicBezTo>
                  <a:pt x="2047" y="337643"/>
                  <a:pt x="-1481" y="330874"/>
                  <a:pt x="1026" y="324196"/>
                </a:cubicBezTo>
                <a:cubicBezTo>
                  <a:pt x="2976" y="318818"/>
                  <a:pt x="8454" y="314552"/>
                  <a:pt x="16346" y="316499"/>
                </a:cubicBezTo>
                <a:close/>
                <a:moveTo>
                  <a:pt x="417160" y="8"/>
                </a:moveTo>
                <a:cubicBezTo>
                  <a:pt x="438630" y="-166"/>
                  <a:pt x="459938" y="2384"/>
                  <a:pt x="480364" y="9382"/>
                </a:cubicBezTo>
                <a:cubicBezTo>
                  <a:pt x="544334" y="30981"/>
                  <a:pt x="591870" y="96240"/>
                  <a:pt x="603012" y="168267"/>
                </a:cubicBezTo>
                <a:cubicBezTo>
                  <a:pt x="614060" y="239829"/>
                  <a:pt x="591035" y="315286"/>
                  <a:pt x="548698" y="372110"/>
                </a:cubicBezTo>
                <a:cubicBezTo>
                  <a:pt x="538020" y="385551"/>
                  <a:pt x="526043" y="398065"/>
                  <a:pt x="518802" y="413917"/>
                </a:cubicBezTo>
                <a:cubicBezTo>
                  <a:pt x="499676" y="477879"/>
                  <a:pt x="500140" y="562326"/>
                  <a:pt x="507846" y="605987"/>
                </a:cubicBezTo>
                <a:lnTo>
                  <a:pt x="308230" y="605987"/>
                </a:lnTo>
                <a:cubicBezTo>
                  <a:pt x="310644" y="579012"/>
                  <a:pt x="309158" y="551666"/>
                  <a:pt x="302938" y="525711"/>
                </a:cubicBezTo>
                <a:cubicBezTo>
                  <a:pt x="299967" y="512733"/>
                  <a:pt x="295232" y="498828"/>
                  <a:pt x="285112" y="491134"/>
                </a:cubicBezTo>
                <a:cubicBezTo>
                  <a:pt x="269235" y="478620"/>
                  <a:pt x="247602" y="485943"/>
                  <a:pt x="228383" y="488817"/>
                </a:cubicBezTo>
                <a:cubicBezTo>
                  <a:pt x="209257" y="491598"/>
                  <a:pt x="183261" y="483440"/>
                  <a:pt x="182704" y="462305"/>
                </a:cubicBezTo>
                <a:cubicBezTo>
                  <a:pt x="181868" y="445527"/>
                  <a:pt x="198209" y="427265"/>
                  <a:pt x="188089" y="414751"/>
                </a:cubicBezTo>
                <a:cubicBezTo>
                  <a:pt x="184746" y="410394"/>
                  <a:pt x="178433" y="408540"/>
                  <a:pt x="176019" y="403257"/>
                </a:cubicBezTo>
                <a:cubicBezTo>
                  <a:pt x="170727" y="392132"/>
                  <a:pt x="185211" y="381658"/>
                  <a:pt x="187532" y="369143"/>
                </a:cubicBezTo>
                <a:cubicBezTo>
                  <a:pt x="192267" y="341241"/>
                  <a:pt x="139438" y="337348"/>
                  <a:pt x="139902" y="309538"/>
                </a:cubicBezTo>
                <a:cubicBezTo>
                  <a:pt x="139902" y="282285"/>
                  <a:pt x="199045" y="285344"/>
                  <a:pt x="199045" y="191441"/>
                </a:cubicBezTo>
                <a:cubicBezTo>
                  <a:pt x="201087" y="159275"/>
                  <a:pt x="200066" y="125626"/>
                  <a:pt x="212043" y="95869"/>
                </a:cubicBezTo>
                <a:cubicBezTo>
                  <a:pt x="235068" y="39602"/>
                  <a:pt x="297089" y="16613"/>
                  <a:pt x="352981" y="6972"/>
                </a:cubicBezTo>
                <a:cubicBezTo>
                  <a:pt x="374057" y="3079"/>
                  <a:pt x="395689" y="182"/>
                  <a:pt x="417160" y="8"/>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sz="2000" b="1" dirty="0"/>
          </a:p>
        </p:txBody>
      </p:sp>
      <p:sp>
        <p:nvSpPr>
          <p:cNvPr id="68" name="ïṧľîďe"/>
          <p:cNvSpPr/>
          <p:nvPr/>
        </p:nvSpPr>
        <p:spPr>
          <a:xfrm>
            <a:off x="2966017" y="972257"/>
            <a:ext cx="484634" cy="408348"/>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9473" h="553092">
                <a:moveTo>
                  <a:pt x="478028" y="401708"/>
                </a:moveTo>
                <a:cubicBezTo>
                  <a:pt x="474950" y="405277"/>
                  <a:pt x="471773" y="408747"/>
                  <a:pt x="468299" y="412117"/>
                </a:cubicBezTo>
                <a:cubicBezTo>
                  <a:pt x="464923" y="415587"/>
                  <a:pt x="461448" y="418760"/>
                  <a:pt x="457874" y="421833"/>
                </a:cubicBezTo>
                <a:lnTo>
                  <a:pt x="558543" y="522458"/>
                </a:lnTo>
                <a:cubicBezTo>
                  <a:pt x="561323" y="525135"/>
                  <a:pt x="564897" y="526622"/>
                  <a:pt x="568670" y="526622"/>
                </a:cubicBezTo>
                <a:cubicBezTo>
                  <a:pt x="572541" y="526622"/>
                  <a:pt x="576116" y="525135"/>
                  <a:pt x="578796" y="522458"/>
                </a:cubicBezTo>
                <a:cubicBezTo>
                  <a:pt x="584356" y="516907"/>
                  <a:pt x="584356" y="507885"/>
                  <a:pt x="578796" y="502234"/>
                </a:cubicBezTo>
                <a:close/>
                <a:moveTo>
                  <a:pt x="250450" y="339354"/>
                </a:moveTo>
                <a:cubicBezTo>
                  <a:pt x="254918" y="346988"/>
                  <a:pt x="260478" y="354225"/>
                  <a:pt x="267031" y="360768"/>
                </a:cubicBezTo>
                <a:cubicBezTo>
                  <a:pt x="287087" y="380795"/>
                  <a:pt x="313695" y="391799"/>
                  <a:pt x="341992" y="391799"/>
                </a:cubicBezTo>
                <a:cubicBezTo>
                  <a:pt x="370288" y="391799"/>
                  <a:pt x="396897" y="380795"/>
                  <a:pt x="416854" y="360768"/>
                </a:cubicBezTo>
                <a:cubicBezTo>
                  <a:pt x="423406" y="354225"/>
                  <a:pt x="428966" y="347087"/>
                  <a:pt x="433434" y="339354"/>
                </a:cubicBezTo>
                <a:close/>
                <a:moveTo>
                  <a:pt x="318542" y="209316"/>
                </a:moveTo>
                <a:cubicBezTo>
                  <a:pt x="321943" y="209316"/>
                  <a:pt x="325344" y="210605"/>
                  <a:pt x="327925" y="213182"/>
                </a:cubicBezTo>
                <a:lnTo>
                  <a:pt x="341925" y="227159"/>
                </a:lnTo>
                <a:lnTo>
                  <a:pt x="355925" y="213182"/>
                </a:lnTo>
                <a:cubicBezTo>
                  <a:pt x="361188" y="208027"/>
                  <a:pt x="369528" y="208027"/>
                  <a:pt x="374691" y="213182"/>
                </a:cubicBezTo>
                <a:cubicBezTo>
                  <a:pt x="379854" y="218337"/>
                  <a:pt x="379854" y="226763"/>
                  <a:pt x="374691" y="231917"/>
                </a:cubicBezTo>
                <a:lnTo>
                  <a:pt x="360691" y="245895"/>
                </a:lnTo>
                <a:lnTo>
                  <a:pt x="374691" y="259872"/>
                </a:lnTo>
                <a:cubicBezTo>
                  <a:pt x="379854" y="265027"/>
                  <a:pt x="379854" y="273453"/>
                  <a:pt x="374691" y="278608"/>
                </a:cubicBezTo>
                <a:cubicBezTo>
                  <a:pt x="372110" y="281185"/>
                  <a:pt x="368734" y="282474"/>
                  <a:pt x="365358" y="282474"/>
                </a:cubicBezTo>
                <a:cubicBezTo>
                  <a:pt x="361982" y="282474"/>
                  <a:pt x="358606" y="281185"/>
                  <a:pt x="355925" y="278608"/>
                </a:cubicBezTo>
                <a:lnTo>
                  <a:pt x="341925" y="264631"/>
                </a:lnTo>
                <a:lnTo>
                  <a:pt x="327925" y="278608"/>
                </a:lnTo>
                <a:cubicBezTo>
                  <a:pt x="325344" y="281185"/>
                  <a:pt x="321869" y="282474"/>
                  <a:pt x="318493" y="282474"/>
                </a:cubicBezTo>
                <a:cubicBezTo>
                  <a:pt x="315117" y="282474"/>
                  <a:pt x="311741" y="281185"/>
                  <a:pt x="309159" y="278608"/>
                </a:cubicBezTo>
                <a:cubicBezTo>
                  <a:pt x="303996" y="273453"/>
                  <a:pt x="303996" y="265027"/>
                  <a:pt x="309159" y="259872"/>
                </a:cubicBezTo>
                <a:lnTo>
                  <a:pt x="323159" y="245895"/>
                </a:lnTo>
                <a:lnTo>
                  <a:pt x="309159" y="231917"/>
                </a:lnTo>
                <a:cubicBezTo>
                  <a:pt x="303996" y="226763"/>
                  <a:pt x="303996" y="218337"/>
                  <a:pt x="309159" y="213182"/>
                </a:cubicBezTo>
                <a:cubicBezTo>
                  <a:pt x="311741" y="210605"/>
                  <a:pt x="315142" y="209316"/>
                  <a:pt x="318542" y="209316"/>
                </a:cubicBezTo>
                <a:close/>
                <a:moveTo>
                  <a:pt x="341992" y="180233"/>
                </a:moveTo>
                <a:cubicBezTo>
                  <a:pt x="313695" y="180233"/>
                  <a:pt x="287087" y="191237"/>
                  <a:pt x="267031" y="211165"/>
                </a:cubicBezTo>
                <a:cubicBezTo>
                  <a:pt x="239529" y="238726"/>
                  <a:pt x="230394" y="277688"/>
                  <a:pt x="239529" y="312883"/>
                </a:cubicBezTo>
                <a:lnTo>
                  <a:pt x="444455" y="312883"/>
                </a:lnTo>
                <a:cubicBezTo>
                  <a:pt x="446739" y="304159"/>
                  <a:pt x="447930" y="295137"/>
                  <a:pt x="447930" y="286016"/>
                </a:cubicBezTo>
                <a:cubicBezTo>
                  <a:pt x="447930" y="257761"/>
                  <a:pt x="436909" y="231191"/>
                  <a:pt x="416854" y="211165"/>
                </a:cubicBezTo>
                <a:cubicBezTo>
                  <a:pt x="396897" y="191237"/>
                  <a:pt x="370288" y="180233"/>
                  <a:pt x="341992" y="180233"/>
                </a:cubicBezTo>
                <a:close/>
                <a:moveTo>
                  <a:pt x="341992" y="153762"/>
                </a:moveTo>
                <a:cubicBezTo>
                  <a:pt x="377338" y="153762"/>
                  <a:pt x="410599" y="167543"/>
                  <a:pt x="435619" y="192526"/>
                </a:cubicBezTo>
                <a:cubicBezTo>
                  <a:pt x="460639" y="217411"/>
                  <a:pt x="474340" y="250623"/>
                  <a:pt x="474340" y="286016"/>
                </a:cubicBezTo>
                <a:cubicBezTo>
                  <a:pt x="474340" y="321310"/>
                  <a:pt x="460639" y="354522"/>
                  <a:pt x="435619" y="379506"/>
                </a:cubicBezTo>
                <a:cubicBezTo>
                  <a:pt x="410599" y="404490"/>
                  <a:pt x="377338" y="418171"/>
                  <a:pt x="341992" y="418171"/>
                </a:cubicBezTo>
                <a:cubicBezTo>
                  <a:pt x="306547" y="418171"/>
                  <a:pt x="273286" y="404490"/>
                  <a:pt x="248365" y="379506"/>
                </a:cubicBezTo>
                <a:cubicBezTo>
                  <a:pt x="196736" y="327953"/>
                  <a:pt x="196736" y="244079"/>
                  <a:pt x="248365" y="192526"/>
                </a:cubicBezTo>
                <a:cubicBezTo>
                  <a:pt x="273286" y="167543"/>
                  <a:pt x="306547" y="153762"/>
                  <a:pt x="341992" y="153762"/>
                </a:cubicBezTo>
                <a:close/>
                <a:moveTo>
                  <a:pt x="342016" y="134035"/>
                </a:moveTo>
                <a:cubicBezTo>
                  <a:pt x="302999" y="134035"/>
                  <a:pt x="263983" y="148806"/>
                  <a:pt x="234298" y="178449"/>
                </a:cubicBezTo>
                <a:cubicBezTo>
                  <a:pt x="175029" y="237733"/>
                  <a:pt x="175029" y="334195"/>
                  <a:pt x="234298" y="393479"/>
                </a:cubicBezTo>
                <a:cubicBezTo>
                  <a:pt x="293667" y="452764"/>
                  <a:pt x="390265" y="452764"/>
                  <a:pt x="449634" y="393479"/>
                </a:cubicBezTo>
                <a:cubicBezTo>
                  <a:pt x="509003" y="334195"/>
                  <a:pt x="509003" y="237733"/>
                  <a:pt x="449634" y="178449"/>
                </a:cubicBezTo>
                <a:cubicBezTo>
                  <a:pt x="419950" y="148806"/>
                  <a:pt x="380933" y="134035"/>
                  <a:pt x="342016" y="134035"/>
                </a:cubicBezTo>
                <a:close/>
                <a:moveTo>
                  <a:pt x="83415" y="60757"/>
                </a:moveTo>
                <a:lnTo>
                  <a:pt x="501615" y="60757"/>
                </a:lnTo>
                <a:cubicBezTo>
                  <a:pt x="508960" y="60757"/>
                  <a:pt x="514916" y="66719"/>
                  <a:pt x="514916" y="74073"/>
                </a:cubicBezTo>
                <a:cubicBezTo>
                  <a:pt x="514916" y="81328"/>
                  <a:pt x="508960" y="87290"/>
                  <a:pt x="501615" y="87290"/>
                </a:cubicBezTo>
                <a:lnTo>
                  <a:pt x="83415" y="87290"/>
                </a:lnTo>
                <a:cubicBezTo>
                  <a:pt x="76070" y="87290"/>
                  <a:pt x="70213" y="81328"/>
                  <a:pt x="70213" y="74073"/>
                </a:cubicBezTo>
                <a:cubicBezTo>
                  <a:pt x="70213" y="66719"/>
                  <a:pt x="76070" y="60757"/>
                  <a:pt x="83415" y="60757"/>
                </a:cubicBezTo>
                <a:close/>
                <a:moveTo>
                  <a:pt x="26507" y="26470"/>
                </a:moveTo>
                <a:lnTo>
                  <a:pt x="26507" y="245863"/>
                </a:lnTo>
                <a:lnTo>
                  <a:pt x="167881" y="245863"/>
                </a:lnTo>
                <a:cubicBezTo>
                  <a:pt x="175128" y="214337"/>
                  <a:pt x="191013" y="184298"/>
                  <a:pt x="215634" y="159811"/>
                </a:cubicBezTo>
                <a:cubicBezTo>
                  <a:pt x="285328" y="90216"/>
                  <a:pt x="398704" y="90216"/>
                  <a:pt x="468299" y="159811"/>
                </a:cubicBezTo>
                <a:cubicBezTo>
                  <a:pt x="492920" y="184298"/>
                  <a:pt x="508804" y="214337"/>
                  <a:pt x="516052" y="245863"/>
                </a:cubicBezTo>
                <a:lnTo>
                  <a:pt x="558642" y="245863"/>
                </a:lnTo>
                <a:lnTo>
                  <a:pt x="558642" y="26470"/>
                </a:lnTo>
                <a:close/>
                <a:moveTo>
                  <a:pt x="13204" y="0"/>
                </a:moveTo>
                <a:lnTo>
                  <a:pt x="571847" y="0"/>
                </a:lnTo>
                <a:cubicBezTo>
                  <a:pt x="579193" y="0"/>
                  <a:pt x="585051" y="5948"/>
                  <a:pt x="585051" y="13185"/>
                </a:cubicBezTo>
                <a:lnTo>
                  <a:pt x="585051" y="259048"/>
                </a:lnTo>
                <a:cubicBezTo>
                  <a:pt x="585051" y="266384"/>
                  <a:pt x="579193" y="272333"/>
                  <a:pt x="571847" y="272333"/>
                </a:cubicBezTo>
                <a:lnTo>
                  <a:pt x="520023" y="272333"/>
                </a:lnTo>
                <a:cubicBezTo>
                  <a:pt x="522902" y="309509"/>
                  <a:pt x="514166" y="347380"/>
                  <a:pt x="493813" y="380096"/>
                </a:cubicBezTo>
                <a:lnTo>
                  <a:pt x="597460" y="483596"/>
                </a:lnTo>
                <a:cubicBezTo>
                  <a:pt x="605204" y="491230"/>
                  <a:pt x="609473" y="501540"/>
                  <a:pt x="609473" y="512346"/>
                </a:cubicBezTo>
                <a:cubicBezTo>
                  <a:pt x="609473" y="523251"/>
                  <a:pt x="605204" y="533463"/>
                  <a:pt x="597460" y="541096"/>
                </a:cubicBezTo>
                <a:cubicBezTo>
                  <a:pt x="589816" y="548829"/>
                  <a:pt x="579590" y="553092"/>
                  <a:pt x="568670" y="553092"/>
                </a:cubicBezTo>
                <a:cubicBezTo>
                  <a:pt x="557848" y="553092"/>
                  <a:pt x="547523" y="548829"/>
                  <a:pt x="539879" y="541096"/>
                </a:cubicBezTo>
                <a:lnTo>
                  <a:pt x="436232" y="437596"/>
                </a:lnTo>
                <a:cubicBezTo>
                  <a:pt x="407441" y="455441"/>
                  <a:pt x="374679" y="464363"/>
                  <a:pt x="342016" y="464363"/>
                </a:cubicBezTo>
                <a:cubicBezTo>
                  <a:pt x="296248" y="464363"/>
                  <a:pt x="250481" y="446915"/>
                  <a:pt x="215634" y="412117"/>
                </a:cubicBezTo>
                <a:cubicBezTo>
                  <a:pt x="177312" y="373850"/>
                  <a:pt x="160038" y="322397"/>
                  <a:pt x="163910" y="272333"/>
                </a:cubicBezTo>
                <a:lnTo>
                  <a:pt x="13204" y="272333"/>
                </a:lnTo>
                <a:cubicBezTo>
                  <a:pt x="5956" y="272333"/>
                  <a:pt x="0" y="266384"/>
                  <a:pt x="0" y="259048"/>
                </a:cubicBezTo>
                <a:lnTo>
                  <a:pt x="0" y="13185"/>
                </a:lnTo>
                <a:cubicBezTo>
                  <a:pt x="0" y="5948"/>
                  <a:pt x="5956" y="0"/>
                  <a:pt x="13204" y="0"/>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3" name="直接连接符 62"/>
          <p:cNvCxnSpPr/>
          <p:nvPr/>
        </p:nvCxnSpPr>
        <p:spPr>
          <a:xfrm>
            <a:off x="784568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6" name="ïṧľîďe"/>
          <p:cNvSpPr/>
          <p:nvPr/>
        </p:nvSpPr>
        <p:spPr>
          <a:xfrm>
            <a:off x="8524554" y="972257"/>
            <a:ext cx="398904" cy="397482"/>
          </a:xfrm>
          <a:custGeom>
            <a:avLst/>
            <a:gdLst>
              <a:gd name="connsiteX0" fmla="*/ 236607 w 607780"/>
              <a:gd name="connsiteY0" fmla="*/ 449483 h 595271"/>
              <a:gd name="connsiteX1" fmla="*/ 371243 w 607780"/>
              <a:gd name="connsiteY1" fmla="*/ 449483 h 595271"/>
              <a:gd name="connsiteX2" fmla="*/ 405257 w 607780"/>
              <a:gd name="connsiteY2" fmla="*/ 483441 h 595271"/>
              <a:gd name="connsiteX3" fmla="*/ 405257 w 607780"/>
              <a:gd name="connsiteY3" fmla="*/ 584811 h 595271"/>
              <a:gd name="connsiteX4" fmla="*/ 394780 w 607780"/>
              <a:gd name="connsiteY4" fmla="*/ 595271 h 595271"/>
              <a:gd name="connsiteX5" fmla="*/ 213070 w 607780"/>
              <a:gd name="connsiteY5" fmla="*/ 595271 h 595271"/>
              <a:gd name="connsiteX6" fmla="*/ 202593 w 607780"/>
              <a:gd name="connsiteY6" fmla="*/ 584811 h 595271"/>
              <a:gd name="connsiteX7" fmla="*/ 202593 w 607780"/>
              <a:gd name="connsiteY7" fmla="*/ 483441 h 595271"/>
              <a:gd name="connsiteX8" fmla="*/ 236607 w 607780"/>
              <a:gd name="connsiteY8" fmla="*/ 449483 h 595271"/>
              <a:gd name="connsiteX9" fmla="*/ 541892 w 607780"/>
              <a:gd name="connsiteY9" fmla="*/ 348260 h 595271"/>
              <a:gd name="connsiteX10" fmla="*/ 551736 w 607780"/>
              <a:gd name="connsiteY10" fmla="*/ 349985 h 595271"/>
              <a:gd name="connsiteX11" fmla="*/ 566566 w 607780"/>
              <a:gd name="connsiteY11" fmla="*/ 359133 h 595271"/>
              <a:gd name="connsiteX12" fmla="*/ 570614 w 607780"/>
              <a:gd name="connsiteY12" fmla="*/ 378236 h 595271"/>
              <a:gd name="connsiteX13" fmla="*/ 514841 w 607780"/>
              <a:gd name="connsiteY13" fmla="*/ 439743 h 595271"/>
              <a:gd name="connsiteX14" fmla="*/ 523951 w 607780"/>
              <a:gd name="connsiteY14" fmla="*/ 455460 h 595271"/>
              <a:gd name="connsiteX15" fmla="*/ 515195 w 607780"/>
              <a:gd name="connsiteY15" fmla="*/ 470622 h 595271"/>
              <a:gd name="connsiteX16" fmla="*/ 435128 w 607780"/>
              <a:gd name="connsiteY16" fmla="*/ 470723 h 595271"/>
              <a:gd name="connsiteX17" fmla="*/ 426372 w 607780"/>
              <a:gd name="connsiteY17" fmla="*/ 455561 h 595271"/>
              <a:gd name="connsiteX18" fmla="*/ 466304 w 607780"/>
              <a:gd name="connsiteY18" fmla="*/ 386323 h 595271"/>
              <a:gd name="connsiteX19" fmla="*/ 483816 w 607780"/>
              <a:gd name="connsiteY19" fmla="*/ 386272 h 595271"/>
              <a:gd name="connsiteX20" fmla="*/ 492167 w 607780"/>
              <a:gd name="connsiteY20" fmla="*/ 400676 h 595271"/>
              <a:gd name="connsiteX21" fmla="*/ 533567 w 607780"/>
              <a:gd name="connsiteY21" fmla="*/ 353775 h 595271"/>
              <a:gd name="connsiteX22" fmla="*/ 541892 w 607780"/>
              <a:gd name="connsiteY22" fmla="*/ 348260 h 595271"/>
              <a:gd name="connsiteX23" fmla="*/ 64200 w 607780"/>
              <a:gd name="connsiteY23" fmla="*/ 336864 h 595271"/>
              <a:gd name="connsiteX24" fmla="*/ 74313 w 607780"/>
              <a:gd name="connsiteY24" fmla="*/ 336871 h 595271"/>
              <a:gd name="connsiteX25" fmla="*/ 143681 w 607780"/>
              <a:gd name="connsiteY25" fmla="*/ 376748 h 595271"/>
              <a:gd name="connsiteX26" fmla="*/ 143681 w 607780"/>
              <a:gd name="connsiteY26" fmla="*/ 394235 h 595271"/>
              <a:gd name="connsiteX27" fmla="*/ 129261 w 607780"/>
              <a:gd name="connsiteY27" fmla="*/ 402574 h 595271"/>
              <a:gd name="connsiteX28" fmla="*/ 176214 w 607780"/>
              <a:gd name="connsiteY28" fmla="*/ 443917 h 595271"/>
              <a:gd name="connsiteX29" fmla="*/ 180009 w 607780"/>
              <a:gd name="connsiteY29" fmla="*/ 462061 h 595271"/>
              <a:gd name="connsiteX30" fmla="*/ 170902 w 607780"/>
              <a:gd name="connsiteY30" fmla="*/ 476869 h 595271"/>
              <a:gd name="connsiteX31" fmla="*/ 151725 w 607780"/>
              <a:gd name="connsiteY31" fmla="*/ 480913 h 595271"/>
              <a:gd name="connsiteX32" fmla="*/ 90150 w 607780"/>
              <a:gd name="connsiteY32" fmla="*/ 425166 h 595271"/>
              <a:gd name="connsiteX33" fmla="*/ 74414 w 607780"/>
              <a:gd name="connsiteY33" fmla="*/ 434314 h 595271"/>
              <a:gd name="connsiteX34" fmla="*/ 59235 w 607780"/>
              <a:gd name="connsiteY34" fmla="*/ 425570 h 595271"/>
              <a:gd name="connsiteX35" fmla="*/ 59134 w 607780"/>
              <a:gd name="connsiteY35" fmla="*/ 345614 h 595271"/>
              <a:gd name="connsiteX36" fmla="*/ 64200 w 607780"/>
              <a:gd name="connsiteY36" fmla="*/ 336864 h 595271"/>
              <a:gd name="connsiteX37" fmla="*/ 349533 w 607780"/>
              <a:gd name="connsiteY37" fmla="*/ 289354 h 595271"/>
              <a:gd name="connsiteX38" fmla="*/ 365529 w 607780"/>
              <a:gd name="connsiteY38" fmla="*/ 302800 h 595271"/>
              <a:gd name="connsiteX39" fmla="*/ 365529 w 607780"/>
              <a:gd name="connsiteY39" fmla="*/ 368208 h 595271"/>
              <a:gd name="connsiteX40" fmla="*/ 303926 w 607780"/>
              <a:gd name="connsiteY40" fmla="*/ 429725 h 595271"/>
              <a:gd name="connsiteX41" fmla="*/ 242322 w 607780"/>
              <a:gd name="connsiteY41" fmla="*/ 368208 h 595271"/>
              <a:gd name="connsiteX42" fmla="*/ 242322 w 607780"/>
              <a:gd name="connsiteY42" fmla="*/ 339194 h 595271"/>
              <a:gd name="connsiteX43" fmla="*/ 270719 w 607780"/>
              <a:gd name="connsiteY43" fmla="*/ 304569 h 595271"/>
              <a:gd name="connsiteX44" fmla="*/ 349533 w 607780"/>
              <a:gd name="connsiteY44" fmla="*/ 289354 h 595271"/>
              <a:gd name="connsiteX45" fmla="*/ 439205 w 607780"/>
              <a:gd name="connsiteY45" fmla="*/ 160376 h 595271"/>
              <a:gd name="connsiteX46" fmla="*/ 573782 w 607780"/>
              <a:gd name="connsiteY46" fmla="*/ 160376 h 595271"/>
              <a:gd name="connsiteX47" fmla="*/ 607780 w 607780"/>
              <a:gd name="connsiteY47" fmla="*/ 194334 h 595271"/>
              <a:gd name="connsiteX48" fmla="*/ 607780 w 607780"/>
              <a:gd name="connsiteY48" fmla="*/ 295754 h 595271"/>
              <a:gd name="connsiteX49" fmla="*/ 597307 w 607780"/>
              <a:gd name="connsiteY49" fmla="*/ 306164 h 595271"/>
              <a:gd name="connsiteX50" fmla="*/ 415679 w 607780"/>
              <a:gd name="connsiteY50" fmla="*/ 306164 h 595271"/>
              <a:gd name="connsiteX51" fmla="*/ 405257 w 607780"/>
              <a:gd name="connsiteY51" fmla="*/ 295754 h 595271"/>
              <a:gd name="connsiteX52" fmla="*/ 405257 w 607780"/>
              <a:gd name="connsiteY52" fmla="*/ 194334 h 595271"/>
              <a:gd name="connsiteX53" fmla="*/ 439205 w 607780"/>
              <a:gd name="connsiteY53" fmla="*/ 160376 h 595271"/>
              <a:gd name="connsiteX54" fmla="*/ 34010 w 607780"/>
              <a:gd name="connsiteY54" fmla="*/ 160376 h 595271"/>
              <a:gd name="connsiteX55" fmla="*/ 168583 w 607780"/>
              <a:gd name="connsiteY55" fmla="*/ 160376 h 595271"/>
              <a:gd name="connsiteX56" fmla="*/ 202593 w 607780"/>
              <a:gd name="connsiteY56" fmla="*/ 194334 h 595271"/>
              <a:gd name="connsiteX57" fmla="*/ 202593 w 607780"/>
              <a:gd name="connsiteY57" fmla="*/ 295754 h 595271"/>
              <a:gd name="connsiteX58" fmla="*/ 192167 w 607780"/>
              <a:gd name="connsiteY58" fmla="*/ 306164 h 595271"/>
              <a:gd name="connsiteX59" fmla="*/ 10426 w 607780"/>
              <a:gd name="connsiteY59" fmla="*/ 306164 h 595271"/>
              <a:gd name="connsiteX60" fmla="*/ 0 w 607780"/>
              <a:gd name="connsiteY60" fmla="*/ 295754 h 595271"/>
              <a:gd name="connsiteX61" fmla="*/ 0 w 607780"/>
              <a:gd name="connsiteY61" fmla="*/ 194334 h 595271"/>
              <a:gd name="connsiteX62" fmla="*/ 34010 w 607780"/>
              <a:gd name="connsiteY62" fmla="*/ 160376 h 595271"/>
              <a:gd name="connsiteX63" fmla="*/ 330342 w 607780"/>
              <a:gd name="connsiteY63" fmla="*/ 21924 h 595271"/>
              <a:gd name="connsiteX64" fmla="*/ 340102 w 607780"/>
              <a:gd name="connsiteY64" fmla="*/ 24538 h 595271"/>
              <a:gd name="connsiteX65" fmla="*/ 396777 w 607780"/>
              <a:gd name="connsiteY65" fmla="*/ 80951 h 595271"/>
              <a:gd name="connsiteX66" fmla="*/ 392274 w 607780"/>
              <a:gd name="connsiteY66" fmla="*/ 97870 h 595271"/>
              <a:gd name="connsiteX67" fmla="*/ 314952 w 607780"/>
              <a:gd name="connsiteY67" fmla="*/ 118627 h 595271"/>
              <a:gd name="connsiteX68" fmla="*/ 302554 w 607780"/>
              <a:gd name="connsiteY68" fmla="*/ 106253 h 595271"/>
              <a:gd name="connsiteX69" fmla="*/ 306856 w 607780"/>
              <a:gd name="connsiteY69" fmla="*/ 90193 h 595271"/>
              <a:gd name="connsiteX70" fmla="*/ 244361 w 607780"/>
              <a:gd name="connsiteY70" fmla="*/ 94132 h 595271"/>
              <a:gd name="connsiteX71" fmla="*/ 228876 w 607780"/>
              <a:gd name="connsiteY71" fmla="*/ 83981 h 595271"/>
              <a:gd name="connsiteX72" fmla="*/ 224828 w 607780"/>
              <a:gd name="connsiteY72" fmla="*/ 67062 h 595271"/>
              <a:gd name="connsiteX73" fmla="*/ 235505 w 607780"/>
              <a:gd name="connsiteY73" fmla="*/ 50699 h 595271"/>
              <a:gd name="connsiteX74" fmla="*/ 318494 w 607780"/>
              <a:gd name="connsiteY74" fmla="*/ 46659 h 595271"/>
              <a:gd name="connsiteX75" fmla="*/ 323200 w 607780"/>
              <a:gd name="connsiteY75" fmla="*/ 29083 h 595271"/>
              <a:gd name="connsiteX76" fmla="*/ 330342 w 607780"/>
              <a:gd name="connsiteY76" fmla="*/ 21924 h 595271"/>
              <a:gd name="connsiteX77" fmla="*/ 552065 w 607780"/>
              <a:gd name="connsiteY77" fmla="*/ 196 h 595271"/>
              <a:gd name="connsiteX78" fmla="*/ 568052 w 607780"/>
              <a:gd name="connsiteY78" fmla="*/ 13690 h 595271"/>
              <a:gd name="connsiteX79" fmla="*/ 568052 w 607780"/>
              <a:gd name="connsiteY79" fmla="*/ 79039 h 595271"/>
              <a:gd name="connsiteX80" fmla="*/ 506484 w 607780"/>
              <a:gd name="connsiteY80" fmla="*/ 140547 h 595271"/>
              <a:gd name="connsiteX81" fmla="*/ 444915 w 607780"/>
              <a:gd name="connsiteY81" fmla="*/ 79039 h 595271"/>
              <a:gd name="connsiteX82" fmla="*/ 444915 w 607780"/>
              <a:gd name="connsiteY82" fmla="*/ 50080 h 595271"/>
              <a:gd name="connsiteX83" fmla="*/ 473296 w 607780"/>
              <a:gd name="connsiteY83" fmla="*/ 15459 h 595271"/>
              <a:gd name="connsiteX84" fmla="*/ 552065 w 607780"/>
              <a:gd name="connsiteY84" fmla="*/ 196 h 595271"/>
              <a:gd name="connsiteX85" fmla="*/ 146938 w 607780"/>
              <a:gd name="connsiteY85" fmla="*/ 196 h 595271"/>
              <a:gd name="connsiteX86" fmla="*/ 162936 w 607780"/>
              <a:gd name="connsiteY86" fmla="*/ 13690 h 595271"/>
              <a:gd name="connsiteX87" fmla="*/ 162936 w 607780"/>
              <a:gd name="connsiteY87" fmla="*/ 79039 h 595271"/>
              <a:gd name="connsiteX88" fmla="*/ 101322 w 607780"/>
              <a:gd name="connsiteY88" fmla="*/ 140547 h 595271"/>
              <a:gd name="connsiteX89" fmla="*/ 39658 w 607780"/>
              <a:gd name="connsiteY89" fmla="*/ 79039 h 595271"/>
              <a:gd name="connsiteX90" fmla="*/ 39658 w 607780"/>
              <a:gd name="connsiteY90" fmla="*/ 50080 h 595271"/>
              <a:gd name="connsiteX91" fmla="*/ 68060 w 607780"/>
              <a:gd name="connsiteY91" fmla="*/ 15459 h 595271"/>
              <a:gd name="connsiteX92" fmla="*/ 146938 w 607780"/>
              <a:gd name="connsiteY92" fmla="*/ 196 h 59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7780" h="595271">
                <a:moveTo>
                  <a:pt x="236607" y="449483"/>
                </a:moveTo>
                <a:lnTo>
                  <a:pt x="371243" y="449483"/>
                </a:lnTo>
                <a:cubicBezTo>
                  <a:pt x="390022" y="449483"/>
                  <a:pt x="405257" y="464643"/>
                  <a:pt x="405257" y="483441"/>
                </a:cubicBezTo>
                <a:lnTo>
                  <a:pt x="405257" y="584811"/>
                </a:lnTo>
                <a:cubicBezTo>
                  <a:pt x="405257" y="590571"/>
                  <a:pt x="400550" y="595271"/>
                  <a:pt x="394780" y="595271"/>
                </a:cubicBezTo>
                <a:lnTo>
                  <a:pt x="213070" y="595271"/>
                </a:lnTo>
                <a:cubicBezTo>
                  <a:pt x="207300" y="595271"/>
                  <a:pt x="202593" y="590571"/>
                  <a:pt x="202593" y="584811"/>
                </a:cubicBezTo>
                <a:lnTo>
                  <a:pt x="202593" y="483441"/>
                </a:lnTo>
                <a:cubicBezTo>
                  <a:pt x="202593" y="464643"/>
                  <a:pt x="217828" y="449483"/>
                  <a:pt x="236607" y="449483"/>
                </a:cubicBezTo>
                <a:close/>
                <a:moveTo>
                  <a:pt x="541892" y="348260"/>
                </a:moveTo>
                <a:cubicBezTo>
                  <a:pt x="545169" y="347584"/>
                  <a:pt x="548699" y="348115"/>
                  <a:pt x="551736" y="349985"/>
                </a:cubicBezTo>
                <a:lnTo>
                  <a:pt x="566566" y="359133"/>
                </a:lnTo>
                <a:cubicBezTo>
                  <a:pt x="573145" y="363176"/>
                  <a:pt x="574967" y="371868"/>
                  <a:pt x="570614" y="378236"/>
                </a:cubicBezTo>
                <a:cubicBezTo>
                  <a:pt x="554925" y="401232"/>
                  <a:pt x="536249" y="421852"/>
                  <a:pt x="514841" y="439743"/>
                </a:cubicBezTo>
                <a:lnTo>
                  <a:pt x="523951" y="455460"/>
                </a:lnTo>
                <a:cubicBezTo>
                  <a:pt x="527848" y="462182"/>
                  <a:pt x="522989" y="470622"/>
                  <a:pt x="515195" y="470622"/>
                </a:cubicBezTo>
                <a:lnTo>
                  <a:pt x="435128" y="470723"/>
                </a:lnTo>
                <a:cubicBezTo>
                  <a:pt x="427334" y="470723"/>
                  <a:pt x="422475" y="462334"/>
                  <a:pt x="426372" y="455561"/>
                </a:cubicBezTo>
                <a:lnTo>
                  <a:pt x="466304" y="386323"/>
                </a:lnTo>
                <a:cubicBezTo>
                  <a:pt x="470202" y="379550"/>
                  <a:pt x="479919" y="379550"/>
                  <a:pt x="483816" y="386272"/>
                </a:cubicBezTo>
                <a:lnTo>
                  <a:pt x="492167" y="400676"/>
                </a:lnTo>
                <a:cubicBezTo>
                  <a:pt x="507856" y="386777"/>
                  <a:pt x="521724" y="371060"/>
                  <a:pt x="533567" y="353775"/>
                </a:cubicBezTo>
                <a:cubicBezTo>
                  <a:pt x="535592" y="350819"/>
                  <a:pt x="538616" y="348936"/>
                  <a:pt x="541892" y="348260"/>
                </a:cubicBezTo>
                <a:close/>
                <a:moveTo>
                  <a:pt x="64200" y="336864"/>
                </a:moveTo>
                <a:cubicBezTo>
                  <a:pt x="67154" y="335165"/>
                  <a:pt x="70949" y="334925"/>
                  <a:pt x="74313" y="336871"/>
                </a:cubicBezTo>
                <a:lnTo>
                  <a:pt x="143681" y="376748"/>
                </a:lnTo>
                <a:cubicBezTo>
                  <a:pt x="150410" y="380639"/>
                  <a:pt x="150410" y="390343"/>
                  <a:pt x="143681" y="394235"/>
                </a:cubicBezTo>
                <a:lnTo>
                  <a:pt x="129261" y="402574"/>
                </a:lnTo>
                <a:cubicBezTo>
                  <a:pt x="143225" y="418242"/>
                  <a:pt x="158910" y="432090"/>
                  <a:pt x="176214" y="443917"/>
                </a:cubicBezTo>
                <a:cubicBezTo>
                  <a:pt x="182134" y="447960"/>
                  <a:pt x="183753" y="455945"/>
                  <a:pt x="180009" y="462061"/>
                </a:cubicBezTo>
                <a:lnTo>
                  <a:pt x="170902" y="476869"/>
                </a:lnTo>
                <a:cubicBezTo>
                  <a:pt x="166803" y="483440"/>
                  <a:pt x="158101" y="485259"/>
                  <a:pt x="151725" y="480913"/>
                </a:cubicBezTo>
                <a:cubicBezTo>
                  <a:pt x="128704" y="465245"/>
                  <a:pt x="108061" y="446545"/>
                  <a:pt x="90150" y="425166"/>
                </a:cubicBezTo>
                <a:lnTo>
                  <a:pt x="74414" y="434314"/>
                </a:lnTo>
                <a:cubicBezTo>
                  <a:pt x="67685" y="438205"/>
                  <a:pt x="59235" y="433353"/>
                  <a:pt x="59235" y="425570"/>
                </a:cubicBezTo>
                <a:lnTo>
                  <a:pt x="59134" y="345614"/>
                </a:lnTo>
                <a:cubicBezTo>
                  <a:pt x="59134" y="341723"/>
                  <a:pt x="61247" y="338564"/>
                  <a:pt x="64200" y="336864"/>
                </a:cubicBezTo>
                <a:close/>
                <a:moveTo>
                  <a:pt x="349533" y="289354"/>
                </a:moveTo>
                <a:cubicBezTo>
                  <a:pt x="357886" y="287888"/>
                  <a:pt x="365529" y="294308"/>
                  <a:pt x="365529" y="302800"/>
                </a:cubicBezTo>
                <a:lnTo>
                  <a:pt x="365529" y="368208"/>
                </a:lnTo>
                <a:cubicBezTo>
                  <a:pt x="365529" y="402177"/>
                  <a:pt x="337942" y="429725"/>
                  <a:pt x="303926" y="429725"/>
                </a:cubicBezTo>
                <a:cubicBezTo>
                  <a:pt x="269909" y="429725"/>
                  <a:pt x="242322" y="402177"/>
                  <a:pt x="242322" y="368208"/>
                </a:cubicBezTo>
                <a:lnTo>
                  <a:pt x="242322" y="339194"/>
                </a:lnTo>
                <a:cubicBezTo>
                  <a:pt x="242322" y="322412"/>
                  <a:pt x="254167" y="307905"/>
                  <a:pt x="270719" y="304569"/>
                </a:cubicBezTo>
                <a:cubicBezTo>
                  <a:pt x="296434" y="299413"/>
                  <a:pt x="332829" y="292185"/>
                  <a:pt x="349533" y="289354"/>
                </a:cubicBezTo>
                <a:close/>
                <a:moveTo>
                  <a:pt x="439205" y="160376"/>
                </a:moveTo>
                <a:lnTo>
                  <a:pt x="573782" y="160376"/>
                </a:lnTo>
                <a:cubicBezTo>
                  <a:pt x="592552" y="160376"/>
                  <a:pt x="607780" y="175587"/>
                  <a:pt x="607780" y="194334"/>
                </a:cubicBezTo>
                <a:lnTo>
                  <a:pt x="607780" y="295754"/>
                </a:lnTo>
                <a:cubicBezTo>
                  <a:pt x="607780" y="301515"/>
                  <a:pt x="603075" y="306164"/>
                  <a:pt x="597307" y="306164"/>
                </a:cubicBezTo>
                <a:lnTo>
                  <a:pt x="415679" y="306164"/>
                </a:lnTo>
                <a:cubicBezTo>
                  <a:pt x="409912" y="306164"/>
                  <a:pt x="405257" y="301515"/>
                  <a:pt x="405257" y="295754"/>
                </a:cubicBezTo>
                <a:lnTo>
                  <a:pt x="405257" y="194334"/>
                </a:lnTo>
                <a:cubicBezTo>
                  <a:pt x="405257" y="175587"/>
                  <a:pt x="420435" y="160376"/>
                  <a:pt x="439205" y="160376"/>
                </a:cubicBezTo>
                <a:close/>
                <a:moveTo>
                  <a:pt x="34010" y="160376"/>
                </a:moveTo>
                <a:lnTo>
                  <a:pt x="168583" y="160376"/>
                </a:lnTo>
                <a:cubicBezTo>
                  <a:pt x="187359" y="160376"/>
                  <a:pt x="202593" y="175587"/>
                  <a:pt x="202593" y="194334"/>
                </a:cubicBezTo>
                <a:lnTo>
                  <a:pt x="202593" y="295754"/>
                </a:lnTo>
                <a:cubicBezTo>
                  <a:pt x="202593" y="301515"/>
                  <a:pt x="197937" y="306164"/>
                  <a:pt x="192167" y="306164"/>
                </a:cubicBezTo>
                <a:lnTo>
                  <a:pt x="10426" y="306164"/>
                </a:lnTo>
                <a:cubicBezTo>
                  <a:pt x="4656" y="306164"/>
                  <a:pt x="0" y="301515"/>
                  <a:pt x="0" y="295754"/>
                </a:cubicBezTo>
                <a:lnTo>
                  <a:pt x="0" y="194334"/>
                </a:lnTo>
                <a:cubicBezTo>
                  <a:pt x="0" y="175587"/>
                  <a:pt x="15234" y="160376"/>
                  <a:pt x="34010" y="160376"/>
                </a:cubicBezTo>
                <a:close/>
                <a:moveTo>
                  <a:pt x="330342" y="21924"/>
                </a:moveTo>
                <a:cubicBezTo>
                  <a:pt x="333625" y="21041"/>
                  <a:pt x="337344" y="21786"/>
                  <a:pt x="340102" y="24538"/>
                </a:cubicBezTo>
                <a:lnTo>
                  <a:pt x="396777" y="80951"/>
                </a:lnTo>
                <a:cubicBezTo>
                  <a:pt x="402293" y="86456"/>
                  <a:pt x="399763" y="95850"/>
                  <a:pt x="392274" y="97870"/>
                </a:cubicBezTo>
                <a:lnTo>
                  <a:pt x="314952" y="118627"/>
                </a:lnTo>
                <a:cubicBezTo>
                  <a:pt x="307463" y="120647"/>
                  <a:pt x="300530" y="113779"/>
                  <a:pt x="302554" y="106253"/>
                </a:cubicBezTo>
                <a:lnTo>
                  <a:pt x="306856" y="90193"/>
                </a:lnTo>
                <a:cubicBezTo>
                  <a:pt x="285906" y="88981"/>
                  <a:pt x="265007" y="90294"/>
                  <a:pt x="244361" y="94132"/>
                </a:cubicBezTo>
                <a:cubicBezTo>
                  <a:pt x="237327" y="95446"/>
                  <a:pt x="230496" y="90951"/>
                  <a:pt x="228876" y="83981"/>
                </a:cubicBezTo>
                <a:lnTo>
                  <a:pt x="224828" y="67062"/>
                </a:lnTo>
                <a:cubicBezTo>
                  <a:pt x="223057" y="59588"/>
                  <a:pt x="227915" y="52164"/>
                  <a:pt x="235505" y="50699"/>
                </a:cubicBezTo>
                <a:cubicBezTo>
                  <a:pt x="262882" y="45548"/>
                  <a:pt x="290713" y="44184"/>
                  <a:pt x="318494" y="46659"/>
                </a:cubicBezTo>
                <a:lnTo>
                  <a:pt x="323200" y="29083"/>
                </a:lnTo>
                <a:cubicBezTo>
                  <a:pt x="324213" y="25321"/>
                  <a:pt x="327059" y="22808"/>
                  <a:pt x="330342" y="21924"/>
                </a:cubicBezTo>
                <a:close/>
                <a:moveTo>
                  <a:pt x="552065" y="196"/>
                </a:moveTo>
                <a:cubicBezTo>
                  <a:pt x="560413" y="-1219"/>
                  <a:pt x="568052" y="5200"/>
                  <a:pt x="568052" y="13690"/>
                </a:cubicBezTo>
                <a:lnTo>
                  <a:pt x="568052" y="79039"/>
                </a:lnTo>
                <a:cubicBezTo>
                  <a:pt x="568052" y="113053"/>
                  <a:pt x="540480" y="140547"/>
                  <a:pt x="506484" y="140547"/>
                </a:cubicBezTo>
                <a:cubicBezTo>
                  <a:pt x="472487" y="140547"/>
                  <a:pt x="444915" y="113053"/>
                  <a:pt x="444915" y="79039"/>
                </a:cubicBezTo>
                <a:lnTo>
                  <a:pt x="444915" y="50080"/>
                </a:lnTo>
                <a:cubicBezTo>
                  <a:pt x="444915" y="33250"/>
                  <a:pt x="456804" y="18744"/>
                  <a:pt x="473296" y="15459"/>
                </a:cubicBezTo>
                <a:cubicBezTo>
                  <a:pt x="498996" y="10254"/>
                  <a:pt x="535371" y="3077"/>
                  <a:pt x="552065" y="196"/>
                </a:cubicBezTo>
                <a:close/>
                <a:moveTo>
                  <a:pt x="146938" y="196"/>
                </a:moveTo>
                <a:cubicBezTo>
                  <a:pt x="155291" y="-1219"/>
                  <a:pt x="162936" y="5200"/>
                  <a:pt x="162936" y="13690"/>
                </a:cubicBezTo>
                <a:lnTo>
                  <a:pt x="162936" y="79039"/>
                </a:lnTo>
                <a:cubicBezTo>
                  <a:pt x="162936" y="113053"/>
                  <a:pt x="135344" y="140547"/>
                  <a:pt x="101322" y="140547"/>
                </a:cubicBezTo>
                <a:cubicBezTo>
                  <a:pt x="67250" y="140547"/>
                  <a:pt x="39658" y="113053"/>
                  <a:pt x="39658" y="79039"/>
                </a:cubicBezTo>
                <a:lnTo>
                  <a:pt x="39658" y="50080"/>
                </a:lnTo>
                <a:cubicBezTo>
                  <a:pt x="39658" y="33250"/>
                  <a:pt x="51555" y="18744"/>
                  <a:pt x="68060" y="15459"/>
                </a:cubicBezTo>
                <a:cubicBezTo>
                  <a:pt x="93829" y="10254"/>
                  <a:pt x="130231" y="3077"/>
                  <a:pt x="146938" y="196"/>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5" name="直接连接符 64"/>
          <p:cNvCxnSpPr/>
          <p:nvPr/>
        </p:nvCxnSpPr>
        <p:spPr>
          <a:xfrm>
            <a:off x="9646149"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19" name="isḻíḓe"/>
          <p:cNvSpPr/>
          <p:nvPr/>
        </p:nvSpPr>
        <p:spPr bwMode="auto">
          <a:xfrm>
            <a:off x="1942341" y="2037640"/>
            <a:ext cx="9909687" cy="1259991"/>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charset="0"/>
                <a:ea typeface="微软雅黑" charset="0"/>
                <a:cs typeface="微软雅黑" charset="0"/>
              </a:rPr>
              <a:t>构建穿透式指标分析体系，支撑业务问题定位与溯因</a:t>
            </a:r>
            <a:endParaRPr lang="en-US" altLang="zh-CN" b="1" dirty="0">
              <a:solidFill>
                <a:schemeClr val="accent1"/>
              </a:solidFill>
              <a:latin typeface="微软雅黑" charset="0"/>
              <a:ea typeface="微软雅黑" charset="0"/>
              <a:cs typeface="微软雅黑" charset="0"/>
            </a:endParaRPr>
          </a:p>
          <a:p>
            <a:pPr marL="171450" indent="-171450">
              <a:lnSpc>
                <a:spcPct val="120000"/>
              </a:lnSpc>
              <a:buFont typeface="Arial" panose="020B0604020202020204" pitchFamily="34" charset="0"/>
              <a:buChar char="•"/>
            </a:pPr>
            <a:r>
              <a:rPr lang="zh-CN" altLang="en-US" sz="1400" dirty="0">
                <a:solidFill>
                  <a:schemeClr val="tx1"/>
                </a:solidFill>
              </a:rPr>
              <a:t>匹配洲明战略重点及关键举措，结合经营与管理重点，构建穿透式的经营分析指标体系，支持</a:t>
            </a:r>
            <a:r>
              <a:rPr lang="zh-CN" altLang="en-US" sz="1400" dirty="0">
                <a:latin typeface="微软雅黑" panose="020B0503020204020204" pitchFamily="34" charset="-122"/>
                <a:ea typeface="微软雅黑" panose="020B0503020204020204" pitchFamily="34" charset="-122"/>
              </a:rPr>
              <a:t>经营指标向业务流程、业务数据的穿透。</a:t>
            </a:r>
            <a:endParaRPr lang="en-US" altLang="zh-CN" sz="1400" dirty="0">
              <a:latin typeface="微软雅黑" panose="020B0503020204020204" pitchFamily="34" charset="-122"/>
              <a:ea typeface="微软雅黑" panose="020B0503020204020204" pitchFamily="34" charset="-122"/>
            </a:endParaRPr>
          </a:p>
        </p:txBody>
      </p:sp>
      <p:grpSp>
        <p:nvGrpSpPr>
          <p:cNvPr id="38" name="îsḻïḋê"/>
          <p:cNvGrpSpPr/>
          <p:nvPr/>
        </p:nvGrpSpPr>
        <p:grpSpPr>
          <a:xfrm>
            <a:off x="616587" y="883730"/>
            <a:ext cx="398905" cy="397482"/>
            <a:chOff x="7258511" y="1916834"/>
            <a:chExt cx="3670965" cy="3395592"/>
          </a:xfrm>
        </p:grpSpPr>
        <p:sp>
          <p:nvSpPr>
            <p:cNvPr id="39" name="ïṡḻíḑé"/>
            <p:cNvSpPr/>
            <p:nvPr/>
          </p:nvSpPr>
          <p:spPr bwMode="auto">
            <a:xfrm>
              <a:off x="7377468" y="2399195"/>
              <a:ext cx="3552008" cy="2913231"/>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chemeClr val="accent1">
                <a:lumMod val="50000"/>
              </a:schemeClr>
            </a:solidFill>
            <a:ln>
              <a:noFill/>
            </a:ln>
          </p:spPr>
          <p:txBody>
            <a:bodyPr wrap="square" lIns="91440" tIns="45720" rIns="91440" bIns="45720" anchor="ctr">
              <a:normAutofit lnSpcReduction="10000"/>
            </a:bodyPr>
            <a:lstStyle/>
            <a:p>
              <a:pPr algn="ctr"/>
            </a:p>
          </p:txBody>
        </p:sp>
        <p:sp>
          <p:nvSpPr>
            <p:cNvPr id="40" name="îšľíḍé"/>
            <p:cNvSpPr/>
            <p:nvPr/>
          </p:nvSpPr>
          <p:spPr bwMode="auto">
            <a:xfrm>
              <a:off x="7340899" y="2353676"/>
              <a:ext cx="3552008" cy="2913231"/>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41" name="íşḷîḓè"/>
            <p:cNvSpPr/>
            <p:nvPr/>
          </p:nvSpPr>
          <p:spPr bwMode="auto">
            <a:xfrm>
              <a:off x="7294577" y="2295964"/>
              <a:ext cx="3552008" cy="291323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5"/>
            </a:solidFill>
            <a:ln>
              <a:noFill/>
            </a:ln>
          </p:spPr>
          <p:txBody>
            <a:bodyPr wrap="square" lIns="91440" tIns="45720" rIns="91440" bIns="45720" anchor="ctr">
              <a:normAutofit lnSpcReduction="10000"/>
            </a:bodyPr>
            <a:lstStyle/>
            <a:p>
              <a:pPr algn="ctr"/>
            </a:p>
          </p:txBody>
        </p:sp>
        <p:sp>
          <p:nvSpPr>
            <p:cNvPr id="42" name="íSľíḍè"/>
            <p:cNvSpPr/>
            <p:nvPr/>
          </p:nvSpPr>
          <p:spPr bwMode="auto">
            <a:xfrm>
              <a:off x="7631008" y="2572331"/>
              <a:ext cx="2879151" cy="2361310"/>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chemeClr val="accent5">
                <a:lumMod val="20000"/>
                <a:lumOff val="80000"/>
              </a:schemeClr>
            </a:solidFill>
            <a:ln>
              <a:noFill/>
            </a:ln>
          </p:spPr>
          <p:txBody>
            <a:bodyPr wrap="square" lIns="91440" tIns="45720" rIns="91440" bIns="45720" anchor="ctr">
              <a:normAutofit fontScale="77500" lnSpcReduction="20000"/>
            </a:bodyPr>
            <a:lstStyle/>
            <a:p>
              <a:pPr algn="ctr"/>
            </a:p>
          </p:txBody>
        </p:sp>
        <p:sp>
          <p:nvSpPr>
            <p:cNvPr id="43" name="ïšļîďe"/>
            <p:cNvSpPr/>
            <p:nvPr/>
          </p:nvSpPr>
          <p:spPr bwMode="auto">
            <a:xfrm>
              <a:off x="7834558" y="2673323"/>
              <a:ext cx="2502091" cy="2050803"/>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chemeClr val="accent3">
                <a:lumMod val="40000"/>
                <a:lumOff val="60000"/>
              </a:schemeClr>
            </a:solidFill>
            <a:ln>
              <a:noFill/>
            </a:ln>
          </p:spPr>
          <p:txBody>
            <a:bodyPr wrap="square" lIns="91440" tIns="45720" rIns="91440" bIns="45720" anchor="ctr">
              <a:normAutofit fontScale="62500" lnSpcReduction="20000"/>
            </a:bodyPr>
            <a:lstStyle/>
            <a:p>
              <a:pPr algn="ctr"/>
            </a:p>
          </p:txBody>
        </p:sp>
        <p:sp>
          <p:nvSpPr>
            <p:cNvPr id="44" name="îṡlîde"/>
            <p:cNvSpPr/>
            <p:nvPr/>
          </p:nvSpPr>
          <p:spPr bwMode="auto">
            <a:xfrm>
              <a:off x="8078764" y="2936485"/>
              <a:ext cx="1982818" cy="1631376"/>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chemeClr val="accent5">
                <a:lumMod val="20000"/>
                <a:lumOff val="80000"/>
              </a:schemeClr>
            </a:solidFill>
            <a:ln>
              <a:noFill/>
            </a:ln>
          </p:spPr>
          <p:txBody>
            <a:bodyPr wrap="square" lIns="91440" tIns="45720" rIns="91440" bIns="45720" anchor="ctr">
              <a:normAutofit fontScale="40000" lnSpcReduction="20000"/>
            </a:bodyPr>
            <a:lstStyle/>
            <a:p>
              <a:pPr algn="ctr"/>
            </a:p>
          </p:txBody>
        </p:sp>
        <p:sp>
          <p:nvSpPr>
            <p:cNvPr id="45" name="ïṣliḋé"/>
            <p:cNvSpPr/>
            <p:nvPr/>
          </p:nvSpPr>
          <p:spPr bwMode="auto">
            <a:xfrm>
              <a:off x="8292486" y="3107995"/>
              <a:ext cx="1556187" cy="1289170"/>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chemeClr val="accent4">
                <a:lumMod val="40000"/>
                <a:lumOff val="60000"/>
              </a:schemeClr>
            </a:solidFill>
            <a:ln>
              <a:noFill/>
            </a:ln>
          </p:spPr>
          <p:txBody>
            <a:bodyPr wrap="square" lIns="91440" tIns="45720" rIns="91440" bIns="45720" anchor="ctr">
              <a:normAutofit fontScale="25000" lnSpcReduction="20000"/>
            </a:bodyPr>
            <a:lstStyle/>
            <a:p>
              <a:pPr algn="ctr"/>
            </a:p>
          </p:txBody>
        </p:sp>
        <p:sp>
          <p:nvSpPr>
            <p:cNvPr id="46" name="íśľiḋê"/>
            <p:cNvSpPr/>
            <p:nvPr/>
          </p:nvSpPr>
          <p:spPr bwMode="auto">
            <a:xfrm>
              <a:off x="8502144" y="3275440"/>
              <a:ext cx="1136869" cy="954278"/>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chemeClr val="accent5">
                <a:lumMod val="20000"/>
                <a:lumOff val="80000"/>
              </a:schemeClr>
            </a:solidFill>
            <a:ln>
              <a:noFill/>
            </a:ln>
          </p:spPr>
          <p:txBody>
            <a:bodyPr wrap="square" lIns="91440" tIns="45720" rIns="91440" bIns="45720" anchor="ctr">
              <a:normAutofit fontScale="25000" lnSpcReduction="20000"/>
            </a:bodyPr>
            <a:lstStyle/>
            <a:p>
              <a:pPr algn="ctr"/>
            </a:p>
          </p:txBody>
        </p:sp>
        <p:sp>
          <p:nvSpPr>
            <p:cNvPr id="47" name="ïšḷídè"/>
            <p:cNvSpPr/>
            <p:nvPr/>
          </p:nvSpPr>
          <p:spPr bwMode="auto">
            <a:xfrm>
              <a:off x="8797942" y="3529048"/>
              <a:ext cx="546900" cy="44869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chemeClr val="accent1"/>
            </a:solidFill>
            <a:ln>
              <a:noFill/>
            </a:ln>
          </p:spPr>
          <p:txBody>
            <a:bodyPr wrap="square" lIns="91440" tIns="45720" rIns="91440" bIns="45720" anchor="ctr">
              <a:normAutofit fontScale="25000" lnSpcReduction="20000"/>
            </a:bodyPr>
            <a:lstStyle/>
            <a:p>
              <a:pPr algn="ctr"/>
            </a:p>
          </p:txBody>
        </p:sp>
        <p:sp>
          <p:nvSpPr>
            <p:cNvPr id="48" name="íṩḻíḑé"/>
            <p:cNvSpPr/>
            <p:nvPr/>
          </p:nvSpPr>
          <p:spPr bwMode="auto">
            <a:xfrm>
              <a:off x="8732259" y="3420605"/>
              <a:ext cx="166759" cy="17273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49" name="isḻíḓê"/>
            <p:cNvSpPr/>
            <p:nvPr/>
          </p:nvSpPr>
          <p:spPr bwMode="auto">
            <a:xfrm>
              <a:off x="8353029" y="3010794"/>
              <a:ext cx="417322" cy="481783"/>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0" name="íŝḷîḑe"/>
            <p:cNvSpPr/>
            <p:nvPr/>
          </p:nvSpPr>
          <p:spPr bwMode="auto">
            <a:xfrm>
              <a:off x="8344564" y="3003173"/>
              <a:ext cx="116816" cy="18627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51" name="íśḷïḋe"/>
            <p:cNvSpPr/>
            <p:nvPr/>
          </p:nvSpPr>
          <p:spPr bwMode="auto">
            <a:xfrm>
              <a:off x="7258511" y="2278383"/>
              <a:ext cx="402086" cy="34546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3" name="iṣļîḑe"/>
            <p:cNvSpPr/>
            <p:nvPr/>
          </p:nvSpPr>
          <p:spPr bwMode="auto">
            <a:xfrm>
              <a:off x="7555631" y="1960863"/>
              <a:ext cx="148983" cy="38949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54" name="íślïdé"/>
            <p:cNvSpPr/>
            <p:nvPr/>
          </p:nvSpPr>
          <p:spPr bwMode="auto">
            <a:xfrm>
              <a:off x="7372789" y="2322412"/>
              <a:ext cx="428326" cy="51988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5" name="iṥ1íde"/>
            <p:cNvSpPr/>
            <p:nvPr/>
          </p:nvSpPr>
          <p:spPr bwMode="auto">
            <a:xfrm>
              <a:off x="7592032" y="1916834"/>
              <a:ext cx="407164" cy="56814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6" name="îšļíďé"/>
            <p:cNvSpPr/>
            <p:nvPr/>
          </p:nvSpPr>
          <p:spPr bwMode="auto">
            <a:xfrm>
              <a:off x="7658058" y="2350353"/>
              <a:ext cx="766926" cy="78744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0" name="iṩlîdê"/>
            <p:cNvSpPr/>
            <p:nvPr/>
          </p:nvSpPr>
          <p:spPr bwMode="auto">
            <a:xfrm>
              <a:off x="9725576" y="3684364"/>
              <a:ext cx="160589" cy="16633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62" name="îṥlïḍê"/>
            <p:cNvSpPr/>
            <p:nvPr/>
          </p:nvSpPr>
          <p:spPr bwMode="auto">
            <a:xfrm>
              <a:off x="9360379" y="3289717"/>
              <a:ext cx="401879" cy="463955"/>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64" name="iṡļïdè"/>
            <p:cNvSpPr/>
            <p:nvPr/>
          </p:nvSpPr>
          <p:spPr bwMode="auto">
            <a:xfrm>
              <a:off x="9352226" y="3282379"/>
              <a:ext cx="112494" cy="179386"/>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67" name="îṡļiḋe"/>
            <p:cNvSpPr/>
            <p:nvPr/>
          </p:nvSpPr>
          <p:spPr bwMode="auto">
            <a:xfrm>
              <a:off x="8306363" y="2584410"/>
              <a:ext cx="387207" cy="332677"/>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9" name="ïṧlîḋè"/>
            <p:cNvSpPr/>
            <p:nvPr/>
          </p:nvSpPr>
          <p:spPr bwMode="auto">
            <a:xfrm>
              <a:off x="8592488" y="2278640"/>
              <a:ext cx="143470" cy="375078"/>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4"/>
            </a:solidFill>
            <a:ln>
              <a:noFill/>
            </a:ln>
            <a:effectLst/>
          </p:spPr>
          <p:txBody>
            <a:bodyPr wrap="square" lIns="91440" tIns="45720" rIns="91440" bIns="45720" anchor="ctr">
              <a:normAutofit fontScale="25000" lnSpcReduction="20000"/>
            </a:bodyPr>
            <a:lstStyle/>
            <a:p>
              <a:pPr algn="ctr"/>
            </a:p>
          </p:txBody>
        </p:sp>
        <p:sp>
          <p:nvSpPr>
            <p:cNvPr id="104" name="íṣḷiḑe"/>
            <p:cNvSpPr/>
            <p:nvPr/>
          </p:nvSpPr>
          <p:spPr bwMode="auto">
            <a:xfrm>
              <a:off x="8416411" y="2626809"/>
              <a:ext cx="412476" cy="500647"/>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6" name="îŝ1îḋé"/>
            <p:cNvSpPr/>
            <p:nvPr/>
          </p:nvSpPr>
          <p:spPr bwMode="auto">
            <a:xfrm>
              <a:off x="8627540" y="2236237"/>
              <a:ext cx="392097" cy="547123"/>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8" name="íṡliḍé"/>
            <p:cNvSpPr/>
            <p:nvPr/>
          </p:nvSpPr>
          <p:spPr bwMode="auto">
            <a:xfrm>
              <a:off x="8691126" y="2653714"/>
              <a:ext cx="738545" cy="75830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09" name="îŝḷiḓé"/>
            <p:cNvSpPr/>
            <p:nvPr/>
          </p:nvSpPr>
          <p:spPr bwMode="auto">
            <a:xfrm>
              <a:off x="8960093" y="4104624"/>
              <a:ext cx="158920" cy="16460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10" name="ïšlíḓè"/>
            <p:cNvSpPr/>
            <p:nvPr/>
          </p:nvSpPr>
          <p:spPr bwMode="auto">
            <a:xfrm>
              <a:off x="8598694" y="3714079"/>
              <a:ext cx="397701" cy="459131"/>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11" name="îşliḍê"/>
            <p:cNvSpPr/>
            <p:nvPr/>
          </p:nvSpPr>
          <p:spPr bwMode="auto">
            <a:xfrm>
              <a:off x="8590628" y="3706817"/>
              <a:ext cx="111324" cy="17752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12" name="işḷîḋè"/>
            <p:cNvSpPr/>
            <p:nvPr/>
          </p:nvSpPr>
          <p:spPr bwMode="auto">
            <a:xfrm>
              <a:off x="7555640" y="3016104"/>
              <a:ext cx="383180" cy="32922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3" name="í$1ïḓê"/>
            <p:cNvSpPr/>
            <p:nvPr/>
          </p:nvSpPr>
          <p:spPr bwMode="auto">
            <a:xfrm>
              <a:off x="7838789" y="2713513"/>
              <a:ext cx="141979" cy="37117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4" name="ïŝľîdé"/>
            <p:cNvSpPr/>
            <p:nvPr/>
          </p:nvSpPr>
          <p:spPr bwMode="auto">
            <a:xfrm>
              <a:off x="7664541" y="3047772"/>
              <a:ext cx="408189" cy="495442"/>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0" name="íśḻiḋé"/>
            <p:cNvSpPr/>
            <p:nvPr/>
          </p:nvSpPr>
          <p:spPr bwMode="auto">
            <a:xfrm>
              <a:off x="7868333" y="2676702"/>
              <a:ext cx="388022" cy="54143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1" name="ïṡ1ïďè"/>
            <p:cNvSpPr/>
            <p:nvPr/>
          </p:nvSpPr>
          <p:spPr bwMode="auto">
            <a:xfrm>
              <a:off x="7936404" y="3084690"/>
              <a:ext cx="730867" cy="75042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grpSp>
      <p:sp>
        <p:nvSpPr>
          <p:cNvPr id="122" name="íṡḻíďè"/>
          <p:cNvSpPr/>
          <p:nvPr/>
        </p:nvSpPr>
        <p:spPr>
          <a:xfrm>
            <a:off x="566651" y="3643979"/>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99" name="íş1íḍê"/>
          <p:cNvSpPr/>
          <p:nvPr/>
        </p:nvSpPr>
        <p:spPr>
          <a:xfrm>
            <a:off x="566651" y="5215462"/>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00" name="ïSḻîḑe"/>
          <p:cNvSpPr/>
          <p:nvPr/>
        </p:nvSpPr>
        <p:spPr bwMode="auto">
          <a:xfrm>
            <a:off x="800651" y="5449462"/>
            <a:ext cx="792000" cy="792000"/>
          </a:xfrm>
          <a:custGeom>
            <a:avLst/>
            <a:gdLst/>
            <a:ahLst/>
            <a:cxnLst>
              <a:cxn ang="0">
                <a:pos x="19" y="108"/>
              </a:cxn>
              <a:cxn ang="0">
                <a:pos x="17" y="104"/>
              </a:cxn>
              <a:cxn ang="0">
                <a:pos x="58" y="102"/>
              </a:cxn>
              <a:cxn ang="0">
                <a:pos x="60" y="106"/>
              </a:cxn>
              <a:cxn ang="0">
                <a:pos x="62" y="90"/>
              </a:cxn>
              <a:cxn ang="0">
                <a:pos x="17" y="87"/>
              </a:cxn>
              <a:cxn ang="0">
                <a:pos x="19" y="83"/>
              </a:cxn>
              <a:cxn ang="0">
                <a:pos x="65" y="85"/>
              </a:cxn>
              <a:cxn ang="0">
                <a:pos x="62" y="90"/>
              </a:cxn>
              <a:cxn ang="0">
                <a:pos x="19" y="54"/>
              </a:cxn>
              <a:cxn ang="0">
                <a:pos x="17" y="50"/>
              </a:cxn>
              <a:cxn ang="0">
                <a:pos x="73" y="48"/>
              </a:cxn>
              <a:cxn ang="0">
                <a:pos x="75" y="52"/>
              </a:cxn>
              <a:cxn ang="0">
                <a:pos x="73" y="73"/>
              </a:cxn>
              <a:cxn ang="0">
                <a:pos x="17" y="71"/>
              </a:cxn>
              <a:cxn ang="0">
                <a:pos x="19" y="67"/>
              </a:cxn>
              <a:cxn ang="0">
                <a:pos x="75" y="69"/>
              </a:cxn>
              <a:cxn ang="0">
                <a:pos x="73" y="73"/>
              </a:cxn>
              <a:cxn ang="0">
                <a:pos x="93" y="132"/>
              </a:cxn>
              <a:cxn ang="0">
                <a:pos x="87" y="132"/>
              </a:cxn>
              <a:cxn ang="0">
                <a:pos x="76" y="118"/>
              </a:cxn>
              <a:cxn ang="0">
                <a:pos x="89" y="123"/>
              </a:cxn>
              <a:cxn ang="0">
                <a:pos x="109" y="107"/>
              </a:cxn>
              <a:cxn ang="0">
                <a:pos x="92" y="92"/>
              </a:cxn>
              <a:cxn ang="0">
                <a:pos x="92" y="146"/>
              </a:cxn>
              <a:cxn ang="0">
                <a:pos x="92" y="92"/>
              </a:cxn>
              <a:cxn ang="0">
                <a:pos x="8" y="131"/>
              </a:cxn>
              <a:cxn ang="0">
                <a:pos x="0" y="23"/>
              </a:cxn>
              <a:cxn ang="0">
                <a:pos x="23" y="15"/>
              </a:cxn>
              <a:cxn ang="0">
                <a:pos x="33" y="27"/>
              </a:cxn>
              <a:cxn ang="0">
                <a:pos x="71" y="17"/>
              </a:cxn>
              <a:cxn ang="0">
                <a:pos x="83" y="15"/>
              </a:cxn>
              <a:cxn ang="0">
                <a:pos x="94" y="86"/>
              </a:cxn>
              <a:cxn ang="0">
                <a:pos x="83" y="87"/>
              </a:cxn>
              <a:cxn ang="0">
                <a:pos x="11" y="38"/>
              </a:cxn>
              <a:cxn ang="0">
                <a:pos x="58" y="121"/>
              </a:cxn>
              <a:cxn ang="0">
                <a:pos x="47" y="11"/>
              </a:cxn>
              <a:cxn ang="0">
                <a:pos x="47" y="4"/>
              </a:cxn>
              <a:cxn ang="0">
                <a:pos x="47" y="11"/>
              </a:cxn>
              <a:cxn ang="0">
                <a:pos x="57" y="11"/>
              </a:cxn>
              <a:cxn ang="0">
                <a:pos x="54" y="7"/>
              </a:cxn>
              <a:cxn ang="0">
                <a:pos x="47" y="0"/>
              </a:cxn>
              <a:cxn ang="0">
                <a:pos x="40" y="7"/>
              </a:cxn>
              <a:cxn ang="0">
                <a:pos x="33" y="11"/>
              </a:cxn>
              <a:cxn ang="0">
                <a:pos x="27" y="17"/>
              </a:cxn>
              <a:cxn ang="0">
                <a:pos x="60" y="23"/>
              </a:cxn>
              <a:cxn ang="0">
                <a:pos x="67" y="17"/>
              </a:cxn>
            </a:cxnLst>
            <a:rect l="0" t="0" r="r" b="b"/>
            <a:pathLst>
              <a:path w="119" h="146">
                <a:moveTo>
                  <a:pt x="58" y="108"/>
                </a:moveTo>
                <a:cubicBezTo>
                  <a:pt x="19" y="108"/>
                  <a:pt x="19" y="108"/>
                  <a:pt x="19" y="108"/>
                </a:cubicBezTo>
                <a:cubicBezTo>
                  <a:pt x="18" y="108"/>
                  <a:pt x="17" y="107"/>
                  <a:pt x="17" y="106"/>
                </a:cubicBezTo>
                <a:cubicBezTo>
                  <a:pt x="17" y="104"/>
                  <a:pt x="17" y="104"/>
                  <a:pt x="17" y="104"/>
                </a:cubicBezTo>
                <a:cubicBezTo>
                  <a:pt x="17" y="103"/>
                  <a:pt x="18" y="102"/>
                  <a:pt x="19" y="102"/>
                </a:cubicBezTo>
                <a:cubicBezTo>
                  <a:pt x="58" y="102"/>
                  <a:pt x="58" y="102"/>
                  <a:pt x="58" y="102"/>
                </a:cubicBezTo>
                <a:cubicBezTo>
                  <a:pt x="59" y="102"/>
                  <a:pt x="60" y="103"/>
                  <a:pt x="60" y="104"/>
                </a:cubicBezTo>
                <a:cubicBezTo>
                  <a:pt x="60" y="106"/>
                  <a:pt x="60" y="106"/>
                  <a:pt x="60" y="106"/>
                </a:cubicBezTo>
                <a:cubicBezTo>
                  <a:pt x="60" y="107"/>
                  <a:pt x="59" y="108"/>
                  <a:pt x="58" y="108"/>
                </a:cubicBezTo>
                <a:moveTo>
                  <a:pt x="62" y="90"/>
                </a:moveTo>
                <a:cubicBezTo>
                  <a:pt x="19" y="90"/>
                  <a:pt x="19" y="90"/>
                  <a:pt x="19" y="90"/>
                </a:cubicBezTo>
                <a:cubicBezTo>
                  <a:pt x="18" y="90"/>
                  <a:pt x="17" y="89"/>
                  <a:pt x="17" y="87"/>
                </a:cubicBezTo>
                <a:cubicBezTo>
                  <a:pt x="17" y="85"/>
                  <a:pt x="17" y="85"/>
                  <a:pt x="17" y="85"/>
                </a:cubicBezTo>
                <a:cubicBezTo>
                  <a:pt x="17" y="84"/>
                  <a:pt x="18" y="83"/>
                  <a:pt x="19" y="83"/>
                </a:cubicBezTo>
                <a:cubicBezTo>
                  <a:pt x="62" y="83"/>
                  <a:pt x="62" y="83"/>
                  <a:pt x="62" y="83"/>
                </a:cubicBezTo>
                <a:cubicBezTo>
                  <a:pt x="64" y="83"/>
                  <a:pt x="65" y="84"/>
                  <a:pt x="65" y="85"/>
                </a:cubicBezTo>
                <a:cubicBezTo>
                  <a:pt x="65" y="87"/>
                  <a:pt x="65" y="87"/>
                  <a:pt x="65" y="87"/>
                </a:cubicBezTo>
                <a:cubicBezTo>
                  <a:pt x="65" y="89"/>
                  <a:pt x="64" y="90"/>
                  <a:pt x="62" y="90"/>
                </a:cubicBezTo>
                <a:moveTo>
                  <a:pt x="73" y="54"/>
                </a:moveTo>
                <a:cubicBezTo>
                  <a:pt x="19" y="54"/>
                  <a:pt x="19" y="54"/>
                  <a:pt x="19" y="54"/>
                </a:cubicBezTo>
                <a:cubicBezTo>
                  <a:pt x="18" y="54"/>
                  <a:pt x="17" y="53"/>
                  <a:pt x="17" y="52"/>
                </a:cubicBezTo>
                <a:cubicBezTo>
                  <a:pt x="17" y="50"/>
                  <a:pt x="17" y="50"/>
                  <a:pt x="17" y="50"/>
                </a:cubicBezTo>
                <a:cubicBezTo>
                  <a:pt x="17" y="49"/>
                  <a:pt x="18" y="48"/>
                  <a:pt x="19" y="48"/>
                </a:cubicBezTo>
                <a:cubicBezTo>
                  <a:pt x="73" y="48"/>
                  <a:pt x="73" y="48"/>
                  <a:pt x="73" y="48"/>
                </a:cubicBezTo>
                <a:cubicBezTo>
                  <a:pt x="74" y="48"/>
                  <a:pt x="75" y="49"/>
                  <a:pt x="75" y="50"/>
                </a:cubicBezTo>
                <a:cubicBezTo>
                  <a:pt x="75" y="52"/>
                  <a:pt x="75" y="52"/>
                  <a:pt x="75" y="52"/>
                </a:cubicBezTo>
                <a:cubicBezTo>
                  <a:pt x="75" y="53"/>
                  <a:pt x="74" y="54"/>
                  <a:pt x="73" y="54"/>
                </a:cubicBezTo>
                <a:moveTo>
                  <a:pt x="73" y="73"/>
                </a:moveTo>
                <a:cubicBezTo>
                  <a:pt x="19" y="73"/>
                  <a:pt x="19" y="73"/>
                  <a:pt x="19" y="73"/>
                </a:cubicBezTo>
                <a:cubicBezTo>
                  <a:pt x="18" y="73"/>
                  <a:pt x="17" y="72"/>
                  <a:pt x="17" y="71"/>
                </a:cubicBezTo>
                <a:cubicBezTo>
                  <a:pt x="17" y="69"/>
                  <a:pt x="17" y="69"/>
                  <a:pt x="17" y="69"/>
                </a:cubicBezTo>
                <a:cubicBezTo>
                  <a:pt x="17" y="68"/>
                  <a:pt x="18" y="67"/>
                  <a:pt x="19" y="67"/>
                </a:cubicBezTo>
                <a:cubicBezTo>
                  <a:pt x="73" y="67"/>
                  <a:pt x="73" y="67"/>
                  <a:pt x="73" y="67"/>
                </a:cubicBezTo>
                <a:cubicBezTo>
                  <a:pt x="74" y="67"/>
                  <a:pt x="75" y="68"/>
                  <a:pt x="75" y="69"/>
                </a:cubicBezTo>
                <a:cubicBezTo>
                  <a:pt x="75" y="71"/>
                  <a:pt x="75" y="71"/>
                  <a:pt x="75" y="71"/>
                </a:cubicBezTo>
                <a:cubicBezTo>
                  <a:pt x="75" y="72"/>
                  <a:pt x="74" y="73"/>
                  <a:pt x="73" y="73"/>
                </a:cubicBezTo>
                <a:moveTo>
                  <a:pt x="109" y="113"/>
                </a:moveTo>
                <a:cubicBezTo>
                  <a:pt x="93" y="132"/>
                  <a:pt x="93" y="132"/>
                  <a:pt x="93" y="132"/>
                </a:cubicBezTo>
                <a:cubicBezTo>
                  <a:pt x="92" y="133"/>
                  <a:pt x="91" y="133"/>
                  <a:pt x="89" y="133"/>
                </a:cubicBezTo>
                <a:cubicBezTo>
                  <a:pt x="89" y="133"/>
                  <a:pt x="88" y="133"/>
                  <a:pt x="87" y="132"/>
                </a:cubicBezTo>
                <a:cubicBezTo>
                  <a:pt x="76" y="124"/>
                  <a:pt x="76" y="124"/>
                  <a:pt x="76" y="124"/>
                </a:cubicBezTo>
                <a:cubicBezTo>
                  <a:pt x="75" y="123"/>
                  <a:pt x="74" y="120"/>
                  <a:pt x="76" y="118"/>
                </a:cubicBezTo>
                <a:cubicBezTo>
                  <a:pt x="77" y="116"/>
                  <a:pt x="80" y="116"/>
                  <a:pt x="82" y="118"/>
                </a:cubicBezTo>
                <a:cubicBezTo>
                  <a:pt x="89" y="123"/>
                  <a:pt x="89" y="123"/>
                  <a:pt x="89" y="123"/>
                </a:cubicBezTo>
                <a:cubicBezTo>
                  <a:pt x="103" y="108"/>
                  <a:pt x="103" y="108"/>
                  <a:pt x="103" y="108"/>
                </a:cubicBezTo>
                <a:cubicBezTo>
                  <a:pt x="105" y="106"/>
                  <a:pt x="107" y="106"/>
                  <a:pt x="109" y="107"/>
                </a:cubicBezTo>
                <a:cubicBezTo>
                  <a:pt x="111" y="109"/>
                  <a:pt x="111" y="111"/>
                  <a:pt x="109" y="113"/>
                </a:cubicBezTo>
                <a:moveTo>
                  <a:pt x="92" y="92"/>
                </a:moveTo>
                <a:cubicBezTo>
                  <a:pt x="77" y="92"/>
                  <a:pt x="65" y="104"/>
                  <a:pt x="65" y="119"/>
                </a:cubicBezTo>
                <a:cubicBezTo>
                  <a:pt x="65" y="134"/>
                  <a:pt x="77" y="146"/>
                  <a:pt x="92" y="146"/>
                </a:cubicBezTo>
                <a:cubicBezTo>
                  <a:pt x="106" y="146"/>
                  <a:pt x="119" y="134"/>
                  <a:pt x="119" y="119"/>
                </a:cubicBezTo>
                <a:cubicBezTo>
                  <a:pt x="119" y="104"/>
                  <a:pt x="106" y="92"/>
                  <a:pt x="92" y="92"/>
                </a:cubicBezTo>
                <a:moveTo>
                  <a:pt x="61" y="131"/>
                </a:moveTo>
                <a:cubicBezTo>
                  <a:pt x="8" y="131"/>
                  <a:pt x="8" y="131"/>
                  <a:pt x="8" y="131"/>
                </a:cubicBezTo>
                <a:cubicBezTo>
                  <a:pt x="4" y="131"/>
                  <a:pt x="0" y="127"/>
                  <a:pt x="0" y="123"/>
                </a:cubicBezTo>
                <a:cubicBezTo>
                  <a:pt x="0" y="23"/>
                  <a:pt x="0" y="23"/>
                  <a:pt x="0" y="23"/>
                </a:cubicBezTo>
                <a:cubicBezTo>
                  <a:pt x="0" y="18"/>
                  <a:pt x="4" y="15"/>
                  <a:pt x="6" y="15"/>
                </a:cubicBezTo>
                <a:cubicBezTo>
                  <a:pt x="23" y="15"/>
                  <a:pt x="23" y="15"/>
                  <a:pt x="23" y="15"/>
                </a:cubicBezTo>
                <a:cubicBezTo>
                  <a:pt x="23" y="15"/>
                  <a:pt x="23" y="16"/>
                  <a:pt x="23" y="17"/>
                </a:cubicBezTo>
                <a:cubicBezTo>
                  <a:pt x="23" y="23"/>
                  <a:pt x="28" y="27"/>
                  <a:pt x="33" y="27"/>
                </a:cubicBezTo>
                <a:cubicBezTo>
                  <a:pt x="60" y="27"/>
                  <a:pt x="60" y="27"/>
                  <a:pt x="60" y="27"/>
                </a:cubicBezTo>
                <a:cubicBezTo>
                  <a:pt x="66" y="27"/>
                  <a:pt x="71" y="23"/>
                  <a:pt x="71" y="17"/>
                </a:cubicBezTo>
                <a:cubicBezTo>
                  <a:pt x="71" y="16"/>
                  <a:pt x="71" y="15"/>
                  <a:pt x="71" y="15"/>
                </a:cubicBezTo>
                <a:cubicBezTo>
                  <a:pt x="83" y="15"/>
                  <a:pt x="83" y="15"/>
                  <a:pt x="83" y="15"/>
                </a:cubicBezTo>
                <a:cubicBezTo>
                  <a:pt x="90" y="15"/>
                  <a:pt x="94" y="18"/>
                  <a:pt x="94" y="23"/>
                </a:cubicBezTo>
                <a:cubicBezTo>
                  <a:pt x="94" y="86"/>
                  <a:pt x="94" y="86"/>
                  <a:pt x="94" y="86"/>
                </a:cubicBezTo>
                <a:cubicBezTo>
                  <a:pt x="93" y="85"/>
                  <a:pt x="92" y="85"/>
                  <a:pt x="92" y="85"/>
                </a:cubicBezTo>
                <a:cubicBezTo>
                  <a:pt x="89" y="85"/>
                  <a:pt x="86" y="86"/>
                  <a:pt x="83" y="87"/>
                </a:cubicBezTo>
                <a:cubicBezTo>
                  <a:pt x="83" y="38"/>
                  <a:pt x="83" y="38"/>
                  <a:pt x="83" y="38"/>
                </a:cubicBezTo>
                <a:cubicBezTo>
                  <a:pt x="11" y="38"/>
                  <a:pt x="11" y="38"/>
                  <a:pt x="11" y="38"/>
                </a:cubicBezTo>
                <a:cubicBezTo>
                  <a:pt x="11" y="121"/>
                  <a:pt x="11" y="121"/>
                  <a:pt x="11" y="121"/>
                </a:cubicBezTo>
                <a:cubicBezTo>
                  <a:pt x="58" y="121"/>
                  <a:pt x="58" y="121"/>
                  <a:pt x="58" y="121"/>
                </a:cubicBezTo>
                <a:cubicBezTo>
                  <a:pt x="59" y="124"/>
                  <a:pt x="59" y="128"/>
                  <a:pt x="61" y="131"/>
                </a:cubicBezTo>
                <a:moveTo>
                  <a:pt x="47" y="11"/>
                </a:moveTo>
                <a:cubicBezTo>
                  <a:pt x="45" y="11"/>
                  <a:pt x="44" y="9"/>
                  <a:pt x="44" y="7"/>
                </a:cubicBezTo>
                <a:cubicBezTo>
                  <a:pt x="44" y="6"/>
                  <a:pt x="45" y="4"/>
                  <a:pt x="47" y="4"/>
                </a:cubicBezTo>
                <a:cubicBezTo>
                  <a:pt x="49" y="4"/>
                  <a:pt x="50" y="6"/>
                  <a:pt x="50" y="7"/>
                </a:cubicBezTo>
                <a:cubicBezTo>
                  <a:pt x="50" y="9"/>
                  <a:pt x="49" y="11"/>
                  <a:pt x="47" y="11"/>
                </a:cubicBezTo>
                <a:moveTo>
                  <a:pt x="60" y="11"/>
                </a:moveTo>
                <a:cubicBezTo>
                  <a:pt x="57" y="11"/>
                  <a:pt x="57" y="11"/>
                  <a:pt x="57" y="11"/>
                </a:cubicBezTo>
                <a:cubicBezTo>
                  <a:pt x="56" y="11"/>
                  <a:pt x="54" y="9"/>
                  <a:pt x="54" y="7"/>
                </a:cubicBezTo>
                <a:cubicBezTo>
                  <a:pt x="54" y="7"/>
                  <a:pt x="54" y="7"/>
                  <a:pt x="54" y="7"/>
                </a:cubicBezTo>
                <a:cubicBezTo>
                  <a:pt x="54" y="3"/>
                  <a:pt x="51" y="0"/>
                  <a:pt x="47" y="0"/>
                </a:cubicBezTo>
                <a:cubicBezTo>
                  <a:pt x="47" y="0"/>
                  <a:pt x="47" y="0"/>
                  <a:pt x="47" y="0"/>
                </a:cubicBezTo>
                <a:cubicBezTo>
                  <a:pt x="43" y="0"/>
                  <a:pt x="40" y="3"/>
                  <a:pt x="40" y="7"/>
                </a:cubicBezTo>
                <a:cubicBezTo>
                  <a:pt x="40" y="7"/>
                  <a:pt x="40" y="7"/>
                  <a:pt x="40" y="7"/>
                </a:cubicBezTo>
                <a:cubicBezTo>
                  <a:pt x="40" y="9"/>
                  <a:pt x="38" y="11"/>
                  <a:pt x="37" y="11"/>
                </a:cubicBezTo>
                <a:cubicBezTo>
                  <a:pt x="33" y="11"/>
                  <a:pt x="33" y="11"/>
                  <a:pt x="33" y="11"/>
                </a:cubicBezTo>
                <a:cubicBezTo>
                  <a:pt x="30" y="11"/>
                  <a:pt x="27" y="13"/>
                  <a:pt x="27" y="17"/>
                </a:cubicBezTo>
                <a:cubicBezTo>
                  <a:pt x="27" y="17"/>
                  <a:pt x="27" y="17"/>
                  <a:pt x="27" y="17"/>
                </a:cubicBezTo>
                <a:cubicBezTo>
                  <a:pt x="27" y="20"/>
                  <a:pt x="30" y="23"/>
                  <a:pt x="33" y="23"/>
                </a:cubicBezTo>
                <a:cubicBezTo>
                  <a:pt x="60" y="23"/>
                  <a:pt x="60" y="23"/>
                  <a:pt x="60" y="23"/>
                </a:cubicBezTo>
                <a:cubicBezTo>
                  <a:pt x="64" y="23"/>
                  <a:pt x="67" y="20"/>
                  <a:pt x="67" y="17"/>
                </a:cubicBezTo>
                <a:cubicBezTo>
                  <a:pt x="67" y="17"/>
                  <a:pt x="67" y="17"/>
                  <a:pt x="67" y="17"/>
                </a:cubicBezTo>
                <a:cubicBezTo>
                  <a:pt x="67" y="13"/>
                  <a:pt x="64" y="11"/>
                  <a:pt x="60" y="11"/>
                </a:cubicBezTo>
              </a:path>
            </a:pathLst>
          </a:custGeom>
          <a:solidFill>
            <a:schemeClr val="bg1"/>
          </a:solidFill>
          <a:ln w="9525">
            <a:noFill/>
            <a:round/>
          </a:ln>
        </p:spPr>
        <p:txBody>
          <a:bodyPr wrap="square" lIns="91440" tIns="45720" rIns="91440" bIns="45720" anchor="ctr">
            <a:normAutofit/>
          </a:bodyPr>
          <a:lstStyle/>
          <a:p>
            <a:pPr algn="ctr"/>
          </a:p>
        </p:txBody>
      </p:sp>
      <p:sp>
        <p:nvSpPr>
          <p:cNvPr id="201" name="ïSḷiḓê"/>
          <p:cNvSpPr/>
          <p:nvPr/>
        </p:nvSpPr>
        <p:spPr>
          <a:xfrm>
            <a:off x="566651" y="2037619"/>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grpSp>
        <p:nvGrpSpPr>
          <p:cNvPr id="202" name="î$ḻïďê"/>
          <p:cNvGrpSpPr/>
          <p:nvPr/>
        </p:nvGrpSpPr>
        <p:grpSpPr>
          <a:xfrm>
            <a:off x="800651" y="3877979"/>
            <a:ext cx="792000" cy="792000"/>
            <a:chOff x="2700338" y="2965449"/>
            <a:chExt cx="271462" cy="219075"/>
          </a:xfrm>
          <a:solidFill>
            <a:schemeClr val="bg1"/>
          </a:solidFill>
        </p:grpSpPr>
        <p:sp>
          <p:nvSpPr>
            <p:cNvPr id="203" name="íṩlîḑè"/>
            <p:cNvSpPr/>
            <p:nvPr/>
          </p:nvSpPr>
          <p:spPr bwMode="auto">
            <a:xfrm>
              <a:off x="2754313" y="2987674"/>
              <a:ext cx="82550" cy="174625"/>
            </a:xfrm>
            <a:custGeom>
              <a:avLst/>
              <a:gdLst/>
              <a:ahLst/>
              <a:cxnLst>
                <a:cxn ang="0">
                  <a:pos x="36" y="72"/>
                </a:cxn>
                <a:cxn ang="0">
                  <a:pos x="32" y="75"/>
                </a:cxn>
                <a:cxn ang="0">
                  <a:pos x="5" y="61"/>
                </a:cxn>
                <a:cxn ang="0">
                  <a:pos x="0" y="53"/>
                </a:cxn>
                <a:cxn ang="0">
                  <a:pos x="0" y="23"/>
                </a:cxn>
                <a:cxn ang="0">
                  <a:pos x="5" y="15"/>
                </a:cxn>
                <a:cxn ang="0">
                  <a:pos x="32" y="2"/>
                </a:cxn>
                <a:cxn ang="0">
                  <a:pos x="36" y="4"/>
                </a:cxn>
                <a:cxn ang="0">
                  <a:pos x="36" y="72"/>
                </a:cxn>
              </a:cxnLst>
              <a:rect l="0" t="0" r="r" b="b"/>
              <a:pathLst>
                <a:path w="36" h="76">
                  <a:moveTo>
                    <a:pt x="36" y="72"/>
                  </a:moveTo>
                  <a:cubicBezTo>
                    <a:pt x="36" y="75"/>
                    <a:pt x="35" y="76"/>
                    <a:pt x="32" y="75"/>
                  </a:cubicBezTo>
                  <a:cubicBezTo>
                    <a:pt x="5" y="61"/>
                    <a:pt x="5" y="61"/>
                    <a:pt x="5" y="61"/>
                  </a:cubicBezTo>
                  <a:cubicBezTo>
                    <a:pt x="2" y="60"/>
                    <a:pt x="0" y="56"/>
                    <a:pt x="0" y="53"/>
                  </a:cubicBezTo>
                  <a:cubicBezTo>
                    <a:pt x="0" y="23"/>
                    <a:pt x="0" y="23"/>
                    <a:pt x="0" y="23"/>
                  </a:cubicBezTo>
                  <a:cubicBezTo>
                    <a:pt x="0" y="20"/>
                    <a:pt x="2" y="17"/>
                    <a:pt x="5" y="15"/>
                  </a:cubicBezTo>
                  <a:cubicBezTo>
                    <a:pt x="32" y="2"/>
                    <a:pt x="32" y="2"/>
                    <a:pt x="32" y="2"/>
                  </a:cubicBezTo>
                  <a:cubicBezTo>
                    <a:pt x="35" y="0"/>
                    <a:pt x="36" y="1"/>
                    <a:pt x="36" y="4"/>
                  </a:cubicBezTo>
                  <a:lnTo>
                    <a:pt x="36" y="72"/>
                  </a:lnTo>
                  <a:close/>
                </a:path>
              </a:pathLst>
            </a:custGeom>
            <a:grpFill/>
            <a:ln w="9525">
              <a:noFill/>
              <a:round/>
            </a:ln>
          </p:spPr>
          <p:txBody>
            <a:bodyPr wrap="square" lIns="91440" tIns="45720" rIns="91440" bIns="45720" anchor="ctr">
              <a:normAutofit/>
            </a:bodyPr>
            <a:lstStyle/>
            <a:p>
              <a:pPr algn="ctr"/>
            </a:p>
          </p:txBody>
        </p:sp>
        <p:sp>
          <p:nvSpPr>
            <p:cNvPr id="204" name="ïṩḷïḓê"/>
            <p:cNvSpPr/>
            <p:nvPr/>
          </p:nvSpPr>
          <p:spPr bwMode="auto">
            <a:xfrm>
              <a:off x="2700338" y="3028949"/>
              <a:ext cx="39687" cy="93663"/>
            </a:xfrm>
            <a:custGeom>
              <a:avLst/>
              <a:gdLst/>
              <a:ahLst/>
              <a:cxnLst>
                <a:cxn ang="0">
                  <a:pos x="17" y="35"/>
                </a:cxn>
                <a:cxn ang="0">
                  <a:pos x="12" y="41"/>
                </a:cxn>
                <a:cxn ang="0">
                  <a:pos x="5" y="41"/>
                </a:cxn>
                <a:cxn ang="0">
                  <a:pos x="0" y="35"/>
                </a:cxn>
                <a:cxn ang="0">
                  <a:pos x="0" y="5"/>
                </a:cxn>
                <a:cxn ang="0">
                  <a:pos x="5" y="0"/>
                </a:cxn>
                <a:cxn ang="0">
                  <a:pos x="12" y="0"/>
                </a:cxn>
                <a:cxn ang="0">
                  <a:pos x="17" y="5"/>
                </a:cxn>
                <a:cxn ang="0">
                  <a:pos x="17" y="35"/>
                </a:cxn>
              </a:cxnLst>
              <a:rect l="0" t="0" r="r" b="b"/>
              <a:pathLst>
                <a:path w="17" h="41">
                  <a:moveTo>
                    <a:pt x="17" y="35"/>
                  </a:moveTo>
                  <a:cubicBezTo>
                    <a:pt x="17" y="38"/>
                    <a:pt x="14" y="41"/>
                    <a:pt x="12" y="41"/>
                  </a:cubicBezTo>
                  <a:cubicBezTo>
                    <a:pt x="5" y="41"/>
                    <a:pt x="5" y="41"/>
                    <a:pt x="5" y="41"/>
                  </a:cubicBezTo>
                  <a:cubicBezTo>
                    <a:pt x="2" y="41"/>
                    <a:pt x="0" y="38"/>
                    <a:pt x="0" y="35"/>
                  </a:cubicBezTo>
                  <a:cubicBezTo>
                    <a:pt x="0" y="5"/>
                    <a:pt x="0" y="5"/>
                    <a:pt x="0" y="5"/>
                  </a:cubicBezTo>
                  <a:cubicBezTo>
                    <a:pt x="0" y="2"/>
                    <a:pt x="2" y="0"/>
                    <a:pt x="5" y="0"/>
                  </a:cubicBezTo>
                  <a:cubicBezTo>
                    <a:pt x="12" y="0"/>
                    <a:pt x="12" y="0"/>
                    <a:pt x="12" y="0"/>
                  </a:cubicBezTo>
                  <a:cubicBezTo>
                    <a:pt x="14" y="0"/>
                    <a:pt x="17" y="2"/>
                    <a:pt x="17" y="5"/>
                  </a:cubicBezTo>
                  <a:lnTo>
                    <a:pt x="17" y="35"/>
                  </a:lnTo>
                  <a:close/>
                </a:path>
              </a:pathLst>
            </a:custGeom>
            <a:grpFill/>
            <a:ln w="9525">
              <a:noFill/>
              <a:round/>
            </a:ln>
          </p:spPr>
          <p:txBody>
            <a:bodyPr wrap="square" lIns="91440" tIns="45720" rIns="91440" bIns="45720" anchor="ctr">
              <a:normAutofit fontScale="92500" lnSpcReduction="10000"/>
            </a:bodyPr>
            <a:lstStyle/>
            <a:p>
              <a:pPr algn="ctr"/>
            </a:p>
          </p:txBody>
        </p:sp>
        <p:sp>
          <p:nvSpPr>
            <p:cNvPr id="205" name="ïşľíḓè"/>
            <p:cNvSpPr/>
            <p:nvPr/>
          </p:nvSpPr>
          <p:spPr bwMode="auto">
            <a:xfrm>
              <a:off x="2865438" y="3006724"/>
              <a:ext cx="46037" cy="136525"/>
            </a:xfrm>
            <a:custGeom>
              <a:avLst/>
              <a:gdLst/>
              <a:ahLst/>
              <a:cxnLst>
                <a:cxn ang="0">
                  <a:pos x="10" y="58"/>
                </a:cxn>
                <a:cxn ang="0">
                  <a:pos x="20" y="31"/>
                </a:cxn>
                <a:cxn ang="0">
                  <a:pos x="10" y="3"/>
                </a:cxn>
                <a:cxn ang="0">
                  <a:pos x="10" y="2"/>
                </a:cxn>
                <a:cxn ang="0">
                  <a:pos x="5" y="2"/>
                </a:cxn>
                <a:cxn ang="0">
                  <a:pos x="2" y="5"/>
                </a:cxn>
                <a:cxn ang="0">
                  <a:pos x="2" y="10"/>
                </a:cxn>
                <a:cxn ang="0">
                  <a:pos x="2" y="10"/>
                </a:cxn>
                <a:cxn ang="0">
                  <a:pos x="2" y="51"/>
                </a:cxn>
                <a:cxn ang="0">
                  <a:pos x="2" y="51"/>
                </a:cxn>
                <a:cxn ang="0">
                  <a:pos x="2" y="55"/>
                </a:cxn>
                <a:cxn ang="0">
                  <a:pos x="5" y="59"/>
                </a:cxn>
                <a:cxn ang="0">
                  <a:pos x="7" y="60"/>
                </a:cxn>
                <a:cxn ang="0">
                  <a:pos x="9" y="58"/>
                </a:cxn>
                <a:cxn ang="0">
                  <a:pos x="10" y="58"/>
                </a:cxn>
              </a:cxnLst>
              <a:rect l="0" t="0" r="r" b="b"/>
              <a:pathLst>
                <a:path w="20" h="60">
                  <a:moveTo>
                    <a:pt x="10" y="58"/>
                  </a:moveTo>
                  <a:cubicBezTo>
                    <a:pt x="16" y="50"/>
                    <a:pt x="20" y="41"/>
                    <a:pt x="20" y="31"/>
                  </a:cubicBezTo>
                  <a:cubicBezTo>
                    <a:pt x="20" y="20"/>
                    <a:pt x="17" y="11"/>
                    <a:pt x="10" y="3"/>
                  </a:cubicBezTo>
                  <a:cubicBezTo>
                    <a:pt x="10" y="3"/>
                    <a:pt x="10" y="2"/>
                    <a:pt x="10" y="2"/>
                  </a:cubicBezTo>
                  <a:cubicBezTo>
                    <a:pt x="8" y="1"/>
                    <a:pt x="7" y="0"/>
                    <a:pt x="5" y="2"/>
                  </a:cubicBezTo>
                  <a:cubicBezTo>
                    <a:pt x="2" y="5"/>
                    <a:pt x="2" y="5"/>
                    <a:pt x="2" y="5"/>
                  </a:cubicBezTo>
                  <a:cubicBezTo>
                    <a:pt x="0" y="7"/>
                    <a:pt x="1" y="9"/>
                    <a:pt x="2" y="10"/>
                  </a:cubicBezTo>
                  <a:cubicBezTo>
                    <a:pt x="2" y="10"/>
                    <a:pt x="2" y="10"/>
                    <a:pt x="2" y="10"/>
                  </a:cubicBezTo>
                  <a:cubicBezTo>
                    <a:pt x="12" y="22"/>
                    <a:pt x="12" y="39"/>
                    <a:pt x="2" y="51"/>
                  </a:cubicBezTo>
                  <a:cubicBezTo>
                    <a:pt x="2" y="51"/>
                    <a:pt x="2" y="51"/>
                    <a:pt x="2" y="51"/>
                  </a:cubicBezTo>
                  <a:cubicBezTo>
                    <a:pt x="1" y="51"/>
                    <a:pt x="0" y="53"/>
                    <a:pt x="2" y="55"/>
                  </a:cubicBezTo>
                  <a:cubicBezTo>
                    <a:pt x="5" y="59"/>
                    <a:pt x="5" y="59"/>
                    <a:pt x="5" y="59"/>
                  </a:cubicBezTo>
                  <a:cubicBezTo>
                    <a:pt x="6" y="59"/>
                    <a:pt x="7" y="60"/>
                    <a:pt x="7" y="60"/>
                  </a:cubicBezTo>
                  <a:cubicBezTo>
                    <a:pt x="8" y="59"/>
                    <a:pt x="9" y="59"/>
                    <a:pt x="9" y="58"/>
                  </a:cubicBezTo>
                  <a:cubicBezTo>
                    <a:pt x="10" y="58"/>
                    <a:pt x="10" y="58"/>
                    <a:pt x="10" y="58"/>
                  </a:cubicBezTo>
                </a:path>
              </a:pathLst>
            </a:custGeom>
            <a:grpFill/>
            <a:ln w="9525">
              <a:noFill/>
              <a:round/>
            </a:ln>
          </p:spPr>
          <p:txBody>
            <a:bodyPr wrap="square" lIns="91440" tIns="45720" rIns="91440" bIns="45720" anchor="ctr">
              <a:normAutofit/>
            </a:bodyPr>
            <a:lstStyle/>
            <a:p>
              <a:pPr algn="ctr"/>
            </a:p>
          </p:txBody>
        </p:sp>
        <p:sp>
          <p:nvSpPr>
            <p:cNvPr id="206" name="îṥḻiďê"/>
            <p:cNvSpPr/>
            <p:nvPr/>
          </p:nvSpPr>
          <p:spPr bwMode="auto">
            <a:xfrm>
              <a:off x="2906713" y="2965449"/>
              <a:ext cx="65087" cy="219075"/>
            </a:xfrm>
            <a:custGeom>
              <a:avLst/>
              <a:gdLst/>
              <a:ahLst/>
              <a:cxnLst>
                <a:cxn ang="0">
                  <a:pos x="28" y="49"/>
                </a:cxn>
                <a:cxn ang="0">
                  <a:pos x="11" y="3"/>
                </a:cxn>
                <a:cxn ang="0">
                  <a:pos x="11" y="3"/>
                </a:cxn>
                <a:cxn ang="0">
                  <a:pos x="10" y="2"/>
                </a:cxn>
                <a:cxn ang="0">
                  <a:pos x="6" y="1"/>
                </a:cxn>
                <a:cxn ang="0">
                  <a:pos x="2" y="5"/>
                </a:cxn>
                <a:cxn ang="0">
                  <a:pos x="3" y="10"/>
                </a:cxn>
                <a:cxn ang="0">
                  <a:pos x="3" y="10"/>
                </a:cxn>
                <a:cxn ang="0">
                  <a:pos x="2" y="87"/>
                </a:cxn>
                <a:cxn ang="0">
                  <a:pos x="2" y="91"/>
                </a:cxn>
                <a:cxn ang="0">
                  <a:pos x="6" y="95"/>
                </a:cxn>
                <a:cxn ang="0">
                  <a:pos x="8" y="96"/>
                </a:cxn>
                <a:cxn ang="0">
                  <a:pos x="10" y="95"/>
                </a:cxn>
                <a:cxn ang="0">
                  <a:pos x="28" y="49"/>
                </a:cxn>
              </a:cxnLst>
              <a:rect l="0" t="0" r="r" b="b"/>
              <a:pathLst>
                <a:path w="28" h="96">
                  <a:moveTo>
                    <a:pt x="28" y="49"/>
                  </a:moveTo>
                  <a:cubicBezTo>
                    <a:pt x="28" y="32"/>
                    <a:pt x="22" y="15"/>
                    <a:pt x="11" y="3"/>
                  </a:cubicBezTo>
                  <a:cubicBezTo>
                    <a:pt x="11" y="3"/>
                    <a:pt x="11" y="3"/>
                    <a:pt x="11" y="3"/>
                  </a:cubicBezTo>
                  <a:cubicBezTo>
                    <a:pt x="11" y="2"/>
                    <a:pt x="10" y="2"/>
                    <a:pt x="10" y="2"/>
                  </a:cubicBezTo>
                  <a:cubicBezTo>
                    <a:pt x="8" y="0"/>
                    <a:pt x="7" y="0"/>
                    <a:pt x="6" y="1"/>
                  </a:cubicBezTo>
                  <a:cubicBezTo>
                    <a:pt x="2" y="5"/>
                    <a:pt x="2" y="5"/>
                    <a:pt x="2" y="5"/>
                  </a:cubicBezTo>
                  <a:cubicBezTo>
                    <a:pt x="0" y="7"/>
                    <a:pt x="2" y="9"/>
                    <a:pt x="3" y="10"/>
                  </a:cubicBezTo>
                  <a:cubicBezTo>
                    <a:pt x="3" y="10"/>
                    <a:pt x="3" y="10"/>
                    <a:pt x="3" y="10"/>
                  </a:cubicBezTo>
                  <a:cubicBezTo>
                    <a:pt x="22" y="33"/>
                    <a:pt x="22" y="65"/>
                    <a:pt x="2" y="87"/>
                  </a:cubicBezTo>
                  <a:cubicBezTo>
                    <a:pt x="2" y="88"/>
                    <a:pt x="0" y="89"/>
                    <a:pt x="2" y="91"/>
                  </a:cubicBezTo>
                  <a:cubicBezTo>
                    <a:pt x="6" y="95"/>
                    <a:pt x="6" y="95"/>
                    <a:pt x="6" y="95"/>
                  </a:cubicBezTo>
                  <a:cubicBezTo>
                    <a:pt x="7" y="96"/>
                    <a:pt x="7" y="96"/>
                    <a:pt x="8" y="96"/>
                  </a:cubicBezTo>
                  <a:cubicBezTo>
                    <a:pt x="9" y="96"/>
                    <a:pt x="9" y="95"/>
                    <a:pt x="10" y="95"/>
                  </a:cubicBezTo>
                  <a:cubicBezTo>
                    <a:pt x="22" y="82"/>
                    <a:pt x="28" y="66"/>
                    <a:pt x="28" y="49"/>
                  </a:cubicBezTo>
                </a:path>
              </a:pathLst>
            </a:custGeom>
            <a:grpFill/>
            <a:ln w="9525">
              <a:noFill/>
              <a:round/>
            </a:ln>
          </p:spPr>
          <p:txBody>
            <a:bodyPr wrap="square" lIns="91440" tIns="45720" rIns="91440" bIns="45720" anchor="ctr">
              <a:normAutofit/>
            </a:bodyPr>
            <a:lstStyle/>
            <a:p>
              <a:pPr algn="ctr"/>
            </a:p>
          </p:txBody>
        </p:sp>
      </p:grpSp>
      <p:sp>
        <p:nvSpPr>
          <p:cNvPr id="207" name="ïSļíďé"/>
          <p:cNvSpPr/>
          <p:nvPr/>
        </p:nvSpPr>
        <p:spPr bwMode="auto">
          <a:xfrm>
            <a:off x="800651" y="2271619"/>
            <a:ext cx="792000" cy="792000"/>
          </a:xfrm>
          <a:custGeom>
            <a:avLst/>
            <a:gdLst/>
            <a:ahLst/>
            <a:cxnLst>
              <a:cxn ang="0">
                <a:pos x="86" y="58"/>
              </a:cxn>
              <a:cxn ang="0">
                <a:pos x="76" y="55"/>
              </a:cxn>
              <a:cxn ang="0">
                <a:pos x="76" y="54"/>
              </a:cxn>
              <a:cxn ang="0">
                <a:pos x="71" y="47"/>
              </a:cxn>
              <a:cxn ang="0">
                <a:pos x="76" y="68"/>
              </a:cxn>
              <a:cxn ang="0">
                <a:pos x="76" y="59"/>
              </a:cxn>
              <a:cxn ang="0">
                <a:pos x="81" y="59"/>
              </a:cxn>
              <a:cxn ang="0">
                <a:pos x="86" y="68"/>
              </a:cxn>
              <a:cxn ang="0">
                <a:pos x="65" y="59"/>
              </a:cxn>
              <a:cxn ang="0">
                <a:pos x="58" y="47"/>
              </a:cxn>
              <a:cxn ang="0">
                <a:pos x="50" y="63"/>
              </a:cxn>
              <a:cxn ang="0">
                <a:pos x="60" y="68"/>
              </a:cxn>
              <a:cxn ang="0">
                <a:pos x="65" y="63"/>
              </a:cxn>
              <a:cxn ang="0">
                <a:pos x="67" y="59"/>
              </a:cxn>
              <a:cxn ang="0">
                <a:pos x="39" y="64"/>
              </a:cxn>
              <a:cxn ang="0">
                <a:pos x="40" y="46"/>
              </a:cxn>
              <a:cxn ang="0">
                <a:pos x="37" y="54"/>
              </a:cxn>
              <a:cxn ang="0">
                <a:pos x="42" y="54"/>
              </a:cxn>
              <a:cxn ang="0">
                <a:pos x="33" y="68"/>
              </a:cxn>
              <a:cxn ang="0">
                <a:pos x="48" y="64"/>
              </a:cxn>
              <a:cxn ang="0">
                <a:pos x="60" y="89"/>
              </a:cxn>
              <a:cxn ang="0">
                <a:pos x="60" y="27"/>
              </a:cxn>
              <a:cxn ang="0">
                <a:pos x="59" y="54"/>
              </a:cxn>
              <a:cxn ang="0">
                <a:pos x="55" y="59"/>
              </a:cxn>
              <a:cxn ang="0">
                <a:pos x="60" y="54"/>
              </a:cxn>
              <a:cxn ang="0">
                <a:pos x="60" y="52"/>
              </a:cxn>
              <a:cxn ang="0">
                <a:pos x="109" y="28"/>
              </a:cxn>
              <a:cxn ang="0">
                <a:pos x="5" y="40"/>
              </a:cxn>
              <a:cxn ang="0">
                <a:pos x="6" y="46"/>
              </a:cxn>
              <a:cxn ang="0">
                <a:pos x="60" y="12"/>
              </a:cxn>
              <a:cxn ang="0">
                <a:pos x="90" y="33"/>
              </a:cxn>
              <a:cxn ang="0">
                <a:pos x="104" y="50"/>
              </a:cxn>
              <a:cxn ang="0">
                <a:pos x="112" y="55"/>
              </a:cxn>
              <a:cxn ang="0">
                <a:pos x="119" y="28"/>
              </a:cxn>
              <a:cxn ang="0">
                <a:pos x="109" y="28"/>
              </a:cxn>
              <a:cxn ang="0">
                <a:pos x="114" y="76"/>
              </a:cxn>
              <a:cxn ang="0">
                <a:pos x="11" y="89"/>
              </a:cxn>
              <a:cxn ang="0">
                <a:pos x="3" y="90"/>
              </a:cxn>
              <a:cxn ang="0">
                <a:pos x="6" y="66"/>
              </a:cxn>
              <a:cxn ang="0">
                <a:pos x="10" y="60"/>
              </a:cxn>
              <a:cxn ang="0">
                <a:pos x="30" y="79"/>
              </a:cxn>
              <a:cxn ang="0">
                <a:pos x="22" y="85"/>
              </a:cxn>
              <a:cxn ang="0">
                <a:pos x="103" y="72"/>
              </a:cxn>
            </a:cxnLst>
            <a:rect l="0" t="0" r="r" b="b"/>
            <a:pathLst>
              <a:path w="119" h="115">
                <a:moveTo>
                  <a:pt x="86" y="68"/>
                </a:moveTo>
                <a:cubicBezTo>
                  <a:pt x="86" y="58"/>
                  <a:pt x="86" y="58"/>
                  <a:pt x="86" y="58"/>
                </a:cubicBezTo>
                <a:cubicBezTo>
                  <a:pt x="86" y="54"/>
                  <a:pt x="83" y="52"/>
                  <a:pt x="80" y="52"/>
                </a:cubicBezTo>
                <a:cubicBezTo>
                  <a:pt x="78" y="52"/>
                  <a:pt x="77" y="53"/>
                  <a:pt x="76" y="55"/>
                </a:cubicBezTo>
                <a:cubicBezTo>
                  <a:pt x="76" y="55"/>
                  <a:pt x="76" y="55"/>
                  <a:pt x="76" y="55"/>
                </a:cubicBezTo>
                <a:cubicBezTo>
                  <a:pt x="76" y="55"/>
                  <a:pt x="76" y="54"/>
                  <a:pt x="76" y="54"/>
                </a:cubicBezTo>
                <a:cubicBezTo>
                  <a:pt x="76" y="47"/>
                  <a:pt x="76" y="47"/>
                  <a:pt x="76" y="47"/>
                </a:cubicBezTo>
                <a:cubicBezTo>
                  <a:pt x="71" y="47"/>
                  <a:pt x="71" y="47"/>
                  <a:pt x="71" y="47"/>
                </a:cubicBezTo>
                <a:cubicBezTo>
                  <a:pt x="71" y="68"/>
                  <a:pt x="71" y="68"/>
                  <a:pt x="71" y="68"/>
                </a:cubicBezTo>
                <a:cubicBezTo>
                  <a:pt x="76" y="68"/>
                  <a:pt x="76" y="68"/>
                  <a:pt x="76" y="68"/>
                </a:cubicBezTo>
                <a:cubicBezTo>
                  <a:pt x="76" y="61"/>
                  <a:pt x="76" y="61"/>
                  <a:pt x="76" y="61"/>
                </a:cubicBezTo>
                <a:cubicBezTo>
                  <a:pt x="76" y="61"/>
                  <a:pt x="76" y="60"/>
                  <a:pt x="76" y="59"/>
                </a:cubicBezTo>
                <a:cubicBezTo>
                  <a:pt x="76" y="58"/>
                  <a:pt x="77" y="57"/>
                  <a:pt x="79" y="57"/>
                </a:cubicBezTo>
                <a:cubicBezTo>
                  <a:pt x="80" y="57"/>
                  <a:pt x="81" y="58"/>
                  <a:pt x="81" y="59"/>
                </a:cubicBezTo>
                <a:cubicBezTo>
                  <a:pt x="81" y="68"/>
                  <a:pt x="81" y="68"/>
                  <a:pt x="81" y="68"/>
                </a:cubicBezTo>
                <a:lnTo>
                  <a:pt x="86" y="68"/>
                </a:lnTo>
                <a:close/>
                <a:moveTo>
                  <a:pt x="67" y="59"/>
                </a:moveTo>
                <a:cubicBezTo>
                  <a:pt x="65" y="59"/>
                  <a:pt x="65" y="59"/>
                  <a:pt x="65" y="59"/>
                </a:cubicBezTo>
                <a:cubicBezTo>
                  <a:pt x="65" y="47"/>
                  <a:pt x="65" y="47"/>
                  <a:pt x="65" y="47"/>
                </a:cubicBezTo>
                <a:cubicBezTo>
                  <a:pt x="58" y="47"/>
                  <a:pt x="58" y="47"/>
                  <a:pt x="58" y="47"/>
                </a:cubicBezTo>
                <a:cubicBezTo>
                  <a:pt x="50" y="60"/>
                  <a:pt x="50" y="60"/>
                  <a:pt x="50" y="60"/>
                </a:cubicBezTo>
                <a:cubicBezTo>
                  <a:pt x="50" y="63"/>
                  <a:pt x="50" y="63"/>
                  <a:pt x="50" y="63"/>
                </a:cubicBezTo>
                <a:cubicBezTo>
                  <a:pt x="60" y="63"/>
                  <a:pt x="60" y="63"/>
                  <a:pt x="60" y="63"/>
                </a:cubicBezTo>
                <a:cubicBezTo>
                  <a:pt x="60" y="68"/>
                  <a:pt x="60" y="68"/>
                  <a:pt x="60" y="68"/>
                </a:cubicBezTo>
                <a:cubicBezTo>
                  <a:pt x="65" y="68"/>
                  <a:pt x="65" y="68"/>
                  <a:pt x="65" y="68"/>
                </a:cubicBezTo>
                <a:cubicBezTo>
                  <a:pt x="65" y="63"/>
                  <a:pt x="65" y="63"/>
                  <a:pt x="65" y="63"/>
                </a:cubicBezTo>
                <a:cubicBezTo>
                  <a:pt x="67" y="63"/>
                  <a:pt x="67" y="63"/>
                  <a:pt x="67" y="63"/>
                </a:cubicBezTo>
                <a:lnTo>
                  <a:pt x="67" y="59"/>
                </a:lnTo>
                <a:close/>
                <a:moveTo>
                  <a:pt x="48" y="64"/>
                </a:moveTo>
                <a:cubicBezTo>
                  <a:pt x="39" y="64"/>
                  <a:pt x="39" y="64"/>
                  <a:pt x="39" y="64"/>
                </a:cubicBezTo>
                <a:cubicBezTo>
                  <a:pt x="39" y="61"/>
                  <a:pt x="48" y="60"/>
                  <a:pt x="48" y="53"/>
                </a:cubicBezTo>
                <a:cubicBezTo>
                  <a:pt x="48" y="48"/>
                  <a:pt x="44" y="46"/>
                  <a:pt x="40" y="46"/>
                </a:cubicBezTo>
                <a:cubicBezTo>
                  <a:pt x="35" y="46"/>
                  <a:pt x="33" y="51"/>
                  <a:pt x="33" y="51"/>
                </a:cubicBezTo>
                <a:cubicBezTo>
                  <a:pt x="37" y="54"/>
                  <a:pt x="37" y="54"/>
                  <a:pt x="37" y="54"/>
                </a:cubicBezTo>
                <a:cubicBezTo>
                  <a:pt x="37" y="54"/>
                  <a:pt x="38" y="51"/>
                  <a:pt x="40" y="51"/>
                </a:cubicBezTo>
                <a:cubicBezTo>
                  <a:pt x="41" y="51"/>
                  <a:pt x="42" y="52"/>
                  <a:pt x="42" y="54"/>
                </a:cubicBezTo>
                <a:cubicBezTo>
                  <a:pt x="42" y="57"/>
                  <a:pt x="33" y="58"/>
                  <a:pt x="33" y="66"/>
                </a:cubicBezTo>
                <a:cubicBezTo>
                  <a:pt x="33" y="67"/>
                  <a:pt x="33" y="67"/>
                  <a:pt x="33" y="68"/>
                </a:cubicBezTo>
                <a:cubicBezTo>
                  <a:pt x="48" y="68"/>
                  <a:pt x="48" y="68"/>
                  <a:pt x="48" y="68"/>
                </a:cubicBezTo>
                <a:lnTo>
                  <a:pt x="48" y="64"/>
                </a:lnTo>
                <a:close/>
                <a:moveTo>
                  <a:pt x="90" y="58"/>
                </a:moveTo>
                <a:cubicBezTo>
                  <a:pt x="90" y="75"/>
                  <a:pt x="77" y="89"/>
                  <a:pt x="60" y="89"/>
                </a:cubicBezTo>
                <a:cubicBezTo>
                  <a:pt x="43" y="89"/>
                  <a:pt x="29" y="75"/>
                  <a:pt x="29" y="58"/>
                </a:cubicBezTo>
                <a:cubicBezTo>
                  <a:pt x="29" y="41"/>
                  <a:pt x="43" y="27"/>
                  <a:pt x="60" y="27"/>
                </a:cubicBezTo>
                <a:cubicBezTo>
                  <a:pt x="77" y="27"/>
                  <a:pt x="90" y="41"/>
                  <a:pt x="90" y="58"/>
                </a:cubicBezTo>
                <a:moveTo>
                  <a:pt x="59" y="54"/>
                </a:moveTo>
                <a:cubicBezTo>
                  <a:pt x="55" y="59"/>
                  <a:pt x="55" y="59"/>
                  <a:pt x="55" y="59"/>
                </a:cubicBezTo>
                <a:cubicBezTo>
                  <a:pt x="55" y="59"/>
                  <a:pt x="55" y="59"/>
                  <a:pt x="55" y="59"/>
                </a:cubicBezTo>
                <a:cubicBezTo>
                  <a:pt x="60" y="59"/>
                  <a:pt x="60" y="59"/>
                  <a:pt x="60" y="59"/>
                </a:cubicBezTo>
                <a:cubicBezTo>
                  <a:pt x="60" y="54"/>
                  <a:pt x="60" y="54"/>
                  <a:pt x="60" y="54"/>
                </a:cubicBezTo>
                <a:cubicBezTo>
                  <a:pt x="60" y="53"/>
                  <a:pt x="60" y="52"/>
                  <a:pt x="60" y="52"/>
                </a:cubicBezTo>
                <a:cubicBezTo>
                  <a:pt x="60" y="52"/>
                  <a:pt x="60" y="52"/>
                  <a:pt x="60" y="52"/>
                </a:cubicBezTo>
                <a:cubicBezTo>
                  <a:pt x="60" y="52"/>
                  <a:pt x="59" y="53"/>
                  <a:pt x="59" y="54"/>
                </a:cubicBezTo>
                <a:moveTo>
                  <a:pt x="109" y="28"/>
                </a:moveTo>
                <a:cubicBezTo>
                  <a:pt x="98" y="11"/>
                  <a:pt x="80" y="0"/>
                  <a:pt x="60" y="0"/>
                </a:cubicBezTo>
                <a:cubicBezTo>
                  <a:pt x="34" y="0"/>
                  <a:pt x="12" y="17"/>
                  <a:pt x="5" y="40"/>
                </a:cubicBezTo>
                <a:cubicBezTo>
                  <a:pt x="4" y="42"/>
                  <a:pt x="5" y="44"/>
                  <a:pt x="6" y="46"/>
                </a:cubicBezTo>
                <a:cubicBezTo>
                  <a:pt x="6" y="46"/>
                  <a:pt x="6" y="46"/>
                  <a:pt x="6" y="46"/>
                </a:cubicBezTo>
                <a:cubicBezTo>
                  <a:pt x="9" y="49"/>
                  <a:pt x="14" y="48"/>
                  <a:pt x="16" y="44"/>
                </a:cubicBezTo>
                <a:cubicBezTo>
                  <a:pt x="22" y="25"/>
                  <a:pt x="39" y="12"/>
                  <a:pt x="60" y="12"/>
                </a:cubicBezTo>
                <a:cubicBezTo>
                  <a:pt x="75" y="12"/>
                  <a:pt x="89" y="19"/>
                  <a:pt x="97" y="31"/>
                </a:cubicBezTo>
                <a:cubicBezTo>
                  <a:pt x="90" y="33"/>
                  <a:pt x="90" y="33"/>
                  <a:pt x="90" y="33"/>
                </a:cubicBezTo>
                <a:cubicBezTo>
                  <a:pt x="89" y="34"/>
                  <a:pt x="88" y="35"/>
                  <a:pt x="89" y="37"/>
                </a:cubicBezTo>
                <a:cubicBezTo>
                  <a:pt x="104" y="50"/>
                  <a:pt x="104" y="50"/>
                  <a:pt x="104" y="50"/>
                </a:cubicBezTo>
                <a:cubicBezTo>
                  <a:pt x="109" y="56"/>
                  <a:pt x="109" y="56"/>
                  <a:pt x="109" y="56"/>
                </a:cubicBezTo>
                <a:cubicBezTo>
                  <a:pt x="110" y="57"/>
                  <a:pt x="112" y="56"/>
                  <a:pt x="112" y="55"/>
                </a:cubicBezTo>
                <a:cubicBezTo>
                  <a:pt x="113" y="50"/>
                  <a:pt x="113" y="50"/>
                  <a:pt x="113" y="50"/>
                </a:cubicBezTo>
                <a:cubicBezTo>
                  <a:pt x="119" y="28"/>
                  <a:pt x="119" y="28"/>
                  <a:pt x="119" y="28"/>
                </a:cubicBezTo>
                <a:cubicBezTo>
                  <a:pt x="119" y="27"/>
                  <a:pt x="118" y="25"/>
                  <a:pt x="116" y="26"/>
                </a:cubicBezTo>
                <a:lnTo>
                  <a:pt x="109" y="28"/>
                </a:lnTo>
                <a:close/>
                <a:moveTo>
                  <a:pt x="113" y="70"/>
                </a:moveTo>
                <a:cubicBezTo>
                  <a:pt x="114" y="71"/>
                  <a:pt x="115" y="74"/>
                  <a:pt x="114" y="76"/>
                </a:cubicBezTo>
                <a:cubicBezTo>
                  <a:pt x="107" y="99"/>
                  <a:pt x="85" y="115"/>
                  <a:pt x="60" y="115"/>
                </a:cubicBezTo>
                <a:cubicBezTo>
                  <a:pt x="40" y="115"/>
                  <a:pt x="22" y="105"/>
                  <a:pt x="11" y="89"/>
                </a:cubicBezTo>
                <a:cubicBezTo>
                  <a:pt x="11" y="88"/>
                  <a:pt x="10" y="88"/>
                  <a:pt x="9" y="88"/>
                </a:cubicBezTo>
                <a:cubicBezTo>
                  <a:pt x="3" y="90"/>
                  <a:pt x="3" y="90"/>
                  <a:pt x="3" y="90"/>
                </a:cubicBezTo>
                <a:cubicBezTo>
                  <a:pt x="1" y="90"/>
                  <a:pt x="0" y="89"/>
                  <a:pt x="0" y="88"/>
                </a:cubicBezTo>
                <a:cubicBezTo>
                  <a:pt x="6" y="66"/>
                  <a:pt x="6" y="66"/>
                  <a:pt x="6" y="66"/>
                </a:cubicBezTo>
                <a:cubicBezTo>
                  <a:pt x="7" y="61"/>
                  <a:pt x="7" y="61"/>
                  <a:pt x="7" y="61"/>
                </a:cubicBezTo>
                <a:cubicBezTo>
                  <a:pt x="7" y="60"/>
                  <a:pt x="9" y="59"/>
                  <a:pt x="10" y="60"/>
                </a:cubicBezTo>
                <a:cubicBezTo>
                  <a:pt x="16" y="66"/>
                  <a:pt x="16" y="66"/>
                  <a:pt x="16" y="66"/>
                </a:cubicBezTo>
                <a:cubicBezTo>
                  <a:pt x="30" y="79"/>
                  <a:pt x="30" y="79"/>
                  <a:pt x="30" y="79"/>
                </a:cubicBezTo>
                <a:cubicBezTo>
                  <a:pt x="31" y="80"/>
                  <a:pt x="30" y="82"/>
                  <a:pt x="29" y="83"/>
                </a:cubicBezTo>
                <a:cubicBezTo>
                  <a:pt x="22" y="85"/>
                  <a:pt x="22" y="85"/>
                  <a:pt x="22" y="85"/>
                </a:cubicBezTo>
                <a:cubicBezTo>
                  <a:pt x="31" y="97"/>
                  <a:pt x="44" y="104"/>
                  <a:pt x="60" y="104"/>
                </a:cubicBezTo>
                <a:cubicBezTo>
                  <a:pt x="80" y="104"/>
                  <a:pt x="97" y="91"/>
                  <a:pt x="103" y="72"/>
                </a:cubicBezTo>
                <a:cubicBezTo>
                  <a:pt x="105" y="68"/>
                  <a:pt x="110" y="67"/>
                  <a:pt x="113" y="70"/>
                </a:cubicBezTo>
                <a:close/>
              </a:path>
            </a:pathLst>
          </a:custGeom>
          <a:solidFill>
            <a:schemeClr val="bg1"/>
          </a:solidFill>
          <a:ln w="9525">
            <a:noFill/>
            <a:round/>
          </a:ln>
        </p:spPr>
        <p:txBody>
          <a:bodyPr wrap="square" lIns="91440" tIns="45720" rIns="91440" bIns="45720" anchor="ctr">
            <a:normAutofit/>
          </a:bodyPr>
          <a:lstStyle/>
          <a:p>
            <a:pPr algn="ctr"/>
          </a:p>
        </p:txBody>
      </p:sp>
      <p:sp>
        <p:nvSpPr>
          <p:cNvPr id="208" name="isḻíḓe"/>
          <p:cNvSpPr/>
          <p:nvPr/>
        </p:nvSpPr>
        <p:spPr bwMode="auto">
          <a:xfrm>
            <a:off x="1942341" y="3440948"/>
            <a:ext cx="9909687" cy="1568006"/>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明确指标规则，倒逼前端业务系统改造和流程规范，提高数据准确性</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制定集团数据标准：梳理指标字典，明确指标的定义、口径、计算规则与责任人；</a:t>
            </a:r>
            <a:endParaRPr lang="zh-CN" altLang="en-US"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将关键指标规则（如</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解决方案收入标识、</a:t>
            </a:r>
            <a:r>
              <a:rPr lang="zh-CN" altLang="en-US" sz="1400" dirty="0">
                <a:solidFill>
                  <a:schemeClr val="tx1"/>
                </a:solidFill>
                <a:latin typeface="微软雅黑" charset="0"/>
                <a:ea typeface="微软雅黑" charset="0"/>
              </a:rPr>
              <a:t>多订单物流运输费用分摊对则等</a:t>
            </a:r>
            <a:r>
              <a:rPr lang="en-US" altLang="zh-CN" sz="1400" dirty="0">
                <a:latin typeface="微软雅黑" panose="020B0503020204020204" pitchFamily="34" charset="-122"/>
                <a:ea typeface="微软雅黑" panose="020B0503020204020204" pitchFamily="34" charset="-122"/>
              </a:rPr>
              <a:t>）转化为系统需求，推动前端业务流程改造</a:t>
            </a:r>
            <a:r>
              <a:rPr lang="zh-CN" altLang="en-US" sz="1400" dirty="0">
                <a:latin typeface="微软雅黑" panose="020B0503020204020204" pitchFamily="34" charset="-122"/>
                <a:ea typeface="微软雅黑" panose="020B0503020204020204" pitchFamily="34" charset="-122"/>
              </a:rPr>
              <a:t>，从业务源头确保数据质量，减少人工干预；</a:t>
            </a:r>
            <a:endParaRPr lang="zh-CN" altLang="en-US"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将</a:t>
            </a:r>
            <a:r>
              <a:rPr lang="en-US" altLang="zh-CN" sz="1400" dirty="0">
                <a:latin typeface="微软雅黑" panose="020B0503020204020204" pitchFamily="34" charset="-122"/>
                <a:ea typeface="微软雅黑" panose="020B0503020204020204" pitchFamily="34" charset="-122"/>
              </a:rPr>
              <a:t>物料、组织等主数据的标准</a:t>
            </a:r>
            <a:r>
              <a:rPr lang="zh-CN" altLang="en-US" sz="1400" dirty="0">
                <a:latin typeface="微软雅黑" panose="020B0503020204020204" pitchFamily="34" charset="-122"/>
                <a:ea typeface="微软雅黑" panose="020B0503020204020204" pitchFamily="34" charset="-122"/>
              </a:rPr>
              <a:t>规范转化为系统需求，推动前端业务系统改造，为数据集成与准确分析提供可靠的基础</a:t>
            </a:r>
            <a:r>
              <a:rPr lang="en-US" altLang="zh-CN"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209" name="isḻíḓe"/>
          <p:cNvSpPr/>
          <p:nvPr/>
        </p:nvSpPr>
        <p:spPr bwMode="auto">
          <a:xfrm>
            <a:off x="1942341" y="5148209"/>
            <a:ext cx="9909687" cy="1327253"/>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构建统一数据管理平台，</a:t>
            </a:r>
            <a:r>
              <a:rPr lang="zh-CN" altLang="en-US" b="1" dirty="0">
                <a:solidFill>
                  <a:schemeClr val="accent1"/>
                </a:solidFill>
                <a:latin typeface="微软雅黑" charset="0"/>
                <a:ea typeface="微软雅黑" charset="0"/>
              </a:rPr>
              <a:t>实现业财数据集成与融合，实现数据分析的自动化</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整合</a:t>
            </a:r>
            <a:r>
              <a:rPr lang="en-US" altLang="zh-CN" sz="1400" dirty="0">
                <a:solidFill>
                  <a:schemeClr val="tx1"/>
                </a:solidFill>
                <a:latin typeface="微软雅黑" charset="0"/>
                <a:ea typeface="微软雅黑" charset="0"/>
              </a:rPr>
              <a:t>SAP/BPC/</a:t>
            </a:r>
            <a:r>
              <a:rPr lang="zh-CN" altLang="en-US" sz="1400" dirty="0">
                <a:solidFill>
                  <a:schemeClr val="tx1"/>
                </a:solidFill>
                <a:latin typeface="微软雅黑" charset="0"/>
                <a:ea typeface="微软雅黑" charset="0"/>
              </a:rPr>
              <a:t>汇联易</a:t>
            </a:r>
            <a:r>
              <a:rPr lang="en-US" altLang="zh-CN" sz="1400" dirty="0">
                <a:solidFill>
                  <a:schemeClr val="tx1"/>
                </a:solidFill>
                <a:latin typeface="微软雅黑" charset="0"/>
                <a:ea typeface="微软雅黑" charset="0"/>
              </a:rPr>
              <a:t>/PBI/PLM/CPQ/CRM/WMS/MES/QMS/OA</a:t>
            </a:r>
            <a:r>
              <a:rPr lang="zh-CN" altLang="en-US" sz="1400" dirty="0">
                <a:solidFill>
                  <a:schemeClr val="tx1"/>
                </a:solidFill>
                <a:latin typeface="微软雅黑" charset="0"/>
                <a:ea typeface="微软雅黑" charset="0"/>
              </a:rPr>
              <a:t>等业财系统</a:t>
            </a:r>
            <a:r>
              <a:rPr lang="zh-CN" altLang="en-US" sz="1400" dirty="0">
                <a:latin typeface="微软雅黑" panose="020B0503020204020204" pitchFamily="34" charset="-122"/>
                <a:ea typeface="微软雅黑" panose="020B0503020204020204" pitchFamily="34" charset="-122"/>
              </a:rPr>
              <a:t>及子公司手工数据，打通数据孤岛，形成集团级跨领域</a:t>
            </a:r>
            <a:r>
              <a:rPr lang="zh-CN" altLang="en-US" sz="1400" dirty="0">
                <a:solidFill>
                  <a:schemeClr val="tx1"/>
                </a:solidFill>
                <a:latin typeface="微软雅黑" charset="0"/>
                <a:ea typeface="微软雅黑" charset="0"/>
              </a:rPr>
              <a:t>的可信数据源</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将收入双算、费用分摊等复杂数据处理逻辑以及管理分析维度重分类等简单繁琐规则自动化，</a:t>
            </a:r>
            <a:r>
              <a:rPr lang="zh-CN" altLang="en-US" sz="1400" dirty="0">
                <a:solidFill>
                  <a:schemeClr val="tx1"/>
                </a:solidFill>
                <a:latin typeface="微软雅黑" charset="0"/>
                <a:ea typeface="微软雅黑" charset="0"/>
              </a:rPr>
              <a:t>缩短经营分析报告产出周期。</a:t>
            </a:r>
            <a:endParaRPr lang="zh-CN" altLang="en-US" sz="1400" dirty="0">
              <a:solidFill>
                <a:schemeClr val="tx1"/>
              </a:solidFill>
              <a:latin typeface="微软雅黑" charset="0"/>
              <a:ea typeface="微软雅黑"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427264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427291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501305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501332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7534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75373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68570"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调研情况总结</a:t>
            </a:r>
            <a:endParaRPr lang="zh-CN" altLang="en-US" sz="1200" dirty="0">
              <a:sym typeface="+mn-ea"/>
            </a:endParaRPr>
          </a:p>
        </p:txBody>
      </p:sp>
      <p:sp>
        <p:nvSpPr>
          <p:cNvPr id="8" name="文本占位符 17"/>
          <p:cNvSpPr txBox="1"/>
          <p:nvPr>
            <p:custDataLst>
              <p:tags r:id="rId14"/>
            </p:custDataLst>
          </p:nvPr>
        </p:nvSpPr>
        <p:spPr>
          <a:xfrm>
            <a:off x="4484370" y="307530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68570" y="347599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国内</a:t>
            </a:r>
            <a:endParaRPr lang="zh-CN" altLang="en-US" sz="1200" dirty="0">
              <a:sym typeface="+mn-ea"/>
            </a:endParaRPr>
          </a:p>
        </p:txBody>
      </p:sp>
      <p:sp>
        <p:nvSpPr>
          <p:cNvPr id="23" name="文本占位符 17"/>
          <p:cNvSpPr txBox="1"/>
          <p:nvPr>
            <p:custDataLst>
              <p:tags r:id="rId16"/>
            </p:custDataLst>
          </p:nvPr>
        </p:nvSpPr>
        <p:spPr>
          <a:xfrm>
            <a:off x="4484370" y="34759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zh-CN" altLang="en-US" sz="1200" dirty="0">
                <a:sym typeface="+mn-ea"/>
              </a:rPr>
              <a:t>.</a:t>
            </a:r>
            <a:r>
              <a:rPr lang="en-US" altLang="zh-CN" sz="1200" dirty="0">
                <a:sym typeface="+mn-ea"/>
              </a:rPr>
              <a:t>3</a:t>
            </a:r>
            <a:endParaRPr lang="en-US" altLang="zh-CN" sz="1200" dirty="0">
              <a:sym typeface="+mn-ea"/>
            </a:endParaRPr>
          </a:p>
        </p:txBody>
      </p:sp>
      <p:sp>
        <p:nvSpPr>
          <p:cNvPr id="26" name="文本占位符 17"/>
          <p:cNvSpPr txBox="1"/>
          <p:nvPr>
            <p:custDataLst>
              <p:tags r:id="rId17"/>
            </p:custDataLst>
          </p:nvPr>
        </p:nvSpPr>
        <p:spPr>
          <a:xfrm>
            <a:off x="5068570" y="3844290"/>
            <a:ext cx="24244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指标详细设计（</a:t>
            </a:r>
            <a:r>
              <a:rPr lang="en-US" altLang="zh-CN" sz="1200" dirty="0">
                <a:sym typeface="+mn-ea"/>
              </a:rPr>
              <a:t>90</a:t>
            </a:r>
            <a:r>
              <a:rPr lang="zh-CN" altLang="en-US" sz="1200" dirty="0">
                <a:sym typeface="+mn-ea"/>
              </a:rPr>
              <a:t>个指标）</a:t>
            </a:r>
            <a:endParaRPr lang="zh-CN" altLang="en-US" sz="1200" dirty="0">
              <a:sym typeface="+mn-ea"/>
            </a:endParaRPr>
          </a:p>
        </p:txBody>
      </p:sp>
      <p:sp>
        <p:nvSpPr>
          <p:cNvPr id="28" name="文本占位符 17"/>
          <p:cNvSpPr txBox="1"/>
          <p:nvPr>
            <p:custDataLst>
              <p:tags r:id="rId18"/>
            </p:custDataLst>
          </p:nvPr>
        </p:nvSpPr>
        <p:spPr>
          <a:xfrm>
            <a:off x="4484370" y="38442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5</a:t>
            </a:r>
            <a:endParaRPr lang="en-US" altLang="zh-CN" sz="1200" dirty="0">
              <a:sym typeface="+mn-ea"/>
            </a:endParaRPr>
          </a:p>
        </p:txBody>
      </p:sp>
      <p:sp>
        <p:nvSpPr>
          <p:cNvPr id="32" name="文本占位符 17"/>
          <p:cNvSpPr txBox="1"/>
          <p:nvPr>
            <p:custDataLst>
              <p:tags r:id="rId19"/>
            </p:custDataLst>
          </p:nvPr>
        </p:nvSpPr>
        <p:spPr>
          <a:xfrm>
            <a:off x="8388985" y="3075305"/>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财经域指标分析框架与场景</a:t>
            </a:r>
            <a:endParaRPr lang="zh-CN" altLang="en-US" sz="1200" dirty="0">
              <a:sym typeface="+mn-ea"/>
            </a:endParaRPr>
          </a:p>
        </p:txBody>
      </p:sp>
      <p:sp>
        <p:nvSpPr>
          <p:cNvPr id="33" name="文本占位符 17"/>
          <p:cNvSpPr txBox="1"/>
          <p:nvPr>
            <p:custDataLst>
              <p:tags r:id="rId20"/>
            </p:custDataLst>
          </p:nvPr>
        </p:nvSpPr>
        <p:spPr>
          <a:xfrm>
            <a:off x="7804785" y="3075305"/>
            <a:ext cx="506730"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3.</a:t>
            </a:r>
            <a:r>
              <a:rPr lang="zh-CN" altLang="en-US" sz="1200" dirty="0">
                <a:sym typeface="+mn-ea"/>
              </a:rPr>
              <a:t>2</a:t>
            </a:r>
            <a:endParaRPr lang="zh-CN" altLang="en-US" sz="1200" dirty="0">
              <a:sym typeface="+mn-ea"/>
            </a:endParaRPr>
          </a:p>
        </p:txBody>
      </p:sp>
      <p:sp>
        <p:nvSpPr>
          <p:cNvPr id="34" name="文本占位符 17"/>
          <p:cNvSpPr txBox="1"/>
          <p:nvPr>
            <p:custDataLst>
              <p:tags r:id="rId21"/>
            </p:custDataLst>
          </p:nvPr>
        </p:nvSpPr>
        <p:spPr>
          <a:xfrm>
            <a:off x="8388985" y="347853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国际</a:t>
            </a:r>
            <a:endParaRPr lang="zh-CN" altLang="en-US" sz="1200" dirty="0">
              <a:sym typeface="+mn-ea"/>
            </a:endParaRPr>
          </a:p>
        </p:txBody>
      </p:sp>
      <p:sp>
        <p:nvSpPr>
          <p:cNvPr id="35" name="文本占位符 17"/>
          <p:cNvSpPr txBox="1"/>
          <p:nvPr>
            <p:custDataLst>
              <p:tags r:id="rId22"/>
            </p:custDataLst>
          </p:nvPr>
        </p:nvSpPr>
        <p:spPr>
          <a:xfrm>
            <a:off x="7804785" y="347853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4</a:t>
            </a:r>
            <a:endParaRPr lang="en-US" altLang="zh-CN" sz="1200" dirty="0">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洲明科技指标分析框架</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462471" y="4430112"/>
            <a:ext cx="4768208" cy="2148428"/>
          </a:xfrm>
          <a:prstGeom prst="rect">
            <a:avLst/>
          </a:prstGeom>
          <a:ln w="28575">
            <a:solidFill>
              <a:srgbClr val="000000"/>
            </a:solidFill>
          </a:ln>
        </p:spPr>
      </p:pic>
      <p:pic>
        <p:nvPicPr>
          <p:cNvPr id="5" name="图片 4"/>
          <p:cNvPicPr>
            <a:picLocks noChangeAspect="1"/>
          </p:cNvPicPr>
          <p:nvPr/>
        </p:nvPicPr>
        <p:blipFill>
          <a:blip r:embed="rId2"/>
          <a:stretch>
            <a:fillRect/>
          </a:stretch>
        </p:blipFill>
        <p:spPr>
          <a:xfrm>
            <a:off x="6321056" y="4430112"/>
            <a:ext cx="5269219" cy="2148429"/>
          </a:xfrm>
          <a:prstGeom prst="rect">
            <a:avLst/>
          </a:prstGeom>
          <a:ln w="28575">
            <a:solidFill>
              <a:srgbClr val="000000"/>
            </a:solidFill>
          </a:ln>
        </p:spPr>
      </p:pic>
      <p:cxnSp>
        <p:nvCxnSpPr>
          <p:cNvPr id="6" name="直接连接符 5"/>
          <p:cNvCxnSpPr/>
          <p:nvPr/>
        </p:nvCxnSpPr>
        <p:spPr>
          <a:xfrm>
            <a:off x="10788327" y="1781630"/>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cxnSp>
        <p:nvCxnSpPr>
          <p:cNvPr id="7" name="直接连接符 6"/>
          <p:cNvCxnSpPr/>
          <p:nvPr/>
        </p:nvCxnSpPr>
        <p:spPr>
          <a:xfrm>
            <a:off x="9183004" y="1757689"/>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cxnSp>
        <p:nvCxnSpPr>
          <p:cNvPr id="8" name="直接连接符 7"/>
          <p:cNvCxnSpPr/>
          <p:nvPr/>
        </p:nvCxnSpPr>
        <p:spPr>
          <a:xfrm>
            <a:off x="7347409" y="1828324"/>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cxnSp>
        <p:nvCxnSpPr>
          <p:cNvPr id="9" name="直接连接符 8"/>
          <p:cNvCxnSpPr/>
          <p:nvPr/>
        </p:nvCxnSpPr>
        <p:spPr>
          <a:xfrm>
            <a:off x="5715503" y="1869576"/>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cxnSp>
        <p:nvCxnSpPr>
          <p:cNvPr id="10" name="直接连接符 9"/>
          <p:cNvCxnSpPr/>
          <p:nvPr/>
        </p:nvCxnSpPr>
        <p:spPr>
          <a:xfrm>
            <a:off x="3926502" y="1869576"/>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sp>
        <p:nvSpPr>
          <p:cNvPr id="11" name="等腰三角形 10"/>
          <p:cNvSpPr/>
          <p:nvPr/>
        </p:nvSpPr>
        <p:spPr>
          <a:xfrm>
            <a:off x="1408868" y="850458"/>
            <a:ext cx="10234999" cy="764769"/>
          </a:xfrm>
          <a:prstGeom prst="triangle">
            <a:avLst>
              <a:gd name="adj" fmla="val 49662"/>
            </a:avLst>
          </a:prstGeom>
          <a:solidFill>
            <a:srgbClr val="0C7F8A"/>
          </a:solidFill>
          <a:ln w="6350">
            <a:solidFill>
              <a:srgbClr val="0C7F8A"/>
            </a:solidFill>
            <a:miter lim="800000"/>
          </a:ln>
          <a:effectLst/>
        </p:spPr>
        <p:txBody>
          <a:bodyPr lIns="0" tIns="0" rIns="0" bIns="0" anchor="t">
            <a:noAutofit/>
          </a:bodyPr>
          <a:lstStyle/>
          <a:p>
            <a:pPr algn="ctr" defTabSz="899160">
              <a:defRPr/>
            </a:pPr>
            <a:r>
              <a:rPr lang="zh-CN" altLang="en-US" sz="1300" b="1" dirty="0">
                <a:solidFill>
                  <a:srgbClr val="FFFFFF"/>
                </a:solidFill>
                <a:latin typeface="微软雅黑" panose="020B0503020204020204" pitchFamily="34" charset="-122"/>
                <a:ea typeface="微软雅黑" panose="020B0503020204020204" pitchFamily="34" charset="-122"/>
                <a:cs typeface="Helvetica"/>
              </a:rPr>
              <a:t>显示光彩世界，照明幸福生活</a:t>
            </a:r>
            <a:endParaRPr lang="en-US" altLang="zh-CN" sz="1300" b="1" dirty="0">
              <a:solidFill>
                <a:srgbClr val="FFFFFF"/>
              </a:solidFill>
              <a:latin typeface="微软雅黑" panose="020B0503020204020204" pitchFamily="34" charset="-122"/>
              <a:ea typeface="微软雅黑" panose="020B0503020204020204" pitchFamily="34" charset="-122"/>
              <a:cs typeface="Helvetica"/>
            </a:endParaRPr>
          </a:p>
          <a:p>
            <a:pPr algn="ctr" defTabSz="899160">
              <a:defRPr/>
            </a:pPr>
            <a:r>
              <a:rPr lang="zh-CN" altLang="en-US" sz="1300" b="1" dirty="0">
                <a:solidFill>
                  <a:srgbClr val="FFFFFF"/>
                </a:solidFill>
                <a:latin typeface="微软雅黑" panose="020B0503020204020204" pitchFamily="34" charset="-122"/>
                <a:ea typeface="微软雅黑" panose="020B0503020204020204" pitchFamily="34" charset="-122"/>
                <a:cs typeface="Helvetica"/>
              </a:rPr>
              <a:t>全球</a:t>
            </a:r>
            <a:r>
              <a:rPr lang="en-US" altLang="zh-CN" sz="1300" b="1" dirty="0">
                <a:solidFill>
                  <a:srgbClr val="FFFFFF"/>
                </a:solidFill>
                <a:latin typeface="微软雅黑" panose="020B0503020204020204" pitchFamily="34" charset="-122"/>
                <a:ea typeface="微软雅黑" panose="020B0503020204020204" pitchFamily="34" charset="-122"/>
                <a:cs typeface="Helvetica"/>
              </a:rPr>
              <a:t>LED</a:t>
            </a:r>
            <a:r>
              <a:rPr lang="zh-CN" altLang="en-US" sz="1300" b="1" dirty="0">
                <a:solidFill>
                  <a:srgbClr val="FFFFFF"/>
                </a:solidFill>
                <a:latin typeface="微软雅黑" panose="020B0503020204020204" pitchFamily="34" charset="-122"/>
                <a:ea typeface="微软雅黑" panose="020B0503020204020204" pitchFamily="34" charset="-122"/>
                <a:cs typeface="Helvetica"/>
              </a:rPr>
              <a:t>光显行业的引领者</a:t>
            </a:r>
            <a:endParaRPr lang="en-US" altLang="zh-CN" sz="13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2" name="直接连接符 11"/>
          <p:cNvCxnSpPr/>
          <p:nvPr/>
        </p:nvCxnSpPr>
        <p:spPr>
          <a:xfrm>
            <a:off x="2259809" y="1717176"/>
            <a:ext cx="0" cy="1514564"/>
          </a:xfrm>
          <a:prstGeom prst="line">
            <a:avLst/>
          </a:prstGeom>
          <a:solidFill>
            <a:srgbClr val="5B9BD5"/>
          </a:solidFill>
          <a:ln w="38100" cap="flat" cmpd="sng" algn="ctr">
            <a:solidFill>
              <a:srgbClr val="00B0F0"/>
            </a:solidFill>
            <a:prstDash val="solid"/>
            <a:round/>
            <a:headEnd type="none" w="med" len="med"/>
            <a:tailEnd type="none" w="med" len="med"/>
          </a:ln>
        </p:spPr>
      </p:cxnSp>
      <p:sp>
        <p:nvSpPr>
          <p:cNvPr id="13" name="矩形 12"/>
          <p:cNvSpPr/>
          <p:nvPr>
            <p:custDataLst>
              <p:tags r:id="rId3"/>
            </p:custDataLst>
          </p:nvPr>
        </p:nvSpPr>
        <p:spPr>
          <a:xfrm>
            <a:off x="1462470" y="1652362"/>
            <a:ext cx="10127797" cy="368300"/>
          </a:xfrm>
          <a:prstGeom prst="rect">
            <a:avLst/>
          </a:prstGeom>
          <a:solidFill>
            <a:srgbClr val="10AFBC"/>
          </a:solidFill>
          <a:ln w="9525">
            <a:solidFill>
              <a:srgbClr val="10AFBC"/>
            </a:solidFill>
            <a:miter lim="800000"/>
          </a:ln>
        </p:spPr>
        <p:txBody>
          <a:bodyPr anchor="ctr"/>
          <a:lstStyle/>
          <a:p>
            <a:pPr algn="ctr" defTabSz="899160">
              <a:defRPr/>
            </a:pPr>
            <a:r>
              <a:rPr lang="zh-CN" altLang="en-US" sz="1300" b="1" dirty="0">
                <a:solidFill>
                  <a:srgbClr val="000000"/>
                </a:solidFill>
                <a:latin typeface="微软雅黑" panose="020B0503020204020204" pitchFamily="34" charset="-122"/>
                <a:ea typeface="微软雅黑" panose="020B0503020204020204" pitchFamily="34" charset="-122"/>
                <a:cs typeface="Helvetica"/>
              </a:rPr>
              <a:t>全面拥抱</a:t>
            </a:r>
            <a:r>
              <a:rPr lang="en-US" altLang="zh-CN" sz="1300" b="1" dirty="0">
                <a:solidFill>
                  <a:srgbClr val="000000"/>
                </a:solidFill>
                <a:latin typeface="微软雅黑" panose="020B0503020204020204" pitchFamily="34" charset="-122"/>
                <a:ea typeface="微软雅黑" panose="020B0503020204020204" pitchFamily="34" charset="-122"/>
                <a:cs typeface="Helvetica"/>
              </a:rPr>
              <a:t>AI</a:t>
            </a:r>
            <a:r>
              <a:rPr lang="zh-CN" altLang="en-US" sz="1300" b="1" dirty="0">
                <a:solidFill>
                  <a:srgbClr val="000000"/>
                </a:solidFill>
                <a:latin typeface="微软雅黑" panose="020B0503020204020204" pitchFamily="34" charset="-122"/>
                <a:ea typeface="微软雅黑" panose="020B0503020204020204" pitchFamily="34" charset="-122"/>
                <a:cs typeface="Helvetica"/>
              </a:rPr>
              <a:t>，推动</a:t>
            </a:r>
            <a:r>
              <a:rPr lang="en-US" altLang="zh-CN" sz="1300" b="1" dirty="0">
                <a:solidFill>
                  <a:srgbClr val="000000"/>
                </a:solidFill>
                <a:latin typeface="微软雅黑" panose="020B0503020204020204" pitchFamily="34" charset="-122"/>
                <a:ea typeface="微软雅黑" panose="020B0503020204020204" pitchFamily="34" charset="-122"/>
                <a:cs typeface="Helvetica"/>
              </a:rPr>
              <a:t>"LED+AI"</a:t>
            </a:r>
            <a:r>
              <a:rPr lang="zh-CN" altLang="en-US" sz="1300" b="1" dirty="0">
                <a:solidFill>
                  <a:srgbClr val="000000"/>
                </a:solidFill>
                <a:latin typeface="微软雅黑" panose="020B0503020204020204" pitchFamily="34" charset="-122"/>
                <a:ea typeface="微软雅黑" panose="020B0503020204020204" pitchFamily="34" charset="-122"/>
                <a:cs typeface="Helvetica"/>
              </a:rPr>
              <a:t>深度融合</a:t>
            </a:r>
            <a:endParaRPr lang="zh-CN" altLang="en-US" sz="1300" b="1"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14" name="矩形 13"/>
          <p:cNvSpPr/>
          <p:nvPr/>
        </p:nvSpPr>
        <p:spPr>
          <a:xfrm>
            <a:off x="1525231" y="2656556"/>
            <a:ext cx="1486763"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有效线索</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有效商机</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销售预测</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赢单数量金额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市场活动投入产出比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市占率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矩形 14"/>
          <p:cNvSpPr/>
          <p:nvPr/>
        </p:nvSpPr>
        <p:spPr>
          <a:xfrm>
            <a:off x="4923640" y="2656556"/>
            <a:ext cx="1596124"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智慧显示主营成本-分屏体/Sparts/工程服务/售后增值</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照明主营成本-灯具/智慧杆</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销售费用/管理费用/研发费用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资产减值损失</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矩形 15"/>
          <p:cNvSpPr/>
          <p:nvPr/>
        </p:nvSpPr>
        <p:spPr>
          <a:xfrm>
            <a:off x="6626352" y="2650833"/>
            <a:ext cx="1426547"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ROI/ROE</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矩形 16"/>
          <p:cNvSpPr/>
          <p:nvPr/>
        </p:nvSpPr>
        <p:spPr>
          <a:xfrm>
            <a:off x="8416164" y="2650426"/>
            <a:ext cx="1426547"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应收总额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应收逾期金额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应收周转率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成品库存周转</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成品库龄分析</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人数/人均收入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人数/人均签单</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8" name="矩形 17"/>
          <p:cNvSpPr/>
          <p:nvPr/>
        </p:nvSpPr>
        <p:spPr>
          <a:xfrm>
            <a:off x="10099146" y="2641569"/>
            <a:ext cx="1426547"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应收逾期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应付周转天数</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呆滞物料</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资金安全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刚性兑付</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9" name="Rectangle 10"/>
          <p:cNvSpPr/>
          <p:nvPr/>
        </p:nvSpPr>
        <p:spPr>
          <a:xfrm>
            <a:off x="1525232" y="2251301"/>
            <a:ext cx="149840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1</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、机会</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0" name="Rectangle 10"/>
          <p:cNvSpPr/>
          <p:nvPr/>
        </p:nvSpPr>
        <p:spPr>
          <a:xfrm>
            <a:off x="3182139" y="2251301"/>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2</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、收入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1" name="Rectangle 10"/>
          <p:cNvSpPr/>
          <p:nvPr/>
        </p:nvSpPr>
        <p:spPr>
          <a:xfrm>
            <a:off x="4925894" y="2251301"/>
            <a:ext cx="1487803"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3</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、投入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2" name="Rectangle 10"/>
          <p:cNvSpPr/>
          <p:nvPr/>
        </p:nvSpPr>
        <p:spPr>
          <a:xfrm>
            <a:off x="6635963" y="2251301"/>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4</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、回报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3" name="Rectangle 10"/>
          <p:cNvSpPr/>
          <p:nvPr/>
        </p:nvSpPr>
        <p:spPr>
          <a:xfrm>
            <a:off x="8425775" y="2251301"/>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5</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、效率</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4" name="Rectangle 10"/>
          <p:cNvSpPr/>
          <p:nvPr/>
        </p:nvSpPr>
        <p:spPr>
          <a:xfrm>
            <a:off x="10103952" y="2251301"/>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6</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、风险</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5" name="矩形 24"/>
          <p:cNvSpPr/>
          <p:nvPr/>
        </p:nvSpPr>
        <p:spPr>
          <a:xfrm>
            <a:off x="3178118" y="2663989"/>
            <a:ext cx="1416936" cy="1496092"/>
          </a:xfrm>
          <a:prstGeom prst="rect">
            <a:avLst/>
          </a:prstGeom>
          <a:solidFill>
            <a:srgbClr val="CEEAEE"/>
          </a:solidFill>
          <a:ln w="25400" cap="flat" cmpd="sng" algn="ctr">
            <a:solidFill>
              <a:srgbClr val="CEEAEE"/>
            </a:solid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智慧显示收入-分屏体/Sparts/工程服务/售后增值</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照明收入-灯具/智慧杆</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6" name="Straight Connector 213"/>
          <p:cNvCxnSpPr/>
          <p:nvPr/>
        </p:nvCxnSpPr>
        <p:spPr>
          <a:xfrm>
            <a:off x="669046" y="1773830"/>
            <a:ext cx="0" cy="4810971"/>
          </a:xfrm>
          <a:prstGeom prst="line">
            <a:avLst/>
          </a:prstGeom>
          <a:noFill/>
          <a:ln w="57150" cap="sq" cmpd="sng" algn="ctr">
            <a:solidFill>
              <a:srgbClr val="A7A7A7"/>
            </a:solidFill>
            <a:prstDash val="solid"/>
            <a:headEnd type="none" w="med" len="med"/>
            <a:tailEnd type="triangle" w="med" len="med"/>
          </a:ln>
          <a:effectLst/>
        </p:spPr>
      </p:cxnSp>
      <p:sp>
        <p:nvSpPr>
          <p:cNvPr id="27" name="Rectangle 217"/>
          <p:cNvSpPr/>
          <p:nvPr/>
        </p:nvSpPr>
        <p:spPr>
          <a:xfrm>
            <a:off x="445526" y="2363936"/>
            <a:ext cx="483219" cy="949572"/>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集团经营视角</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8" name="文本框 27"/>
          <p:cNvSpPr txBox="1"/>
          <p:nvPr/>
        </p:nvSpPr>
        <p:spPr>
          <a:xfrm>
            <a:off x="4595054" y="4299509"/>
            <a:ext cx="1147402" cy="200025"/>
          </a:xfrm>
          <a:prstGeom prst="rect">
            <a:avLst/>
          </a:prstGeom>
          <a:solidFill>
            <a:srgbClr val="FFFFFF"/>
          </a:solid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客户视角</a:t>
            </a:r>
            <a:r>
              <a:rPr kumimoji="0" lang="en-US" altLang="zh-CN"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LTC</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29" name="文本框 28"/>
          <p:cNvSpPr txBox="1"/>
          <p:nvPr/>
        </p:nvSpPr>
        <p:spPr>
          <a:xfrm>
            <a:off x="6434009" y="4307656"/>
            <a:ext cx="2104130" cy="200025"/>
          </a:xfrm>
          <a:prstGeom prst="rect">
            <a:avLst/>
          </a:prstGeom>
          <a:solidFill>
            <a:srgbClr val="FFFFFF"/>
          </a:solid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产品与交付视角</a:t>
            </a:r>
            <a:r>
              <a:rPr kumimoji="0" lang="en-US" altLang="zh-CN"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IPD/ISC</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0" name="Rectangle 217"/>
          <p:cNvSpPr/>
          <p:nvPr/>
        </p:nvSpPr>
        <p:spPr>
          <a:xfrm>
            <a:off x="433034" y="3932897"/>
            <a:ext cx="483219" cy="949572"/>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分维度经营视角</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31" name="Rectangle 217"/>
          <p:cNvSpPr/>
          <p:nvPr/>
        </p:nvSpPr>
        <p:spPr>
          <a:xfrm>
            <a:off x="422392" y="5448977"/>
            <a:ext cx="483219" cy="949572"/>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业务视角</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33" name="矩形 32"/>
          <p:cNvSpPr/>
          <p:nvPr/>
        </p:nvSpPr>
        <p:spPr>
          <a:xfrm>
            <a:off x="1476942" y="2146184"/>
            <a:ext cx="10113333" cy="2013897"/>
          </a:xfrm>
          <a:prstGeom prst="rect">
            <a:avLst/>
          </a:prstGeom>
          <a:noFill/>
          <a:ln w="28575" cap="flat">
            <a:solidFill>
              <a:srgbClr val="C00000">
                <a:alpha val="99000"/>
              </a:srgbClr>
            </a:solidFill>
            <a:prstDash val="sysDash"/>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5" name="箭头: 左右 34"/>
          <p:cNvSpPr/>
          <p:nvPr/>
        </p:nvSpPr>
        <p:spPr>
          <a:xfrm>
            <a:off x="5715503" y="4561113"/>
            <a:ext cx="1072036" cy="366832"/>
          </a:xfrm>
          <a:prstGeom prst="leftRightArrow">
            <a:avLst/>
          </a:prstGeom>
          <a:solidFill>
            <a:srgbClr val="0C7F8A"/>
          </a:solidFill>
          <a:ln>
            <a:no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Calibri" panose="020F0502020204030204"/>
              </a:rPr>
              <a:t>互锁</a:t>
            </a:r>
            <a:endParaRPr kumimoji="0" lang="zh-CN" altLang="en-US"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Calibri" panose="020F0502020204030204"/>
            </a:endParaRPr>
          </a:p>
        </p:txBody>
      </p:sp>
      <p:sp>
        <p:nvSpPr>
          <p:cNvPr id="36" name="Oval 31"/>
          <p:cNvSpPr/>
          <p:nvPr/>
        </p:nvSpPr>
        <p:spPr bwMode="auto">
          <a:xfrm>
            <a:off x="1324745" y="2641539"/>
            <a:ext cx="365760" cy="274320"/>
          </a:xfrm>
          <a:prstGeom prst="ellipse">
            <a:avLst/>
          </a:prstGeom>
          <a:solidFill>
            <a:srgbClr val="ED7D3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defPPr>
              <a:defRPr lang="en-US"/>
            </a:defPPr>
            <a:lvl1pPr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1pPr>
            <a:lvl2pPr marL="4572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2pPr>
            <a:lvl3pPr marL="9144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3pPr>
            <a:lvl4pPr marL="13716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4pPr>
            <a:lvl5pPr marL="18288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5pPr>
            <a:lvl6pPr marL="22860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6pPr>
            <a:lvl7pPr marL="27432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7pPr>
            <a:lvl8pPr marL="32004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8pPr>
            <a:lvl9pPr marL="36576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A</a:t>
            </a:r>
            <a:endPar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Oval 31"/>
          <p:cNvSpPr/>
          <p:nvPr/>
        </p:nvSpPr>
        <p:spPr bwMode="auto">
          <a:xfrm>
            <a:off x="3040347" y="4518841"/>
            <a:ext cx="365760" cy="274320"/>
          </a:xfrm>
          <a:prstGeom prst="ellipse">
            <a:avLst/>
          </a:prstGeom>
          <a:solidFill>
            <a:srgbClr val="ED7D3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defPPr>
              <a:defRPr lang="en-US"/>
            </a:defPPr>
            <a:lvl1pPr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1pPr>
            <a:lvl2pPr marL="4572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2pPr>
            <a:lvl3pPr marL="9144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3pPr>
            <a:lvl4pPr marL="13716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4pPr>
            <a:lvl5pPr marL="18288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5pPr>
            <a:lvl6pPr marL="22860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6pPr>
            <a:lvl7pPr marL="27432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7pPr>
            <a:lvl8pPr marL="32004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8pPr>
            <a:lvl9pPr marL="36576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B</a:t>
            </a:r>
            <a:endPar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Oval 31"/>
          <p:cNvSpPr/>
          <p:nvPr/>
        </p:nvSpPr>
        <p:spPr bwMode="auto">
          <a:xfrm>
            <a:off x="9842711" y="4499564"/>
            <a:ext cx="365760" cy="274320"/>
          </a:xfrm>
          <a:prstGeom prst="ellipse">
            <a:avLst/>
          </a:prstGeom>
          <a:solidFill>
            <a:srgbClr val="ED7D3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defPPr>
              <a:defRPr lang="en-US"/>
            </a:defPPr>
            <a:lvl1pPr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1pPr>
            <a:lvl2pPr marL="4572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2pPr>
            <a:lvl3pPr marL="9144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3pPr>
            <a:lvl4pPr marL="13716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4pPr>
            <a:lvl5pPr marL="18288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5pPr>
            <a:lvl6pPr marL="22860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6pPr>
            <a:lvl7pPr marL="27432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7pPr>
            <a:lvl8pPr marL="32004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8pPr>
            <a:lvl9pPr marL="36576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C</a:t>
            </a:r>
            <a:endPar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9" name="Oval 31"/>
          <p:cNvSpPr/>
          <p:nvPr/>
        </p:nvSpPr>
        <p:spPr bwMode="auto">
          <a:xfrm>
            <a:off x="3663695" y="5174657"/>
            <a:ext cx="365760" cy="274320"/>
          </a:xfrm>
          <a:prstGeom prst="ellipse">
            <a:avLst/>
          </a:prstGeom>
          <a:solidFill>
            <a:srgbClr val="ED7D3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defPPr>
              <a:defRPr lang="en-US"/>
            </a:defPPr>
            <a:lvl1pPr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1pPr>
            <a:lvl2pPr marL="4572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2pPr>
            <a:lvl3pPr marL="9144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3pPr>
            <a:lvl4pPr marL="13716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4pPr>
            <a:lvl5pPr marL="18288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5pPr>
            <a:lvl6pPr marL="22860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6pPr>
            <a:lvl7pPr marL="27432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7pPr>
            <a:lvl8pPr marL="32004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8pPr>
            <a:lvl9pPr marL="36576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D</a:t>
            </a:r>
            <a:endPar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40" name="Oval 31"/>
          <p:cNvSpPr/>
          <p:nvPr/>
        </p:nvSpPr>
        <p:spPr bwMode="auto">
          <a:xfrm>
            <a:off x="9072526" y="5230006"/>
            <a:ext cx="365760" cy="274320"/>
          </a:xfrm>
          <a:prstGeom prst="ellipse">
            <a:avLst/>
          </a:prstGeom>
          <a:solidFill>
            <a:srgbClr val="ED7D3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defPPr>
              <a:defRPr lang="en-US"/>
            </a:defPPr>
            <a:lvl1pPr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1pPr>
            <a:lvl2pPr marL="4572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2pPr>
            <a:lvl3pPr marL="9144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3pPr>
            <a:lvl4pPr marL="13716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4pPr>
            <a:lvl5pPr marL="1828800" algn="l" rtl="0" eaLnBrk="0" fontAlgn="base" hangingPunct="0">
              <a:spcBef>
                <a:spcPct val="0"/>
              </a:spcBef>
              <a:spcAft>
                <a:spcPct val="0"/>
              </a:spcAft>
              <a:defRPr sz="1200" b="1" kern="1200">
                <a:solidFill>
                  <a:schemeClr val="bg1"/>
                </a:solidFill>
                <a:latin typeface="华文楷体" panose="02010600040101010101" pitchFamily="2" charset="-122"/>
                <a:ea typeface="宋体" pitchFamily="2" charset="-122"/>
                <a:cs typeface="+mn-cs"/>
              </a:defRPr>
            </a:lvl5pPr>
            <a:lvl6pPr marL="22860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6pPr>
            <a:lvl7pPr marL="27432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7pPr>
            <a:lvl8pPr marL="32004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8pPr>
            <a:lvl9pPr marL="3657600" algn="l" defTabSz="914400" rtl="0" eaLnBrk="1" latinLnBrk="0" hangingPunct="1">
              <a:defRPr sz="1200" b="1" kern="1200">
                <a:solidFill>
                  <a:schemeClr val="bg1"/>
                </a:solidFill>
                <a:latin typeface="华文楷体" panose="02010600040101010101" pitchFamily="2" charset="-122"/>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E</a:t>
            </a:r>
            <a:endParaRPr kumimoji="0"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右箭头 232"/>
          <p:cNvSpPr/>
          <p:nvPr/>
        </p:nvSpPr>
        <p:spPr>
          <a:xfrm rot="5400000">
            <a:off x="3808324" y="3921813"/>
            <a:ext cx="236020" cy="78057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42" name="右箭头 232"/>
          <p:cNvSpPr/>
          <p:nvPr/>
        </p:nvSpPr>
        <p:spPr>
          <a:xfrm rot="5400000">
            <a:off x="9010760" y="3917367"/>
            <a:ext cx="236020" cy="78057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A-1</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机会分析示例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6891494" y="748509"/>
            <a:ext cx="4964952"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5182821" y="731588"/>
            <a:ext cx="1648881"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Freeform: Shape 314"/>
          <p:cNvSpPr/>
          <p:nvPr>
            <p:custDataLst>
              <p:tags r:id="rId3"/>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7" name="矩形 6"/>
          <p:cNvSpPr/>
          <p:nvPr>
            <p:custDataLst>
              <p:tags r:id="rId4"/>
            </p:custDataLst>
          </p:nvPr>
        </p:nvSpPr>
        <p:spPr>
          <a:xfrm>
            <a:off x="3389435" y="1520258"/>
            <a:ext cx="1519864" cy="3940050"/>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8"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9" name="矩形 8"/>
          <p:cNvSpPr/>
          <p:nvPr>
            <p:custDataLst>
              <p:tags r:id="rId5"/>
            </p:custDataLst>
          </p:nvPr>
        </p:nvSpPr>
        <p:spPr>
          <a:xfrm>
            <a:off x="1604724" y="1540912"/>
            <a:ext cx="1419003" cy="3940050"/>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10" name="Freeform: Shape 259"/>
          <p:cNvSpPr/>
          <p:nvPr/>
        </p:nvSpPr>
        <p:spPr>
          <a:xfrm>
            <a:off x="98580" y="747490"/>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1" name="Rectangle: Rounded Corners 91"/>
          <p:cNvSpPr/>
          <p:nvPr/>
        </p:nvSpPr>
        <p:spPr>
          <a:xfrm>
            <a:off x="342988" y="2801808"/>
            <a:ext cx="720090" cy="114617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机会</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nvSpPr>
        <p:spPr>
          <a:xfrm>
            <a:off x="195938" y="826958"/>
            <a:ext cx="99672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1757400" y="826958"/>
            <a:ext cx="94361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机会指标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85"/>
          <p:cNvSpPr/>
          <p:nvPr>
            <p:custDataLst>
              <p:tags r:id="rId7"/>
            </p:custDataLst>
          </p:nvPr>
        </p:nvSpPr>
        <p:spPr>
          <a:xfrm>
            <a:off x="3564422" y="826958"/>
            <a:ext cx="138747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机会指标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5" name="Rectangle: Rounded Corners 163"/>
          <p:cNvSpPr/>
          <p:nvPr>
            <p:custDataLst>
              <p:tags r:id="rId8"/>
            </p:custDataLst>
          </p:nvPr>
        </p:nvSpPr>
        <p:spPr>
          <a:xfrm>
            <a:off x="3485780" y="2247094"/>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1667052" y="1698812"/>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有效线索数量金额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Rectangle: Rounded Corners 92"/>
          <p:cNvSpPr/>
          <p:nvPr>
            <p:custDataLst>
              <p:tags r:id="rId10"/>
            </p:custDataLst>
          </p:nvPr>
        </p:nvSpPr>
        <p:spPr>
          <a:xfrm>
            <a:off x="1667052" y="4343457"/>
            <a:ext cx="1296000" cy="477094"/>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市场活动投入产出比</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8" name="Connector: Elbow 261"/>
          <p:cNvCxnSpPr>
            <a:stCxn id="11" idx="3"/>
            <a:endCxn id="16" idx="1"/>
          </p:cNvCxnSpPr>
          <p:nvPr>
            <p:custDataLst>
              <p:tags r:id="rId11"/>
            </p:custDataLst>
          </p:nvPr>
        </p:nvCxnSpPr>
        <p:spPr>
          <a:xfrm flipV="1">
            <a:off x="1063078" y="1937751"/>
            <a:ext cx="603974" cy="1437145"/>
          </a:xfrm>
          <a:prstGeom prst="bentConnector3">
            <a:avLst>
              <a:gd name="adj1" fmla="val 50000"/>
            </a:avLst>
          </a:prstGeom>
          <a:noFill/>
          <a:ln w="19050" cap="flat" cmpd="sng" algn="ctr">
            <a:solidFill>
              <a:srgbClr val="009F9A"/>
            </a:solidFill>
            <a:prstDash val="solid"/>
          </a:ln>
          <a:effectLst/>
        </p:spPr>
      </p:cxnSp>
      <p:cxnSp>
        <p:nvCxnSpPr>
          <p:cNvPr id="19" name="Connector: Elbow 261"/>
          <p:cNvCxnSpPr>
            <a:stCxn id="11" idx="3"/>
            <a:endCxn id="17" idx="1"/>
          </p:cNvCxnSpPr>
          <p:nvPr>
            <p:custDataLst>
              <p:tags r:id="rId12"/>
            </p:custDataLst>
          </p:nvPr>
        </p:nvCxnSpPr>
        <p:spPr>
          <a:xfrm>
            <a:off x="1063078" y="3374896"/>
            <a:ext cx="603974" cy="1207108"/>
          </a:xfrm>
          <a:prstGeom prst="bentConnector3">
            <a:avLst>
              <a:gd name="adj1" fmla="val 50000"/>
            </a:avLst>
          </a:prstGeom>
          <a:noFill/>
          <a:ln w="19050" cap="flat" cmpd="sng" algn="ctr">
            <a:solidFill>
              <a:srgbClr val="009F9A"/>
            </a:solidFill>
            <a:prstDash val="solid"/>
          </a:ln>
          <a:effectLst/>
        </p:spPr>
      </p:cxnSp>
      <p:sp>
        <p:nvSpPr>
          <p:cNvPr id="20" name="Rectangle: Rounded Corners 92"/>
          <p:cNvSpPr/>
          <p:nvPr>
            <p:custDataLst>
              <p:tags r:id="rId13"/>
            </p:custDataLst>
          </p:nvPr>
        </p:nvSpPr>
        <p:spPr>
          <a:xfrm>
            <a:off x="1656759" y="3713893"/>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赢单数量金额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1" name="连接符: 肘形 20"/>
          <p:cNvCxnSpPr>
            <a:stCxn id="11" idx="3"/>
            <a:endCxn id="20" idx="1"/>
          </p:cNvCxnSpPr>
          <p:nvPr/>
        </p:nvCxnSpPr>
        <p:spPr>
          <a:xfrm>
            <a:off x="1063078" y="3374896"/>
            <a:ext cx="593681" cy="577936"/>
          </a:xfrm>
          <a:prstGeom prst="bentConnector3">
            <a:avLst/>
          </a:prstGeom>
          <a:noFill/>
          <a:ln w="19050" cap="flat" cmpd="sng" algn="ctr">
            <a:solidFill>
              <a:srgbClr val="009F9A"/>
            </a:solidFill>
            <a:prstDash val="solid"/>
          </a:ln>
          <a:effectLst/>
        </p:spPr>
      </p:cxnSp>
      <p:sp>
        <p:nvSpPr>
          <p:cNvPr id="22" name="Rectangle: Rounded Corners 163"/>
          <p:cNvSpPr/>
          <p:nvPr>
            <p:custDataLst>
              <p:tags r:id="rId14"/>
            </p:custDataLst>
          </p:nvPr>
        </p:nvSpPr>
        <p:spPr>
          <a:xfrm>
            <a:off x="3469450" y="2976180"/>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3" name="Rectangle: Rounded Corners 163"/>
          <p:cNvSpPr/>
          <p:nvPr>
            <p:custDataLst>
              <p:tags r:id="rId15"/>
            </p:custDataLst>
          </p:nvPr>
        </p:nvSpPr>
        <p:spPr>
          <a:xfrm>
            <a:off x="3494846" y="3790006"/>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4" name="连接符: 肘形 23"/>
          <p:cNvCxnSpPr>
            <a:stCxn id="9" idx="3"/>
            <a:endCxn id="15" idx="1"/>
          </p:cNvCxnSpPr>
          <p:nvPr/>
        </p:nvCxnSpPr>
        <p:spPr>
          <a:xfrm flipV="1">
            <a:off x="3023727" y="2510185"/>
            <a:ext cx="462053" cy="1000752"/>
          </a:xfrm>
          <a:prstGeom prst="bentConnector3">
            <a:avLst/>
          </a:prstGeom>
          <a:noFill/>
          <a:ln w="19050" cap="flat" cmpd="sng" algn="ctr">
            <a:solidFill>
              <a:srgbClr val="009F9A"/>
            </a:solidFill>
            <a:prstDash val="solid"/>
          </a:ln>
          <a:effectLst/>
        </p:spPr>
      </p:cxnSp>
      <p:cxnSp>
        <p:nvCxnSpPr>
          <p:cNvPr id="25" name="连接符: 肘形 24"/>
          <p:cNvCxnSpPr>
            <a:stCxn id="9" idx="3"/>
            <a:endCxn id="22" idx="1"/>
          </p:cNvCxnSpPr>
          <p:nvPr/>
        </p:nvCxnSpPr>
        <p:spPr>
          <a:xfrm flipV="1">
            <a:off x="3023727" y="3239271"/>
            <a:ext cx="445723" cy="271666"/>
          </a:xfrm>
          <a:prstGeom prst="bentConnector3">
            <a:avLst/>
          </a:prstGeom>
          <a:noFill/>
          <a:ln w="19050" cap="flat" cmpd="sng" algn="ctr">
            <a:solidFill>
              <a:srgbClr val="009F9A"/>
            </a:solidFill>
            <a:prstDash val="solid"/>
          </a:ln>
          <a:effectLst/>
        </p:spPr>
      </p:cxnSp>
      <p:cxnSp>
        <p:nvCxnSpPr>
          <p:cNvPr id="26" name="连接符: 肘形 25"/>
          <p:cNvCxnSpPr>
            <a:stCxn id="9" idx="3"/>
            <a:endCxn id="23" idx="1"/>
          </p:cNvCxnSpPr>
          <p:nvPr/>
        </p:nvCxnSpPr>
        <p:spPr>
          <a:xfrm>
            <a:off x="3023727" y="3510937"/>
            <a:ext cx="471119" cy="542160"/>
          </a:xfrm>
          <a:prstGeom prst="bentConnector3">
            <a:avLst/>
          </a:prstGeom>
          <a:noFill/>
          <a:ln w="19050" cap="flat" cmpd="sng" algn="ctr">
            <a:solidFill>
              <a:srgbClr val="009F9A"/>
            </a:solidFill>
            <a:prstDash val="solid"/>
          </a:ln>
          <a:effectLst/>
        </p:spPr>
      </p:cxnSp>
      <p:sp>
        <p:nvSpPr>
          <p:cNvPr id="27" name="矩形 26"/>
          <p:cNvSpPr/>
          <p:nvPr/>
        </p:nvSpPr>
        <p:spPr>
          <a:xfrm>
            <a:off x="98580" y="6175140"/>
            <a:ext cx="11870263" cy="344343"/>
          </a:xfrm>
          <a:prstGeom prst="rect">
            <a:avLst/>
          </a:prstGeom>
          <a:solidFill>
            <a:srgbClr val="A9CCD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矩形 27"/>
          <p:cNvSpPr/>
          <p:nvPr>
            <p:custDataLst>
              <p:tags r:id="rId16"/>
            </p:custDataLst>
          </p:nvPr>
        </p:nvSpPr>
        <p:spPr>
          <a:xfrm>
            <a:off x="5278117" y="1525700"/>
            <a:ext cx="1519864" cy="3934608"/>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29" name="Rectangle: Rounded Corners 85"/>
          <p:cNvSpPr/>
          <p:nvPr>
            <p:custDataLst>
              <p:tags r:id="rId17"/>
            </p:custDataLst>
          </p:nvPr>
        </p:nvSpPr>
        <p:spPr>
          <a:xfrm>
            <a:off x="5431332" y="837844"/>
            <a:ext cx="126882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机会指标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0" name="Rectangle: Rounded Corners 163"/>
          <p:cNvSpPr/>
          <p:nvPr>
            <p:custDataLst>
              <p:tags r:id="rId18"/>
            </p:custDataLst>
          </p:nvPr>
        </p:nvSpPr>
        <p:spPr>
          <a:xfrm>
            <a:off x="5394477" y="4696442"/>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19"/>
            </p:custDataLst>
          </p:nvPr>
        </p:nvSpPr>
        <p:spPr>
          <a:xfrm>
            <a:off x="5385919" y="2327034"/>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20"/>
            </p:custDataLst>
          </p:nvPr>
        </p:nvSpPr>
        <p:spPr>
          <a:xfrm>
            <a:off x="5395497" y="3118285"/>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加号 32"/>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4" name="矩形 33"/>
          <p:cNvSpPr/>
          <p:nvPr/>
        </p:nvSpPr>
        <p:spPr bwMode="auto">
          <a:xfrm>
            <a:off x="1246566" y="5877549"/>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5" name="加号 34"/>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6" name="矩形 35"/>
          <p:cNvSpPr/>
          <p:nvPr/>
        </p:nvSpPr>
        <p:spPr bwMode="auto">
          <a:xfrm>
            <a:off x="4369680" y="5867127"/>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7" name="等号 36"/>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8" name="矩形 37"/>
          <p:cNvSpPr/>
          <p:nvPr/>
        </p:nvSpPr>
        <p:spPr bwMode="auto">
          <a:xfrm>
            <a:off x="7363252" y="5863046"/>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9" name="Rectangle: Rounded Corners 92"/>
          <p:cNvSpPr/>
          <p:nvPr>
            <p:custDataLst>
              <p:tags r:id="rId21"/>
            </p:custDataLst>
          </p:nvPr>
        </p:nvSpPr>
        <p:spPr>
          <a:xfrm>
            <a:off x="1667052" y="2391872"/>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有效商机数量金额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0" name="连接符: 肘形 39"/>
          <p:cNvCxnSpPr>
            <a:stCxn id="11" idx="3"/>
            <a:endCxn id="39" idx="1"/>
          </p:cNvCxnSpPr>
          <p:nvPr/>
        </p:nvCxnSpPr>
        <p:spPr>
          <a:xfrm flipV="1">
            <a:off x="1063078" y="2630811"/>
            <a:ext cx="603974" cy="744085"/>
          </a:xfrm>
          <a:prstGeom prst="bentConnector3">
            <a:avLst/>
          </a:prstGeom>
          <a:noFill/>
          <a:ln w="19050" cap="flat" cmpd="sng" algn="ctr">
            <a:solidFill>
              <a:srgbClr val="009F9A"/>
            </a:solidFill>
            <a:prstDash val="solid"/>
          </a:ln>
          <a:effectLst/>
        </p:spPr>
      </p:cxnSp>
      <p:sp>
        <p:nvSpPr>
          <p:cNvPr id="41" name="Rectangle: Rounded Corners 163"/>
          <p:cNvSpPr/>
          <p:nvPr>
            <p:custDataLst>
              <p:tags r:id="rId22"/>
            </p:custDataLst>
          </p:nvPr>
        </p:nvSpPr>
        <p:spPr>
          <a:xfrm>
            <a:off x="5394477" y="3925487"/>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2" name="Rectangle: Rounded Corners 163"/>
          <p:cNvSpPr/>
          <p:nvPr>
            <p:custDataLst>
              <p:tags r:id="rId23"/>
            </p:custDataLst>
          </p:nvPr>
        </p:nvSpPr>
        <p:spPr>
          <a:xfrm>
            <a:off x="5371629" y="1563961"/>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应用场景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pic>
        <p:nvPicPr>
          <p:cNvPr id="43" name="图片 42"/>
          <p:cNvPicPr>
            <a:picLocks noChangeAspect="1"/>
          </p:cNvPicPr>
          <p:nvPr/>
        </p:nvPicPr>
        <p:blipFill>
          <a:blip r:embed="rId24"/>
          <a:stretch>
            <a:fillRect/>
          </a:stretch>
        </p:blipFill>
        <p:spPr>
          <a:xfrm>
            <a:off x="6950529" y="5031118"/>
            <a:ext cx="4785069" cy="424614"/>
          </a:xfrm>
          <a:prstGeom prst="rect">
            <a:avLst/>
          </a:prstGeom>
          <a:ln>
            <a:solidFill>
              <a:srgbClr val="0070C0"/>
            </a:solidFill>
          </a:ln>
        </p:spPr>
      </p:pic>
      <p:sp>
        <p:nvSpPr>
          <p:cNvPr id="44" name="Rectangle: Rounded Corners 92"/>
          <p:cNvSpPr/>
          <p:nvPr>
            <p:custDataLst>
              <p:tags r:id="rId25"/>
            </p:custDataLst>
          </p:nvPr>
        </p:nvSpPr>
        <p:spPr>
          <a:xfrm>
            <a:off x="1660578" y="3060027"/>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预测销售数量金额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5" name="连接符: 肘形 44"/>
          <p:cNvCxnSpPr>
            <a:stCxn id="11" idx="3"/>
            <a:endCxn id="44" idx="1"/>
          </p:cNvCxnSpPr>
          <p:nvPr/>
        </p:nvCxnSpPr>
        <p:spPr>
          <a:xfrm flipV="1">
            <a:off x="1063078" y="3298966"/>
            <a:ext cx="597500" cy="75930"/>
          </a:xfrm>
          <a:prstGeom prst="bentConnector3">
            <a:avLst/>
          </a:prstGeom>
          <a:noFill/>
          <a:ln w="19050" cap="flat" cmpd="sng" algn="ctr">
            <a:solidFill>
              <a:srgbClr val="009F9A"/>
            </a:solidFill>
            <a:prstDash val="solid"/>
          </a:ln>
          <a:effectLst/>
        </p:spPr>
      </p:cxnSp>
      <p:pic>
        <p:nvPicPr>
          <p:cNvPr id="46" name="图片 45"/>
          <p:cNvPicPr>
            <a:picLocks noChangeAspect="1"/>
          </p:cNvPicPr>
          <p:nvPr/>
        </p:nvPicPr>
        <p:blipFill>
          <a:blip r:embed="rId26"/>
          <a:stretch>
            <a:fillRect/>
          </a:stretch>
        </p:blipFill>
        <p:spPr>
          <a:xfrm>
            <a:off x="6945086" y="1534690"/>
            <a:ext cx="4785069" cy="1502292"/>
          </a:xfrm>
          <a:prstGeom prst="rect">
            <a:avLst/>
          </a:prstGeom>
          <a:ln>
            <a:solidFill>
              <a:srgbClr val="009F9A"/>
            </a:solidFill>
          </a:ln>
        </p:spPr>
      </p:pic>
      <p:sp>
        <p:nvSpPr>
          <p:cNvPr id="47" name="矩形 46"/>
          <p:cNvSpPr/>
          <p:nvPr/>
        </p:nvSpPr>
        <p:spPr>
          <a:xfrm>
            <a:off x="9078683" y="2123835"/>
            <a:ext cx="1217662" cy="276860"/>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8" name="矩形 47"/>
          <p:cNvSpPr/>
          <p:nvPr/>
        </p:nvSpPr>
        <p:spPr>
          <a:xfrm>
            <a:off x="7739621" y="2118392"/>
            <a:ext cx="468205" cy="276860"/>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9" name="箭头: 下 48"/>
          <p:cNvSpPr/>
          <p:nvPr/>
        </p:nvSpPr>
        <p:spPr bwMode="auto">
          <a:xfrm rot="16200000">
            <a:off x="6319846" y="2045693"/>
            <a:ext cx="1129553" cy="431804"/>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pic>
        <p:nvPicPr>
          <p:cNvPr id="50" name="图片 49"/>
          <p:cNvPicPr>
            <a:picLocks noChangeAspect="1"/>
          </p:cNvPicPr>
          <p:nvPr/>
        </p:nvPicPr>
        <p:blipFill>
          <a:blip r:embed="rId27"/>
          <a:stretch>
            <a:fillRect/>
          </a:stretch>
        </p:blipFill>
        <p:spPr>
          <a:xfrm>
            <a:off x="6950528" y="3334986"/>
            <a:ext cx="4785069" cy="1678027"/>
          </a:xfrm>
          <a:prstGeom prst="rect">
            <a:avLst/>
          </a:prstGeom>
          <a:ln>
            <a:solidFill>
              <a:srgbClr val="009F9A"/>
            </a:solidFill>
          </a:ln>
        </p:spPr>
      </p:pic>
      <p:cxnSp>
        <p:nvCxnSpPr>
          <p:cNvPr id="51" name="直接箭头连接符 50"/>
          <p:cNvCxnSpPr>
            <a:stCxn id="46" idx="2"/>
            <a:endCxn id="50" idx="0"/>
          </p:cNvCxnSpPr>
          <p:nvPr/>
        </p:nvCxnSpPr>
        <p:spPr>
          <a:xfrm>
            <a:off x="9337621" y="3036982"/>
            <a:ext cx="5442" cy="298004"/>
          </a:xfrm>
          <a:prstGeom prst="straightConnector1">
            <a:avLst/>
          </a:prstGeom>
          <a:noFill/>
          <a:ln w="28575" cap="flat">
            <a:solidFill>
              <a:srgbClr val="009F9A"/>
            </a:solidFill>
            <a:prstDash val="solid"/>
            <a:miter lim="800000"/>
            <a:tailEnd type="triangle"/>
          </a:ln>
          <a:effectLst/>
        </p:spPr>
      </p:cxnSp>
      <p:sp>
        <p:nvSpPr>
          <p:cNvPr id="52" name="Rectangle: Rounded Corners 85"/>
          <p:cNvSpPr/>
          <p:nvPr>
            <p:custDataLst>
              <p:tags r:id="rId28"/>
            </p:custDataLst>
          </p:nvPr>
        </p:nvSpPr>
        <p:spPr>
          <a:xfrm>
            <a:off x="8605806" y="848730"/>
            <a:ext cx="1833594"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机会指标</a:t>
            </a:r>
            <a:endParaRPr lang="en-US" altLang="zh-CN"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三级：过程指标</a:t>
            </a:r>
            <a:endPar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53" name="矩形 52"/>
          <p:cNvSpPr/>
          <p:nvPr/>
        </p:nvSpPr>
        <p:spPr>
          <a:xfrm>
            <a:off x="8997043" y="1604204"/>
            <a:ext cx="1386650" cy="276860"/>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54" name="Rectangle: Rounded Corners 92"/>
          <p:cNvSpPr/>
          <p:nvPr>
            <p:custDataLst>
              <p:tags r:id="rId29"/>
            </p:custDataLst>
          </p:nvPr>
        </p:nvSpPr>
        <p:spPr>
          <a:xfrm>
            <a:off x="1657873" y="4948248"/>
            <a:ext cx="1296000" cy="477094"/>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市占率</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55" name="连接符: 肘形 54"/>
          <p:cNvCxnSpPr>
            <a:stCxn id="11" idx="3"/>
            <a:endCxn id="54" idx="1"/>
          </p:cNvCxnSpPr>
          <p:nvPr/>
        </p:nvCxnSpPr>
        <p:spPr>
          <a:xfrm>
            <a:off x="1063078" y="3374896"/>
            <a:ext cx="594795" cy="1811899"/>
          </a:xfrm>
          <a:prstGeom prst="bentConnector3">
            <a:avLst/>
          </a:prstGeom>
          <a:noFill/>
          <a:ln w="19050" cap="flat" cmpd="sng" algn="ctr">
            <a:solidFill>
              <a:srgbClr val="009F9A"/>
            </a:solidFill>
            <a:prstDash val="solid"/>
          </a:ln>
          <a:effec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A-2</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收入分析示例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5184016"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3389435" y="1520258"/>
            <a:ext cx="1519864" cy="3940050"/>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1604724" y="1540912"/>
            <a:ext cx="1419003" cy="3940050"/>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75393"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342988" y="2801808"/>
            <a:ext cx="720090" cy="114617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收入-</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95938" y="826958"/>
            <a:ext cx="99672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1757400" y="826958"/>
            <a:ext cx="94361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3564422" y="826958"/>
            <a:ext cx="138747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3485780" y="2247094"/>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1667052" y="1698812"/>
            <a:ext cx="1296000" cy="93915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智慧显示收入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-屏体收入</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-Sparts收入</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-工程服务收入</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-增值收入</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1667052" y="4800663"/>
            <a:ext cx="1296000" cy="477094"/>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noProof="0" dirty="0">
                <a:ln>
                  <a:noFill/>
                </a:ln>
                <a:solidFill>
                  <a:prstClr val="black"/>
                </a:solidFill>
                <a:effectLst/>
                <a:uLnTx/>
                <a:uFillTx/>
                <a:latin typeface="微软雅黑" charset="0"/>
                <a:ea typeface="微软雅黑" charset="0"/>
                <a:cs typeface="Helvetica" charset="0"/>
              </a:rPr>
              <a:t>……</a:t>
            </a:r>
          </a:p>
        </p:txBody>
      </p:sp>
      <p:cxnSp>
        <p:nvCxnSpPr>
          <p:cNvPr id="17" name="Connector: Elbow 261"/>
          <p:cNvCxnSpPr>
            <a:stCxn id="10" idx="3"/>
            <a:endCxn id="15" idx="1"/>
          </p:cNvCxnSpPr>
          <p:nvPr>
            <p:custDataLst>
              <p:tags r:id="rId10"/>
            </p:custDataLst>
          </p:nvPr>
        </p:nvCxnSpPr>
        <p:spPr>
          <a:xfrm flipV="1">
            <a:off x="1062990" y="2168525"/>
            <a:ext cx="603885" cy="1206500"/>
          </a:xfrm>
          <a:prstGeom prst="bentConnector3">
            <a:avLst>
              <a:gd name="adj1" fmla="val 50053"/>
            </a:avLst>
          </a:prstGeom>
          <a:noFill/>
          <a:ln w="19050" cap="flat" cmpd="sng" algn="ctr">
            <a:solidFill>
              <a:srgbClr val="009F9A"/>
            </a:solidFill>
            <a:prstDash val="solid"/>
          </a:ln>
          <a:effectLst/>
        </p:spPr>
      </p:cxnSp>
      <p:cxnSp>
        <p:nvCxnSpPr>
          <p:cNvPr id="18" name="Connector: Elbow 261"/>
          <p:cNvCxnSpPr>
            <a:stCxn id="10" idx="3"/>
            <a:endCxn id="16" idx="1"/>
          </p:cNvCxnSpPr>
          <p:nvPr>
            <p:custDataLst>
              <p:tags r:id="rId11"/>
            </p:custDataLst>
          </p:nvPr>
        </p:nvCxnSpPr>
        <p:spPr>
          <a:xfrm>
            <a:off x="1062990" y="3375025"/>
            <a:ext cx="603885" cy="1664335"/>
          </a:xfrm>
          <a:prstGeom prst="bentConnector3">
            <a:avLst>
              <a:gd name="adj1" fmla="val 50053"/>
            </a:avLst>
          </a:prstGeom>
          <a:noFill/>
          <a:ln w="19050" cap="flat" cmpd="sng" algn="ctr">
            <a:solidFill>
              <a:srgbClr val="009F9A"/>
            </a:solidFill>
            <a:prstDash val="solid"/>
          </a:ln>
          <a:effectLst/>
        </p:spPr>
      </p:cxnSp>
      <p:sp>
        <p:nvSpPr>
          <p:cNvPr id="19" name="Rectangle: Rounded Corners 92"/>
          <p:cNvSpPr/>
          <p:nvPr>
            <p:custDataLst>
              <p:tags r:id="rId12"/>
            </p:custDataLst>
          </p:nvPr>
        </p:nvSpPr>
        <p:spPr>
          <a:xfrm>
            <a:off x="1667049" y="3855171"/>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noProof="0" dirty="0">
                <a:ln>
                  <a:noFill/>
                </a:ln>
                <a:solidFill>
                  <a:prstClr val="black"/>
                </a:solidFill>
                <a:effectLst/>
                <a:uLnTx/>
                <a:uFillTx/>
                <a:latin typeface="微软雅黑" charset="0"/>
                <a:ea typeface="微软雅黑" charset="0"/>
                <a:cs typeface="Helvetica" charset="0"/>
              </a:rPr>
              <a:t>……</a:t>
            </a:r>
          </a:p>
        </p:txBody>
      </p:sp>
      <p:cxnSp>
        <p:nvCxnSpPr>
          <p:cNvPr id="20" name="连接符: 肘形 19"/>
          <p:cNvCxnSpPr>
            <a:stCxn id="10" idx="3"/>
            <a:endCxn id="19" idx="1"/>
          </p:cNvCxnSpPr>
          <p:nvPr/>
        </p:nvCxnSpPr>
        <p:spPr>
          <a:xfrm>
            <a:off x="1062990" y="3375025"/>
            <a:ext cx="603885" cy="719455"/>
          </a:xfrm>
          <a:prstGeom prst="bentConnector3">
            <a:avLst>
              <a:gd name="adj1" fmla="val 50053"/>
            </a:avLst>
          </a:prstGeom>
          <a:noFill/>
          <a:ln w="19050" cap="flat" cmpd="sng" algn="ctr">
            <a:solidFill>
              <a:srgbClr val="009F9A"/>
            </a:solidFill>
            <a:prstDash val="solid"/>
          </a:ln>
          <a:effectLst/>
        </p:spPr>
      </p:cxnSp>
      <p:sp>
        <p:nvSpPr>
          <p:cNvPr id="21" name="Rectangle: Rounded Corners 163"/>
          <p:cNvSpPr/>
          <p:nvPr>
            <p:custDataLst>
              <p:tags r:id="rId13"/>
            </p:custDataLst>
          </p:nvPr>
        </p:nvSpPr>
        <p:spPr>
          <a:xfrm>
            <a:off x="3469450" y="2976180"/>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4"/>
            </p:custDataLst>
          </p:nvPr>
        </p:nvSpPr>
        <p:spPr>
          <a:xfrm>
            <a:off x="3494846" y="3790006"/>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3023727" y="2510185"/>
            <a:ext cx="462053" cy="1000752"/>
          </a:xfrm>
          <a:prstGeom prst="bentConnector3">
            <a:avLst/>
          </a:prstGeom>
          <a:noFill/>
          <a:ln w="19050" cap="flat" cmpd="sng" algn="ctr">
            <a:solidFill>
              <a:srgbClr val="009F9A"/>
            </a:solidFill>
            <a:prstDash val="solid"/>
          </a:ln>
          <a:effectLst/>
        </p:spPr>
      </p:cxnSp>
      <p:cxnSp>
        <p:nvCxnSpPr>
          <p:cNvPr id="24" name="连接符: 肘形 23"/>
          <p:cNvCxnSpPr>
            <a:stCxn id="8" idx="3"/>
            <a:endCxn id="21" idx="1"/>
          </p:cNvCxnSpPr>
          <p:nvPr/>
        </p:nvCxnSpPr>
        <p:spPr>
          <a:xfrm flipV="1">
            <a:off x="3023727" y="3239271"/>
            <a:ext cx="445723" cy="271666"/>
          </a:xfrm>
          <a:prstGeom prst="bentConnector3">
            <a:avLst/>
          </a:prstGeom>
          <a:noFill/>
          <a:ln w="19050" cap="flat" cmpd="sng" algn="ctr">
            <a:solidFill>
              <a:srgbClr val="009F9A"/>
            </a:solidFill>
            <a:prstDash val="solid"/>
          </a:ln>
          <a:effectLst/>
        </p:spPr>
      </p:cxnSp>
      <p:cxnSp>
        <p:nvCxnSpPr>
          <p:cNvPr id="25" name="连接符: 肘形 24"/>
          <p:cNvCxnSpPr>
            <a:stCxn id="8" idx="3"/>
            <a:endCxn id="22" idx="1"/>
          </p:cNvCxnSpPr>
          <p:nvPr/>
        </p:nvCxnSpPr>
        <p:spPr>
          <a:xfrm>
            <a:off x="3023727" y="3510937"/>
            <a:ext cx="471119" cy="542160"/>
          </a:xfrm>
          <a:prstGeom prst="bentConnector3">
            <a:avLst/>
          </a:prstGeom>
          <a:noFill/>
          <a:ln w="19050" cap="flat" cmpd="sng" algn="ctr">
            <a:solidFill>
              <a:srgbClr val="009F9A"/>
            </a:solidFill>
            <a:prstDash val="solid"/>
          </a:ln>
          <a:effectLst/>
        </p:spPr>
      </p:cxnSp>
      <p:sp>
        <p:nvSpPr>
          <p:cNvPr id="26" name="Freeform: Shape 314"/>
          <p:cNvSpPr/>
          <p:nvPr>
            <p:custDataLst>
              <p:tags r:id="rId15"/>
            </p:custDataLst>
          </p:nvPr>
        </p:nvSpPr>
        <p:spPr>
          <a:xfrm>
            <a:off x="7119252" y="766623"/>
            <a:ext cx="4931231"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27" name="Rectangle: Rounded Corners 85"/>
          <p:cNvSpPr/>
          <p:nvPr>
            <p:custDataLst>
              <p:tags r:id="rId16"/>
            </p:custDataLst>
          </p:nvPr>
        </p:nvSpPr>
        <p:spPr>
          <a:xfrm>
            <a:off x="8605806" y="848730"/>
            <a:ext cx="1833594"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三级：过程指标</a:t>
            </a:r>
            <a:endPar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28" name="矩形 27"/>
          <p:cNvSpPr/>
          <p:nvPr/>
        </p:nvSpPr>
        <p:spPr>
          <a:xfrm>
            <a:off x="98580" y="6175140"/>
            <a:ext cx="11870263" cy="344343"/>
          </a:xfrm>
          <a:prstGeom prst="rect">
            <a:avLst/>
          </a:prstGeom>
          <a:solidFill>
            <a:srgbClr val="A9CCD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7"/>
            </p:custDataLst>
          </p:nvPr>
        </p:nvSpPr>
        <p:spPr>
          <a:xfrm>
            <a:off x="5278117" y="1525700"/>
            <a:ext cx="1519864" cy="3940050"/>
          </a:xfrm>
          <a:prstGeom prst="rect">
            <a:avLst/>
          </a:prstGeom>
          <a:solidFill>
            <a:srgbClr val="B7D7D7"/>
          </a:solidFill>
          <a:ln w="9525" cap="flat" cmpd="sng" algn="ctr">
            <a:solidFill>
              <a:srgbClr val="009F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8"/>
            </p:custDataLst>
          </p:nvPr>
        </p:nvSpPr>
        <p:spPr>
          <a:xfrm>
            <a:off x="5453104" y="826958"/>
            <a:ext cx="138747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19"/>
            </p:custDataLst>
          </p:nvPr>
        </p:nvSpPr>
        <p:spPr>
          <a:xfrm>
            <a:off x="5391159" y="3928715"/>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20"/>
            </p:custDataLst>
          </p:nvPr>
        </p:nvSpPr>
        <p:spPr>
          <a:xfrm>
            <a:off x="5363575" y="2406690"/>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Rectangle: Rounded Corners 163"/>
          <p:cNvSpPr/>
          <p:nvPr>
            <p:custDataLst>
              <p:tags r:id="rId21"/>
            </p:custDataLst>
          </p:nvPr>
        </p:nvSpPr>
        <p:spPr>
          <a:xfrm>
            <a:off x="5383528" y="3165763"/>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22"/>
            </p:custDataLst>
          </p:nvPr>
        </p:nvSpPr>
        <p:spPr>
          <a:xfrm>
            <a:off x="1667049" y="2897040"/>
            <a:ext cx="1296000" cy="60529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照明收入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-灯具</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-智慧杆</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a:endCxn id="40" idx="1"/>
          </p:cNvCxnSpPr>
          <p:nvPr/>
        </p:nvCxnSpPr>
        <p:spPr>
          <a:xfrm flipV="1">
            <a:off x="1062990" y="3199765"/>
            <a:ext cx="603885" cy="175260"/>
          </a:xfrm>
          <a:prstGeom prst="bentConnector3">
            <a:avLst>
              <a:gd name="adj1" fmla="val 50053"/>
            </a:avLst>
          </a:prstGeom>
          <a:noFill/>
          <a:ln w="19050" cap="flat" cmpd="sng" algn="ctr">
            <a:solidFill>
              <a:srgbClr val="009F9A"/>
            </a:solidFill>
            <a:prstDash val="solid"/>
          </a:ln>
          <a:effectLst/>
        </p:spPr>
      </p:cxnSp>
      <p:pic>
        <p:nvPicPr>
          <p:cNvPr id="42" name="图片 41"/>
          <p:cNvPicPr>
            <a:picLocks noChangeAspect="1"/>
          </p:cNvPicPr>
          <p:nvPr/>
        </p:nvPicPr>
        <p:blipFill>
          <a:blip r:embed="rId23"/>
          <a:stretch>
            <a:fillRect/>
          </a:stretch>
        </p:blipFill>
        <p:spPr>
          <a:xfrm>
            <a:off x="9634800" y="3429001"/>
            <a:ext cx="2323959" cy="2031307"/>
          </a:xfrm>
          <a:prstGeom prst="rect">
            <a:avLst/>
          </a:prstGeom>
          <a:ln>
            <a:solidFill>
              <a:srgbClr val="0070C0"/>
            </a:solidFill>
          </a:ln>
        </p:spPr>
      </p:pic>
      <p:pic>
        <p:nvPicPr>
          <p:cNvPr id="43" name="图片 42"/>
          <p:cNvPicPr>
            <a:picLocks noChangeAspect="1"/>
          </p:cNvPicPr>
          <p:nvPr/>
        </p:nvPicPr>
        <p:blipFill>
          <a:blip r:embed="rId24"/>
          <a:stretch>
            <a:fillRect/>
          </a:stretch>
        </p:blipFill>
        <p:spPr>
          <a:xfrm>
            <a:off x="7173689" y="1545578"/>
            <a:ext cx="4785069" cy="1502292"/>
          </a:xfrm>
          <a:prstGeom prst="rect">
            <a:avLst/>
          </a:prstGeom>
          <a:ln>
            <a:solidFill>
              <a:srgbClr val="009F9A"/>
            </a:solidFill>
          </a:ln>
        </p:spPr>
      </p:pic>
      <p:cxnSp>
        <p:nvCxnSpPr>
          <p:cNvPr id="44" name="直接箭头连接符 43"/>
          <p:cNvCxnSpPr>
            <a:endCxn id="42" idx="0"/>
          </p:cNvCxnSpPr>
          <p:nvPr/>
        </p:nvCxnSpPr>
        <p:spPr>
          <a:xfrm flipV="1">
            <a:off x="10755091" y="3429001"/>
            <a:ext cx="41689" cy="520602"/>
          </a:xfrm>
          <a:prstGeom prst="straightConnector1">
            <a:avLst/>
          </a:prstGeom>
          <a:noFill/>
          <a:ln w="12700" cap="flat">
            <a:solidFill>
              <a:srgbClr val="009F9A"/>
            </a:solidFill>
            <a:prstDash val="solid"/>
            <a:miter lim="800000"/>
            <a:tailEnd type="triangle"/>
          </a:ln>
          <a:effectLst/>
        </p:spPr>
      </p:cxnSp>
      <p:sp>
        <p:nvSpPr>
          <p:cNvPr id="45" name="矩形 44"/>
          <p:cNvSpPr/>
          <p:nvPr/>
        </p:nvSpPr>
        <p:spPr>
          <a:xfrm>
            <a:off x="9307286" y="2134723"/>
            <a:ext cx="1217662" cy="276860"/>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6" name="Rectangle: Rounded Corners 163"/>
          <p:cNvSpPr/>
          <p:nvPr>
            <p:custDataLst>
              <p:tags r:id="rId25"/>
            </p:custDataLst>
          </p:nvPr>
        </p:nvSpPr>
        <p:spPr>
          <a:xfrm>
            <a:off x="5394477" y="4698246"/>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7" name="矩形 46"/>
          <p:cNvSpPr/>
          <p:nvPr/>
        </p:nvSpPr>
        <p:spPr>
          <a:xfrm>
            <a:off x="7968224" y="2129280"/>
            <a:ext cx="468205" cy="276860"/>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8" name="Rectangle: Rounded Corners 163"/>
          <p:cNvSpPr/>
          <p:nvPr>
            <p:custDataLst>
              <p:tags r:id="rId26"/>
            </p:custDataLst>
          </p:nvPr>
        </p:nvSpPr>
        <p:spPr>
          <a:xfrm>
            <a:off x="5372578" y="1615558"/>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应用市场</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pic>
        <p:nvPicPr>
          <p:cNvPr id="49" name="图片 48"/>
          <p:cNvPicPr>
            <a:picLocks noChangeAspect="1"/>
          </p:cNvPicPr>
          <p:nvPr/>
        </p:nvPicPr>
        <p:blipFill>
          <a:blip r:embed="rId27"/>
          <a:stretch>
            <a:fillRect/>
          </a:stretch>
        </p:blipFill>
        <p:spPr>
          <a:xfrm>
            <a:off x="7124836" y="3429001"/>
            <a:ext cx="2394721" cy="2031308"/>
          </a:xfrm>
          <a:prstGeom prst="rect">
            <a:avLst/>
          </a:prstGeom>
          <a:ln>
            <a:solidFill>
              <a:srgbClr val="009F9A"/>
            </a:solidFill>
          </a:ln>
        </p:spPr>
      </p:pic>
      <p:cxnSp>
        <p:nvCxnSpPr>
          <p:cNvPr id="50" name="直接箭头连接符 49"/>
          <p:cNvCxnSpPr/>
          <p:nvPr/>
        </p:nvCxnSpPr>
        <p:spPr>
          <a:xfrm>
            <a:off x="8153400" y="3047870"/>
            <a:ext cx="0" cy="381130"/>
          </a:xfrm>
          <a:prstGeom prst="straightConnector1">
            <a:avLst/>
          </a:prstGeom>
          <a:noFill/>
          <a:ln w="28575" cap="flat">
            <a:solidFill>
              <a:srgbClr val="009F9A"/>
            </a:solidFill>
            <a:prstDash val="solid"/>
            <a:miter lim="800000"/>
            <a:tailEnd type="triangle"/>
          </a:ln>
          <a:effectLst/>
        </p:spPr>
      </p:cxnSp>
      <p:sp>
        <p:nvSpPr>
          <p:cNvPr id="51" name="箭头: 下 50"/>
          <p:cNvSpPr/>
          <p:nvPr/>
        </p:nvSpPr>
        <p:spPr bwMode="auto">
          <a:xfrm rot="16200000">
            <a:off x="6382478"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52" name="直接箭头连接符 51"/>
          <p:cNvCxnSpPr/>
          <p:nvPr/>
        </p:nvCxnSpPr>
        <p:spPr>
          <a:xfrm>
            <a:off x="10657114" y="3047870"/>
            <a:ext cx="0" cy="381130"/>
          </a:xfrm>
          <a:prstGeom prst="straightConnector1">
            <a:avLst/>
          </a:prstGeom>
          <a:noFill/>
          <a:ln w="28575" cap="flat">
            <a:solidFill>
              <a:srgbClr val="009F9A"/>
            </a:solidFill>
            <a:prstDash val="solid"/>
            <a:miter lim="800000"/>
            <a:tailEnd type="triangle"/>
          </a:ln>
          <a:effec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A-3</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a:t>
            </a:r>
            <a:r>
              <a:rPr lang="zh-CN" altLang="en-US" dirty="0">
                <a:solidFill>
                  <a:srgbClr val="000000"/>
                </a:solidFill>
                <a:cs typeface="Helvetica"/>
                <a:sym typeface="+mn-ea"/>
              </a:rPr>
              <a:t>投入</a:t>
            </a:r>
            <a:r>
              <a:rPr lang="en-US" altLang="zh-CN" dirty="0">
                <a:solidFill>
                  <a:srgbClr val="000000"/>
                </a:solidFill>
                <a:cs typeface="Helvetica"/>
                <a:sym typeface="+mn-ea"/>
              </a:rPr>
              <a:t>-</a:t>
            </a:r>
            <a:r>
              <a:rPr lang="zh-CN" altLang="en-US" dirty="0">
                <a:solidFill>
                  <a:srgbClr val="000000"/>
                </a:solidFill>
                <a:cs typeface="Helvetica"/>
                <a:sym typeface="+mn-ea"/>
              </a:rPr>
              <a:t>主营成本’</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5184016"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3389435" y="1520258"/>
            <a:ext cx="1519864" cy="3940050"/>
          </a:xfrm>
          <a:prstGeom prst="rect">
            <a:avLst/>
          </a:prstGeom>
          <a:solidFill>
            <a:srgbClr val="B8D8D7"/>
          </a:solidFill>
          <a:ln w="9525" cap="flat" cmpd="sng" algn="ctr">
            <a:solidFill>
              <a:srgbClr val="04A2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1604724" y="1540912"/>
            <a:ext cx="1419003" cy="3940050"/>
          </a:xfrm>
          <a:prstGeom prst="rect">
            <a:avLst/>
          </a:prstGeom>
          <a:solidFill>
            <a:srgbClr val="B8D8D7"/>
          </a:solidFill>
          <a:ln w="9525" cap="flat" cmpd="sng" algn="ctr">
            <a:solidFill>
              <a:srgbClr val="04A2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75393"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342988" y="2801808"/>
            <a:ext cx="720090" cy="114617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投入</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主营业务成本</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95938"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1592928"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主营成本指标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3564422"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主营成本指标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3485780" y="2247094"/>
            <a:ext cx="1285103" cy="526181"/>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8" name="Connector: Elbow 261"/>
          <p:cNvCxnSpPr>
            <a:stCxn id="10" idx="3"/>
          </p:cNvCxnSpPr>
          <p:nvPr>
            <p:custDataLst>
              <p:tags r:id="rId8"/>
            </p:custDataLst>
          </p:nvPr>
        </p:nvCxnSpPr>
        <p:spPr>
          <a:xfrm>
            <a:off x="1063078" y="3374896"/>
            <a:ext cx="603974" cy="1664314"/>
          </a:xfrm>
          <a:prstGeom prst="bentConnector3">
            <a:avLst>
              <a:gd name="adj1" fmla="val 50000"/>
            </a:avLst>
          </a:prstGeom>
          <a:noFill/>
          <a:ln w="19050" cap="flat" cmpd="sng" algn="ctr">
            <a:solidFill>
              <a:srgbClr val="04A29A"/>
            </a:solidFill>
            <a:prstDash val="solid"/>
          </a:ln>
          <a:effectLst/>
        </p:spPr>
      </p:cxnSp>
      <p:cxnSp>
        <p:nvCxnSpPr>
          <p:cNvPr id="20" name="连接符: 肘形 19"/>
          <p:cNvCxnSpPr>
            <a:stCxn id="10" idx="3"/>
          </p:cNvCxnSpPr>
          <p:nvPr/>
        </p:nvCxnSpPr>
        <p:spPr>
          <a:xfrm>
            <a:off x="1063078" y="3374896"/>
            <a:ext cx="593681" cy="409210"/>
          </a:xfrm>
          <a:prstGeom prst="bentConnector3">
            <a:avLst/>
          </a:prstGeom>
          <a:noFill/>
          <a:ln w="19050" cap="flat" cmpd="sng" algn="ctr">
            <a:solidFill>
              <a:srgbClr val="04A29A"/>
            </a:solidFill>
            <a:prstDash val="solid"/>
          </a:ln>
          <a:effectLst/>
        </p:spPr>
      </p:cxnSp>
      <p:sp>
        <p:nvSpPr>
          <p:cNvPr id="21" name="Rectangle: Rounded Corners 163"/>
          <p:cNvSpPr/>
          <p:nvPr>
            <p:custDataLst>
              <p:tags r:id="rId9"/>
            </p:custDataLst>
          </p:nvPr>
        </p:nvSpPr>
        <p:spPr>
          <a:xfrm>
            <a:off x="3469450" y="2976180"/>
            <a:ext cx="1285103" cy="526181"/>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0"/>
            </p:custDataLst>
          </p:nvPr>
        </p:nvSpPr>
        <p:spPr>
          <a:xfrm>
            <a:off x="3494846" y="3790006"/>
            <a:ext cx="1285103" cy="526181"/>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3023727" y="2510185"/>
            <a:ext cx="462053" cy="1000752"/>
          </a:xfrm>
          <a:prstGeom prst="bentConnector3">
            <a:avLst/>
          </a:prstGeom>
          <a:noFill/>
          <a:ln w="19050" cap="flat" cmpd="sng" algn="ctr">
            <a:solidFill>
              <a:srgbClr val="04A29A"/>
            </a:solidFill>
            <a:prstDash val="solid"/>
          </a:ln>
          <a:effectLst/>
        </p:spPr>
      </p:cxnSp>
      <p:cxnSp>
        <p:nvCxnSpPr>
          <p:cNvPr id="24" name="连接符: 肘形 23"/>
          <p:cNvCxnSpPr>
            <a:stCxn id="8" idx="3"/>
            <a:endCxn id="21" idx="1"/>
          </p:cNvCxnSpPr>
          <p:nvPr/>
        </p:nvCxnSpPr>
        <p:spPr>
          <a:xfrm flipV="1">
            <a:off x="3023727" y="3239271"/>
            <a:ext cx="445723" cy="271666"/>
          </a:xfrm>
          <a:prstGeom prst="bentConnector3">
            <a:avLst/>
          </a:prstGeom>
          <a:noFill/>
          <a:ln w="19050" cap="flat" cmpd="sng" algn="ctr">
            <a:solidFill>
              <a:srgbClr val="04A29A"/>
            </a:solidFill>
            <a:prstDash val="solid"/>
          </a:ln>
          <a:effectLst/>
        </p:spPr>
      </p:cxnSp>
      <p:cxnSp>
        <p:nvCxnSpPr>
          <p:cNvPr id="25" name="连接符: 肘形 24"/>
          <p:cNvCxnSpPr>
            <a:stCxn id="8" idx="3"/>
            <a:endCxn id="22" idx="1"/>
          </p:cNvCxnSpPr>
          <p:nvPr/>
        </p:nvCxnSpPr>
        <p:spPr>
          <a:xfrm>
            <a:off x="3023727" y="3510937"/>
            <a:ext cx="471119" cy="542160"/>
          </a:xfrm>
          <a:prstGeom prst="bentConnector3">
            <a:avLst/>
          </a:prstGeom>
          <a:noFill/>
          <a:ln w="19050" cap="flat" cmpd="sng" algn="ctr">
            <a:solidFill>
              <a:srgbClr val="04A29A"/>
            </a:solidFill>
            <a:prstDash val="solid"/>
          </a:ln>
          <a:effectLst/>
        </p:spPr>
      </p:cxnSp>
      <p:sp>
        <p:nvSpPr>
          <p:cNvPr id="26" name="Freeform: Shape 314"/>
          <p:cNvSpPr/>
          <p:nvPr>
            <p:custDataLst>
              <p:tags r:id="rId11"/>
            </p:custDataLst>
          </p:nvPr>
        </p:nvSpPr>
        <p:spPr>
          <a:xfrm>
            <a:off x="7119252" y="766623"/>
            <a:ext cx="4931231"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27" name="Rectangle: Rounded Corners 85"/>
          <p:cNvSpPr/>
          <p:nvPr>
            <p:custDataLst>
              <p:tags r:id="rId12"/>
            </p:custDataLst>
          </p:nvPr>
        </p:nvSpPr>
        <p:spPr>
          <a:xfrm>
            <a:off x="8605806" y="848729"/>
            <a:ext cx="1833594"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主营成本指标</a:t>
            </a:r>
            <a:endParaRPr lang="en-US" altLang="zh-CN"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三级：过程指标</a:t>
            </a:r>
            <a:endPar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28" name="矩形 27"/>
          <p:cNvSpPr/>
          <p:nvPr/>
        </p:nvSpPr>
        <p:spPr>
          <a:xfrm>
            <a:off x="98580" y="6175140"/>
            <a:ext cx="11870263"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3"/>
            </p:custDataLst>
          </p:nvPr>
        </p:nvSpPr>
        <p:spPr>
          <a:xfrm>
            <a:off x="5278117" y="1525700"/>
            <a:ext cx="1519864" cy="3940050"/>
          </a:xfrm>
          <a:prstGeom prst="rect">
            <a:avLst/>
          </a:prstGeom>
          <a:solidFill>
            <a:srgbClr val="B8D8D7"/>
          </a:solidFill>
          <a:ln w="9525" cap="flat" cmpd="sng" algn="ctr">
            <a:solidFill>
              <a:srgbClr val="04A2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4"/>
            </p:custDataLst>
          </p:nvPr>
        </p:nvSpPr>
        <p:spPr>
          <a:xfrm>
            <a:off x="5453104"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主营成本指标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15"/>
            </p:custDataLst>
          </p:nvPr>
        </p:nvSpPr>
        <p:spPr>
          <a:xfrm>
            <a:off x="5391159" y="3928715"/>
            <a:ext cx="1285103" cy="68938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16"/>
            </p:custDataLst>
          </p:nvPr>
        </p:nvSpPr>
        <p:spPr>
          <a:xfrm>
            <a:off x="5374461" y="2406690"/>
            <a:ext cx="1285103" cy="68938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Rectangle: Rounded Corners 163"/>
          <p:cNvSpPr/>
          <p:nvPr>
            <p:custDataLst>
              <p:tags r:id="rId17"/>
            </p:custDataLst>
          </p:nvPr>
        </p:nvSpPr>
        <p:spPr>
          <a:xfrm>
            <a:off x="5383528" y="3165763"/>
            <a:ext cx="1285103" cy="68938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4A2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4A2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4A2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p:cNvCxnSpPr>
          <p:nvPr/>
        </p:nvCxnSpPr>
        <p:spPr>
          <a:xfrm flipV="1">
            <a:off x="1063078" y="2924728"/>
            <a:ext cx="593681" cy="450168"/>
          </a:xfrm>
          <a:prstGeom prst="bentConnector3">
            <a:avLst/>
          </a:prstGeom>
          <a:noFill/>
          <a:ln w="19050" cap="flat" cmpd="sng" algn="ctr">
            <a:solidFill>
              <a:srgbClr val="04A29A"/>
            </a:solidFill>
            <a:prstDash val="solid"/>
          </a:ln>
          <a:effectLst/>
        </p:spPr>
      </p:cxnSp>
      <p:pic>
        <p:nvPicPr>
          <p:cNvPr id="43" name="图片 42"/>
          <p:cNvPicPr>
            <a:picLocks noChangeAspect="1"/>
          </p:cNvPicPr>
          <p:nvPr/>
        </p:nvPicPr>
        <p:blipFill>
          <a:blip r:embed="rId18"/>
          <a:stretch>
            <a:fillRect/>
          </a:stretch>
        </p:blipFill>
        <p:spPr>
          <a:xfrm>
            <a:off x="7173689" y="1545578"/>
            <a:ext cx="4785069" cy="1502292"/>
          </a:xfrm>
          <a:prstGeom prst="rect">
            <a:avLst/>
          </a:prstGeom>
          <a:ln>
            <a:solidFill>
              <a:srgbClr val="08A19A"/>
            </a:solidFill>
          </a:ln>
        </p:spPr>
      </p:pic>
      <p:sp>
        <p:nvSpPr>
          <p:cNvPr id="46" name="Rectangle: Rounded Corners 163"/>
          <p:cNvSpPr/>
          <p:nvPr>
            <p:custDataLst>
              <p:tags r:id="rId19"/>
            </p:custDataLst>
          </p:nvPr>
        </p:nvSpPr>
        <p:spPr>
          <a:xfrm>
            <a:off x="5394477" y="4698246"/>
            <a:ext cx="1285103" cy="68938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7" name="矩形 46"/>
          <p:cNvSpPr/>
          <p:nvPr/>
        </p:nvSpPr>
        <p:spPr>
          <a:xfrm>
            <a:off x="8833643" y="2140166"/>
            <a:ext cx="468205" cy="267342"/>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8" name="Rectangle: Rounded Corners 163"/>
          <p:cNvSpPr/>
          <p:nvPr>
            <p:custDataLst>
              <p:tags r:id="rId20"/>
            </p:custDataLst>
          </p:nvPr>
        </p:nvSpPr>
        <p:spPr>
          <a:xfrm>
            <a:off x="5372578" y="1615558"/>
            <a:ext cx="1285103" cy="689385"/>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应用市场</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1" name="箭头: 下 50"/>
          <p:cNvSpPr/>
          <p:nvPr/>
        </p:nvSpPr>
        <p:spPr bwMode="auto">
          <a:xfrm rot="16200000">
            <a:off x="6382478"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52" name="直接箭头连接符 51"/>
          <p:cNvCxnSpPr/>
          <p:nvPr/>
        </p:nvCxnSpPr>
        <p:spPr>
          <a:xfrm>
            <a:off x="10657114" y="3047870"/>
            <a:ext cx="0" cy="381130"/>
          </a:xfrm>
          <a:prstGeom prst="straightConnector1">
            <a:avLst/>
          </a:prstGeom>
          <a:noFill/>
          <a:ln w="28575" cap="flat">
            <a:solidFill>
              <a:srgbClr val="5B9BD5"/>
            </a:solidFill>
            <a:prstDash val="solid"/>
            <a:miter lim="800000"/>
            <a:tailEnd type="triangle"/>
          </a:ln>
          <a:effectLst/>
        </p:spPr>
      </p:cxnSp>
      <p:pic>
        <p:nvPicPr>
          <p:cNvPr id="56" name="图片 55"/>
          <p:cNvPicPr>
            <a:picLocks noChangeAspect="1"/>
          </p:cNvPicPr>
          <p:nvPr/>
        </p:nvPicPr>
        <p:blipFill>
          <a:blip r:embed="rId21"/>
          <a:stretch>
            <a:fillRect/>
          </a:stretch>
        </p:blipFill>
        <p:spPr>
          <a:xfrm>
            <a:off x="7207804" y="3447403"/>
            <a:ext cx="4750954" cy="2012905"/>
          </a:xfrm>
          <a:prstGeom prst="rect">
            <a:avLst/>
          </a:prstGeom>
          <a:ln>
            <a:solidFill>
              <a:schemeClr val="accent1"/>
            </a:solidFill>
          </a:ln>
        </p:spPr>
      </p:pic>
      <p:sp>
        <p:nvSpPr>
          <p:cNvPr id="57" name="矩形 56"/>
          <p:cNvSpPr/>
          <p:nvPr/>
        </p:nvSpPr>
        <p:spPr>
          <a:xfrm>
            <a:off x="9475892" y="3462174"/>
            <a:ext cx="2482866" cy="1998133"/>
          </a:xfrm>
          <a:prstGeom prst="rect">
            <a:avLst/>
          </a:prstGeom>
          <a:noFill/>
          <a:ln w="28575" cap="flat">
            <a:solidFill>
              <a:srgbClr val="C00000"/>
            </a:solidFill>
            <a:prstDash val="sysDash"/>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2" name="Rectangle: Rounded Corners 92"/>
          <p:cNvSpPr/>
          <p:nvPr>
            <p:custDataLst>
              <p:tags r:id="rId22"/>
            </p:custDataLst>
          </p:nvPr>
        </p:nvSpPr>
        <p:spPr>
          <a:xfrm>
            <a:off x="1667052" y="1788097"/>
            <a:ext cx="1296000" cy="895189"/>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智慧显示主营成本</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屏体成本</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-Sparts</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成本</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工程服务成本</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售后主营成本</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44" name="Rectangle: Rounded Corners 92"/>
          <p:cNvSpPr/>
          <p:nvPr>
            <p:custDataLst>
              <p:tags r:id="rId23"/>
            </p:custDataLst>
          </p:nvPr>
        </p:nvSpPr>
        <p:spPr>
          <a:xfrm>
            <a:off x="1667052" y="5036985"/>
            <a:ext cx="1296000" cy="316973"/>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5" name="Rectangle: Rounded Corners 92"/>
          <p:cNvSpPr/>
          <p:nvPr>
            <p:custDataLst>
              <p:tags r:id="rId24"/>
            </p:custDataLst>
          </p:nvPr>
        </p:nvSpPr>
        <p:spPr>
          <a:xfrm>
            <a:off x="1656759" y="4543757"/>
            <a:ext cx="1296000" cy="317493"/>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9" name="Rectangle: Rounded Corners 92"/>
          <p:cNvSpPr/>
          <p:nvPr>
            <p:custDataLst>
              <p:tags r:id="rId25"/>
            </p:custDataLst>
          </p:nvPr>
        </p:nvSpPr>
        <p:spPr>
          <a:xfrm>
            <a:off x="1667052" y="2894816"/>
            <a:ext cx="1296000" cy="895189"/>
          </a:xfrm>
          <a:prstGeom prst="roundRect">
            <a:avLst/>
          </a:prstGeom>
          <a:solidFill>
            <a:srgbClr val="CFEAEE"/>
          </a:solidFill>
          <a:ln w="19050" cap="flat" cmpd="sng" algn="ctr">
            <a:solidFill>
              <a:srgbClr val="08A1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照明主营成本</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lvl="0" defTabSz="898525" eaLnBrk="0" fontAlgn="ctr" hangingPunct="0">
              <a:spcBef>
                <a:spcPct val="0"/>
              </a:spcBef>
              <a:spcAft>
                <a:spcPct val="0"/>
              </a:spcAft>
              <a:defRPr/>
            </a:pPr>
            <a:r>
              <a:rPr lang="en-US" altLang="zh-CN" sz="1100" kern="0" dirty="0">
                <a:solidFill>
                  <a:prstClr val="black"/>
                </a:solidFill>
                <a:latin typeface="微软雅黑" panose="020B0503020204020204" pitchFamily="34" charset="-122"/>
                <a:ea typeface="微软雅黑" panose="020B0503020204020204" pitchFamily="34" charset="-122"/>
              </a:rPr>
              <a:t>-</a:t>
            </a:r>
            <a:r>
              <a:rPr lang="zh-CN" altLang="en-US" sz="1100" kern="0" dirty="0">
                <a:solidFill>
                  <a:prstClr val="black"/>
                </a:solidFill>
                <a:latin typeface="微软雅黑" panose="020B0503020204020204" pitchFamily="34" charset="-122"/>
                <a:ea typeface="微软雅黑" panose="020B0503020204020204" pitchFamily="34" charset="-122"/>
              </a:rPr>
              <a:t>灯具成本</a:t>
            </a:r>
            <a:endParaRPr lang="en-US" altLang="zh-CN" sz="1100" kern="0" dirty="0">
              <a:solidFill>
                <a:prstClr val="black"/>
              </a:solidFill>
              <a:latin typeface="微软雅黑" panose="020B0503020204020204" pitchFamily="34" charset="-122"/>
              <a:ea typeface="微软雅黑" panose="020B0503020204020204" pitchFamily="34" charset="-122"/>
            </a:endParaRPr>
          </a:p>
          <a:p>
            <a:pPr lvl="0" defTabSz="898525" eaLnBrk="0" fontAlgn="ctr" hangingPunct="0">
              <a:spcBef>
                <a:spcPct val="0"/>
              </a:spcBef>
              <a:spcAft>
                <a:spcPct val="0"/>
              </a:spcAft>
              <a:defRPr/>
            </a:pPr>
            <a:r>
              <a:rPr lang="en-US" altLang="zh-CN" sz="1100" kern="0" dirty="0">
                <a:solidFill>
                  <a:prstClr val="black"/>
                </a:solidFill>
                <a:latin typeface="微软雅黑" panose="020B0503020204020204" pitchFamily="34" charset="-122"/>
                <a:ea typeface="微软雅黑" panose="020B0503020204020204" pitchFamily="34" charset="-122"/>
              </a:rPr>
              <a:t>-</a:t>
            </a:r>
            <a:r>
              <a:rPr lang="zh-CN" altLang="en-US" sz="1100" kern="0" dirty="0">
                <a:solidFill>
                  <a:prstClr val="black"/>
                </a:solidFill>
                <a:latin typeface="微软雅黑" panose="020B0503020204020204" pitchFamily="34" charset="-122"/>
                <a:ea typeface="微软雅黑" panose="020B0503020204020204" pitchFamily="34" charset="-122"/>
              </a:rPr>
              <a:t>智慧杆成本</a:t>
            </a:r>
            <a:endParaRPr lang="en-US" altLang="zh-CN" sz="1100" kern="0" dirty="0">
              <a:solidFill>
                <a:prstClr val="black"/>
              </a:solidFill>
              <a:latin typeface="微软雅黑" panose="020B0503020204020204" pitchFamily="34" charset="-122"/>
              <a:ea typeface="微软雅黑" panose="020B0503020204020204" pitchFamily="34" charset="-122"/>
            </a:endParaRPr>
          </a:p>
        </p:txBody>
      </p:sp>
      <p:cxnSp>
        <p:nvCxnSpPr>
          <p:cNvPr id="53" name="连接符: 肘形 52"/>
          <p:cNvCxnSpPr>
            <a:stCxn id="10" idx="3"/>
            <a:endCxn id="42" idx="1"/>
          </p:cNvCxnSpPr>
          <p:nvPr/>
        </p:nvCxnSpPr>
        <p:spPr>
          <a:xfrm flipV="1">
            <a:off x="1063078" y="2235692"/>
            <a:ext cx="603974" cy="1139204"/>
          </a:xfrm>
          <a:prstGeom prst="bentConnector3">
            <a:avLst/>
          </a:prstGeom>
          <a:noFill/>
          <a:ln w="12700" cap="flat">
            <a:solidFill>
              <a:srgbClr val="04A29A"/>
            </a:solidFill>
            <a:prstDash val="solid"/>
            <a:miter lim="800000"/>
          </a:ln>
        </p:spPr>
        <p:style>
          <a:lnRef idx="0">
            <a:srgbClr val="FFFFFF"/>
          </a:lnRef>
          <a:fillRef idx="0">
            <a:srgbClr val="FFFFFF"/>
          </a:fillRef>
          <a:effectRef idx="0">
            <a:srgbClr val="FFFFFF"/>
          </a:effectRef>
          <a:fontRef idx="none"/>
        </p:style>
      </p:cxn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A-3</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a:t>
            </a:r>
            <a:r>
              <a:rPr lang="zh-CN" altLang="en-US" dirty="0">
                <a:solidFill>
                  <a:srgbClr val="000000"/>
                </a:solidFill>
                <a:cs typeface="Helvetica"/>
                <a:sym typeface="+mn-ea"/>
              </a:rPr>
              <a:t>投入</a:t>
            </a:r>
            <a:r>
              <a:rPr lang="en-US" altLang="zh-CN" dirty="0">
                <a:solidFill>
                  <a:srgbClr val="000000"/>
                </a:solidFill>
                <a:cs typeface="Helvetica"/>
                <a:sym typeface="+mn-ea"/>
              </a:rPr>
              <a:t>-</a:t>
            </a:r>
            <a:r>
              <a:rPr lang="zh-CN" altLang="en-US" dirty="0">
                <a:solidFill>
                  <a:srgbClr val="000000"/>
                </a:solidFill>
                <a:cs typeface="Helvetica"/>
                <a:sym typeface="+mn-ea"/>
              </a:rPr>
              <a:t>经营费用’</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a:t>
            </a:r>
            <a:r>
              <a:rPr lang="zh-CN" altLang="en-US" dirty="0">
                <a:solidFill>
                  <a:srgbClr val="000000"/>
                </a:solidFill>
                <a:cs typeface="Helvetica"/>
                <a:sym typeface="+mn-ea"/>
              </a:rPr>
              <a:t>打开思路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7410154" y="752932"/>
            <a:ext cx="1761716"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5233578" y="747490"/>
            <a:ext cx="1867957"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5403300"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3000823" y="747490"/>
            <a:ext cx="1777854"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3221259"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1294599" y="747285"/>
            <a:ext cx="1213823"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1562194"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投入</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费用</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415144"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3209463"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期间费用指标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5578287"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期间费用指标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5499645"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3316838" y="1638939"/>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销售费用</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销售费用率</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3316838" y="3521579"/>
            <a:ext cx="1211620" cy="563626"/>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财务费用</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利息</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0"/>
            </p:custDataLst>
          </p:nvPr>
        </p:nvCxnSpPr>
        <p:spPr>
          <a:xfrm flipV="1">
            <a:off x="2282284" y="1807325"/>
            <a:ext cx="1034554" cy="1567571"/>
          </a:xfrm>
          <a:prstGeom prst="bentConnector3">
            <a:avLst>
              <a:gd name="adj1" fmla="val 50000"/>
            </a:avLst>
          </a:prstGeom>
          <a:noFill/>
          <a:ln w="19050" cap="flat" cmpd="sng" algn="ctr">
            <a:solidFill>
              <a:srgbClr val="0BA09C"/>
            </a:solidFill>
            <a:prstDash val="solid"/>
          </a:ln>
          <a:effectLst/>
        </p:spPr>
      </p:cxnSp>
      <p:cxnSp>
        <p:nvCxnSpPr>
          <p:cNvPr id="18" name="Connector: Elbow 261"/>
          <p:cNvCxnSpPr>
            <a:stCxn id="10" idx="3"/>
            <a:endCxn id="16" idx="1"/>
          </p:cNvCxnSpPr>
          <p:nvPr>
            <p:custDataLst>
              <p:tags r:id="rId11"/>
            </p:custDataLst>
          </p:nvPr>
        </p:nvCxnSpPr>
        <p:spPr>
          <a:xfrm>
            <a:off x="2282284" y="3374896"/>
            <a:ext cx="1034554" cy="428496"/>
          </a:xfrm>
          <a:prstGeom prst="bentConnector3">
            <a:avLst>
              <a:gd name="adj1" fmla="val 50000"/>
            </a:avLst>
          </a:prstGeom>
          <a:noFill/>
          <a:ln w="19050" cap="flat" cmpd="sng" algn="ctr">
            <a:solidFill>
              <a:srgbClr val="0BA09C"/>
            </a:solidFill>
            <a:prstDash val="solid"/>
          </a:ln>
          <a:effectLst/>
        </p:spPr>
      </p:cxnSp>
      <p:sp>
        <p:nvSpPr>
          <p:cNvPr id="19" name="Rectangle: Rounded Corners 92"/>
          <p:cNvSpPr/>
          <p:nvPr>
            <p:custDataLst>
              <p:tags r:id="rId12"/>
            </p:custDataLst>
          </p:nvPr>
        </p:nvSpPr>
        <p:spPr>
          <a:xfrm>
            <a:off x="3316838" y="2516456"/>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研发费用</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研发费用率</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flipV="1">
            <a:off x="2282284" y="2684842"/>
            <a:ext cx="1034554" cy="690054"/>
          </a:xfrm>
          <a:prstGeom prst="bentConnector3">
            <a:avLst/>
          </a:prstGeom>
          <a:noFill/>
          <a:ln w="19050" cap="flat" cmpd="sng" algn="ctr">
            <a:solidFill>
              <a:srgbClr val="0BA09C"/>
            </a:solidFill>
            <a:prstDash val="solid"/>
          </a:ln>
          <a:effectLst/>
        </p:spPr>
      </p:cxnSp>
      <p:sp>
        <p:nvSpPr>
          <p:cNvPr id="21" name="Rectangle: Rounded Corners 163"/>
          <p:cNvSpPr/>
          <p:nvPr>
            <p:custDataLst>
              <p:tags r:id="rId13"/>
            </p:custDataLst>
          </p:nvPr>
        </p:nvSpPr>
        <p:spPr>
          <a:xfrm>
            <a:off x="5483315"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4"/>
            </p:custDataLst>
          </p:nvPr>
        </p:nvSpPr>
        <p:spPr>
          <a:xfrm>
            <a:off x="5508711"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4640262" y="2510185"/>
            <a:ext cx="859383" cy="1000752"/>
          </a:xfrm>
          <a:prstGeom prst="bentConnector3">
            <a:avLst/>
          </a:prstGeom>
          <a:noFill/>
          <a:ln w="19050" cap="flat" cmpd="sng" algn="ctr">
            <a:solidFill>
              <a:srgbClr val="0BA09C"/>
            </a:solidFill>
            <a:prstDash val="solid"/>
          </a:ln>
          <a:effectLst/>
        </p:spPr>
      </p:cxnSp>
      <p:cxnSp>
        <p:nvCxnSpPr>
          <p:cNvPr id="24" name="连接符: 肘形 23"/>
          <p:cNvCxnSpPr>
            <a:stCxn id="8" idx="3"/>
            <a:endCxn id="21" idx="1"/>
          </p:cNvCxnSpPr>
          <p:nvPr/>
        </p:nvCxnSpPr>
        <p:spPr>
          <a:xfrm flipV="1">
            <a:off x="4640262" y="3239271"/>
            <a:ext cx="843053" cy="271666"/>
          </a:xfrm>
          <a:prstGeom prst="bentConnector3">
            <a:avLst/>
          </a:prstGeom>
          <a:noFill/>
          <a:ln w="19050" cap="flat" cmpd="sng" algn="ctr">
            <a:solidFill>
              <a:srgbClr val="0BA09C"/>
            </a:solidFill>
            <a:prstDash val="solid"/>
          </a:ln>
          <a:effectLst/>
        </p:spPr>
      </p:cxnSp>
      <p:cxnSp>
        <p:nvCxnSpPr>
          <p:cNvPr id="25" name="连接符: 肘形 24"/>
          <p:cNvCxnSpPr>
            <a:stCxn id="8" idx="3"/>
            <a:endCxn id="22" idx="1"/>
          </p:cNvCxnSpPr>
          <p:nvPr/>
        </p:nvCxnSpPr>
        <p:spPr>
          <a:xfrm>
            <a:off x="4640262" y="3510937"/>
            <a:ext cx="868449" cy="542160"/>
          </a:xfrm>
          <a:prstGeom prst="bentConnector3">
            <a:avLst/>
          </a:prstGeom>
          <a:noFill/>
          <a:ln w="19050" cap="flat" cmpd="sng" algn="ctr">
            <a:solidFill>
              <a:srgbClr val="0BA09C"/>
            </a:solidFill>
            <a:prstDash val="solid"/>
          </a:ln>
          <a:effectLst/>
        </p:spPr>
      </p:cxnSp>
      <p:sp>
        <p:nvSpPr>
          <p:cNvPr id="28" name="矩形 27"/>
          <p:cNvSpPr/>
          <p:nvPr/>
        </p:nvSpPr>
        <p:spPr>
          <a:xfrm>
            <a:off x="1268338" y="6235013"/>
            <a:ext cx="7903531"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5"/>
            </p:custDataLst>
          </p:nvPr>
        </p:nvSpPr>
        <p:spPr>
          <a:xfrm>
            <a:off x="7504255" y="1525700"/>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6"/>
            </p:custDataLst>
          </p:nvPr>
        </p:nvSpPr>
        <p:spPr>
          <a:xfrm>
            <a:off x="7608483" y="832400"/>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期间费用指标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6895486"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68338" y="5643505"/>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516618" y="5630068"/>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91452" y="5633083"/>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22353" y="5618782"/>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85024" y="5629002"/>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17"/>
            </p:custDataLst>
          </p:nvPr>
        </p:nvSpPr>
        <p:spPr>
          <a:xfrm>
            <a:off x="3316838" y="2059855"/>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管理费用</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管理费用率</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a:endCxn id="40" idx="1"/>
          </p:cNvCxnSpPr>
          <p:nvPr/>
        </p:nvCxnSpPr>
        <p:spPr>
          <a:xfrm flipV="1">
            <a:off x="2282284" y="2228241"/>
            <a:ext cx="1034554" cy="1146655"/>
          </a:xfrm>
          <a:prstGeom prst="bentConnector3">
            <a:avLst>
              <a:gd name="adj1" fmla="val 50000"/>
            </a:avLst>
          </a:prstGeom>
          <a:noFill/>
          <a:ln w="19050" cap="flat" cmpd="sng" algn="ctr">
            <a:solidFill>
              <a:srgbClr val="0BA09C"/>
            </a:solidFill>
            <a:prstDash val="solid"/>
          </a:ln>
          <a:effectLst/>
        </p:spPr>
      </p:cxnSp>
      <p:sp>
        <p:nvSpPr>
          <p:cNvPr id="46" name="Rectangle: Rounded Corners 163"/>
          <p:cNvSpPr/>
          <p:nvPr>
            <p:custDataLst>
              <p:tags r:id="rId18"/>
            </p:custDataLst>
          </p:nvPr>
        </p:nvSpPr>
        <p:spPr>
          <a:xfrm>
            <a:off x="7620615" y="3789283"/>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季度</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8" name="Rectangle: Rounded Corners 163"/>
          <p:cNvSpPr/>
          <p:nvPr>
            <p:custDataLst>
              <p:tags r:id="rId19"/>
            </p:custDataLst>
          </p:nvPr>
        </p:nvSpPr>
        <p:spPr>
          <a:xfrm>
            <a:off x="7609602" y="2034662"/>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费用项目：</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科目</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科目分类</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不同的费用分类</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3" name="Rectangle: Rounded Corners 163"/>
          <p:cNvSpPr/>
          <p:nvPr>
            <p:custDataLst>
              <p:tags r:id="rId20"/>
            </p:custDataLst>
          </p:nvPr>
        </p:nvSpPr>
        <p:spPr>
          <a:xfrm>
            <a:off x="7617297" y="2910472"/>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项目：</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研发项目分类</a:t>
            </a: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项目</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市场活动项目</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5" name="Rectangle: Rounded Corners 92"/>
          <p:cNvSpPr/>
          <p:nvPr>
            <p:custDataLst>
              <p:tags r:id="rId21"/>
            </p:custDataLst>
          </p:nvPr>
        </p:nvSpPr>
        <p:spPr>
          <a:xfrm>
            <a:off x="3316838" y="4762984"/>
            <a:ext cx="1211620" cy="3362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资产减值损失</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59" name="连接符: 肘形 58"/>
          <p:cNvCxnSpPr>
            <a:stCxn id="10" idx="3"/>
            <a:endCxn id="55" idx="1"/>
          </p:cNvCxnSpPr>
          <p:nvPr/>
        </p:nvCxnSpPr>
        <p:spPr>
          <a:xfrm>
            <a:off x="2282284" y="3374896"/>
            <a:ext cx="1034554" cy="1556198"/>
          </a:xfrm>
          <a:prstGeom prst="bentConnector3">
            <a:avLst/>
          </a:prstGeom>
          <a:noFill/>
          <a:ln w="19050" cap="flat" cmpd="sng" algn="ctr">
            <a:solidFill>
              <a:srgbClr val="0BA09C"/>
            </a:solidFill>
            <a:prstDash val="solid"/>
          </a:ln>
          <a:effectLst/>
        </p:spPr>
      </p:cxnSp>
      <p:sp>
        <p:nvSpPr>
          <p:cNvPr id="74" name="Rectangle: Rounded Corners 92"/>
          <p:cNvSpPr/>
          <p:nvPr>
            <p:custDataLst>
              <p:tags r:id="rId22"/>
            </p:custDataLst>
          </p:nvPr>
        </p:nvSpPr>
        <p:spPr>
          <a:xfrm>
            <a:off x="3311395" y="4255985"/>
            <a:ext cx="1211620" cy="3362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83" name="连接符: 肘形 82"/>
          <p:cNvCxnSpPr>
            <a:stCxn id="10" idx="3"/>
            <a:endCxn id="74" idx="1"/>
          </p:cNvCxnSpPr>
          <p:nvPr/>
        </p:nvCxnSpPr>
        <p:spPr>
          <a:xfrm>
            <a:off x="2282284" y="3374896"/>
            <a:ext cx="1029111" cy="1049199"/>
          </a:xfrm>
          <a:prstGeom prst="bentConnector3">
            <a:avLst/>
          </a:prstGeom>
          <a:noFill/>
          <a:ln w="19050" cap="flat" cmpd="sng" algn="ctr">
            <a:solidFill>
              <a:srgbClr val="0BA09C"/>
            </a:solidFill>
            <a:prstDash val="solid"/>
          </a:ln>
          <a:effectLst/>
        </p:spPr>
      </p:cxnSp>
      <p:sp>
        <p:nvSpPr>
          <p:cNvPr id="84" name="矩形 83"/>
          <p:cNvSpPr/>
          <p:nvPr/>
        </p:nvSpPr>
        <p:spPr bwMode="auto">
          <a:xfrm>
            <a:off x="1270147" y="5951038"/>
            <a:ext cx="7892038" cy="218727"/>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费用分摊规则逻辑</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23"/>
            </p:custDataLst>
          </p:nvPr>
        </p:nvSpPr>
        <p:spPr>
          <a:xfrm>
            <a:off x="3301574" y="2990477"/>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职能平台费用分摊</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32" name="连接符: 肘形 31"/>
          <p:cNvCxnSpPr>
            <a:stCxn id="10" idx="3"/>
          </p:cNvCxnSpPr>
          <p:nvPr/>
        </p:nvCxnSpPr>
        <p:spPr>
          <a:xfrm flipV="1">
            <a:off x="2282284" y="3118757"/>
            <a:ext cx="1019290" cy="256139"/>
          </a:xfrm>
          <a:prstGeom prst="bentConnector3">
            <a:avLst/>
          </a:prstGeom>
          <a:noFill/>
          <a:ln w="28575" cap="flat">
            <a:solidFill>
              <a:srgbClr val="0BA09C"/>
            </a:solidFill>
            <a:prstDash val="solid"/>
            <a:miter lim="800000"/>
          </a:ln>
        </p:spPr>
        <p:style>
          <a:lnRef idx="0">
            <a:srgbClr val="FFFFFF"/>
          </a:lnRef>
          <a:fillRef idx="0">
            <a:srgbClr val="FFFFFF"/>
          </a:fillRef>
          <a:effectRef idx="0">
            <a:srgbClr val="FFFFFF"/>
          </a:effectRef>
          <a:fontRef idx="none"/>
        </p:style>
      </p:cxn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BCCD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A-3</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a:t>
            </a:r>
            <a:r>
              <a:rPr lang="zh-CN" altLang="en-US" dirty="0">
                <a:solidFill>
                  <a:srgbClr val="000000"/>
                </a:solidFill>
                <a:cs typeface="Helvetica"/>
                <a:sym typeface="+mn-ea"/>
              </a:rPr>
              <a:t>投入</a:t>
            </a:r>
            <a:r>
              <a:rPr lang="en-US" altLang="zh-CN" dirty="0">
                <a:solidFill>
                  <a:srgbClr val="000000"/>
                </a:solidFill>
                <a:cs typeface="Helvetica"/>
                <a:sym typeface="+mn-ea"/>
              </a:rPr>
              <a:t>-</a:t>
            </a:r>
            <a:r>
              <a:rPr lang="zh-CN" altLang="en-US" dirty="0">
                <a:solidFill>
                  <a:srgbClr val="000000"/>
                </a:solidFill>
                <a:cs typeface="Helvetica"/>
                <a:sym typeface="+mn-ea"/>
              </a:rPr>
              <a:t>战略投入’</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a:t>
            </a:r>
            <a:r>
              <a:rPr lang="zh-CN" altLang="en-US" dirty="0">
                <a:solidFill>
                  <a:srgbClr val="000000"/>
                </a:solidFill>
                <a:cs typeface="Helvetica"/>
                <a:sym typeface="+mn-ea"/>
              </a:rPr>
              <a:t>打开思路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7410154" y="752932"/>
            <a:ext cx="1761716"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5233578" y="747490"/>
            <a:ext cx="1867957"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5403300"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3000823" y="747490"/>
            <a:ext cx="1777854"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3221259"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1294599" y="747285"/>
            <a:ext cx="1213823"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1562194"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投入</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战略投入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415144"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3209463"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战略投入指标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5578287"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战略投入指标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5483315"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3316838" y="1709698"/>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投资金额</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3316838" y="3363734"/>
            <a:ext cx="1211620" cy="563626"/>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费用化金额</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0"/>
            </p:custDataLst>
          </p:nvPr>
        </p:nvCxnSpPr>
        <p:spPr>
          <a:xfrm flipV="1">
            <a:off x="2282284" y="1878084"/>
            <a:ext cx="1034554" cy="1496812"/>
          </a:xfrm>
          <a:prstGeom prst="bentConnector3">
            <a:avLst>
              <a:gd name="adj1" fmla="val 50000"/>
            </a:avLst>
          </a:prstGeom>
          <a:noFill/>
          <a:ln w="19050" cap="flat" cmpd="sng" algn="ctr">
            <a:solidFill>
              <a:srgbClr val="08A19A"/>
            </a:solidFill>
            <a:prstDash val="solid"/>
          </a:ln>
          <a:effectLst/>
        </p:spPr>
      </p:cxnSp>
      <p:cxnSp>
        <p:nvCxnSpPr>
          <p:cNvPr id="18" name="Connector: Elbow 261"/>
          <p:cNvCxnSpPr>
            <a:stCxn id="10" idx="3"/>
            <a:endCxn id="16" idx="1"/>
          </p:cNvCxnSpPr>
          <p:nvPr>
            <p:custDataLst>
              <p:tags r:id="rId11"/>
            </p:custDataLst>
          </p:nvPr>
        </p:nvCxnSpPr>
        <p:spPr>
          <a:xfrm>
            <a:off x="2282284" y="3374896"/>
            <a:ext cx="1034554" cy="270651"/>
          </a:xfrm>
          <a:prstGeom prst="bentConnector3">
            <a:avLst>
              <a:gd name="adj1" fmla="val 50000"/>
            </a:avLst>
          </a:prstGeom>
          <a:noFill/>
          <a:ln w="19050" cap="flat" cmpd="sng" algn="ctr">
            <a:solidFill>
              <a:srgbClr val="08A19A"/>
            </a:solidFill>
            <a:prstDash val="solid"/>
          </a:ln>
          <a:effectLst/>
        </p:spPr>
      </p:cxnSp>
      <p:sp>
        <p:nvSpPr>
          <p:cNvPr id="19" name="Rectangle: Rounded Corners 92"/>
          <p:cNvSpPr/>
          <p:nvPr>
            <p:custDataLst>
              <p:tags r:id="rId12"/>
            </p:custDataLst>
          </p:nvPr>
        </p:nvSpPr>
        <p:spPr>
          <a:xfrm>
            <a:off x="3316838" y="2701515"/>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剩余金额</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flipV="1">
            <a:off x="2282284" y="2869901"/>
            <a:ext cx="1034554" cy="504995"/>
          </a:xfrm>
          <a:prstGeom prst="bentConnector3">
            <a:avLst/>
          </a:prstGeom>
          <a:noFill/>
          <a:ln w="19050" cap="flat" cmpd="sng" algn="ctr">
            <a:solidFill>
              <a:srgbClr val="08A19A"/>
            </a:solidFill>
            <a:prstDash val="solid"/>
          </a:ln>
          <a:effectLst/>
        </p:spPr>
      </p:cxnSp>
      <p:sp>
        <p:nvSpPr>
          <p:cNvPr id="21" name="Rectangle: Rounded Corners 163"/>
          <p:cNvSpPr/>
          <p:nvPr>
            <p:custDataLst>
              <p:tags r:id="rId13"/>
            </p:custDataLst>
          </p:nvPr>
        </p:nvSpPr>
        <p:spPr>
          <a:xfrm>
            <a:off x="5483315"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4"/>
            </p:custDataLst>
          </p:nvPr>
        </p:nvSpPr>
        <p:spPr>
          <a:xfrm>
            <a:off x="5483315"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4640262" y="2510185"/>
            <a:ext cx="843053" cy="1000752"/>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4640262" y="3239271"/>
            <a:ext cx="843053" cy="271666"/>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4640262" y="3510937"/>
            <a:ext cx="843053" cy="542160"/>
          </a:xfrm>
          <a:prstGeom prst="bentConnector3">
            <a:avLst/>
          </a:prstGeom>
          <a:noFill/>
          <a:ln w="19050" cap="flat" cmpd="sng" algn="ctr">
            <a:solidFill>
              <a:srgbClr val="08A19A"/>
            </a:solidFill>
            <a:prstDash val="solid"/>
          </a:ln>
          <a:effectLst/>
        </p:spPr>
      </p:cxnSp>
      <p:sp>
        <p:nvSpPr>
          <p:cNvPr id="28" name="矩形 27"/>
          <p:cNvSpPr/>
          <p:nvPr/>
        </p:nvSpPr>
        <p:spPr>
          <a:xfrm>
            <a:off x="1268338" y="6235013"/>
            <a:ext cx="7903531"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5"/>
            </p:custDataLst>
          </p:nvPr>
        </p:nvSpPr>
        <p:spPr>
          <a:xfrm>
            <a:off x="7504255" y="1525700"/>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6"/>
            </p:custDataLst>
          </p:nvPr>
        </p:nvSpPr>
        <p:spPr>
          <a:xfrm>
            <a:off x="7608483" y="832400"/>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战略投入指标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6895486"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68338" y="5643505"/>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516618" y="5630068"/>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91452" y="5633083"/>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22353" y="5618782"/>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85024" y="5629002"/>
            <a:ext cx="1777161"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17"/>
            </p:custDataLst>
          </p:nvPr>
        </p:nvSpPr>
        <p:spPr>
          <a:xfrm>
            <a:off x="3316838" y="2217700"/>
            <a:ext cx="1211620" cy="33677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已使用金额</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a:endCxn id="40" idx="1"/>
          </p:cNvCxnSpPr>
          <p:nvPr/>
        </p:nvCxnSpPr>
        <p:spPr>
          <a:xfrm flipV="1">
            <a:off x="2282284" y="2386086"/>
            <a:ext cx="1034554" cy="988810"/>
          </a:xfrm>
          <a:prstGeom prst="bentConnector3">
            <a:avLst>
              <a:gd name="adj1" fmla="val 50000"/>
            </a:avLst>
          </a:prstGeom>
          <a:noFill/>
          <a:ln w="19050" cap="flat" cmpd="sng" algn="ctr">
            <a:solidFill>
              <a:srgbClr val="08A19A"/>
            </a:solidFill>
            <a:prstDash val="solid"/>
          </a:ln>
          <a:effectLst/>
        </p:spPr>
      </p:cxnSp>
      <p:sp>
        <p:nvSpPr>
          <p:cNvPr id="46" name="Rectangle: Rounded Corners 163"/>
          <p:cNvSpPr/>
          <p:nvPr>
            <p:custDataLst>
              <p:tags r:id="rId18"/>
            </p:custDataLst>
          </p:nvPr>
        </p:nvSpPr>
        <p:spPr>
          <a:xfrm>
            <a:off x="7620615" y="3789283"/>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季度</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8" name="Rectangle: Rounded Corners 163"/>
          <p:cNvSpPr/>
          <p:nvPr>
            <p:custDataLst>
              <p:tags r:id="rId19"/>
            </p:custDataLst>
          </p:nvPr>
        </p:nvSpPr>
        <p:spPr>
          <a:xfrm>
            <a:off x="7609602" y="2034662"/>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费用项目：</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科目</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科目分类</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不同的费用分类</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3" name="Rectangle: Rounded Corners 163"/>
          <p:cNvSpPr/>
          <p:nvPr>
            <p:custDataLst>
              <p:tags r:id="rId20"/>
            </p:custDataLst>
          </p:nvPr>
        </p:nvSpPr>
        <p:spPr>
          <a:xfrm>
            <a:off x="7617297" y="2910472"/>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项目：</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战投项目</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55" name="Rectangle: Rounded Corners 92"/>
          <p:cNvSpPr/>
          <p:nvPr>
            <p:custDataLst>
              <p:tags r:id="rId21"/>
            </p:custDataLst>
          </p:nvPr>
        </p:nvSpPr>
        <p:spPr>
          <a:xfrm>
            <a:off x="3316838" y="4762984"/>
            <a:ext cx="1211620" cy="3362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59" name="连接符: 肘形 58"/>
          <p:cNvCxnSpPr>
            <a:stCxn id="10" idx="3"/>
            <a:endCxn id="55" idx="1"/>
          </p:cNvCxnSpPr>
          <p:nvPr/>
        </p:nvCxnSpPr>
        <p:spPr>
          <a:xfrm>
            <a:off x="2282284" y="3374896"/>
            <a:ext cx="1034554" cy="1556198"/>
          </a:xfrm>
          <a:prstGeom prst="bentConnector3">
            <a:avLst/>
          </a:prstGeom>
          <a:noFill/>
          <a:ln w="19050" cap="flat" cmpd="sng" algn="ctr">
            <a:solidFill>
              <a:srgbClr val="08A19A"/>
            </a:solidFill>
            <a:prstDash val="solid"/>
          </a:ln>
          <a:effectLst/>
        </p:spPr>
      </p:cxnSp>
      <p:sp>
        <p:nvSpPr>
          <p:cNvPr id="74" name="Rectangle: Rounded Corners 92"/>
          <p:cNvSpPr/>
          <p:nvPr>
            <p:custDataLst>
              <p:tags r:id="rId22"/>
            </p:custDataLst>
          </p:nvPr>
        </p:nvSpPr>
        <p:spPr>
          <a:xfrm>
            <a:off x="3311395" y="4255985"/>
            <a:ext cx="1211620" cy="3362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战略投入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人工成本</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83" name="连接符: 肘形 82"/>
          <p:cNvCxnSpPr>
            <a:stCxn id="10" idx="3"/>
            <a:endCxn id="74" idx="1"/>
          </p:cNvCxnSpPr>
          <p:nvPr/>
        </p:nvCxnSpPr>
        <p:spPr>
          <a:xfrm>
            <a:off x="2282284" y="3374896"/>
            <a:ext cx="1029111" cy="1049199"/>
          </a:xfrm>
          <a:prstGeom prst="bentConnector3">
            <a:avLst/>
          </a:prstGeom>
          <a:noFill/>
          <a:ln w="19050" cap="flat" cmpd="sng" algn="ctr">
            <a:solidFill>
              <a:srgbClr val="08A19A"/>
            </a:solidFill>
            <a:prstDash val="solid"/>
          </a:ln>
          <a:effectLst/>
        </p:spPr>
      </p:cxnSp>
      <p:sp>
        <p:nvSpPr>
          <p:cNvPr id="84" name="矩形 83"/>
          <p:cNvSpPr/>
          <p:nvPr/>
        </p:nvSpPr>
        <p:spPr bwMode="auto">
          <a:xfrm>
            <a:off x="1270147" y="5951038"/>
            <a:ext cx="7892038" cy="218727"/>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费用分摊规则逻辑</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26" name="Rectangle: Rounded Corners 163"/>
          <p:cNvSpPr/>
          <p:nvPr>
            <p:custDataLst>
              <p:tags r:id="rId23"/>
            </p:custDataLst>
          </p:nvPr>
        </p:nvSpPr>
        <p:spPr>
          <a:xfrm>
            <a:off x="5483315" y="4499893"/>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a:t>
            </a: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平台部门</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职能部门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33" name="连接符: 肘形 32"/>
          <p:cNvCxnSpPr>
            <a:stCxn id="8" idx="3"/>
            <a:endCxn id="26" idx="1"/>
          </p:cNvCxnSpPr>
          <p:nvPr/>
        </p:nvCxnSpPr>
        <p:spPr>
          <a:xfrm>
            <a:off x="4640262" y="3510937"/>
            <a:ext cx="843053" cy="1252047"/>
          </a:xfrm>
          <a:prstGeom prst="bentConnector3">
            <a:avLst>
              <a:gd name="adj1" fmla="val 50000"/>
            </a:avLst>
          </a:prstGeom>
          <a:noFill/>
          <a:ln w="19050" cap="flat" cmpd="sng" algn="ctr">
            <a:solidFill>
              <a:srgbClr val="08A19A"/>
            </a:solidFill>
            <a:prstDash val="solid"/>
          </a:ln>
          <a:effectLst/>
        </p:spPr>
      </p:cxn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en-US" altLang="zh-CN" dirty="0">
                <a:solidFill>
                  <a:srgbClr val="000000"/>
                </a:solidFill>
                <a:cs typeface="Helvetica"/>
                <a:sym typeface="+mn-ea"/>
              </a:rPr>
              <a:t>4</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‘回报</a:t>
            </a:r>
            <a:r>
              <a:rPr lang="zh-CN" altLang="en-US" dirty="0">
                <a:solidFill>
                  <a:srgbClr val="000000"/>
                </a:solidFill>
                <a:cs typeface="Helvetica"/>
                <a:sym typeface="+mn-ea"/>
              </a:rPr>
              <a:t>’</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a:t>
            </a:r>
            <a:r>
              <a:rPr lang="zh-CN" altLang="en-US" dirty="0">
                <a:solidFill>
                  <a:srgbClr val="000000"/>
                </a:solidFill>
                <a:cs typeface="Helvetica"/>
                <a:sym typeface="+mn-ea"/>
              </a:rPr>
              <a:t>打开思路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6512079" y="752932"/>
            <a:ext cx="2392433"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4335504" y="747490"/>
            <a:ext cx="1867957"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4505226"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2102749" y="747490"/>
            <a:ext cx="1777854"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2323185"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396525" y="747285"/>
            <a:ext cx="1213823" cy="4847767"/>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664120"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回报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517070"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2311389"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回报指标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4680213"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回报指标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4601571"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2418764" y="2188670"/>
            <a:ext cx="1255162" cy="6815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毛利额</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毛利率</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9"/>
            </p:custDataLst>
          </p:nvPr>
        </p:nvCxnSpPr>
        <p:spPr>
          <a:xfrm flipV="1">
            <a:off x="1384210" y="2529430"/>
            <a:ext cx="1034554" cy="845466"/>
          </a:xfrm>
          <a:prstGeom prst="bentConnector3">
            <a:avLst>
              <a:gd name="adj1" fmla="val 50000"/>
            </a:avLst>
          </a:prstGeom>
          <a:noFill/>
          <a:ln w="19050" cap="flat" cmpd="sng" algn="ctr">
            <a:solidFill>
              <a:srgbClr val="08A19A"/>
            </a:solidFill>
            <a:prstDash val="solid"/>
          </a:ln>
          <a:effectLst/>
        </p:spPr>
      </p:cxnSp>
      <p:sp>
        <p:nvSpPr>
          <p:cNvPr id="21" name="Rectangle: Rounded Corners 163"/>
          <p:cNvSpPr/>
          <p:nvPr>
            <p:custDataLst>
              <p:tags r:id="rId10"/>
            </p:custDataLst>
          </p:nvPr>
        </p:nvSpPr>
        <p:spPr>
          <a:xfrm>
            <a:off x="4585241"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1"/>
            </p:custDataLst>
          </p:nvPr>
        </p:nvSpPr>
        <p:spPr>
          <a:xfrm>
            <a:off x="4610637"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3742188" y="2510185"/>
            <a:ext cx="859383" cy="1000752"/>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3742188" y="3239271"/>
            <a:ext cx="843053" cy="271666"/>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3742188" y="3510937"/>
            <a:ext cx="868449" cy="542160"/>
          </a:xfrm>
          <a:prstGeom prst="bentConnector3">
            <a:avLst/>
          </a:prstGeom>
          <a:noFill/>
          <a:ln w="19050" cap="flat" cmpd="sng" algn="ctr">
            <a:solidFill>
              <a:srgbClr val="08A19A"/>
            </a:solidFill>
            <a:prstDash val="solid"/>
          </a:ln>
          <a:effectLst/>
        </p:spPr>
      </p:cxnSp>
      <p:sp>
        <p:nvSpPr>
          <p:cNvPr id="29" name="矩形 28"/>
          <p:cNvSpPr/>
          <p:nvPr>
            <p:custDataLst>
              <p:tags r:id="rId12"/>
            </p:custDataLst>
          </p:nvPr>
        </p:nvSpPr>
        <p:spPr>
          <a:xfrm>
            <a:off x="6606180" y="1525700"/>
            <a:ext cx="2096945"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3"/>
            </p:custDataLst>
          </p:nvPr>
        </p:nvSpPr>
        <p:spPr>
          <a:xfrm>
            <a:off x="6710409" y="832400"/>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回报指标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5997412"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0" name="Rectangle: Rounded Corners 92"/>
          <p:cNvSpPr/>
          <p:nvPr>
            <p:custDataLst>
              <p:tags r:id="rId14"/>
            </p:custDataLst>
          </p:nvPr>
        </p:nvSpPr>
        <p:spPr>
          <a:xfrm>
            <a:off x="2418764" y="3545762"/>
            <a:ext cx="1255162" cy="6815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净利额</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净利率</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a:endCxn id="40" idx="1"/>
          </p:cNvCxnSpPr>
          <p:nvPr/>
        </p:nvCxnSpPr>
        <p:spPr>
          <a:xfrm>
            <a:off x="1384210" y="3374896"/>
            <a:ext cx="1034554" cy="511626"/>
          </a:xfrm>
          <a:prstGeom prst="bentConnector3">
            <a:avLst>
              <a:gd name="adj1" fmla="val 50000"/>
            </a:avLst>
          </a:prstGeom>
          <a:noFill/>
          <a:ln w="19050" cap="flat" cmpd="sng" algn="ctr">
            <a:solidFill>
              <a:srgbClr val="08A19A"/>
            </a:solidFill>
            <a:prstDash val="solid"/>
          </a:ln>
          <a:effectLst/>
        </p:spPr>
      </p:cxnSp>
      <p:sp>
        <p:nvSpPr>
          <p:cNvPr id="28" name="矩形 27"/>
          <p:cNvSpPr/>
          <p:nvPr/>
        </p:nvSpPr>
        <p:spPr>
          <a:xfrm>
            <a:off x="370264" y="6235013"/>
            <a:ext cx="8534248"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5" name="矩形 34"/>
          <p:cNvSpPr/>
          <p:nvPr/>
        </p:nvSpPr>
        <p:spPr bwMode="auto">
          <a:xfrm>
            <a:off x="370264" y="5643505"/>
            <a:ext cx="1918982"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2797961" y="5630068"/>
            <a:ext cx="745182"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3742609" y="5633083"/>
            <a:ext cx="1918982"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043560" y="5618782"/>
            <a:ext cx="775791"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6975073" y="5629002"/>
            <a:ext cx="1918982" cy="259285"/>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84" name="矩形 83"/>
          <p:cNvSpPr/>
          <p:nvPr/>
        </p:nvSpPr>
        <p:spPr bwMode="auto">
          <a:xfrm>
            <a:off x="372217" y="5951038"/>
            <a:ext cx="8521838" cy="218727"/>
          </a:xfrm>
          <a:prstGeom prst="rect">
            <a:avLst/>
          </a:prstGeom>
          <a:solidFill>
            <a:srgbClr val="08A1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费用分摊规则逻辑</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3" name="Rectangle: Rounded Corners 163"/>
          <p:cNvSpPr/>
          <p:nvPr>
            <p:custDataLst>
              <p:tags r:id="rId15"/>
            </p:custDataLst>
          </p:nvPr>
        </p:nvSpPr>
        <p:spPr>
          <a:xfrm>
            <a:off x="6789991" y="3934158"/>
            <a:ext cx="1640984" cy="50986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2" name="Rectangle: Rounded Corners 163"/>
          <p:cNvSpPr/>
          <p:nvPr>
            <p:custDataLst>
              <p:tags r:id="rId16"/>
            </p:custDataLst>
          </p:nvPr>
        </p:nvSpPr>
        <p:spPr>
          <a:xfrm>
            <a:off x="6762407" y="2412133"/>
            <a:ext cx="1640984" cy="50986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3" name="Rectangle: Rounded Corners 163"/>
          <p:cNvSpPr/>
          <p:nvPr>
            <p:custDataLst>
              <p:tags r:id="rId17"/>
            </p:custDataLst>
          </p:nvPr>
        </p:nvSpPr>
        <p:spPr>
          <a:xfrm>
            <a:off x="6782360" y="3171206"/>
            <a:ext cx="1640984" cy="50986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4" name="Rectangle: Rounded Corners 163"/>
          <p:cNvSpPr/>
          <p:nvPr>
            <p:custDataLst>
              <p:tags r:id="rId18"/>
            </p:custDataLst>
          </p:nvPr>
        </p:nvSpPr>
        <p:spPr>
          <a:xfrm>
            <a:off x="6793309" y="4703689"/>
            <a:ext cx="1640984" cy="50986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5" name="Rectangle: Rounded Corners 163"/>
          <p:cNvSpPr/>
          <p:nvPr>
            <p:custDataLst>
              <p:tags r:id="rId19"/>
            </p:custDataLst>
          </p:nvPr>
        </p:nvSpPr>
        <p:spPr>
          <a:xfrm>
            <a:off x="6771410" y="1621001"/>
            <a:ext cx="1640984" cy="50986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应用市场</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9" name="Rectangle 10"/>
          <p:cNvSpPr/>
          <p:nvPr/>
        </p:nvSpPr>
        <p:spPr>
          <a:xfrm>
            <a:off x="10119052" y="2501889"/>
            <a:ext cx="1416936" cy="368300"/>
          </a:xfrm>
          <a:prstGeom prst="rect">
            <a:avLst/>
          </a:prstGeom>
          <a:solidFill>
            <a:srgbClr val="00B0F0"/>
          </a:solidFill>
          <a:ln>
            <a:no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2</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、收入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50" name="Rectangle 10"/>
          <p:cNvSpPr/>
          <p:nvPr/>
        </p:nvSpPr>
        <p:spPr>
          <a:xfrm>
            <a:off x="10119052" y="3420850"/>
            <a:ext cx="1416936" cy="368300"/>
          </a:xfrm>
          <a:prstGeom prst="rect">
            <a:avLst/>
          </a:prstGeom>
          <a:solidFill>
            <a:srgbClr val="00B0F0"/>
          </a:solidFill>
          <a:ln>
            <a:no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200" b="1" kern="0" dirty="0">
                <a:solidFill>
                  <a:prstClr val="white"/>
                </a:solidFill>
                <a:latin typeface="微软雅黑" panose="020B0503020204020204" pitchFamily="34" charset="-122"/>
                <a:ea typeface="微软雅黑" panose="020B0503020204020204" pitchFamily="34" charset="-122"/>
                <a:cs typeface="Helvetica"/>
                <a:sym typeface="+mn-ea"/>
              </a:rPr>
              <a:t>3</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a:t>
            </a:r>
            <a:r>
              <a:rPr lang="zh-CN" altLang="en-US" sz="1200" b="1" kern="0" dirty="0">
                <a:solidFill>
                  <a:prstClr val="white"/>
                </a:solidFill>
                <a:latin typeface="微软雅黑" panose="020B0503020204020204" pitchFamily="34" charset="-122"/>
                <a:ea typeface="微软雅黑" panose="020B0503020204020204" pitchFamily="34" charset="-122"/>
                <a:cs typeface="Helvetica"/>
                <a:sym typeface="+mn-ea"/>
              </a:rPr>
              <a:t>投入</a:t>
            </a:r>
            <a:r>
              <a:rPr lang="en-US" altLang="zh-CN" sz="1200" b="1" kern="0" dirty="0">
                <a:solidFill>
                  <a:prstClr val="white"/>
                </a:solidFill>
                <a:latin typeface="微软雅黑" panose="020B0503020204020204" pitchFamily="34" charset="-122"/>
                <a:ea typeface="微软雅黑" panose="020B0503020204020204" pitchFamily="34" charset="-122"/>
                <a:cs typeface="Helvetica"/>
                <a:sym typeface="+mn-ea"/>
              </a:rPr>
              <a:t>-</a:t>
            </a:r>
            <a:r>
              <a:rPr lang="zh-CN" altLang="en-US" sz="1200" b="1" kern="0" dirty="0">
                <a:solidFill>
                  <a:prstClr val="white"/>
                </a:solidFill>
                <a:latin typeface="微软雅黑" panose="020B0503020204020204" pitchFamily="34" charset="-122"/>
                <a:ea typeface="微软雅黑" panose="020B0503020204020204" pitchFamily="34" charset="-122"/>
                <a:cs typeface="Helvetica"/>
                <a:sym typeface="+mn-ea"/>
              </a:rPr>
              <a:t>成本</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51" name="Rectangle 10"/>
          <p:cNvSpPr/>
          <p:nvPr/>
        </p:nvSpPr>
        <p:spPr>
          <a:xfrm>
            <a:off x="10157152" y="4305181"/>
            <a:ext cx="1416936" cy="368300"/>
          </a:xfrm>
          <a:prstGeom prst="rect">
            <a:avLst/>
          </a:prstGeom>
          <a:solidFill>
            <a:srgbClr val="00B0F0"/>
          </a:solidFill>
          <a:ln>
            <a:no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200" b="1" kern="0" dirty="0">
                <a:solidFill>
                  <a:prstClr val="white"/>
                </a:solidFill>
                <a:latin typeface="微软雅黑" panose="020B0503020204020204" pitchFamily="34" charset="-122"/>
                <a:ea typeface="微软雅黑" panose="020B0503020204020204" pitchFamily="34" charset="-122"/>
                <a:cs typeface="Helvetica"/>
                <a:sym typeface="+mn-ea"/>
              </a:rPr>
              <a:t>3</a:t>
            </a: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a:t>
            </a:r>
            <a:r>
              <a:rPr lang="zh-CN" altLang="en-US" sz="1200" b="1" kern="0" dirty="0">
                <a:solidFill>
                  <a:prstClr val="white"/>
                </a:solidFill>
                <a:latin typeface="微软雅黑" panose="020B0503020204020204" pitchFamily="34" charset="-122"/>
                <a:ea typeface="微软雅黑" panose="020B0503020204020204" pitchFamily="34" charset="-122"/>
                <a:cs typeface="Helvetica"/>
                <a:sym typeface="+mn-ea"/>
              </a:rPr>
              <a:t>投入</a:t>
            </a:r>
            <a:r>
              <a:rPr lang="en-US" altLang="zh-CN" sz="1200" b="1" kern="0" dirty="0">
                <a:solidFill>
                  <a:prstClr val="white"/>
                </a:solidFill>
                <a:latin typeface="微软雅黑" panose="020B0503020204020204" pitchFamily="34" charset="-122"/>
                <a:ea typeface="微软雅黑" panose="020B0503020204020204" pitchFamily="34" charset="-122"/>
                <a:cs typeface="Helvetica"/>
                <a:sym typeface="+mn-ea"/>
              </a:rPr>
              <a:t>-</a:t>
            </a:r>
            <a:r>
              <a:rPr lang="zh-CN" altLang="en-US" sz="1200" b="1" kern="0" dirty="0">
                <a:solidFill>
                  <a:prstClr val="white"/>
                </a:solidFill>
                <a:latin typeface="微软雅黑" panose="020B0503020204020204" pitchFamily="34" charset="-122"/>
                <a:ea typeface="微软雅黑" panose="020B0503020204020204" pitchFamily="34" charset="-122"/>
                <a:cs typeface="Helvetica"/>
                <a:sym typeface="+mn-ea"/>
              </a:rPr>
              <a:t>费用</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52" name="箭头: 下 51"/>
          <p:cNvSpPr/>
          <p:nvPr/>
        </p:nvSpPr>
        <p:spPr bwMode="auto">
          <a:xfrm rot="16200000">
            <a:off x="8743836" y="3257578"/>
            <a:ext cx="1040131" cy="784261"/>
          </a:xfrm>
          <a:prstGeom prst="downArrow">
            <a:avLst>
              <a:gd name="adj1" fmla="val 50000"/>
              <a:gd name="adj2" fmla="val 50000"/>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54" name="左大括号 53"/>
          <p:cNvSpPr/>
          <p:nvPr/>
        </p:nvSpPr>
        <p:spPr>
          <a:xfrm>
            <a:off x="9656031" y="2686039"/>
            <a:ext cx="463021" cy="1803292"/>
          </a:xfrm>
          <a:prstGeom prst="leftBrace">
            <a:avLst/>
          </a:prstGeom>
          <a:no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58" name="文本框 57"/>
          <p:cNvSpPr txBox="1"/>
          <p:nvPr/>
        </p:nvSpPr>
        <p:spPr>
          <a:xfrm>
            <a:off x="2440715" y="2912165"/>
            <a:ext cx="1123102" cy="307777"/>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注：组织维度</a:t>
            </a:r>
            <a:r>
              <a:rPr lang="en-US" altLang="zh-CN"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a:t>
            </a:r>
            <a:r>
              <a:rPr lang="zh-CN" altLang="en-US"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分析维度</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61" name="文本框 60"/>
          <p:cNvSpPr txBox="1"/>
          <p:nvPr/>
        </p:nvSpPr>
        <p:spPr>
          <a:xfrm>
            <a:off x="2433295" y="4290991"/>
            <a:ext cx="1123102" cy="153888"/>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注：组织维度</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6" name="Rectangle: Rounded Corners 92"/>
          <p:cNvSpPr/>
          <p:nvPr>
            <p:custDataLst>
              <p:tags r:id="rId20"/>
            </p:custDataLst>
          </p:nvPr>
        </p:nvSpPr>
        <p:spPr>
          <a:xfrm>
            <a:off x="2443136" y="4604834"/>
            <a:ext cx="1255162" cy="681519"/>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ROI</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到什么项目？</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Shape 314"/>
          <p:cNvSpPr/>
          <p:nvPr>
            <p:custDataLst>
              <p:tags r:id="rId1"/>
            </p:custDataLst>
          </p:nvPr>
        </p:nvSpPr>
        <p:spPr>
          <a:xfrm>
            <a:off x="7119252" y="766623"/>
            <a:ext cx="4931231"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pic>
        <p:nvPicPr>
          <p:cNvPr id="44" name="图片 43"/>
          <p:cNvPicPr>
            <a:picLocks noChangeAspect="1"/>
          </p:cNvPicPr>
          <p:nvPr/>
        </p:nvPicPr>
        <p:blipFill>
          <a:blip r:embed="rId2"/>
          <a:stretch>
            <a:fillRect/>
          </a:stretch>
        </p:blipFill>
        <p:spPr>
          <a:xfrm>
            <a:off x="7292774" y="1526769"/>
            <a:ext cx="4533899" cy="1129554"/>
          </a:xfrm>
          <a:prstGeom prst="rect">
            <a:avLst/>
          </a:prstGeom>
          <a:ln>
            <a:solidFill>
              <a:srgbClr val="0070C0"/>
            </a:solidFill>
          </a:ln>
        </p:spPr>
      </p:pic>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en-US" altLang="zh-CN" dirty="0">
                <a:solidFill>
                  <a:srgbClr val="000000"/>
                </a:solidFill>
                <a:cs typeface="Helvetica"/>
                <a:sym typeface="+mn-ea"/>
              </a:rPr>
              <a:t>5</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‘效率</a:t>
            </a:r>
            <a:r>
              <a:rPr lang="en-US" altLang="zh-CN" dirty="0">
                <a:solidFill>
                  <a:srgbClr val="000000"/>
                </a:solidFill>
                <a:cs typeface="Helvetica"/>
                <a:sym typeface="+mn-ea"/>
              </a:rPr>
              <a:t>-</a:t>
            </a:r>
            <a:r>
              <a:rPr lang="zh-CN" altLang="en-US" dirty="0">
                <a:solidFill>
                  <a:srgbClr val="000000"/>
                </a:solidFill>
                <a:cs typeface="Helvetica"/>
                <a:sym typeface="+mn-ea"/>
              </a:rPr>
              <a:t>应收’</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3"/>
            </p:custDataLst>
          </p:nvPr>
        </p:nvSpPr>
        <p:spPr>
          <a:xfrm>
            <a:off x="5184016"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4"/>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5"/>
            </p:custDataLst>
          </p:nvPr>
        </p:nvSpPr>
        <p:spPr>
          <a:xfrm>
            <a:off x="3389435"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6"/>
            </p:custDataLst>
          </p:nvPr>
        </p:nvSpPr>
        <p:spPr>
          <a:xfrm>
            <a:off x="1604724"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75393"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342988"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效率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应收管理</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95938"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7"/>
            </p:custDataLst>
          </p:nvPr>
        </p:nvSpPr>
        <p:spPr>
          <a:xfrm>
            <a:off x="1592928"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应收管理指标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8"/>
            </p:custDataLst>
          </p:nvPr>
        </p:nvSpPr>
        <p:spPr>
          <a:xfrm>
            <a:off x="3564422"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应收管理指标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9"/>
            </p:custDataLst>
          </p:nvPr>
        </p:nvSpPr>
        <p:spPr>
          <a:xfrm>
            <a:off x="3485780"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10"/>
            </p:custDataLst>
          </p:nvPr>
        </p:nvSpPr>
        <p:spPr>
          <a:xfrm>
            <a:off x="1667052" y="1698812"/>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应收周转率</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应收周转天数</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11"/>
            </p:custDataLst>
          </p:nvPr>
        </p:nvSpPr>
        <p:spPr>
          <a:xfrm>
            <a:off x="1667052" y="4800663"/>
            <a:ext cx="1296000" cy="477094"/>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坏账损失</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2"/>
            </p:custDataLst>
          </p:nvPr>
        </p:nvCxnSpPr>
        <p:spPr>
          <a:xfrm flipV="1">
            <a:off x="1063078" y="1937751"/>
            <a:ext cx="603974" cy="1437145"/>
          </a:xfrm>
          <a:prstGeom prst="bentConnector3">
            <a:avLst>
              <a:gd name="adj1" fmla="val 50000"/>
            </a:avLst>
          </a:prstGeom>
          <a:noFill/>
          <a:ln w="19050" cap="flat" cmpd="sng" algn="ctr">
            <a:solidFill>
              <a:srgbClr val="08A19A"/>
            </a:solidFill>
            <a:prstDash val="solid"/>
          </a:ln>
          <a:effectLst/>
        </p:spPr>
      </p:cxnSp>
      <p:cxnSp>
        <p:nvCxnSpPr>
          <p:cNvPr id="18" name="Connector: Elbow 261"/>
          <p:cNvCxnSpPr>
            <a:stCxn id="10" idx="3"/>
            <a:endCxn id="16" idx="1"/>
          </p:cNvCxnSpPr>
          <p:nvPr>
            <p:custDataLst>
              <p:tags r:id="rId13"/>
            </p:custDataLst>
          </p:nvPr>
        </p:nvCxnSpPr>
        <p:spPr>
          <a:xfrm>
            <a:off x="1063078" y="3374896"/>
            <a:ext cx="603974" cy="1664314"/>
          </a:xfrm>
          <a:prstGeom prst="bentConnector3">
            <a:avLst>
              <a:gd name="adj1" fmla="val 50000"/>
            </a:avLst>
          </a:prstGeom>
          <a:noFill/>
          <a:ln w="19050" cap="flat" cmpd="sng" algn="ctr">
            <a:solidFill>
              <a:srgbClr val="08A19A"/>
            </a:solidFill>
            <a:prstDash val="solid"/>
          </a:ln>
          <a:effectLst/>
        </p:spPr>
      </p:cxnSp>
      <p:sp>
        <p:nvSpPr>
          <p:cNvPr id="19" name="Rectangle: Rounded Corners 92"/>
          <p:cNvSpPr/>
          <p:nvPr>
            <p:custDataLst>
              <p:tags r:id="rId14"/>
            </p:custDataLst>
          </p:nvPr>
        </p:nvSpPr>
        <p:spPr>
          <a:xfrm>
            <a:off x="1656759" y="3430865"/>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逾期应收账款</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a:off x="1063078" y="3374896"/>
            <a:ext cx="593681" cy="294908"/>
          </a:xfrm>
          <a:prstGeom prst="bentConnector3">
            <a:avLst/>
          </a:prstGeom>
          <a:noFill/>
          <a:ln w="19050" cap="flat" cmpd="sng" algn="ctr">
            <a:solidFill>
              <a:srgbClr val="08A19A"/>
            </a:solidFill>
            <a:prstDash val="solid"/>
          </a:ln>
          <a:effectLst/>
        </p:spPr>
      </p:cxnSp>
      <p:sp>
        <p:nvSpPr>
          <p:cNvPr id="21" name="Rectangle: Rounded Corners 163"/>
          <p:cNvSpPr/>
          <p:nvPr>
            <p:custDataLst>
              <p:tags r:id="rId15"/>
            </p:custDataLst>
          </p:nvPr>
        </p:nvSpPr>
        <p:spPr>
          <a:xfrm>
            <a:off x="3469450"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6"/>
            </p:custDataLst>
          </p:nvPr>
        </p:nvSpPr>
        <p:spPr>
          <a:xfrm>
            <a:off x="3494846"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3023727" y="2510185"/>
            <a:ext cx="462053" cy="1000752"/>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3023727" y="3239271"/>
            <a:ext cx="445723" cy="271666"/>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3023727" y="3510937"/>
            <a:ext cx="471119" cy="542160"/>
          </a:xfrm>
          <a:prstGeom prst="bentConnector3">
            <a:avLst/>
          </a:prstGeom>
          <a:noFill/>
          <a:ln w="19050" cap="flat" cmpd="sng" algn="ctr">
            <a:solidFill>
              <a:srgbClr val="08A19A"/>
            </a:solidFill>
            <a:prstDash val="solid"/>
          </a:ln>
          <a:effectLst/>
        </p:spPr>
      </p:cxnSp>
      <p:sp>
        <p:nvSpPr>
          <p:cNvPr id="27" name="Rectangle: Rounded Corners 85"/>
          <p:cNvSpPr/>
          <p:nvPr>
            <p:custDataLst>
              <p:tags r:id="rId17"/>
            </p:custDataLst>
          </p:nvPr>
        </p:nvSpPr>
        <p:spPr>
          <a:xfrm>
            <a:off x="8605806" y="848729"/>
            <a:ext cx="1833594"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应收管理指标</a:t>
            </a:r>
            <a:endParaRPr lang="en-US" altLang="zh-CN"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三级：过程指标</a:t>
            </a:r>
            <a:endPar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28" name="矩形 27"/>
          <p:cNvSpPr/>
          <p:nvPr/>
        </p:nvSpPr>
        <p:spPr>
          <a:xfrm>
            <a:off x="98580" y="6175140"/>
            <a:ext cx="11870263"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8"/>
            </p:custDataLst>
          </p:nvPr>
        </p:nvSpPr>
        <p:spPr>
          <a:xfrm>
            <a:off x="5278117" y="1525700"/>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9"/>
            </p:custDataLst>
          </p:nvPr>
        </p:nvSpPr>
        <p:spPr>
          <a:xfrm>
            <a:off x="5453104"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应收管理指标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20"/>
            </p:custDataLst>
          </p:nvPr>
        </p:nvSpPr>
        <p:spPr>
          <a:xfrm>
            <a:off x="5391159" y="3558600"/>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21"/>
            </p:custDataLst>
          </p:nvPr>
        </p:nvSpPr>
        <p:spPr>
          <a:xfrm>
            <a:off x="5363575" y="2036575"/>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Rectangle: Rounded Corners 163"/>
          <p:cNvSpPr/>
          <p:nvPr>
            <p:custDataLst>
              <p:tags r:id="rId22"/>
            </p:custDataLst>
          </p:nvPr>
        </p:nvSpPr>
        <p:spPr>
          <a:xfrm>
            <a:off x="5383528" y="2795648"/>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23"/>
            </p:custDataLst>
          </p:nvPr>
        </p:nvSpPr>
        <p:spPr>
          <a:xfrm>
            <a:off x="1667052" y="2576930"/>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应收账龄分析</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p:cNvCxnSpPr>
          <p:nvPr/>
        </p:nvCxnSpPr>
        <p:spPr>
          <a:xfrm flipV="1">
            <a:off x="1063078" y="2924728"/>
            <a:ext cx="593681" cy="450168"/>
          </a:xfrm>
          <a:prstGeom prst="bentConnector3">
            <a:avLst/>
          </a:prstGeom>
          <a:noFill/>
          <a:ln w="19050" cap="flat" cmpd="sng" algn="ctr">
            <a:solidFill>
              <a:srgbClr val="08A19A"/>
            </a:solidFill>
            <a:prstDash val="solid"/>
          </a:ln>
          <a:effectLst/>
        </p:spPr>
      </p:cxnSp>
      <p:sp>
        <p:nvSpPr>
          <p:cNvPr id="46" name="Rectangle: Rounded Corners 163"/>
          <p:cNvSpPr/>
          <p:nvPr>
            <p:custDataLst>
              <p:tags r:id="rId24"/>
            </p:custDataLst>
          </p:nvPr>
        </p:nvSpPr>
        <p:spPr>
          <a:xfrm>
            <a:off x="5394477" y="4328131"/>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7" name="矩形 46"/>
          <p:cNvSpPr/>
          <p:nvPr/>
        </p:nvSpPr>
        <p:spPr>
          <a:xfrm>
            <a:off x="9263631" y="1677521"/>
            <a:ext cx="1337288" cy="267342"/>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51" name="箭头: 下 50"/>
          <p:cNvSpPr/>
          <p:nvPr/>
        </p:nvSpPr>
        <p:spPr bwMode="auto">
          <a:xfrm rot="16200000">
            <a:off x="6382478"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52" name="直接箭头连接符 51"/>
          <p:cNvCxnSpPr/>
          <p:nvPr/>
        </p:nvCxnSpPr>
        <p:spPr>
          <a:xfrm>
            <a:off x="9481457" y="2656323"/>
            <a:ext cx="0" cy="781394"/>
          </a:xfrm>
          <a:prstGeom prst="straightConnector1">
            <a:avLst/>
          </a:prstGeom>
          <a:noFill/>
          <a:ln w="28575" cap="flat">
            <a:solidFill>
              <a:srgbClr val="5B9BD5"/>
            </a:solidFill>
            <a:prstDash val="solid"/>
            <a:miter lim="800000"/>
            <a:tailEnd type="triangle"/>
          </a:ln>
          <a:effectLst/>
        </p:spPr>
      </p:cxnSp>
      <p:pic>
        <p:nvPicPr>
          <p:cNvPr id="49" name="图片 48"/>
          <p:cNvPicPr>
            <a:picLocks noChangeAspect="1"/>
          </p:cNvPicPr>
          <p:nvPr/>
        </p:nvPicPr>
        <p:blipFill>
          <a:blip r:embed="rId25"/>
          <a:stretch>
            <a:fillRect/>
          </a:stretch>
        </p:blipFill>
        <p:spPr>
          <a:xfrm>
            <a:off x="7292775" y="3437717"/>
            <a:ext cx="4533898" cy="2043245"/>
          </a:xfrm>
          <a:prstGeom prst="rect">
            <a:avLst/>
          </a:prstGeom>
          <a:ln>
            <a:solidFill>
              <a:srgbClr val="0070C0"/>
            </a:solidFill>
          </a:ln>
        </p:spPr>
      </p:pic>
      <p:sp>
        <p:nvSpPr>
          <p:cNvPr id="53" name="文本框 52"/>
          <p:cNvSpPr txBox="1"/>
          <p:nvPr/>
        </p:nvSpPr>
        <p:spPr>
          <a:xfrm>
            <a:off x="7861729" y="3221007"/>
            <a:ext cx="1575247" cy="153888"/>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lang="en-US" altLang="zh-CN"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OTC</a:t>
            </a:r>
            <a:r>
              <a:rPr lang="zh-CN" altLang="en-US" sz="1000" b="1" kern="0" dirty="0">
                <a:solidFill>
                  <a:srgbClr val="000000"/>
                </a:solidFill>
                <a:latin typeface="微软雅黑" panose="020B0503020204020204" pitchFamily="34" charset="-122"/>
                <a:ea typeface="微软雅黑" panose="020B0503020204020204" pitchFamily="34" charset="-122"/>
                <a:cs typeface="Calibri" panose="020F0502020204030204"/>
                <a:sym typeface="Calibri" panose="020F0502020204030204"/>
              </a:rPr>
              <a:t>（订单到现金）</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42" name="Rectangle: Rounded Corners 92"/>
          <p:cNvSpPr/>
          <p:nvPr>
            <p:custDataLst>
              <p:tags r:id="rId26"/>
            </p:custDataLst>
          </p:nvPr>
        </p:nvSpPr>
        <p:spPr>
          <a:xfrm>
            <a:off x="1656759" y="4144568"/>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新增应收金额</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存量应收金额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Shape 314"/>
          <p:cNvSpPr/>
          <p:nvPr>
            <p:custDataLst>
              <p:tags r:id="rId1"/>
            </p:custDataLst>
          </p:nvPr>
        </p:nvSpPr>
        <p:spPr>
          <a:xfrm>
            <a:off x="7119252" y="766623"/>
            <a:ext cx="4931231"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pic>
        <p:nvPicPr>
          <p:cNvPr id="44" name="图片 43"/>
          <p:cNvPicPr>
            <a:picLocks noChangeAspect="1"/>
          </p:cNvPicPr>
          <p:nvPr/>
        </p:nvPicPr>
        <p:blipFill>
          <a:blip r:embed="rId2"/>
          <a:stretch>
            <a:fillRect/>
          </a:stretch>
        </p:blipFill>
        <p:spPr>
          <a:xfrm>
            <a:off x="7292774" y="1526769"/>
            <a:ext cx="4533899" cy="1129554"/>
          </a:xfrm>
          <a:prstGeom prst="rect">
            <a:avLst/>
          </a:prstGeom>
          <a:ln>
            <a:solidFill>
              <a:srgbClr val="0070C0"/>
            </a:solidFill>
          </a:ln>
        </p:spPr>
      </p:pic>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en-US" altLang="zh-CN" dirty="0">
                <a:solidFill>
                  <a:srgbClr val="000000"/>
                </a:solidFill>
                <a:cs typeface="Helvetica"/>
                <a:sym typeface="+mn-ea"/>
              </a:rPr>
              <a:t>5</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‘效率</a:t>
            </a:r>
            <a:r>
              <a:rPr lang="en-US" altLang="zh-CN" dirty="0">
                <a:solidFill>
                  <a:srgbClr val="000000"/>
                </a:solidFill>
                <a:cs typeface="Helvetica"/>
                <a:sym typeface="+mn-ea"/>
              </a:rPr>
              <a:t>-</a:t>
            </a:r>
            <a:r>
              <a:rPr lang="zh-CN" altLang="en-US" dirty="0">
                <a:solidFill>
                  <a:srgbClr val="000000"/>
                </a:solidFill>
                <a:cs typeface="Helvetica"/>
                <a:sym typeface="+mn-ea"/>
              </a:rPr>
              <a:t>库存’</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3"/>
            </p:custDataLst>
          </p:nvPr>
        </p:nvSpPr>
        <p:spPr>
          <a:xfrm>
            <a:off x="5184016"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4"/>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5"/>
            </p:custDataLst>
          </p:nvPr>
        </p:nvSpPr>
        <p:spPr>
          <a:xfrm>
            <a:off x="3389435"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6"/>
            </p:custDataLst>
          </p:nvPr>
        </p:nvSpPr>
        <p:spPr>
          <a:xfrm>
            <a:off x="1604724"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75393"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342988"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效率</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库存</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95938"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7"/>
            </p:custDataLst>
          </p:nvPr>
        </p:nvSpPr>
        <p:spPr>
          <a:xfrm>
            <a:off x="1592928"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库存管理指标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8"/>
            </p:custDataLst>
          </p:nvPr>
        </p:nvSpPr>
        <p:spPr>
          <a:xfrm>
            <a:off x="3564422"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库存管理指标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9"/>
            </p:custDataLst>
          </p:nvPr>
        </p:nvSpPr>
        <p:spPr>
          <a:xfrm>
            <a:off x="3485780"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10"/>
            </p:custDataLst>
          </p:nvPr>
        </p:nvSpPr>
        <p:spPr>
          <a:xfrm>
            <a:off x="1667052" y="1698811"/>
            <a:ext cx="1296000" cy="8726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原材料</a:t>
            </a:r>
            <a:endParaRPr lang="en-US" altLang="zh-CN" sz="1100" b="1" u="sng"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库存周转率</a:t>
            </a:r>
            <a:endPar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库存周转天数</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库龄分析</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库存余额</a:t>
            </a:r>
            <a:endPar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11"/>
            </p:custDataLst>
          </p:nvPr>
        </p:nvSpPr>
        <p:spPr>
          <a:xfrm>
            <a:off x="1667052" y="4700130"/>
            <a:ext cx="1296000" cy="57762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特殊库存：</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发出商品</a:t>
            </a:r>
            <a:endPar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在途库存</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2"/>
            </p:custDataLst>
          </p:nvPr>
        </p:nvCxnSpPr>
        <p:spPr>
          <a:xfrm flipV="1">
            <a:off x="1063078" y="2135149"/>
            <a:ext cx="603974" cy="1239747"/>
          </a:xfrm>
          <a:prstGeom prst="bentConnector3">
            <a:avLst>
              <a:gd name="adj1" fmla="val 50000"/>
            </a:avLst>
          </a:prstGeom>
          <a:noFill/>
          <a:ln w="19050" cap="flat" cmpd="sng" algn="ctr">
            <a:solidFill>
              <a:srgbClr val="08A19A"/>
            </a:solidFill>
            <a:prstDash val="solid"/>
          </a:ln>
          <a:effectLst/>
        </p:spPr>
      </p:cxnSp>
      <p:cxnSp>
        <p:nvCxnSpPr>
          <p:cNvPr id="18" name="Connector: Elbow 261"/>
          <p:cNvCxnSpPr>
            <a:stCxn id="10" idx="3"/>
            <a:endCxn id="16" idx="1"/>
          </p:cNvCxnSpPr>
          <p:nvPr>
            <p:custDataLst>
              <p:tags r:id="rId13"/>
            </p:custDataLst>
          </p:nvPr>
        </p:nvCxnSpPr>
        <p:spPr>
          <a:xfrm>
            <a:off x="1063078" y="3374896"/>
            <a:ext cx="603974" cy="1614048"/>
          </a:xfrm>
          <a:prstGeom prst="bentConnector3">
            <a:avLst>
              <a:gd name="adj1" fmla="val 50000"/>
            </a:avLst>
          </a:prstGeom>
          <a:noFill/>
          <a:ln w="19050" cap="flat" cmpd="sng" algn="ctr">
            <a:solidFill>
              <a:srgbClr val="08A19A"/>
            </a:solidFill>
            <a:prstDash val="solid"/>
          </a:ln>
          <a:effectLst/>
        </p:spPr>
      </p:cxnSp>
      <p:sp>
        <p:nvSpPr>
          <p:cNvPr id="19" name="Rectangle: Rounded Corners 92"/>
          <p:cNvSpPr/>
          <p:nvPr>
            <p:custDataLst>
              <p:tags r:id="rId14"/>
            </p:custDataLst>
          </p:nvPr>
        </p:nvSpPr>
        <p:spPr>
          <a:xfrm>
            <a:off x="1656759" y="3724782"/>
            <a:ext cx="1296000" cy="8726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库存周转率</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库存周转天数</a:t>
            </a:r>
            <a:endPar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库龄分析</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a:off x="1063078" y="3374896"/>
            <a:ext cx="593681" cy="786224"/>
          </a:xfrm>
          <a:prstGeom prst="bentConnector3">
            <a:avLst/>
          </a:prstGeom>
          <a:noFill/>
          <a:ln w="19050" cap="flat" cmpd="sng" algn="ctr">
            <a:solidFill>
              <a:srgbClr val="08A19A"/>
            </a:solidFill>
            <a:prstDash val="solid"/>
          </a:ln>
          <a:effectLst/>
        </p:spPr>
      </p:cxnSp>
      <p:sp>
        <p:nvSpPr>
          <p:cNvPr id="21" name="Rectangle: Rounded Corners 163"/>
          <p:cNvSpPr/>
          <p:nvPr>
            <p:custDataLst>
              <p:tags r:id="rId15"/>
            </p:custDataLst>
          </p:nvPr>
        </p:nvSpPr>
        <p:spPr>
          <a:xfrm>
            <a:off x="3469450"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6"/>
            </p:custDataLst>
          </p:nvPr>
        </p:nvSpPr>
        <p:spPr>
          <a:xfrm>
            <a:off x="3494846"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3023727" y="2510185"/>
            <a:ext cx="462053" cy="1000752"/>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3023727" y="3239271"/>
            <a:ext cx="445723" cy="271666"/>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3023727" y="3510937"/>
            <a:ext cx="471119" cy="542160"/>
          </a:xfrm>
          <a:prstGeom prst="bentConnector3">
            <a:avLst/>
          </a:prstGeom>
          <a:noFill/>
          <a:ln w="19050" cap="flat" cmpd="sng" algn="ctr">
            <a:solidFill>
              <a:srgbClr val="08A19A"/>
            </a:solidFill>
            <a:prstDash val="solid"/>
          </a:ln>
          <a:effectLst/>
        </p:spPr>
      </p:cxnSp>
      <p:sp>
        <p:nvSpPr>
          <p:cNvPr id="27" name="Rectangle: Rounded Corners 85"/>
          <p:cNvSpPr/>
          <p:nvPr>
            <p:custDataLst>
              <p:tags r:id="rId17"/>
            </p:custDataLst>
          </p:nvPr>
        </p:nvSpPr>
        <p:spPr>
          <a:xfrm>
            <a:off x="8605806" y="848729"/>
            <a:ext cx="1833594"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库存管理指标</a:t>
            </a:r>
            <a:endParaRPr lang="en-US" altLang="zh-CN"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三级：过程指标</a:t>
            </a:r>
            <a:endParaRPr lang="zh-CN" altLang="en-US" sz="1235"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28" name="矩形 27"/>
          <p:cNvSpPr/>
          <p:nvPr/>
        </p:nvSpPr>
        <p:spPr>
          <a:xfrm>
            <a:off x="98580" y="6175140"/>
            <a:ext cx="11870263"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8"/>
            </p:custDataLst>
          </p:nvPr>
        </p:nvSpPr>
        <p:spPr>
          <a:xfrm>
            <a:off x="5278117" y="1525700"/>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9"/>
            </p:custDataLst>
          </p:nvPr>
        </p:nvSpPr>
        <p:spPr>
          <a:xfrm>
            <a:off x="5453104"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库存管理指标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20"/>
            </p:custDataLst>
          </p:nvPr>
        </p:nvSpPr>
        <p:spPr>
          <a:xfrm>
            <a:off x="5374222" y="1638532"/>
            <a:ext cx="1285103" cy="1039563"/>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物料</a:t>
            </a: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原材料分类</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半成品分类</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在制品</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产成品分类</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3" name="Rectangle: Rounded Corners 163"/>
          <p:cNvSpPr/>
          <p:nvPr>
            <p:custDataLst>
              <p:tags r:id="rId21"/>
            </p:custDataLst>
          </p:nvPr>
        </p:nvSpPr>
        <p:spPr>
          <a:xfrm>
            <a:off x="5378039" y="3681216"/>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22"/>
            </p:custDataLst>
          </p:nvPr>
        </p:nvSpPr>
        <p:spPr>
          <a:xfrm>
            <a:off x="1667052" y="2685789"/>
            <a:ext cx="1296000" cy="8726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在制品（包括半成品）</a:t>
            </a:r>
            <a:endParaRPr lang="en-US" altLang="zh-CN" sz="1100" b="1" u="sng"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库存周转率</a:t>
            </a:r>
            <a:endPar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库存周转天数</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库龄分析</a:t>
            </a:r>
            <a:endParaRPr kumimoji="0" lang="zh-CN" altLang="en-US" sz="11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p:cNvCxnSpPr>
          <p:nvPr/>
        </p:nvCxnSpPr>
        <p:spPr>
          <a:xfrm flipV="1">
            <a:off x="1063078" y="2924728"/>
            <a:ext cx="593681" cy="450168"/>
          </a:xfrm>
          <a:prstGeom prst="bentConnector3">
            <a:avLst/>
          </a:prstGeom>
          <a:noFill/>
          <a:ln w="19050" cap="flat" cmpd="sng" algn="ctr">
            <a:solidFill>
              <a:srgbClr val="08A19A"/>
            </a:solidFill>
            <a:prstDash val="solid"/>
          </a:ln>
          <a:effectLst/>
        </p:spPr>
      </p:cxnSp>
      <p:sp>
        <p:nvSpPr>
          <p:cNvPr id="46" name="Rectangle: Rounded Corners 163"/>
          <p:cNvSpPr/>
          <p:nvPr>
            <p:custDataLst>
              <p:tags r:id="rId23"/>
            </p:custDataLst>
          </p:nvPr>
        </p:nvSpPr>
        <p:spPr>
          <a:xfrm>
            <a:off x="5394477" y="4632930"/>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7" name="矩形 46"/>
          <p:cNvSpPr/>
          <p:nvPr/>
        </p:nvSpPr>
        <p:spPr>
          <a:xfrm>
            <a:off x="8436429" y="1677521"/>
            <a:ext cx="2164490" cy="267342"/>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8" name="Rectangle: Rounded Corners 163"/>
          <p:cNvSpPr/>
          <p:nvPr>
            <p:custDataLst>
              <p:tags r:id="rId24"/>
            </p:custDataLst>
          </p:nvPr>
        </p:nvSpPr>
        <p:spPr>
          <a:xfrm>
            <a:off x="5378039" y="2845552"/>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仓库</a:t>
            </a: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仓库类型</a:t>
            </a:r>
            <a:r>
              <a:rPr lang="en-US" altLang="zh-CN" sz="11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kern="0" dirty="0">
                <a:solidFill>
                  <a:prstClr val="black"/>
                </a:solidFill>
                <a:latin typeface="微软雅黑" panose="020B0503020204020204" pitchFamily="34" charset="-122"/>
                <a:ea typeface="微软雅黑" panose="020B0503020204020204" pitchFamily="34" charset="-122"/>
                <a:cs typeface="Helvetica"/>
              </a:rPr>
              <a:t>仓库位置</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51" name="箭头: 下 50"/>
          <p:cNvSpPr/>
          <p:nvPr/>
        </p:nvSpPr>
        <p:spPr bwMode="auto">
          <a:xfrm rot="16200000">
            <a:off x="6382478"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52" name="直接箭头连接符 51"/>
          <p:cNvCxnSpPr/>
          <p:nvPr/>
        </p:nvCxnSpPr>
        <p:spPr>
          <a:xfrm>
            <a:off x="9481457" y="2656323"/>
            <a:ext cx="0" cy="781394"/>
          </a:xfrm>
          <a:prstGeom prst="straightConnector1">
            <a:avLst/>
          </a:prstGeom>
          <a:noFill/>
          <a:ln w="28575" cap="flat">
            <a:solidFill>
              <a:srgbClr val="5B9BD5"/>
            </a:solidFill>
            <a:prstDash val="solid"/>
            <a:miter lim="800000"/>
            <a:tailEnd type="triangle"/>
          </a:ln>
          <a:effectLst/>
        </p:spPr>
      </p:cxnSp>
      <p:sp>
        <p:nvSpPr>
          <p:cNvPr id="53" name="文本框 52"/>
          <p:cNvSpPr txBox="1"/>
          <p:nvPr/>
        </p:nvSpPr>
        <p:spPr>
          <a:xfrm>
            <a:off x="7861729" y="3193544"/>
            <a:ext cx="1575247" cy="153888"/>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ISC</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pic>
        <p:nvPicPr>
          <p:cNvPr id="60" name="图片 59"/>
          <p:cNvPicPr>
            <a:picLocks noChangeAspect="1"/>
          </p:cNvPicPr>
          <p:nvPr/>
        </p:nvPicPr>
        <p:blipFill>
          <a:blip r:embed="rId25"/>
          <a:stretch>
            <a:fillRect/>
          </a:stretch>
        </p:blipFill>
        <p:spPr>
          <a:xfrm>
            <a:off x="7270774" y="3416469"/>
            <a:ext cx="4578238" cy="2043839"/>
          </a:xfrm>
          <a:prstGeom prst="rect">
            <a:avLst/>
          </a:prstGeom>
          <a:ln>
            <a:solidFill>
              <a:srgbClr val="0070C0"/>
            </a:solidFill>
          </a:ln>
        </p:spPr>
      </p:pic>
      <p:sp>
        <p:nvSpPr>
          <p:cNvPr id="32" name="Rectangle: Rounded Corners 163"/>
          <p:cNvSpPr/>
          <p:nvPr>
            <p:custDataLst>
              <p:tags r:id="rId26"/>
            </p:custDataLst>
          </p:nvPr>
        </p:nvSpPr>
        <p:spPr>
          <a:xfrm>
            <a:off x="3506815" y="4526497"/>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a:t>
            </a:r>
            <a:r>
              <a:rPr lang="en-US" altLang="zh-CN" sz="1100" b="1" u="sng" kern="0" dirty="0">
                <a:solidFill>
                  <a:prstClr val="black"/>
                </a:solidFill>
                <a:latin typeface="微软雅黑" panose="020B0503020204020204" pitchFamily="34" charset="-122"/>
                <a:ea typeface="微软雅黑" panose="020B0503020204020204" pitchFamily="34" charset="-122"/>
                <a:cs typeface="Helvetica"/>
              </a:rPr>
              <a:t>PMC</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en-US" altLang="zh-CN" dirty="0">
                <a:solidFill>
                  <a:srgbClr val="000000"/>
                </a:solidFill>
                <a:cs typeface="Helvetica"/>
                <a:sym typeface="+mn-ea"/>
              </a:rPr>
              <a:t>5</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‘效率</a:t>
            </a:r>
            <a:r>
              <a:rPr lang="en-US" altLang="zh-CN" dirty="0">
                <a:solidFill>
                  <a:srgbClr val="000000"/>
                </a:solidFill>
                <a:cs typeface="Helvetica"/>
                <a:sym typeface="+mn-ea"/>
              </a:rPr>
              <a:t>-</a:t>
            </a:r>
            <a:r>
              <a:rPr lang="zh-CN" altLang="en-US" dirty="0">
                <a:solidFill>
                  <a:srgbClr val="000000"/>
                </a:solidFill>
                <a:cs typeface="Helvetica"/>
                <a:sym typeface="+mn-ea"/>
              </a:rPr>
              <a:t>人效’</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7295850"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4792702"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4962424"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2592604"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2813040" y="1540912"/>
            <a:ext cx="1419003"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1283709"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1551304"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效率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人效管理</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404254"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2801244"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人效管理指标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5137411"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人效管理指标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5058769"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2875368" y="1698812"/>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人均签单</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2875368" y="4800663"/>
            <a:ext cx="1296000" cy="477094"/>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0"/>
            </p:custDataLst>
          </p:nvPr>
        </p:nvCxnSpPr>
        <p:spPr>
          <a:xfrm flipV="1">
            <a:off x="2271394" y="1937751"/>
            <a:ext cx="603974" cy="1437145"/>
          </a:xfrm>
          <a:prstGeom prst="bentConnector3">
            <a:avLst>
              <a:gd name="adj1" fmla="val 50000"/>
            </a:avLst>
          </a:prstGeom>
          <a:noFill/>
          <a:ln w="19050" cap="flat" cmpd="sng" algn="ctr">
            <a:solidFill>
              <a:srgbClr val="08A19A"/>
            </a:solidFill>
            <a:prstDash val="solid"/>
          </a:ln>
          <a:effectLst/>
        </p:spPr>
      </p:cxnSp>
      <p:cxnSp>
        <p:nvCxnSpPr>
          <p:cNvPr id="18" name="Connector: Elbow 261"/>
          <p:cNvCxnSpPr>
            <a:stCxn id="10" idx="3"/>
            <a:endCxn id="16" idx="1"/>
          </p:cNvCxnSpPr>
          <p:nvPr>
            <p:custDataLst>
              <p:tags r:id="rId11"/>
            </p:custDataLst>
          </p:nvPr>
        </p:nvCxnSpPr>
        <p:spPr>
          <a:xfrm>
            <a:off x="2271394" y="3374896"/>
            <a:ext cx="603974" cy="1664314"/>
          </a:xfrm>
          <a:prstGeom prst="bentConnector3">
            <a:avLst>
              <a:gd name="adj1" fmla="val 50000"/>
            </a:avLst>
          </a:prstGeom>
          <a:noFill/>
          <a:ln w="19050" cap="flat" cmpd="sng" algn="ctr">
            <a:solidFill>
              <a:srgbClr val="08A19A"/>
            </a:solidFill>
            <a:prstDash val="solid"/>
          </a:ln>
          <a:effectLst/>
        </p:spPr>
      </p:cxnSp>
      <p:sp>
        <p:nvSpPr>
          <p:cNvPr id="19" name="Rectangle: Rounded Corners 92"/>
          <p:cNvSpPr/>
          <p:nvPr>
            <p:custDataLst>
              <p:tags r:id="rId12"/>
            </p:custDataLst>
          </p:nvPr>
        </p:nvSpPr>
        <p:spPr>
          <a:xfrm>
            <a:off x="2865075" y="3545167"/>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连续</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X</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月未签单业务员数量</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a:off x="2271394" y="3374896"/>
            <a:ext cx="593681" cy="409210"/>
          </a:xfrm>
          <a:prstGeom prst="bentConnector3">
            <a:avLst/>
          </a:prstGeom>
          <a:noFill/>
          <a:ln w="19050" cap="flat" cmpd="sng" algn="ctr">
            <a:solidFill>
              <a:srgbClr val="08A19A"/>
            </a:solidFill>
            <a:prstDash val="solid"/>
          </a:ln>
          <a:effectLst/>
        </p:spPr>
      </p:cxnSp>
      <p:sp>
        <p:nvSpPr>
          <p:cNvPr id="21" name="Rectangle: Rounded Corners 163"/>
          <p:cNvSpPr/>
          <p:nvPr>
            <p:custDataLst>
              <p:tags r:id="rId13"/>
            </p:custDataLst>
          </p:nvPr>
        </p:nvSpPr>
        <p:spPr>
          <a:xfrm>
            <a:off x="5042439"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4"/>
            </p:custDataLst>
          </p:nvPr>
        </p:nvSpPr>
        <p:spPr>
          <a:xfrm>
            <a:off x="5067835"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4232043" y="2510185"/>
            <a:ext cx="826726" cy="1000752"/>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4232043" y="3239271"/>
            <a:ext cx="810396" cy="271666"/>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4232043" y="3510937"/>
            <a:ext cx="835792" cy="542160"/>
          </a:xfrm>
          <a:prstGeom prst="bentConnector3">
            <a:avLst/>
          </a:prstGeom>
          <a:noFill/>
          <a:ln w="19050" cap="flat" cmpd="sng" algn="ctr">
            <a:solidFill>
              <a:srgbClr val="08A19A"/>
            </a:solidFill>
            <a:prstDash val="solid"/>
          </a:ln>
          <a:effectLst/>
        </p:spPr>
      </p:cxnSp>
      <p:sp>
        <p:nvSpPr>
          <p:cNvPr id="28" name="矩形 27"/>
          <p:cNvSpPr/>
          <p:nvPr/>
        </p:nvSpPr>
        <p:spPr>
          <a:xfrm>
            <a:off x="1246566" y="6175140"/>
            <a:ext cx="7893847"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5"/>
            </p:custDataLst>
          </p:nvPr>
        </p:nvSpPr>
        <p:spPr>
          <a:xfrm>
            <a:off x="7403501" y="1524676"/>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6"/>
            </p:custDataLst>
          </p:nvPr>
        </p:nvSpPr>
        <p:spPr>
          <a:xfrm>
            <a:off x="7505065" y="837843"/>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人效管理指标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6612453"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8A19A"/>
          </a:solidFill>
          <a:ln w="12700">
            <a:solidFill>
              <a:srgbClr val="08A19A"/>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17"/>
            </p:custDataLst>
          </p:nvPr>
        </p:nvSpPr>
        <p:spPr>
          <a:xfrm>
            <a:off x="2875368" y="2685790"/>
            <a:ext cx="1296000"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人均收入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p:cNvCxnSpPr>
          <p:nvPr/>
        </p:nvCxnSpPr>
        <p:spPr>
          <a:xfrm flipV="1">
            <a:off x="2271394" y="2924728"/>
            <a:ext cx="593681" cy="450168"/>
          </a:xfrm>
          <a:prstGeom prst="bentConnector3">
            <a:avLst/>
          </a:prstGeom>
          <a:noFill/>
          <a:ln w="19050" cap="flat" cmpd="sng" algn="ctr">
            <a:solidFill>
              <a:srgbClr val="08A19A"/>
            </a:solidFill>
            <a:prstDash val="solid"/>
          </a:ln>
          <a:effectLst/>
        </p:spPr>
      </p:cxnSp>
      <p:sp>
        <p:nvSpPr>
          <p:cNvPr id="46" name="Rectangle: Rounded Corners 163"/>
          <p:cNvSpPr/>
          <p:nvPr>
            <p:custDataLst>
              <p:tags r:id="rId18"/>
            </p:custDataLst>
          </p:nvPr>
        </p:nvSpPr>
        <p:spPr>
          <a:xfrm>
            <a:off x="5058768" y="4500470"/>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1" name="箭头: 下 50"/>
          <p:cNvSpPr/>
          <p:nvPr/>
        </p:nvSpPr>
        <p:spPr bwMode="auto">
          <a:xfrm rot="16200000">
            <a:off x="8494312"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43" name="连接符: 肘形 42"/>
          <p:cNvCxnSpPr>
            <a:stCxn id="8" idx="3"/>
            <a:endCxn id="46" idx="1"/>
          </p:cNvCxnSpPr>
          <p:nvPr/>
        </p:nvCxnSpPr>
        <p:spPr>
          <a:xfrm>
            <a:off x="4232043" y="3510937"/>
            <a:ext cx="826725" cy="1334226"/>
          </a:xfrm>
          <a:prstGeom prst="bentConnector3">
            <a:avLst>
              <a:gd name="adj1" fmla="val 50000"/>
            </a:avLst>
          </a:prstGeom>
          <a:noFill/>
          <a:ln w="19050" cap="flat" cmpd="sng" algn="ctr">
            <a:solidFill>
              <a:srgbClr val="08A19A"/>
            </a:solidFill>
            <a:prstDash val="solid"/>
          </a:ln>
          <a:effectLst/>
        </p:spPr>
      </p:cxnSp>
      <p:sp>
        <p:nvSpPr>
          <p:cNvPr id="56" name="Rectangle: Rounded Corners 163"/>
          <p:cNvSpPr/>
          <p:nvPr>
            <p:custDataLst>
              <p:tags r:id="rId19"/>
            </p:custDataLst>
          </p:nvPr>
        </p:nvSpPr>
        <p:spPr>
          <a:xfrm>
            <a:off x="9256051" y="2773275"/>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en-US" altLang="zh-CN" sz="1100" b="1" u="sng" kern="0" dirty="0">
                <a:solidFill>
                  <a:prstClr val="black"/>
                </a:solidFill>
                <a:latin typeface="微软雅黑" panose="020B0503020204020204" pitchFamily="34" charset="-122"/>
                <a:ea typeface="微软雅黑" panose="020B0503020204020204" pitchFamily="34" charset="-122"/>
                <a:cs typeface="Helvetica"/>
              </a:rPr>
              <a:t>HR</a:t>
            </a: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主题域的指标体系与框架 </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A-6</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‘风险</a:t>
            </a:r>
            <a:r>
              <a:rPr lang="zh-CN" altLang="en-US" dirty="0">
                <a:solidFill>
                  <a:srgbClr val="000000"/>
                </a:solidFill>
                <a:cs typeface="Helvetica"/>
                <a:sym typeface="+mn-ea"/>
              </a:rPr>
              <a:t>’</a:t>
            </a:r>
            <a:r>
              <a:rPr lang="zh-CN" altLang="en-US" kern="0" dirty="0">
                <a:solidFill>
                  <a:srgbClr val="000000"/>
                </a:solidFill>
                <a:cs typeface="Helvetica"/>
                <a:sym typeface="+mn-ea"/>
              </a:rPr>
              <a:t>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指标穿透思路</a:t>
            </a:r>
            <a:endParaRPr lang="zh-CN" altLang="en-US" dirty="0"/>
          </a:p>
        </p:txBody>
      </p:sp>
      <p:sp>
        <p:nvSpPr>
          <p:cNvPr id="3" name="灯片编号占位符 2"/>
          <p:cNvSpPr>
            <a:spLocks noGrp="1"/>
          </p:cNvSpPr>
          <p:nvPr>
            <p:ph type="sldNum" sz="quarter" idx="11"/>
          </p:nvPr>
        </p:nvSpPr>
        <p:spPr>
          <a:xfrm>
            <a:off x="6076657" y="6583523"/>
            <a:ext cx="555453" cy="230450"/>
          </a:xfrm>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7295850" y="752932"/>
            <a:ext cx="176171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Freeform: Shape 314"/>
          <p:cNvSpPr/>
          <p:nvPr>
            <p:custDataLst>
              <p:tags r:id="rId2"/>
            </p:custDataLst>
          </p:nvPr>
        </p:nvSpPr>
        <p:spPr>
          <a:xfrm>
            <a:off x="4792702"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6" name="矩形 5"/>
          <p:cNvSpPr/>
          <p:nvPr>
            <p:custDataLst>
              <p:tags r:id="rId3"/>
            </p:custDataLst>
          </p:nvPr>
        </p:nvSpPr>
        <p:spPr>
          <a:xfrm>
            <a:off x="4962424" y="1520258"/>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7" name="Freeform: Shape 313"/>
          <p:cNvSpPr/>
          <p:nvPr/>
        </p:nvSpPr>
        <p:spPr>
          <a:xfrm>
            <a:off x="2592604" y="747490"/>
            <a:ext cx="1930410"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8" name="矩形 7"/>
          <p:cNvSpPr/>
          <p:nvPr>
            <p:custDataLst>
              <p:tags r:id="rId4"/>
            </p:custDataLst>
          </p:nvPr>
        </p:nvSpPr>
        <p:spPr>
          <a:xfrm>
            <a:off x="2813040" y="1540912"/>
            <a:ext cx="1545916" cy="4070674"/>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9" name="Freeform: Shape 259"/>
          <p:cNvSpPr/>
          <p:nvPr/>
        </p:nvSpPr>
        <p:spPr>
          <a:xfrm>
            <a:off x="1283709" y="747285"/>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0" name="Rectangle: Rounded Corners 91"/>
          <p:cNvSpPr/>
          <p:nvPr/>
        </p:nvSpPr>
        <p:spPr>
          <a:xfrm>
            <a:off x="1551304" y="2801808"/>
            <a:ext cx="720090" cy="114617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效率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风险</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管理</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1" name="Rectangle: Rounded Corners 85"/>
          <p:cNvSpPr/>
          <p:nvPr/>
        </p:nvSpPr>
        <p:spPr>
          <a:xfrm>
            <a:off x="1404254" y="826957"/>
            <a:ext cx="996720"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custDataLst>
              <p:tags r:id="rId5"/>
            </p:custDataLst>
          </p:nvPr>
        </p:nvSpPr>
        <p:spPr>
          <a:xfrm>
            <a:off x="2801244" y="826957"/>
            <a:ext cx="1491012"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风险管理指标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5137411"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风险管理指标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163"/>
          <p:cNvSpPr/>
          <p:nvPr>
            <p:custDataLst>
              <p:tags r:id="rId7"/>
            </p:custDataLst>
          </p:nvPr>
        </p:nvSpPr>
        <p:spPr>
          <a:xfrm>
            <a:off x="5058769" y="2247094"/>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92"/>
          <p:cNvSpPr/>
          <p:nvPr>
            <p:custDataLst>
              <p:tags r:id="rId8"/>
            </p:custDataLst>
          </p:nvPr>
        </p:nvSpPr>
        <p:spPr>
          <a:xfrm>
            <a:off x="2875368" y="1698812"/>
            <a:ext cx="1356674"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逾期应收</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2875368" y="4461584"/>
            <a:ext cx="1347608" cy="998724"/>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刚性兑付</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每月工资</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每月税费</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一年内到期的银承</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一年内到期的流贷</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一年到到期的票据</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7" name="Connector: Elbow 261"/>
          <p:cNvCxnSpPr>
            <a:stCxn id="10" idx="3"/>
            <a:endCxn id="15" idx="1"/>
          </p:cNvCxnSpPr>
          <p:nvPr>
            <p:custDataLst>
              <p:tags r:id="rId10"/>
            </p:custDataLst>
          </p:nvPr>
        </p:nvCxnSpPr>
        <p:spPr>
          <a:xfrm flipV="1">
            <a:off x="2271394" y="1937751"/>
            <a:ext cx="603974" cy="1437145"/>
          </a:xfrm>
          <a:prstGeom prst="bentConnector3">
            <a:avLst>
              <a:gd name="adj1" fmla="val 50000"/>
            </a:avLst>
          </a:prstGeom>
          <a:noFill/>
          <a:ln w="19050" cap="flat" cmpd="sng" algn="ctr">
            <a:solidFill>
              <a:srgbClr val="08A19A"/>
            </a:solidFill>
            <a:prstDash val="solid"/>
          </a:ln>
          <a:effectLst/>
        </p:spPr>
      </p:cxnSp>
      <p:cxnSp>
        <p:nvCxnSpPr>
          <p:cNvPr id="18" name="Connector: Elbow 261"/>
          <p:cNvCxnSpPr>
            <a:stCxn id="10" idx="3"/>
            <a:endCxn id="16" idx="1"/>
          </p:cNvCxnSpPr>
          <p:nvPr>
            <p:custDataLst>
              <p:tags r:id="rId11"/>
            </p:custDataLst>
          </p:nvPr>
        </p:nvCxnSpPr>
        <p:spPr>
          <a:xfrm>
            <a:off x="2271394" y="3374896"/>
            <a:ext cx="603974" cy="1586050"/>
          </a:xfrm>
          <a:prstGeom prst="bentConnector3">
            <a:avLst>
              <a:gd name="adj1" fmla="val 50000"/>
            </a:avLst>
          </a:prstGeom>
          <a:noFill/>
          <a:ln w="19050" cap="flat" cmpd="sng" algn="ctr">
            <a:solidFill>
              <a:srgbClr val="08A19A"/>
            </a:solidFill>
            <a:prstDash val="solid"/>
          </a:ln>
          <a:effectLst/>
        </p:spPr>
      </p:cxnSp>
      <p:sp>
        <p:nvSpPr>
          <p:cNvPr id="19" name="Rectangle: Rounded Corners 92"/>
          <p:cNvSpPr/>
          <p:nvPr>
            <p:custDataLst>
              <p:tags r:id="rId12"/>
            </p:custDataLst>
          </p:nvPr>
        </p:nvSpPr>
        <p:spPr>
          <a:xfrm>
            <a:off x="2865075" y="3381879"/>
            <a:ext cx="1356674" cy="909620"/>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资金安全</a:t>
            </a:r>
            <a:endParaRPr lang="en-US" altLang="zh-CN" sz="1100" b="1" kern="0" dirty="0">
              <a:solidFill>
                <a:prstClr val="black"/>
              </a:solidFill>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资产负债率</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安全现金储备额</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a:t>
            </a: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经营性资金净额</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0" name="连接符: 肘形 19"/>
          <p:cNvCxnSpPr>
            <a:stCxn id="10" idx="3"/>
            <a:endCxn id="19" idx="1"/>
          </p:cNvCxnSpPr>
          <p:nvPr/>
        </p:nvCxnSpPr>
        <p:spPr>
          <a:xfrm>
            <a:off x="2271394" y="3374896"/>
            <a:ext cx="593681" cy="461793"/>
          </a:xfrm>
          <a:prstGeom prst="bentConnector3">
            <a:avLst/>
          </a:prstGeom>
          <a:noFill/>
          <a:ln w="19050" cap="flat" cmpd="sng" algn="ctr">
            <a:solidFill>
              <a:srgbClr val="08A19A"/>
            </a:solidFill>
            <a:prstDash val="solid"/>
          </a:ln>
          <a:effectLst/>
        </p:spPr>
      </p:cxnSp>
      <p:sp>
        <p:nvSpPr>
          <p:cNvPr id="21" name="Rectangle: Rounded Corners 163"/>
          <p:cNvSpPr/>
          <p:nvPr>
            <p:custDataLst>
              <p:tags r:id="rId13"/>
            </p:custDataLst>
          </p:nvPr>
        </p:nvSpPr>
        <p:spPr>
          <a:xfrm>
            <a:off x="5042439" y="2976180"/>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Rectangle: Rounded Corners 163"/>
          <p:cNvSpPr/>
          <p:nvPr>
            <p:custDataLst>
              <p:tags r:id="rId14"/>
            </p:custDataLst>
          </p:nvPr>
        </p:nvSpPr>
        <p:spPr>
          <a:xfrm>
            <a:off x="5067835" y="3790006"/>
            <a:ext cx="1285103" cy="526181"/>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3" name="连接符: 肘形 22"/>
          <p:cNvCxnSpPr>
            <a:stCxn id="8" idx="3"/>
            <a:endCxn id="14" idx="1"/>
          </p:cNvCxnSpPr>
          <p:nvPr/>
        </p:nvCxnSpPr>
        <p:spPr>
          <a:xfrm flipV="1">
            <a:off x="4358956" y="2510185"/>
            <a:ext cx="699813" cy="1066064"/>
          </a:xfrm>
          <a:prstGeom prst="bentConnector3">
            <a:avLst/>
          </a:prstGeom>
          <a:noFill/>
          <a:ln w="19050" cap="flat" cmpd="sng" algn="ctr">
            <a:solidFill>
              <a:srgbClr val="08A19A"/>
            </a:solidFill>
            <a:prstDash val="solid"/>
          </a:ln>
          <a:effectLst/>
        </p:spPr>
      </p:cxnSp>
      <p:cxnSp>
        <p:nvCxnSpPr>
          <p:cNvPr id="24" name="连接符: 肘形 23"/>
          <p:cNvCxnSpPr>
            <a:stCxn id="8" idx="3"/>
            <a:endCxn id="21" idx="1"/>
          </p:cNvCxnSpPr>
          <p:nvPr/>
        </p:nvCxnSpPr>
        <p:spPr>
          <a:xfrm flipV="1">
            <a:off x="4358956" y="3239271"/>
            <a:ext cx="683483" cy="336978"/>
          </a:xfrm>
          <a:prstGeom prst="bentConnector3">
            <a:avLst/>
          </a:prstGeom>
          <a:noFill/>
          <a:ln w="19050" cap="flat" cmpd="sng" algn="ctr">
            <a:solidFill>
              <a:srgbClr val="08A19A"/>
            </a:solidFill>
            <a:prstDash val="solid"/>
          </a:ln>
          <a:effectLst/>
        </p:spPr>
      </p:cxnSp>
      <p:cxnSp>
        <p:nvCxnSpPr>
          <p:cNvPr id="25" name="连接符: 肘形 24"/>
          <p:cNvCxnSpPr>
            <a:stCxn id="8" idx="3"/>
            <a:endCxn id="22" idx="1"/>
          </p:cNvCxnSpPr>
          <p:nvPr/>
        </p:nvCxnSpPr>
        <p:spPr>
          <a:xfrm>
            <a:off x="4358956" y="3576249"/>
            <a:ext cx="708879" cy="476848"/>
          </a:xfrm>
          <a:prstGeom prst="bentConnector3">
            <a:avLst/>
          </a:prstGeom>
          <a:noFill/>
          <a:ln w="19050" cap="flat" cmpd="sng" algn="ctr">
            <a:solidFill>
              <a:srgbClr val="08A19A"/>
            </a:solidFill>
            <a:prstDash val="solid"/>
          </a:ln>
          <a:effectLst/>
        </p:spPr>
      </p:cxnSp>
      <p:sp>
        <p:nvSpPr>
          <p:cNvPr id="28" name="矩形 27"/>
          <p:cNvSpPr/>
          <p:nvPr/>
        </p:nvSpPr>
        <p:spPr>
          <a:xfrm>
            <a:off x="1246566" y="6175140"/>
            <a:ext cx="7893847" cy="344343"/>
          </a:xfrm>
          <a:prstGeom prst="rect">
            <a:avLst/>
          </a:prstGeom>
          <a:solidFill>
            <a:srgbClr val="ABCCD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lang="en-US" altLang="zh-CN" sz="1100" b="1" kern="0" dirty="0">
                <a:solidFill>
                  <a:prstClr val="black"/>
                </a:solidFill>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矩形 28"/>
          <p:cNvSpPr/>
          <p:nvPr>
            <p:custDataLst>
              <p:tags r:id="rId15"/>
            </p:custDataLst>
          </p:nvPr>
        </p:nvSpPr>
        <p:spPr>
          <a:xfrm>
            <a:off x="7403501" y="1524676"/>
            <a:ext cx="1519864" cy="3940050"/>
          </a:xfrm>
          <a:prstGeom prst="rect">
            <a:avLst/>
          </a:prstGeom>
          <a:solidFill>
            <a:srgbClr val="B8D8D9"/>
          </a:solidFill>
          <a:ln w="9525" cap="flat" cmpd="sng" algn="ctr">
            <a:solidFill>
              <a:srgbClr val="0BA09C"/>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华文楷体" panose="02010600040101010101" pitchFamily="2" charset="-122"/>
              <a:cs typeface="Helvetica"/>
            </a:endParaRPr>
          </a:p>
        </p:txBody>
      </p:sp>
      <p:sp>
        <p:nvSpPr>
          <p:cNvPr id="30" name="Rectangle: Rounded Corners 85"/>
          <p:cNvSpPr/>
          <p:nvPr>
            <p:custDataLst>
              <p:tags r:id="rId16"/>
            </p:custDataLst>
          </p:nvPr>
        </p:nvSpPr>
        <p:spPr>
          <a:xfrm>
            <a:off x="7564938" y="826957"/>
            <a:ext cx="1387475" cy="405655"/>
          </a:xfrm>
          <a:prstGeom prst="roundRect">
            <a:avLst/>
          </a:prstGeom>
          <a:solidFill>
            <a:srgbClr val="1380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风险管理指标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4" name="加号 33"/>
          <p:cNvSpPr/>
          <p:nvPr/>
        </p:nvSpPr>
        <p:spPr>
          <a:xfrm>
            <a:off x="656890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5" name="矩形 34"/>
          <p:cNvSpPr/>
          <p:nvPr/>
        </p:nvSpPr>
        <p:spPr bwMode="auto">
          <a:xfrm>
            <a:off x="1246566" y="5877549"/>
            <a:ext cx="1777161" cy="259285"/>
          </a:xfrm>
          <a:prstGeom prst="rect">
            <a:avLst/>
          </a:prstGeom>
          <a:solidFill>
            <a:srgbClr val="08A19C"/>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6" name="加号 35"/>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7" name="矩形 36"/>
          <p:cNvSpPr/>
          <p:nvPr/>
        </p:nvSpPr>
        <p:spPr bwMode="auto">
          <a:xfrm>
            <a:off x="4369680" y="5867127"/>
            <a:ext cx="1777161" cy="259285"/>
          </a:xfrm>
          <a:prstGeom prst="rect">
            <a:avLst/>
          </a:prstGeom>
          <a:solidFill>
            <a:srgbClr val="08A19C"/>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8" name="等号 37"/>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39" name="矩形 38"/>
          <p:cNvSpPr/>
          <p:nvPr/>
        </p:nvSpPr>
        <p:spPr bwMode="auto">
          <a:xfrm>
            <a:off x="7363252" y="5863046"/>
            <a:ext cx="1777161" cy="259285"/>
          </a:xfrm>
          <a:prstGeom prst="rect">
            <a:avLst/>
          </a:prstGeom>
          <a:solidFill>
            <a:srgbClr val="08A19C"/>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40" name="Rectangle: Rounded Corners 92"/>
          <p:cNvSpPr/>
          <p:nvPr>
            <p:custDataLst>
              <p:tags r:id="rId17"/>
            </p:custDataLst>
          </p:nvPr>
        </p:nvSpPr>
        <p:spPr>
          <a:xfrm>
            <a:off x="2875368" y="2288459"/>
            <a:ext cx="1356674"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zh-CN" altLang="en-US" sz="1100" b="1" kern="0" dirty="0">
                <a:solidFill>
                  <a:prstClr val="black"/>
                </a:solidFill>
                <a:latin typeface="微软雅黑" panose="020B0503020204020204" pitchFamily="34" charset="-122"/>
                <a:ea typeface="微软雅黑" panose="020B0503020204020204" pitchFamily="34" charset="-122"/>
                <a:cs typeface="Helvetica"/>
              </a:rPr>
              <a:t>呆滞物料库存</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1" name="连接符: 肘形 40"/>
          <p:cNvCxnSpPr>
            <a:stCxn id="10" idx="3"/>
            <a:endCxn id="40" idx="1"/>
          </p:cNvCxnSpPr>
          <p:nvPr/>
        </p:nvCxnSpPr>
        <p:spPr>
          <a:xfrm flipV="1">
            <a:off x="2271394" y="2527398"/>
            <a:ext cx="603974" cy="847498"/>
          </a:xfrm>
          <a:prstGeom prst="bentConnector3">
            <a:avLst/>
          </a:prstGeom>
          <a:noFill/>
          <a:ln w="19050" cap="flat" cmpd="sng" algn="ctr">
            <a:solidFill>
              <a:srgbClr val="08A19A"/>
            </a:solidFill>
            <a:prstDash val="solid"/>
          </a:ln>
          <a:effectLst/>
        </p:spPr>
      </p:cxnSp>
      <p:sp>
        <p:nvSpPr>
          <p:cNvPr id="46" name="Rectangle: Rounded Corners 163"/>
          <p:cNvSpPr/>
          <p:nvPr>
            <p:custDataLst>
              <p:tags r:id="rId18"/>
            </p:custDataLst>
          </p:nvPr>
        </p:nvSpPr>
        <p:spPr>
          <a:xfrm>
            <a:off x="5058768" y="4500470"/>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51" name="箭头: 下 50"/>
          <p:cNvSpPr/>
          <p:nvPr/>
        </p:nvSpPr>
        <p:spPr bwMode="auto">
          <a:xfrm rot="16200000">
            <a:off x="8494312" y="2975289"/>
            <a:ext cx="1129553" cy="343998"/>
          </a:xfrm>
          <a:prstGeom prst="downArrow">
            <a:avLst/>
          </a:prstGeom>
          <a:solidFill>
            <a:srgbClr val="11AFBB"/>
          </a:solidFill>
          <a:ln>
            <a:no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cxnSp>
        <p:nvCxnSpPr>
          <p:cNvPr id="43" name="连接符: 肘形 42"/>
          <p:cNvCxnSpPr>
            <a:stCxn id="8" idx="3"/>
            <a:endCxn id="46" idx="1"/>
          </p:cNvCxnSpPr>
          <p:nvPr/>
        </p:nvCxnSpPr>
        <p:spPr>
          <a:xfrm>
            <a:off x="4358956" y="3576249"/>
            <a:ext cx="699812" cy="1268914"/>
          </a:xfrm>
          <a:prstGeom prst="bentConnector3">
            <a:avLst>
              <a:gd name="adj1" fmla="val 50000"/>
            </a:avLst>
          </a:prstGeom>
          <a:noFill/>
          <a:ln w="19050" cap="flat" cmpd="sng" algn="ctr">
            <a:solidFill>
              <a:srgbClr val="08A19A"/>
            </a:solidFill>
            <a:prstDash val="solid"/>
          </a:ln>
          <a:effectLst/>
        </p:spPr>
      </p:cxnSp>
      <p:sp>
        <p:nvSpPr>
          <p:cNvPr id="56" name="Rectangle: Rounded Corners 163"/>
          <p:cNvSpPr/>
          <p:nvPr>
            <p:custDataLst>
              <p:tags r:id="rId19"/>
            </p:custDataLst>
          </p:nvPr>
        </p:nvSpPr>
        <p:spPr>
          <a:xfrm>
            <a:off x="9256051" y="2773275"/>
            <a:ext cx="1285103" cy="689385"/>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lang="en-US" altLang="zh-CN" sz="1100" b="1" u="sng" kern="0" dirty="0">
                <a:solidFill>
                  <a:prstClr val="black"/>
                </a:solidFill>
                <a:latin typeface="微软雅黑" panose="020B0503020204020204" pitchFamily="34" charset="-122"/>
                <a:ea typeface="微软雅黑" panose="020B0503020204020204" pitchFamily="34" charset="-122"/>
                <a:cs typeface="Helvetica"/>
              </a:rPr>
              <a:t>XX</a:t>
            </a:r>
            <a:r>
              <a:rPr lang="zh-CN" altLang="en-US" sz="1100" b="1" u="sng" kern="0" dirty="0">
                <a:solidFill>
                  <a:prstClr val="black"/>
                </a:solidFill>
                <a:latin typeface="微软雅黑" panose="020B0503020204020204" pitchFamily="34" charset="-122"/>
                <a:ea typeface="微软雅黑" panose="020B0503020204020204" pitchFamily="34" charset="-122"/>
                <a:cs typeface="Helvetica"/>
              </a:rPr>
              <a:t>主题域的指标体系与框架 </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62" name="Rectangle: Rounded Corners 92"/>
          <p:cNvSpPr/>
          <p:nvPr>
            <p:custDataLst>
              <p:tags r:id="rId20"/>
            </p:custDataLst>
          </p:nvPr>
        </p:nvSpPr>
        <p:spPr>
          <a:xfrm>
            <a:off x="2875368" y="2830878"/>
            <a:ext cx="1356674" cy="477877"/>
          </a:xfrm>
          <a:prstGeom prst="roundRect">
            <a:avLst/>
          </a:prstGeom>
          <a:solidFill>
            <a:srgbClr val="CFEAEE"/>
          </a:solidFill>
          <a:ln w="19050" cap="flat" cmpd="sng" algn="ctr">
            <a:solidFill>
              <a:srgbClr val="0BA09C"/>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应付周转天数</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64" name="连接符: 肘形 63"/>
          <p:cNvCxnSpPr>
            <a:stCxn id="10" idx="3"/>
            <a:endCxn id="62" idx="1"/>
          </p:cNvCxnSpPr>
          <p:nvPr/>
        </p:nvCxnSpPr>
        <p:spPr>
          <a:xfrm flipV="1">
            <a:off x="2271394" y="3069817"/>
            <a:ext cx="603974" cy="305079"/>
          </a:xfrm>
          <a:prstGeom prst="bentConnector3">
            <a:avLst/>
          </a:prstGeom>
          <a:noFill/>
          <a:ln w="19050" cap="flat" cmpd="sng" algn="ctr">
            <a:solidFill>
              <a:srgbClr val="08A19A"/>
            </a:solidFill>
            <a:prstDash val="solid"/>
          </a:ln>
          <a:effectLst/>
        </p:spPr>
      </p:cxn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B-2</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收入分析示例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产品线视角</a:t>
            </a:r>
            <a:r>
              <a:rPr lang="en-US" altLang="zh-CN" kern="0" dirty="0">
                <a:solidFill>
                  <a:srgbClr val="000000"/>
                </a:solidFill>
                <a:cs typeface="Helvetica"/>
                <a:sym typeface="+mn-ea"/>
              </a:rPr>
              <a:t>-</a:t>
            </a:r>
            <a:r>
              <a:rPr lang="zh-CN" altLang="en-US" kern="0" dirty="0">
                <a:solidFill>
                  <a:srgbClr val="000000"/>
                </a:solidFill>
                <a:cs typeface="Helvetica"/>
                <a:sym typeface="+mn-ea"/>
              </a:rPr>
              <a:t>强化产品生命周期管理视角</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 name="Freeform: Shape 314"/>
          <p:cNvSpPr/>
          <p:nvPr>
            <p:custDataLst>
              <p:tags r:id="rId1"/>
            </p:custDataLst>
          </p:nvPr>
        </p:nvSpPr>
        <p:spPr>
          <a:xfrm>
            <a:off x="5190709" y="755577"/>
            <a:ext cx="666499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marL="0" marR="0" lvl="0" indent="0" algn="ctr" defTabSz="666750" eaLnBrk="0" fontAlgn="base" latinLnBrk="0" hangingPunct="0">
              <a:lnSpc>
                <a:spcPct val="90000"/>
              </a:lnSpc>
              <a:spcBef>
                <a:spcPct val="0"/>
              </a:spcBef>
              <a:spcAft>
                <a:spcPct val="35000"/>
              </a:spcAft>
              <a:buClrTx/>
              <a:buSzTx/>
              <a:buFontTx/>
              <a:buNone/>
              <a:defRPr/>
            </a:pPr>
            <a:endParaRPr kumimoji="0" lang="zh-CN" altLang="en-US" sz="1590" b="1" i="0" u="none" strike="noStrike" kern="0" cap="none" spc="0" normalizeH="0" baseline="0" noProof="0" dirty="0">
              <a:ln>
                <a:noFill/>
              </a:ln>
              <a:solidFill>
                <a:srgbClr val="000000">
                  <a:hueOff val="0"/>
                  <a:satOff val="0"/>
                  <a:lumOff val="0"/>
                  <a:alphaOff val="0"/>
                </a:srgbClr>
              </a:solidFill>
              <a:effectLst/>
              <a:uLnTx/>
              <a:uFillTx/>
              <a:latin typeface="微软雅黑" panose="020B0503020204020204" pitchFamily="34" charset="-122"/>
              <a:ea typeface="微软雅黑" panose="020B0503020204020204" pitchFamily="34" charset="-122"/>
              <a:cs typeface="Helvetica"/>
            </a:endParaRPr>
          </a:p>
        </p:txBody>
      </p:sp>
      <p:sp>
        <p:nvSpPr>
          <p:cNvPr id="6" name="Freeform: Shape 314"/>
          <p:cNvSpPr/>
          <p:nvPr>
            <p:custDataLst>
              <p:tags r:id="rId2"/>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marL="0" marR="0" lvl="0" indent="0" algn="ctr" defTabSz="666750" eaLnBrk="0" fontAlgn="base" latinLnBrk="0" hangingPunct="0">
              <a:lnSpc>
                <a:spcPct val="90000"/>
              </a:lnSpc>
              <a:spcBef>
                <a:spcPct val="0"/>
              </a:spcBef>
              <a:spcAft>
                <a:spcPct val="35000"/>
              </a:spcAft>
              <a:buClrTx/>
              <a:buSzTx/>
              <a:buFontTx/>
              <a:buNone/>
              <a:defRPr/>
            </a:pPr>
            <a:endParaRPr kumimoji="0" lang="zh-CN" altLang="en-US" sz="1590" b="1" i="0" u="none" strike="noStrike" kern="0" cap="none" spc="0" normalizeH="0" baseline="0" noProof="0">
              <a:ln>
                <a:noFill/>
              </a:ln>
              <a:solidFill>
                <a:srgbClr val="000000">
                  <a:hueOff val="0"/>
                  <a:satOff val="0"/>
                  <a:lumOff val="0"/>
                  <a:alphaOff val="0"/>
                </a:srgbClr>
              </a:solidFill>
              <a:effectLst/>
              <a:uLnTx/>
              <a:uFillTx/>
              <a:latin typeface="微软雅黑" panose="020B0503020204020204" pitchFamily="34" charset="-122"/>
              <a:ea typeface="微软雅黑" panose="020B0503020204020204" pitchFamily="34" charset="-122"/>
              <a:cs typeface="Helvetica"/>
            </a:endParaRPr>
          </a:p>
        </p:txBody>
      </p:sp>
      <p:sp>
        <p:nvSpPr>
          <p:cNvPr id="7" name="矩形 6"/>
          <p:cNvSpPr/>
          <p:nvPr>
            <p:custDataLst>
              <p:tags r:id="rId3"/>
            </p:custDataLst>
          </p:nvPr>
        </p:nvSpPr>
        <p:spPr>
          <a:xfrm>
            <a:off x="3389435" y="1520258"/>
            <a:ext cx="1519864" cy="3940050"/>
          </a:xfrm>
          <a:prstGeom prst="rect">
            <a:avLst/>
          </a:prstGeom>
          <a:solidFill>
            <a:srgbClr val="B7D7D7"/>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11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8"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marL="0" marR="0" lvl="0" indent="0" algn="ctr" defTabSz="666750" eaLnBrk="0" fontAlgn="base" latinLnBrk="0" hangingPunct="0">
              <a:lnSpc>
                <a:spcPct val="90000"/>
              </a:lnSpc>
              <a:spcBef>
                <a:spcPct val="0"/>
              </a:spcBef>
              <a:spcAft>
                <a:spcPct val="35000"/>
              </a:spcAft>
              <a:buClrTx/>
              <a:buSzTx/>
              <a:buFontTx/>
              <a:buNone/>
              <a:defRPr/>
            </a:pPr>
            <a:endParaRPr kumimoji="0" lang="zh-CN" altLang="en-US" sz="1590" b="1" i="0" u="none" strike="noStrike" kern="0" cap="none" spc="0" normalizeH="0" baseline="0" noProof="0">
              <a:ln>
                <a:noFill/>
              </a:ln>
              <a:solidFill>
                <a:srgbClr val="000000">
                  <a:hueOff val="0"/>
                  <a:satOff val="0"/>
                  <a:lumOff val="0"/>
                  <a:alphaOff val="0"/>
                </a:srgbClr>
              </a:solidFill>
              <a:effectLst/>
              <a:uLnTx/>
              <a:uFillTx/>
              <a:latin typeface="微软雅黑" panose="020B0503020204020204" pitchFamily="34" charset="-122"/>
              <a:ea typeface="微软雅黑" panose="020B0503020204020204" pitchFamily="34" charset="-122"/>
              <a:cs typeface="Helvetica"/>
            </a:endParaRPr>
          </a:p>
        </p:txBody>
      </p:sp>
      <p:sp>
        <p:nvSpPr>
          <p:cNvPr id="9" name="矩形 8"/>
          <p:cNvSpPr/>
          <p:nvPr>
            <p:custDataLst>
              <p:tags r:id="rId4"/>
            </p:custDataLst>
          </p:nvPr>
        </p:nvSpPr>
        <p:spPr>
          <a:xfrm>
            <a:off x="1604724" y="1540912"/>
            <a:ext cx="1419003" cy="3940050"/>
          </a:xfrm>
          <a:prstGeom prst="rect">
            <a:avLst/>
          </a:prstGeom>
          <a:solidFill>
            <a:srgbClr val="B7D7D7"/>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11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10" name="Freeform: Shape 259"/>
          <p:cNvSpPr/>
          <p:nvPr/>
        </p:nvSpPr>
        <p:spPr>
          <a:xfrm>
            <a:off x="98580" y="747490"/>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marL="0" marR="0" lvl="0" indent="0" algn="ctr" defTabSz="666750" eaLnBrk="0" fontAlgn="base" latinLnBrk="0" hangingPunct="0">
              <a:lnSpc>
                <a:spcPct val="90000"/>
              </a:lnSpc>
              <a:spcBef>
                <a:spcPct val="0"/>
              </a:spcBef>
              <a:spcAft>
                <a:spcPct val="35000"/>
              </a:spcAft>
              <a:buClrTx/>
              <a:buSzTx/>
              <a:buFontTx/>
              <a:buNone/>
              <a:defRPr/>
            </a:pPr>
            <a:endParaRPr kumimoji="0" lang="zh-CN" altLang="en-US" sz="1590" b="1" i="0" u="none" strike="noStrike" kern="0" cap="none" spc="0" normalizeH="0" baseline="0" noProof="0">
              <a:ln>
                <a:noFill/>
              </a:ln>
              <a:solidFill>
                <a:srgbClr val="000000">
                  <a:hueOff val="0"/>
                  <a:satOff val="0"/>
                  <a:lumOff val="0"/>
                  <a:alphaOff val="0"/>
                </a:srgbClr>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1" name="Rectangle: Rounded Corners 91"/>
          <p:cNvSpPr/>
          <p:nvPr/>
        </p:nvSpPr>
        <p:spPr>
          <a:xfrm>
            <a:off x="342988" y="2801808"/>
            <a:ext cx="720090" cy="114617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nvSpPr>
        <p:spPr>
          <a:xfrm>
            <a:off x="195938" y="826958"/>
            <a:ext cx="99672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经营要素</a:t>
            </a:r>
            <a:endPar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5"/>
            </p:custDataLst>
          </p:nvPr>
        </p:nvSpPr>
        <p:spPr>
          <a:xfrm>
            <a:off x="1757400" y="826958"/>
            <a:ext cx="94361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收入指标</a:t>
            </a:r>
            <a:endParaRPr kumimoji="0" lang="en-US" altLang="zh-CN"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一级</a:t>
            </a:r>
            <a:endPar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p:txBody>
      </p:sp>
      <p:sp>
        <p:nvSpPr>
          <p:cNvPr id="14" name="Rectangle: Rounded Corners 85"/>
          <p:cNvSpPr/>
          <p:nvPr>
            <p:custDataLst>
              <p:tags r:id="rId6"/>
            </p:custDataLst>
          </p:nvPr>
        </p:nvSpPr>
        <p:spPr>
          <a:xfrm>
            <a:off x="3564422" y="826958"/>
            <a:ext cx="138747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收入指标</a:t>
            </a:r>
            <a:endParaRPr kumimoji="0" lang="en-US" altLang="zh-CN"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二级：组织维度</a:t>
            </a:r>
            <a:endPar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p:txBody>
      </p:sp>
      <p:sp>
        <p:nvSpPr>
          <p:cNvPr id="15" name="Rectangle: Rounded Corners 163"/>
          <p:cNvSpPr/>
          <p:nvPr>
            <p:custDataLst>
              <p:tags r:id="rId7"/>
            </p:custDataLst>
          </p:nvPr>
        </p:nvSpPr>
        <p:spPr>
          <a:xfrm>
            <a:off x="3485780" y="2247094"/>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8"/>
            </p:custDataLst>
          </p:nvPr>
        </p:nvSpPr>
        <p:spPr>
          <a:xfrm>
            <a:off x="1667052" y="1698812"/>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屏体</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Rectangle: Rounded Corners 92"/>
          <p:cNvSpPr/>
          <p:nvPr>
            <p:custDataLst>
              <p:tags r:id="rId9"/>
            </p:custDataLst>
          </p:nvPr>
        </p:nvSpPr>
        <p:spPr>
          <a:xfrm>
            <a:off x="1667052" y="4800663"/>
            <a:ext cx="1296000" cy="477094"/>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售后增值收入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8" name="Connector: Elbow 261"/>
          <p:cNvCxnSpPr>
            <a:stCxn id="11" idx="3"/>
            <a:endCxn id="16" idx="1"/>
          </p:cNvCxnSpPr>
          <p:nvPr>
            <p:custDataLst>
              <p:tags r:id="rId10"/>
            </p:custDataLst>
          </p:nvPr>
        </p:nvCxnSpPr>
        <p:spPr>
          <a:xfrm flipV="1">
            <a:off x="1063078" y="1937751"/>
            <a:ext cx="603974" cy="1437145"/>
          </a:xfrm>
          <a:prstGeom prst="bentConnector3">
            <a:avLst>
              <a:gd name="adj1" fmla="val 50000"/>
            </a:avLst>
          </a:prstGeom>
          <a:noFill/>
          <a:ln w="19050" cap="flat" cmpd="sng" algn="ctr">
            <a:solidFill>
              <a:srgbClr val="029E9A"/>
            </a:solidFill>
            <a:prstDash val="solid"/>
          </a:ln>
          <a:effectLst/>
        </p:spPr>
      </p:cxnSp>
      <p:cxnSp>
        <p:nvCxnSpPr>
          <p:cNvPr id="19" name="Connector: Elbow 261"/>
          <p:cNvCxnSpPr>
            <a:stCxn id="11" idx="3"/>
            <a:endCxn id="17" idx="1"/>
          </p:cNvCxnSpPr>
          <p:nvPr>
            <p:custDataLst>
              <p:tags r:id="rId11"/>
            </p:custDataLst>
          </p:nvPr>
        </p:nvCxnSpPr>
        <p:spPr>
          <a:xfrm>
            <a:off x="1063078" y="3374896"/>
            <a:ext cx="603974" cy="1664314"/>
          </a:xfrm>
          <a:prstGeom prst="bentConnector3">
            <a:avLst>
              <a:gd name="adj1" fmla="val 50000"/>
            </a:avLst>
          </a:prstGeom>
          <a:noFill/>
          <a:ln w="19050" cap="flat" cmpd="sng" algn="ctr">
            <a:solidFill>
              <a:srgbClr val="029E9A"/>
            </a:solidFill>
            <a:prstDash val="solid"/>
          </a:ln>
          <a:effectLst/>
        </p:spPr>
      </p:cxnSp>
      <p:sp>
        <p:nvSpPr>
          <p:cNvPr id="20" name="Rectangle: Rounded Corners 92"/>
          <p:cNvSpPr/>
          <p:nvPr>
            <p:custDataLst>
              <p:tags r:id="rId12"/>
            </p:custDataLst>
          </p:nvPr>
        </p:nvSpPr>
        <p:spPr>
          <a:xfrm>
            <a:off x="1656759" y="3545167"/>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工程服务</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1" name="连接符: 肘形 20"/>
          <p:cNvCxnSpPr>
            <a:stCxn id="11" idx="3"/>
            <a:endCxn id="20" idx="1"/>
          </p:cNvCxnSpPr>
          <p:nvPr/>
        </p:nvCxnSpPr>
        <p:spPr>
          <a:xfrm>
            <a:off x="1063078" y="3374896"/>
            <a:ext cx="593681" cy="409210"/>
          </a:xfrm>
          <a:prstGeom prst="bentConnector3">
            <a:avLst/>
          </a:prstGeom>
          <a:noFill/>
          <a:ln w="19050" cap="flat" cmpd="sng" algn="ctr">
            <a:solidFill>
              <a:srgbClr val="029E9A"/>
            </a:solidFill>
            <a:prstDash val="solid"/>
          </a:ln>
          <a:effectLst/>
        </p:spPr>
      </p:cxnSp>
      <p:sp>
        <p:nvSpPr>
          <p:cNvPr id="22" name="Rectangle: Rounded Corners 163"/>
          <p:cNvSpPr/>
          <p:nvPr>
            <p:custDataLst>
              <p:tags r:id="rId13"/>
            </p:custDataLst>
          </p:nvPr>
        </p:nvSpPr>
        <p:spPr>
          <a:xfrm>
            <a:off x="3469450" y="2976180"/>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3" name="Rectangle: Rounded Corners 163"/>
          <p:cNvSpPr/>
          <p:nvPr>
            <p:custDataLst>
              <p:tags r:id="rId14"/>
            </p:custDataLst>
          </p:nvPr>
        </p:nvSpPr>
        <p:spPr>
          <a:xfrm>
            <a:off x="3494846" y="3790006"/>
            <a:ext cx="1285103" cy="526181"/>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4" name="连接符: 肘形 23"/>
          <p:cNvCxnSpPr>
            <a:stCxn id="9" idx="3"/>
            <a:endCxn id="15" idx="1"/>
          </p:cNvCxnSpPr>
          <p:nvPr/>
        </p:nvCxnSpPr>
        <p:spPr>
          <a:xfrm flipV="1">
            <a:off x="3023727" y="2510185"/>
            <a:ext cx="462053" cy="1000752"/>
          </a:xfrm>
          <a:prstGeom prst="bentConnector3">
            <a:avLst/>
          </a:prstGeom>
          <a:noFill/>
          <a:ln w="19050" cap="flat" cmpd="sng" algn="ctr">
            <a:solidFill>
              <a:srgbClr val="029E9A"/>
            </a:solidFill>
            <a:prstDash val="solid"/>
          </a:ln>
          <a:effectLst/>
        </p:spPr>
      </p:cxnSp>
      <p:cxnSp>
        <p:nvCxnSpPr>
          <p:cNvPr id="25" name="连接符: 肘形 24"/>
          <p:cNvCxnSpPr>
            <a:stCxn id="9" idx="3"/>
            <a:endCxn id="22" idx="1"/>
          </p:cNvCxnSpPr>
          <p:nvPr/>
        </p:nvCxnSpPr>
        <p:spPr>
          <a:xfrm flipV="1">
            <a:off x="3023727" y="3239271"/>
            <a:ext cx="445723" cy="271666"/>
          </a:xfrm>
          <a:prstGeom prst="bentConnector3">
            <a:avLst/>
          </a:prstGeom>
          <a:noFill/>
          <a:ln w="19050" cap="flat" cmpd="sng" algn="ctr">
            <a:solidFill>
              <a:srgbClr val="029E9A"/>
            </a:solidFill>
            <a:prstDash val="solid"/>
          </a:ln>
          <a:effectLst/>
        </p:spPr>
      </p:cxnSp>
      <p:cxnSp>
        <p:nvCxnSpPr>
          <p:cNvPr id="26" name="连接符: 肘形 25"/>
          <p:cNvCxnSpPr>
            <a:stCxn id="9" idx="3"/>
            <a:endCxn id="23" idx="1"/>
          </p:cNvCxnSpPr>
          <p:nvPr/>
        </p:nvCxnSpPr>
        <p:spPr>
          <a:xfrm>
            <a:off x="3023727" y="3510937"/>
            <a:ext cx="471119" cy="542160"/>
          </a:xfrm>
          <a:prstGeom prst="bentConnector3">
            <a:avLst/>
          </a:prstGeom>
          <a:noFill/>
          <a:ln w="19050" cap="flat" cmpd="sng" algn="ctr">
            <a:solidFill>
              <a:srgbClr val="029E9A"/>
            </a:solidFill>
            <a:prstDash val="solid"/>
          </a:ln>
          <a:effectLst/>
        </p:spPr>
      </p:cxnSp>
      <p:sp>
        <p:nvSpPr>
          <p:cNvPr id="27" name="矩形 26"/>
          <p:cNvSpPr/>
          <p:nvPr/>
        </p:nvSpPr>
        <p:spPr>
          <a:xfrm>
            <a:off x="98580" y="6175140"/>
            <a:ext cx="11870263" cy="344343"/>
          </a:xfrm>
          <a:prstGeom prst="rect">
            <a:avLst/>
          </a:prstGeom>
          <a:solidFill>
            <a:srgbClr val="A9CCD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矩形 27"/>
          <p:cNvSpPr/>
          <p:nvPr>
            <p:custDataLst>
              <p:tags r:id="rId15"/>
            </p:custDataLst>
          </p:nvPr>
        </p:nvSpPr>
        <p:spPr>
          <a:xfrm>
            <a:off x="5278117" y="1525700"/>
            <a:ext cx="1519864" cy="3940050"/>
          </a:xfrm>
          <a:prstGeom prst="rect">
            <a:avLst/>
          </a:prstGeom>
          <a:solidFill>
            <a:srgbClr val="B7D7D7"/>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11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29" name="Rectangle: Rounded Corners 85"/>
          <p:cNvSpPr/>
          <p:nvPr>
            <p:custDataLst>
              <p:tags r:id="rId16"/>
            </p:custDataLst>
          </p:nvPr>
        </p:nvSpPr>
        <p:spPr>
          <a:xfrm>
            <a:off x="5453104" y="837844"/>
            <a:ext cx="6215078"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收入指标</a:t>
            </a:r>
            <a:endParaRPr kumimoji="0" lang="en-US" altLang="zh-CN"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a:p>
            <a:pPr marL="0" marR="0" lvl="0" indent="0" algn="ctr" defTabSz="666750" eaLnBrk="1" fontAlgn="auto" latinLnBrk="0" hangingPunct="1">
              <a:lnSpc>
                <a:spcPct val="90000"/>
              </a:lnSpc>
              <a:spcBef>
                <a:spcPct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二级：分析维度</a:t>
            </a:r>
            <a:r>
              <a:rPr kumimoji="0" lang="en-US" altLang="zh-CN"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a:t>
            </a:r>
            <a:r>
              <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rPr>
              <a:t>产品</a:t>
            </a:r>
            <a:endParaRPr kumimoji="0" lang="zh-CN" altLang="en-US" sz="12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Helvetica"/>
            </a:endParaRPr>
          </a:p>
        </p:txBody>
      </p:sp>
      <p:sp>
        <p:nvSpPr>
          <p:cNvPr id="30" name="Rectangle: Rounded Corners 163"/>
          <p:cNvSpPr/>
          <p:nvPr>
            <p:custDataLst>
              <p:tags r:id="rId17"/>
            </p:custDataLst>
          </p:nvPr>
        </p:nvSpPr>
        <p:spPr>
          <a:xfrm>
            <a:off x="5371629" y="2361605"/>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18"/>
            </p:custDataLst>
          </p:nvPr>
        </p:nvSpPr>
        <p:spPr>
          <a:xfrm>
            <a:off x="5385919" y="3154352"/>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19"/>
            </p:custDataLst>
          </p:nvPr>
        </p:nvSpPr>
        <p:spPr>
          <a:xfrm>
            <a:off x="5395497" y="3945603"/>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加号 32"/>
          <p:cNvSpPr/>
          <p:nvPr/>
        </p:nvSpPr>
        <p:spPr>
          <a:xfrm>
            <a:off x="4750989" y="3076017"/>
            <a:ext cx="690110" cy="462583"/>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4" name="矩形 33"/>
          <p:cNvSpPr/>
          <p:nvPr/>
        </p:nvSpPr>
        <p:spPr bwMode="auto">
          <a:xfrm>
            <a:off x="1246566" y="5877549"/>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rPr>
              <a:t>分析口径</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endParaRPr>
          </a:p>
        </p:txBody>
      </p:sp>
      <p:sp>
        <p:nvSpPr>
          <p:cNvPr id="35" name="加号 34"/>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6" name="矩形 35"/>
          <p:cNvSpPr/>
          <p:nvPr/>
        </p:nvSpPr>
        <p:spPr bwMode="auto">
          <a:xfrm>
            <a:off x="4369680" y="5867127"/>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rPr>
              <a:t>调整规则 </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endParaRPr>
          </a:p>
        </p:txBody>
      </p:sp>
      <p:sp>
        <p:nvSpPr>
          <p:cNvPr id="37" name="等号 36"/>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8" name="矩形 37"/>
          <p:cNvSpPr/>
          <p:nvPr/>
        </p:nvSpPr>
        <p:spPr bwMode="auto">
          <a:xfrm>
            <a:off x="7363252" y="5863046"/>
            <a:ext cx="1777161" cy="259285"/>
          </a:xfrm>
          <a:prstGeom prst="rect">
            <a:avLst/>
          </a:prstGeom>
          <a:solidFill>
            <a:srgbClr val="009F9A"/>
          </a:solidFill>
          <a:ln w="12700">
            <a:solidFill>
              <a:srgbClr val="1F497D">
                <a:lumMod val="60000"/>
                <a:lumOff val="40000"/>
              </a:srgbClr>
            </a:solidFill>
            <a:miter lim="800000"/>
          </a:ln>
        </p:spPr>
        <p:txBody>
          <a:bodyPr wrap="square" rtlCol="0" anchor="ctr">
            <a:no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rPr>
              <a:t>考核口径 </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endParaRPr>
          </a:p>
        </p:txBody>
      </p:sp>
      <p:sp>
        <p:nvSpPr>
          <p:cNvPr id="39" name="Rectangle: Rounded Corners 92"/>
          <p:cNvSpPr/>
          <p:nvPr>
            <p:custDataLst>
              <p:tags r:id="rId20"/>
            </p:custDataLst>
          </p:nvPr>
        </p:nvSpPr>
        <p:spPr>
          <a:xfrm>
            <a:off x="1667052" y="2685790"/>
            <a:ext cx="1296000" cy="477877"/>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-Sparts</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0" name="连接符: 肘形 39"/>
          <p:cNvCxnSpPr>
            <a:stCxn id="11" idx="3"/>
          </p:cNvCxnSpPr>
          <p:nvPr/>
        </p:nvCxnSpPr>
        <p:spPr>
          <a:xfrm flipV="1">
            <a:off x="1063078" y="2924728"/>
            <a:ext cx="593681" cy="450168"/>
          </a:xfrm>
          <a:prstGeom prst="bentConnector3">
            <a:avLst/>
          </a:prstGeom>
          <a:noFill/>
          <a:ln w="19050" cap="flat" cmpd="sng" algn="ctr">
            <a:solidFill>
              <a:srgbClr val="029E9A"/>
            </a:solidFill>
            <a:prstDash val="solid"/>
          </a:ln>
          <a:effectLst/>
        </p:spPr>
      </p:cxnSp>
      <p:pic>
        <p:nvPicPr>
          <p:cNvPr id="41" name="图片 40"/>
          <p:cNvPicPr>
            <a:picLocks noChangeAspect="1"/>
          </p:cNvPicPr>
          <p:nvPr/>
        </p:nvPicPr>
        <p:blipFill>
          <a:blip r:embed="rId21"/>
          <a:stretch>
            <a:fillRect/>
          </a:stretch>
        </p:blipFill>
        <p:spPr>
          <a:xfrm>
            <a:off x="6984279" y="1516354"/>
            <a:ext cx="4633561" cy="1800761"/>
          </a:xfrm>
          <a:custGeom>
            <a:avLst/>
            <a:gdLst>
              <a:gd name="connsiteX0" fmla="*/ 923 w 4531279"/>
              <a:gd name="connsiteY0" fmla="*/ -33 h 1692691"/>
              <a:gd name="connsiteX1" fmla="*/ 4532203 w 4531279"/>
              <a:gd name="connsiteY1" fmla="*/ -33 h 1692691"/>
              <a:gd name="connsiteX2" fmla="*/ 4532203 w 4531279"/>
              <a:gd name="connsiteY2" fmla="*/ 1692659 h 1692691"/>
              <a:gd name="connsiteX3" fmla="*/ 923 w 4531279"/>
              <a:gd name="connsiteY3" fmla="*/ 1692659 h 1692691"/>
            </a:gdLst>
            <a:ahLst/>
            <a:cxnLst>
              <a:cxn ang="0">
                <a:pos x="connsiteX0" y="connsiteY0"/>
              </a:cxn>
              <a:cxn ang="0">
                <a:pos x="connsiteX1" y="connsiteY1"/>
              </a:cxn>
              <a:cxn ang="0">
                <a:pos x="connsiteX2" y="connsiteY2"/>
              </a:cxn>
              <a:cxn ang="0">
                <a:pos x="connsiteX3" y="connsiteY3"/>
              </a:cxn>
            </a:cxnLst>
            <a:rect l="l" t="t" r="r" b="b"/>
            <a:pathLst>
              <a:path w="4531279" h="1692691">
                <a:moveTo>
                  <a:pt x="923" y="-33"/>
                </a:moveTo>
                <a:lnTo>
                  <a:pt x="4532203" y="-33"/>
                </a:lnTo>
                <a:lnTo>
                  <a:pt x="4532203" y="1692659"/>
                </a:lnTo>
                <a:lnTo>
                  <a:pt x="923" y="1692659"/>
                </a:lnTo>
                <a:close/>
              </a:path>
            </a:pathLst>
          </a:custGeom>
          <a:solidFill>
            <a:srgbClr val="FFFFFF"/>
          </a:solidFill>
          <a:ln>
            <a:solidFill>
              <a:srgbClr val="029E9A"/>
            </a:solidFill>
          </a:ln>
        </p:spPr>
      </p:pic>
      <p:sp>
        <p:nvSpPr>
          <p:cNvPr id="42" name="文本框 41"/>
          <p:cNvSpPr txBox="1"/>
          <p:nvPr/>
        </p:nvSpPr>
        <p:spPr>
          <a:xfrm>
            <a:off x="7895609" y="1516354"/>
            <a:ext cx="2215243" cy="20005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产品生命周期维度</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43" name="箭头: 下 42"/>
          <p:cNvSpPr/>
          <p:nvPr/>
        </p:nvSpPr>
        <p:spPr bwMode="auto">
          <a:xfrm rot="16200000">
            <a:off x="6319846" y="3221354"/>
            <a:ext cx="1129553" cy="431804"/>
          </a:xfrm>
          <a:prstGeom prst="downArrow">
            <a:avLst/>
          </a:prstGeom>
          <a:solidFill>
            <a:srgbClr val="11AFBB"/>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cxnSp>
        <p:nvCxnSpPr>
          <p:cNvPr id="44" name="直接箭头连接符 43"/>
          <p:cNvCxnSpPr/>
          <p:nvPr/>
        </p:nvCxnSpPr>
        <p:spPr>
          <a:xfrm>
            <a:off x="9140413" y="3317115"/>
            <a:ext cx="0" cy="630868"/>
          </a:xfrm>
          <a:prstGeom prst="straightConnector1">
            <a:avLst/>
          </a:prstGeom>
          <a:noFill/>
          <a:ln w="12700" cap="flat">
            <a:solidFill>
              <a:srgbClr val="029E9A"/>
            </a:solidFill>
            <a:prstDash val="solid"/>
            <a:miter lim="800000"/>
            <a:tailEnd type="triangle"/>
          </a:ln>
          <a:effectLst/>
        </p:spPr>
      </p:cxnSp>
      <p:sp>
        <p:nvSpPr>
          <p:cNvPr id="45" name="文本框 44"/>
          <p:cNvSpPr txBox="1"/>
          <p:nvPr/>
        </p:nvSpPr>
        <p:spPr>
          <a:xfrm>
            <a:off x="7107985" y="3744578"/>
            <a:ext cx="1575247" cy="153888"/>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三级：产品及研发过程指标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pic>
        <p:nvPicPr>
          <p:cNvPr id="46" name="图片 45"/>
          <p:cNvPicPr>
            <a:picLocks noChangeAspect="1"/>
          </p:cNvPicPr>
          <p:nvPr/>
        </p:nvPicPr>
        <p:blipFill>
          <a:blip r:embed="rId22"/>
          <a:stretch>
            <a:fillRect/>
          </a:stretch>
        </p:blipFill>
        <p:spPr>
          <a:xfrm>
            <a:off x="6983201" y="3948428"/>
            <a:ext cx="4633560" cy="1516572"/>
          </a:xfrm>
          <a:prstGeom prst="rect">
            <a:avLst/>
          </a:prstGeom>
          <a:ln>
            <a:solidFill>
              <a:srgbClr val="029E9A"/>
            </a:solidFill>
          </a:ln>
        </p:spPr>
      </p:pic>
      <p:sp>
        <p:nvSpPr>
          <p:cNvPr id="47" name="矩形 46"/>
          <p:cNvSpPr/>
          <p:nvPr/>
        </p:nvSpPr>
        <p:spPr>
          <a:xfrm>
            <a:off x="7747783" y="4114567"/>
            <a:ext cx="504049" cy="391436"/>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8" name="Rectangle: Rounded Corners 163"/>
          <p:cNvSpPr/>
          <p:nvPr>
            <p:custDataLst>
              <p:tags r:id="rId23"/>
            </p:custDataLst>
          </p:nvPr>
        </p:nvSpPr>
        <p:spPr>
          <a:xfrm>
            <a:off x="5394477" y="4720146"/>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9" name="Rectangle: Rounded Corners 163"/>
          <p:cNvSpPr/>
          <p:nvPr>
            <p:custDataLst>
              <p:tags r:id="rId24"/>
            </p:custDataLst>
          </p:nvPr>
        </p:nvSpPr>
        <p:spPr>
          <a:xfrm>
            <a:off x="5371629" y="1563961"/>
            <a:ext cx="1285103" cy="689385"/>
          </a:xfrm>
          <a:prstGeom prst="roundRect">
            <a:avLst/>
          </a:prstGeom>
          <a:solidFill>
            <a:srgbClr val="CEEAEE"/>
          </a:solidFill>
          <a:ln w="19050" cap="flat" cmpd="sng" algn="ctr">
            <a:solidFill>
              <a:srgbClr val="009F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应用场景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C-2</a:t>
            </a:r>
            <a:r>
              <a:rPr lang="zh-CN" altLang="en-US" kern="0" dirty="0">
                <a:solidFill>
                  <a:srgbClr val="000000"/>
                </a:solidFill>
                <a:cs typeface="Helvetica"/>
                <a:sym typeface="+mn-ea"/>
              </a:rPr>
              <a:t>：经营六要素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收入分析示例</a:t>
            </a:r>
            <a:r>
              <a:rPr lang="en-US" altLang="zh-CN" kern="0" dirty="0">
                <a:solidFill>
                  <a:srgbClr val="000000"/>
                </a:solidFill>
                <a:cs typeface="Helvetica"/>
                <a:sym typeface="+mn-ea"/>
              </a:rPr>
              <a:t>-</a:t>
            </a:r>
            <a:r>
              <a:rPr lang="zh-CN" altLang="en-US" kern="0" dirty="0">
                <a:solidFill>
                  <a:srgbClr val="000000"/>
                </a:solidFill>
                <a:cs typeface="Helvetica"/>
                <a:sym typeface="+mn-ea"/>
              </a:rPr>
              <a:t>销服视角</a:t>
            </a:r>
            <a:r>
              <a:rPr lang="en-US" altLang="zh-CN" kern="0" dirty="0">
                <a:solidFill>
                  <a:srgbClr val="000000"/>
                </a:solidFill>
                <a:cs typeface="Helvetica"/>
                <a:sym typeface="+mn-ea"/>
              </a:rPr>
              <a:t>-</a:t>
            </a:r>
            <a:r>
              <a:rPr lang="zh-CN" altLang="en-US" kern="0" dirty="0">
                <a:solidFill>
                  <a:srgbClr val="000000"/>
                </a:solidFill>
                <a:cs typeface="Helvetica"/>
                <a:sym typeface="+mn-ea"/>
              </a:rPr>
              <a:t>强化营销六要素视角</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Freeform: Shape 314"/>
          <p:cNvSpPr/>
          <p:nvPr>
            <p:custDataLst>
              <p:tags r:id="rId1"/>
            </p:custDataLst>
          </p:nvPr>
        </p:nvSpPr>
        <p:spPr>
          <a:xfrm>
            <a:off x="5190709" y="755577"/>
            <a:ext cx="6664996"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5" name="矩形 4"/>
          <p:cNvSpPr/>
          <p:nvPr>
            <p:custDataLst>
              <p:tags r:id="rId2"/>
            </p:custDataLst>
          </p:nvPr>
        </p:nvSpPr>
        <p:spPr>
          <a:xfrm>
            <a:off x="5268538" y="3936727"/>
            <a:ext cx="1519864" cy="1523581"/>
          </a:xfrm>
          <a:prstGeom prst="rect">
            <a:avLst/>
          </a:prstGeom>
          <a:solidFill>
            <a:srgbClr val="029E9A">
              <a:alpha val="20000"/>
            </a:srgbClr>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6" name="Freeform: Shape 314"/>
          <p:cNvSpPr/>
          <p:nvPr>
            <p:custDataLst>
              <p:tags r:id="rId3"/>
            </p:custDataLst>
          </p:nvPr>
        </p:nvSpPr>
        <p:spPr>
          <a:xfrm>
            <a:off x="3219713" y="747490"/>
            <a:ext cx="1867957"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7" name="矩形 6"/>
          <p:cNvSpPr/>
          <p:nvPr>
            <p:custDataLst>
              <p:tags r:id="rId4"/>
            </p:custDataLst>
          </p:nvPr>
        </p:nvSpPr>
        <p:spPr>
          <a:xfrm>
            <a:off x="3389435" y="1520258"/>
            <a:ext cx="1519864" cy="3940050"/>
          </a:xfrm>
          <a:prstGeom prst="rect">
            <a:avLst/>
          </a:prstGeom>
          <a:solidFill>
            <a:srgbClr val="029E9A">
              <a:alpha val="20000"/>
            </a:srgbClr>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8" name="Freeform: Shape 313"/>
          <p:cNvSpPr/>
          <p:nvPr/>
        </p:nvSpPr>
        <p:spPr>
          <a:xfrm>
            <a:off x="1384288" y="747490"/>
            <a:ext cx="1777854"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endParaRPr>
          </a:p>
        </p:txBody>
      </p:sp>
      <p:sp>
        <p:nvSpPr>
          <p:cNvPr id="9" name="矩形 8"/>
          <p:cNvSpPr/>
          <p:nvPr>
            <p:custDataLst>
              <p:tags r:id="rId5"/>
            </p:custDataLst>
          </p:nvPr>
        </p:nvSpPr>
        <p:spPr>
          <a:xfrm>
            <a:off x="1604724" y="1540912"/>
            <a:ext cx="1419003" cy="3940050"/>
          </a:xfrm>
          <a:prstGeom prst="rect">
            <a:avLst/>
          </a:prstGeom>
          <a:solidFill>
            <a:srgbClr val="029E9A">
              <a:alpha val="20000"/>
            </a:srgbClr>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10" name="Freeform: Shape 259"/>
          <p:cNvSpPr/>
          <p:nvPr/>
        </p:nvSpPr>
        <p:spPr>
          <a:xfrm>
            <a:off x="98580" y="747490"/>
            <a:ext cx="1213823" cy="5027386"/>
          </a:xfrm>
          <a:custGeom>
            <a:avLst/>
            <a:gdLst>
              <a:gd name="connsiteX0" fmla="*/ 0 w 750438"/>
              <a:gd name="connsiteY0" fmla="*/ 75044 h 4833010"/>
              <a:gd name="connsiteX1" fmla="*/ 75044 w 750438"/>
              <a:gd name="connsiteY1" fmla="*/ 0 h 4833010"/>
              <a:gd name="connsiteX2" fmla="*/ 675394 w 750438"/>
              <a:gd name="connsiteY2" fmla="*/ 0 h 4833010"/>
              <a:gd name="connsiteX3" fmla="*/ 750438 w 750438"/>
              <a:gd name="connsiteY3" fmla="*/ 75044 h 4833010"/>
              <a:gd name="connsiteX4" fmla="*/ 750438 w 750438"/>
              <a:gd name="connsiteY4" fmla="*/ 4757966 h 4833010"/>
              <a:gd name="connsiteX5" fmla="*/ 675394 w 750438"/>
              <a:gd name="connsiteY5" fmla="*/ 4833010 h 4833010"/>
              <a:gd name="connsiteX6" fmla="*/ 75044 w 750438"/>
              <a:gd name="connsiteY6" fmla="*/ 4833010 h 4833010"/>
              <a:gd name="connsiteX7" fmla="*/ 0 w 750438"/>
              <a:gd name="connsiteY7" fmla="*/ 4757966 h 4833010"/>
              <a:gd name="connsiteX8" fmla="*/ 0 w 750438"/>
              <a:gd name="connsiteY8" fmla="*/ 75044 h 483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438" h="4833010">
                <a:moveTo>
                  <a:pt x="0" y="75044"/>
                </a:moveTo>
                <a:cubicBezTo>
                  <a:pt x="0" y="33598"/>
                  <a:pt x="33598" y="0"/>
                  <a:pt x="75044" y="0"/>
                </a:cubicBezTo>
                <a:lnTo>
                  <a:pt x="675394" y="0"/>
                </a:lnTo>
                <a:cubicBezTo>
                  <a:pt x="716840" y="0"/>
                  <a:pt x="750438" y="33598"/>
                  <a:pt x="750438" y="75044"/>
                </a:cubicBezTo>
                <a:lnTo>
                  <a:pt x="750438" y="4757966"/>
                </a:lnTo>
                <a:cubicBezTo>
                  <a:pt x="750438" y="4799412"/>
                  <a:pt x="716840" y="4833010"/>
                  <a:pt x="675394" y="4833010"/>
                </a:cubicBezTo>
                <a:lnTo>
                  <a:pt x="75044" y="4833010"/>
                </a:lnTo>
                <a:cubicBezTo>
                  <a:pt x="33598" y="4833010"/>
                  <a:pt x="0" y="4799412"/>
                  <a:pt x="0" y="4757966"/>
                </a:cubicBezTo>
                <a:lnTo>
                  <a:pt x="0" y="75044"/>
                </a:lnTo>
                <a:close/>
              </a:path>
            </a:pathLst>
          </a:custGeom>
          <a:solidFill>
            <a:srgbClr val="7D7D7D">
              <a:lumMod val="20000"/>
              <a:lumOff val="80000"/>
            </a:srgbClr>
          </a:solidFill>
          <a:ln>
            <a:noFill/>
          </a:ln>
          <a:effectLst/>
        </p:spPr>
        <p:txBody>
          <a:bodyPr spcFirstLastPara="0" vert="horz" wrap="square" lIns="106680" tIns="106680" rIns="106680" bIns="3091774" numCol="1" spcCol="1270" anchor="ctr" anchorCtr="0">
            <a:noAutofit/>
          </a:bodyPr>
          <a:lstStyle/>
          <a:p>
            <a:pPr algn="ctr" defTabSz="666750" eaLnBrk="0" fontAlgn="base" hangingPunct="0">
              <a:lnSpc>
                <a:spcPct val="90000"/>
              </a:lnSpc>
              <a:spcBef>
                <a:spcPct val="0"/>
              </a:spcBef>
              <a:spcAft>
                <a:spcPct val="35000"/>
              </a:spcAft>
              <a:defRPr/>
            </a:pPr>
            <a:endParaRPr lang="zh-CN" altLang="en-US" sz="1590" b="1" kern="0">
              <a:solidFill>
                <a:srgbClr val="000000">
                  <a:hueOff val="0"/>
                  <a:satOff val="0"/>
                  <a:lumOff val="0"/>
                  <a:alphaOff val="0"/>
                </a:srgbClr>
              </a:solidFill>
              <a:latin typeface="微软雅黑" panose="020B0503020204020204" pitchFamily="34" charset="-122"/>
              <a:ea typeface="微软雅黑" panose="020B0503020204020204" pitchFamily="34" charset="-122"/>
              <a:cs typeface="Helvetica"/>
              <a:sym typeface="+mn-ea"/>
            </a:endParaRPr>
          </a:p>
        </p:txBody>
      </p:sp>
      <p:sp>
        <p:nvSpPr>
          <p:cNvPr id="11" name="Rectangle: Rounded Corners 91"/>
          <p:cNvSpPr/>
          <p:nvPr/>
        </p:nvSpPr>
        <p:spPr>
          <a:xfrm>
            <a:off x="342988" y="2801808"/>
            <a:ext cx="720090" cy="114617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2" name="Rectangle: Rounded Corners 85"/>
          <p:cNvSpPr/>
          <p:nvPr/>
        </p:nvSpPr>
        <p:spPr>
          <a:xfrm>
            <a:off x="195938" y="826958"/>
            <a:ext cx="99672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经营要素</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3" name="Rectangle: Rounded Corners 85"/>
          <p:cNvSpPr/>
          <p:nvPr>
            <p:custDataLst>
              <p:tags r:id="rId6"/>
            </p:custDataLst>
          </p:nvPr>
        </p:nvSpPr>
        <p:spPr>
          <a:xfrm>
            <a:off x="1757400" y="826958"/>
            <a:ext cx="943610"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一级</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4" name="Rectangle: Rounded Corners 85"/>
          <p:cNvSpPr/>
          <p:nvPr>
            <p:custDataLst>
              <p:tags r:id="rId7"/>
            </p:custDataLst>
          </p:nvPr>
        </p:nvSpPr>
        <p:spPr>
          <a:xfrm>
            <a:off x="3564422" y="826958"/>
            <a:ext cx="1387475"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二级：组织维度</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15" name="Rectangle: Rounded Corners 163"/>
          <p:cNvSpPr/>
          <p:nvPr>
            <p:custDataLst>
              <p:tags r:id="rId8"/>
            </p:custDataLst>
          </p:nvPr>
        </p:nvSpPr>
        <p:spPr>
          <a:xfrm>
            <a:off x="3485780" y="2247094"/>
            <a:ext cx="1285103" cy="526181"/>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组织：业务主体</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全融合、子公司</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Rectangle: Rounded Corners 92"/>
          <p:cNvSpPr/>
          <p:nvPr>
            <p:custDataLst>
              <p:tags r:id="rId9"/>
            </p:custDataLst>
          </p:nvPr>
        </p:nvSpPr>
        <p:spPr>
          <a:xfrm>
            <a:off x="1667052" y="1698812"/>
            <a:ext cx="1296000" cy="477877"/>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屏体</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Rectangle: Rounded Corners 92"/>
          <p:cNvSpPr/>
          <p:nvPr>
            <p:custDataLst>
              <p:tags r:id="rId10"/>
            </p:custDataLst>
          </p:nvPr>
        </p:nvSpPr>
        <p:spPr>
          <a:xfrm>
            <a:off x="1667052" y="4800663"/>
            <a:ext cx="1296000" cy="477094"/>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售后增值收入</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18" name="Connector: Elbow 261"/>
          <p:cNvCxnSpPr>
            <a:stCxn id="11" idx="3"/>
            <a:endCxn id="16" idx="1"/>
          </p:cNvCxnSpPr>
          <p:nvPr>
            <p:custDataLst>
              <p:tags r:id="rId11"/>
            </p:custDataLst>
          </p:nvPr>
        </p:nvCxnSpPr>
        <p:spPr>
          <a:xfrm flipV="1">
            <a:off x="1063078" y="1937751"/>
            <a:ext cx="603974" cy="1437145"/>
          </a:xfrm>
          <a:prstGeom prst="bentConnector3">
            <a:avLst>
              <a:gd name="adj1" fmla="val 50000"/>
            </a:avLst>
          </a:prstGeom>
          <a:noFill/>
          <a:ln w="19050" cap="flat" cmpd="sng" algn="ctr">
            <a:solidFill>
              <a:srgbClr val="11AFBB"/>
            </a:solidFill>
            <a:prstDash val="solid"/>
          </a:ln>
          <a:effectLst/>
        </p:spPr>
      </p:cxnSp>
      <p:cxnSp>
        <p:nvCxnSpPr>
          <p:cNvPr id="19" name="Connector: Elbow 261"/>
          <p:cNvCxnSpPr>
            <a:stCxn id="11" idx="3"/>
            <a:endCxn id="17" idx="1"/>
          </p:cNvCxnSpPr>
          <p:nvPr>
            <p:custDataLst>
              <p:tags r:id="rId12"/>
            </p:custDataLst>
          </p:nvPr>
        </p:nvCxnSpPr>
        <p:spPr>
          <a:xfrm>
            <a:off x="1063078" y="3374896"/>
            <a:ext cx="603974" cy="1664314"/>
          </a:xfrm>
          <a:prstGeom prst="bentConnector3">
            <a:avLst>
              <a:gd name="adj1" fmla="val 50000"/>
            </a:avLst>
          </a:prstGeom>
          <a:noFill/>
          <a:ln w="19050" cap="flat" cmpd="sng" algn="ctr">
            <a:solidFill>
              <a:srgbClr val="11AFBB"/>
            </a:solidFill>
            <a:prstDash val="solid"/>
          </a:ln>
          <a:effectLst/>
        </p:spPr>
      </p:cxnSp>
      <p:sp>
        <p:nvSpPr>
          <p:cNvPr id="20" name="Rectangle: Rounded Corners 92"/>
          <p:cNvSpPr/>
          <p:nvPr>
            <p:custDataLst>
              <p:tags r:id="rId13"/>
            </p:custDataLst>
          </p:nvPr>
        </p:nvSpPr>
        <p:spPr>
          <a:xfrm>
            <a:off x="1656759" y="3545167"/>
            <a:ext cx="1296000" cy="477877"/>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工程服务</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1" name="连接符: 肘形 20"/>
          <p:cNvCxnSpPr>
            <a:stCxn id="11" idx="3"/>
            <a:endCxn id="20" idx="1"/>
          </p:cNvCxnSpPr>
          <p:nvPr/>
        </p:nvCxnSpPr>
        <p:spPr>
          <a:xfrm>
            <a:off x="1063078" y="3374896"/>
            <a:ext cx="593681" cy="409210"/>
          </a:xfrm>
          <a:prstGeom prst="bentConnector3">
            <a:avLst/>
          </a:prstGeom>
          <a:noFill/>
          <a:ln w="19050" cap="flat" cmpd="sng" algn="ctr">
            <a:solidFill>
              <a:srgbClr val="11AFBB"/>
            </a:solidFill>
            <a:prstDash val="solid"/>
          </a:ln>
          <a:effectLst/>
        </p:spPr>
      </p:cxnSp>
      <p:sp>
        <p:nvSpPr>
          <p:cNvPr id="22" name="Rectangle: Rounded Corners 163"/>
          <p:cNvSpPr/>
          <p:nvPr>
            <p:custDataLst>
              <p:tags r:id="rId14"/>
            </p:custDataLst>
          </p:nvPr>
        </p:nvSpPr>
        <p:spPr>
          <a:xfrm>
            <a:off x="3469450" y="2976180"/>
            <a:ext cx="1285103" cy="526181"/>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组织：销服体系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3" name="Rectangle: Rounded Corners 163"/>
          <p:cNvSpPr/>
          <p:nvPr>
            <p:custDataLst>
              <p:tags r:id="rId15"/>
            </p:custDataLst>
          </p:nvPr>
        </p:nvSpPr>
        <p:spPr>
          <a:xfrm>
            <a:off x="3494846" y="3790006"/>
            <a:ext cx="1285103" cy="526181"/>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组织：产品体系</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产品线（分层）</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24" name="连接符: 肘形 23"/>
          <p:cNvCxnSpPr>
            <a:stCxn id="9" idx="3"/>
            <a:endCxn id="15" idx="1"/>
          </p:cNvCxnSpPr>
          <p:nvPr/>
        </p:nvCxnSpPr>
        <p:spPr>
          <a:xfrm flipV="1">
            <a:off x="3023727" y="2510185"/>
            <a:ext cx="462053" cy="1000752"/>
          </a:xfrm>
          <a:prstGeom prst="bentConnector3">
            <a:avLst/>
          </a:prstGeom>
          <a:noFill/>
          <a:ln w="19050" cap="flat" cmpd="sng" algn="ctr">
            <a:solidFill>
              <a:srgbClr val="11AFBB"/>
            </a:solidFill>
            <a:prstDash val="solid"/>
          </a:ln>
          <a:effectLst/>
        </p:spPr>
      </p:cxnSp>
      <p:cxnSp>
        <p:nvCxnSpPr>
          <p:cNvPr id="25" name="连接符: 肘形 24"/>
          <p:cNvCxnSpPr>
            <a:stCxn id="9" idx="3"/>
            <a:endCxn id="22" idx="1"/>
          </p:cNvCxnSpPr>
          <p:nvPr/>
        </p:nvCxnSpPr>
        <p:spPr>
          <a:xfrm flipV="1">
            <a:off x="3023727" y="3239271"/>
            <a:ext cx="445723" cy="271666"/>
          </a:xfrm>
          <a:prstGeom prst="bentConnector3">
            <a:avLst/>
          </a:prstGeom>
          <a:noFill/>
          <a:ln w="19050" cap="flat" cmpd="sng" algn="ctr">
            <a:solidFill>
              <a:srgbClr val="11AFBB"/>
            </a:solidFill>
            <a:prstDash val="solid"/>
          </a:ln>
          <a:effectLst/>
        </p:spPr>
      </p:cxnSp>
      <p:cxnSp>
        <p:nvCxnSpPr>
          <p:cNvPr id="26" name="连接符: 肘形 25"/>
          <p:cNvCxnSpPr>
            <a:stCxn id="9" idx="3"/>
            <a:endCxn id="23" idx="1"/>
          </p:cNvCxnSpPr>
          <p:nvPr/>
        </p:nvCxnSpPr>
        <p:spPr>
          <a:xfrm>
            <a:off x="3023727" y="3510937"/>
            <a:ext cx="471119" cy="542160"/>
          </a:xfrm>
          <a:prstGeom prst="bentConnector3">
            <a:avLst/>
          </a:prstGeom>
          <a:noFill/>
          <a:ln w="19050" cap="flat" cmpd="sng" algn="ctr">
            <a:solidFill>
              <a:srgbClr val="11AFBB"/>
            </a:solidFill>
            <a:prstDash val="solid"/>
          </a:ln>
          <a:effectLst/>
        </p:spPr>
      </p:cxnSp>
      <p:sp>
        <p:nvSpPr>
          <p:cNvPr id="27" name="矩形 26"/>
          <p:cNvSpPr/>
          <p:nvPr/>
        </p:nvSpPr>
        <p:spPr>
          <a:xfrm>
            <a:off x="98580" y="6175140"/>
            <a:ext cx="11870263" cy="344343"/>
          </a:xfrm>
          <a:prstGeom prst="rect">
            <a:avLst/>
          </a:prstGeom>
          <a:solidFill>
            <a:srgbClr val="0C7F8A">
              <a:alpha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对比维度：目标</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趋势</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结构</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endPar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矩形 27"/>
          <p:cNvSpPr/>
          <p:nvPr>
            <p:custDataLst>
              <p:tags r:id="rId16"/>
            </p:custDataLst>
          </p:nvPr>
        </p:nvSpPr>
        <p:spPr>
          <a:xfrm>
            <a:off x="5278117" y="1525700"/>
            <a:ext cx="1519864" cy="2326863"/>
          </a:xfrm>
          <a:prstGeom prst="rect">
            <a:avLst/>
          </a:prstGeom>
          <a:solidFill>
            <a:srgbClr val="029E9A">
              <a:alpha val="20000"/>
            </a:srgbClr>
          </a:solidFill>
          <a:ln w="9525" cap="flat" cmpd="sng" algn="ctr">
            <a:solidFill>
              <a:srgbClr val="029E9A"/>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buFont typeface="Arial" panose="020B0604020202020204" pitchFamily="34" charset="0"/>
              <a:buNone/>
              <a:defRPr/>
            </a:pPr>
            <a:endParaRPr lang="zh-CN" altLang="zh-CN" sz="1100" b="1">
              <a:solidFill>
                <a:srgbClr val="FFFFFF"/>
              </a:solidFill>
              <a:latin typeface="微软雅黑" panose="020B0503020204020204" pitchFamily="34" charset="-122"/>
              <a:ea typeface="微软雅黑" panose="020B0503020204020204" pitchFamily="34" charset="-122"/>
              <a:cs typeface="Helvetica"/>
            </a:endParaRPr>
          </a:p>
        </p:txBody>
      </p:sp>
      <p:sp>
        <p:nvSpPr>
          <p:cNvPr id="29" name="Rectangle: Rounded Corners 85"/>
          <p:cNvSpPr/>
          <p:nvPr>
            <p:custDataLst>
              <p:tags r:id="rId17"/>
            </p:custDataLst>
          </p:nvPr>
        </p:nvSpPr>
        <p:spPr>
          <a:xfrm>
            <a:off x="5453104" y="837844"/>
            <a:ext cx="6215078" cy="396000"/>
          </a:xfrm>
          <a:prstGeom prst="roundRect">
            <a:avLst/>
          </a:prstGeom>
          <a:solidFill>
            <a:srgbClr val="0C7F8A"/>
          </a:solidFill>
          <a:ln w="25400" cap="flat" cmpd="sng" algn="ctr">
            <a:noFill/>
            <a:prstDash val="solid"/>
          </a:ln>
          <a:effectLst/>
        </p:spPr>
        <p:txBody>
          <a:bodyPr rot="0" spcFirstLastPara="0" vertOverflow="overflow" horzOverflow="overflow" vert="horz" wrap="square" lIns="80682" tIns="40341" rIns="80682" bIns="40341" numCol="1" spcCol="0" rtlCol="0" fromWordArt="0" anchor="ctr" anchorCtr="0" forceAA="0" compatLnSpc="1">
            <a:noAutofit/>
          </a:bodyPr>
          <a:lstStyle/>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收入指标</a:t>
            </a:r>
            <a:endPar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a:p>
            <a:pPr algn="ctr" defTabSz="666750">
              <a:lnSpc>
                <a:spcPct val="90000"/>
              </a:lnSpc>
              <a:spcBef>
                <a:spcPct val="0"/>
              </a:spcBef>
              <a:defRPr/>
            </a:pP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二级：分析维度</a:t>
            </a:r>
            <a:r>
              <a:rPr lang="en-US" altLang="zh-CN"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a:t>
            </a:r>
            <a:r>
              <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rPr>
              <a:t>产品</a:t>
            </a:r>
            <a:endParaRPr lang="zh-CN" altLang="en-US" sz="1200" kern="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Helvetica"/>
            </a:endParaRPr>
          </a:p>
        </p:txBody>
      </p:sp>
      <p:sp>
        <p:nvSpPr>
          <p:cNvPr id="30" name="Rectangle: Rounded Corners 163"/>
          <p:cNvSpPr/>
          <p:nvPr>
            <p:custDataLst>
              <p:tags r:id="rId18"/>
            </p:custDataLst>
          </p:nvPr>
        </p:nvSpPr>
        <p:spPr>
          <a:xfrm>
            <a:off x="5394477" y="4723657"/>
            <a:ext cx="1285103" cy="68938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产品系列</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新老产品</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生命周期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1" name="Rectangle: Rounded Corners 163"/>
          <p:cNvSpPr/>
          <p:nvPr>
            <p:custDataLst>
              <p:tags r:id="rId19"/>
            </p:custDataLst>
          </p:nvPr>
        </p:nvSpPr>
        <p:spPr>
          <a:xfrm>
            <a:off x="5385919" y="2327034"/>
            <a:ext cx="1285103" cy="68938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区域（业务）：</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国外</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区域</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2" name="Rectangle: Rounded Corners 163"/>
          <p:cNvSpPr/>
          <p:nvPr>
            <p:custDataLst>
              <p:tags r:id="rId20"/>
            </p:custDataLst>
          </p:nvPr>
        </p:nvSpPr>
        <p:spPr>
          <a:xfrm>
            <a:off x="5395497" y="3080184"/>
            <a:ext cx="1285103" cy="68938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渠道商</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分层分级</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3" name="加号 32"/>
          <p:cNvSpPr/>
          <p:nvPr/>
        </p:nvSpPr>
        <p:spPr>
          <a:xfrm>
            <a:off x="4750989" y="3076017"/>
            <a:ext cx="690110" cy="462583"/>
          </a:xfrm>
          <a:prstGeom prst="mathPlus">
            <a:avLst/>
          </a:prstGeom>
          <a:solidFill>
            <a:srgbClr val="11AFBB"/>
          </a:solidFill>
          <a:ln w="19050" cap="flat">
            <a:solidFill>
              <a:srgbClr val="11AFBB"/>
            </a:solid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4" name="矩形 33"/>
          <p:cNvSpPr/>
          <p:nvPr/>
        </p:nvSpPr>
        <p:spPr bwMode="auto">
          <a:xfrm>
            <a:off x="1246566" y="5877549"/>
            <a:ext cx="1777161" cy="259285"/>
          </a:xfrm>
          <a:prstGeom prst="rect">
            <a:avLst/>
          </a:prstGeom>
          <a:solidFill>
            <a:srgbClr val="029E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分析口径</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5" name="加号 34"/>
          <p:cNvSpPr/>
          <p:nvPr/>
        </p:nvSpPr>
        <p:spPr>
          <a:xfrm>
            <a:off x="3494846" y="5864112"/>
            <a:ext cx="690110" cy="278994"/>
          </a:xfrm>
          <a:prstGeom prst="mathPlus">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6" name="矩形 35"/>
          <p:cNvSpPr/>
          <p:nvPr/>
        </p:nvSpPr>
        <p:spPr bwMode="auto">
          <a:xfrm>
            <a:off x="4369680" y="5867127"/>
            <a:ext cx="1777161" cy="259285"/>
          </a:xfrm>
          <a:prstGeom prst="rect">
            <a:avLst/>
          </a:prstGeom>
          <a:solidFill>
            <a:srgbClr val="029E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调整规则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7" name="等号 36"/>
          <p:cNvSpPr/>
          <p:nvPr/>
        </p:nvSpPr>
        <p:spPr>
          <a:xfrm>
            <a:off x="6500581" y="5852826"/>
            <a:ext cx="718457" cy="281780"/>
          </a:xfrm>
          <a:prstGeom prst="mathEqual">
            <a:avLst/>
          </a:prstGeom>
          <a:solidFill>
            <a:srgbClr val="11AFBB"/>
          </a:solidFill>
          <a:ln w="12700" cap="flat">
            <a:noFill/>
            <a:prstDash val="solid"/>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38" name="矩形 37"/>
          <p:cNvSpPr/>
          <p:nvPr/>
        </p:nvSpPr>
        <p:spPr bwMode="auto">
          <a:xfrm>
            <a:off x="7363252" y="5863046"/>
            <a:ext cx="1777161" cy="259285"/>
          </a:xfrm>
          <a:prstGeom prst="rect">
            <a:avLst/>
          </a:prstGeom>
          <a:solidFill>
            <a:srgbClr val="029E9A"/>
          </a:solidFill>
          <a:ln w="12700">
            <a:solidFill>
              <a:srgbClr val="1F497D">
                <a:lumMod val="60000"/>
                <a:lumOff val="40000"/>
              </a:srgbClr>
            </a:solidFill>
            <a:miter lim="800000"/>
          </a:ln>
        </p:spPr>
        <p:txBody>
          <a:bodyPr wrap="square" rtlCol="0" anchor="ctr">
            <a:noAutofit/>
          </a:bodyPr>
          <a:lstStyle/>
          <a:p>
            <a:pPr algn="ctr" eaLnBrk="0" fontAlgn="base" hangingPunct="0">
              <a:spcBef>
                <a:spcPct val="0"/>
              </a:spcBef>
              <a:spcAft>
                <a:spcPct val="0"/>
              </a:spcAft>
              <a:defRPr/>
            </a:pPr>
            <a:r>
              <a:rPr lang="zh-CN" altLang="en-US" sz="1200" kern="0" dirty="0">
                <a:solidFill>
                  <a:prstClr val="white"/>
                </a:solidFill>
                <a:latin typeface="微软雅黑" panose="020B0503020204020204" pitchFamily="34" charset="-122"/>
                <a:ea typeface="微软雅黑" panose="020B0503020204020204" pitchFamily="34" charset="-122"/>
                <a:cs typeface="Helvetica"/>
              </a:rPr>
              <a:t>考核口径 </a:t>
            </a:r>
            <a:endParaRPr lang="zh-CN" altLang="en-US" sz="1200"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39" name="Rectangle: Rounded Corners 92"/>
          <p:cNvSpPr/>
          <p:nvPr>
            <p:custDataLst>
              <p:tags r:id="rId21"/>
            </p:custDataLst>
          </p:nvPr>
        </p:nvSpPr>
        <p:spPr>
          <a:xfrm>
            <a:off x="1667052" y="2685790"/>
            <a:ext cx="1296000" cy="477877"/>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销售收入</a:t>
            </a:r>
            <a:r>
              <a:rPr kumimoji="0" lang="en-US" altLang="zh-CN"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-Sparts</a:t>
            </a:r>
            <a:endPar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0" name="连接符: 肘形 39"/>
          <p:cNvCxnSpPr>
            <a:stCxn id="11" idx="3"/>
          </p:cNvCxnSpPr>
          <p:nvPr/>
        </p:nvCxnSpPr>
        <p:spPr>
          <a:xfrm flipV="1">
            <a:off x="1063078" y="2924728"/>
            <a:ext cx="593681" cy="450168"/>
          </a:xfrm>
          <a:prstGeom prst="bentConnector3">
            <a:avLst/>
          </a:prstGeom>
          <a:noFill/>
          <a:ln w="19050" cap="flat" cmpd="sng" algn="ctr">
            <a:solidFill>
              <a:srgbClr val="11AFBB"/>
            </a:solidFill>
            <a:prstDash val="solid"/>
          </a:ln>
          <a:effectLst/>
        </p:spPr>
      </p:cxnSp>
      <p:sp>
        <p:nvSpPr>
          <p:cNvPr id="41" name="文本框 40"/>
          <p:cNvSpPr txBox="1"/>
          <p:nvPr/>
        </p:nvSpPr>
        <p:spPr>
          <a:xfrm>
            <a:off x="7858354" y="1520258"/>
            <a:ext cx="2477632" cy="20002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完善营销六要素维度数据与指标</a:t>
            </a:r>
            <a:endParaRPr kumimoji="0" lang="zh-CN" altLang="en-US" sz="13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cxnSp>
        <p:nvCxnSpPr>
          <p:cNvPr id="42" name="直接箭头连接符 41"/>
          <p:cNvCxnSpPr/>
          <p:nvPr/>
        </p:nvCxnSpPr>
        <p:spPr>
          <a:xfrm>
            <a:off x="8620251" y="3071760"/>
            <a:ext cx="0" cy="876223"/>
          </a:xfrm>
          <a:prstGeom prst="straightConnector1">
            <a:avLst/>
          </a:prstGeom>
          <a:noFill/>
          <a:ln w="19050" cap="flat">
            <a:solidFill>
              <a:srgbClr val="11AFBB"/>
            </a:solidFill>
            <a:prstDash val="solid"/>
            <a:miter lim="800000"/>
            <a:tailEnd type="triangle"/>
          </a:ln>
          <a:effectLst/>
        </p:spPr>
      </p:cxnSp>
      <p:sp>
        <p:nvSpPr>
          <p:cNvPr id="43" name="文本框 42"/>
          <p:cNvSpPr txBox="1"/>
          <p:nvPr/>
        </p:nvSpPr>
        <p:spPr>
          <a:xfrm>
            <a:off x="7107985" y="3744578"/>
            <a:ext cx="1575247" cy="15367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三级：</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MTL&amp;LTC</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过程指标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pic>
        <p:nvPicPr>
          <p:cNvPr id="44" name="图片 43"/>
          <p:cNvPicPr>
            <a:picLocks noChangeAspect="1"/>
          </p:cNvPicPr>
          <p:nvPr/>
        </p:nvPicPr>
        <p:blipFill>
          <a:blip r:embed="rId22"/>
          <a:stretch>
            <a:fillRect/>
          </a:stretch>
        </p:blipFill>
        <p:spPr>
          <a:xfrm>
            <a:off x="6983201" y="3948428"/>
            <a:ext cx="4633560" cy="1516572"/>
          </a:xfrm>
          <a:prstGeom prst="rect">
            <a:avLst/>
          </a:prstGeom>
          <a:ln>
            <a:solidFill>
              <a:srgbClr val="029E9A"/>
            </a:solidFill>
          </a:ln>
        </p:spPr>
      </p:pic>
      <p:sp>
        <p:nvSpPr>
          <p:cNvPr id="45" name="矩形 44"/>
          <p:cNvSpPr/>
          <p:nvPr/>
        </p:nvSpPr>
        <p:spPr>
          <a:xfrm>
            <a:off x="9010531" y="4114567"/>
            <a:ext cx="1325455" cy="391436"/>
          </a:xfrm>
          <a:prstGeom prst="rect">
            <a:avLst/>
          </a:prstGeom>
          <a:noFill/>
          <a:ln w="28575" cap="flat">
            <a:solidFill>
              <a:srgbClr val="5B9BD5"/>
            </a:solidFill>
            <a:prstDash val="sysDash"/>
            <a:miter lim="800000"/>
          </a:ln>
          <a:effectLst/>
        </p:spPr>
        <p:txBody>
          <a:bodyPr rot="0" spcFirstLastPara="1" vertOverflow="overflow" horzOverflow="overflow" vert="horz" wrap="square" lIns="0" tIns="0" rIns="0" bIns="0" numCol="1" spcCol="38100" rtlCol="0" anchor="t">
            <a:noAutofit/>
          </a:bodyPr>
          <a:lstStyle/>
          <a:p>
            <a:pPr marL="0" marR="0" lvl="0" indent="0" defTabSz="914400" eaLnBrk="1"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mj-ea"/>
              <a:cs typeface="Calibri" panose="020F0502020204030204"/>
              <a:sym typeface="Calibri" panose="020F0502020204030204"/>
            </a:endParaRPr>
          </a:p>
        </p:txBody>
      </p:sp>
      <p:sp>
        <p:nvSpPr>
          <p:cNvPr id="46" name="Rectangle: Rounded Corners 163"/>
          <p:cNvSpPr/>
          <p:nvPr>
            <p:custDataLst>
              <p:tags r:id="rId23"/>
            </p:custDataLst>
          </p:nvPr>
        </p:nvSpPr>
        <p:spPr>
          <a:xfrm>
            <a:off x="5394477" y="3985359"/>
            <a:ext cx="1285103" cy="68938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时间：</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月</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周</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47" name="Rectangle: Rounded Corners 163"/>
          <p:cNvSpPr/>
          <p:nvPr>
            <p:custDataLst>
              <p:tags r:id="rId24"/>
            </p:custDataLst>
          </p:nvPr>
        </p:nvSpPr>
        <p:spPr>
          <a:xfrm>
            <a:off x="5371629" y="1563961"/>
            <a:ext cx="1285103" cy="689385"/>
          </a:xfrm>
          <a:prstGeom prst="roundRect">
            <a:avLst/>
          </a:prstGeom>
          <a:solidFill>
            <a:srgbClr val="CEEAEE"/>
          </a:solidFill>
          <a:ln w="19050" cap="flat" cmpd="sng" algn="ctr">
            <a:solidFill>
              <a:srgbClr val="029E9A"/>
            </a:solid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细分市场：</a:t>
            </a:r>
            <a:endParaRPr kumimoji="0" lang="en-US" altLang="zh-CN" sz="1100" b="1" i="0" u="sng"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应用场景</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pic>
        <p:nvPicPr>
          <p:cNvPr id="48" name="图片 47"/>
          <p:cNvPicPr>
            <a:picLocks noChangeAspect="1"/>
          </p:cNvPicPr>
          <p:nvPr/>
        </p:nvPicPr>
        <p:blipFill>
          <a:blip r:embed="rId25"/>
          <a:stretch>
            <a:fillRect/>
          </a:stretch>
        </p:blipFill>
        <p:spPr>
          <a:xfrm>
            <a:off x="7085709" y="1764722"/>
            <a:ext cx="2214272" cy="1307038"/>
          </a:xfrm>
          <a:prstGeom prst="rect">
            <a:avLst/>
          </a:prstGeom>
          <a:ln>
            <a:solidFill>
              <a:srgbClr val="029E9A"/>
            </a:solidFill>
          </a:ln>
        </p:spPr>
      </p:pic>
      <p:sp>
        <p:nvSpPr>
          <p:cNvPr id="49" name="箭头: 下 48"/>
          <p:cNvSpPr/>
          <p:nvPr/>
        </p:nvSpPr>
        <p:spPr bwMode="auto">
          <a:xfrm rot="16200000">
            <a:off x="6319846" y="2475680"/>
            <a:ext cx="1129553" cy="431804"/>
          </a:xfrm>
          <a:prstGeom prst="downArrow">
            <a:avLst/>
          </a:prstGeom>
          <a:solidFill>
            <a:srgbClr val="11AFBB"/>
          </a:solidFill>
          <a:ln w="19050">
            <a:solidFill>
              <a:srgbClr val="11AFBB"/>
            </a:solid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pic>
        <p:nvPicPr>
          <p:cNvPr id="50" name="图片 49"/>
          <p:cNvPicPr>
            <a:picLocks noChangeAspect="1"/>
          </p:cNvPicPr>
          <p:nvPr/>
        </p:nvPicPr>
        <p:blipFill>
          <a:blip r:embed="rId26"/>
          <a:stretch>
            <a:fillRect/>
          </a:stretch>
        </p:blipFill>
        <p:spPr>
          <a:xfrm>
            <a:off x="9319405" y="1765089"/>
            <a:ext cx="2297356" cy="1312513"/>
          </a:xfrm>
          <a:prstGeom prst="rect">
            <a:avLst/>
          </a:prstGeom>
          <a:ln>
            <a:solidFill>
              <a:srgbClr val="029E9A"/>
            </a:solidFill>
          </a:ln>
        </p:spPr>
      </p:pic>
      <p:cxnSp>
        <p:nvCxnSpPr>
          <p:cNvPr id="51" name="直接箭头连接符 50"/>
          <p:cNvCxnSpPr/>
          <p:nvPr/>
        </p:nvCxnSpPr>
        <p:spPr>
          <a:xfrm>
            <a:off x="10436205" y="3080184"/>
            <a:ext cx="1" cy="867799"/>
          </a:xfrm>
          <a:prstGeom prst="straightConnector1">
            <a:avLst/>
          </a:prstGeom>
          <a:noFill/>
          <a:ln w="19050" cap="flat">
            <a:solidFill>
              <a:srgbClr val="11AFBB"/>
            </a:solidFill>
            <a:prstDash val="solid"/>
            <a:miter lim="800000"/>
            <a:tailEnd type="triangle"/>
          </a:ln>
          <a:effec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427264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427291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501305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501332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7534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75373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68570"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调研情况总结</a:t>
            </a:r>
            <a:endParaRPr lang="zh-CN" altLang="en-US" sz="1200" dirty="0">
              <a:sym typeface="+mn-ea"/>
            </a:endParaRPr>
          </a:p>
        </p:txBody>
      </p:sp>
      <p:sp>
        <p:nvSpPr>
          <p:cNvPr id="8" name="文本占位符 17"/>
          <p:cNvSpPr txBox="1"/>
          <p:nvPr>
            <p:custDataLst>
              <p:tags r:id="rId14"/>
            </p:custDataLst>
          </p:nvPr>
        </p:nvSpPr>
        <p:spPr>
          <a:xfrm>
            <a:off x="4484370" y="307530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68570" y="347599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销服域指标分析框架与场景</a:t>
            </a:r>
            <a:r>
              <a:rPr lang="zh-CN" altLang="en-US" sz="1200" dirty="0">
                <a:sym typeface="+mn-ea"/>
              </a:rPr>
              <a:t>-</a:t>
            </a:r>
            <a:r>
              <a:rPr lang="zh-CN" altLang="en-US" sz="1200" dirty="0">
                <a:sym typeface="+mn-ea"/>
              </a:rPr>
              <a:t>国内</a:t>
            </a:r>
            <a:endParaRPr lang="zh-CN" altLang="en-US" sz="1200" dirty="0">
              <a:sym typeface="+mn-ea"/>
            </a:endParaRPr>
          </a:p>
        </p:txBody>
      </p:sp>
      <p:sp>
        <p:nvSpPr>
          <p:cNvPr id="23" name="文本占位符 17"/>
          <p:cNvSpPr txBox="1"/>
          <p:nvPr>
            <p:custDataLst>
              <p:tags r:id="rId16"/>
            </p:custDataLst>
          </p:nvPr>
        </p:nvSpPr>
        <p:spPr>
          <a:xfrm>
            <a:off x="4484370" y="3475990"/>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3</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5068570" y="3844290"/>
            <a:ext cx="24244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指标详细设计（</a:t>
            </a:r>
            <a:r>
              <a:rPr lang="en-US" altLang="zh-CN" sz="1200" dirty="0">
                <a:sym typeface="+mn-ea"/>
              </a:rPr>
              <a:t>90</a:t>
            </a:r>
            <a:r>
              <a:rPr lang="zh-CN" altLang="en-US" sz="1200" dirty="0">
                <a:sym typeface="+mn-ea"/>
              </a:rPr>
              <a:t>个指标）</a:t>
            </a:r>
            <a:endParaRPr lang="zh-CN" altLang="en-US" sz="1200" dirty="0">
              <a:sym typeface="+mn-ea"/>
            </a:endParaRPr>
          </a:p>
        </p:txBody>
      </p:sp>
      <p:sp>
        <p:nvSpPr>
          <p:cNvPr id="28" name="文本占位符 17"/>
          <p:cNvSpPr txBox="1"/>
          <p:nvPr>
            <p:custDataLst>
              <p:tags r:id="rId18"/>
            </p:custDataLst>
          </p:nvPr>
        </p:nvSpPr>
        <p:spPr>
          <a:xfrm>
            <a:off x="4484370" y="38442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5</a:t>
            </a:r>
            <a:endParaRPr lang="en-US" altLang="zh-CN" sz="1200" dirty="0">
              <a:sym typeface="+mn-ea"/>
            </a:endParaRPr>
          </a:p>
        </p:txBody>
      </p:sp>
      <p:sp>
        <p:nvSpPr>
          <p:cNvPr id="32" name="文本占位符 17"/>
          <p:cNvSpPr txBox="1"/>
          <p:nvPr>
            <p:custDataLst>
              <p:tags r:id="rId19"/>
            </p:custDataLst>
          </p:nvPr>
        </p:nvSpPr>
        <p:spPr>
          <a:xfrm>
            <a:off x="8388985"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财经域指标分析框架与场景</a:t>
            </a:r>
            <a:endParaRPr lang="zh-CN" altLang="en-US" sz="1200" dirty="0">
              <a:sym typeface="+mn-ea"/>
            </a:endParaRPr>
          </a:p>
        </p:txBody>
      </p:sp>
      <p:sp>
        <p:nvSpPr>
          <p:cNvPr id="33" name="文本占位符 17"/>
          <p:cNvSpPr txBox="1"/>
          <p:nvPr>
            <p:custDataLst>
              <p:tags r:id="rId20"/>
            </p:custDataLst>
          </p:nvPr>
        </p:nvSpPr>
        <p:spPr>
          <a:xfrm>
            <a:off x="7804785" y="307530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2</a:t>
            </a:r>
            <a:endParaRPr lang="zh-CN" altLang="en-US" sz="1200" dirty="0">
              <a:sym typeface="+mn-ea"/>
            </a:endParaRPr>
          </a:p>
        </p:txBody>
      </p:sp>
      <p:sp>
        <p:nvSpPr>
          <p:cNvPr id="34" name="文本占位符 17"/>
          <p:cNvSpPr txBox="1"/>
          <p:nvPr>
            <p:custDataLst>
              <p:tags r:id="rId21"/>
            </p:custDataLst>
          </p:nvPr>
        </p:nvSpPr>
        <p:spPr>
          <a:xfrm>
            <a:off x="8388985" y="347853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国际</a:t>
            </a:r>
            <a:endParaRPr lang="zh-CN" altLang="en-US" sz="1200" dirty="0">
              <a:sym typeface="+mn-ea"/>
            </a:endParaRPr>
          </a:p>
        </p:txBody>
      </p:sp>
      <p:sp>
        <p:nvSpPr>
          <p:cNvPr id="35" name="文本占位符 17"/>
          <p:cNvSpPr txBox="1"/>
          <p:nvPr>
            <p:custDataLst>
              <p:tags r:id="rId22"/>
            </p:custDataLst>
          </p:nvPr>
        </p:nvSpPr>
        <p:spPr>
          <a:xfrm>
            <a:off x="7804785" y="347853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4</a:t>
            </a:r>
            <a:endParaRPr lang="en-US" altLang="zh-CN" sz="1200" dirty="0">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000000"/>
                </a:solidFill>
                <a:cs typeface="Helvetica"/>
                <a:sym typeface="+mn-ea"/>
              </a:rPr>
              <a:t>销服主题分析框架：基于</a:t>
            </a:r>
            <a:r>
              <a:rPr lang="en-US" altLang="zh-CN" kern="0" dirty="0">
                <a:solidFill>
                  <a:srgbClr val="000000"/>
                </a:solidFill>
                <a:cs typeface="Helvetica"/>
                <a:sym typeface="+mn-ea"/>
              </a:rPr>
              <a:t>LTC</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5034510" y="806952"/>
            <a:ext cx="2105055" cy="360000"/>
          </a:xfrm>
          <a:prstGeom prst="rect">
            <a:avLst/>
          </a:prstGeom>
          <a:solidFill>
            <a:srgbClr val="0C7F8A"/>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市场营销战略目标</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5" name="Rectangle 217"/>
          <p:cNvSpPr/>
          <p:nvPr/>
        </p:nvSpPr>
        <p:spPr>
          <a:xfrm>
            <a:off x="22322" y="1628778"/>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经营目标</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6" name="Rectangle 36"/>
          <p:cNvSpPr/>
          <p:nvPr/>
        </p:nvSpPr>
        <p:spPr>
          <a:xfrm>
            <a:off x="4883826" y="1481493"/>
            <a:ext cx="2416438" cy="360000"/>
          </a:xfrm>
          <a:prstGeom prst="rect">
            <a:avLst/>
          </a:prstGeom>
          <a:solidFill>
            <a:srgbClr val="029E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A</a:t>
            </a: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：以客户维度为优先</a:t>
            </a:r>
            <a:endParaRPr kumimoji="0" lang="en-GB"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7" name="右箭头 1"/>
          <p:cNvSpPr/>
          <p:nvPr/>
        </p:nvSpPr>
        <p:spPr>
          <a:xfrm>
            <a:off x="473710" y="2898548"/>
            <a:ext cx="11369040" cy="360045"/>
          </a:xfrm>
          <a:prstGeom prst="rightArrow">
            <a:avLst/>
          </a:prstGeom>
          <a:solidFill>
            <a:srgbClr val="10AFBC"/>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 name="椭圆 7"/>
          <p:cNvSpPr/>
          <p:nvPr/>
        </p:nvSpPr>
        <p:spPr>
          <a:xfrm>
            <a:off x="457322"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9" name="椭圆 8"/>
          <p:cNvSpPr/>
          <p:nvPr/>
        </p:nvSpPr>
        <p:spPr>
          <a:xfrm>
            <a:off x="2651801"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0" name="椭圆 9"/>
          <p:cNvSpPr/>
          <p:nvPr/>
        </p:nvSpPr>
        <p:spPr>
          <a:xfrm>
            <a:off x="4846280"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1" name="椭圆 10"/>
          <p:cNvSpPr/>
          <p:nvPr/>
        </p:nvSpPr>
        <p:spPr>
          <a:xfrm>
            <a:off x="7040759"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2" name="椭圆 11"/>
          <p:cNvSpPr/>
          <p:nvPr/>
        </p:nvSpPr>
        <p:spPr>
          <a:xfrm>
            <a:off x="9235238"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3" name="文本框 4"/>
          <p:cNvSpPr txBox="1"/>
          <p:nvPr/>
        </p:nvSpPr>
        <p:spPr>
          <a:xfrm>
            <a:off x="721293" y="2642223"/>
            <a:ext cx="1551305"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1.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市场管理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MTL</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4" name="文本框 13"/>
          <p:cNvSpPr txBox="1"/>
          <p:nvPr/>
        </p:nvSpPr>
        <p:spPr>
          <a:xfrm>
            <a:off x="2905076" y="2642223"/>
            <a:ext cx="149352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2.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商机管理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LTO</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5" name="文本框 15"/>
          <p:cNvSpPr txBox="1"/>
          <p:nvPr/>
        </p:nvSpPr>
        <p:spPr>
          <a:xfrm>
            <a:off x="5088859" y="2642223"/>
            <a:ext cx="152146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3.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销售执行</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OTC</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6" name="文本框 16"/>
          <p:cNvSpPr txBox="1"/>
          <p:nvPr/>
        </p:nvSpPr>
        <p:spPr>
          <a:xfrm>
            <a:off x="7272642" y="2642223"/>
            <a:ext cx="145542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4.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售后管理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ITR</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7" name="文本框 17"/>
          <p:cNvSpPr txBox="1"/>
          <p:nvPr/>
        </p:nvSpPr>
        <p:spPr>
          <a:xfrm>
            <a:off x="9456423" y="2642223"/>
            <a:ext cx="194310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5.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客户持续经营</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MCR</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18" name="图形 17" descr="徽章勾号 轮廓"/>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76423" y="2898531"/>
            <a:ext cx="360000" cy="360000"/>
          </a:xfrm>
          <a:prstGeom prst="rect">
            <a:avLst/>
          </a:prstGeom>
        </p:spPr>
      </p:pic>
      <p:pic>
        <p:nvPicPr>
          <p:cNvPr id="19" name="图形 18" descr="靶心 轮廓"/>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5957" y="2898531"/>
            <a:ext cx="360000" cy="360000"/>
          </a:xfrm>
          <a:prstGeom prst="rect">
            <a:avLst/>
          </a:prstGeom>
        </p:spPr>
      </p:pic>
      <p:pic>
        <p:nvPicPr>
          <p:cNvPr id="20" name="图形 19" descr="清单 轮廓"/>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8507" y="2898531"/>
            <a:ext cx="360000" cy="360000"/>
          </a:xfrm>
          <a:prstGeom prst="rect">
            <a:avLst/>
          </a:prstGeom>
        </p:spPr>
      </p:pic>
      <p:pic>
        <p:nvPicPr>
          <p:cNvPr id="21" name="图形 20" descr="自卸卡车 轮廓"/>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92642" y="2898531"/>
            <a:ext cx="360000" cy="360000"/>
          </a:xfrm>
          <a:prstGeom prst="rect">
            <a:avLst/>
          </a:prstGeom>
        </p:spPr>
      </p:pic>
      <p:pic>
        <p:nvPicPr>
          <p:cNvPr id="22" name="图形 21" descr="电子邮件 轮廓"/>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92986" y="2884495"/>
            <a:ext cx="360000" cy="360000"/>
          </a:xfrm>
          <a:prstGeom prst="rect">
            <a:avLst/>
          </a:prstGeom>
        </p:spPr>
      </p:pic>
      <p:sp>
        <p:nvSpPr>
          <p:cNvPr id="23" name="Rectangle 217"/>
          <p:cNvSpPr/>
          <p:nvPr/>
        </p:nvSpPr>
        <p:spPr>
          <a:xfrm>
            <a:off x="67310" y="2944903"/>
            <a:ext cx="360045" cy="477520"/>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营销价值流</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4" name="Rectangle 217"/>
          <p:cNvSpPr/>
          <p:nvPr/>
        </p:nvSpPr>
        <p:spPr>
          <a:xfrm>
            <a:off x="31175" y="5705139"/>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员工成长</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5" name="Rectangle 217"/>
          <p:cNvSpPr/>
          <p:nvPr/>
        </p:nvSpPr>
        <p:spPr>
          <a:xfrm>
            <a:off x="31175" y="4535052"/>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协同保障</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6" name="Rectangle: Rounded Corners 92"/>
          <p:cNvSpPr/>
          <p:nvPr>
            <p:custDataLst>
              <p:tags r:id="rId11"/>
            </p:custDataLst>
          </p:nvPr>
        </p:nvSpPr>
        <p:spPr>
          <a:xfrm>
            <a:off x="899795" y="3299868"/>
            <a:ext cx="1517650" cy="1235184"/>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市场洞察</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市场活动与费用</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全球化展厅计划</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线索管理</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12"/>
            </p:custDataLst>
          </p:nvPr>
        </p:nvSpPr>
        <p:spPr>
          <a:xfrm>
            <a:off x="3094355" y="3289708"/>
            <a:ext cx="1517650" cy="1245344"/>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商机管理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赢单管理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Rectangle: Rounded Corners 92"/>
          <p:cNvSpPr/>
          <p:nvPr>
            <p:custDataLst>
              <p:tags r:id="rId13"/>
            </p:custDataLst>
          </p:nvPr>
        </p:nvSpPr>
        <p:spPr>
          <a:xfrm>
            <a:off x="5299075" y="3317186"/>
            <a:ext cx="1517650" cy="1217866"/>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订单响应</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交期答复</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订单履行</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物流运输</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工程交付</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验收开票</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销售回款</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Rectangle: Rounded Corners 92"/>
          <p:cNvSpPr/>
          <p:nvPr>
            <p:custDataLst>
              <p:tags r:id="rId14"/>
            </p:custDataLst>
          </p:nvPr>
        </p:nvSpPr>
        <p:spPr>
          <a:xfrm>
            <a:off x="7424310" y="3291613"/>
            <a:ext cx="1517650" cy="1243439"/>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客户关系</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服务响应</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服务质量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30" name="组合 29"/>
          <p:cNvGrpSpPr/>
          <p:nvPr/>
        </p:nvGrpSpPr>
        <p:grpSpPr>
          <a:xfrm>
            <a:off x="3279775" y="4668954"/>
            <a:ext cx="2399665" cy="957580"/>
            <a:chOff x="5165" y="6545"/>
            <a:chExt cx="3779" cy="1508"/>
          </a:xfrm>
        </p:grpSpPr>
        <p:sp>
          <p:nvSpPr>
            <p:cNvPr id="31" name="Rectangle: Rounded Corners 92"/>
            <p:cNvSpPr/>
            <p:nvPr>
              <p:custDataLst>
                <p:tags r:id="rId15"/>
              </p:custDataLst>
            </p:nvPr>
          </p:nvSpPr>
          <p:spPr>
            <a:xfrm>
              <a:off x="5165" y="7109"/>
              <a:ext cx="3281" cy="944"/>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基于市场需求的产品匹配性指标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Helvetica"/>
                </a:rPr>
                <a:t>产品推出周期</a:t>
              </a:r>
              <a:endParaRPr kumimoji="0" lang="en-US" altLang="zh-CN" sz="106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研发项目转化率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32" name="组合 31"/>
            <p:cNvGrpSpPr/>
            <p:nvPr/>
          </p:nvGrpSpPr>
          <p:grpSpPr>
            <a:xfrm>
              <a:off x="5374" y="6545"/>
              <a:ext cx="3570" cy="485"/>
              <a:chOff x="1004" y="6486"/>
              <a:chExt cx="3570" cy="485"/>
            </a:xfrm>
          </p:grpSpPr>
          <p:sp>
            <p:nvSpPr>
              <p:cNvPr id="33" name="文本框 4"/>
              <p:cNvSpPr txBox="1"/>
              <p:nvPr>
                <p:custDataLst>
                  <p:tags r:id="rId16"/>
                </p:custDataLst>
              </p:nvPr>
            </p:nvSpPr>
            <p:spPr>
              <a:xfrm>
                <a:off x="1471" y="6486"/>
                <a:ext cx="3103"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A1.</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 协同打造适销产品</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34" name="图片 33"/>
              <p:cNvPicPr>
                <a:picLocks noChangeAspect="1"/>
              </p:cNvPicPr>
              <p:nvPr>
                <p:custDataLst>
                  <p:tags r:id="rId17"/>
                </p:custDataLst>
              </p:nvPr>
            </p:nvPicPr>
            <p:blipFill>
              <a:blip r:embed="rId18"/>
              <a:stretch>
                <a:fillRect/>
              </a:stretch>
            </p:blipFill>
            <p:spPr>
              <a:xfrm>
                <a:off x="1004" y="6534"/>
                <a:ext cx="470" cy="397"/>
              </a:xfrm>
              <a:prstGeom prst="rect">
                <a:avLst/>
              </a:prstGeom>
            </p:spPr>
          </p:pic>
        </p:grpSp>
      </p:grpSp>
      <p:grpSp>
        <p:nvGrpSpPr>
          <p:cNvPr id="35" name="组合 34"/>
          <p:cNvGrpSpPr/>
          <p:nvPr/>
        </p:nvGrpSpPr>
        <p:grpSpPr>
          <a:xfrm>
            <a:off x="7092950" y="4642284"/>
            <a:ext cx="2068195" cy="970280"/>
            <a:chOff x="8391" y="6581"/>
            <a:chExt cx="3257" cy="1528"/>
          </a:xfrm>
        </p:grpSpPr>
        <p:pic>
          <p:nvPicPr>
            <p:cNvPr id="36" name="图片 35"/>
            <p:cNvPicPr>
              <a:picLocks noChangeAspect="1"/>
            </p:cNvPicPr>
            <p:nvPr>
              <p:custDataLst>
                <p:tags r:id="rId19"/>
              </p:custDataLst>
            </p:nvPr>
          </p:nvPicPr>
          <p:blipFill>
            <a:blip r:embed="rId20"/>
            <a:stretch>
              <a:fillRect/>
            </a:stretch>
          </p:blipFill>
          <p:spPr>
            <a:xfrm>
              <a:off x="8391" y="6593"/>
              <a:ext cx="485" cy="485"/>
            </a:xfrm>
            <a:prstGeom prst="rect">
              <a:avLst/>
            </a:prstGeom>
          </p:spPr>
        </p:pic>
        <p:sp>
          <p:nvSpPr>
            <p:cNvPr id="37" name="文本框 4"/>
            <p:cNvSpPr txBox="1"/>
            <p:nvPr>
              <p:custDataLst>
                <p:tags r:id="rId21"/>
              </p:custDataLst>
            </p:nvPr>
          </p:nvSpPr>
          <p:spPr>
            <a:xfrm>
              <a:off x="9308" y="6581"/>
              <a:ext cx="1972"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A2. </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产销协同</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8" name="Rectangle: Rounded Corners 92"/>
            <p:cNvSpPr/>
            <p:nvPr>
              <p:custDataLst>
                <p:tags r:id="rId22"/>
              </p:custDataLst>
            </p:nvPr>
          </p:nvSpPr>
          <p:spPr>
            <a:xfrm>
              <a:off x="8391" y="7165"/>
              <a:ext cx="3257" cy="944"/>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需求预测准确度</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及时交付率（</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OTD</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库存周转天数</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grpSp>
        <p:nvGrpSpPr>
          <p:cNvPr id="39" name="组合 38"/>
          <p:cNvGrpSpPr/>
          <p:nvPr/>
        </p:nvGrpSpPr>
        <p:grpSpPr>
          <a:xfrm>
            <a:off x="5088890" y="5635424"/>
            <a:ext cx="2278380" cy="1050925"/>
            <a:chOff x="8060" y="6412"/>
            <a:chExt cx="3588" cy="1655"/>
          </a:xfrm>
        </p:grpSpPr>
        <p:sp>
          <p:nvSpPr>
            <p:cNvPr id="40" name="文本框 4"/>
            <p:cNvSpPr txBox="1"/>
            <p:nvPr>
              <p:custDataLst>
                <p:tags r:id="rId23"/>
              </p:custDataLst>
            </p:nvPr>
          </p:nvSpPr>
          <p:spPr>
            <a:xfrm>
              <a:off x="8803" y="6412"/>
              <a:ext cx="2820"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A3. </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高水平销售团队</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1" name="Rectangle: Rounded Corners 92"/>
            <p:cNvSpPr/>
            <p:nvPr>
              <p:custDataLst>
                <p:tags r:id="rId24"/>
              </p:custDataLst>
            </p:nvPr>
          </p:nvSpPr>
          <p:spPr>
            <a:xfrm>
              <a:off x="8060" y="6996"/>
              <a:ext cx="3588" cy="1071"/>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销售人员画像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销售技能培训</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招聘人员适岗率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CRM</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应用活跃率</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pic>
        <p:nvPicPr>
          <p:cNvPr id="42" name="图片 41"/>
          <p:cNvPicPr>
            <a:picLocks noChangeAspect="1"/>
          </p:cNvPicPr>
          <p:nvPr>
            <p:custDataLst>
              <p:tags r:id="rId25"/>
            </p:custDataLst>
          </p:nvPr>
        </p:nvPicPr>
        <p:blipFill>
          <a:blip r:embed="rId26"/>
          <a:stretch>
            <a:fillRect/>
          </a:stretch>
        </p:blipFill>
        <p:spPr>
          <a:xfrm>
            <a:off x="5193665" y="5706804"/>
            <a:ext cx="339090" cy="308610"/>
          </a:xfrm>
          <a:prstGeom prst="rect">
            <a:avLst/>
          </a:prstGeom>
        </p:spPr>
      </p:pic>
      <p:sp>
        <p:nvSpPr>
          <p:cNvPr id="43" name="箭头: 下 42"/>
          <p:cNvSpPr/>
          <p:nvPr/>
        </p:nvSpPr>
        <p:spPr bwMode="auto">
          <a:xfrm>
            <a:off x="5494919" y="2189818"/>
            <a:ext cx="1129553" cy="431804"/>
          </a:xfrm>
          <a:prstGeom prst="downArrow">
            <a:avLst/>
          </a:prstGeom>
          <a:solidFill>
            <a:srgbClr val="10AFBC"/>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44" name="Rectangle: Rounded Corners 92"/>
          <p:cNvSpPr/>
          <p:nvPr>
            <p:custDataLst>
              <p:tags r:id="rId27"/>
            </p:custDataLst>
          </p:nvPr>
        </p:nvSpPr>
        <p:spPr>
          <a:xfrm>
            <a:off x="5264475" y="1805394"/>
            <a:ext cx="1644528" cy="331787"/>
          </a:xfrm>
          <a:prstGeom prst="roundRect">
            <a:avLst>
              <a:gd name="adj" fmla="val 0"/>
            </a:avLst>
          </a:prstGeom>
          <a:solidFill>
            <a:srgbClr val="CEEAEE"/>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algn="ctr"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多维度的收入</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回款分析</a:t>
            </a:r>
            <a:endParaRPr kumimoji="0" lang="zh-CN"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5" name="直接连接符 44"/>
          <p:cNvCxnSpPr>
            <a:stCxn id="4" idx="2"/>
            <a:endCxn id="6" idx="0"/>
          </p:cNvCxnSpPr>
          <p:nvPr/>
        </p:nvCxnSpPr>
        <p:spPr bwMode="auto">
          <a:xfrm>
            <a:off x="6087038" y="1166952"/>
            <a:ext cx="5007" cy="314541"/>
          </a:xfrm>
          <a:prstGeom prst="line">
            <a:avLst/>
          </a:prstGeom>
          <a:solidFill>
            <a:srgbClr val="5B9BD5"/>
          </a:solidFill>
          <a:ln w="9525" cap="flat" cmpd="sng" algn="ctr">
            <a:solidFill>
              <a:srgbClr val="000000"/>
            </a:solidFill>
            <a:prstDash val="solid"/>
            <a:round/>
            <a:headEnd type="none" w="med" len="med"/>
            <a:tailEnd type="none" w="med" len="med"/>
          </a:ln>
        </p:spPr>
      </p:cxnSp>
      <p:sp>
        <p:nvSpPr>
          <p:cNvPr id="46" name="Rectangle: Rounded Corners 92"/>
          <p:cNvSpPr/>
          <p:nvPr>
            <p:custDataLst>
              <p:tags r:id="rId28"/>
            </p:custDataLst>
          </p:nvPr>
        </p:nvSpPr>
        <p:spPr>
          <a:xfrm>
            <a:off x="9704460" y="3305966"/>
            <a:ext cx="1517650" cy="1229086"/>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价值客户分析</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lang="zh-CN" altLang="en-US" sz="1060" b="1" kern="0" dirty="0">
                <a:solidFill>
                  <a:prstClr val="black"/>
                </a:solidFill>
                <a:latin typeface="微软雅黑" panose="020B0503020204020204" pitchFamily="34" charset="-122"/>
                <a:ea typeface="微软雅黑" panose="020B0503020204020204" pitchFamily="34" charset="-122"/>
                <a:cs typeface="Helvetica"/>
              </a:rPr>
              <a:t>准直销客户画像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47" name="object 41"/>
          <p:cNvGrpSpPr/>
          <p:nvPr/>
        </p:nvGrpSpPr>
        <p:grpSpPr>
          <a:xfrm>
            <a:off x="1869069" y="4315570"/>
            <a:ext cx="8435340" cy="1917065"/>
            <a:chOff x="494779" y="2537840"/>
            <a:chExt cx="8435479" cy="1030732"/>
          </a:xfrm>
        </p:grpSpPr>
        <p:pic>
          <p:nvPicPr>
            <p:cNvPr id="48" name="object 43"/>
            <p:cNvPicPr/>
            <p:nvPr>
              <p:custDataLst>
                <p:tags r:id="rId29"/>
              </p:custDataLst>
            </p:nvPr>
          </p:nvPicPr>
          <p:blipFill>
            <a:blip r:embed="rId30" cstate="print"/>
            <a:stretch>
              <a:fillRect/>
            </a:stretch>
          </p:blipFill>
          <p:spPr>
            <a:xfrm>
              <a:off x="494779" y="2537840"/>
              <a:ext cx="1086370" cy="1030732"/>
            </a:xfrm>
            <a:prstGeom prst="rect">
              <a:avLst/>
            </a:prstGeom>
          </p:spPr>
        </p:pic>
        <p:pic>
          <p:nvPicPr>
            <p:cNvPr id="49" name="object 44"/>
            <p:cNvPicPr/>
            <p:nvPr>
              <p:custDataLst>
                <p:tags r:id="rId31"/>
              </p:custDataLst>
            </p:nvPr>
          </p:nvPicPr>
          <p:blipFill>
            <a:blip r:embed="rId32" cstate="print"/>
            <a:stretch>
              <a:fillRect/>
            </a:stretch>
          </p:blipFill>
          <p:spPr>
            <a:xfrm>
              <a:off x="7843901" y="2537840"/>
              <a:ext cx="1086357" cy="1030732"/>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000000"/>
                </a:solidFill>
                <a:cs typeface="Helvetica"/>
                <a:sym typeface="+mn-ea"/>
              </a:rPr>
              <a:t>营销六要素</a:t>
            </a:r>
            <a:r>
              <a:rPr lang="en-US" altLang="zh-CN" kern="0" dirty="0">
                <a:solidFill>
                  <a:srgbClr val="000000"/>
                </a:solidFill>
                <a:cs typeface="Helvetica"/>
                <a:sym typeface="+mn-ea"/>
              </a:rPr>
              <a:t>-</a:t>
            </a:r>
            <a:r>
              <a:rPr lang="zh-CN" altLang="en-US" kern="0" dirty="0">
                <a:solidFill>
                  <a:srgbClr val="000000"/>
                </a:solidFill>
                <a:cs typeface="Helvetica"/>
                <a:sym typeface="+mn-ea"/>
              </a:rPr>
              <a:t>国内</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椭圆 3"/>
          <p:cNvSpPr/>
          <p:nvPr/>
        </p:nvSpPr>
        <p:spPr>
          <a:xfrm>
            <a:off x="3694173" y="1743739"/>
            <a:ext cx="3738623" cy="3583172"/>
          </a:xfrm>
          <a:prstGeom prst="ellipse">
            <a:avLst/>
          </a:prstGeom>
          <a:solidFill>
            <a:srgbClr val="FFFFFF">
              <a:lumMod val="85000"/>
            </a:srgbClr>
          </a:solidFill>
          <a:ln w="12700" cap="flat">
            <a:no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营销管理</a:t>
            </a:r>
            <a:endPar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5" name="椭圆 4"/>
          <p:cNvSpPr/>
          <p:nvPr/>
        </p:nvSpPr>
        <p:spPr>
          <a:xfrm>
            <a:off x="5082362" y="1238386"/>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金融平台和回款</a:t>
            </a:r>
            <a:endParaRPr kumimoji="0" lang="zh-CN" altLang="en-US" sz="15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6" name="椭圆 5"/>
          <p:cNvSpPr/>
          <p:nvPr/>
        </p:nvSpPr>
        <p:spPr>
          <a:xfrm>
            <a:off x="6667689" y="2148679"/>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客户关系</a:t>
            </a:r>
            <a:endPar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7" name="椭圆 6"/>
          <p:cNvSpPr/>
          <p:nvPr/>
        </p:nvSpPr>
        <p:spPr>
          <a:xfrm>
            <a:off x="3477731" y="2148679"/>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价格和促销</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8" name="椭圆 7"/>
          <p:cNvSpPr/>
          <p:nvPr/>
        </p:nvSpPr>
        <p:spPr>
          <a:xfrm>
            <a:off x="6667688" y="3841922"/>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区域</a:t>
            </a:r>
            <a:r>
              <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行业</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9" name="椭圆 8"/>
          <p:cNvSpPr/>
          <p:nvPr/>
        </p:nvSpPr>
        <p:spPr>
          <a:xfrm>
            <a:off x="3477731" y="3841922"/>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交付和服务</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0" name="椭圆 9"/>
          <p:cNvSpPr/>
          <p:nvPr/>
        </p:nvSpPr>
        <p:spPr>
          <a:xfrm>
            <a:off x="5082362" y="4839587"/>
            <a:ext cx="962247" cy="882502"/>
          </a:xfrm>
          <a:prstGeom prst="ellipse">
            <a:avLst/>
          </a:prstGeom>
          <a:solidFill>
            <a:srgbClr val="009F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产品和解决方案</a:t>
            </a:r>
            <a:endParaRPr kumimoji="0" lang="zh-CN" altLang="en-US" sz="15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1" name="文本框 10"/>
          <p:cNvSpPr txBox="1"/>
          <p:nvPr/>
        </p:nvSpPr>
        <p:spPr>
          <a:xfrm>
            <a:off x="6044609" y="905078"/>
            <a:ext cx="4380614" cy="46164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为客户提供授信</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供应链金融</a:t>
            </a:r>
            <a:endPar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2" name="文本框 11"/>
          <p:cNvSpPr txBox="1"/>
          <p:nvPr/>
        </p:nvSpPr>
        <p:spPr>
          <a:xfrm>
            <a:off x="7864548" y="2128285"/>
            <a:ext cx="2911549" cy="46164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大客户突破和准直销</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渠道</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3" name="文本框 12"/>
          <p:cNvSpPr txBox="1"/>
          <p:nvPr/>
        </p:nvSpPr>
        <p:spPr>
          <a:xfrm>
            <a:off x="7937204" y="3959249"/>
            <a:ext cx="2911549" cy="92329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国内：</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6</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个大区</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行业：金融、能源</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下分</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3</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个、交通、品牌连锁、传媒、影院、</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UP</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4" name="文本框 13"/>
          <p:cNvSpPr txBox="1"/>
          <p:nvPr/>
        </p:nvSpPr>
        <p:spPr>
          <a:xfrm>
            <a:off x="6369788" y="5326911"/>
            <a:ext cx="3432798" cy="69215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创意、</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AI……</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分销（洲明</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蓝普）、固装（户内户外</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新显示</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创意）、租赁、照明</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5" name="文本框 14"/>
          <p:cNvSpPr txBox="1"/>
          <p:nvPr/>
        </p:nvSpPr>
        <p:spPr>
          <a:xfrm>
            <a:off x="817822" y="4214037"/>
            <a:ext cx="2237266" cy="69215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交付质量</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维保检修，提升客户满意度</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6" name="文本框 15"/>
          <p:cNvSpPr txBox="1"/>
          <p:nvPr/>
        </p:nvSpPr>
        <p:spPr>
          <a:xfrm>
            <a:off x="1228946" y="2012868"/>
            <a:ext cx="1790701" cy="46164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定价策略</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促销政策</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zh-CN" altLang="en-US" kern="0" dirty="0">
                <a:solidFill>
                  <a:srgbClr val="000000"/>
                </a:solidFill>
                <a:cs typeface="Helvetica"/>
                <a:sym typeface="+mn-ea"/>
              </a:rPr>
              <a:t>、销服体系经营分析</a:t>
            </a:r>
            <a:r>
              <a:rPr lang="en-US" altLang="zh-CN" kern="0" dirty="0">
                <a:solidFill>
                  <a:srgbClr val="000000"/>
                </a:solidFill>
                <a:cs typeface="Helvetica"/>
                <a:sym typeface="+mn-ea"/>
              </a:rPr>
              <a:t>-</a:t>
            </a:r>
            <a:r>
              <a:rPr lang="zh-CN" altLang="en-US" kern="0" dirty="0">
                <a:solidFill>
                  <a:srgbClr val="000000"/>
                </a:solidFill>
                <a:cs typeface="Helvetica"/>
                <a:sym typeface="+mn-ea"/>
              </a:rPr>
              <a:t>国内</a:t>
            </a:r>
            <a:r>
              <a:rPr lang="en-US" altLang="zh-CN" kern="0" dirty="0">
                <a:solidFill>
                  <a:srgbClr val="000000"/>
                </a:solidFill>
                <a:cs typeface="Helvetica"/>
                <a:sym typeface="+mn-ea"/>
              </a:rPr>
              <a:t>-</a:t>
            </a:r>
            <a:r>
              <a:rPr lang="zh-CN" altLang="en-US" kern="0" dirty="0">
                <a:solidFill>
                  <a:srgbClr val="000000"/>
                </a:solidFill>
                <a:cs typeface="Helvetica"/>
                <a:sym typeface="+mn-ea"/>
              </a:rPr>
              <a:t>待讨论</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cxnSp>
        <p:nvCxnSpPr>
          <p:cNvPr id="4" name="直接连接符 3"/>
          <p:cNvCxnSpPr/>
          <p:nvPr/>
        </p:nvCxnSpPr>
        <p:spPr>
          <a:xfrm>
            <a:off x="10947357" y="2162469"/>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cxnSp>
        <p:nvCxnSpPr>
          <p:cNvPr id="5" name="直接连接符 4"/>
          <p:cNvCxnSpPr/>
          <p:nvPr/>
        </p:nvCxnSpPr>
        <p:spPr>
          <a:xfrm>
            <a:off x="9342034" y="2138528"/>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cxnSp>
        <p:nvCxnSpPr>
          <p:cNvPr id="6" name="直接连接符 5"/>
          <p:cNvCxnSpPr/>
          <p:nvPr/>
        </p:nvCxnSpPr>
        <p:spPr>
          <a:xfrm>
            <a:off x="7506439" y="2209163"/>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cxnSp>
        <p:nvCxnSpPr>
          <p:cNvPr id="7" name="直接连接符 6"/>
          <p:cNvCxnSpPr/>
          <p:nvPr/>
        </p:nvCxnSpPr>
        <p:spPr>
          <a:xfrm>
            <a:off x="5874533" y="2250415"/>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cxnSp>
        <p:nvCxnSpPr>
          <p:cNvPr id="8" name="直接连接符 7"/>
          <p:cNvCxnSpPr/>
          <p:nvPr/>
        </p:nvCxnSpPr>
        <p:spPr>
          <a:xfrm>
            <a:off x="4085532" y="2250415"/>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sp>
        <p:nvSpPr>
          <p:cNvPr id="9" name="等腰三角形 8"/>
          <p:cNvSpPr/>
          <p:nvPr/>
        </p:nvSpPr>
        <p:spPr>
          <a:xfrm>
            <a:off x="1467933" y="905674"/>
            <a:ext cx="10234999" cy="925659"/>
          </a:xfrm>
          <a:prstGeom prst="triangle">
            <a:avLst>
              <a:gd name="adj" fmla="val 49662"/>
            </a:avLst>
          </a:prstGeom>
          <a:solidFill>
            <a:srgbClr val="0C7F8A"/>
          </a:solidFill>
          <a:ln w="6350">
            <a:solidFill>
              <a:srgbClr val="5B9BD5"/>
            </a:solidFill>
            <a:miter lim="800000"/>
          </a:ln>
          <a:effectLst/>
        </p:spPr>
        <p:txBody>
          <a:bodyPr lIns="0" tIns="0" rIns="0" bIns="0" anchor="t">
            <a:noAutofit/>
          </a:bodyPr>
          <a:lstStyle/>
          <a:p>
            <a:pPr algn="ctr" defTabSz="899160">
              <a:defRPr/>
            </a:pPr>
            <a:r>
              <a:rPr lang="zh-CN" altLang="en-US" sz="1500" b="1" dirty="0">
                <a:solidFill>
                  <a:srgbClr val="FFFFFF"/>
                </a:solidFill>
                <a:latin typeface="微软雅黑" panose="020B0503020204020204" pitchFamily="34" charset="-122"/>
                <a:ea typeface="微软雅黑" panose="020B0503020204020204" pitchFamily="34" charset="-122"/>
                <a:cs typeface="Helvetica"/>
              </a:rPr>
              <a:t>显示光彩世界，照明幸福生活</a:t>
            </a:r>
            <a:endParaRPr lang="en-US" altLang="zh-CN" sz="1500" b="1" dirty="0">
              <a:solidFill>
                <a:srgbClr val="FFFFFF"/>
              </a:solidFill>
              <a:latin typeface="微软雅黑" panose="020B0503020204020204" pitchFamily="34" charset="-122"/>
              <a:ea typeface="微软雅黑" panose="020B0503020204020204" pitchFamily="34" charset="-122"/>
              <a:cs typeface="Helvetica"/>
            </a:endParaRPr>
          </a:p>
          <a:p>
            <a:pPr algn="ctr" defTabSz="899160">
              <a:defRPr/>
            </a:pPr>
            <a:r>
              <a:rPr lang="zh-CN" altLang="en-US" sz="1500" b="1" dirty="0">
                <a:solidFill>
                  <a:srgbClr val="FFFFFF"/>
                </a:solidFill>
                <a:latin typeface="微软雅黑" panose="020B0503020204020204" pitchFamily="34" charset="-122"/>
                <a:ea typeface="微软雅黑" panose="020B0503020204020204" pitchFamily="34" charset="-122"/>
                <a:cs typeface="Helvetica"/>
              </a:rPr>
              <a:t>全球</a:t>
            </a:r>
            <a:r>
              <a:rPr lang="en-US" altLang="zh-CN" sz="1500" b="1" dirty="0">
                <a:solidFill>
                  <a:srgbClr val="FFFFFF"/>
                </a:solidFill>
                <a:latin typeface="微软雅黑" panose="020B0503020204020204" pitchFamily="34" charset="-122"/>
                <a:ea typeface="微软雅黑" panose="020B0503020204020204" pitchFamily="34" charset="-122"/>
                <a:cs typeface="Helvetica"/>
              </a:rPr>
              <a:t>LED</a:t>
            </a:r>
            <a:r>
              <a:rPr lang="zh-CN" altLang="en-US" sz="1500" b="1" dirty="0">
                <a:solidFill>
                  <a:srgbClr val="FFFFFF"/>
                </a:solidFill>
                <a:latin typeface="微软雅黑" panose="020B0503020204020204" pitchFamily="34" charset="-122"/>
                <a:ea typeface="微软雅黑" panose="020B0503020204020204" pitchFamily="34" charset="-122"/>
                <a:cs typeface="Helvetica"/>
              </a:rPr>
              <a:t>光显行业的引领者</a:t>
            </a:r>
            <a:endParaRPr lang="en-US" altLang="zh-CN" sz="15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254982" y="1091505"/>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使命愿景</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cxnSp>
        <p:nvCxnSpPr>
          <p:cNvPr id="11" name="直接连接符 10"/>
          <p:cNvCxnSpPr/>
          <p:nvPr/>
        </p:nvCxnSpPr>
        <p:spPr>
          <a:xfrm>
            <a:off x="2418839" y="2098015"/>
            <a:ext cx="0" cy="1514564"/>
          </a:xfrm>
          <a:prstGeom prst="line">
            <a:avLst/>
          </a:prstGeom>
          <a:solidFill>
            <a:srgbClr val="5B9BD5"/>
          </a:solidFill>
          <a:ln w="38100" cap="flat" cmpd="sng" algn="ctr">
            <a:solidFill>
              <a:srgbClr val="009F9A"/>
            </a:solidFill>
            <a:prstDash val="solid"/>
            <a:round/>
            <a:headEnd type="none" w="med" len="med"/>
            <a:tailEnd type="none" w="med" len="med"/>
          </a:ln>
        </p:spPr>
      </p:cxnSp>
      <p:sp>
        <p:nvSpPr>
          <p:cNvPr id="12" name="矩形 11"/>
          <p:cNvSpPr/>
          <p:nvPr>
            <p:custDataLst>
              <p:tags r:id="rId1"/>
            </p:custDataLst>
          </p:nvPr>
        </p:nvSpPr>
        <p:spPr>
          <a:xfrm>
            <a:off x="1621501" y="1871012"/>
            <a:ext cx="10028268" cy="530489"/>
          </a:xfrm>
          <a:prstGeom prst="rect">
            <a:avLst/>
          </a:prstGeom>
          <a:solidFill>
            <a:srgbClr val="11AFBB"/>
          </a:solidFill>
          <a:ln w="9525">
            <a:noFill/>
            <a:miter lim="800000"/>
          </a:ln>
        </p:spPr>
        <p:txBody>
          <a:bodyPr anchor="ctr"/>
          <a:lstStyle/>
          <a:p>
            <a:pPr algn="ctr" defTabSz="899160">
              <a:defRPr/>
            </a:pPr>
            <a:r>
              <a:rPr lang="zh-CN" altLang="en-US" sz="1500" b="1" dirty="0">
                <a:solidFill>
                  <a:srgbClr val="000000"/>
                </a:solidFill>
                <a:latin typeface="微软雅黑" panose="020B0503020204020204" pitchFamily="34" charset="-122"/>
                <a:ea typeface="微软雅黑" panose="020B0503020204020204" pitchFamily="34" charset="-122"/>
                <a:cs typeface="Helvetica"/>
              </a:rPr>
              <a:t>全面拥抱</a:t>
            </a:r>
            <a:r>
              <a:rPr lang="en-US" altLang="zh-CN" sz="1500" b="1" dirty="0">
                <a:solidFill>
                  <a:srgbClr val="000000"/>
                </a:solidFill>
                <a:latin typeface="微软雅黑" panose="020B0503020204020204" pitchFamily="34" charset="-122"/>
                <a:ea typeface="微软雅黑" panose="020B0503020204020204" pitchFamily="34" charset="-122"/>
                <a:cs typeface="Helvetica"/>
              </a:rPr>
              <a:t>AI</a:t>
            </a:r>
            <a:r>
              <a:rPr lang="zh-CN" altLang="en-US" sz="1500" b="1" dirty="0">
                <a:solidFill>
                  <a:srgbClr val="000000"/>
                </a:solidFill>
                <a:latin typeface="微软雅黑" panose="020B0503020204020204" pitchFamily="34" charset="-122"/>
                <a:ea typeface="微软雅黑" panose="020B0503020204020204" pitchFamily="34" charset="-122"/>
                <a:cs typeface="Helvetica"/>
              </a:rPr>
              <a:t>，推动</a:t>
            </a:r>
            <a:r>
              <a:rPr lang="en-US" altLang="zh-CN" sz="1500" b="1" dirty="0">
                <a:solidFill>
                  <a:srgbClr val="000000"/>
                </a:solidFill>
                <a:latin typeface="微软雅黑" panose="020B0503020204020204" pitchFamily="34" charset="-122"/>
                <a:ea typeface="微软雅黑" panose="020B0503020204020204" pitchFamily="34" charset="-122"/>
                <a:cs typeface="Helvetica"/>
              </a:rPr>
              <a:t>"LED+AI"</a:t>
            </a:r>
            <a:r>
              <a:rPr lang="zh-CN" altLang="en-US" sz="1500" b="1" dirty="0">
                <a:solidFill>
                  <a:srgbClr val="000000"/>
                </a:solidFill>
                <a:latin typeface="微软雅黑" panose="020B0503020204020204" pitchFamily="34" charset="-122"/>
                <a:ea typeface="微软雅黑" panose="020B0503020204020204" pitchFamily="34" charset="-122"/>
                <a:cs typeface="Helvetica"/>
              </a:rPr>
              <a:t>深度融合</a:t>
            </a:r>
            <a:endParaRPr lang="zh-CN" altLang="en-US" sz="1500" b="1"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13" name="文本框 12"/>
          <p:cNvSpPr txBox="1"/>
          <p:nvPr/>
        </p:nvSpPr>
        <p:spPr>
          <a:xfrm>
            <a:off x="254982" y="1926835"/>
            <a:ext cx="975701"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战略方向及目标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 name="矩形 13"/>
          <p:cNvSpPr/>
          <p:nvPr/>
        </p:nvSpPr>
        <p:spPr>
          <a:xfrm>
            <a:off x="1684261" y="3241996"/>
            <a:ext cx="1486763"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签单数量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存量订单数量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出货数量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年累计签单数量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矩形 14"/>
          <p:cNvSpPr/>
          <p:nvPr/>
        </p:nvSpPr>
        <p:spPr>
          <a:xfrm>
            <a:off x="4893737" y="3241996"/>
            <a:ext cx="1678991"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主营业务成本</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直接费用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样展品及借用费</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资产减值损失</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资产减值损失</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总人力成本</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研发费用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融合费用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职能平台费用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矩形 15"/>
          <p:cNvSpPr/>
          <p:nvPr/>
        </p:nvSpPr>
        <p:spPr>
          <a:xfrm>
            <a:off x="1684262" y="5333376"/>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同期对比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目标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预算对比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行业对标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行业对标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     </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排名</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文本框 16"/>
          <p:cNvSpPr txBox="1"/>
          <p:nvPr/>
        </p:nvSpPr>
        <p:spPr>
          <a:xfrm>
            <a:off x="321260" y="3690380"/>
            <a:ext cx="1127052"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指标细化</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维度</a:t>
            </a:r>
            <a:r>
              <a:rPr lang="en-US" altLang="zh-CN" sz="12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kern="0" dirty="0">
                <a:solidFill>
                  <a:prstClr val="black"/>
                </a:solidFill>
                <a:latin typeface="微软雅黑" panose="020B0503020204020204" pitchFamily="34" charset="-122"/>
                <a:ea typeface="微软雅黑" panose="020B0503020204020204" pitchFamily="34" charset="-122"/>
                <a:cs typeface="Helvetica"/>
              </a:rPr>
              <a:t>子指标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8" name="文本框 17"/>
          <p:cNvSpPr txBox="1"/>
          <p:nvPr/>
        </p:nvSpPr>
        <p:spPr>
          <a:xfrm>
            <a:off x="243468" y="4957746"/>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分析定位问题</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9" name="矩形 18"/>
          <p:cNvSpPr/>
          <p:nvPr/>
        </p:nvSpPr>
        <p:spPr>
          <a:xfrm>
            <a:off x="6785382" y="3236273"/>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客诉毛利率影响</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0" name="矩形 19"/>
          <p:cNvSpPr/>
          <p:nvPr/>
        </p:nvSpPr>
        <p:spPr>
          <a:xfrm>
            <a:off x="8575194" y="3235866"/>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应收总额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应收逾期金额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成品库存周转率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成品库龄分析</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人均签单</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人均毛利</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1" name="矩形 20"/>
          <p:cNvSpPr/>
          <p:nvPr/>
        </p:nvSpPr>
        <p:spPr>
          <a:xfrm>
            <a:off x="10258176" y="3227009"/>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逾期应收（</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3</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个月以上）</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文本框 21"/>
          <p:cNvSpPr txBox="1"/>
          <p:nvPr/>
        </p:nvSpPr>
        <p:spPr>
          <a:xfrm>
            <a:off x="321260" y="5799651"/>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管理报告</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3" name="矩形 22"/>
          <p:cNvSpPr/>
          <p:nvPr/>
        </p:nvSpPr>
        <p:spPr>
          <a:xfrm>
            <a:off x="1678075" y="5982163"/>
            <a:ext cx="10001843" cy="310646"/>
          </a:xfrm>
          <a:prstGeom prst="rect">
            <a:avLst/>
          </a:prstGeom>
          <a:solidFill>
            <a:srgbClr val="009F9A">
              <a:alpha val="60000"/>
            </a:srgbClr>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法人合并报表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管理合并报表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单体报表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专项报表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4" name="矩形 23"/>
          <p:cNvSpPr/>
          <p:nvPr/>
        </p:nvSpPr>
        <p:spPr>
          <a:xfrm>
            <a:off x="1678074" y="6390579"/>
            <a:ext cx="10001843" cy="310646"/>
          </a:xfrm>
          <a:prstGeom prst="rect">
            <a:avLst/>
          </a:prstGeom>
          <a:solidFill>
            <a:srgbClr val="009F9A">
              <a:alpha val="60000"/>
            </a:srgbClr>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一报一会机制保障：通过指标</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报表进行问题诊断</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发现问题</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定位问题</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找举措</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验证改善</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形成闭环</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5" name="文本框 24"/>
          <p:cNvSpPr txBox="1"/>
          <p:nvPr/>
        </p:nvSpPr>
        <p:spPr>
          <a:xfrm>
            <a:off x="300702" y="6232838"/>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机制保障</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6" name="左中括号 25"/>
          <p:cNvSpPr/>
          <p:nvPr/>
        </p:nvSpPr>
        <p:spPr>
          <a:xfrm>
            <a:off x="1496510" y="2789499"/>
            <a:ext cx="117925" cy="3129193"/>
          </a:xfrm>
          <a:prstGeom prst="leftBracket">
            <a:avLst/>
          </a:prstGeom>
          <a:noFill/>
          <a:ln w="31750" cap="flat" cmpd="sng" algn="ctr">
            <a:solidFill>
              <a:srgbClr val="009F9A"/>
            </a:solidFill>
            <a:prstDash val="solid"/>
            <a:miter lim="800000"/>
          </a:ln>
          <a:effectLst/>
        </p:spPr>
        <p:txBody>
          <a:bodyPr rtlCol="0" anchor="ctr"/>
          <a:lstStyle/>
          <a:p>
            <a:pPr algn="ctr">
              <a:defRPr/>
            </a:pPr>
            <a:endParaRPr lang="zh-CN" altLang="en-US" kern="0">
              <a:solidFill>
                <a:prstClr val="black"/>
              </a:solidFill>
              <a:latin typeface="微软雅黑" panose="020B0503020204020204" pitchFamily="34" charset="-122"/>
              <a:ea typeface="微软雅黑" panose="020B0503020204020204" pitchFamily="34" charset="-122"/>
              <a:cs typeface="Helvetica"/>
            </a:endParaRPr>
          </a:p>
        </p:txBody>
      </p:sp>
      <p:sp>
        <p:nvSpPr>
          <p:cNvPr id="27" name="矩形 26"/>
          <p:cNvSpPr/>
          <p:nvPr/>
        </p:nvSpPr>
        <p:spPr>
          <a:xfrm>
            <a:off x="1674505" y="5650768"/>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商机管理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销售执行</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售后管理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客户持续经营</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文本框 27"/>
          <p:cNvSpPr txBox="1"/>
          <p:nvPr/>
        </p:nvSpPr>
        <p:spPr>
          <a:xfrm>
            <a:off x="159030" y="5495792"/>
            <a:ext cx="1410396"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价值链指标找根因</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9" name="Rectangle 10"/>
          <p:cNvSpPr/>
          <p:nvPr/>
        </p:nvSpPr>
        <p:spPr>
          <a:xfrm>
            <a:off x="1684262" y="2632140"/>
            <a:ext cx="149840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机会</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0" name="Rectangle 10"/>
          <p:cNvSpPr/>
          <p:nvPr/>
        </p:nvSpPr>
        <p:spPr>
          <a:xfrm>
            <a:off x="3341169" y="2632140"/>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收入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1" name="Rectangle 10"/>
          <p:cNvSpPr/>
          <p:nvPr/>
        </p:nvSpPr>
        <p:spPr>
          <a:xfrm>
            <a:off x="5084924" y="2632140"/>
            <a:ext cx="1487803"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投入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2" name="Rectangle 10"/>
          <p:cNvSpPr/>
          <p:nvPr/>
        </p:nvSpPr>
        <p:spPr>
          <a:xfrm>
            <a:off x="6794993" y="2632140"/>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回报</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3" name="Rectangle 10"/>
          <p:cNvSpPr/>
          <p:nvPr/>
        </p:nvSpPr>
        <p:spPr>
          <a:xfrm>
            <a:off x="8584805" y="2620699"/>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效率</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4" name="Rectangle 10"/>
          <p:cNvSpPr/>
          <p:nvPr/>
        </p:nvSpPr>
        <p:spPr>
          <a:xfrm>
            <a:off x="10262982" y="2620699"/>
            <a:ext cx="1416936" cy="368300"/>
          </a:xfrm>
          <a:prstGeom prst="rect">
            <a:avLst/>
          </a:prstGeom>
          <a:solidFill>
            <a:srgbClr val="009F9A"/>
          </a:solidFill>
          <a:ln>
            <a:solidFill>
              <a:srgbClr val="009F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风险</a:t>
            </a:r>
            <a:endParaRPr kumimoji="0" lang="zh-CN" altLang="en-US" sz="1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5" name="矩形 34"/>
          <p:cNvSpPr/>
          <p:nvPr/>
        </p:nvSpPr>
        <p:spPr>
          <a:xfrm>
            <a:off x="3337148" y="3249429"/>
            <a:ext cx="1416936"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营业收入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增值服务收入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NONE-TOP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6" name="文本框 35"/>
          <p:cNvSpPr txBox="1"/>
          <p:nvPr/>
        </p:nvSpPr>
        <p:spPr>
          <a:xfrm>
            <a:off x="266616" y="2675459"/>
            <a:ext cx="1127052"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经营要素</a:t>
            </a:r>
            <a:r>
              <a:rPr lang="en-US" altLang="zh-CN" sz="12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kern="0" dirty="0">
                <a:solidFill>
                  <a:prstClr val="black"/>
                </a:solidFill>
                <a:latin typeface="微软雅黑" panose="020B0503020204020204" pitchFamily="34" charset="-122"/>
                <a:ea typeface="微软雅黑" panose="020B0503020204020204" pitchFamily="34" charset="-122"/>
                <a:cs typeface="Helvetica"/>
              </a:rPr>
              <a:t>重要经营指标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7" name="矩形 36"/>
          <p:cNvSpPr/>
          <p:nvPr/>
        </p:nvSpPr>
        <p:spPr>
          <a:xfrm>
            <a:off x="1684261" y="4993160"/>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维度：区域   客户</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  项目、行业、品牌、价权、销售部门</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、市场拓展</a:t>
            </a:r>
            <a:r>
              <a:rPr lang="en-US" altLang="zh-CN" dirty="0"/>
              <a:t>MTL</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23" name="AutoShape 16"/>
          <p:cNvSpPr/>
          <p:nvPr>
            <p:custDataLst>
              <p:tags r:id="rId1"/>
            </p:custDataLst>
          </p:nvPr>
        </p:nvSpPr>
        <p:spPr>
          <a:xfrm rot="16200000">
            <a:off x="5025149" y="-2587812"/>
            <a:ext cx="1095375" cy="9251623"/>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029E9A"/>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微软雅黑" panose="020B0503020204020204" pitchFamily="34" charset="-122"/>
              <a:cs typeface="Helvetica"/>
            </a:endParaRPr>
          </a:p>
        </p:txBody>
      </p:sp>
      <p:sp>
        <p:nvSpPr>
          <p:cNvPr id="24" name="文本框 23"/>
          <p:cNvSpPr txBox="1"/>
          <p:nvPr/>
        </p:nvSpPr>
        <p:spPr>
          <a:xfrm>
            <a:off x="1288338" y="1884330"/>
            <a:ext cx="100711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市场洞察</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25" name="文本框 24"/>
          <p:cNvSpPr txBox="1"/>
          <p:nvPr>
            <p:custDataLst>
              <p:tags r:id="rId2"/>
            </p:custDataLst>
          </p:nvPr>
        </p:nvSpPr>
        <p:spPr>
          <a:xfrm>
            <a:off x="4061383" y="188401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市场活动与线索</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26" name="直接连接符 25"/>
          <p:cNvCxnSpPr/>
          <p:nvPr/>
        </p:nvCxnSpPr>
        <p:spPr>
          <a:xfrm>
            <a:off x="2642793" y="2516790"/>
            <a:ext cx="0" cy="3289300"/>
          </a:xfrm>
          <a:prstGeom prst="line">
            <a:avLst/>
          </a:prstGeom>
          <a:solidFill>
            <a:srgbClr val="4F81BD"/>
          </a:solidFill>
          <a:ln w="9525" cap="flat" cmpd="sng" algn="ctr">
            <a:solidFill>
              <a:srgbClr val="0070C0"/>
            </a:solidFill>
            <a:prstDash val="solid"/>
            <a:round/>
            <a:headEnd type="none" w="med" len="med"/>
            <a:tailEnd type="none" w="med" len="med"/>
          </a:ln>
        </p:spPr>
      </p:cxnSp>
      <p:cxnSp>
        <p:nvCxnSpPr>
          <p:cNvPr id="27" name="直接连接符 26"/>
          <p:cNvCxnSpPr/>
          <p:nvPr/>
        </p:nvCxnSpPr>
        <p:spPr>
          <a:xfrm>
            <a:off x="947978" y="2589815"/>
            <a:ext cx="0" cy="320421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29" name="文本框 28"/>
          <p:cNvSpPr txBox="1"/>
          <p:nvPr>
            <p:custDataLst>
              <p:tags r:id="rId3"/>
            </p:custDataLst>
          </p:nvPr>
        </p:nvSpPr>
        <p:spPr>
          <a:xfrm>
            <a:off x="7213971" y="2735865"/>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29E9A"/>
                </a:solidFill>
                <a:latin typeface="微软雅黑" panose="020B0503020204020204" pitchFamily="34" charset="-122"/>
                <a:ea typeface="微软雅黑" panose="020B0503020204020204" pitchFamily="34" charset="-122"/>
                <a:cs typeface="Helvetica"/>
              </a:rPr>
              <a:t>线索管理</a:t>
            </a:r>
            <a:endParaRPr lang="zh-CN" altLang="en-US" sz="1200" b="1" dirty="0">
              <a:solidFill>
                <a:srgbClr val="029E9A"/>
              </a:solidFill>
              <a:latin typeface="微软雅黑" panose="020B0503020204020204" pitchFamily="34" charset="-122"/>
              <a:ea typeface="微软雅黑" panose="020B0503020204020204" pitchFamily="34" charset="-122"/>
              <a:cs typeface="Helvetica"/>
            </a:endParaRPr>
          </a:p>
        </p:txBody>
      </p:sp>
      <p:sp>
        <p:nvSpPr>
          <p:cNvPr id="30" name="文本框 29"/>
          <p:cNvSpPr txBox="1"/>
          <p:nvPr>
            <p:custDataLst>
              <p:tags r:id="rId4"/>
            </p:custDataLst>
          </p:nvPr>
        </p:nvSpPr>
        <p:spPr>
          <a:xfrm>
            <a:off x="5069517" y="2742311"/>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29E9A"/>
                </a:solidFill>
                <a:latin typeface="微软雅黑" panose="020B0503020204020204" pitchFamily="34" charset="-122"/>
                <a:ea typeface="微软雅黑" panose="020B0503020204020204" pitchFamily="34" charset="-122"/>
                <a:cs typeface="Helvetica"/>
              </a:rPr>
              <a:t>全球展厅计划</a:t>
            </a:r>
            <a:endParaRPr lang="zh-CN" altLang="en-US" sz="1200" b="1" dirty="0">
              <a:solidFill>
                <a:srgbClr val="029E9A"/>
              </a:solidFill>
              <a:latin typeface="微软雅黑" panose="020B0503020204020204" pitchFamily="34" charset="-122"/>
              <a:ea typeface="微软雅黑" panose="020B0503020204020204" pitchFamily="34" charset="-122"/>
              <a:cs typeface="Helvetica"/>
            </a:endParaRPr>
          </a:p>
        </p:txBody>
      </p:sp>
      <p:sp>
        <p:nvSpPr>
          <p:cNvPr id="31" name="右箭头 1"/>
          <p:cNvSpPr/>
          <p:nvPr>
            <p:custDataLst>
              <p:tags r:id="rId5"/>
            </p:custDataLst>
          </p:nvPr>
        </p:nvSpPr>
        <p:spPr>
          <a:xfrm>
            <a:off x="2656127" y="2929540"/>
            <a:ext cx="7504305" cy="176722"/>
          </a:xfrm>
          <a:prstGeom prst="rightArrow">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2" name="文本框 31"/>
          <p:cNvSpPr txBox="1"/>
          <p:nvPr>
            <p:custDataLst>
              <p:tags r:id="rId6"/>
            </p:custDataLst>
          </p:nvPr>
        </p:nvSpPr>
        <p:spPr>
          <a:xfrm>
            <a:off x="7204806" y="3114960"/>
            <a:ext cx="1644015" cy="1198880"/>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线索数量金额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线索增长率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en-US" altLang="zh-CN" sz="1200" b="1" dirty="0" err="1">
                <a:solidFill>
                  <a:srgbClr val="000000"/>
                </a:solidFill>
                <a:latin typeface="微软雅黑" panose="020B0503020204020204" pitchFamily="34" charset="-122"/>
                <a:ea typeface="微软雅黑" panose="020B0503020204020204" pitchFamily="34" charset="-122"/>
                <a:cs typeface="Helvetica"/>
              </a:rPr>
              <a:t>有效线索数</a:t>
            </a:r>
            <a:r>
              <a:rPr lang="zh-CN" altLang="en-US" sz="1200" b="1" dirty="0">
                <a:solidFill>
                  <a:srgbClr val="000000"/>
                </a:solidFill>
                <a:latin typeface="微软雅黑" panose="020B0503020204020204" pitchFamily="34" charset="-122"/>
                <a:ea typeface="微软雅黑" panose="020B0503020204020204" pitchFamily="34" charset="-122"/>
                <a:cs typeface="Helvetica"/>
              </a:rPr>
              <a:t>量金额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新增客户</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线上</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线下</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线索转换率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33" name="右箭头 1"/>
          <p:cNvSpPr/>
          <p:nvPr>
            <p:custDataLst>
              <p:tags r:id="rId7"/>
            </p:custDataLst>
          </p:nvPr>
        </p:nvSpPr>
        <p:spPr>
          <a:xfrm>
            <a:off x="947343" y="2929540"/>
            <a:ext cx="1692000" cy="154305"/>
          </a:xfrm>
          <a:prstGeom prst="rightArrow">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34" name="直接连接符 33"/>
          <p:cNvCxnSpPr/>
          <p:nvPr>
            <p:custDataLst>
              <p:tags r:id="rId8"/>
            </p:custDataLst>
          </p:nvPr>
        </p:nvCxnSpPr>
        <p:spPr>
          <a:xfrm>
            <a:off x="2649143" y="1490630"/>
            <a:ext cx="0" cy="10261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35" name="直接连接符 34"/>
          <p:cNvCxnSpPr/>
          <p:nvPr>
            <p:custDataLst>
              <p:tags r:id="rId9"/>
            </p:custDataLst>
          </p:nvPr>
        </p:nvCxnSpPr>
        <p:spPr>
          <a:xfrm>
            <a:off x="10179540" y="2352325"/>
            <a:ext cx="0" cy="328930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37" name="文本框 36"/>
          <p:cNvSpPr txBox="1"/>
          <p:nvPr>
            <p:custDataLst>
              <p:tags r:id="rId10"/>
            </p:custDataLst>
          </p:nvPr>
        </p:nvSpPr>
        <p:spPr>
          <a:xfrm>
            <a:off x="987387" y="3068157"/>
            <a:ext cx="1928495" cy="1383665"/>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市占率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存量市场规模</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市场规模增长率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新增潜在客户数量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竞争对手名单及数量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竞品及价格</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竞品市占率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38" name="文本框 37"/>
          <p:cNvSpPr txBox="1"/>
          <p:nvPr/>
        </p:nvSpPr>
        <p:spPr>
          <a:xfrm>
            <a:off x="346504" y="615022"/>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核心价值：分析市场趋势、客户需求、竞争对手情况等，为销售策略提供依据；</a:t>
            </a:r>
            <a:endParaRPr lang="en-US" altLang="zh-CN" sz="1600" b="1" dirty="0">
              <a:solidFill>
                <a:srgbClr val="060607"/>
              </a:solidFill>
              <a:latin typeface="微软雅黑" panose="020B0503020204020204" pitchFamily="34" charset="-122"/>
              <a:ea typeface="微软雅黑" panose="020B0503020204020204" pitchFamily="34" charset="-122"/>
              <a:cs typeface="Helvetica"/>
            </a:endParaRPr>
          </a:p>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                 通过有效的市场活动管理和销售线索生成，帮助业务团队挖掘增量市场机会，实现可持续的业务增长。</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39" name="文本框 38"/>
          <p:cNvSpPr txBox="1"/>
          <p:nvPr>
            <p:custDataLst>
              <p:tags r:id="rId11"/>
            </p:custDataLst>
          </p:nvPr>
        </p:nvSpPr>
        <p:spPr>
          <a:xfrm>
            <a:off x="3016032" y="2731091"/>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29E9A"/>
                </a:solidFill>
                <a:latin typeface="微软雅黑" panose="020B0503020204020204" pitchFamily="34" charset="-122"/>
                <a:ea typeface="微软雅黑" panose="020B0503020204020204" pitchFamily="34" charset="-122"/>
                <a:cs typeface="Helvetica"/>
              </a:rPr>
              <a:t>市场活动与费用</a:t>
            </a:r>
            <a:endParaRPr lang="zh-CN" altLang="en-US" sz="1200" b="1" dirty="0">
              <a:solidFill>
                <a:srgbClr val="029E9A"/>
              </a:solidFill>
              <a:latin typeface="微软雅黑" panose="020B0503020204020204" pitchFamily="34" charset="-122"/>
              <a:ea typeface="微软雅黑" panose="020B0503020204020204" pitchFamily="34" charset="-122"/>
              <a:cs typeface="Helvetica"/>
            </a:endParaRPr>
          </a:p>
        </p:txBody>
      </p:sp>
      <p:sp>
        <p:nvSpPr>
          <p:cNvPr id="40" name="文本框 39"/>
          <p:cNvSpPr txBox="1"/>
          <p:nvPr/>
        </p:nvSpPr>
        <p:spPr>
          <a:xfrm>
            <a:off x="2787184" y="3098098"/>
            <a:ext cx="1828937" cy="1568450"/>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现场签单数量金额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获客数量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市场活动获取的线索</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市场活动获取的商机</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41" name="文本框 40"/>
          <p:cNvSpPr txBox="1"/>
          <p:nvPr/>
        </p:nvSpPr>
        <p:spPr>
          <a:xfrm>
            <a:off x="4994689" y="3098098"/>
            <a:ext cx="1828937" cy="645160"/>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-S</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级展厅进展 </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级展厅进展</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-B</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级展厅进展</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graphicFrame>
        <p:nvGraphicFramePr>
          <p:cNvPr id="42" name="表格 41"/>
          <p:cNvGraphicFramePr>
            <a:graphicFrameLocks noGrp="1"/>
          </p:cNvGraphicFramePr>
          <p:nvPr/>
        </p:nvGraphicFramePr>
        <p:xfrm>
          <a:off x="5069517" y="4664181"/>
          <a:ext cx="6167754" cy="1981200"/>
        </p:xfrm>
        <a:graphic>
          <a:graphicData uri="http://schemas.openxmlformats.org/drawingml/2006/table">
            <a:tbl>
              <a:tblPr firstRow="1" bandRow="1"/>
              <a:tblGrid>
                <a:gridCol w="1134330"/>
                <a:gridCol w="5033424"/>
              </a:tblGrid>
              <a:tr h="236594">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维度描述</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细分市场</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产品维度</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创意、固装、户外、户内、租赁；</a:t>
                      </a:r>
                      <a:endParaRPr lang="en-US" altLang="zh-CN" sz="1100" dirty="0">
                        <a:latin typeface="微软雅黑" panose="020B0503020204020204" pitchFamily="34" charset="-122"/>
                        <a:ea typeface="微软雅黑" panose="020B0503020204020204" pitchFamily="34" charset="-122"/>
                      </a:endParaRPr>
                    </a:p>
                    <a:p>
                      <a:pPr algn="l"/>
                      <a:r>
                        <a:rPr lang="zh-CN" altLang="en-US" sz="1100" dirty="0">
                          <a:latin typeface="微软雅黑" panose="020B0503020204020204" pitchFamily="34" charset="-122"/>
                          <a:ea typeface="微软雅黑" panose="020B0503020204020204" pitchFamily="34" charset="-122"/>
                        </a:rPr>
                        <a:t>行业维度</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金融、能源</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区域</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用于竞争分析</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行业</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用于竞争分析</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费用项目</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营销活动费用项目</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营销活动状态</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进行中、已完成</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线索状态</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已开启、合格、</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bl>
          </a:graphicData>
        </a:graphic>
      </p:graphicFrame>
      <p:sp>
        <p:nvSpPr>
          <p:cNvPr id="4" name="文本框 3"/>
          <p:cNvSpPr txBox="1"/>
          <p:nvPr>
            <p:custDataLst>
              <p:tags r:id="rId12"/>
            </p:custDataLst>
          </p:nvPr>
        </p:nvSpPr>
        <p:spPr>
          <a:xfrm>
            <a:off x="972108" y="2734891"/>
            <a:ext cx="1323340" cy="275590"/>
          </a:xfrm>
          <a:prstGeom prst="rect">
            <a:avLst/>
          </a:prstGeom>
          <a:noFill/>
        </p:spPr>
        <p:txBody>
          <a:bodyPr wrap="square" rtlCol="0">
            <a:spAutoFit/>
          </a:bodyPr>
          <a:lstStyle/>
          <a:p>
            <a:pPr algn="ctr" eaLnBrk="0" fontAlgn="base" hangingPunct="0">
              <a:spcBef>
                <a:spcPct val="0"/>
              </a:spcBef>
              <a:spcAft>
                <a:spcPct val="0"/>
              </a:spcAft>
            </a:pPr>
            <a:r>
              <a:rPr lang="zh-CN" altLang="en-US" sz="1200" b="1" dirty="0">
                <a:solidFill>
                  <a:srgbClr val="029E9A"/>
                </a:solidFill>
                <a:latin typeface="微软雅黑" panose="020B0503020204020204" pitchFamily="34" charset="-122"/>
                <a:ea typeface="微软雅黑" panose="020B0503020204020204" pitchFamily="34" charset="-122"/>
                <a:cs typeface="Helvetica"/>
              </a:rPr>
              <a:t>市场分析</a:t>
            </a:r>
            <a:endParaRPr lang="zh-CN" altLang="en-US" sz="1200" b="1" dirty="0">
              <a:solidFill>
                <a:srgbClr val="029E9A"/>
              </a:solidFill>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市场规划分析专题</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右箭头 1"/>
          <p:cNvSpPr/>
          <p:nvPr/>
        </p:nvSpPr>
        <p:spPr>
          <a:xfrm>
            <a:off x="433069" y="2647136"/>
            <a:ext cx="11681585" cy="360045"/>
          </a:xfrm>
          <a:prstGeom prst="rightArrow">
            <a:avLst/>
          </a:prstGeom>
          <a:solidFill>
            <a:srgbClr val="10AFBC"/>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 name="Rectangle 9"/>
          <p:cNvSpPr/>
          <p:nvPr/>
        </p:nvSpPr>
        <p:spPr>
          <a:xfrm>
            <a:off x="4963071" y="769836"/>
            <a:ext cx="2022433" cy="360000"/>
          </a:xfrm>
          <a:prstGeom prst="rect">
            <a:avLst/>
          </a:prstGeom>
          <a:solidFill>
            <a:srgbClr val="0C7F8A"/>
          </a:solidFill>
          <a:ln>
            <a:noFill/>
          </a:ln>
          <a:effectLst/>
        </p:spPr>
        <p:txBody>
          <a:bodyPr lIns="9000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rPr>
              <a:t>市场规划分析</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endParaRPr>
          </a:p>
        </p:txBody>
      </p:sp>
      <p:sp>
        <p:nvSpPr>
          <p:cNvPr id="6" name="Rectangle 217"/>
          <p:cNvSpPr/>
          <p:nvPr/>
        </p:nvSpPr>
        <p:spPr>
          <a:xfrm>
            <a:off x="22322" y="1475121"/>
            <a:ext cx="442371" cy="477568"/>
          </a:xfrm>
          <a:prstGeom prst="rect">
            <a:avLst/>
          </a:prstGeom>
          <a:solidFill>
            <a:srgbClr val="FFFFFF"/>
          </a:solidFill>
          <a:ln>
            <a:noFill/>
          </a:ln>
          <a:effectLst/>
        </p:spPr>
        <p:txBody>
          <a:bodyPr lIns="90000" rtlCol="0" anchor="ctr"/>
          <a:lstStyle/>
          <a:p>
            <a:pPr algn="ctr">
              <a:defRPr/>
            </a:pPr>
            <a:endParaRPr 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7" name="Rectangle 36"/>
          <p:cNvSpPr/>
          <p:nvPr/>
        </p:nvSpPr>
        <p:spPr>
          <a:xfrm>
            <a:off x="4763583" y="1531804"/>
            <a:ext cx="2416438" cy="36000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市场占有率</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8" name="Rectangle 217"/>
          <p:cNvSpPr/>
          <p:nvPr/>
        </p:nvSpPr>
        <p:spPr>
          <a:xfrm>
            <a:off x="19466" y="2593126"/>
            <a:ext cx="360045" cy="477520"/>
          </a:xfrm>
          <a:prstGeom prst="rect">
            <a:avLst/>
          </a:prstGeom>
          <a:solidFill>
            <a:srgbClr val="FFFFFF"/>
          </a:solidFill>
          <a:ln>
            <a:noFill/>
          </a:ln>
          <a:effectLst/>
        </p:spPr>
        <p:txBody>
          <a:bodyPr lIns="90000" rtlCol="0" anchor="ctr"/>
          <a:lstStyle/>
          <a:p>
            <a:pPr algn="ctr">
              <a:defRPr/>
            </a:pPr>
            <a:r>
              <a:rPr lang="zh-CN" altLang="en-GB" sz="1400" b="1" kern="0" dirty="0">
                <a:solidFill>
                  <a:srgbClr val="000000"/>
                </a:solidFill>
                <a:latin typeface="微软雅黑" panose="020B0503020204020204" pitchFamily="34" charset="-122"/>
                <a:ea typeface="微软雅黑" panose="020B0503020204020204" pitchFamily="34" charset="-122"/>
                <a:cs typeface="Helvetica"/>
              </a:rPr>
              <a:t>分析视角</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9" name="箭头: 下 8"/>
          <p:cNvSpPr/>
          <p:nvPr/>
        </p:nvSpPr>
        <p:spPr bwMode="auto">
          <a:xfrm rot="10800000">
            <a:off x="5414383" y="2006309"/>
            <a:ext cx="1129553" cy="431804"/>
          </a:xfrm>
          <a:prstGeom prst="downArrow">
            <a:avLst/>
          </a:prstGeom>
          <a:solidFill>
            <a:srgbClr val="10AFBC"/>
          </a:solidFill>
          <a:ln>
            <a:solidFill>
              <a:srgbClr val="10AFBC"/>
            </a:solid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0" name="Rectangle 36"/>
          <p:cNvSpPr/>
          <p:nvPr/>
        </p:nvSpPr>
        <p:spPr>
          <a:xfrm>
            <a:off x="721360" y="2641421"/>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应用行业</a:t>
            </a: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终端</a:t>
            </a: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37"/>
          <p:cNvSpPr/>
          <p:nvPr/>
        </p:nvSpPr>
        <p:spPr>
          <a:xfrm>
            <a:off x="3027045" y="2641421"/>
            <a:ext cx="107696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区域</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2" name="Rectangle 37"/>
          <p:cNvSpPr/>
          <p:nvPr/>
        </p:nvSpPr>
        <p:spPr>
          <a:xfrm>
            <a:off x="4818380" y="2659201"/>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客户</a:t>
            </a:r>
            <a:r>
              <a:rPr lang="en-US" altLang="zh-CN" sz="1400" b="1" kern="0" dirty="0">
                <a:solidFill>
                  <a:srgbClr val="FFFFFF"/>
                </a:solidFill>
                <a:latin typeface="微软雅黑" panose="020B0503020204020204" pitchFamily="34" charset="-122"/>
                <a:ea typeface="微软雅黑" panose="020B0503020204020204" pitchFamily="34" charset="-122"/>
                <a:cs typeface="Helvetica"/>
              </a:rPr>
              <a:t>&amp;</a:t>
            </a: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渠道</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3" name="Rectangle 37"/>
          <p:cNvSpPr/>
          <p:nvPr/>
        </p:nvSpPr>
        <p:spPr>
          <a:xfrm>
            <a:off x="9738089" y="2634436"/>
            <a:ext cx="209550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竞争环境分析</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14" name="直接连接符 13"/>
          <p:cNvCxnSpPr>
            <a:stCxn id="5" idx="2"/>
            <a:endCxn id="7" idx="0"/>
          </p:cNvCxnSpPr>
          <p:nvPr/>
        </p:nvCxnSpPr>
        <p:spPr>
          <a:xfrm flipH="1">
            <a:off x="5971802" y="1129836"/>
            <a:ext cx="2486" cy="401968"/>
          </a:xfrm>
          <a:prstGeom prst="line">
            <a:avLst/>
          </a:prstGeom>
          <a:noFill/>
          <a:ln w="38100" cap="flat" cmpd="sng" algn="ctr">
            <a:solidFill>
              <a:srgbClr val="10AFBC"/>
            </a:solidFill>
            <a:prstDash val="solid"/>
            <a:miter lim="800000"/>
            <a:headEnd type="none" w="med" len="med"/>
            <a:tailEnd type="none" w="med" len="med"/>
          </a:ln>
          <a:effectLst/>
        </p:spPr>
      </p:cxnSp>
      <p:sp>
        <p:nvSpPr>
          <p:cNvPr id="15" name="Rectangle 217"/>
          <p:cNvSpPr/>
          <p:nvPr/>
        </p:nvSpPr>
        <p:spPr>
          <a:xfrm>
            <a:off x="19466" y="1532041"/>
            <a:ext cx="360045" cy="477520"/>
          </a:xfrm>
          <a:prstGeom prst="rect">
            <a:avLst/>
          </a:prstGeom>
          <a:solidFill>
            <a:srgbClr val="FFFFFF"/>
          </a:solidFill>
          <a:ln>
            <a:noFill/>
          </a:ln>
          <a:effectLst/>
        </p:spPr>
        <p:txBody>
          <a:bodyPr lIns="90000" rtlCol="0" anchor="ctr"/>
          <a:lstStyle/>
          <a:p>
            <a:pPr algn="ctr">
              <a:defRPr/>
            </a:pPr>
            <a:r>
              <a:rPr lang="zh-CN" altLang="en-GB" sz="1400" b="1" kern="0" dirty="0">
                <a:solidFill>
                  <a:srgbClr val="000000"/>
                </a:solidFill>
                <a:latin typeface="微软雅黑" panose="020B0503020204020204" pitchFamily="34" charset="-122"/>
                <a:ea typeface="微软雅黑" panose="020B0503020204020204" pitchFamily="34" charset="-122"/>
                <a:cs typeface="Helvetica"/>
              </a:rPr>
              <a:t>核心指标</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16" name="矩形 15"/>
          <p:cNvSpPr/>
          <p:nvPr/>
        </p:nvSpPr>
        <p:spPr>
          <a:xfrm>
            <a:off x="80327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行业规模</a:t>
            </a:r>
            <a:b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b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与增长率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7" name="矩形 16"/>
          <p:cNvSpPr/>
          <p:nvPr/>
        </p:nvSpPr>
        <p:spPr>
          <a:xfrm>
            <a:off x="1173480"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TOP终端客户的行业内占比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8" name="矩形 17"/>
          <p:cNvSpPr/>
          <p:nvPr/>
        </p:nvSpPr>
        <p:spPr>
          <a:xfrm>
            <a:off x="236791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行业下的区域规模占比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9" name="矩形 18"/>
          <p:cNvSpPr/>
          <p:nvPr/>
        </p:nvSpPr>
        <p:spPr>
          <a:xfrm>
            <a:off x="433070"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行业占有率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0" name="矩形 19"/>
          <p:cNvSpPr/>
          <p:nvPr/>
        </p:nvSpPr>
        <p:spPr>
          <a:xfrm>
            <a:off x="6243679" y="3467555"/>
            <a:ext cx="288282" cy="1916241"/>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销售金额增长率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1" name="矩形 20"/>
          <p:cNvSpPr/>
          <p:nvPr/>
        </p:nvSpPr>
        <p:spPr>
          <a:xfrm>
            <a:off x="11294567"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竞争对手数量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2" name="矩形 21"/>
          <p:cNvSpPr/>
          <p:nvPr/>
        </p:nvSpPr>
        <p:spPr>
          <a:xfrm>
            <a:off x="9802863"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市场占有率</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3" name="矩形 22"/>
          <p:cNvSpPr/>
          <p:nvPr/>
        </p:nvSpPr>
        <p:spPr>
          <a:xfrm>
            <a:off x="10555427"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竞品价格</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4" name="矩形 23"/>
          <p:cNvSpPr/>
          <p:nvPr/>
        </p:nvSpPr>
        <p:spPr>
          <a:xfrm>
            <a:off x="4473943"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行业终端客户排名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外部)</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6603724"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客户利润贡献率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6" name="矩形 25"/>
          <p:cNvSpPr/>
          <p:nvPr/>
        </p:nvSpPr>
        <p:spPr>
          <a:xfrm>
            <a:off x="6973929"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客户销售额贡献率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7" name="矩形 26"/>
          <p:cNvSpPr/>
          <p:nvPr/>
        </p:nvSpPr>
        <p:spPr>
          <a:xfrm>
            <a:off x="3198495" y="3454220"/>
            <a:ext cx="288282" cy="1948851"/>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区域市场规模与增长率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8" name="矩形 27"/>
          <p:cNvSpPr/>
          <p:nvPr/>
        </p:nvSpPr>
        <p:spPr>
          <a:xfrm>
            <a:off x="3564890" y="3459935"/>
            <a:ext cx="288282" cy="1934875"/>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区域客户内部销售额占比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29" name="肘形连接符 91"/>
          <p:cNvCxnSpPr>
            <a:stCxn id="10" idx="2"/>
            <a:endCxn id="16" idx="0"/>
          </p:cNvCxnSpPr>
          <p:nvPr/>
        </p:nvCxnSpPr>
        <p:spPr>
          <a:xfrm rot="5400000">
            <a:off x="1066164" y="2882719"/>
            <a:ext cx="466725" cy="704219"/>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30" name="肘形连接符 92"/>
          <p:cNvCxnSpPr>
            <a:stCxn id="10" idx="2"/>
            <a:endCxn id="17" idx="0"/>
          </p:cNvCxnSpPr>
          <p:nvPr/>
        </p:nvCxnSpPr>
        <p:spPr>
          <a:xfrm rot="5400000">
            <a:off x="1251266" y="3067821"/>
            <a:ext cx="466725" cy="334014"/>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31" name="肘形连接符 93"/>
          <p:cNvCxnSpPr/>
          <p:nvPr/>
        </p:nvCxnSpPr>
        <p:spPr>
          <a:xfrm rot="5400000" flipV="1">
            <a:off x="1838960" y="2807156"/>
            <a:ext cx="476250" cy="850900"/>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32" name="肘形连接符 94"/>
          <p:cNvCxnSpPr>
            <a:stCxn id="10" idx="2"/>
            <a:endCxn id="19" idx="0"/>
          </p:cNvCxnSpPr>
          <p:nvPr/>
        </p:nvCxnSpPr>
        <p:spPr>
          <a:xfrm rot="5400000">
            <a:off x="881061" y="2697616"/>
            <a:ext cx="466725" cy="1074424"/>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33" name="肘形连接符 101"/>
          <p:cNvCxnSpPr>
            <a:stCxn id="13" idx="2"/>
            <a:endCxn id="21" idx="0"/>
          </p:cNvCxnSpPr>
          <p:nvPr/>
        </p:nvCxnSpPr>
        <p:spPr>
          <a:xfrm rot="16200000" flipH="1">
            <a:off x="10875418" y="2904901"/>
            <a:ext cx="473710" cy="652869"/>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34" name="肘形连接符 102"/>
          <p:cNvCxnSpPr>
            <a:stCxn id="13" idx="2"/>
            <a:endCxn id="22" idx="0"/>
          </p:cNvCxnSpPr>
          <p:nvPr/>
        </p:nvCxnSpPr>
        <p:spPr>
          <a:xfrm rot="5400000">
            <a:off x="10129567" y="2811919"/>
            <a:ext cx="473710" cy="838835"/>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sp>
        <p:nvSpPr>
          <p:cNvPr id="35" name="Rectangle 217"/>
          <p:cNvSpPr/>
          <p:nvPr/>
        </p:nvSpPr>
        <p:spPr>
          <a:xfrm>
            <a:off x="9941" y="3812325"/>
            <a:ext cx="386421" cy="863370"/>
          </a:xfrm>
          <a:prstGeom prst="rect">
            <a:avLst/>
          </a:prstGeom>
          <a:noFill/>
          <a:ln>
            <a:noFill/>
          </a:ln>
          <a:effectLst/>
        </p:spPr>
        <p:txBody>
          <a:bodyPr lIns="90000" rtlCol="0" anchor="ctr"/>
          <a:lstStyle/>
          <a:p>
            <a:pPr algn="ctr">
              <a:defRPr/>
            </a:pPr>
            <a:r>
              <a:rPr lang="zh-CN" altLang="en-GB" sz="1400" b="1" kern="0" dirty="0">
                <a:solidFill>
                  <a:srgbClr val="000000"/>
                </a:solidFill>
                <a:latin typeface="微软雅黑" panose="020B0503020204020204" pitchFamily="34" charset="-122"/>
                <a:ea typeface="微软雅黑" panose="020B0503020204020204" pitchFamily="34" charset="-122"/>
                <a:cs typeface="Helvetica"/>
              </a:rPr>
              <a:t>二级指标</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36" name="矩形 35"/>
          <p:cNvSpPr/>
          <p:nvPr/>
        </p:nvSpPr>
        <p:spPr>
          <a:xfrm>
            <a:off x="5126270" y="3468509"/>
            <a:ext cx="288282" cy="1913912"/>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集团终端客户排名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内部)</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矩形 36"/>
          <p:cNvSpPr/>
          <p:nvPr/>
        </p:nvSpPr>
        <p:spPr>
          <a:xfrm>
            <a:off x="547615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LED</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经营规模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8" name="矩形 37"/>
          <p:cNvSpPr/>
          <p:nvPr/>
        </p:nvSpPr>
        <p:spPr>
          <a:xfrm>
            <a:off x="5850170"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客户分级销售额占比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39" name="肘形连接符 10"/>
          <p:cNvCxnSpPr>
            <a:stCxn id="12" idx="2"/>
            <a:endCxn id="24" idx="0"/>
          </p:cNvCxnSpPr>
          <p:nvPr/>
        </p:nvCxnSpPr>
        <p:spPr>
          <a:xfrm rot="5400000">
            <a:off x="4958898" y="2678433"/>
            <a:ext cx="448945" cy="1130571"/>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40" name="肘形连接符 15"/>
          <p:cNvCxnSpPr>
            <a:stCxn id="12" idx="2"/>
            <a:endCxn id="26" idx="0"/>
          </p:cNvCxnSpPr>
          <p:nvPr/>
        </p:nvCxnSpPr>
        <p:spPr>
          <a:xfrm rot="16200000" flipH="1">
            <a:off x="6208890" y="2559010"/>
            <a:ext cx="448945" cy="1369415"/>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sp>
        <p:nvSpPr>
          <p:cNvPr id="41" name="矩形 40"/>
          <p:cNvSpPr/>
          <p:nvPr/>
        </p:nvSpPr>
        <p:spPr>
          <a:xfrm>
            <a:off x="11654612"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竞争对手画像</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2" name="矩形 41"/>
          <p:cNvSpPr/>
          <p:nvPr/>
        </p:nvSpPr>
        <p:spPr>
          <a:xfrm>
            <a:off x="10157282"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市场规模及增长率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3" name="矩形 42"/>
          <p:cNvSpPr/>
          <p:nvPr/>
        </p:nvSpPr>
        <p:spPr>
          <a:xfrm>
            <a:off x="1997710"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线索客户数量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4" name="矩形 43"/>
          <p:cNvSpPr/>
          <p:nvPr/>
        </p:nvSpPr>
        <p:spPr>
          <a:xfrm>
            <a:off x="2853690" y="3455174"/>
            <a:ext cx="288282" cy="1946522"/>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区域占有率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5" name="矩形 44"/>
          <p:cNvSpPr/>
          <p:nvPr/>
        </p:nvSpPr>
        <p:spPr>
          <a:xfrm>
            <a:off x="1543685" y="3465650"/>
            <a:ext cx="378242" cy="1920899"/>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TOP</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终端客户内部销售额占比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6" name="肘形连接符 32"/>
          <p:cNvCxnSpPr>
            <a:stCxn id="13" idx="2"/>
            <a:endCxn id="41" idx="0"/>
          </p:cNvCxnSpPr>
          <p:nvPr/>
        </p:nvCxnSpPr>
        <p:spPr>
          <a:xfrm rot="16200000" flipH="1">
            <a:off x="11055441" y="2724879"/>
            <a:ext cx="473710" cy="1012914"/>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47" name="肘形连接符 34"/>
          <p:cNvCxnSpPr/>
          <p:nvPr/>
        </p:nvCxnSpPr>
        <p:spPr>
          <a:xfrm rot="5400000" flipV="1">
            <a:off x="10537090" y="3019146"/>
            <a:ext cx="461010" cy="432000"/>
          </a:xfrm>
          <a:prstGeom prst="bentConnector3">
            <a:avLst>
              <a:gd name="adj1" fmla="val 49931"/>
            </a:avLst>
          </a:prstGeom>
          <a:solidFill>
            <a:srgbClr val="4F81BD"/>
          </a:solidFill>
          <a:ln w="9525" cap="flat" cmpd="sng" algn="ctr">
            <a:solidFill>
              <a:srgbClr val="009F9A"/>
            </a:solidFill>
            <a:prstDash val="solid"/>
            <a:round/>
            <a:headEnd type="none" w="med" len="med"/>
            <a:tailEnd type="none" w="med" len="med"/>
          </a:ln>
        </p:spPr>
      </p:cxnSp>
      <p:cxnSp>
        <p:nvCxnSpPr>
          <p:cNvPr id="48" name="肘形连接符 39"/>
          <p:cNvCxnSpPr>
            <a:stCxn id="13" idx="2"/>
            <a:endCxn id="42" idx="0"/>
          </p:cNvCxnSpPr>
          <p:nvPr/>
        </p:nvCxnSpPr>
        <p:spPr>
          <a:xfrm rot="5400000">
            <a:off x="10306776" y="2989128"/>
            <a:ext cx="473710" cy="484416"/>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sp>
        <p:nvSpPr>
          <p:cNvPr id="49" name="矩形 48"/>
          <p:cNvSpPr/>
          <p:nvPr/>
        </p:nvSpPr>
        <p:spPr>
          <a:xfrm>
            <a:off x="10940237"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竞品数量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50" name="肘形连接符 49"/>
          <p:cNvCxnSpPr>
            <a:stCxn id="12" idx="2"/>
            <a:endCxn id="36" idx="0"/>
          </p:cNvCxnSpPr>
          <p:nvPr/>
        </p:nvCxnSpPr>
        <p:spPr>
          <a:xfrm rot="5400000">
            <a:off x="5284902" y="3004755"/>
            <a:ext cx="449263" cy="478244"/>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1" name="肘形连接符 50"/>
          <p:cNvCxnSpPr>
            <a:stCxn id="12" idx="2"/>
            <a:endCxn id="37" idx="0"/>
          </p:cNvCxnSpPr>
          <p:nvPr/>
        </p:nvCxnSpPr>
        <p:spPr>
          <a:xfrm rot="5400000">
            <a:off x="5460004" y="3179539"/>
            <a:ext cx="448945" cy="128359"/>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2" name="肘形连接符 51"/>
          <p:cNvCxnSpPr>
            <a:stCxn id="12" idx="2"/>
            <a:endCxn id="38" idx="0"/>
          </p:cNvCxnSpPr>
          <p:nvPr/>
        </p:nvCxnSpPr>
        <p:spPr>
          <a:xfrm rot="16200000" flipH="1">
            <a:off x="5647011" y="3120890"/>
            <a:ext cx="448945" cy="245656"/>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3" name="肘形连接符 65"/>
          <p:cNvCxnSpPr>
            <a:stCxn id="12" idx="2"/>
            <a:endCxn id="20" idx="0"/>
          </p:cNvCxnSpPr>
          <p:nvPr/>
        </p:nvCxnSpPr>
        <p:spPr>
          <a:xfrm rot="16200000" flipH="1">
            <a:off x="5844083" y="2923817"/>
            <a:ext cx="448309" cy="639165"/>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4" name="肘形连接符 66"/>
          <p:cNvCxnSpPr>
            <a:stCxn id="12" idx="2"/>
            <a:endCxn id="25" idx="0"/>
          </p:cNvCxnSpPr>
          <p:nvPr/>
        </p:nvCxnSpPr>
        <p:spPr>
          <a:xfrm rot="16200000" flipH="1">
            <a:off x="6023788" y="2744113"/>
            <a:ext cx="448945" cy="999210"/>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5" name="肘形连接符 67"/>
          <p:cNvCxnSpPr>
            <a:stCxn id="10" idx="2"/>
            <a:endCxn id="45" idx="0"/>
          </p:cNvCxnSpPr>
          <p:nvPr/>
        </p:nvCxnSpPr>
        <p:spPr>
          <a:xfrm rot="16200000" flipH="1">
            <a:off x="1460128" y="3192972"/>
            <a:ext cx="464184" cy="81171"/>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56" name="肘形连接符 69"/>
          <p:cNvCxnSpPr/>
          <p:nvPr/>
        </p:nvCxnSpPr>
        <p:spPr>
          <a:xfrm rot="5400000" flipV="1">
            <a:off x="1653540" y="2991941"/>
            <a:ext cx="476250" cy="480695"/>
          </a:xfrm>
          <a:prstGeom prst="bentConnector3">
            <a:avLst>
              <a:gd name="adj1" fmla="val 49933"/>
            </a:avLst>
          </a:prstGeom>
          <a:solidFill>
            <a:srgbClr val="4F81BD"/>
          </a:solidFill>
          <a:ln w="9525" cap="flat" cmpd="sng" algn="ctr">
            <a:solidFill>
              <a:srgbClr val="009F9A"/>
            </a:solidFill>
            <a:prstDash val="solid"/>
            <a:round/>
            <a:headEnd type="none" w="med" len="med"/>
            <a:tailEnd type="none" w="med" len="med"/>
          </a:ln>
        </p:spPr>
      </p:cxnSp>
      <p:sp>
        <p:nvSpPr>
          <p:cNvPr id="57" name="Rectangle 37"/>
          <p:cNvSpPr/>
          <p:nvPr/>
        </p:nvSpPr>
        <p:spPr>
          <a:xfrm>
            <a:off x="7339330" y="2659836"/>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产品</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58" name="肘形连接符 9"/>
          <p:cNvCxnSpPr>
            <a:stCxn id="57" idx="2"/>
            <a:endCxn id="63" idx="0"/>
          </p:cNvCxnSpPr>
          <p:nvPr/>
        </p:nvCxnSpPr>
        <p:spPr>
          <a:xfrm rot="16200000" flipH="1">
            <a:off x="8339135" y="2950350"/>
            <a:ext cx="448310" cy="587371"/>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sp>
        <p:nvSpPr>
          <p:cNvPr id="59" name="矩形 58"/>
          <p:cNvSpPr/>
          <p:nvPr/>
        </p:nvSpPr>
        <p:spPr>
          <a:xfrm>
            <a:off x="8389620"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产品利润贡献率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0" name="矩形 59"/>
          <p:cNvSpPr/>
          <p:nvPr/>
        </p:nvSpPr>
        <p:spPr>
          <a:xfrm>
            <a:off x="7437446" y="3467733"/>
            <a:ext cx="288282" cy="1915464"/>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产品上市转化率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1" name="矩形 60"/>
          <p:cNvSpPr/>
          <p:nvPr/>
        </p:nvSpPr>
        <p:spPr>
          <a:xfrm>
            <a:off x="775398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订单金额增长率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2" name="矩形 61"/>
          <p:cNvSpPr/>
          <p:nvPr/>
        </p:nvSpPr>
        <p:spPr>
          <a:xfrm>
            <a:off x="8075295" y="3467555"/>
            <a:ext cx="288282" cy="1916241"/>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销售金额增长率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3" name="矩形 62"/>
          <p:cNvSpPr/>
          <p:nvPr/>
        </p:nvSpPr>
        <p:spPr>
          <a:xfrm>
            <a:off x="871283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产品销售额贡献率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4" name="矩形 63"/>
          <p:cNvSpPr/>
          <p:nvPr/>
        </p:nvSpPr>
        <p:spPr>
          <a:xfrm>
            <a:off x="9030335" y="3468191"/>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产品领域销售结构</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5" name="肘形连接符 35"/>
          <p:cNvCxnSpPr>
            <a:stCxn id="57" idx="2"/>
            <a:endCxn id="64" idx="0"/>
          </p:cNvCxnSpPr>
          <p:nvPr/>
        </p:nvCxnSpPr>
        <p:spPr>
          <a:xfrm rot="16200000" flipH="1">
            <a:off x="8497885" y="2791600"/>
            <a:ext cx="448310" cy="904871"/>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66" name="肘形连接符 43"/>
          <p:cNvCxnSpPr>
            <a:stCxn id="57" idx="2"/>
            <a:endCxn id="59" idx="0"/>
          </p:cNvCxnSpPr>
          <p:nvPr/>
        </p:nvCxnSpPr>
        <p:spPr>
          <a:xfrm rot="16200000" flipH="1">
            <a:off x="8177528" y="3111958"/>
            <a:ext cx="448310" cy="264156"/>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67" name="肘形连接符 44"/>
          <p:cNvCxnSpPr>
            <a:stCxn id="57" idx="2"/>
            <a:endCxn id="61" idx="0"/>
          </p:cNvCxnSpPr>
          <p:nvPr/>
        </p:nvCxnSpPr>
        <p:spPr>
          <a:xfrm rot="5400000">
            <a:off x="7859711" y="3058297"/>
            <a:ext cx="448310" cy="371479"/>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68" name="肘形连接符 54"/>
          <p:cNvCxnSpPr>
            <a:stCxn id="57" idx="2"/>
            <a:endCxn id="62" idx="0"/>
          </p:cNvCxnSpPr>
          <p:nvPr/>
        </p:nvCxnSpPr>
        <p:spPr>
          <a:xfrm rot="5400000">
            <a:off x="8020684" y="3218634"/>
            <a:ext cx="447674" cy="50169"/>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69" name="肘形连接符 55"/>
          <p:cNvCxnSpPr>
            <a:stCxn id="57" idx="2"/>
            <a:endCxn id="60" idx="0"/>
          </p:cNvCxnSpPr>
          <p:nvPr/>
        </p:nvCxnSpPr>
        <p:spPr>
          <a:xfrm rot="5400000">
            <a:off x="7701670" y="2899798"/>
            <a:ext cx="447852" cy="688018"/>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cxnSp>
        <p:nvCxnSpPr>
          <p:cNvPr id="70" name="肘形连接符 60"/>
          <p:cNvCxnSpPr/>
          <p:nvPr/>
        </p:nvCxnSpPr>
        <p:spPr>
          <a:xfrm rot="5400000">
            <a:off x="10320233" y="3241918"/>
            <a:ext cx="453600" cy="0"/>
          </a:xfrm>
          <a:prstGeom prst="bentConnector3">
            <a:avLst>
              <a:gd name="adj1" fmla="val 50000"/>
            </a:avLst>
          </a:prstGeom>
          <a:solidFill>
            <a:srgbClr val="4F81BD"/>
          </a:solidFill>
          <a:ln w="9525" cap="flat" cmpd="sng" algn="ctr">
            <a:solidFill>
              <a:srgbClr val="009F9A"/>
            </a:solidFill>
            <a:prstDash val="solid"/>
            <a:round/>
            <a:headEnd type="none" w="med" len="med"/>
            <a:tailEnd type="none" w="med" len="med"/>
          </a:ln>
        </p:spPr>
      </p:cxnSp>
      <p:sp>
        <p:nvSpPr>
          <p:cNvPr id="71" name="矩形 70"/>
          <p:cNvSpPr/>
          <p:nvPr/>
        </p:nvSpPr>
        <p:spPr>
          <a:xfrm>
            <a:off x="3906520" y="3459301"/>
            <a:ext cx="288282" cy="193642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区域下的产品领域（行业）客户排名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72" name="连接符: 肘形 71"/>
          <p:cNvCxnSpPr>
            <a:stCxn id="11" idx="2"/>
            <a:endCxn id="44" idx="0"/>
          </p:cNvCxnSpPr>
          <p:nvPr/>
        </p:nvCxnSpPr>
        <p:spPr bwMode="auto">
          <a:xfrm rot="5400000">
            <a:off x="3054824" y="2944473"/>
            <a:ext cx="453708" cy="567694"/>
          </a:xfrm>
          <a:prstGeom prst="bentConnector3">
            <a:avLst/>
          </a:prstGeom>
          <a:solidFill>
            <a:srgbClr val="4F81BD"/>
          </a:solidFill>
          <a:ln w="9525" cap="flat" cmpd="sng" algn="ctr">
            <a:solidFill>
              <a:srgbClr val="009F9A"/>
            </a:solidFill>
            <a:prstDash val="solid"/>
            <a:round/>
            <a:headEnd type="none" w="med" len="med"/>
            <a:tailEnd type="none" w="med" len="med"/>
          </a:ln>
        </p:spPr>
      </p:cxnSp>
      <p:cxnSp>
        <p:nvCxnSpPr>
          <p:cNvPr id="73" name="连接符: 肘形 72"/>
          <p:cNvCxnSpPr>
            <a:stCxn id="11" idx="2"/>
            <a:endCxn id="27" idx="0"/>
          </p:cNvCxnSpPr>
          <p:nvPr/>
        </p:nvCxnSpPr>
        <p:spPr bwMode="auto">
          <a:xfrm rot="5400000">
            <a:off x="3227704" y="3116399"/>
            <a:ext cx="452754" cy="222889"/>
          </a:xfrm>
          <a:prstGeom prst="bentConnector3">
            <a:avLst/>
          </a:prstGeom>
          <a:solidFill>
            <a:srgbClr val="4F81BD"/>
          </a:solidFill>
          <a:ln w="9525" cap="flat" cmpd="sng" algn="ctr">
            <a:solidFill>
              <a:srgbClr val="009F9A"/>
            </a:solidFill>
            <a:prstDash val="solid"/>
            <a:round/>
            <a:headEnd type="none" w="med" len="med"/>
            <a:tailEnd type="none" w="med" len="med"/>
          </a:ln>
        </p:spPr>
      </p:cxnSp>
      <p:cxnSp>
        <p:nvCxnSpPr>
          <p:cNvPr id="74" name="连接符: 肘形 73"/>
          <p:cNvCxnSpPr>
            <a:stCxn id="11" idx="2"/>
            <a:endCxn id="28" idx="0"/>
          </p:cNvCxnSpPr>
          <p:nvPr/>
        </p:nvCxnSpPr>
        <p:spPr bwMode="auto">
          <a:xfrm rot="16200000" flipH="1">
            <a:off x="3408044" y="3158947"/>
            <a:ext cx="458469" cy="143506"/>
          </a:xfrm>
          <a:prstGeom prst="bentConnector3">
            <a:avLst/>
          </a:prstGeom>
          <a:solidFill>
            <a:srgbClr val="4F81BD"/>
          </a:solidFill>
          <a:ln w="9525" cap="flat" cmpd="sng" algn="ctr">
            <a:solidFill>
              <a:srgbClr val="009F9A"/>
            </a:solidFill>
            <a:prstDash val="solid"/>
            <a:round/>
            <a:headEnd type="none" w="med" len="med"/>
            <a:tailEnd type="none" w="med" len="med"/>
          </a:ln>
        </p:spPr>
      </p:cxnSp>
      <p:cxnSp>
        <p:nvCxnSpPr>
          <p:cNvPr id="75" name="连接符: 肘形 74"/>
          <p:cNvCxnSpPr>
            <a:stCxn id="11" idx="2"/>
            <a:endCxn id="71" idx="0"/>
          </p:cNvCxnSpPr>
          <p:nvPr/>
        </p:nvCxnSpPr>
        <p:spPr bwMode="auto">
          <a:xfrm rot="16200000" flipH="1">
            <a:off x="3579176" y="2987815"/>
            <a:ext cx="457835" cy="485136"/>
          </a:xfrm>
          <a:prstGeom prst="bentConnector3">
            <a:avLst/>
          </a:prstGeom>
          <a:solidFill>
            <a:srgbClr val="4F81BD"/>
          </a:solidFill>
          <a:ln w="9525" cap="flat" cmpd="sng" algn="ctr">
            <a:solidFill>
              <a:srgbClr val="009F9A"/>
            </a:solidFill>
            <a:prstDash val="solid"/>
            <a:round/>
            <a:headEnd type="none" w="med" len="med"/>
            <a:tailEnd type="none" w="med" len="med"/>
          </a:ln>
        </p:spPr>
      </p:cxnSp>
      <p:sp>
        <p:nvSpPr>
          <p:cNvPr id="76" name="矩形 75"/>
          <p:cNvSpPr/>
          <p:nvPr/>
        </p:nvSpPr>
        <p:spPr>
          <a:xfrm>
            <a:off x="4807355" y="3476122"/>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渠道客户排名</a:t>
            </a:r>
            <a:endPar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外部)</a:t>
            </a:r>
            <a:endPar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矩形 76"/>
          <p:cNvSpPr/>
          <p:nvPr/>
        </p:nvSpPr>
        <p:spPr>
          <a:xfrm>
            <a:off x="9363339" y="3470679"/>
            <a:ext cx="288282" cy="1914688"/>
          </a:xfrm>
          <a:prstGeom prst="rect">
            <a:avLst/>
          </a:prstGeom>
          <a:solidFill>
            <a:srgbClr val="E3F5F1"/>
          </a:solidFill>
          <a:ln w="19050" cap="flat" cmpd="sng" algn="ctr">
            <a:solidFill>
              <a:srgbClr val="009F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产品型号销售分布</a:t>
            </a:r>
            <a:endPar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8" name="连接符: 肘形 77"/>
          <p:cNvCxnSpPr>
            <a:stCxn id="57" idx="2"/>
            <a:endCxn id="77" idx="0"/>
          </p:cNvCxnSpPr>
          <p:nvPr/>
        </p:nvCxnSpPr>
        <p:spPr>
          <a:xfrm rot="16200000" flipH="1">
            <a:off x="8663143" y="2626342"/>
            <a:ext cx="450798" cy="1237875"/>
          </a:xfrm>
          <a:prstGeom prst="bentConnector3">
            <a:avLst/>
          </a:prstGeom>
          <a:noFill/>
          <a:ln w="12700" cap="flat">
            <a:solidFill>
              <a:srgbClr val="009F9A"/>
            </a:solidFill>
            <a:prstDash val="solid"/>
            <a:miter lim="800000"/>
          </a:ln>
          <a:effectLst/>
        </p:spPr>
      </p:cxnSp>
      <p:cxnSp>
        <p:nvCxnSpPr>
          <p:cNvPr id="79" name="连接符: 肘形 78"/>
          <p:cNvCxnSpPr>
            <a:stCxn id="12" idx="2"/>
            <a:endCxn id="76" idx="0"/>
          </p:cNvCxnSpPr>
          <p:nvPr/>
        </p:nvCxnSpPr>
        <p:spPr>
          <a:xfrm rot="5400000">
            <a:off x="5121638" y="2849105"/>
            <a:ext cx="456876" cy="797159"/>
          </a:xfrm>
          <a:prstGeom prst="bentConnector3">
            <a:avLst/>
          </a:prstGeom>
          <a:noFill/>
          <a:ln w="12700" cap="flat">
            <a:solidFill>
              <a:srgbClr val="009F9A"/>
            </a:solidFill>
            <a:prstDash val="solid"/>
            <a:miter lim="800000"/>
          </a:ln>
          <a:effectLst/>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竞争对手画像专题</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4975190" y="1117360"/>
            <a:ext cx="2105055" cy="360000"/>
          </a:xfrm>
          <a:prstGeom prst="rect">
            <a:avLst/>
          </a:prstGeom>
          <a:solidFill>
            <a:srgbClr val="0C7F8A"/>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sym typeface="+mn-ea"/>
              </a:rPr>
              <a:t>竞争对手画像</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5" name="Rectangle 217"/>
          <p:cNvSpPr/>
          <p:nvPr/>
        </p:nvSpPr>
        <p:spPr>
          <a:xfrm>
            <a:off x="518257" y="1823280"/>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6" name="Rectangle 36" descr="7b0a202020202262756c6c6574223a20227b5c2263617465676f727949645c223a5c225c222c5c2274656d706c61746549645c223a32303233313538377d220a7d0a"/>
          <p:cNvSpPr/>
          <p:nvPr/>
        </p:nvSpPr>
        <p:spPr>
          <a:xfrm>
            <a:off x="552132"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基础属性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7" name="Rectangle 37"/>
          <p:cNvSpPr/>
          <p:nvPr/>
        </p:nvSpPr>
        <p:spPr>
          <a:xfrm>
            <a:off x="2143107"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业务信息</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8" name="Rectangle 37"/>
          <p:cNvSpPr/>
          <p:nvPr/>
        </p:nvSpPr>
        <p:spPr>
          <a:xfrm>
            <a:off x="3679490"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财务信息</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9" name="Rectangle 37"/>
          <p:cNvSpPr/>
          <p:nvPr/>
        </p:nvSpPr>
        <p:spPr>
          <a:xfrm>
            <a:off x="9835497" y="2128277"/>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竞争分类分级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10" name="Rectangle 37"/>
          <p:cNvSpPr/>
          <p:nvPr/>
        </p:nvSpPr>
        <p:spPr>
          <a:xfrm>
            <a:off x="5209840"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cxnSp>
        <p:nvCxnSpPr>
          <p:cNvPr id="11" name="肘形连接符 6"/>
          <p:cNvCxnSpPr>
            <a:stCxn id="4" idx="2"/>
            <a:endCxn id="6" idx="0"/>
          </p:cNvCxnSpPr>
          <p:nvPr/>
        </p:nvCxnSpPr>
        <p:spPr>
          <a:xfrm rot="5400000">
            <a:off x="3288348" y="-610552"/>
            <a:ext cx="651510" cy="482790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cxnSp>
        <p:nvCxnSpPr>
          <p:cNvPr id="12" name="肘形连接符 8"/>
          <p:cNvCxnSpPr>
            <a:stCxn id="4" idx="2"/>
            <a:endCxn id="7" idx="0"/>
          </p:cNvCxnSpPr>
          <p:nvPr/>
        </p:nvCxnSpPr>
        <p:spPr>
          <a:xfrm rot="5400000">
            <a:off x="4083050" y="184785"/>
            <a:ext cx="651510" cy="323659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sp>
        <p:nvSpPr>
          <p:cNvPr id="13" name="Rectangle 37"/>
          <p:cNvSpPr/>
          <p:nvPr/>
        </p:nvSpPr>
        <p:spPr>
          <a:xfrm>
            <a:off x="6760192"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14" name="Rectangle 37"/>
          <p:cNvSpPr/>
          <p:nvPr/>
        </p:nvSpPr>
        <p:spPr>
          <a:xfrm>
            <a:off x="8311180"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风险属性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cxnSp>
        <p:nvCxnSpPr>
          <p:cNvPr id="15" name="肘形连接符 16"/>
          <p:cNvCxnSpPr>
            <a:stCxn id="4" idx="2"/>
            <a:endCxn id="8" idx="0"/>
          </p:cNvCxnSpPr>
          <p:nvPr/>
        </p:nvCxnSpPr>
        <p:spPr>
          <a:xfrm rot="5400000">
            <a:off x="4851400" y="953135"/>
            <a:ext cx="651510" cy="169989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cxnSp>
        <p:nvCxnSpPr>
          <p:cNvPr id="16" name="肘形连接符 18"/>
          <p:cNvCxnSpPr>
            <a:stCxn id="4" idx="2"/>
            <a:endCxn id="13" idx="0"/>
          </p:cNvCxnSpPr>
          <p:nvPr/>
        </p:nvCxnSpPr>
        <p:spPr>
          <a:xfrm rot="5400000" flipV="1">
            <a:off x="6392545" y="1113155"/>
            <a:ext cx="651510" cy="1380490"/>
          </a:xfrm>
          <a:prstGeom prst="bentConnector3">
            <a:avLst>
              <a:gd name="adj1" fmla="val 50000"/>
            </a:avLst>
          </a:prstGeom>
          <a:noFill/>
          <a:ln w="19050" cap="flat" cmpd="sng" algn="ctr">
            <a:solidFill>
              <a:srgbClr val="0C7F8A"/>
            </a:solidFill>
            <a:prstDash val="solid"/>
            <a:headEnd type="none" w="med" len="med"/>
            <a:tailEnd type="none" w="med" len="med"/>
          </a:ln>
          <a:effectLst/>
        </p:spPr>
      </p:cxnSp>
      <p:cxnSp>
        <p:nvCxnSpPr>
          <p:cNvPr id="17" name="肘形连接符 19"/>
          <p:cNvCxnSpPr>
            <a:stCxn id="4" idx="2"/>
            <a:endCxn id="14" idx="0"/>
          </p:cNvCxnSpPr>
          <p:nvPr/>
        </p:nvCxnSpPr>
        <p:spPr>
          <a:xfrm rot="5400000" flipV="1">
            <a:off x="7167880" y="337820"/>
            <a:ext cx="651510" cy="2931160"/>
          </a:xfrm>
          <a:prstGeom prst="bentConnector3">
            <a:avLst>
              <a:gd name="adj1" fmla="val 50000"/>
            </a:avLst>
          </a:prstGeom>
          <a:noFill/>
          <a:ln w="19050" cap="flat" cmpd="sng" algn="ctr">
            <a:solidFill>
              <a:srgbClr val="0C7F8A"/>
            </a:solidFill>
            <a:prstDash val="solid"/>
            <a:headEnd type="none" w="med" len="med"/>
            <a:tailEnd type="none" w="med" len="med"/>
          </a:ln>
          <a:effectLst/>
        </p:spPr>
      </p:cxnSp>
      <p:cxnSp>
        <p:nvCxnSpPr>
          <p:cNvPr id="18" name="肘形连接符 26"/>
          <p:cNvCxnSpPr>
            <a:stCxn id="4" idx="2"/>
            <a:endCxn id="9" idx="0"/>
          </p:cNvCxnSpPr>
          <p:nvPr/>
        </p:nvCxnSpPr>
        <p:spPr>
          <a:xfrm rot="5400000" flipV="1">
            <a:off x="7930515" y="-424815"/>
            <a:ext cx="650875" cy="4455795"/>
          </a:xfrm>
          <a:prstGeom prst="bentConnector3">
            <a:avLst>
              <a:gd name="adj1" fmla="val 50049"/>
            </a:avLst>
          </a:prstGeom>
          <a:noFill/>
          <a:ln w="19050" cap="flat" cmpd="sng" algn="ctr">
            <a:solidFill>
              <a:srgbClr val="0C7F8A"/>
            </a:solidFill>
            <a:prstDash val="solid"/>
            <a:headEnd type="none" w="med" len="med"/>
            <a:tailEnd type="none" w="med" len="med"/>
          </a:ln>
          <a:effectLst/>
        </p:spPr>
      </p:cxnSp>
      <p:sp>
        <p:nvSpPr>
          <p:cNvPr id="19" name="Rectangle: Rounded Corners 92"/>
          <p:cNvSpPr/>
          <p:nvPr>
            <p:custDataLst>
              <p:tags r:id="rId1"/>
            </p:custDataLst>
          </p:nvPr>
        </p:nvSpPr>
        <p:spPr>
          <a:xfrm>
            <a:off x="552133"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注册资本</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员工规模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成立时长</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企业类型</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经营状态</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省份地区</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概念标签</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是否上市公司</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启信分</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Rectangle: Rounded Corners 92"/>
          <p:cNvSpPr/>
          <p:nvPr>
            <p:custDataLst>
              <p:tags r:id="rId2"/>
            </p:custDataLst>
          </p:nvPr>
        </p:nvSpPr>
        <p:spPr>
          <a:xfrm>
            <a:off x="2143108"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主营业务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市场定位</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目标行业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业务挑战</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增长战略</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主要客户及份额</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1" name="Rectangle: Rounded Corners 92"/>
          <p:cNvSpPr/>
          <p:nvPr>
            <p:custDataLst>
              <p:tags r:id="rId3"/>
            </p:custDataLst>
          </p:nvPr>
        </p:nvSpPr>
        <p:spPr>
          <a:xfrm>
            <a:off x="3679490" y="266636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利润状况</a:t>
            </a:r>
            <a:endPar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财务健康</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Rectangle: Rounded Corners 92"/>
          <p:cNvSpPr/>
          <p:nvPr>
            <p:custDataLst>
              <p:tags r:id="rId4"/>
            </p:custDataLst>
          </p:nvPr>
        </p:nvSpPr>
        <p:spPr>
          <a:xfrm>
            <a:off x="9835498" y="266636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竞争分级</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战略对手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重要对手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普通对手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Rectangle: Rounded Corners 92"/>
          <p:cNvSpPr/>
          <p:nvPr>
            <p:custDataLst>
              <p:tags r:id="rId5"/>
            </p:custDataLst>
          </p:nvPr>
        </p:nvSpPr>
        <p:spPr>
          <a:xfrm>
            <a:off x="5209840"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决策角色</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岗位和职能</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决策者目标</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决策链条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其他个人特征</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组织结构</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Rectangle: Rounded Corners 92"/>
          <p:cNvSpPr/>
          <p:nvPr>
            <p:custDataLst>
              <p:tags r:id="rId6"/>
            </p:custDataLst>
          </p:nvPr>
        </p:nvSpPr>
        <p:spPr>
          <a:xfrm>
            <a:off x="6753843"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市场份额</a:t>
            </a:r>
            <a:endPar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竞争地位</a:t>
            </a:r>
            <a:endPar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竞品信息</a:t>
            </a:r>
            <a:endPar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竞品价格</a:t>
            </a:r>
            <a:endPar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市场趋势</a:t>
            </a:r>
            <a:endParaRPr kumimoji="0" lang="en-US" altLang="zh-CN"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竞品促销信息</a:t>
            </a:r>
            <a:endParaRPr kumimoji="0" lang="en-US" altLang="zh-CN"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竞品的渠道信息</a:t>
            </a:r>
            <a:endParaRPr kumimoji="0" lang="zh-CN" altLang="en-US" sz="106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Rectangle: Rounded Corners 92"/>
          <p:cNvSpPr/>
          <p:nvPr>
            <p:custDataLst>
              <p:tags r:id="rId7"/>
            </p:custDataLst>
          </p:nvPr>
        </p:nvSpPr>
        <p:spPr>
          <a:xfrm>
            <a:off x="8311180"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偷税漏税</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严重违法失信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股权冻结</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重大负面舆情</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法人变更</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行政处罚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环保处罚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立案信息</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空壳指数</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6" name="连接符: 肘形 25"/>
          <p:cNvCxnSpPr>
            <a:stCxn id="4" idx="2"/>
            <a:endCxn id="10" idx="0"/>
          </p:cNvCxnSpPr>
          <p:nvPr/>
        </p:nvCxnSpPr>
        <p:spPr>
          <a:xfrm rot="5400000">
            <a:off x="5617003" y="1718197"/>
            <a:ext cx="651552" cy="169878"/>
          </a:xfrm>
          <a:prstGeom prst="bentConnector3">
            <a:avLst/>
          </a:prstGeom>
          <a:noFill/>
          <a:ln w="19050" cap="flat">
            <a:solidFill>
              <a:srgbClr val="0C7F8A"/>
            </a:solidFill>
            <a:prstDash val="solid"/>
            <a:miter lim="800000"/>
          </a:ln>
          <a:effectLst/>
        </p:spPr>
      </p:cxnSp>
      <p:sp>
        <p:nvSpPr>
          <p:cNvPr id="27" name="文本框 26"/>
          <p:cNvSpPr txBox="1"/>
          <p:nvPr/>
        </p:nvSpPr>
        <p:spPr>
          <a:xfrm>
            <a:off x="3313039" y="5780183"/>
            <a:ext cx="4736804" cy="20005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需要区域销售收集这部分数据</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、销售赢单</a:t>
            </a:r>
            <a:r>
              <a:rPr lang="en-US" altLang="zh-CN" dirty="0"/>
              <a:t>LTO</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AutoShape 16"/>
          <p:cNvSpPr/>
          <p:nvPr>
            <p:custDataLst>
              <p:tags r:id="rId1"/>
            </p:custDataLst>
          </p:nvPr>
        </p:nvSpPr>
        <p:spPr>
          <a:xfrm rot="16200000">
            <a:off x="2352457" y="-738372"/>
            <a:ext cx="1095375" cy="5410835"/>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FFFFFF">
              <a:lumMod val="50000"/>
            </a:srgbClr>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华文楷体" panose="02010600040101010101" pitchFamily="2" charset="-122"/>
              <a:cs typeface="Helvetica"/>
            </a:endParaRPr>
          </a:p>
        </p:txBody>
      </p:sp>
      <p:sp>
        <p:nvSpPr>
          <p:cNvPr id="5" name="文本框 4"/>
          <p:cNvSpPr txBox="1"/>
          <p:nvPr/>
        </p:nvSpPr>
        <p:spPr>
          <a:xfrm>
            <a:off x="563245" y="1798090"/>
            <a:ext cx="1007110" cy="306705"/>
          </a:xfrm>
          <a:prstGeom prst="rect">
            <a:avLst/>
          </a:prstGeom>
          <a:noFill/>
        </p:spPr>
        <p:txBody>
          <a:bodyPr wrap="square" rtlCol="0">
            <a:spAutoFit/>
          </a:bodyPr>
          <a:lstStyle/>
          <a:p>
            <a:pPr eaLnBrk="0" fontAlgn="base" hangingPunct="0">
              <a:spcBef>
                <a:spcPct val="0"/>
              </a:spcBef>
              <a:spcAft>
                <a:spcPct val="0"/>
              </a:spcAft>
            </a:pPr>
            <a:r>
              <a:rPr lang="zh-CN" altLang="en-US" sz="1400" b="1">
                <a:solidFill>
                  <a:srgbClr val="FFFFFF"/>
                </a:solidFill>
                <a:latin typeface="微软雅黑" panose="020B0503020204020204" pitchFamily="34" charset="-122"/>
                <a:ea typeface="微软雅黑" panose="020B0503020204020204" pitchFamily="34" charset="-122"/>
                <a:cs typeface="Helvetica"/>
              </a:rPr>
              <a:t>市场</a:t>
            </a:r>
            <a:endParaRPr lang="zh-CN" altLang="en-US" sz="1400" b="1">
              <a:solidFill>
                <a:srgbClr val="FFFFFF"/>
              </a:solidFill>
              <a:latin typeface="微软雅黑" panose="020B0503020204020204" pitchFamily="34" charset="-122"/>
              <a:ea typeface="微软雅黑" panose="020B0503020204020204" pitchFamily="34" charset="-122"/>
              <a:cs typeface="Helvetica"/>
            </a:endParaRPr>
          </a:p>
        </p:txBody>
      </p:sp>
      <p:sp>
        <p:nvSpPr>
          <p:cNvPr id="6" name="文本框 5"/>
          <p:cNvSpPr txBox="1"/>
          <p:nvPr>
            <p:custDataLst>
              <p:tags r:id="rId2"/>
            </p:custDataLst>
          </p:nvPr>
        </p:nvSpPr>
        <p:spPr>
          <a:xfrm>
            <a:off x="3336290" y="179777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线索</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7" name="直接连接符 6"/>
          <p:cNvCxnSpPr/>
          <p:nvPr/>
        </p:nvCxnSpPr>
        <p:spPr>
          <a:xfrm>
            <a:off x="1772920" y="2433090"/>
            <a:ext cx="0" cy="3274695"/>
          </a:xfrm>
          <a:prstGeom prst="line">
            <a:avLst/>
          </a:prstGeom>
          <a:solidFill>
            <a:srgbClr val="4F81BD"/>
          </a:solidFill>
          <a:ln w="9525" cap="flat" cmpd="sng" algn="ctr">
            <a:solidFill>
              <a:srgbClr val="FFFFFF">
                <a:lumMod val="50000"/>
              </a:srgbClr>
            </a:solidFill>
            <a:prstDash val="solid"/>
            <a:round/>
            <a:headEnd type="none" w="med" len="med"/>
            <a:tailEnd type="none" w="med" len="med"/>
          </a:ln>
        </p:spPr>
      </p:cxnSp>
      <p:cxnSp>
        <p:nvCxnSpPr>
          <p:cNvPr id="8" name="直接连接符 7"/>
          <p:cNvCxnSpPr/>
          <p:nvPr/>
        </p:nvCxnSpPr>
        <p:spPr>
          <a:xfrm>
            <a:off x="222885" y="2479445"/>
            <a:ext cx="0" cy="3204210"/>
          </a:xfrm>
          <a:prstGeom prst="line">
            <a:avLst/>
          </a:prstGeom>
          <a:solidFill>
            <a:srgbClr val="4F81BD"/>
          </a:solidFill>
          <a:ln w="9525" cap="flat" cmpd="sng" algn="ctr">
            <a:solidFill>
              <a:srgbClr val="FFFFFF">
                <a:lumMod val="50000"/>
              </a:srgbClr>
            </a:solidFill>
            <a:prstDash val="solid"/>
            <a:round/>
            <a:headEnd type="none" w="med" len="med"/>
            <a:tailEnd type="none" w="med" len="med"/>
          </a:ln>
        </p:spPr>
      </p:cxnSp>
      <p:grpSp>
        <p:nvGrpSpPr>
          <p:cNvPr id="9" name="组合 8"/>
          <p:cNvGrpSpPr/>
          <p:nvPr/>
        </p:nvGrpSpPr>
        <p:grpSpPr>
          <a:xfrm>
            <a:off x="215900" y="2626130"/>
            <a:ext cx="1928495" cy="1787525"/>
            <a:chOff x="340" y="3706"/>
            <a:chExt cx="3037" cy="2815"/>
          </a:xfrm>
        </p:grpSpPr>
        <p:sp>
          <p:nvSpPr>
            <p:cNvPr id="10" name="文本框 9"/>
            <p:cNvSpPr txBox="1"/>
            <p:nvPr/>
          </p:nvSpPr>
          <p:spPr>
            <a:xfrm>
              <a:off x="351" y="3706"/>
              <a:ext cx="2084" cy="434"/>
            </a:xfrm>
            <a:prstGeom prst="rect">
              <a:avLst/>
            </a:prstGeom>
            <a:noFill/>
          </p:spPr>
          <p:txBody>
            <a:bodyPr wrap="square" rtlCol="0">
              <a:spAutoFit/>
            </a:bodyPr>
            <a:lstStyle/>
            <a:p>
              <a:pPr eaLnBrk="0" fontAlgn="base" hangingPunct="0">
                <a:spcBef>
                  <a:spcPct val="0"/>
                </a:spcBef>
                <a:spcAft>
                  <a:spcPct val="0"/>
                </a:spcAft>
              </a:pPr>
              <a:r>
                <a:rPr lang="zh-CN" altLang="en-US" sz="1200" b="1">
                  <a:solidFill>
                    <a:srgbClr val="FFFFFF">
                      <a:lumMod val="50000"/>
                    </a:srgbClr>
                  </a:solidFill>
                  <a:latin typeface="微软雅黑" panose="020B0503020204020204" pitchFamily="34" charset="-122"/>
                  <a:ea typeface="微软雅黑" panose="020B0503020204020204" pitchFamily="34" charset="-122"/>
                  <a:cs typeface="Helvetica"/>
                </a:rPr>
                <a:t>市场分析</a:t>
              </a:r>
              <a:endParaRPr lang="zh-CN" altLang="en-US" sz="1200" b="1">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1" name="文本框 10"/>
            <p:cNvSpPr txBox="1"/>
            <p:nvPr>
              <p:custDataLst>
                <p:tags r:id="rId3"/>
              </p:custDataLst>
            </p:nvPr>
          </p:nvSpPr>
          <p:spPr>
            <a:xfrm>
              <a:off x="340" y="4340"/>
              <a:ext cx="3037" cy="2181"/>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市占率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存量市场规模</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市场规模增长率</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潜在客户名单及数量</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竞争对手名单及数量</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竞品及价格</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竞品市占率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grpSp>
      <p:sp>
        <p:nvSpPr>
          <p:cNvPr id="12" name="右箭头 1"/>
          <p:cNvSpPr/>
          <p:nvPr>
            <p:custDataLst>
              <p:tags r:id="rId4"/>
            </p:custDataLst>
          </p:nvPr>
        </p:nvSpPr>
        <p:spPr>
          <a:xfrm>
            <a:off x="245745" y="2843300"/>
            <a:ext cx="1476000" cy="154305"/>
          </a:xfrm>
          <a:prstGeom prst="rightArrow">
            <a:avLst/>
          </a:prstGeom>
          <a:solidFill>
            <a:srgbClr val="FFFFFF">
              <a:lumMod val="50000"/>
            </a:srgbClr>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3" name="文本框 12"/>
          <p:cNvSpPr txBox="1"/>
          <p:nvPr>
            <p:custDataLst>
              <p:tags r:id="rId5"/>
            </p:custDataLst>
          </p:nvPr>
        </p:nvSpPr>
        <p:spPr>
          <a:xfrm>
            <a:off x="1773555" y="2637560"/>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市场活动与费用</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4" name="文本框 13"/>
          <p:cNvSpPr txBox="1"/>
          <p:nvPr>
            <p:custDataLst>
              <p:tags r:id="rId6"/>
            </p:custDataLst>
          </p:nvPr>
        </p:nvSpPr>
        <p:spPr>
          <a:xfrm>
            <a:off x="3722557" y="2656005"/>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线索管理</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5" name="AutoShape 16"/>
          <p:cNvSpPr/>
          <p:nvPr>
            <p:custDataLst>
              <p:tags r:id="rId7"/>
            </p:custDataLst>
          </p:nvPr>
        </p:nvSpPr>
        <p:spPr>
          <a:xfrm rot="16200000">
            <a:off x="8498205" y="-1211283"/>
            <a:ext cx="644525" cy="6337935"/>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009F9A"/>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华文楷体" panose="02010600040101010101" pitchFamily="2" charset="-122"/>
              <a:cs typeface="Helvetica"/>
            </a:endParaRPr>
          </a:p>
        </p:txBody>
      </p:sp>
      <p:sp>
        <p:nvSpPr>
          <p:cNvPr id="16" name="文本框 15"/>
          <p:cNvSpPr txBox="1"/>
          <p:nvPr>
            <p:custDataLst>
              <p:tags r:id="rId8"/>
            </p:custDataLst>
          </p:nvPr>
        </p:nvSpPr>
        <p:spPr>
          <a:xfrm>
            <a:off x="6010275" y="180920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a:solidFill>
                  <a:srgbClr val="FFFFFF"/>
                </a:solidFill>
                <a:latin typeface="微软雅黑" panose="020B0503020204020204" pitchFamily="34" charset="-122"/>
                <a:ea typeface="微软雅黑" panose="020B0503020204020204" pitchFamily="34" charset="-122"/>
                <a:cs typeface="Helvetica"/>
              </a:rPr>
              <a:t>商机</a:t>
            </a:r>
            <a:endParaRPr lang="zh-CN" altLang="en-US" sz="1400" b="1">
              <a:solidFill>
                <a:srgbClr val="FFFFFF"/>
              </a:solidFill>
              <a:latin typeface="微软雅黑" panose="020B0503020204020204" pitchFamily="34" charset="-122"/>
              <a:ea typeface="微软雅黑" panose="020B0503020204020204" pitchFamily="34" charset="-122"/>
              <a:cs typeface="Helvetica"/>
            </a:endParaRPr>
          </a:p>
        </p:txBody>
      </p:sp>
      <p:sp>
        <p:nvSpPr>
          <p:cNvPr id="17" name="文本框 16"/>
          <p:cNvSpPr txBox="1"/>
          <p:nvPr>
            <p:custDataLst>
              <p:tags r:id="rId9"/>
            </p:custDataLst>
          </p:nvPr>
        </p:nvSpPr>
        <p:spPr>
          <a:xfrm>
            <a:off x="10953115" y="1809520"/>
            <a:ext cx="1089025"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合同</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8" name="右箭头 1"/>
          <p:cNvSpPr/>
          <p:nvPr>
            <p:custDataLst>
              <p:tags r:id="rId10"/>
            </p:custDataLst>
          </p:nvPr>
        </p:nvSpPr>
        <p:spPr>
          <a:xfrm>
            <a:off x="1848485" y="2843300"/>
            <a:ext cx="3708000" cy="154305"/>
          </a:xfrm>
          <a:prstGeom prst="rightArrow">
            <a:avLst/>
          </a:prstGeom>
          <a:solidFill>
            <a:srgbClr val="FFFFFF">
              <a:lumMod val="50000"/>
            </a:srgbClr>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9" name="直接连接符 18"/>
          <p:cNvCxnSpPr/>
          <p:nvPr>
            <p:custDataLst>
              <p:tags r:id="rId11"/>
            </p:custDataLst>
          </p:nvPr>
        </p:nvCxnSpPr>
        <p:spPr>
          <a:xfrm>
            <a:off x="5631815" y="2346155"/>
            <a:ext cx="0" cy="3552825"/>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20" name="右箭头 1"/>
          <p:cNvSpPr/>
          <p:nvPr>
            <p:custDataLst>
              <p:tags r:id="rId12"/>
            </p:custDataLst>
          </p:nvPr>
        </p:nvSpPr>
        <p:spPr>
          <a:xfrm>
            <a:off x="5696585" y="2840125"/>
            <a:ext cx="5004000" cy="154305"/>
          </a:xfrm>
          <a:prstGeom prst="rightArrow">
            <a:avLst/>
          </a:prstGeom>
          <a:solidFill>
            <a:srgbClr val="009F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21" name="直接连接符 20"/>
          <p:cNvCxnSpPr/>
          <p:nvPr>
            <p:custDataLst>
              <p:tags r:id="rId13"/>
            </p:custDataLst>
          </p:nvPr>
        </p:nvCxnSpPr>
        <p:spPr>
          <a:xfrm>
            <a:off x="10753090" y="2236300"/>
            <a:ext cx="0" cy="366268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22" name="文本框 21"/>
          <p:cNvSpPr txBox="1"/>
          <p:nvPr>
            <p:custDataLst>
              <p:tags r:id="rId14"/>
            </p:custDataLst>
          </p:nvPr>
        </p:nvSpPr>
        <p:spPr>
          <a:xfrm>
            <a:off x="7320916" y="2637795"/>
            <a:ext cx="1323340" cy="275590"/>
          </a:xfrm>
          <a:prstGeom prst="rect">
            <a:avLst/>
          </a:prstGeom>
          <a:noFill/>
        </p:spPr>
        <p:txBody>
          <a:bodyPr wrap="square" rtlCol="0">
            <a:spAutoFit/>
          </a:bodyPr>
          <a:lstStyle/>
          <a:p>
            <a:pPr algn="ctr" eaLnBrk="0" fontAlgn="base" hangingPunct="0">
              <a:spcBef>
                <a:spcPct val="0"/>
              </a:spcBef>
              <a:spcAft>
                <a:spcPct val="0"/>
              </a:spcAft>
            </a:pPr>
            <a:r>
              <a:rPr lang="zh-CN" altLang="en-US" sz="1200" b="1" dirty="0">
                <a:solidFill>
                  <a:srgbClr val="009F9A"/>
                </a:solidFill>
                <a:latin typeface="微软雅黑" panose="020B0503020204020204" pitchFamily="34" charset="-122"/>
                <a:ea typeface="微软雅黑" panose="020B0503020204020204" pitchFamily="34" charset="-122"/>
                <a:cs typeface="Helvetica"/>
              </a:rPr>
              <a:t>商机管理</a:t>
            </a:r>
            <a:endParaRPr lang="zh-CN" altLang="en-US" sz="1200" b="1" dirty="0">
              <a:solidFill>
                <a:srgbClr val="009F9A"/>
              </a:solidFill>
              <a:latin typeface="微软雅黑" panose="020B0503020204020204" pitchFamily="34" charset="-122"/>
              <a:ea typeface="微软雅黑" panose="020B0503020204020204" pitchFamily="34" charset="-122"/>
              <a:cs typeface="Helvetica"/>
            </a:endParaRPr>
          </a:p>
        </p:txBody>
      </p:sp>
      <p:sp>
        <p:nvSpPr>
          <p:cNvPr id="23" name="文本框 22"/>
          <p:cNvSpPr txBox="1"/>
          <p:nvPr>
            <p:custDataLst>
              <p:tags r:id="rId15"/>
            </p:custDataLst>
          </p:nvPr>
        </p:nvSpPr>
        <p:spPr>
          <a:xfrm>
            <a:off x="10856595" y="2617240"/>
            <a:ext cx="1075283" cy="275590"/>
          </a:xfrm>
          <a:prstGeom prst="rect">
            <a:avLst/>
          </a:prstGeom>
          <a:noFill/>
        </p:spPr>
        <p:txBody>
          <a:bodyPr wrap="square" rtlCol="0">
            <a:spAutoFit/>
          </a:bodyPr>
          <a:lstStyle/>
          <a:p>
            <a:pPr algn="ctr" eaLnBrk="0" fontAlgn="base" hangingPunct="0">
              <a:spcBef>
                <a:spcPct val="0"/>
              </a:spcBef>
              <a:spcAft>
                <a:spcPct val="0"/>
              </a:spcAft>
            </a:pPr>
            <a:r>
              <a:rPr lang="zh-CN" altLang="en-US" sz="1200" b="1">
                <a:solidFill>
                  <a:srgbClr val="009F9A"/>
                </a:solidFill>
                <a:latin typeface="微软雅黑" panose="020B0503020204020204" pitchFamily="34" charset="-122"/>
                <a:ea typeface="微软雅黑" panose="020B0503020204020204" pitchFamily="34" charset="-122"/>
                <a:cs typeface="Helvetica"/>
              </a:rPr>
              <a:t>赢单</a:t>
            </a:r>
            <a:endParaRPr lang="zh-CN" altLang="en-US" sz="1200" b="1">
              <a:solidFill>
                <a:srgbClr val="009F9A"/>
              </a:solidFill>
              <a:latin typeface="微软雅黑" panose="020B0503020204020204" pitchFamily="34" charset="-122"/>
              <a:ea typeface="微软雅黑" panose="020B0503020204020204" pitchFamily="34" charset="-122"/>
              <a:cs typeface="Helvetica"/>
            </a:endParaRPr>
          </a:p>
        </p:txBody>
      </p:sp>
      <p:sp>
        <p:nvSpPr>
          <p:cNvPr id="24" name="文本框 23"/>
          <p:cNvSpPr txBox="1"/>
          <p:nvPr>
            <p:custDataLst>
              <p:tags r:id="rId16"/>
            </p:custDataLst>
          </p:nvPr>
        </p:nvSpPr>
        <p:spPr>
          <a:xfrm>
            <a:off x="10734875" y="2996335"/>
            <a:ext cx="1346636" cy="1568450"/>
          </a:xfrm>
          <a:prstGeom prst="rect">
            <a:avLst/>
          </a:prstGeom>
          <a:noFill/>
        </p:spPr>
        <p:txBody>
          <a:bodyPr wrap="square" rtlCol="0">
            <a:spAutoFit/>
          </a:bodyPr>
          <a:lstStyle/>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赢单数量金额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-TOP</a:t>
            </a:r>
            <a:r>
              <a:rPr lang="zh-CN" altLang="en-US" sz="1200" b="1" dirty="0">
                <a:latin typeface="微软雅黑" panose="020B0503020204020204" pitchFamily="34" charset="-122"/>
                <a:ea typeface="微软雅黑" panose="020B0503020204020204" pitchFamily="34" charset="-122"/>
                <a:cs typeface="Helvetica"/>
              </a:rPr>
              <a:t>合同金额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-NON-TOP</a:t>
            </a:r>
            <a:r>
              <a:rPr lang="zh-CN" altLang="en-US" sz="1200" b="1" dirty="0">
                <a:latin typeface="微软雅黑" panose="020B0503020204020204" pitchFamily="34" charset="-122"/>
                <a:ea typeface="微软雅黑" panose="020B0503020204020204" pitchFamily="34" charset="-122"/>
                <a:cs typeface="Helvetica"/>
              </a:rPr>
              <a:t>合同金额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合同交期</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放款金额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全款金额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en-US" altLang="zh-CN" sz="1200" b="1" dirty="0">
              <a:latin typeface="微软雅黑" panose="020B0503020204020204" pitchFamily="34" charset="-122"/>
              <a:ea typeface="微软雅黑" panose="020B0503020204020204" pitchFamily="34" charset="-122"/>
              <a:cs typeface="Helvetica"/>
            </a:endParaRPr>
          </a:p>
        </p:txBody>
      </p:sp>
      <p:sp>
        <p:nvSpPr>
          <p:cNvPr id="25" name="右箭头 1"/>
          <p:cNvSpPr/>
          <p:nvPr>
            <p:custDataLst>
              <p:tags r:id="rId17"/>
            </p:custDataLst>
          </p:nvPr>
        </p:nvSpPr>
        <p:spPr>
          <a:xfrm>
            <a:off x="10787380" y="2840125"/>
            <a:ext cx="1296000" cy="154305"/>
          </a:xfrm>
          <a:prstGeom prst="rightArrow">
            <a:avLst/>
          </a:prstGeom>
          <a:solidFill>
            <a:srgbClr val="009F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26" name="直接连接符 25"/>
          <p:cNvCxnSpPr/>
          <p:nvPr>
            <p:custDataLst>
              <p:tags r:id="rId18"/>
            </p:custDataLst>
          </p:nvPr>
        </p:nvCxnSpPr>
        <p:spPr>
          <a:xfrm>
            <a:off x="1779270" y="1471065"/>
            <a:ext cx="0" cy="9499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27" name="直接连接符 26"/>
          <p:cNvCxnSpPr/>
          <p:nvPr>
            <p:custDataLst>
              <p:tags r:id="rId19"/>
            </p:custDataLst>
          </p:nvPr>
        </p:nvCxnSpPr>
        <p:spPr>
          <a:xfrm>
            <a:off x="10755630" y="957580"/>
            <a:ext cx="0" cy="9499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28" name="直接连接符 27"/>
          <p:cNvCxnSpPr/>
          <p:nvPr>
            <p:custDataLst>
              <p:tags r:id="rId20"/>
            </p:custDataLst>
          </p:nvPr>
        </p:nvCxnSpPr>
        <p:spPr>
          <a:xfrm>
            <a:off x="5636260" y="1619655"/>
            <a:ext cx="0" cy="668020"/>
          </a:xfrm>
          <a:prstGeom prst="line">
            <a:avLst/>
          </a:prstGeom>
          <a:solidFill>
            <a:srgbClr val="4F81BD"/>
          </a:solidFill>
          <a:ln w="9525" cap="flat" cmpd="sng" algn="ctr">
            <a:solidFill>
              <a:srgbClr val="FFFFFF"/>
            </a:solidFill>
            <a:prstDash val="solid"/>
            <a:round/>
            <a:headEnd type="none" w="med" len="med"/>
            <a:tailEnd type="none" w="med" len="med"/>
          </a:ln>
        </p:spPr>
      </p:cxnSp>
      <p:sp>
        <p:nvSpPr>
          <p:cNvPr id="29" name="文本框 28"/>
          <p:cNvSpPr txBox="1"/>
          <p:nvPr/>
        </p:nvSpPr>
        <p:spPr>
          <a:xfrm>
            <a:off x="346504" y="532888"/>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核心价值：通过精细化管理和策略优化，将高质量的销售线索转化为商机项目和订单，实现销售流程的高效闭环，从而驱动企业订单持续增长和营业收入稳步提升。</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30" name="文本框 29"/>
          <p:cNvSpPr txBox="1"/>
          <p:nvPr>
            <p:custDataLst>
              <p:tags r:id="rId21"/>
            </p:custDataLst>
          </p:nvPr>
        </p:nvSpPr>
        <p:spPr>
          <a:xfrm>
            <a:off x="5853430" y="2994430"/>
            <a:ext cx="4476512" cy="1383665"/>
          </a:xfrm>
          <a:prstGeom prst="rect">
            <a:avLst/>
          </a:prstGeom>
          <a:noFill/>
        </p:spPr>
        <p:txBody>
          <a:bodyPr wrap="square" rtlCol="0">
            <a:spAutoFit/>
          </a:bodyPr>
          <a:lstStyle/>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全部商机数量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（阶段</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商机类型</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a:t>
            </a:r>
            <a:endParaRPr lang="zh-CN" altLang="en-US"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竞争产品价格</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商机预算</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丢单分析</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（丢单原因</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对必保商机</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赢单分析</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赢单原因</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商机转换率</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销售预测数量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endParaRPr lang="en-US" altLang="zh-CN" sz="1200" b="1" dirty="0">
              <a:latin typeface="微软雅黑" panose="020B0503020204020204" pitchFamily="34" charset="-122"/>
              <a:ea typeface="微软雅黑" panose="020B0503020204020204" pitchFamily="34" charset="-122"/>
              <a:cs typeface="Helvetica"/>
            </a:endParaRPr>
          </a:p>
        </p:txBody>
      </p:sp>
      <p:sp>
        <p:nvSpPr>
          <p:cNvPr id="31" name="文本框 30"/>
          <p:cNvSpPr txBox="1"/>
          <p:nvPr>
            <p:custDataLst>
              <p:tags r:id="rId22"/>
            </p:custDataLst>
          </p:nvPr>
        </p:nvSpPr>
        <p:spPr>
          <a:xfrm>
            <a:off x="3670749" y="3002428"/>
            <a:ext cx="1644015" cy="1753235"/>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线索数量</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线索状态</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线索增长率</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en-US" altLang="zh-CN" sz="1200" b="1" dirty="0" err="1">
                <a:solidFill>
                  <a:srgbClr val="FFFFFF">
                    <a:lumMod val="50000"/>
                  </a:srgbClr>
                </a:solidFill>
                <a:latin typeface="微软雅黑" panose="020B0503020204020204" pitchFamily="34" charset="-122"/>
                <a:ea typeface="微软雅黑" panose="020B0503020204020204" pitchFamily="34" charset="-122"/>
                <a:cs typeface="Helvetica"/>
              </a:rPr>
              <a:t>有效线索数</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量金额</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现场签单数量金额</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新增客户</a:t>
            </a: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线上</a:t>
            </a: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线下</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线索响应时间</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线索转换率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32" name="文本框 31"/>
          <p:cNvSpPr txBox="1"/>
          <p:nvPr/>
        </p:nvSpPr>
        <p:spPr>
          <a:xfrm>
            <a:off x="1795980" y="2987446"/>
            <a:ext cx="1828937" cy="1014730"/>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营销活动状态</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p:txBody>
      </p:sp>
      <p:graphicFrame>
        <p:nvGraphicFramePr>
          <p:cNvPr id="33" name="表格 32"/>
          <p:cNvGraphicFramePr>
            <a:graphicFrameLocks noGrp="1"/>
          </p:cNvGraphicFramePr>
          <p:nvPr/>
        </p:nvGraphicFramePr>
        <p:xfrm>
          <a:off x="563245" y="4645499"/>
          <a:ext cx="6167754" cy="2072640"/>
        </p:xfrm>
        <a:graphic>
          <a:graphicData uri="http://schemas.openxmlformats.org/drawingml/2006/table">
            <a:tbl>
              <a:tblPr firstRow="1" bandRow="1"/>
              <a:tblGrid>
                <a:gridCol w="1134330"/>
                <a:gridCol w="5033424"/>
              </a:tblGrid>
              <a:tr h="236594">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维度描述</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商机阶段</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需求、方案设计、方案认可、投标、商务谈判、中标待采、合同签订、预付款</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5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商机金额分段</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待收集</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区域</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国内</a:t>
                      </a:r>
                      <a:r>
                        <a:rPr lang="en-US" altLang="zh-CN" sz="1100" dirty="0">
                          <a:latin typeface="微软雅黑" panose="020B0503020204020204" pitchFamily="34" charset="-122"/>
                          <a:ea typeface="微软雅黑" panose="020B0503020204020204" pitchFamily="34" charset="-122"/>
                        </a:rPr>
                        <a:t>6</a:t>
                      </a:r>
                      <a:r>
                        <a:rPr lang="zh-CN" altLang="en-US" sz="1100" dirty="0">
                          <a:latin typeface="微软雅黑" panose="020B0503020204020204" pitchFamily="34" charset="-122"/>
                          <a:ea typeface="微软雅黑" panose="020B0503020204020204" pitchFamily="34" charset="-122"/>
                        </a:rPr>
                        <a:t>个大区</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渠道类型</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准直销、渠道（囤货）、渠道（非囤货）</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项目状态</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已下单、未下单、取消、丢单</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产品领域</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a:latin typeface="微软雅黑" panose="020B0503020204020204" pitchFamily="34" charset="-122"/>
                          <a:ea typeface="微软雅黑" panose="020B0503020204020204" pitchFamily="34" charset="-122"/>
                        </a:rPr>
                        <a:t>固装、创意</a:t>
                      </a:r>
                      <a:r>
                        <a:rPr lang="en-US" altLang="zh-CN" sz="110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b="1" dirty="0">
                          <a:solidFill>
                            <a:srgbClr val="C00000"/>
                          </a:solidFill>
                          <a:latin typeface="微软雅黑" panose="020B0503020204020204" pitchFamily="34" charset="-122"/>
                          <a:ea typeface="微软雅黑" panose="020B0503020204020204" pitchFamily="34" charset="-122"/>
                        </a:rPr>
                        <a:t>成单概率</a:t>
                      </a:r>
                      <a:endParaRPr lang="zh-CN" altLang="en-US" sz="1100" b="1" dirty="0">
                        <a:solidFill>
                          <a:srgbClr val="C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b="1" dirty="0">
                          <a:solidFill>
                            <a:srgbClr val="C00000"/>
                          </a:solidFill>
                          <a:latin typeface="微软雅黑" panose="020B0503020204020204" pitchFamily="34" charset="-122"/>
                          <a:ea typeface="微软雅黑" panose="020B0503020204020204" pitchFamily="34" charset="-122"/>
                        </a:rPr>
                        <a:t>百分比待收集，国内销服的重要维度</a:t>
                      </a:r>
                      <a:endParaRPr lang="zh-CN" altLang="en-US" sz="1100" b="1" dirty="0">
                        <a:solidFill>
                          <a:srgbClr val="C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bl>
          </a:graphicData>
        </a:graphic>
      </p:graphicFrame>
      <p:graphicFrame>
        <p:nvGraphicFramePr>
          <p:cNvPr id="34" name="表格 33"/>
          <p:cNvGraphicFramePr>
            <a:graphicFrameLocks noGrp="1"/>
          </p:cNvGraphicFramePr>
          <p:nvPr/>
        </p:nvGraphicFramePr>
        <p:xfrm>
          <a:off x="7095179" y="4667985"/>
          <a:ext cx="3431054" cy="2072640"/>
        </p:xfrm>
        <a:graphic>
          <a:graphicData uri="http://schemas.openxmlformats.org/drawingml/2006/table">
            <a:tbl>
              <a:tblPr firstRow="1" bandRow="1"/>
              <a:tblGrid>
                <a:gridCol w="1464030"/>
                <a:gridCol w="1967024"/>
              </a:tblGrid>
              <a:tr h="236594">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c>
                  <a:txBody>
                    <a:bodyPr/>
                    <a:lstStyle>
                      <a:lvl1pPr marL="0" algn="l" defTabSz="914400" rtl="0" eaLnBrk="1" latinLnBrk="0" hangingPunct="1">
                        <a:defRPr sz="1800" b="1" kern="1200">
                          <a:solidFill>
                            <a:schemeClr val="lt1"/>
                          </a:solidFill>
                          <a:latin typeface="Helvetica"/>
                          <a:ea typeface="Helvetica"/>
                          <a:cs typeface="Helvetica"/>
                        </a:defRPr>
                      </a:lvl1pPr>
                      <a:lvl2pPr marL="457200" algn="l" defTabSz="914400" rtl="0" eaLnBrk="1" latinLnBrk="0" hangingPunct="1">
                        <a:defRPr sz="1800" b="1" kern="1200">
                          <a:solidFill>
                            <a:schemeClr val="lt1"/>
                          </a:solidFill>
                          <a:latin typeface="Helvetica"/>
                          <a:ea typeface="Helvetica"/>
                          <a:cs typeface="Helvetica"/>
                        </a:defRPr>
                      </a:lvl2pPr>
                      <a:lvl3pPr marL="914400" algn="l" defTabSz="914400" rtl="0" eaLnBrk="1" latinLnBrk="0" hangingPunct="1">
                        <a:defRPr sz="1800" b="1" kern="1200">
                          <a:solidFill>
                            <a:schemeClr val="lt1"/>
                          </a:solidFill>
                          <a:latin typeface="Helvetica"/>
                          <a:ea typeface="Helvetica"/>
                          <a:cs typeface="Helvetica"/>
                        </a:defRPr>
                      </a:lvl3pPr>
                      <a:lvl4pPr marL="1371600" algn="l" defTabSz="914400" rtl="0" eaLnBrk="1" latinLnBrk="0" hangingPunct="1">
                        <a:defRPr sz="1800" b="1" kern="1200">
                          <a:solidFill>
                            <a:schemeClr val="lt1"/>
                          </a:solidFill>
                          <a:latin typeface="Helvetica"/>
                          <a:ea typeface="Helvetica"/>
                          <a:cs typeface="Helvetica"/>
                        </a:defRPr>
                      </a:lvl4pPr>
                      <a:lvl5pPr marL="1828800" algn="l" defTabSz="914400" rtl="0" eaLnBrk="1" latinLnBrk="0" hangingPunct="1">
                        <a:defRPr sz="1800" b="1" kern="1200">
                          <a:solidFill>
                            <a:schemeClr val="lt1"/>
                          </a:solidFill>
                          <a:latin typeface="Helvetica"/>
                          <a:ea typeface="Helvetica"/>
                          <a:cs typeface="Helvetica"/>
                        </a:defRPr>
                      </a:lvl5pPr>
                      <a:lvl6pPr marL="2286000" algn="l" defTabSz="914400" rtl="0" eaLnBrk="1" latinLnBrk="0" hangingPunct="1">
                        <a:defRPr sz="1800" b="1" kern="1200">
                          <a:solidFill>
                            <a:schemeClr val="lt1"/>
                          </a:solidFill>
                          <a:latin typeface="Helvetica"/>
                          <a:ea typeface="Helvetica"/>
                          <a:cs typeface="Helvetica"/>
                        </a:defRPr>
                      </a:lvl6pPr>
                      <a:lvl7pPr marL="2743200" algn="l" defTabSz="914400" rtl="0" eaLnBrk="1" latinLnBrk="0" hangingPunct="1">
                        <a:defRPr sz="1800" b="1" kern="1200">
                          <a:solidFill>
                            <a:schemeClr val="lt1"/>
                          </a:solidFill>
                          <a:latin typeface="Helvetica"/>
                          <a:ea typeface="Helvetica"/>
                          <a:cs typeface="Helvetica"/>
                        </a:defRPr>
                      </a:lvl7pPr>
                      <a:lvl8pPr marL="3200400" algn="l" defTabSz="914400" rtl="0" eaLnBrk="1" latinLnBrk="0" hangingPunct="1">
                        <a:defRPr sz="1800" b="1" kern="1200">
                          <a:solidFill>
                            <a:schemeClr val="lt1"/>
                          </a:solidFill>
                          <a:latin typeface="Helvetica"/>
                          <a:ea typeface="Helvetica"/>
                          <a:cs typeface="Helvetica"/>
                        </a:defRPr>
                      </a:lvl8pPr>
                      <a:lvl9pPr marL="3657600" algn="l" defTabSz="914400" rtl="0" eaLnBrk="1" latinLnBrk="0" hangingPunct="1">
                        <a:defRPr sz="1800" b="1" kern="1200">
                          <a:solidFill>
                            <a:schemeClr val="lt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维度描述</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9F9A"/>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丢单原因</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待收集</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赢单原因</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zh-CN" altLang="en-US" sz="1100" dirty="0">
                          <a:latin typeface="微软雅黑" panose="020B0503020204020204" pitchFamily="34" charset="-122"/>
                          <a:ea typeface="微软雅黑" panose="020B0503020204020204" pitchFamily="34" charset="-122"/>
                        </a:rPr>
                        <a:t>待收集</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r>
                        <a:rPr lang="zh-CN" altLang="en-US" sz="1100" dirty="0">
                          <a:latin typeface="微软雅黑" panose="020B0503020204020204" pitchFamily="34" charset="-122"/>
                          <a:ea typeface="微软雅黑" panose="020B0503020204020204" pitchFamily="34" charset="-122"/>
                        </a:rPr>
                        <a:t>业务员</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r>
                        <a:rPr lang="en-US" altLang="zh-CN" sz="1100" dirty="0">
                          <a:latin typeface="微软雅黑" panose="020B0503020204020204" pitchFamily="34" charset="-122"/>
                          <a:ea typeface="微软雅黑" panose="020B0503020204020204" pitchFamily="34" charset="-122"/>
                        </a:rPr>
                        <a:t>6</a:t>
                      </a:r>
                      <a:r>
                        <a:rPr lang="zh-CN" altLang="en-US" sz="1100" dirty="0">
                          <a:latin typeface="微软雅黑" panose="020B0503020204020204" pitchFamily="34" charset="-122"/>
                          <a:ea typeface="微软雅黑" panose="020B0503020204020204" pitchFamily="34" charset="-122"/>
                        </a:rPr>
                        <a:t>个大区</a:t>
                      </a: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endParaRPr lang="zh-CN" altLang="en-US" sz="1100" dirty="0">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B9BD5">
                        <a:tint val="20000"/>
                      </a:srgbClr>
                    </a:solidFill>
                  </a:tcPr>
                </a:tc>
              </a:tr>
              <a:tr h="236594">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ctr"/>
                      <a:endParaRPr lang="zh-CN" altLang="en-US" sz="1100" b="1" dirty="0">
                        <a:solidFill>
                          <a:srgbClr val="C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c>
                  <a:txBody>
                    <a:bodyPr/>
                    <a:lstStyle>
                      <a:lvl1pPr marL="0" algn="l" defTabSz="914400" rtl="0" eaLnBrk="1" latinLnBrk="0" hangingPunct="1">
                        <a:defRPr sz="1800" kern="1200">
                          <a:solidFill>
                            <a:schemeClr val="dk1"/>
                          </a:solidFill>
                          <a:latin typeface="Helvetica"/>
                          <a:ea typeface="Helvetica"/>
                          <a:cs typeface="Helvetica"/>
                        </a:defRPr>
                      </a:lvl1pPr>
                      <a:lvl2pPr marL="457200" algn="l" defTabSz="914400" rtl="0" eaLnBrk="1" latinLnBrk="0" hangingPunct="1">
                        <a:defRPr sz="1800" kern="1200">
                          <a:solidFill>
                            <a:schemeClr val="dk1"/>
                          </a:solidFill>
                          <a:latin typeface="Helvetica"/>
                          <a:ea typeface="Helvetica"/>
                          <a:cs typeface="Helvetica"/>
                        </a:defRPr>
                      </a:lvl2pPr>
                      <a:lvl3pPr marL="914400" algn="l" defTabSz="914400" rtl="0" eaLnBrk="1" latinLnBrk="0" hangingPunct="1">
                        <a:defRPr sz="1800" kern="1200">
                          <a:solidFill>
                            <a:schemeClr val="dk1"/>
                          </a:solidFill>
                          <a:latin typeface="Helvetica"/>
                          <a:ea typeface="Helvetica"/>
                          <a:cs typeface="Helvetica"/>
                        </a:defRPr>
                      </a:lvl3pPr>
                      <a:lvl4pPr marL="1371600" algn="l" defTabSz="914400" rtl="0" eaLnBrk="1" latinLnBrk="0" hangingPunct="1">
                        <a:defRPr sz="1800" kern="1200">
                          <a:solidFill>
                            <a:schemeClr val="dk1"/>
                          </a:solidFill>
                          <a:latin typeface="Helvetica"/>
                          <a:ea typeface="Helvetica"/>
                          <a:cs typeface="Helvetica"/>
                        </a:defRPr>
                      </a:lvl4pPr>
                      <a:lvl5pPr marL="1828800" algn="l" defTabSz="914400" rtl="0" eaLnBrk="1" latinLnBrk="0" hangingPunct="1">
                        <a:defRPr sz="1800" kern="1200">
                          <a:solidFill>
                            <a:schemeClr val="dk1"/>
                          </a:solidFill>
                          <a:latin typeface="Helvetica"/>
                          <a:ea typeface="Helvetica"/>
                          <a:cs typeface="Helvetica"/>
                        </a:defRPr>
                      </a:lvl5pPr>
                      <a:lvl6pPr marL="2286000" algn="l" defTabSz="914400" rtl="0" eaLnBrk="1" latinLnBrk="0" hangingPunct="1">
                        <a:defRPr sz="1800" kern="1200">
                          <a:solidFill>
                            <a:schemeClr val="dk1"/>
                          </a:solidFill>
                          <a:latin typeface="Helvetica"/>
                          <a:ea typeface="Helvetica"/>
                          <a:cs typeface="Helvetica"/>
                        </a:defRPr>
                      </a:lvl6pPr>
                      <a:lvl7pPr marL="2743200" algn="l" defTabSz="914400" rtl="0" eaLnBrk="1" latinLnBrk="0" hangingPunct="1">
                        <a:defRPr sz="1800" kern="1200">
                          <a:solidFill>
                            <a:schemeClr val="dk1"/>
                          </a:solidFill>
                          <a:latin typeface="Helvetica"/>
                          <a:ea typeface="Helvetica"/>
                          <a:cs typeface="Helvetica"/>
                        </a:defRPr>
                      </a:lvl7pPr>
                      <a:lvl8pPr marL="3200400" algn="l" defTabSz="914400" rtl="0" eaLnBrk="1" latinLnBrk="0" hangingPunct="1">
                        <a:defRPr sz="1800" kern="1200">
                          <a:solidFill>
                            <a:schemeClr val="dk1"/>
                          </a:solidFill>
                          <a:latin typeface="Helvetica"/>
                          <a:ea typeface="Helvetica"/>
                          <a:cs typeface="Helvetica"/>
                        </a:defRPr>
                      </a:lvl8pPr>
                      <a:lvl9pPr marL="3657600" algn="l" defTabSz="914400" rtl="0" eaLnBrk="1" latinLnBrk="0" hangingPunct="1">
                        <a:defRPr sz="1800" kern="1200">
                          <a:solidFill>
                            <a:schemeClr val="dk1"/>
                          </a:solidFill>
                          <a:latin typeface="Helvetica"/>
                          <a:ea typeface="Helvetica"/>
                          <a:cs typeface="Helvetica"/>
                        </a:defRPr>
                      </a:lvl9pPr>
                    </a:lstStyle>
                    <a:p>
                      <a:pPr algn="l"/>
                      <a:endParaRPr lang="zh-CN" altLang="en-US" sz="1100" b="1" dirty="0">
                        <a:solidFill>
                          <a:srgbClr val="C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3F4F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3</a:t>
            </a:r>
            <a:r>
              <a:rPr lang="zh-CN" altLang="en-US" kern="0" dirty="0">
                <a:solidFill>
                  <a:srgbClr val="000000"/>
                </a:solidFill>
                <a:cs typeface="Helvetica"/>
                <a:sym typeface="+mn-ea"/>
              </a:rPr>
              <a:t>、销售执行</a:t>
            </a:r>
            <a:r>
              <a:rPr lang="en-US" altLang="zh-CN" kern="0" dirty="0">
                <a:solidFill>
                  <a:srgbClr val="000000"/>
                </a:solidFill>
                <a:cs typeface="Helvetica"/>
                <a:sym typeface="+mn-ea"/>
              </a:rPr>
              <a:t>-</a:t>
            </a:r>
            <a:r>
              <a:rPr lang="zh-CN" altLang="en-US" kern="0" dirty="0">
                <a:solidFill>
                  <a:srgbClr val="000000"/>
                </a:solidFill>
                <a:cs typeface="Helvetica"/>
                <a:sym typeface="+mn-ea"/>
              </a:rPr>
              <a:t>履约收款（项目订单场景）</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右箭头 1"/>
          <p:cNvSpPr/>
          <p:nvPr/>
        </p:nvSpPr>
        <p:spPr>
          <a:xfrm>
            <a:off x="445135" y="1688544"/>
            <a:ext cx="11343640" cy="360045"/>
          </a:xfrm>
          <a:prstGeom prst="rightArrow">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 name="椭圆 4"/>
          <p:cNvSpPr/>
          <p:nvPr/>
        </p:nvSpPr>
        <p:spPr>
          <a:xfrm>
            <a:off x="403106" y="1647499"/>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6" name="椭圆 5"/>
          <p:cNvSpPr/>
          <p:nvPr/>
        </p:nvSpPr>
        <p:spPr>
          <a:xfrm>
            <a:off x="6052486" y="1647499"/>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7" name="文本框 21"/>
          <p:cNvSpPr txBox="1"/>
          <p:nvPr/>
        </p:nvSpPr>
        <p:spPr>
          <a:xfrm>
            <a:off x="805015" y="2274723"/>
            <a:ext cx="7924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下单时效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 name="文本框 36"/>
          <p:cNvSpPr txBox="1"/>
          <p:nvPr/>
        </p:nvSpPr>
        <p:spPr>
          <a:xfrm>
            <a:off x="805015" y="3103383"/>
            <a:ext cx="151892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销售订单数量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 </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 name="肘形连接符 43"/>
          <p:cNvCxnSpPr>
            <a:stCxn id="5" idx="4"/>
            <a:endCxn id="7" idx="1"/>
          </p:cNvCxnSpPr>
          <p:nvPr/>
        </p:nvCxnSpPr>
        <p:spPr>
          <a:xfrm rot="5400000" flipV="1">
            <a:off x="553720" y="2160905"/>
            <a:ext cx="322580" cy="180340"/>
          </a:xfrm>
          <a:prstGeom prst="bentConnector2">
            <a:avLst/>
          </a:prstGeom>
          <a:noFill/>
          <a:ln w="19050" cap="flat" cmpd="sng" algn="ctr">
            <a:solidFill>
              <a:srgbClr val="009F9A"/>
            </a:solidFill>
            <a:prstDash val="solid"/>
            <a:miter lim="800000"/>
          </a:ln>
          <a:effectLst/>
        </p:spPr>
      </p:cxnSp>
      <p:cxnSp>
        <p:nvCxnSpPr>
          <p:cNvPr id="10" name="肘形连接符 44"/>
          <p:cNvCxnSpPr>
            <a:stCxn id="5" idx="4"/>
            <a:endCxn id="32" idx="1"/>
          </p:cNvCxnSpPr>
          <p:nvPr/>
        </p:nvCxnSpPr>
        <p:spPr>
          <a:xfrm rot="5400000" flipV="1">
            <a:off x="321310" y="2393315"/>
            <a:ext cx="787400" cy="180340"/>
          </a:xfrm>
          <a:prstGeom prst="bentConnector2">
            <a:avLst/>
          </a:prstGeom>
          <a:noFill/>
          <a:ln w="19050" cap="flat" cmpd="sng" algn="ctr">
            <a:solidFill>
              <a:srgbClr val="009F9A"/>
            </a:solidFill>
            <a:prstDash val="solid"/>
            <a:miter lim="800000"/>
          </a:ln>
          <a:effectLst/>
        </p:spPr>
      </p:cxnSp>
      <p:cxnSp>
        <p:nvCxnSpPr>
          <p:cNvPr id="11" name="肘形连接符 45"/>
          <p:cNvCxnSpPr>
            <a:stCxn id="5" idx="4"/>
            <a:endCxn id="8" idx="1"/>
          </p:cNvCxnSpPr>
          <p:nvPr/>
        </p:nvCxnSpPr>
        <p:spPr>
          <a:xfrm rot="5400000" flipV="1">
            <a:off x="139383" y="2575243"/>
            <a:ext cx="1151255" cy="180340"/>
          </a:xfrm>
          <a:prstGeom prst="bentConnector2">
            <a:avLst/>
          </a:prstGeom>
          <a:noFill/>
          <a:ln w="19050" cap="flat" cmpd="sng" algn="ctr">
            <a:solidFill>
              <a:srgbClr val="009F9A"/>
            </a:solidFill>
            <a:prstDash val="solid"/>
            <a:miter lim="800000"/>
          </a:ln>
          <a:effectLst/>
        </p:spPr>
      </p:cxnSp>
      <p:sp>
        <p:nvSpPr>
          <p:cNvPr id="12" name="文本框 48"/>
          <p:cNvSpPr txBox="1"/>
          <p:nvPr/>
        </p:nvSpPr>
        <p:spPr>
          <a:xfrm>
            <a:off x="2576187" y="2184854"/>
            <a:ext cx="864235" cy="460375"/>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存量订单</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3" name="肘形连接符 58"/>
          <p:cNvCxnSpPr>
            <a:stCxn id="30" idx="4"/>
          </p:cNvCxnSpPr>
          <p:nvPr/>
        </p:nvCxnSpPr>
        <p:spPr>
          <a:xfrm rot="5400000" flipV="1">
            <a:off x="2338689" y="2174637"/>
            <a:ext cx="322580" cy="153035"/>
          </a:xfrm>
          <a:prstGeom prst="bentConnector2">
            <a:avLst/>
          </a:prstGeom>
          <a:noFill/>
          <a:ln w="19050" cap="flat" cmpd="sng" algn="ctr">
            <a:solidFill>
              <a:srgbClr val="009F9A"/>
            </a:solidFill>
            <a:prstDash val="solid"/>
            <a:miter lim="800000"/>
          </a:ln>
          <a:effectLst/>
        </p:spPr>
      </p:cxnSp>
      <p:cxnSp>
        <p:nvCxnSpPr>
          <p:cNvPr id="14" name="肘形连接符 23"/>
          <p:cNvCxnSpPr>
            <a:stCxn id="55" idx="4"/>
            <a:endCxn id="34" idx="1"/>
          </p:cNvCxnSpPr>
          <p:nvPr/>
        </p:nvCxnSpPr>
        <p:spPr>
          <a:xfrm rot="5400000" flipV="1">
            <a:off x="2908935" y="3262630"/>
            <a:ext cx="2523490" cy="177800"/>
          </a:xfrm>
          <a:prstGeom prst="bentConnector2">
            <a:avLst/>
          </a:prstGeom>
          <a:noFill/>
          <a:ln w="19050" cap="flat" cmpd="sng" algn="ctr">
            <a:solidFill>
              <a:srgbClr val="009F9A"/>
            </a:solidFill>
            <a:prstDash val="solid"/>
            <a:miter lim="800000"/>
          </a:ln>
          <a:effectLst/>
        </p:spPr>
      </p:cxnSp>
      <p:cxnSp>
        <p:nvCxnSpPr>
          <p:cNvPr id="15" name="肘形连接符 24"/>
          <p:cNvCxnSpPr>
            <a:stCxn id="55" idx="4"/>
            <a:endCxn id="35" idx="1"/>
          </p:cNvCxnSpPr>
          <p:nvPr/>
        </p:nvCxnSpPr>
        <p:spPr>
          <a:xfrm rot="5400000" flipV="1">
            <a:off x="3330893" y="2840673"/>
            <a:ext cx="1679575" cy="177800"/>
          </a:xfrm>
          <a:prstGeom prst="bentConnector2">
            <a:avLst/>
          </a:prstGeom>
          <a:noFill/>
          <a:ln w="19050" cap="flat" cmpd="sng" algn="ctr">
            <a:solidFill>
              <a:srgbClr val="009F9A"/>
            </a:solidFill>
            <a:prstDash val="solid"/>
            <a:miter lim="800000"/>
          </a:ln>
          <a:effectLst/>
        </p:spPr>
      </p:cxnSp>
      <p:cxnSp>
        <p:nvCxnSpPr>
          <p:cNvPr id="16" name="肘形连接符 26"/>
          <p:cNvCxnSpPr>
            <a:stCxn id="55" idx="4"/>
            <a:endCxn id="93" idx="1"/>
          </p:cNvCxnSpPr>
          <p:nvPr/>
        </p:nvCxnSpPr>
        <p:spPr>
          <a:xfrm rot="5400000" flipV="1">
            <a:off x="2496820" y="3674745"/>
            <a:ext cx="3345815" cy="175895"/>
          </a:xfrm>
          <a:prstGeom prst="bentConnector2">
            <a:avLst/>
          </a:prstGeom>
          <a:noFill/>
          <a:ln w="19050" cap="flat" cmpd="sng" algn="ctr">
            <a:solidFill>
              <a:srgbClr val="009F9A"/>
            </a:solidFill>
            <a:prstDash val="solid"/>
            <a:miter lim="800000"/>
          </a:ln>
          <a:effectLst/>
        </p:spPr>
      </p:cxnSp>
      <p:sp>
        <p:nvSpPr>
          <p:cNvPr id="17" name="文本框 27"/>
          <p:cNvSpPr txBox="1"/>
          <p:nvPr/>
        </p:nvSpPr>
        <p:spPr>
          <a:xfrm>
            <a:off x="6451418" y="261269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物流费用金额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8" name="文本框 28"/>
          <p:cNvSpPr txBox="1"/>
          <p:nvPr/>
        </p:nvSpPr>
        <p:spPr>
          <a:xfrm>
            <a:off x="6451418" y="2207946"/>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订单发运及时率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9" name="文本框 29"/>
          <p:cNvSpPr txBox="1"/>
          <p:nvPr/>
        </p:nvSpPr>
        <p:spPr>
          <a:xfrm>
            <a:off x="6451418" y="2962152"/>
            <a:ext cx="162115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单位运费</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项目型订单</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20" name="肘形连接符 40"/>
          <p:cNvCxnSpPr>
            <a:endCxn id="17" idx="1"/>
          </p:cNvCxnSpPr>
          <p:nvPr/>
        </p:nvCxnSpPr>
        <p:spPr>
          <a:xfrm rot="16200000" flipH="1">
            <a:off x="6198767" y="2497274"/>
            <a:ext cx="323422" cy="181880"/>
          </a:xfrm>
          <a:prstGeom prst="bentConnector2">
            <a:avLst/>
          </a:prstGeom>
          <a:noFill/>
          <a:ln w="19050" cap="flat" cmpd="sng" algn="ctr">
            <a:solidFill>
              <a:srgbClr val="009F9A"/>
            </a:solidFill>
            <a:prstDash val="solid"/>
            <a:miter lim="800000"/>
          </a:ln>
          <a:effectLst/>
        </p:spPr>
      </p:cxnSp>
      <p:cxnSp>
        <p:nvCxnSpPr>
          <p:cNvPr id="21" name="肘形连接符 51"/>
          <p:cNvCxnSpPr>
            <a:stCxn id="6" idx="4"/>
            <a:endCxn id="18" idx="1"/>
          </p:cNvCxnSpPr>
          <p:nvPr/>
        </p:nvCxnSpPr>
        <p:spPr>
          <a:xfrm rot="16200000" flipH="1">
            <a:off x="6234610" y="2128932"/>
            <a:ext cx="255871" cy="177746"/>
          </a:xfrm>
          <a:prstGeom prst="bentConnector2">
            <a:avLst/>
          </a:prstGeom>
          <a:noFill/>
          <a:ln w="19050" cap="flat" cmpd="sng" algn="ctr">
            <a:solidFill>
              <a:srgbClr val="009F9A"/>
            </a:solidFill>
            <a:prstDash val="solid"/>
            <a:miter lim="800000"/>
          </a:ln>
          <a:effectLst/>
        </p:spPr>
      </p:cxnSp>
      <p:cxnSp>
        <p:nvCxnSpPr>
          <p:cNvPr id="22" name="肘形连接符 52"/>
          <p:cNvCxnSpPr>
            <a:stCxn id="6" idx="4"/>
            <a:endCxn id="19" idx="1"/>
          </p:cNvCxnSpPr>
          <p:nvPr/>
        </p:nvCxnSpPr>
        <p:spPr>
          <a:xfrm rot="5400000" flipV="1">
            <a:off x="5857558" y="2506028"/>
            <a:ext cx="1010285" cy="177800"/>
          </a:xfrm>
          <a:prstGeom prst="bentConnector2">
            <a:avLst/>
          </a:prstGeom>
          <a:noFill/>
          <a:ln w="19050" cap="flat" cmpd="sng" algn="ctr">
            <a:solidFill>
              <a:srgbClr val="009F9A"/>
            </a:solidFill>
            <a:prstDash val="solid"/>
            <a:miter lim="800000"/>
          </a:ln>
          <a:effectLst/>
        </p:spPr>
      </p:cxnSp>
      <p:sp>
        <p:nvSpPr>
          <p:cNvPr id="23" name="文本框 4"/>
          <p:cNvSpPr txBox="1"/>
          <p:nvPr/>
        </p:nvSpPr>
        <p:spPr>
          <a:xfrm>
            <a:off x="72105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订单响应</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4" name="文本框 12"/>
          <p:cNvSpPr txBox="1"/>
          <p:nvPr/>
        </p:nvSpPr>
        <p:spPr>
          <a:xfrm>
            <a:off x="2527311"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交期答复</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5" name="文本框 15"/>
          <p:cNvSpPr txBox="1"/>
          <p:nvPr/>
        </p:nvSpPr>
        <p:spPr>
          <a:xfrm>
            <a:off x="4211031" y="1432376"/>
            <a:ext cx="168275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订单履行</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产品发货</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6" name="文本框 16"/>
          <p:cNvSpPr txBox="1"/>
          <p:nvPr/>
        </p:nvSpPr>
        <p:spPr>
          <a:xfrm>
            <a:off x="6451374"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物流运输</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27" name="图形 26" descr="清单 轮廓"/>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4926" y="1674714"/>
            <a:ext cx="360000" cy="360000"/>
          </a:xfrm>
          <a:prstGeom prst="rect">
            <a:avLst/>
          </a:prstGeom>
        </p:spPr>
      </p:pic>
      <p:pic>
        <p:nvPicPr>
          <p:cNvPr id="28" name="图形 27" descr="自卸卡车 轮廓"/>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2784" y="1659474"/>
            <a:ext cx="360000" cy="360000"/>
          </a:xfrm>
          <a:prstGeom prst="rect">
            <a:avLst/>
          </a:prstGeom>
        </p:spPr>
      </p:pic>
      <p:grpSp>
        <p:nvGrpSpPr>
          <p:cNvPr id="29" name="组合 28"/>
          <p:cNvGrpSpPr/>
          <p:nvPr/>
        </p:nvGrpSpPr>
        <p:grpSpPr>
          <a:xfrm>
            <a:off x="2201846" y="1647269"/>
            <a:ext cx="441960" cy="441960"/>
            <a:chOff x="4091" y="2759"/>
            <a:chExt cx="696" cy="696"/>
          </a:xfrm>
          <a:solidFill>
            <a:srgbClr val="009F9A"/>
          </a:solidFill>
        </p:grpSpPr>
        <p:sp>
          <p:nvSpPr>
            <p:cNvPr id="30" name="椭圆 29"/>
            <p:cNvSpPr/>
            <p:nvPr/>
          </p:nvSpPr>
          <p:spPr>
            <a:xfrm>
              <a:off x="4091" y="2759"/>
              <a:ext cx="697" cy="697"/>
            </a:xfrm>
            <a:prstGeom prst="ellipse">
              <a:avLst/>
            </a:prstGeom>
            <a:grp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31" name="图形 30" descr="电子邮件 轮廓"/>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56" y="2802"/>
              <a:ext cx="567" cy="567"/>
            </a:xfrm>
            <a:prstGeom prst="rect">
              <a:avLst/>
            </a:prstGeom>
          </p:spPr>
        </p:pic>
      </p:grpSp>
      <p:sp>
        <p:nvSpPr>
          <p:cNvPr id="32" name="文本框 21"/>
          <p:cNvSpPr txBox="1"/>
          <p:nvPr/>
        </p:nvSpPr>
        <p:spPr>
          <a:xfrm>
            <a:off x="805015" y="2739543"/>
            <a:ext cx="17068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eaLnBrk="0" fontAlgn="base" hangingPunct="0">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订单打款财务审批时效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3" name="文本框 49"/>
          <p:cNvSpPr txBox="1"/>
          <p:nvPr/>
        </p:nvSpPr>
        <p:spPr>
          <a:xfrm>
            <a:off x="2576187" y="2645229"/>
            <a:ext cx="10972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交期变更时间</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4" name="文本框 49"/>
          <p:cNvSpPr txBox="1"/>
          <p:nvPr>
            <p:custDataLst>
              <p:tags r:id="rId7"/>
            </p:custDataLst>
          </p:nvPr>
        </p:nvSpPr>
        <p:spPr>
          <a:xfrm>
            <a:off x="4259563" y="4475527"/>
            <a:ext cx="148790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物料齐套率及时率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5" name="文本框 49"/>
          <p:cNvSpPr txBox="1"/>
          <p:nvPr>
            <p:custDataLst>
              <p:tags r:id="rId8"/>
            </p:custDataLst>
          </p:nvPr>
        </p:nvSpPr>
        <p:spPr>
          <a:xfrm>
            <a:off x="4259563" y="3538891"/>
            <a:ext cx="1473835" cy="460375"/>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订单变更次数</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变更类型</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原因）</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6" name="文本框 29"/>
          <p:cNvSpPr txBox="1"/>
          <p:nvPr>
            <p:custDataLst>
              <p:tags r:id="rId9"/>
            </p:custDataLst>
          </p:nvPr>
        </p:nvSpPr>
        <p:spPr>
          <a:xfrm>
            <a:off x="6451418" y="3622747"/>
            <a:ext cx="1402080" cy="460375"/>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异常物流费用占比</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（异常运输方式）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37" name="文本框 29"/>
          <p:cNvSpPr txBox="1"/>
          <p:nvPr>
            <p:custDataLst>
              <p:tags r:id="rId10"/>
            </p:custDataLst>
          </p:nvPr>
        </p:nvSpPr>
        <p:spPr>
          <a:xfrm>
            <a:off x="6451418" y="4095187"/>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一次性费用占比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38" name="肘形连接符 52"/>
          <p:cNvCxnSpPr>
            <a:stCxn id="6" idx="4"/>
            <a:endCxn id="36" idx="1"/>
          </p:cNvCxnSpPr>
          <p:nvPr>
            <p:custDataLst>
              <p:tags r:id="rId11"/>
            </p:custDataLst>
          </p:nvPr>
        </p:nvCxnSpPr>
        <p:spPr>
          <a:xfrm rot="5400000" flipV="1">
            <a:off x="5481003" y="2882583"/>
            <a:ext cx="1763395" cy="177800"/>
          </a:xfrm>
          <a:prstGeom prst="bentConnector2">
            <a:avLst/>
          </a:prstGeom>
          <a:noFill/>
          <a:ln w="19050" cap="flat" cmpd="sng" algn="ctr">
            <a:solidFill>
              <a:srgbClr val="009F9A"/>
            </a:solidFill>
            <a:prstDash val="solid"/>
            <a:miter lim="800000"/>
          </a:ln>
          <a:effectLst/>
        </p:spPr>
      </p:cxnSp>
      <p:cxnSp>
        <p:nvCxnSpPr>
          <p:cNvPr id="39" name="肘形连接符 52"/>
          <p:cNvCxnSpPr>
            <a:stCxn id="6" idx="4"/>
            <a:endCxn id="37" idx="1"/>
          </p:cNvCxnSpPr>
          <p:nvPr>
            <p:custDataLst>
              <p:tags r:id="rId12"/>
            </p:custDataLst>
          </p:nvPr>
        </p:nvCxnSpPr>
        <p:spPr>
          <a:xfrm rot="5400000" flipV="1">
            <a:off x="5291138" y="3072448"/>
            <a:ext cx="2143125" cy="177800"/>
          </a:xfrm>
          <a:prstGeom prst="bentConnector2">
            <a:avLst/>
          </a:prstGeom>
          <a:noFill/>
          <a:ln w="19050" cap="flat" cmpd="sng" algn="ctr">
            <a:solidFill>
              <a:srgbClr val="009F9A"/>
            </a:solidFill>
            <a:prstDash val="solid"/>
            <a:miter lim="800000"/>
          </a:ln>
          <a:effectLst/>
        </p:spPr>
      </p:cxnSp>
      <p:sp>
        <p:nvSpPr>
          <p:cNvPr id="40" name="椭圆 39"/>
          <p:cNvSpPr/>
          <p:nvPr>
            <p:custDataLst>
              <p:tags r:id="rId13"/>
            </p:custDataLst>
          </p:nvPr>
        </p:nvSpPr>
        <p:spPr>
          <a:xfrm>
            <a:off x="10095660" y="1624204"/>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41" name="图片 40" descr="收款"/>
          <p:cNvPicPr>
            <a:picLocks noChangeAspect="1"/>
          </p:cNvPicPr>
          <p:nvPr/>
        </p:nvPicPr>
        <p:blipFill>
          <a:blip r:embed="rId14"/>
          <a:stretch>
            <a:fillRect/>
          </a:stretch>
        </p:blipFill>
        <p:spPr>
          <a:xfrm>
            <a:off x="10153650" y="1671399"/>
            <a:ext cx="360045" cy="360045"/>
          </a:xfrm>
          <a:prstGeom prst="rect">
            <a:avLst/>
          </a:prstGeom>
        </p:spPr>
      </p:pic>
      <p:sp>
        <p:nvSpPr>
          <p:cNvPr id="42" name="文本框 17"/>
          <p:cNvSpPr txBox="1"/>
          <p:nvPr>
            <p:custDataLst>
              <p:tags r:id="rId15"/>
            </p:custDataLst>
          </p:nvPr>
        </p:nvSpPr>
        <p:spPr>
          <a:xfrm>
            <a:off x="1056362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销售回款</a:t>
            </a:r>
            <a:endParaRPr lang="zh-CN" altLang="en-US" sz="14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3" name="文本框 27"/>
          <p:cNvSpPr txBox="1"/>
          <p:nvPr>
            <p:custDataLst>
              <p:tags r:id="rId16"/>
            </p:custDataLst>
          </p:nvPr>
        </p:nvSpPr>
        <p:spPr>
          <a:xfrm>
            <a:off x="10474115" y="2274757"/>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销售回款金额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44" name="肘形连接符 76"/>
          <p:cNvCxnSpPr>
            <a:stCxn id="40" idx="4"/>
            <a:endCxn id="43" idx="1"/>
          </p:cNvCxnSpPr>
          <p:nvPr>
            <p:custDataLst>
              <p:tags r:id="rId17"/>
            </p:custDataLst>
          </p:nvPr>
        </p:nvCxnSpPr>
        <p:spPr>
          <a:xfrm rot="5400000" flipV="1">
            <a:off x="10223183" y="2161223"/>
            <a:ext cx="345440" cy="156845"/>
          </a:xfrm>
          <a:prstGeom prst="bentConnector2">
            <a:avLst/>
          </a:prstGeom>
          <a:noFill/>
          <a:ln w="19050" cap="flat" cmpd="sng" algn="ctr">
            <a:solidFill>
              <a:srgbClr val="009F9A"/>
            </a:solidFill>
            <a:prstDash val="solid"/>
            <a:miter lim="800000"/>
          </a:ln>
          <a:effectLst/>
        </p:spPr>
      </p:cxnSp>
      <p:sp>
        <p:nvSpPr>
          <p:cNvPr id="45" name="文本框 27"/>
          <p:cNvSpPr txBox="1"/>
          <p:nvPr>
            <p:custDataLst>
              <p:tags r:id="rId18"/>
            </p:custDataLst>
          </p:nvPr>
        </p:nvSpPr>
        <p:spPr>
          <a:xfrm>
            <a:off x="10474115" y="4283365"/>
            <a:ext cx="9448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回款及时率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6" name="文本框 27"/>
          <p:cNvSpPr txBox="1"/>
          <p:nvPr>
            <p:custDataLst>
              <p:tags r:id="rId19"/>
            </p:custDataLst>
          </p:nvPr>
        </p:nvSpPr>
        <p:spPr>
          <a:xfrm>
            <a:off x="10474115" y="3811560"/>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应收账款账龄</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7" name="文本框 27"/>
          <p:cNvSpPr txBox="1"/>
          <p:nvPr>
            <p:custDataLst>
              <p:tags r:id="rId20"/>
            </p:custDataLst>
          </p:nvPr>
        </p:nvSpPr>
        <p:spPr>
          <a:xfrm>
            <a:off x="10474115" y="2895418"/>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应收账款周转天数</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8" name="文本框 27"/>
          <p:cNvSpPr txBox="1"/>
          <p:nvPr>
            <p:custDataLst>
              <p:tags r:id="rId21"/>
            </p:custDataLst>
          </p:nvPr>
        </p:nvSpPr>
        <p:spPr>
          <a:xfrm>
            <a:off x="10474115" y="333975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逾期应收账款</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49" name="肘形连接符 76"/>
          <p:cNvCxnSpPr>
            <a:stCxn id="40" idx="4"/>
            <a:endCxn id="47" idx="1"/>
          </p:cNvCxnSpPr>
          <p:nvPr>
            <p:custDataLst>
              <p:tags r:id="rId22"/>
            </p:custDataLst>
          </p:nvPr>
        </p:nvCxnSpPr>
        <p:spPr>
          <a:xfrm rot="5400000" flipV="1">
            <a:off x="9912668" y="2471738"/>
            <a:ext cx="966470" cy="156845"/>
          </a:xfrm>
          <a:prstGeom prst="bentConnector2">
            <a:avLst/>
          </a:prstGeom>
          <a:noFill/>
          <a:ln w="19050" cap="flat" cmpd="sng" algn="ctr">
            <a:solidFill>
              <a:srgbClr val="009F9A"/>
            </a:solidFill>
            <a:prstDash val="solid"/>
            <a:miter lim="800000"/>
          </a:ln>
          <a:effectLst/>
        </p:spPr>
      </p:cxnSp>
      <p:cxnSp>
        <p:nvCxnSpPr>
          <p:cNvPr id="50" name="肘形连接符 76"/>
          <p:cNvCxnSpPr>
            <a:stCxn id="40" idx="4"/>
            <a:endCxn id="48" idx="1"/>
          </p:cNvCxnSpPr>
          <p:nvPr>
            <p:custDataLst>
              <p:tags r:id="rId23"/>
            </p:custDataLst>
          </p:nvPr>
        </p:nvCxnSpPr>
        <p:spPr>
          <a:xfrm rot="5400000" flipV="1">
            <a:off x="9690735" y="2693670"/>
            <a:ext cx="1410335" cy="156845"/>
          </a:xfrm>
          <a:prstGeom prst="bentConnector2">
            <a:avLst/>
          </a:prstGeom>
          <a:noFill/>
          <a:ln w="19050" cap="flat" cmpd="sng" algn="ctr">
            <a:solidFill>
              <a:srgbClr val="009F9A"/>
            </a:solidFill>
            <a:prstDash val="solid"/>
            <a:miter lim="800000"/>
          </a:ln>
          <a:effectLst/>
        </p:spPr>
      </p:cxnSp>
      <p:cxnSp>
        <p:nvCxnSpPr>
          <p:cNvPr id="51" name="肘形连接符 76"/>
          <p:cNvCxnSpPr>
            <a:stCxn id="40" idx="4"/>
            <a:endCxn id="46" idx="1"/>
          </p:cNvCxnSpPr>
          <p:nvPr>
            <p:custDataLst>
              <p:tags r:id="rId24"/>
            </p:custDataLst>
          </p:nvPr>
        </p:nvCxnSpPr>
        <p:spPr>
          <a:xfrm rot="5400000" flipV="1">
            <a:off x="9454833" y="2929573"/>
            <a:ext cx="1882140" cy="156845"/>
          </a:xfrm>
          <a:prstGeom prst="bentConnector2">
            <a:avLst/>
          </a:prstGeom>
          <a:noFill/>
          <a:ln w="19050" cap="flat" cmpd="sng" algn="ctr">
            <a:solidFill>
              <a:srgbClr val="009F9A"/>
            </a:solidFill>
            <a:prstDash val="solid"/>
            <a:miter lim="800000"/>
          </a:ln>
          <a:effectLst/>
        </p:spPr>
      </p:cxnSp>
      <p:cxnSp>
        <p:nvCxnSpPr>
          <p:cNvPr id="52" name="肘形连接符 76"/>
          <p:cNvCxnSpPr>
            <a:stCxn id="40" idx="4"/>
            <a:endCxn id="45" idx="1"/>
          </p:cNvCxnSpPr>
          <p:nvPr>
            <p:custDataLst>
              <p:tags r:id="rId25"/>
            </p:custDataLst>
          </p:nvPr>
        </p:nvCxnSpPr>
        <p:spPr>
          <a:xfrm rot="5400000" flipV="1">
            <a:off x="9218930" y="3165475"/>
            <a:ext cx="2353945" cy="156845"/>
          </a:xfrm>
          <a:prstGeom prst="bentConnector2">
            <a:avLst/>
          </a:prstGeom>
          <a:noFill/>
          <a:ln w="19050" cap="flat" cmpd="sng" algn="ctr">
            <a:solidFill>
              <a:srgbClr val="009F9A"/>
            </a:solidFill>
            <a:prstDash val="solid"/>
            <a:miter lim="800000"/>
          </a:ln>
          <a:effectLst/>
        </p:spPr>
      </p:cxnSp>
      <p:cxnSp>
        <p:nvCxnSpPr>
          <p:cNvPr id="53" name="肘形连接符 58"/>
          <p:cNvCxnSpPr>
            <a:stCxn id="30" idx="4"/>
            <a:endCxn id="33" idx="1"/>
          </p:cNvCxnSpPr>
          <p:nvPr>
            <p:custDataLst>
              <p:tags r:id="rId26"/>
            </p:custDataLst>
          </p:nvPr>
        </p:nvCxnSpPr>
        <p:spPr>
          <a:xfrm rot="5400000" flipV="1">
            <a:off x="2152968" y="2359978"/>
            <a:ext cx="693420" cy="153035"/>
          </a:xfrm>
          <a:prstGeom prst="bentConnector2">
            <a:avLst/>
          </a:prstGeom>
          <a:noFill/>
          <a:ln w="19050" cap="flat" cmpd="sng" algn="ctr">
            <a:solidFill>
              <a:srgbClr val="009F9A"/>
            </a:solidFill>
            <a:prstDash val="solid"/>
            <a:miter lim="800000"/>
          </a:ln>
          <a:effectLst/>
        </p:spPr>
      </p:cxnSp>
      <p:grpSp>
        <p:nvGrpSpPr>
          <p:cNvPr id="54" name="组合 53"/>
          <p:cNvGrpSpPr/>
          <p:nvPr/>
        </p:nvGrpSpPr>
        <p:grpSpPr>
          <a:xfrm>
            <a:off x="3860148" y="1647269"/>
            <a:ext cx="441960" cy="441960"/>
            <a:chOff x="7547" y="2135"/>
            <a:chExt cx="696" cy="696"/>
          </a:xfrm>
          <a:solidFill>
            <a:srgbClr val="009F9A"/>
          </a:solidFill>
        </p:grpSpPr>
        <p:sp>
          <p:nvSpPr>
            <p:cNvPr id="55" name="椭圆 54"/>
            <p:cNvSpPr/>
            <p:nvPr/>
          </p:nvSpPr>
          <p:spPr>
            <a:xfrm>
              <a:off x="7547" y="2135"/>
              <a:ext cx="697" cy="697"/>
            </a:xfrm>
            <a:prstGeom prst="ellipse">
              <a:avLst/>
            </a:prstGeom>
            <a:grp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56" name="图形 55" descr="靶心 轮廓"/>
            <p:cNvPicPr>
              <a:picLocks noChangeAspect="1"/>
            </p:cNvPicPr>
            <p:nvPr/>
          </p:nvPicPr>
          <p:blipFill>
            <a:blip r:embed="rId27" cstate="print">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609" y="2200"/>
              <a:ext cx="567" cy="567"/>
            </a:xfrm>
            <a:prstGeom prst="rect">
              <a:avLst/>
            </a:prstGeom>
          </p:spPr>
        </p:pic>
      </p:grpSp>
      <p:sp>
        <p:nvSpPr>
          <p:cNvPr id="57" name="文本框 49"/>
          <p:cNvSpPr txBox="1"/>
          <p:nvPr>
            <p:custDataLst>
              <p:tags r:id="rId29"/>
            </p:custDataLst>
          </p:nvPr>
        </p:nvSpPr>
        <p:spPr>
          <a:xfrm>
            <a:off x="4259563" y="2611945"/>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已发货数量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58" name="肘形连接符 24"/>
          <p:cNvCxnSpPr>
            <a:stCxn id="56" idx="2"/>
            <a:endCxn id="57" idx="1"/>
          </p:cNvCxnSpPr>
          <p:nvPr>
            <p:custDataLst>
              <p:tags r:id="rId30"/>
            </p:custDataLst>
          </p:nvPr>
        </p:nvCxnSpPr>
        <p:spPr>
          <a:xfrm rot="5400000" flipV="1">
            <a:off x="3819208" y="2309178"/>
            <a:ext cx="701040" cy="179705"/>
          </a:xfrm>
          <a:prstGeom prst="bentConnector2">
            <a:avLst/>
          </a:prstGeom>
          <a:noFill/>
          <a:ln w="19050" cap="flat" cmpd="sng" algn="ctr">
            <a:solidFill>
              <a:srgbClr val="009F9A"/>
            </a:solidFill>
            <a:prstDash val="solid"/>
            <a:miter lim="800000"/>
          </a:ln>
          <a:effectLst/>
        </p:spPr>
      </p:cxnSp>
      <p:sp>
        <p:nvSpPr>
          <p:cNvPr id="59" name="文本框 58"/>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defRPr/>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核心价值：优化订单处理和收款流程，确保准确、及时地满足客户需求并回收款项，从而提高企业的订单物流交付能力和提升财务健康状况。</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60" name="文本框 36"/>
          <p:cNvSpPr txBox="1"/>
          <p:nvPr/>
        </p:nvSpPr>
        <p:spPr>
          <a:xfrm>
            <a:off x="828258" y="3520210"/>
            <a:ext cx="22358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要货当月未产出转入数量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1" name="连接符: 肘形 60"/>
          <p:cNvCxnSpPr>
            <a:stCxn id="5" idx="4"/>
            <a:endCxn id="60" idx="1"/>
          </p:cNvCxnSpPr>
          <p:nvPr/>
        </p:nvCxnSpPr>
        <p:spPr>
          <a:xfrm rot="5400000" flipV="1">
            <a:off x="-57785" y="2772410"/>
            <a:ext cx="1568450" cy="203200"/>
          </a:xfrm>
          <a:prstGeom prst="bentConnector2">
            <a:avLst/>
          </a:prstGeom>
          <a:noFill/>
          <a:ln w="19050" cap="flat" cmpd="sng" algn="ctr">
            <a:solidFill>
              <a:srgbClr val="009F9A"/>
            </a:solidFill>
            <a:prstDash val="solid"/>
            <a:miter lim="800000"/>
          </a:ln>
          <a:effectLst/>
        </p:spPr>
      </p:cxnSp>
      <p:sp>
        <p:nvSpPr>
          <p:cNvPr id="62" name="文本框 36"/>
          <p:cNvSpPr txBox="1"/>
          <p:nvPr/>
        </p:nvSpPr>
        <p:spPr>
          <a:xfrm>
            <a:off x="845477" y="3884050"/>
            <a:ext cx="10972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屏体平均单价</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3" name="连接符: 肘形 62"/>
          <p:cNvCxnSpPr>
            <a:stCxn id="5" idx="4"/>
            <a:endCxn id="62" idx="1"/>
          </p:cNvCxnSpPr>
          <p:nvPr/>
        </p:nvCxnSpPr>
        <p:spPr>
          <a:xfrm rot="5400000" flipV="1">
            <a:off x="-231140" y="2945765"/>
            <a:ext cx="1932305" cy="220345"/>
          </a:xfrm>
          <a:prstGeom prst="bentConnector2">
            <a:avLst/>
          </a:prstGeom>
          <a:noFill/>
          <a:ln w="19050" cap="flat" cmpd="sng" algn="ctr">
            <a:solidFill>
              <a:srgbClr val="009F9A"/>
            </a:solidFill>
            <a:prstDash val="solid"/>
            <a:miter lim="800000"/>
          </a:ln>
          <a:effectLst/>
        </p:spPr>
      </p:cxnSp>
      <p:sp>
        <p:nvSpPr>
          <p:cNvPr id="64" name="文本框 49"/>
          <p:cNvSpPr txBox="1"/>
          <p:nvPr>
            <p:custDataLst>
              <p:tags r:id="rId31"/>
            </p:custDataLst>
          </p:nvPr>
        </p:nvSpPr>
        <p:spPr>
          <a:xfrm>
            <a:off x="4259562" y="2889056"/>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未发货数量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5" name="连接符: 肘形 64"/>
          <p:cNvCxnSpPr>
            <a:stCxn id="55" idx="4"/>
            <a:endCxn id="64" idx="1"/>
          </p:cNvCxnSpPr>
          <p:nvPr/>
        </p:nvCxnSpPr>
        <p:spPr>
          <a:xfrm rot="5400000" flipV="1">
            <a:off x="3702050" y="2469515"/>
            <a:ext cx="937260" cy="177800"/>
          </a:xfrm>
          <a:prstGeom prst="bentConnector2">
            <a:avLst/>
          </a:prstGeom>
          <a:noFill/>
          <a:ln w="19050" cap="flat" cmpd="sng" algn="ctr">
            <a:solidFill>
              <a:srgbClr val="009F9A"/>
            </a:solidFill>
            <a:prstDash val="solid"/>
            <a:miter lim="800000"/>
          </a:ln>
          <a:effectLst/>
        </p:spPr>
      </p:cxnSp>
      <p:sp>
        <p:nvSpPr>
          <p:cNvPr id="66" name="文本框 49"/>
          <p:cNvSpPr txBox="1"/>
          <p:nvPr>
            <p:custDataLst>
              <p:tags r:id="rId32"/>
            </p:custDataLst>
          </p:nvPr>
        </p:nvSpPr>
        <p:spPr>
          <a:xfrm>
            <a:off x="4251885" y="4731988"/>
            <a:ext cx="1349375"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生产交付及时率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7" name="连接符: 肘形 66"/>
          <p:cNvCxnSpPr>
            <a:stCxn id="55" idx="4"/>
            <a:endCxn id="66" idx="1"/>
          </p:cNvCxnSpPr>
          <p:nvPr/>
        </p:nvCxnSpPr>
        <p:spPr>
          <a:xfrm rot="16200000" flipH="1">
            <a:off x="2776706" y="3394603"/>
            <a:ext cx="2779919" cy="170439"/>
          </a:xfrm>
          <a:prstGeom prst="bentConnector2">
            <a:avLst/>
          </a:prstGeom>
          <a:noFill/>
          <a:ln w="19050" cap="flat" cmpd="sng" algn="ctr">
            <a:solidFill>
              <a:srgbClr val="009F9A"/>
            </a:solidFill>
            <a:prstDash val="solid"/>
            <a:miter lim="800000"/>
          </a:ln>
          <a:effectLst/>
        </p:spPr>
      </p:cxnSp>
      <p:sp>
        <p:nvSpPr>
          <p:cNvPr id="68" name="椭圆 67"/>
          <p:cNvSpPr/>
          <p:nvPr/>
        </p:nvSpPr>
        <p:spPr>
          <a:xfrm>
            <a:off x="8047533" y="1631604"/>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69" name="文本框 17"/>
          <p:cNvSpPr txBox="1"/>
          <p:nvPr/>
        </p:nvSpPr>
        <p:spPr>
          <a:xfrm>
            <a:off x="8377303" y="1416481"/>
            <a:ext cx="12496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工程交付验收</a:t>
            </a:r>
            <a:endParaRPr lang="zh-CN" altLang="en-US" sz="14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70" name="图形 69" descr="徽章勾号 轮廓"/>
          <p:cNvPicPr>
            <a:picLocks noChangeAspect="1"/>
          </p:cNvPicPr>
          <p:nvPr/>
        </p:nvPicPr>
        <p:blipFill>
          <a:blip r:embed="rId33" cstate="print">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088718" y="1672789"/>
            <a:ext cx="360000" cy="360000"/>
          </a:xfrm>
          <a:prstGeom prst="rect">
            <a:avLst/>
          </a:prstGeom>
        </p:spPr>
      </p:pic>
      <p:sp>
        <p:nvSpPr>
          <p:cNvPr id="71" name="文本框 27"/>
          <p:cNvSpPr txBox="1"/>
          <p:nvPr>
            <p:custDataLst>
              <p:tags r:id="rId35"/>
            </p:custDataLst>
          </p:nvPr>
        </p:nvSpPr>
        <p:spPr>
          <a:xfrm>
            <a:off x="8448451" y="2129042"/>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平均交付周期</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2" name="肘形连接符 76"/>
          <p:cNvCxnSpPr>
            <a:stCxn id="68" idx="4"/>
            <a:endCxn id="71" idx="1"/>
          </p:cNvCxnSpPr>
          <p:nvPr>
            <p:custDataLst>
              <p:tags r:id="rId36"/>
            </p:custDataLst>
          </p:nvPr>
        </p:nvCxnSpPr>
        <p:spPr>
          <a:xfrm rot="5400000" flipV="1">
            <a:off x="8262303" y="2080578"/>
            <a:ext cx="193040" cy="179705"/>
          </a:xfrm>
          <a:prstGeom prst="bentConnector2">
            <a:avLst/>
          </a:prstGeom>
          <a:noFill/>
          <a:ln w="19050" cap="flat" cmpd="sng" algn="ctr">
            <a:solidFill>
              <a:srgbClr val="009F9A"/>
            </a:solidFill>
            <a:prstDash val="solid"/>
            <a:miter lim="800000"/>
          </a:ln>
          <a:effectLst/>
        </p:spPr>
      </p:cxnSp>
      <p:sp>
        <p:nvSpPr>
          <p:cNvPr id="73" name="文本框 27"/>
          <p:cNvSpPr txBox="1"/>
          <p:nvPr>
            <p:custDataLst>
              <p:tags r:id="rId37"/>
            </p:custDataLst>
          </p:nvPr>
        </p:nvSpPr>
        <p:spPr>
          <a:xfrm>
            <a:off x="8448451" y="2801994"/>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工程交付费用率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4" name="肘形连接符 76"/>
          <p:cNvCxnSpPr>
            <a:stCxn id="68" idx="4"/>
            <a:endCxn id="73" idx="1"/>
          </p:cNvCxnSpPr>
          <p:nvPr>
            <p:custDataLst>
              <p:tags r:id="rId38"/>
            </p:custDataLst>
          </p:nvPr>
        </p:nvCxnSpPr>
        <p:spPr>
          <a:xfrm rot="5400000" flipV="1">
            <a:off x="7925753" y="2417128"/>
            <a:ext cx="866140" cy="179705"/>
          </a:xfrm>
          <a:prstGeom prst="bentConnector2">
            <a:avLst/>
          </a:prstGeom>
          <a:noFill/>
          <a:ln w="19050" cap="flat" cmpd="sng" algn="ctr">
            <a:solidFill>
              <a:srgbClr val="009F9A"/>
            </a:solidFill>
            <a:prstDash val="solid"/>
            <a:miter lim="800000"/>
          </a:ln>
          <a:effectLst/>
        </p:spPr>
      </p:cxnSp>
      <p:sp>
        <p:nvSpPr>
          <p:cNvPr id="75" name="文本框 27"/>
          <p:cNvSpPr txBox="1"/>
          <p:nvPr>
            <p:custDataLst>
              <p:tags r:id="rId39"/>
            </p:custDataLst>
          </p:nvPr>
        </p:nvSpPr>
        <p:spPr>
          <a:xfrm>
            <a:off x="8454759" y="317692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工程验收金额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6" name="连接符: 肘形 75"/>
          <p:cNvCxnSpPr>
            <a:stCxn id="68" idx="4"/>
            <a:endCxn id="75" idx="1"/>
          </p:cNvCxnSpPr>
          <p:nvPr/>
        </p:nvCxnSpPr>
        <p:spPr>
          <a:xfrm rot="5400000" flipV="1">
            <a:off x="7741603" y="2601278"/>
            <a:ext cx="1240790" cy="186055"/>
          </a:xfrm>
          <a:prstGeom prst="bentConnector2">
            <a:avLst/>
          </a:prstGeom>
          <a:noFill/>
          <a:ln w="19050" cap="flat" cmpd="sng" algn="ctr">
            <a:solidFill>
              <a:srgbClr val="009F9A"/>
            </a:solidFill>
            <a:prstDash val="solid"/>
            <a:miter lim="800000"/>
          </a:ln>
          <a:effectLst/>
        </p:spPr>
      </p:cxnSp>
      <p:sp>
        <p:nvSpPr>
          <p:cNvPr id="77" name="文本框 27"/>
          <p:cNvSpPr txBox="1"/>
          <p:nvPr>
            <p:custDataLst>
              <p:tags r:id="rId40"/>
            </p:custDataLst>
          </p:nvPr>
        </p:nvSpPr>
        <p:spPr>
          <a:xfrm>
            <a:off x="8479177" y="4091872"/>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人均验收金额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8" name="连接符: 肘形 77"/>
          <p:cNvCxnSpPr>
            <a:stCxn id="68" idx="4"/>
            <a:endCxn id="77" idx="1"/>
          </p:cNvCxnSpPr>
          <p:nvPr/>
        </p:nvCxnSpPr>
        <p:spPr>
          <a:xfrm rot="5400000" flipV="1">
            <a:off x="7296150" y="3046730"/>
            <a:ext cx="2155825" cy="210185"/>
          </a:xfrm>
          <a:prstGeom prst="bentConnector2">
            <a:avLst/>
          </a:prstGeom>
          <a:noFill/>
          <a:ln w="19050" cap="flat" cmpd="sng" algn="ctr">
            <a:solidFill>
              <a:srgbClr val="009F9A"/>
            </a:solidFill>
            <a:prstDash val="solid"/>
            <a:miter lim="800000"/>
          </a:ln>
          <a:effectLst/>
        </p:spPr>
      </p:cxnSp>
      <p:sp>
        <p:nvSpPr>
          <p:cNvPr id="79" name="文本框 27"/>
          <p:cNvSpPr txBox="1"/>
          <p:nvPr>
            <p:custDataLst>
              <p:tags r:id="rId41"/>
            </p:custDataLst>
          </p:nvPr>
        </p:nvSpPr>
        <p:spPr>
          <a:xfrm>
            <a:off x="8455694" y="3622747"/>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已出货未验收金额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0" name="连接符: 肘形 79"/>
          <p:cNvCxnSpPr>
            <a:stCxn id="68" idx="4"/>
            <a:endCxn id="79" idx="1"/>
          </p:cNvCxnSpPr>
          <p:nvPr/>
        </p:nvCxnSpPr>
        <p:spPr>
          <a:xfrm rot="5400000" flipV="1">
            <a:off x="7519035" y="2823845"/>
            <a:ext cx="1686560" cy="186690"/>
          </a:xfrm>
          <a:prstGeom prst="bentConnector2">
            <a:avLst/>
          </a:prstGeom>
          <a:noFill/>
          <a:ln w="19050" cap="flat" cmpd="sng" algn="ctr">
            <a:solidFill>
              <a:srgbClr val="009F9A"/>
            </a:solidFill>
            <a:prstDash val="solid"/>
            <a:miter lim="800000"/>
          </a:ln>
          <a:effectLst/>
        </p:spPr>
      </p:cxnSp>
      <p:sp>
        <p:nvSpPr>
          <p:cNvPr id="81" name="文本框 27"/>
          <p:cNvSpPr txBox="1"/>
          <p:nvPr>
            <p:custDataLst>
              <p:tags r:id="rId42"/>
            </p:custDataLst>
          </p:nvPr>
        </p:nvSpPr>
        <p:spPr>
          <a:xfrm>
            <a:off x="8485721" y="4490517"/>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人均交付项目数量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2" name="连接符: 肘形 81"/>
          <p:cNvCxnSpPr>
            <a:stCxn id="68" idx="4"/>
            <a:endCxn id="81" idx="1"/>
          </p:cNvCxnSpPr>
          <p:nvPr/>
        </p:nvCxnSpPr>
        <p:spPr>
          <a:xfrm rot="5400000" flipV="1">
            <a:off x="7099935" y="3242945"/>
            <a:ext cx="2554605" cy="216535"/>
          </a:xfrm>
          <a:prstGeom prst="bentConnector2">
            <a:avLst/>
          </a:prstGeom>
          <a:noFill/>
          <a:ln w="19050" cap="flat" cmpd="sng" algn="ctr">
            <a:solidFill>
              <a:srgbClr val="009F9A"/>
            </a:solidFill>
            <a:prstDash val="solid"/>
            <a:miter lim="800000"/>
          </a:ln>
          <a:effectLst/>
        </p:spPr>
      </p:cxnSp>
      <p:sp>
        <p:nvSpPr>
          <p:cNvPr id="83" name="文本框 21"/>
          <p:cNvSpPr txBox="1"/>
          <p:nvPr/>
        </p:nvSpPr>
        <p:spPr>
          <a:xfrm>
            <a:off x="763864" y="4271599"/>
            <a:ext cx="148272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BOM</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首次开放时效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4" name="文本框 66"/>
          <p:cNvSpPr txBox="1"/>
          <p:nvPr/>
        </p:nvSpPr>
        <p:spPr>
          <a:xfrm>
            <a:off x="4251885" y="5016550"/>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最后一周集中交货占比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5" name="文本框 66"/>
          <p:cNvSpPr txBox="1"/>
          <p:nvPr/>
        </p:nvSpPr>
        <p:spPr>
          <a:xfrm>
            <a:off x="4259562" y="5772101"/>
            <a:ext cx="275682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提前备库备料数量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6" name="文本框 66"/>
          <p:cNvSpPr txBox="1"/>
          <p:nvPr/>
        </p:nvSpPr>
        <p:spPr>
          <a:xfrm>
            <a:off x="4238929" y="6049100"/>
            <a:ext cx="3505451" cy="460375"/>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客户借用订单逾期数量金额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（借用类型</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样品等）</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7" name="文本框 27"/>
          <p:cNvSpPr txBox="1"/>
          <p:nvPr>
            <p:custDataLst>
              <p:tags r:id="rId43"/>
            </p:custDataLst>
          </p:nvPr>
        </p:nvSpPr>
        <p:spPr>
          <a:xfrm>
            <a:off x="8493221" y="4795787"/>
            <a:ext cx="147383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验收开票数量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8" name="连接符: 肘形 87"/>
          <p:cNvCxnSpPr>
            <a:stCxn id="68" idx="4"/>
            <a:endCxn id="87" idx="1"/>
          </p:cNvCxnSpPr>
          <p:nvPr/>
        </p:nvCxnSpPr>
        <p:spPr>
          <a:xfrm rot="5400000" flipV="1">
            <a:off x="6951345" y="3391535"/>
            <a:ext cx="2859405" cy="224155"/>
          </a:xfrm>
          <a:prstGeom prst="bentConnector2">
            <a:avLst/>
          </a:prstGeom>
          <a:noFill/>
          <a:ln w="19050" cap="flat">
            <a:solidFill>
              <a:srgbClr val="009F9A"/>
            </a:solidFill>
            <a:prstDash val="solid"/>
            <a:miter lim="800000"/>
          </a:ln>
          <a:effectLst/>
        </p:spPr>
      </p:cxnSp>
      <p:cxnSp>
        <p:nvCxnSpPr>
          <p:cNvPr id="89" name="连接符: 肘形 88"/>
          <p:cNvCxnSpPr>
            <a:stCxn id="5" idx="4"/>
            <a:endCxn id="83" idx="1"/>
          </p:cNvCxnSpPr>
          <p:nvPr/>
        </p:nvCxnSpPr>
        <p:spPr>
          <a:xfrm rot="5400000" flipV="1">
            <a:off x="-465455" y="3180080"/>
            <a:ext cx="2319655" cy="139065"/>
          </a:xfrm>
          <a:prstGeom prst="bentConnector2">
            <a:avLst/>
          </a:prstGeom>
          <a:noFill/>
          <a:ln w="19050" cap="flat">
            <a:solidFill>
              <a:srgbClr val="009F9A"/>
            </a:solidFill>
            <a:prstDash val="solid"/>
            <a:miter lim="800000"/>
          </a:ln>
          <a:effectLst/>
        </p:spPr>
      </p:cxnSp>
      <p:sp>
        <p:nvSpPr>
          <p:cNvPr id="90" name="文本框 49"/>
          <p:cNvSpPr txBox="1"/>
          <p:nvPr/>
        </p:nvSpPr>
        <p:spPr>
          <a:xfrm>
            <a:off x="4276103" y="4019904"/>
            <a:ext cx="12496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订单交付达成率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1" name="连接符: 肘形 90"/>
          <p:cNvCxnSpPr>
            <a:stCxn id="55" idx="4"/>
            <a:endCxn id="90" idx="1"/>
          </p:cNvCxnSpPr>
          <p:nvPr/>
        </p:nvCxnSpPr>
        <p:spPr>
          <a:xfrm rot="5400000" flipV="1">
            <a:off x="3144838" y="3026728"/>
            <a:ext cx="2068195" cy="194310"/>
          </a:xfrm>
          <a:prstGeom prst="bentConnector2">
            <a:avLst/>
          </a:prstGeom>
          <a:noFill/>
          <a:ln w="19050" cap="flat">
            <a:solidFill>
              <a:srgbClr val="009F9A"/>
            </a:solidFill>
            <a:prstDash val="solid"/>
            <a:miter lim="800000"/>
          </a:ln>
          <a:effectLst/>
        </p:spPr>
      </p:cxnSp>
      <p:cxnSp>
        <p:nvCxnSpPr>
          <p:cNvPr id="92" name="连接符: 肘形 91"/>
          <p:cNvCxnSpPr>
            <a:stCxn id="55" idx="4"/>
            <a:endCxn id="84" idx="1"/>
          </p:cNvCxnSpPr>
          <p:nvPr/>
        </p:nvCxnSpPr>
        <p:spPr>
          <a:xfrm rot="5400000" flipV="1">
            <a:off x="2634615" y="3536950"/>
            <a:ext cx="3064510" cy="170180"/>
          </a:xfrm>
          <a:prstGeom prst="bentConnector2">
            <a:avLst/>
          </a:prstGeom>
          <a:noFill/>
          <a:ln w="19050" cap="flat">
            <a:solidFill>
              <a:srgbClr val="009F9A"/>
            </a:solidFill>
            <a:prstDash val="solid"/>
            <a:miter lim="800000"/>
          </a:ln>
          <a:effectLst/>
        </p:spPr>
      </p:cxnSp>
      <p:sp>
        <p:nvSpPr>
          <p:cNvPr id="93" name="文本框 66"/>
          <p:cNvSpPr txBox="1"/>
          <p:nvPr/>
        </p:nvSpPr>
        <p:spPr>
          <a:xfrm>
            <a:off x="4257790" y="5297678"/>
            <a:ext cx="244603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现货库存数量金额（包括在制）</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94" name="文本框 66"/>
          <p:cNvSpPr txBox="1"/>
          <p:nvPr/>
        </p:nvSpPr>
        <p:spPr>
          <a:xfrm>
            <a:off x="4263881" y="5520267"/>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库龄分析（</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6</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个月以上）</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5" name="连接符: 肘形 94"/>
          <p:cNvCxnSpPr>
            <a:stCxn id="55" idx="4"/>
            <a:endCxn id="94" idx="1"/>
          </p:cNvCxnSpPr>
          <p:nvPr/>
        </p:nvCxnSpPr>
        <p:spPr>
          <a:xfrm rot="5400000" flipV="1">
            <a:off x="2388870" y="3782695"/>
            <a:ext cx="3568065" cy="182245"/>
          </a:xfrm>
          <a:prstGeom prst="bentConnector2">
            <a:avLst/>
          </a:prstGeom>
          <a:noFill/>
          <a:ln w="19050" cap="flat">
            <a:solidFill>
              <a:srgbClr val="009F9A"/>
            </a:solidFill>
            <a:prstDash val="solid"/>
            <a:miter lim="800000"/>
          </a:ln>
          <a:effectLst/>
        </p:spPr>
      </p:cxnSp>
      <p:sp>
        <p:nvSpPr>
          <p:cNvPr id="96" name="文本框 61"/>
          <p:cNvSpPr txBox="1"/>
          <p:nvPr>
            <p:custDataLst>
              <p:tags r:id="rId44"/>
            </p:custDataLst>
          </p:nvPr>
        </p:nvSpPr>
        <p:spPr>
          <a:xfrm>
            <a:off x="4247429" y="2072330"/>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月度要货计划</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97" name="文本框 61"/>
          <p:cNvSpPr txBox="1"/>
          <p:nvPr>
            <p:custDataLst>
              <p:tags r:id="rId45"/>
            </p:custDataLst>
          </p:nvPr>
        </p:nvSpPr>
        <p:spPr>
          <a:xfrm>
            <a:off x="4249420" y="2324589"/>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要货计划达成率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98" name="连接符: 肘形 97"/>
          <p:cNvCxnSpPr>
            <a:stCxn id="55" idx="4"/>
            <a:endCxn id="96" idx="1"/>
          </p:cNvCxnSpPr>
          <p:nvPr/>
        </p:nvCxnSpPr>
        <p:spPr>
          <a:xfrm rot="16200000" flipH="1">
            <a:off x="4104307" y="2067002"/>
            <a:ext cx="120261" cy="165983"/>
          </a:xfrm>
          <a:prstGeom prst="bentConnector2">
            <a:avLst/>
          </a:prstGeom>
          <a:noFill/>
          <a:ln w="19050" cap="flat">
            <a:solidFill>
              <a:srgbClr val="009F9A"/>
            </a:solidFill>
            <a:prstDash val="solid"/>
            <a:miter lim="800000"/>
          </a:ln>
          <a:effectLst/>
        </p:spPr>
      </p:cxnSp>
      <p:cxnSp>
        <p:nvCxnSpPr>
          <p:cNvPr id="99" name="连接符: 肘形 98"/>
          <p:cNvCxnSpPr>
            <a:stCxn id="55" idx="4"/>
            <a:endCxn id="97" idx="1"/>
          </p:cNvCxnSpPr>
          <p:nvPr/>
        </p:nvCxnSpPr>
        <p:spPr>
          <a:xfrm rot="16200000" flipH="1">
            <a:off x="3979173" y="2192137"/>
            <a:ext cx="372520" cy="167974"/>
          </a:xfrm>
          <a:prstGeom prst="bentConnector2">
            <a:avLst/>
          </a:prstGeom>
          <a:noFill/>
          <a:ln w="19050" cap="flat">
            <a:solidFill>
              <a:srgbClr val="009F9A"/>
            </a:solidFill>
            <a:prstDash val="solid"/>
            <a:miter lim="800000"/>
          </a:ln>
          <a:effectLst/>
        </p:spPr>
      </p:cxnSp>
      <p:cxnSp>
        <p:nvCxnSpPr>
          <p:cNvPr id="100" name="连接符: 肘形 99"/>
          <p:cNvCxnSpPr>
            <a:stCxn id="55" idx="4"/>
            <a:endCxn id="85" idx="1"/>
          </p:cNvCxnSpPr>
          <p:nvPr/>
        </p:nvCxnSpPr>
        <p:spPr>
          <a:xfrm rot="5400000" flipV="1">
            <a:off x="2260600" y="3910965"/>
            <a:ext cx="3820160" cy="177800"/>
          </a:xfrm>
          <a:prstGeom prst="bentConnector2">
            <a:avLst/>
          </a:prstGeom>
          <a:noFill/>
          <a:ln w="19050" cap="flat">
            <a:solidFill>
              <a:srgbClr val="009F9A"/>
            </a:solidFill>
            <a:prstDash val="solid"/>
            <a:miter lim="800000"/>
          </a:ln>
          <a:effectLst/>
        </p:spPr>
      </p:cxnSp>
      <p:cxnSp>
        <p:nvCxnSpPr>
          <p:cNvPr id="101" name="连接符: 肘形 100"/>
          <p:cNvCxnSpPr>
            <a:stCxn id="55" idx="4"/>
            <a:endCxn id="86" idx="1"/>
          </p:cNvCxnSpPr>
          <p:nvPr/>
        </p:nvCxnSpPr>
        <p:spPr>
          <a:xfrm rot="5400000" flipV="1">
            <a:off x="2065338" y="4106228"/>
            <a:ext cx="4189730" cy="156845"/>
          </a:xfrm>
          <a:prstGeom prst="bentConnector2">
            <a:avLst/>
          </a:prstGeom>
          <a:noFill/>
          <a:ln w="19050" cap="flat">
            <a:solidFill>
              <a:srgbClr val="009F9A"/>
            </a:solidFill>
            <a:prstDash val="solid"/>
            <a:miter lim="800000"/>
          </a:ln>
          <a:effectLst/>
        </p:spPr>
      </p:cxnSp>
      <p:sp>
        <p:nvSpPr>
          <p:cNvPr id="102" name="文本框 27"/>
          <p:cNvSpPr txBox="1"/>
          <p:nvPr>
            <p:custDataLst>
              <p:tags r:id="rId46"/>
            </p:custDataLst>
          </p:nvPr>
        </p:nvSpPr>
        <p:spPr>
          <a:xfrm>
            <a:off x="10484492" y="2549893"/>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应收账款余额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03" name="连接符: 肘形 102"/>
          <p:cNvCxnSpPr>
            <a:stCxn id="40" idx="4"/>
            <a:endCxn id="102" idx="1"/>
          </p:cNvCxnSpPr>
          <p:nvPr/>
        </p:nvCxnSpPr>
        <p:spPr>
          <a:xfrm rot="16200000" flipH="1">
            <a:off x="10090113" y="2293308"/>
            <a:ext cx="621113" cy="167646"/>
          </a:xfrm>
          <a:prstGeom prst="bentConnector2">
            <a:avLst/>
          </a:prstGeom>
          <a:noFill/>
          <a:ln w="19050" cap="flat">
            <a:solidFill>
              <a:srgbClr val="009F9A"/>
            </a:solidFill>
            <a:prstDash val="solid"/>
            <a:miter lim="800000"/>
          </a:ln>
          <a:effectLst/>
        </p:spPr>
      </p:cxnSp>
      <p:sp>
        <p:nvSpPr>
          <p:cNvPr id="104" name="文本框 27"/>
          <p:cNvSpPr txBox="1"/>
          <p:nvPr>
            <p:custDataLst>
              <p:tags r:id="rId47"/>
            </p:custDataLst>
          </p:nvPr>
        </p:nvSpPr>
        <p:spPr>
          <a:xfrm>
            <a:off x="8460543" y="2467459"/>
            <a:ext cx="7924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验收周期</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05" name="连接符: 肘形 104"/>
          <p:cNvCxnSpPr>
            <a:stCxn id="68" idx="4"/>
            <a:endCxn id="104" idx="1"/>
          </p:cNvCxnSpPr>
          <p:nvPr/>
        </p:nvCxnSpPr>
        <p:spPr>
          <a:xfrm rot="5400000" flipV="1">
            <a:off x="8099108" y="2243773"/>
            <a:ext cx="531495" cy="191770"/>
          </a:xfrm>
          <a:prstGeom prst="bentConnector2">
            <a:avLst/>
          </a:prstGeom>
          <a:noFill/>
          <a:ln w="19050" cap="flat">
            <a:solidFill>
              <a:srgbClr val="009F9A"/>
            </a:solidFill>
            <a:prstDash val="solid"/>
            <a:miter lim="800000"/>
          </a:ln>
          <a:effectLst/>
        </p:spPr>
      </p:cxnSp>
      <p:sp>
        <p:nvSpPr>
          <p:cNvPr id="106" name="文本框 29"/>
          <p:cNvSpPr txBox="1"/>
          <p:nvPr/>
        </p:nvSpPr>
        <p:spPr>
          <a:xfrm>
            <a:off x="6450128" y="3302205"/>
            <a:ext cx="146875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单位运费</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标品订单</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107" name="连接符: 肘形 106"/>
          <p:cNvCxnSpPr>
            <a:stCxn id="6" idx="4"/>
            <a:endCxn id="106" idx="1"/>
          </p:cNvCxnSpPr>
          <p:nvPr/>
        </p:nvCxnSpPr>
        <p:spPr>
          <a:xfrm rot="5400000" flipV="1">
            <a:off x="5687060" y="2676525"/>
            <a:ext cx="1350010" cy="176530"/>
          </a:xfrm>
          <a:prstGeom prst="bentConnector2">
            <a:avLst/>
          </a:prstGeom>
          <a:noFill/>
          <a:ln w="19050" cap="flat">
            <a:solidFill>
              <a:srgbClr val="009F9A"/>
            </a:solidFill>
            <a:prstDash val="solid"/>
            <a:miter lim="800000"/>
          </a:ln>
          <a:effectLst/>
        </p:spPr>
      </p:cxnSp>
      <p:sp>
        <p:nvSpPr>
          <p:cNvPr id="108" name="文本框 29"/>
          <p:cNvSpPr txBox="1"/>
          <p:nvPr/>
        </p:nvSpPr>
        <p:spPr>
          <a:xfrm>
            <a:off x="4270246" y="3172914"/>
            <a:ext cx="147383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产品开票数量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109" name="连接符: 肘形 108"/>
          <p:cNvCxnSpPr>
            <a:stCxn id="55" idx="4"/>
            <a:endCxn id="108" idx="1"/>
          </p:cNvCxnSpPr>
          <p:nvPr/>
        </p:nvCxnSpPr>
        <p:spPr>
          <a:xfrm rot="5400000" flipV="1">
            <a:off x="3565525" y="2606040"/>
            <a:ext cx="1221105" cy="188595"/>
          </a:xfrm>
          <a:prstGeom prst="bentConnector2">
            <a:avLst/>
          </a:prstGeom>
          <a:noFill/>
          <a:ln w="19050" cap="flat">
            <a:solidFill>
              <a:srgbClr val="009F9A"/>
            </a:solidFill>
            <a:prstDash val="solid"/>
            <a:miter lim="800000"/>
          </a:ln>
          <a:effectLst/>
        </p:spPr>
      </p:cxnSp>
      <p:sp>
        <p:nvSpPr>
          <p:cNvPr id="110" name="文本框 27"/>
          <p:cNvSpPr txBox="1"/>
          <p:nvPr>
            <p:custDataLst>
              <p:tags r:id="rId48"/>
            </p:custDataLst>
          </p:nvPr>
        </p:nvSpPr>
        <p:spPr>
          <a:xfrm>
            <a:off x="10513695" y="4645464"/>
            <a:ext cx="7924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授信金额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11" name="连接符: 肘形 110"/>
          <p:cNvCxnSpPr>
            <a:stCxn id="40" idx="4"/>
            <a:endCxn id="110" idx="1"/>
          </p:cNvCxnSpPr>
          <p:nvPr/>
        </p:nvCxnSpPr>
        <p:spPr>
          <a:xfrm rot="5400000" flipV="1">
            <a:off x="9057323" y="3327083"/>
            <a:ext cx="2716530" cy="196215"/>
          </a:xfrm>
          <a:prstGeom prst="bentConnector2">
            <a:avLst/>
          </a:prstGeom>
          <a:noFill/>
          <a:ln w="19050" cap="flat">
            <a:solidFill>
              <a:srgbClr val="009F9A"/>
            </a:solidFill>
            <a:prstDash val="solid"/>
            <a:miter lim="800000"/>
          </a:ln>
          <a:effectLst/>
        </p:spPr>
      </p:cxnSp>
      <p:sp>
        <p:nvSpPr>
          <p:cNvPr id="112" name="文本框 29"/>
          <p:cNvSpPr txBox="1"/>
          <p:nvPr>
            <p:custDataLst>
              <p:tags r:id="rId49"/>
            </p:custDataLst>
          </p:nvPr>
        </p:nvSpPr>
        <p:spPr>
          <a:xfrm>
            <a:off x="6451374" y="4410098"/>
            <a:ext cx="1447165" cy="460375"/>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物流资料的完整性</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（按签收单判断 ）</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113" name="连接符: 肘形 112"/>
          <p:cNvCxnSpPr>
            <a:stCxn id="6" idx="4"/>
            <a:endCxn id="112" idx="1"/>
          </p:cNvCxnSpPr>
          <p:nvPr/>
        </p:nvCxnSpPr>
        <p:spPr>
          <a:xfrm rot="5400000" flipV="1">
            <a:off x="5087303" y="3276283"/>
            <a:ext cx="2550795" cy="177800"/>
          </a:xfrm>
          <a:prstGeom prst="bentConnector2">
            <a:avLst/>
          </a:prstGeom>
          <a:noFill/>
          <a:ln w="19050" cap="flat">
            <a:solidFill>
              <a:srgbClr val="009F9A"/>
            </a:solidFill>
            <a:prstDash val="solid"/>
            <a:miter lim="800000"/>
          </a:ln>
          <a:effectLst/>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3</a:t>
            </a:r>
            <a:r>
              <a:rPr lang="zh-CN" altLang="en-US" kern="0" dirty="0">
                <a:solidFill>
                  <a:srgbClr val="000000"/>
                </a:solidFill>
                <a:cs typeface="Helvetica"/>
                <a:sym typeface="+mn-ea"/>
              </a:rPr>
              <a:t>、销售执行</a:t>
            </a:r>
            <a:r>
              <a:rPr lang="en-US" altLang="zh-CN" kern="0" dirty="0">
                <a:solidFill>
                  <a:srgbClr val="000000"/>
                </a:solidFill>
                <a:cs typeface="Helvetica"/>
                <a:sym typeface="+mn-ea"/>
              </a:rPr>
              <a:t>-</a:t>
            </a:r>
            <a:r>
              <a:rPr lang="zh-CN" altLang="en-US" kern="0" dirty="0">
                <a:solidFill>
                  <a:srgbClr val="000000"/>
                </a:solidFill>
                <a:cs typeface="Helvetica"/>
                <a:sym typeface="+mn-ea"/>
              </a:rPr>
              <a:t>履约收款（</a:t>
            </a:r>
            <a:r>
              <a:rPr lang="en-US" altLang="zh-CN" kern="0" dirty="0">
                <a:solidFill>
                  <a:srgbClr val="000000"/>
                </a:solidFill>
                <a:cs typeface="Helvetica"/>
                <a:sym typeface="+mn-ea"/>
              </a:rPr>
              <a:t>B2B</a:t>
            </a:r>
            <a:r>
              <a:rPr lang="zh-CN" altLang="en-US" kern="0" dirty="0">
                <a:solidFill>
                  <a:srgbClr val="000000"/>
                </a:solidFill>
                <a:cs typeface="Helvetica"/>
                <a:sym typeface="+mn-ea"/>
              </a:rPr>
              <a:t>场景）</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右箭头 1"/>
          <p:cNvSpPr/>
          <p:nvPr/>
        </p:nvSpPr>
        <p:spPr>
          <a:xfrm>
            <a:off x="445135" y="1688544"/>
            <a:ext cx="11343640" cy="360045"/>
          </a:xfrm>
          <a:prstGeom prst="rightArrow">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 name="椭圆 4"/>
          <p:cNvSpPr/>
          <p:nvPr/>
        </p:nvSpPr>
        <p:spPr>
          <a:xfrm>
            <a:off x="403106" y="1647499"/>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6" name="椭圆 5"/>
          <p:cNvSpPr/>
          <p:nvPr/>
        </p:nvSpPr>
        <p:spPr>
          <a:xfrm>
            <a:off x="6759550" y="1647499"/>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7" name="文本框 36"/>
          <p:cNvSpPr txBox="1"/>
          <p:nvPr/>
        </p:nvSpPr>
        <p:spPr>
          <a:xfrm>
            <a:off x="805015" y="3103383"/>
            <a:ext cx="151892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销售订单数量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 </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 name="肘形连接符 44"/>
          <p:cNvCxnSpPr>
            <a:stCxn id="5" idx="4"/>
            <a:endCxn id="22" idx="1"/>
          </p:cNvCxnSpPr>
          <p:nvPr/>
        </p:nvCxnSpPr>
        <p:spPr>
          <a:xfrm rot="5400000" flipV="1">
            <a:off x="321310" y="2393315"/>
            <a:ext cx="787400" cy="180340"/>
          </a:xfrm>
          <a:prstGeom prst="bentConnector2">
            <a:avLst/>
          </a:prstGeom>
          <a:noFill/>
          <a:ln w="19050" cap="flat" cmpd="sng" algn="ctr">
            <a:solidFill>
              <a:srgbClr val="009F9A"/>
            </a:solidFill>
            <a:prstDash val="solid"/>
            <a:miter lim="800000"/>
          </a:ln>
          <a:effectLst/>
        </p:spPr>
      </p:cxnSp>
      <p:cxnSp>
        <p:nvCxnSpPr>
          <p:cNvPr id="9" name="肘形连接符 45"/>
          <p:cNvCxnSpPr>
            <a:stCxn id="5" idx="4"/>
            <a:endCxn id="7" idx="1"/>
          </p:cNvCxnSpPr>
          <p:nvPr/>
        </p:nvCxnSpPr>
        <p:spPr>
          <a:xfrm rot="5400000" flipV="1">
            <a:off x="139383" y="2575243"/>
            <a:ext cx="1151255" cy="180340"/>
          </a:xfrm>
          <a:prstGeom prst="bentConnector2">
            <a:avLst/>
          </a:prstGeom>
          <a:noFill/>
          <a:ln w="19050" cap="flat" cmpd="sng" algn="ctr">
            <a:solidFill>
              <a:srgbClr val="009F9A"/>
            </a:solidFill>
            <a:prstDash val="solid"/>
            <a:miter lim="800000"/>
          </a:ln>
          <a:effectLst/>
        </p:spPr>
      </p:cxnSp>
      <p:cxnSp>
        <p:nvCxnSpPr>
          <p:cNvPr id="10" name="肘形连接符 23"/>
          <p:cNvCxnSpPr>
            <a:stCxn id="43" idx="4"/>
            <a:endCxn id="23" idx="1"/>
          </p:cNvCxnSpPr>
          <p:nvPr/>
        </p:nvCxnSpPr>
        <p:spPr>
          <a:xfrm rot="5400000" flipV="1">
            <a:off x="3012440" y="3159125"/>
            <a:ext cx="2316480" cy="177800"/>
          </a:xfrm>
          <a:prstGeom prst="bentConnector2">
            <a:avLst/>
          </a:prstGeom>
          <a:noFill/>
          <a:ln w="19050" cap="flat" cmpd="sng" algn="ctr">
            <a:solidFill>
              <a:srgbClr val="009F9A"/>
            </a:solidFill>
            <a:prstDash val="solid"/>
            <a:miter lim="800000"/>
          </a:ln>
          <a:effectLst/>
        </p:spPr>
      </p:cxnSp>
      <p:cxnSp>
        <p:nvCxnSpPr>
          <p:cNvPr id="11" name="肘形连接符 24"/>
          <p:cNvCxnSpPr>
            <a:stCxn id="43" idx="4"/>
            <a:endCxn id="24" idx="1"/>
          </p:cNvCxnSpPr>
          <p:nvPr/>
        </p:nvCxnSpPr>
        <p:spPr>
          <a:xfrm rot="5400000" flipV="1">
            <a:off x="3330893" y="2840673"/>
            <a:ext cx="1679575" cy="177800"/>
          </a:xfrm>
          <a:prstGeom prst="bentConnector2">
            <a:avLst/>
          </a:prstGeom>
          <a:noFill/>
          <a:ln w="19050" cap="flat" cmpd="sng" algn="ctr">
            <a:solidFill>
              <a:srgbClr val="009F9A"/>
            </a:solidFill>
            <a:prstDash val="solid"/>
            <a:miter lim="800000"/>
          </a:ln>
          <a:effectLst/>
        </p:spPr>
      </p:cxnSp>
      <p:sp>
        <p:nvSpPr>
          <p:cNvPr id="13" name="文本框 27"/>
          <p:cNvSpPr txBox="1"/>
          <p:nvPr/>
        </p:nvSpPr>
        <p:spPr>
          <a:xfrm>
            <a:off x="7158482" y="261269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物流费用金额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4" name="文本框 28"/>
          <p:cNvSpPr txBox="1"/>
          <p:nvPr/>
        </p:nvSpPr>
        <p:spPr>
          <a:xfrm>
            <a:off x="7158482" y="2207946"/>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订单发运及时率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5" name="肘形连接符 40"/>
          <p:cNvCxnSpPr>
            <a:endCxn id="13" idx="1"/>
          </p:cNvCxnSpPr>
          <p:nvPr/>
        </p:nvCxnSpPr>
        <p:spPr>
          <a:xfrm rot="16200000" flipH="1">
            <a:off x="6905831" y="2497274"/>
            <a:ext cx="323422" cy="181880"/>
          </a:xfrm>
          <a:prstGeom prst="bentConnector2">
            <a:avLst/>
          </a:prstGeom>
          <a:noFill/>
          <a:ln w="19050" cap="flat" cmpd="sng" algn="ctr">
            <a:solidFill>
              <a:srgbClr val="009F9A"/>
            </a:solidFill>
            <a:prstDash val="solid"/>
            <a:miter lim="800000"/>
          </a:ln>
          <a:effectLst/>
        </p:spPr>
      </p:cxnSp>
      <p:cxnSp>
        <p:nvCxnSpPr>
          <p:cNvPr id="16" name="肘形连接符 51"/>
          <p:cNvCxnSpPr>
            <a:stCxn id="6" idx="4"/>
            <a:endCxn id="14" idx="1"/>
          </p:cNvCxnSpPr>
          <p:nvPr/>
        </p:nvCxnSpPr>
        <p:spPr>
          <a:xfrm rot="16200000" flipH="1">
            <a:off x="6941674" y="2128932"/>
            <a:ext cx="255871" cy="177746"/>
          </a:xfrm>
          <a:prstGeom prst="bentConnector2">
            <a:avLst/>
          </a:prstGeom>
          <a:noFill/>
          <a:ln w="19050" cap="flat" cmpd="sng" algn="ctr">
            <a:solidFill>
              <a:srgbClr val="009F9A"/>
            </a:solidFill>
            <a:prstDash val="solid"/>
            <a:miter lim="800000"/>
          </a:ln>
          <a:effectLst/>
        </p:spPr>
      </p:cxnSp>
      <p:sp>
        <p:nvSpPr>
          <p:cNvPr id="17" name="文本框 4"/>
          <p:cNvSpPr txBox="1"/>
          <p:nvPr/>
        </p:nvSpPr>
        <p:spPr>
          <a:xfrm>
            <a:off x="72105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订单响应</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8" name="文本框 15"/>
          <p:cNvSpPr txBox="1"/>
          <p:nvPr/>
        </p:nvSpPr>
        <p:spPr>
          <a:xfrm>
            <a:off x="4211031" y="1432376"/>
            <a:ext cx="168275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订单履行</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产品发货</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9" name="文本框 16"/>
          <p:cNvSpPr txBox="1"/>
          <p:nvPr/>
        </p:nvSpPr>
        <p:spPr>
          <a:xfrm>
            <a:off x="7158438"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物流运输</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20" name="图形 19" descr="清单 轮廓"/>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4926" y="1674714"/>
            <a:ext cx="360000" cy="360000"/>
          </a:xfrm>
          <a:prstGeom prst="rect">
            <a:avLst/>
          </a:prstGeom>
        </p:spPr>
      </p:pic>
      <p:pic>
        <p:nvPicPr>
          <p:cNvPr id="21" name="图形 20" descr="自卸卡车 轮廓"/>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29848" y="1659474"/>
            <a:ext cx="360000" cy="360000"/>
          </a:xfrm>
          <a:prstGeom prst="rect">
            <a:avLst/>
          </a:prstGeom>
        </p:spPr>
      </p:pic>
      <p:sp>
        <p:nvSpPr>
          <p:cNvPr id="22" name="文本框 21"/>
          <p:cNvSpPr txBox="1"/>
          <p:nvPr/>
        </p:nvSpPr>
        <p:spPr>
          <a:xfrm>
            <a:off x="805015" y="2739543"/>
            <a:ext cx="17068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eaLnBrk="0" fontAlgn="base" hangingPunct="0">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订单打款财务审批时效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3" name="文本框 49"/>
          <p:cNvSpPr txBox="1"/>
          <p:nvPr>
            <p:custDataLst>
              <p:tags r:id="rId5"/>
            </p:custDataLst>
          </p:nvPr>
        </p:nvSpPr>
        <p:spPr>
          <a:xfrm>
            <a:off x="4259563" y="4268193"/>
            <a:ext cx="148790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物料齐套率及时率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4" name="文本框 49"/>
          <p:cNvSpPr txBox="1"/>
          <p:nvPr>
            <p:custDataLst>
              <p:tags r:id="rId6"/>
            </p:custDataLst>
          </p:nvPr>
        </p:nvSpPr>
        <p:spPr>
          <a:xfrm>
            <a:off x="4259563" y="3538891"/>
            <a:ext cx="1473835" cy="460375"/>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订单变更次数</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变更类型</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原因）</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5" name="文本框 29"/>
          <p:cNvSpPr txBox="1"/>
          <p:nvPr>
            <p:custDataLst>
              <p:tags r:id="rId7"/>
            </p:custDataLst>
          </p:nvPr>
        </p:nvSpPr>
        <p:spPr>
          <a:xfrm>
            <a:off x="7158482" y="3309090"/>
            <a:ext cx="1402080" cy="460375"/>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异常物流费用占比</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（异常运输方式）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26" name="文本框 29"/>
          <p:cNvSpPr txBox="1"/>
          <p:nvPr>
            <p:custDataLst>
              <p:tags r:id="rId8"/>
            </p:custDataLst>
          </p:nvPr>
        </p:nvSpPr>
        <p:spPr>
          <a:xfrm>
            <a:off x="7158482" y="3781530"/>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一次性费用占比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27" name="肘形连接符 52"/>
          <p:cNvCxnSpPr>
            <a:stCxn id="6" idx="4"/>
            <a:endCxn id="25" idx="1"/>
          </p:cNvCxnSpPr>
          <p:nvPr>
            <p:custDataLst>
              <p:tags r:id="rId9"/>
            </p:custDataLst>
          </p:nvPr>
        </p:nvCxnSpPr>
        <p:spPr>
          <a:xfrm rot="5400000" flipV="1">
            <a:off x="6344920" y="2726055"/>
            <a:ext cx="1449705" cy="177165"/>
          </a:xfrm>
          <a:prstGeom prst="bentConnector2">
            <a:avLst/>
          </a:prstGeom>
          <a:noFill/>
          <a:ln w="19050" cap="flat" cmpd="sng" algn="ctr">
            <a:solidFill>
              <a:srgbClr val="009F9A"/>
            </a:solidFill>
            <a:prstDash val="solid"/>
            <a:miter lim="800000"/>
          </a:ln>
          <a:effectLst/>
        </p:spPr>
      </p:cxnSp>
      <p:cxnSp>
        <p:nvCxnSpPr>
          <p:cNvPr id="28" name="肘形连接符 52"/>
          <p:cNvCxnSpPr>
            <a:stCxn id="6" idx="4"/>
            <a:endCxn id="26" idx="1"/>
          </p:cNvCxnSpPr>
          <p:nvPr>
            <p:custDataLst>
              <p:tags r:id="rId10"/>
            </p:custDataLst>
          </p:nvPr>
        </p:nvCxnSpPr>
        <p:spPr>
          <a:xfrm rot="5400000" flipV="1">
            <a:off x="6155055" y="2915920"/>
            <a:ext cx="1829435" cy="177165"/>
          </a:xfrm>
          <a:prstGeom prst="bentConnector2">
            <a:avLst/>
          </a:prstGeom>
          <a:noFill/>
          <a:ln w="19050" cap="flat" cmpd="sng" algn="ctr">
            <a:solidFill>
              <a:srgbClr val="009F9A"/>
            </a:solidFill>
            <a:prstDash val="solid"/>
            <a:miter lim="800000"/>
          </a:ln>
          <a:effectLst/>
        </p:spPr>
      </p:cxnSp>
      <p:sp>
        <p:nvSpPr>
          <p:cNvPr id="29" name="椭圆 28"/>
          <p:cNvSpPr/>
          <p:nvPr>
            <p:custDataLst>
              <p:tags r:id="rId11"/>
            </p:custDataLst>
          </p:nvPr>
        </p:nvSpPr>
        <p:spPr>
          <a:xfrm>
            <a:off x="10095660" y="1624204"/>
            <a:ext cx="442371" cy="442371"/>
          </a:xfrm>
          <a:prstGeom prst="ellipse">
            <a:avLst/>
          </a:prstGeom>
          <a:solidFill>
            <a:srgbClr val="009F9A"/>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30" name="图片 29" descr="收款"/>
          <p:cNvPicPr>
            <a:picLocks noChangeAspect="1"/>
          </p:cNvPicPr>
          <p:nvPr/>
        </p:nvPicPr>
        <p:blipFill>
          <a:blip r:embed="rId12"/>
          <a:stretch>
            <a:fillRect/>
          </a:stretch>
        </p:blipFill>
        <p:spPr>
          <a:xfrm>
            <a:off x="10153650" y="1671399"/>
            <a:ext cx="360045" cy="360045"/>
          </a:xfrm>
          <a:prstGeom prst="rect">
            <a:avLst/>
          </a:prstGeom>
        </p:spPr>
      </p:pic>
      <p:sp>
        <p:nvSpPr>
          <p:cNvPr id="31" name="文本框 17"/>
          <p:cNvSpPr txBox="1"/>
          <p:nvPr>
            <p:custDataLst>
              <p:tags r:id="rId13"/>
            </p:custDataLst>
          </p:nvPr>
        </p:nvSpPr>
        <p:spPr>
          <a:xfrm>
            <a:off x="1056362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销售回款</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2" name="文本框 27"/>
          <p:cNvSpPr txBox="1"/>
          <p:nvPr>
            <p:custDataLst>
              <p:tags r:id="rId14"/>
            </p:custDataLst>
          </p:nvPr>
        </p:nvSpPr>
        <p:spPr>
          <a:xfrm>
            <a:off x="10474115" y="2274757"/>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销售回款金额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33" name="肘形连接符 76"/>
          <p:cNvCxnSpPr>
            <a:stCxn id="29" idx="4"/>
            <a:endCxn id="32" idx="1"/>
          </p:cNvCxnSpPr>
          <p:nvPr>
            <p:custDataLst>
              <p:tags r:id="rId15"/>
            </p:custDataLst>
          </p:nvPr>
        </p:nvCxnSpPr>
        <p:spPr>
          <a:xfrm rot="5400000" flipV="1">
            <a:off x="10223183" y="2161223"/>
            <a:ext cx="345440" cy="156845"/>
          </a:xfrm>
          <a:prstGeom prst="bentConnector2">
            <a:avLst/>
          </a:prstGeom>
          <a:noFill/>
          <a:ln w="19050" cap="flat" cmpd="sng" algn="ctr">
            <a:solidFill>
              <a:srgbClr val="009F9A"/>
            </a:solidFill>
            <a:prstDash val="solid"/>
            <a:miter lim="800000"/>
          </a:ln>
          <a:effectLst/>
        </p:spPr>
      </p:cxnSp>
      <p:sp>
        <p:nvSpPr>
          <p:cNvPr id="34" name="文本框 27"/>
          <p:cNvSpPr txBox="1"/>
          <p:nvPr>
            <p:custDataLst>
              <p:tags r:id="rId16"/>
            </p:custDataLst>
          </p:nvPr>
        </p:nvSpPr>
        <p:spPr>
          <a:xfrm>
            <a:off x="10474115" y="4283365"/>
            <a:ext cx="9448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回款及时率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5" name="文本框 27"/>
          <p:cNvSpPr txBox="1"/>
          <p:nvPr>
            <p:custDataLst>
              <p:tags r:id="rId17"/>
            </p:custDataLst>
          </p:nvPr>
        </p:nvSpPr>
        <p:spPr>
          <a:xfrm>
            <a:off x="10474115" y="3811560"/>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应收账款账龄</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6" name="文本框 27"/>
          <p:cNvSpPr txBox="1"/>
          <p:nvPr>
            <p:custDataLst>
              <p:tags r:id="rId18"/>
            </p:custDataLst>
          </p:nvPr>
        </p:nvSpPr>
        <p:spPr>
          <a:xfrm>
            <a:off x="10474115" y="2895418"/>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应收账款周转天数</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7" name="文本框 27"/>
          <p:cNvSpPr txBox="1"/>
          <p:nvPr>
            <p:custDataLst>
              <p:tags r:id="rId19"/>
            </p:custDataLst>
          </p:nvPr>
        </p:nvSpPr>
        <p:spPr>
          <a:xfrm>
            <a:off x="10474115" y="333975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逾期应收账款</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38" name="肘形连接符 76"/>
          <p:cNvCxnSpPr>
            <a:stCxn id="29" idx="4"/>
            <a:endCxn id="36" idx="1"/>
          </p:cNvCxnSpPr>
          <p:nvPr>
            <p:custDataLst>
              <p:tags r:id="rId20"/>
            </p:custDataLst>
          </p:nvPr>
        </p:nvCxnSpPr>
        <p:spPr>
          <a:xfrm rot="5400000" flipV="1">
            <a:off x="9912668" y="2471738"/>
            <a:ext cx="966470" cy="156845"/>
          </a:xfrm>
          <a:prstGeom prst="bentConnector2">
            <a:avLst/>
          </a:prstGeom>
          <a:noFill/>
          <a:ln w="19050" cap="flat" cmpd="sng" algn="ctr">
            <a:solidFill>
              <a:srgbClr val="009F9A"/>
            </a:solidFill>
            <a:prstDash val="solid"/>
            <a:miter lim="800000"/>
          </a:ln>
          <a:effectLst/>
        </p:spPr>
      </p:cxnSp>
      <p:cxnSp>
        <p:nvCxnSpPr>
          <p:cNvPr id="39" name="肘形连接符 76"/>
          <p:cNvCxnSpPr>
            <a:stCxn id="29" idx="4"/>
            <a:endCxn id="37" idx="1"/>
          </p:cNvCxnSpPr>
          <p:nvPr>
            <p:custDataLst>
              <p:tags r:id="rId21"/>
            </p:custDataLst>
          </p:nvPr>
        </p:nvCxnSpPr>
        <p:spPr>
          <a:xfrm rot="5400000" flipV="1">
            <a:off x="9690735" y="2693670"/>
            <a:ext cx="1410335" cy="156845"/>
          </a:xfrm>
          <a:prstGeom prst="bentConnector2">
            <a:avLst/>
          </a:prstGeom>
          <a:noFill/>
          <a:ln w="19050" cap="flat" cmpd="sng" algn="ctr">
            <a:solidFill>
              <a:srgbClr val="009F9A"/>
            </a:solidFill>
            <a:prstDash val="solid"/>
            <a:miter lim="800000"/>
          </a:ln>
          <a:effectLst/>
        </p:spPr>
      </p:cxnSp>
      <p:cxnSp>
        <p:nvCxnSpPr>
          <p:cNvPr id="40" name="肘形连接符 76"/>
          <p:cNvCxnSpPr>
            <a:stCxn id="29" idx="4"/>
            <a:endCxn id="35" idx="1"/>
          </p:cNvCxnSpPr>
          <p:nvPr>
            <p:custDataLst>
              <p:tags r:id="rId22"/>
            </p:custDataLst>
          </p:nvPr>
        </p:nvCxnSpPr>
        <p:spPr>
          <a:xfrm rot="5400000" flipV="1">
            <a:off x="9454833" y="2929573"/>
            <a:ext cx="1882140" cy="156845"/>
          </a:xfrm>
          <a:prstGeom prst="bentConnector2">
            <a:avLst/>
          </a:prstGeom>
          <a:noFill/>
          <a:ln w="19050" cap="flat" cmpd="sng" algn="ctr">
            <a:solidFill>
              <a:srgbClr val="009F9A"/>
            </a:solidFill>
            <a:prstDash val="solid"/>
            <a:miter lim="800000"/>
          </a:ln>
          <a:effectLst/>
        </p:spPr>
      </p:cxnSp>
      <p:cxnSp>
        <p:nvCxnSpPr>
          <p:cNvPr id="41" name="肘形连接符 76"/>
          <p:cNvCxnSpPr>
            <a:stCxn id="29" idx="4"/>
            <a:endCxn id="34" idx="1"/>
          </p:cNvCxnSpPr>
          <p:nvPr>
            <p:custDataLst>
              <p:tags r:id="rId23"/>
            </p:custDataLst>
          </p:nvPr>
        </p:nvCxnSpPr>
        <p:spPr>
          <a:xfrm rot="5400000" flipV="1">
            <a:off x="9218930" y="3165475"/>
            <a:ext cx="2353945" cy="156845"/>
          </a:xfrm>
          <a:prstGeom prst="bentConnector2">
            <a:avLst/>
          </a:prstGeom>
          <a:noFill/>
          <a:ln w="19050" cap="flat" cmpd="sng" algn="ctr">
            <a:solidFill>
              <a:srgbClr val="009F9A"/>
            </a:solidFill>
            <a:prstDash val="solid"/>
            <a:miter lim="800000"/>
          </a:ln>
          <a:effectLst/>
        </p:spPr>
      </p:cxnSp>
      <p:grpSp>
        <p:nvGrpSpPr>
          <p:cNvPr id="42" name="组合 41"/>
          <p:cNvGrpSpPr/>
          <p:nvPr/>
        </p:nvGrpSpPr>
        <p:grpSpPr>
          <a:xfrm>
            <a:off x="3860148" y="1647269"/>
            <a:ext cx="441960" cy="441960"/>
            <a:chOff x="7547" y="2135"/>
            <a:chExt cx="696" cy="696"/>
          </a:xfrm>
          <a:solidFill>
            <a:srgbClr val="009F9A"/>
          </a:solidFill>
        </p:grpSpPr>
        <p:sp>
          <p:nvSpPr>
            <p:cNvPr id="43" name="椭圆 42"/>
            <p:cNvSpPr/>
            <p:nvPr/>
          </p:nvSpPr>
          <p:spPr>
            <a:xfrm>
              <a:off x="7547" y="2135"/>
              <a:ext cx="697" cy="697"/>
            </a:xfrm>
            <a:prstGeom prst="ellipse">
              <a:avLst/>
            </a:prstGeom>
            <a:grp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44" name="图形 43" descr="靶心 轮廓"/>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609" y="2200"/>
              <a:ext cx="567" cy="567"/>
            </a:xfrm>
            <a:prstGeom prst="rect">
              <a:avLst/>
            </a:prstGeom>
          </p:spPr>
        </p:pic>
      </p:grpSp>
      <p:sp>
        <p:nvSpPr>
          <p:cNvPr id="45" name="文本框 49"/>
          <p:cNvSpPr txBox="1"/>
          <p:nvPr>
            <p:custDataLst>
              <p:tags r:id="rId26"/>
            </p:custDataLst>
          </p:nvPr>
        </p:nvSpPr>
        <p:spPr>
          <a:xfrm>
            <a:off x="4259563" y="2611945"/>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已发货数量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46" name="肘形连接符 24"/>
          <p:cNvCxnSpPr>
            <a:stCxn id="44" idx="2"/>
            <a:endCxn id="45" idx="1"/>
          </p:cNvCxnSpPr>
          <p:nvPr>
            <p:custDataLst>
              <p:tags r:id="rId27"/>
            </p:custDataLst>
          </p:nvPr>
        </p:nvCxnSpPr>
        <p:spPr>
          <a:xfrm rot="5400000" flipV="1">
            <a:off x="3819208" y="2309178"/>
            <a:ext cx="701040" cy="179705"/>
          </a:xfrm>
          <a:prstGeom prst="bentConnector2">
            <a:avLst/>
          </a:prstGeom>
          <a:noFill/>
          <a:ln w="19050" cap="flat" cmpd="sng" algn="ctr">
            <a:solidFill>
              <a:srgbClr val="009F9A"/>
            </a:solidFill>
            <a:prstDash val="solid"/>
            <a:miter lim="800000"/>
          </a:ln>
          <a:effectLst/>
        </p:spPr>
      </p:cxnSp>
      <p:sp>
        <p:nvSpPr>
          <p:cNvPr id="47" name="文本框 46"/>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defRPr/>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核心价值：优化订单处理和收款流程，确保准确、及时地满足客户需求并回收款项，从而提高企业的订单物流交付能力和提升财务健康状况。</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48" name="文本框 49"/>
          <p:cNvSpPr txBox="1"/>
          <p:nvPr>
            <p:custDataLst>
              <p:tags r:id="rId28"/>
            </p:custDataLst>
          </p:nvPr>
        </p:nvSpPr>
        <p:spPr>
          <a:xfrm>
            <a:off x="4259562" y="2889056"/>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未发货数量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49" name="连接符: 肘形 48"/>
          <p:cNvCxnSpPr>
            <a:stCxn id="43" idx="4"/>
            <a:endCxn id="48" idx="1"/>
          </p:cNvCxnSpPr>
          <p:nvPr/>
        </p:nvCxnSpPr>
        <p:spPr>
          <a:xfrm rot="5400000" flipV="1">
            <a:off x="3702050" y="2469515"/>
            <a:ext cx="937260" cy="177800"/>
          </a:xfrm>
          <a:prstGeom prst="bentConnector2">
            <a:avLst/>
          </a:prstGeom>
          <a:noFill/>
          <a:ln w="19050" cap="flat" cmpd="sng" algn="ctr">
            <a:solidFill>
              <a:srgbClr val="009F9A"/>
            </a:solidFill>
            <a:prstDash val="solid"/>
            <a:miter lim="800000"/>
          </a:ln>
          <a:effectLst/>
        </p:spPr>
      </p:cxnSp>
      <p:sp>
        <p:nvSpPr>
          <p:cNvPr id="50" name="文本框 49"/>
          <p:cNvSpPr txBox="1"/>
          <p:nvPr>
            <p:custDataLst>
              <p:tags r:id="rId29"/>
            </p:custDataLst>
          </p:nvPr>
        </p:nvSpPr>
        <p:spPr>
          <a:xfrm>
            <a:off x="4251885" y="4593765"/>
            <a:ext cx="1349375"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生产交付及时率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51" name="连接符: 肘形 50"/>
          <p:cNvCxnSpPr>
            <a:stCxn id="43" idx="4"/>
            <a:endCxn id="50" idx="1"/>
          </p:cNvCxnSpPr>
          <p:nvPr/>
        </p:nvCxnSpPr>
        <p:spPr>
          <a:xfrm rot="16200000" flipH="1">
            <a:off x="2845817" y="3325492"/>
            <a:ext cx="2641696" cy="170439"/>
          </a:xfrm>
          <a:prstGeom prst="bentConnector2">
            <a:avLst/>
          </a:prstGeom>
          <a:noFill/>
          <a:ln w="19050" cap="flat" cmpd="sng" algn="ctr">
            <a:solidFill>
              <a:srgbClr val="009F9A"/>
            </a:solidFill>
            <a:prstDash val="solid"/>
            <a:miter lim="800000"/>
          </a:ln>
          <a:effectLst/>
        </p:spPr>
      </p:cxnSp>
      <p:sp>
        <p:nvSpPr>
          <p:cNvPr id="52" name="文本框 66"/>
          <p:cNvSpPr txBox="1"/>
          <p:nvPr/>
        </p:nvSpPr>
        <p:spPr>
          <a:xfrm>
            <a:off x="4251885" y="5016550"/>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最后一周集中交货占比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3" name="文本框 66"/>
          <p:cNvSpPr txBox="1"/>
          <p:nvPr/>
        </p:nvSpPr>
        <p:spPr>
          <a:xfrm>
            <a:off x="4238929" y="6049100"/>
            <a:ext cx="3505451" cy="460375"/>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客户借用订单逾期数量金额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（借用类型</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样品等）</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54" name="连接符: 肘形 53"/>
          <p:cNvCxnSpPr>
            <a:stCxn id="43" idx="4"/>
            <a:endCxn id="52" idx="1"/>
          </p:cNvCxnSpPr>
          <p:nvPr/>
        </p:nvCxnSpPr>
        <p:spPr>
          <a:xfrm rot="5400000" flipV="1">
            <a:off x="2634615" y="3536950"/>
            <a:ext cx="3064510" cy="170180"/>
          </a:xfrm>
          <a:prstGeom prst="bentConnector2">
            <a:avLst/>
          </a:prstGeom>
          <a:noFill/>
          <a:ln w="19050" cap="flat">
            <a:solidFill>
              <a:srgbClr val="009F9A"/>
            </a:solidFill>
            <a:prstDash val="solid"/>
            <a:miter lim="800000"/>
          </a:ln>
          <a:effectLst/>
        </p:spPr>
      </p:cxnSp>
      <p:sp>
        <p:nvSpPr>
          <p:cNvPr id="55" name="文本框 66"/>
          <p:cNvSpPr txBox="1"/>
          <p:nvPr/>
        </p:nvSpPr>
        <p:spPr>
          <a:xfrm>
            <a:off x="4257790" y="5297678"/>
            <a:ext cx="244603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现货库存数量金额（包括在制）</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6" name="文本框 66"/>
          <p:cNvSpPr txBox="1"/>
          <p:nvPr/>
        </p:nvSpPr>
        <p:spPr>
          <a:xfrm>
            <a:off x="4263881" y="5520267"/>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库龄分析（</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6</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个月以上）</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57" name="连接符: 肘形 56"/>
          <p:cNvCxnSpPr>
            <a:stCxn id="43" idx="4"/>
            <a:endCxn id="56" idx="1"/>
          </p:cNvCxnSpPr>
          <p:nvPr/>
        </p:nvCxnSpPr>
        <p:spPr>
          <a:xfrm rot="5400000" flipV="1">
            <a:off x="2388870" y="3782695"/>
            <a:ext cx="3568065" cy="182245"/>
          </a:xfrm>
          <a:prstGeom prst="bentConnector2">
            <a:avLst/>
          </a:prstGeom>
          <a:noFill/>
          <a:ln w="19050" cap="flat">
            <a:solidFill>
              <a:srgbClr val="009F9A"/>
            </a:solidFill>
            <a:prstDash val="solid"/>
            <a:miter lim="800000"/>
          </a:ln>
          <a:effectLst/>
        </p:spPr>
      </p:cxnSp>
      <p:sp>
        <p:nvSpPr>
          <p:cNvPr id="58" name="文本框 61"/>
          <p:cNvSpPr txBox="1"/>
          <p:nvPr>
            <p:custDataLst>
              <p:tags r:id="rId30"/>
            </p:custDataLst>
          </p:nvPr>
        </p:nvSpPr>
        <p:spPr>
          <a:xfrm>
            <a:off x="4247429" y="2072330"/>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月度要货计划</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9" name="文本框 61"/>
          <p:cNvSpPr txBox="1"/>
          <p:nvPr>
            <p:custDataLst>
              <p:tags r:id="rId31"/>
            </p:custDataLst>
          </p:nvPr>
        </p:nvSpPr>
        <p:spPr>
          <a:xfrm>
            <a:off x="4249420" y="2324589"/>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要货计划达成率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60" name="连接符: 肘形 59"/>
          <p:cNvCxnSpPr>
            <a:stCxn id="43" idx="4"/>
            <a:endCxn id="58" idx="1"/>
          </p:cNvCxnSpPr>
          <p:nvPr/>
        </p:nvCxnSpPr>
        <p:spPr>
          <a:xfrm rot="16200000" flipH="1">
            <a:off x="4104307" y="2067002"/>
            <a:ext cx="120261" cy="165983"/>
          </a:xfrm>
          <a:prstGeom prst="bentConnector2">
            <a:avLst/>
          </a:prstGeom>
          <a:noFill/>
          <a:ln w="19050" cap="flat">
            <a:solidFill>
              <a:srgbClr val="009F9A"/>
            </a:solidFill>
            <a:prstDash val="solid"/>
            <a:miter lim="800000"/>
          </a:ln>
          <a:effectLst/>
        </p:spPr>
      </p:cxnSp>
      <p:cxnSp>
        <p:nvCxnSpPr>
          <p:cNvPr id="61" name="连接符: 肘形 60"/>
          <p:cNvCxnSpPr>
            <a:stCxn id="43" idx="4"/>
            <a:endCxn id="59" idx="1"/>
          </p:cNvCxnSpPr>
          <p:nvPr/>
        </p:nvCxnSpPr>
        <p:spPr>
          <a:xfrm rot="16200000" flipH="1">
            <a:off x="3979173" y="2192137"/>
            <a:ext cx="372520" cy="167974"/>
          </a:xfrm>
          <a:prstGeom prst="bentConnector2">
            <a:avLst/>
          </a:prstGeom>
          <a:noFill/>
          <a:ln w="19050" cap="flat">
            <a:solidFill>
              <a:srgbClr val="009F9A"/>
            </a:solidFill>
            <a:prstDash val="solid"/>
            <a:miter lim="800000"/>
          </a:ln>
          <a:effectLst/>
        </p:spPr>
      </p:cxnSp>
      <p:cxnSp>
        <p:nvCxnSpPr>
          <p:cNvPr id="62" name="连接符: 肘形 61"/>
          <p:cNvCxnSpPr>
            <a:stCxn id="43" idx="4"/>
            <a:endCxn id="53" idx="1"/>
          </p:cNvCxnSpPr>
          <p:nvPr/>
        </p:nvCxnSpPr>
        <p:spPr>
          <a:xfrm rot="5400000" flipV="1">
            <a:off x="2065338" y="4106228"/>
            <a:ext cx="4189730" cy="156845"/>
          </a:xfrm>
          <a:prstGeom prst="bentConnector2">
            <a:avLst/>
          </a:prstGeom>
          <a:noFill/>
          <a:ln w="19050" cap="flat">
            <a:solidFill>
              <a:srgbClr val="009F9A"/>
            </a:solidFill>
            <a:prstDash val="solid"/>
            <a:miter lim="800000"/>
          </a:ln>
          <a:effectLst/>
        </p:spPr>
      </p:cxnSp>
      <p:sp>
        <p:nvSpPr>
          <p:cNvPr id="63" name="文本框 27"/>
          <p:cNvSpPr txBox="1"/>
          <p:nvPr>
            <p:custDataLst>
              <p:tags r:id="rId32"/>
            </p:custDataLst>
          </p:nvPr>
        </p:nvSpPr>
        <p:spPr>
          <a:xfrm>
            <a:off x="10484492" y="2549893"/>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应收账款余额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4" name="连接符: 肘形 63"/>
          <p:cNvCxnSpPr>
            <a:stCxn id="29" idx="4"/>
            <a:endCxn id="63" idx="1"/>
          </p:cNvCxnSpPr>
          <p:nvPr/>
        </p:nvCxnSpPr>
        <p:spPr>
          <a:xfrm rot="16200000" flipH="1">
            <a:off x="10090113" y="2293308"/>
            <a:ext cx="621113" cy="167646"/>
          </a:xfrm>
          <a:prstGeom prst="bentConnector2">
            <a:avLst/>
          </a:prstGeom>
          <a:noFill/>
          <a:ln w="19050" cap="flat">
            <a:solidFill>
              <a:srgbClr val="009F9A"/>
            </a:solidFill>
            <a:prstDash val="solid"/>
            <a:miter lim="800000"/>
          </a:ln>
          <a:effectLst/>
        </p:spPr>
      </p:cxnSp>
      <p:sp>
        <p:nvSpPr>
          <p:cNvPr id="65" name="文本框 29"/>
          <p:cNvSpPr txBox="1"/>
          <p:nvPr/>
        </p:nvSpPr>
        <p:spPr>
          <a:xfrm>
            <a:off x="7157192" y="2988548"/>
            <a:ext cx="146875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单位运费</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标品订单</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66" name="连接符: 肘形 65"/>
          <p:cNvCxnSpPr>
            <a:stCxn id="6" idx="4"/>
            <a:endCxn id="65" idx="1"/>
          </p:cNvCxnSpPr>
          <p:nvPr/>
        </p:nvCxnSpPr>
        <p:spPr>
          <a:xfrm rot="5400000" flipV="1">
            <a:off x="6550978" y="2519998"/>
            <a:ext cx="1036320" cy="175895"/>
          </a:xfrm>
          <a:prstGeom prst="bentConnector2">
            <a:avLst/>
          </a:prstGeom>
          <a:noFill/>
          <a:ln w="19050" cap="flat">
            <a:solidFill>
              <a:srgbClr val="009F9A"/>
            </a:solidFill>
            <a:prstDash val="solid"/>
            <a:miter lim="800000"/>
          </a:ln>
          <a:effectLst/>
        </p:spPr>
      </p:cxnSp>
      <p:sp>
        <p:nvSpPr>
          <p:cNvPr id="67" name="文本框 29"/>
          <p:cNvSpPr txBox="1"/>
          <p:nvPr/>
        </p:nvSpPr>
        <p:spPr>
          <a:xfrm>
            <a:off x="4270246" y="3172914"/>
            <a:ext cx="147383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产品开票数量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68" name="连接符: 肘形 67"/>
          <p:cNvCxnSpPr>
            <a:stCxn id="43" idx="4"/>
            <a:endCxn id="67" idx="1"/>
          </p:cNvCxnSpPr>
          <p:nvPr/>
        </p:nvCxnSpPr>
        <p:spPr>
          <a:xfrm rot="5400000" flipV="1">
            <a:off x="3565525" y="2606040"/>
            <a:ext cx="1221105" cy="188595"/>
          </a:xfrm>
          <a:prstGeom prst="bentConnector2">
            <a:avLst/>
          </a:prstGeom>
          <a:noFill/>
          <a:ln w="19050" cap="flat">
            <a:solidFill>
              <a:srgbClr val="009F9A"/>
            </a:solidFill>
            <a:prstDash val="solid"/>
            <a:miter lim="800000"/>
          </a:ln>
          <a:effectLst/>
        </p:spPr>
      </p:cxnSp>
      <p:sp>
        <p:nvSpPr>
          <p:cNvPr id="69" name="文本框 27"/>
          <p:cNvSpPr txBox="1"/>
          <p:nvPr>
            <p:custDataLst>
              <p:tags r:id="rId33"/>
            </p:custDataLst>
          </p:nvPr>
        </p:nvSpPr>
        <p:spPr>
          <a:xfrm>
            <a:off x="10513695" y="4645464"/>
            <a:ext cx="7924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授信金额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0" name="连接符: 肘形 69"/>
          <p:cNvCxnSpPr/>
          <p:nvPr/>
        </p:nvCxnSpPr>
        <p:spPr>
          <a:xfrm rot="16200000" flipH="1">
            <a:off x="9035637" y="3325508"/>
            <a:ext cx="2751815" cy="180022"/>
          </a:xfrm>
          <a:prstGeom prst="bentConnector2">
            <a:avLst/>
          </a:prstGeom>
          <a:noFill/>
          <a:ln w="19050" cap="flat">
            <a:solidFill>
              <a:srgbClr val="009F9A"/>
            </a:solidFill>
            <a:prstDash val="solid"/>
            <a:miter lim="800000"/>
          </a:ln>
          <a:effectLst/>
        </p:spPr>
      </p:cxnSp>
      <p:sp>
        <p:nvSpPr>
          <p:cNvPr id="71" name="文本框 29"/>
          <p:cNvSpPr txBox="1"/>
          <p:nvPr>
            <p:custDataLst>
              <p:tags r:id="rId34"/>
            </p:custDataLst>
          </p:nvPr>
        </p:nvSpPr>
        <p:spPr>
          <a:xfrm>
            <a:off x="7158438" y="4096441"/>
            <a:ext cx="1447165" cy="460375"/>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物流资料的完整性</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（按签收单判断 ）</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72" name="连接符: 肘形 71"/>
          <p:cNvCxnSpPr>
            <a:stCxn id="6" idx="4"/>
            <a:endCxn id="71" idx="1"/>
          </p:cNvCxnSpPr>
          <p:nvPr/>
        </p:nvCxnSpPr>
        <p:spPr>
          <a:xfrm rot="5400000" flipV="1">
            <a:off x="5951220" y="3119755"/>
            <a:ext cx="2237105" cy="177165"/>
          </a:xfrm>
          <a:prstGeom prst="bentConnector2">
            <a:avLst/>
          </a:prstGeom>
          <a:noFill/>
          <a:ln w="19050" cap="flat">
            <a:solidFill>
              <a:srgbClr val="009F9A"/>
            </a:solidFill>
            <a:prstDash val="solid"/>
            <a:miter lim="800000"/>
          </a:ln>
          <a:effec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4</a:t>
            </a:r>
            <a:r>
              <a:rPr lang="zh-CN" altLang="en-US" kern="0" dirty="0">
                <a:solidFill>
                  <a:srgbClr val="000000"/>
                </a:solidFill>
                <a:cs typeface="Helvetica"/>
                <a:sym typeface="+mn-ea"/>
              </a:rPr>
              <a:t>、服务满意</a:t>
            </a:r>
            <a:r>
              <a:rPr lang="en-US" altLang="zh-CN" kern="0" dirty="0">
                <a:solidFill>
                  <a:srgbClr val="000000"/>
                </a:solidFill>
                <a:cs typeface="Helvetica"/>
                <a:sym typeface="+mn-ea"/>
              </a:rPr>
              <a:t>ITR</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文本框 3"/>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系统化地识别、分析服务响应与效率、服务质量与成本、客户关系维护三个维度，全方位响应和解决客户问题，以提升客户满意度、减少退货率，并增强企业的市场响应能力、品牌净推荐率以及客户粘性。</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5" name="Straight Connector 9"/>
          <p:cNvCxnSpPr/>
          <p:nvPr/>
        </p:nvCxnSpPr>
        <p:spPr>
          <a:xfrm>
            <a:off x="1621394" y="3775076"/>
            <a:ext cx="1706597" cy="0"/>
          </a:xfrm>
          <a:prstGeom prst="line">
            <a:avLst/>
          </a:prstGeom>
          <a:noFill/>
          <a:ln w="25400" cap="rnd" cmpd="sng" algn="ctr">
            <a:solidFill>
              <a:srgbClr val="009F9A"/>
            </a:solidFill>
            <a:prstDash val="solid"/>
            <a:miter lim="800000"/>
          </a:ln>
          <a:effectLst/>
        </p:spPr>
      </p:cxnSp>
      <p:sp>
        <p:nvSpPr>
          <p:cNvPr id="6" name="TextBox 10"/>
          <p:cNvSpPr txBox="1"/>
          <p:nvPr/>
        </p:nvSpPr>
        <p:spPr>
          <a:xfrm>
            <a:off x="1525589" y="3438648"/>
            <a:ext cx="1879383"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1</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、售后服务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 name="Straight Connector 17"/>
          <p:cNvCxnSpPr/>
          <p:nvPr/>
        </p:nvCxnSpPr>
        <p:spPr>
          <a:xfrm>
            <a:off x="5294746" y="5550919"/>
            <a:ext cx="1627480" cy="0"/>
          </a:xfrm>
          <a:prstGeom prst="line">
            <a:avLst/>
          </a:prstGeom>
          <a:noFill/>
          <a:ln w="25400" cap="rnd" cmpd="sng" algn="ctr">
            <a:solidFill>
              <a:srgbClr val="009F9A"/>
            </a:solidFill>
            <a:prstDash val="solid"/>
            <a:miter lim="800000"/>
          </a:ln>
          <a:effectLst/>
        </p:spPr>
      </p:cxnSp>
      <p:sp>
        <p:nvSpPr>
          <p:cNvPr id="8" name="TextBox 18"/>
          <p:cNvSpPr txBox="1"/>
          <p:nvPr/>
        </p:nvSpPr>
        <p:spPr>
          <a:xfrm>
            <a:off x="5236871" y="5203787"/>
            <a:ext cx="1678978"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3</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、客户关系维护</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9" name="TextBox 26"/>
          <p:cNvSpPr txBox="1"/>
          <p:nvPr/>
        </p:nvSpPr>
        <p:spPr>
          <a:xfrm>
            <a:off x="9189595" y="3473157"/>
            <a:ext cx="1830705"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2</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、客诉服务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10" name="Freeform 566"/>
          <p:cNvSpPr/>
          <p:nvPr/>
        </p:nvSpPr>
        <p:spPr bwMode="auto">
          <a:xfrm>
            <a:off x="9310689" y="2200276"/>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1" name="Freeform 567"/>
          <p:cNvSpPr/>
          <p:nvPr/>
        </p:nvSpPr>
        <p:spPr bwMode="auto">
          <a:xfrm>
            <a:off x="1525589" y="2200276"/>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2" name="Freeform 568"/>
          <p:cNvSpPr/>
          <p:nvPr/>
        </p:nvSpPr>
        <p:spPr bwMode="auto">
          <a:xfrm>
            <a:off x="7705727" y="2952751"/>
            <a:ext cx="1604963" cy="993775"/>
          </a:xfrm>
          <a:custGeom>
            <a:avLst/>
            <a:gdLst>
              <a:gd name="T0" fmla="*/ 0 w 1011"/>
              <a:gd name="T1" fmla="*/ 626 h 626"/>
              <a:gd name="T2" fmla="*/ 1011 w 1011"/>
              <a:gd name="T3" fmla="*/ 64 h 626"/>
              <a:gd name="T4" fmla="*/ 1011 w 1011"/>
              <a:gd name="T5" fmla="*/ 0 h 626"/>
              <a:gd name="T6" fmla="*/ 0 w 1011"/>
              <a:gd name="T7" fmla="*/ 562 h 626"/>
              <a:gd name="T8" fmla="*/ 0 w 1011"/>
              <a:gd name="T9" fmla="*/ 626 h 626"/>
            </a:gdLst>
            <a:ahLst/>
            <a:cxnLst>
              <a:cxn ang="0">
                <a:pos x="T0" y="T1"/>
              </a:cxn>
              <a:cxn ang="0">
                <a:pos x="T2" y="T3"/>
              </a:cxn>
              <a:cxn ang="0">
                <a:pos x="T4" y="T5"/>
              </a:cxn>
              <a:cxn ang="0">
                <a:pos x="T6" y="T7"/>
              </a:cxn>
              <a:cxn ang="0">
                <a:pos x="T8" y="T9"/>
              </a:cxn>
            </a:cxnLst>
            <a:rect l="0" t="0" r="r" b="b"/>
            <a:pathLst>
              <a:path w="1011" h="626">
                <a:moveTo>
                  <a:pt x="0" y="626"/>
                </a:moveTo>
                <a:lnTo>
                  <a:pt x="1011" y="64"/>
                </a:lnTo>
                <a:lnTo>
                  <a:pt x="1011" y="0"/>
                </a:lnTo>
                <a:lnTo>
                  <a:pt x="0" y="562"/>
                </a:lnTo>
                <a:lnTo>
                  <a:pt x="0" y="626"/>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3" name="Freeform 569"/>
          <p:cNvSpPr/>
          <p:nvPr/>
        </p:nvSpPr>
        <p:spPr bwMode="auto">
          <a:xfrm>
            <a:off x="2881314" y="2952750"/>
            <a:ext cx="1604963" cy="996950"/>
          </a:xfrm>
          <a:custGeom>
            <a:avLst/>
            <a:gdLst>
              <a:gd name="T0" fmla="*/ 0 w 1011"/>
              <a:gd name="T1" fmla="*/ 0 h 628"/>
              <a:gd name="T2" fmla="*/ 0 w 1011"/>
              <a:gd name="T3" fmla="*/ 64 h 628"/>
              <a:gd name="T4" fmla="*/ 1011 w 1011"/>
              <a:gd name="T5" fmla="*/ 628 h 628"/>
              <a:gd name="T6" fmla="*/ 1011 w 1011"/>
              <a:gd name="T7" fmla="*/ 564 h 628"/>
              <a:gd name="T8" fmla="*/ 0 w 1011"/>
              <a:gd name="T9" fmla="*/ 0 h 628"/>
            </a:gdLst>
            <a:ahLst/>
            <a:cxnLst>
              <a:cxn ang="0">
                <a:pos x="T0" y="T1"/>
              </a:cxn>
              <a:cxn ang="0">
                <a:pos x="T2" y="T3"/>
              </a:cxn>
              <a:cxn ang="0">
                <a:pos x="T4" y="T5"/>
              </a:cxn>
              <a:cxn ang="0">
                <a:pos x="T6" y="T7"/>
              </a:cxn>
              <a:cxn ang="0">
                <a:pos x="T8" y="T9"/>
              </a:cxn>
            </a:cxnLst>
            <a:rect l="0" t="0" r="r" b="b"/>
            <a:pathLst>
              <a:path w="1011" h="628">
                <a:moveTo>
                  <a:pt x="0" y="0"/>
                </a:moveTo>
                <a:lnTo>
                  <a:pt x="0" y="64"/>
                </a:lnTo>
                <a:lnTo>
                  <a:pt x="1011" y="628"/>
                </a:lnTo>
                <a:lnTo>
                  <a:pt x="1011" y="56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4" name="Freeform 570"/>
          <p:cNvSpPr/>
          <p:nvPr/>
        </p:nvSpPr>
        <p:spPr bwMode="auto">
          <a:xfrm>
            <a:off x="4486277" y="3848101"/>
            <a:ext cx="1609725" cy="993775"/>
          </a:xfrm>
          <a:custGeom>
            <a:avLst/>
            <a:gdLst>
              <a:gd name="T0" fmla="*/ 1014 w 1014"/>
              <a:gd name="T1" fmla="*/ 562 h 626"/>
              <a:gd name="T2" fmla="*/ 0 w 1014"/>
              <a:gd name="T3" fmla="*/ 0 h 626"/>
              <a:gd name="T4" fmla="*/ 0 w 1014"/>
              <a:gd name="T5" fmla="*/ 64 h 626"/>
              <a:gd name="T6" fmla="*/ 1014 w 1014"/>
              <a:gd name="T7" fmla="*/ 626 h 626"/>
              <a:gd name="T8" fmla="*/ 1014 w 1014"/>
              <a:gd name="T9" fmla="*/ 626 h 626"/>
              <a:gd name="T10" fmla="*/ 1014 w 1014"/>
              <a:gd name="T11" fmla="*/ 562 h 626"/>
              <a:gd name="T12" fmla="*/ 1014 w 1014"/>
              <a:gd name="T13" fmla="*/ 562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562"/>
                </a:moveTo>
                <a:lnTo>
                  <a:pt x="0" y="0"/>
                </a:lnTo>
                <a:lnTo>
                  <a:pt x="0" y="64"/>
                </a:lnTo>
                <a:lnTo>
                  <a:pt x="1014" y="626"/>
                </a:lnTo>
                <a:lnTo>
                  <a:pt x="1014" y="626"/>
                </a:lnTo>
                <a:lnTo>
                  <a:pt x="1014" y="562"/>
                </a:lnTo>
                <a:lnTo>
                  <a:pt x="1014" y="562"/>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5" name="Freeform 571"/>
          <p:cNvSpPr/>
          <p:nvPr/>
        </p:nvSpPr>
        <p:spPr bwMode="auto">
          <a:xfrm>
            <a:off x="6096002" y="3844925"/>
            <a:ext cx="1609725" cy="996950"/>
          </a:xfrm>
          <a:custGeom>
            <a:avLst/>
            <a:gdLst>
              <a:gd name="T0" fmla="*/ 0 w 1014"/>
              <a:gd name="T1" fmla="*/ 564 h 628"/>
              <a:gd name="T2" fmla="*/ 0 w 1014"/>
              <a:gd name="T3" fmla="*/ 628 h 628"/>
              <a:gd name="T4" fmla="*/ 1014 w 1014"/>
              <a:gd name="T5" fmla="*/ 64 h 628"/>
              <a:gd name="T6" fmla="*/ 1014 w 1014"/>
              <a:gd name="T7" fmla="*/ 0 h 628"/>
              <a:gd name="T8" fmla="*/ 0 w 1014"/>
              <a:gd name="T9" fmla="*/ 564 h 628"/>
            </a:gdLst>
            <a:ahLst/>
            <a:cxnLst>
              <a:cxn ang="0">
                <a:pos x="T0" y="T1"/>
              </a:cxn>
              <a:cxn ang="0">
                <a:pos x="T2" y="T3"/>
              </a:cxn>
              <a:cxn ang="0">
                <a:pos x="T4" y="T5"/>
              </a:cxn>
              <a:cxn ang="0">
                <a:pos x="T6" y="T7"/>
              </a:cxn>
              <a:cxn ang="0">
                <a:pos x="T8" y="T9"/>
              </a:cxn>
            </a:cxnLst>
            <a:rect l="0" t="0" r="r" b="b"/>
            <a:pathLst>
              <a:path w="1014" h="628">
                <a:moveTo>
                  <a:pt x="0" y="564"/>
                </a:moveTo>
                <a:lnTo>
                  <a:pt x="0" y="628"/>
                </a:lnTo>
                <a:lnTo>
                  <a:pt x="1014" y="64"/>
                </a:lnTo>
                <a:lnTo>
                  <a:pt x="1014" y="0"/>
                </a:lnTo>
                <a:lnTo>
                  <a:pt x="0" y="5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6" name="Freeform 572"/>
          <p:cNvSpPr/>
          <p:nvPr/>
        </p:nvSpPr>
        <p:spPr bwMode="auto">
          <a:xfrm>
            <a:off x="7705727" y="2606675"/>
            <a:ext cx="1604963" cy="996950"/>
          </a:xfrm>
          <a:custGeom>
            <a:avLst/>
            <a:gdLst>
              <a:gd name="T0" fmla="*/ 1011 w 1011"/>
              <a:gd name="T1" fmla="*/ 64 h 628"/>
              <a:gd name="T2" fmla="*/ 1011 w 1011"/>
              <a:gd name="T3" fmla="*/ 0 h 628"/>
              <a:gd name="T4" fmla="*/ 0 w 1011"/>
              <a:gd name="T5" fmla="*/ 564 h 628"/>
              <a:gd name="T6" fmla="*/ 0 w 1011"/>
              <a:gd name="T7" fmla="*/ 628 h 628"/>
              <a:gd name="T8" fmla="*/ 1011 w 1011"/>
              <a:gd name="T9" fmla="*/ 64 h 628"/>
            </a:gdLst>
            <a:ahLst/>
            <a:cxnLst>
              <a:cxn ang="0">
                <a:pos x="T0" y="T1"/>
              </a:cxn>
              <a:cxn ang="0">
                <a:pos x="T2" y="T3"/>
              </a:cxn>
              <a:cxn ang="0">
                <a:pos x="T4" y="T5"/>
              </a:cxn>
              <a:cxn ang="0">
                <a:pos x="T6" y="T7"/>
              </a:cxn>
              <a:cxn ang="0">
                <a:pos x="T8" y="T9"/>
              </a:cxn>
            </a:cxnLst>
            <a:rect l="0" t="0" r="r" b="b"/>
            <a:pathLst>
              <a:path w="1011" h="628">
                <a:moveTo>
                  <a:pt x="1011" y="64"/>
                </a:moveTo>
                <a:lnTo>
                  <a:pt x="1011" y="0"/>
                </a:lnTo>
                <a:lnTo>
                  <a:pt x="0" y="564"/>
                </a:lnTo>
                <a:lnTo>
                  <a:pt x="0" y="628"/>
                </a:lnTo>
                <a:lnTo>
                  <a:pt x="1011"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7" name="Freeform 573"/>
          <p:cNvSpPr/>
          <p:nvPr/>
        </p:nvSpPr>
        <p:spPr bwMode="auto">
          <a:xfrm>
            <a:off x="9310689" y="1854201"/>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8" name="Freeform 574"/>
          <p:cNvSpPr/>
          <p:nvPr/>
        </p:nvSpPr>
        <p:spPr bwMode="auto">
          <a:xfrm>
            <a:off x="4486277" y="3502026"/>
            <a:ext cx="1609725" cy="993775"/>
          </a:xfrm>
          <a:custGeom>
            <a:avLst/>
            <a:gdLst>
              <a:gd name="T0" fmla="*/ 1014 w 1014"/>
              <a:gd name="T1" fmla="*/ 626 h 626"/>
              <a:gd name="T2" fmla="*/ 1014 w 1014"/>
              <a:gd name="T3" fmla="*/ 626 h 626"/>
              <a:gd name="T4" fmla="*/ 1014 w 1014"/>
              <a:gd name="T5" fmla="*/ 562 h 626"/>
              <a:gd name="T6" fmla="*/ 1014 w 1014"/>
              <a:gd name="T7" fmla="*/ 562 h 626"/>
              <a:gd name="T8" fmla="*/ 0 w 1014"/>
              <a:gd name="T9" fmla="*/ 0 h 626"/>
              <a:gd name="T10" fmla="*/ 0 w 1014"/>
              <a:gd name="T11" fmla="*/ 64 h 626"/>
              <a:gd name="T12" fmla="*/ 1014 w 1014"/>
              <a:gd name="T13" fmla="*/ 626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626"/>
                </a:moveTo>
                <a:lnTo>
                  <a:pt x="1014" y="626"/>
                </a:lnTo>
                <a:lnTo>
                  <a:pt x="1014" y="562"/>
                </a:lnTo>
                <a:lnTo>
                  <a:pt x="1014" y="562"/>
                </a:lnTo>
                <a:lnTo>
                  <a:pt x="0" y="0"/>
                </a:lnTo>
                <a:lnTo>
                  <a:pt x="0" y="64"/>
                </a:lnTo>
                <a:lnTo>
                  <a:pt x="1014" y="626"/>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9" name="Freeform 575"/>
          <p:cNvSpPr/>
          <p:nvPr/>
        </p:nvSpPr>
        <p:spPr bwMode="auto">
          <a:xfrm>
            <a:off x="1525589" y="1854201"/>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0" name="Freeform 576"/>
          <p:cNvSpPr/>
          <p:nvPr/>
        </p:nvSpPr>
        <p:spPr bwMode="auto">
          <a:xfrm>
            <a:off x="6096002" y="3502026"/>
            <a:ext cx="1609725" cy="993775"/>
          </a:xfrm>
          <a:custGeom>
            <a:avLst/>
            <a:gdLst>
              <a:gd name="T0" fmla="*/ 1014 w 1014"/>
              <a:gd name="T1" fmla="*/ 64 h 626"/>
              <a:gd name="T2" fmla="*/ 1014 w 1014"/>
              <a:gd name="T3" fmla="*/ 0 h 626"/>
              <a:gd name="T4" fmla="*/ 0 w 1014"/>
              <a:gd name="T5" fmla="*/ 562 h 626"/>
              <a:gd name="T6" fmla="*/ 0 w 1014"/>
              <a:gd name="T7" fmla="*/ 626 h 626"/>
              <a:gd name="T8" fmla="*/ 1014 w 1014"/>
              <a:gd name="T9" fmla="*/ 64 h 626"/>
            </a:gdLst>
            <a:ahLst/>
            <a:cxnLst>
              <a:cxn ang="0">
                <a:pos x="T0" y="T1"/>
              </a:cxn>
              <a:cxn ang="0">
                <a:pos x="T2" y="T3"/>
              </a:cxn>
              <a:cxn ang="0">
                <a:pos x="T4" y="T5"/>
              </a:cxn>
              <a:cxn ang="0">
                <a:pos x="T6" y="T7"/>
              </a:cxn>
              <a:cxn ang="0">
                <a:pos x="T8" y="T9"/>
              </a:cxn>
            </a:cxnLst>
            <a:rect l="0" t="0" r="r" b="b"/>
            <a:pathLst>
              <a:path w="1014" h="626">
                <a:moveTo>
                  <a:pt x="1014" y="64"/>
                </a:moveTo>
                <a:lnTo>
                  <a:pt x="1014" y="0"/>
                </a:lnTo>
                <a:lnTo>
                  <a:pt x="0" y="562"/>
                </a:lnTo>
                <a:lnTo>
                  <a:pt x="0" y="626"/>
                </a:lnTo>
                <a:lnTo>
                  <a:pt x="101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1" name="Freeform 577"/>
          <p:cNvSpPr/>
          <p:nvPr/>
        </p:nvSpPr>
        <p:spPr bwMode="auto">
          <a:xfrm>
            <a:off x="2881314" y="2606675"/>
            <a:ext cx="1604963" cy="996950"/>
          </a:xfrm>
          <a:custGeom>
            <a:avLst/>
            <a:gdLst>
              <a:gd name="T0" fmla="*/ 1011 w 1011"/>
              <a:gd name="T1" fmla="*/ 564 h 628"/>
              <a:gd name="T2" fmla="*/ 0 w 1011"/>
              <a:gd name="T3" fmla="*/ 0 h 628"/>
              <a:gd name="T4" fmla="*/ 0 w 1011"/>
              <a:gd name="T5" fmla="*/ 64 h 628"/>
              <a:gd name="T6" fmla="*/ 1011 w 1011"/>
              <a:gd name="T7" fmla="*/ 628 h 628"/>
              <a:gd name="T8" fmla="*/ 1011 w 1011"/>
              <a:gd name="T9" fmla="*/ 564 h 628"/>
            </a:gdLst>
            <a:ahLst/>
            <a:cxnLst>
              <a:cxn ang="0">
                <a:pos x="T0" y="T1"/>
              </a:cxn>
              <a:cxn ang="0">
                <a:pos x="T2" y="T3"/>
              </a:cxn>
              <a:cxn ang="0">
                <a:pos x="T4" y="T5"/>
              </a:cxn>
              <a:cxn ang="0">
                <a:pos x="T6" y="T7"/>
              </a:cxn>
              <a:cxn ang="0">
                <a:pos x="T8" y="T9"/>
              </a:cxn>
            </a:cxnLst>
            <a:rect l="0" t="0" r="r" b="b"/>
            <a:pathLst>
              <a:path w="1011" h="628">
                <a:moveTo>
                  <a:pt x="1011" y="564"/>
                </a:moveTo>
                <a:lnTo>
                  <a:pt x="0" y="0"/>
                </a:lnTo>
                <a:lnTo>
                  <a:pt x="0" y="64"/>
                </a:lnTo>
                <a:lnTo>
                  <a:pt x="1011" y="628"/>
                </a:lnTo>
                <a:lnTo>
                  <a:pt x="1011" y="5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2" name="Freeform 578"/>
          <p:cNvSpPr/>
          <p:nvPr/>
        </p:nvSpPr>
        <p:spPr bwMode="auto">
          <a:xfrm>
            <a:off x="4486277" y="3673476"/>
            <a:ext cx="1609725" cy="993775"/>
          </a:xfrm>
          <a:custGeom>
            <a:avLst/>
            <a:gdLst>
              <a:gd name="T0" fmla="*/ 1014 w 1014"/>
              <a:gd name="T1" fmla="*/ 626 h 626"/>
              <a:gd name="T2" fmla="*/ 1014 w 1014"/>
              <a:gd name="T3" fmla="*/ 562 h 626"/>
              <a:gd name="T4" fmla="*/ 1014 w 1014"/>
              <a:gd name="T5" fmla="*/ 562 h 626"/>
              <a:gd name="T6" fmla="*/ 0 w 1014"/>
              <a:gd name="T7" fmla="*/ 0 h 626"/>
              <a:gd name="T8" fmla="*/ 0 w 1014"/>
              <a:gd name="T9" fmla="*/ 64 h 626"/>
              <a:gd name="T10" fmla="*/ 1014 w 1014"/>
              <a:gd name="T11" fmla="*/ 626 h 626"/>
              <a:gd name="T12" fmla="*/ 1014 w 1014"/>
              <a:gd name="T13" fmla="*/ 626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626"/>
                </a:moveTo>
                <a:lnTo>
                  <a:pt x="1014" y="562"/>
                </a:lnTo>
                <a:lnTo>
                  <a:pt x="1014" y="562"/>
                </a:lnTo>
                <a:lnTo>
                  <a:pt x="0" y="0"/>
                </a:lnTo>
                <a:lnTo>
                  <a:pt x="0" y="64"/>
                </a:lnTo>
                <a:lnTo>
                  <a:pt x="1014" y="626"/>
                </a:lnTo>
                <a:lnTo>
                  <a:pt x="1014"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3" name="Freeform 579"/>
          <p:cNvSpPr/>
          <p:nvPr/>
        </p:nvSpPr>
        <p:spPr bwMode="auto">
          <a:xfrm>
            <a:off x="9310689" y="2028826"/>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4" name="Freeform 580"/>
          <p:cNvSpPr/>
          <p:nvPr/>
        </p:nvSpPr>
        <p:spPr bwMode="auto">
          <a:xfrm>
            <a:off x="7705727" y="2781301"/>
            <a:ext cx="1604963" cy="993775"/>
          </a:xfrm>
          <a:custGeom>
            <a:avLst/>
            <a:gdLst>
              <a:gd name="T0" fmla="*/ 0 w 1011"/>
              <a:gd name="T1" fmla="*/ 626 h 626"/>
              <a:gd name="T2" fmla="*/ 1011 w 1011"/>
              <a:gd name="T3" fmla="*/ 64 h 626"/>
              <a:gd name="T4" fmla="*/ 1011 w 1011"/>
              <a:gd name="T5" fmla="*/ 0 h 626"/>
              <a:gd name="T6" fmla="*/ 0 w 1011"/>
              <a:gd name="T7" fmla="*/ 562 h 626"/>
              <a:gd name="T8" fmla="*/ 0 w 1011"/>
              <a:gd name="T9" fmla="*/ 626 h 626"/>
            </a:gdLst>
            <a:ahLst/>
            <a:cxnLst>
              <a:cxn ang="0">
                <a:pos x="T0" y="T1"/>
              </a:cxn>
              <a:cxn ang="0">
                <a:pos x="T2" y="T3"/>
              </a:cxn>
              <a:cxn ang="0">
                <a:pos x="T4" y="T5"/>
              </a:cxn>
              <a:cxn ang="0">
                <a:pos x="T6" y="T7"/>
              </a:cxn>
              <a:cxn ang="0">
                <a:pos x="T8" y="T9"/>
              </a:cxn>
            </a:cxnLst>
            <a:rect l="0" t="0" r="r" b="b"/>
            <a:pathLst>
              <a:path w="1011" h="626">
                <a:moveTo>
                  <a:pt x="0" y="626"/>
                </a:moveTo>
                <a:lnTo>
                  <a:pt x="1011" y="64"/>
                </a:lnTo>
                <a:lnTo>
                  <a:pt x="1011" y="0"/>
                </a:lnTo>
                <a:lnTo>
                  <a:pt x="0" y="562"/>
                </a:lnTo>
                <a:lnTo>
                  <a:pt x="0"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5" name="Freeform 581"/>
          <p:cNvSpPr/>
          <p:nvPr/>
        </p:nvSpPr>
        <p:spPr bwMode="auto">
          <a:xfrm>
            <a:off x="1525589" y="2028826"/>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6" name="Freeform 582"/>
          <p:cNvSpPr/>
          <p:nvPr/>
        </p:nvSpPr>
        <p:spPr bwMode="auto">
          <a:xfrm>
            <a:off x="2881314" y="2781301"/>
            <a:ext cx="1604963" cy="993775"/>
          </a:xfrm>
          <a:custGeom>
            <a:avLst/>
            <a:gdLst>
              <a:gd name="T0" fmla="*/ 1011 w 1011"/>
              <a:gd name="T1" fmla="*/ 562 h 626"/>
              <a:gd name="T2" fmla="*/ 0 w 1011"/>
              <a:gd name="T3" fmla="*/ 0 h 626"/>
              <a:gd name="T4" fmla="*/ 0 w 1011"/>
              <a:gd name="T5" fmla="*/ 64 h 626"/>
              <a:gd name="T6" fmla="*/ 1011 w 1011"/>
              <a:gd name="T7" fmla="*/ 626 h 626"/>
              <a:gd name="T8" fmla="*/ 1011 w 1011"/>
              <a:gd name="T9" fmla="*/ 562 h 626"/>
            </a:gdLst>
            <a:ahLst/>
            <a:cxnLst>
              <a:cxn ang="0">
                <a:pos x="T0" y="T1"/>
              </a:cxn>
              <a:cxn ang="0">
                <a:pos x="T2" y="T3"/>
              </a:cxn>
              <a:cxn ang="0">
                <a:pos x="T4" y="T5"/>
              </a:cxn>
              <a:cxn ang="0">
                <a:pos x="T6" y="T7"/>
              </a:cxn>
              <a:cxn ang="0">
                <a:pos x="T8" y="T9"/>
              </a:cxn>
            </a:cxnLst>
            <a:rect l="0" t="0" r="r" b="b"/>
            <a:pathLst>
              <a:path w="1011" h="626">
                <a:moveTo>
                  <a:pt x="1011" y="562"/>
                </a:moveTo>
                <a:lnTo>
                  <a:pt x="0" y="0"/>
                </a:lnTo>
                <a:lnTo>
                  <a:pt x="0" y="64"/>
                </a:lnTo>
                <a:lnTo>
                  <a:pt x="1011" y="626"/>
                </a:lnTo>
                <a:lnTo>
                  <a:pt x="1011" y="562"/>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7" name="Freeform 583"/>
          <p:cNvSpPr/>
          <p:nvPr/>
        </p:nvSpPr>
        <p:spPr bwMode="auto">
          <a:xfrm>
            <a:off x="6096002" y="3673476"/>
            <a:ext cx="1609725" cy="993775"/>
          </a:xfrm>
          <a:custGeom>
            <a:avLst/>
            <a:gdLst>
              <a:gd name="T0" fmla="*/ 0 w 1014"/>
              <a:gd name="T1" fmla="*/ 626 h 626"/>
              <a:gd name="T2" fmla="*/ 1014 w 1014"/>
              <a:gd name="T3" fmla="*/ 64 h 626"/>
              <a:gd name="T4" fmla="*/ 1014 w 1014"/>
              <a:gd name="T5" fmla="*/ 0 h 626"/>
              <a:gd name="T6" fmla="*/ 0 w 1014"/>
              <a:gd name="T7" fmla="*/ 562 h 626"/>
              <a:gd name="T8" fmla="*/ 0 w 1014"/>
              <a:gd name="T9" fmla="*/ 626 h 626"/>
            </a:gdLst>
            <a:ahLst/>
            <a:cxnLst>
              <a:cxn ang="0">
                <a:pos x="T0" y="T1"/>
              </a:cxn>
              <a:cxn ang="0">
                <a:pos x="T2" y="T3"/>
              </a:cxn>
              <a:cxn ang="0">
                <a:pos x="T4" y="T5"/>
              </a:cxn>
              <a:cxn ang="0">
                <a:pos x="T6" y="T7"/>
              </a:cxn>
              <a:cxn ang="0">
                <a:pos x="T8" y="T9"/>
              </a:cxn>
            </a:cxnLst>
            <a:rect l="0" t="0" r="r" b="b"/>
            <a:pathLst>
              <a:path w="1014" h="626">
                <a:moveTo>
                  <a:pt x="0" y="626"/>
                </a:moveTo>
                <a:lnTo>
                  <a:pt x="1014" y="64"/>
                </a:lnTo>
                <a:lnTo>
                  <a:pt x="1014" y="0"/>
                </a:lnTo>
                <a:lnTo>
                  <a:pt x="0" y="562"/>
                </a:lnTo>
                <a:lnTo>
                  <a:pt x="0"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8" name="Freeform 586"/>
          <p:cNvSpPr/>
          <p:nvPr/>
        </p:nvSpPr>
        <p:spPr bwMode="auto">
          <a:xfrm>
            <a:off x="2109789" y="2508251"/>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9" name="Freeform 598"/>
          <p:cNvSpPr/>
          <p:nvPr/>
        </p:nvSpPr>
        <p:spPr bwMode="auto">
          <a:xfrm>
            <a:off x="5327651" y="4276726"/>
            <a:ext cx="1536700" cy="854075"/>
          </a:xfrm>
          <a:custGeom>
            <a:avLst/>
            <a:gdLst>
              <a:gd name="T0" fmla="*/ 468 w 484"/>
              <a:gd name="T1" fmla="*/ 118 h 269"/>
              <a:gd name="T2" fmla="*/ 468 w 484"/>
              <a:gd name="T3" fmla="*/ 151 h 269"/>
              <a:gd name="T4" fmla="*/ 272 w 484"/>
              <a:gd name="T5" fmla="*/ 260 h 269"/>
              <a:gd name="T6" fmla="*/ 212 w 484"/>
              <a:gd name="T7" fmla="*/ 260 h 269"/>
              <a:gd name="T8" fmla="*/ 16 w 484"/>
              <a:gd name="T9" fmla="*/ 151 h 269"/>
              <a:gd name="T10" fmla="*/ 16 w 484"/>
              <a:gd name="T11" fmla="*/ 118 h 269"/>
              <a:gd name="T12" fmla="*/ 212 w 484"/>
              <a:gd name="T13" fmla="*/ 9 h 269"/>
              <a:gd name="T14" fmla="*/ 272 w 484"/>
              <a:gd name="T15" fmla="*/ 9 h 269"/>
              <a:gd name="T16" fmla="*/ 468 w 484"/>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269">
                <a:moveTo>
                  <a:pt x="468" y="118"/>
                </a:moveTo>
                <a:cubicBezTo>
                  <a:pt x="484" y="127"/>
                  <a:pt x="484" y="142"/>
                  <a:pt x="468" y="151"/>
                </a:cubicBezTo>
                <a:cubicBezTo>
                  <a:pt x="272" y="260"/>
                  <a:pt x="272" y="260"/>
                  <a:pt x="272" y="260"/>
                </a:cubicBezTo>
                <a:cubicBezTo>
                  <a:pt x="255" y="269"/>
                  <a:pt x="229" y="269"/>
                  <a:pt x="212" y="260"/>
                </a:cubicBezTo>
                <a:cubicBezTo>
                  <a:pt x="16" y="151"/>
                  <a:pt x="16" y="151"/>
                  <a:pt x="16" y="151"/>
                </a:cubicBezTo>
                <a:cubicBezTo>
                  <a:pt x="0" y="142"/>
                  <a:pt x="0" y="127"/>
                  <a:pt x="16" y="118"/>
                </a:cubicBezTo>
                <a:cubicBezTo>
                  <a:pt x="212" y="9"/>
                  <a:pt x="212" y="9"/>
                  <a:pt x="212" y="9"/>
                </a:cubicBezTo>
                <a:cubicBezTo>
                  <a:pt x="229" y="0"/>
                  <a:pt x="255"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0" name="Freeform 606"/>
          <p:cNvSpPr/>
          <p:nvPr/>
        </p:nvSpPr>
        <p:spPr bwMode="auto">
          <a:xfrm>
            <a:off x="8542339" y="2508251"/>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1" name="Freeform 587"/>
          <p:cNvSpPr/>
          <p:nvPr/>
        </p:nvSpPr>
        <p:spPr bwMode="auto">
          <a:xfrm>
            <a:off x="2122489" y="2292351"/>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13 w 477"/>
              <a:gd name="T17" fmla="*/ 118 h 303"/>
              <a:gd name="T18" fmla="*/ 209 w 477"/>
              <a:gd name="T19" fmla="*/ 9 h 303"/>
              <a:gd name="T20" fmla="*/ 268 w 477"/>
              <a:gd name="T21" fmla="*/ 9 h 303"/>
              <a:gd name="T22" fmla="*/ 464 w 477"/>
              <a:gd name="T23" fmla="*/ 118 h 303"/>
              <a:gd name="T24" fmla="*/ 477 w 477"/>
              <a:gd name="T25" fmla="*/ 135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3" y="181"/>
                  <a:pt x="464" y="185"/>
                </a:cubicBezTo>
                <a:cubicBezTo>
                  <a:pt x="268" y="294"/>
                  <a:pt x="268" y="294"/>
                  <a:pt x="268" y="294"/>
                </a:cubicBezTo>
                <a:cubicBezTo>
                  <a:pt x="252" y="303"/>
                  <a:pt x="225" y="303"/>
                  <a:pt x="209" y="294"/>
                </a:cubicBezTo>
                <a:cubicBezTo>
                  <a:pt x="13" y="185"/>
                  <a:pt x="13" y="185"/>
                  <a:pt x="13" y="185"/>
                </a:cubicBezTo>
                <a:cubicBezTo>
                  <a:pt x="5" y="181"/>
                  <a:pt x="0" y="175"/>
                  <a:pt x="0" y="169"/>
                </a:cubicBezTo>
                <a:cubicBezTo>
                  <a:pt x="0" y="135"/>
                  <a:pt x="0" y="135"/>
                  <a:pt x="0" y="135"/>
                </a:cubicBezTo>
                <a:cubicBezTo>
                  <a:pt x="0" y="129"/>
                  <a:pt x="5" y="123"/>
                  <a:pt x="13" y="118"/>
                </a:cubicBezTo>
                <a:cubicBezTo>
                  <a:pt x="209" y="9"/>
                  <a:pt x="209" y="9"/>
                  <a:pt x="209" y="9"/>
                </a:cubicBezTo>
                <a:cubicBezTo>
                  <a:pt x="225" y="0"/>
                  <a:pt x="252" y="0"/>
                  <a:pt x="268" y="9"/>
                </a:cubicBezTo>
                <a:cubicBezTo>
                  <a:pt x="464" y="118"/>
                  <a:pt x="464" y="118"/>
                  <a:pt x="464" y="118"/>
                </a:cubicBezTo>
                <a:cubicBezTo>
                  <a:pt x="473" y="123"/>
                  <a:pt x="477" y="129"/>
                  <a:pt x="477" y="135"/>
                </a:cubicBezTo>
                <a:cubicBezTo>
                  <a:pt x="477" y="135"/>
                  <a:pt x="477" y="135"/>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2" name="Oval 588"/>
          <p:cNvSpPr>
            <a:spLocks noChangeArrowheads="1"/>
          </p:cNvSpPr>
          <p:nvPr/>
        </p:nvSpPr>
        <p:spPr bwMode="auto">
          <a:xfrm>
            <a:off x="2484439" y="2609851"/>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3" name="Oval 589"/>
          <p:cNvSpPr>
            <a:spLocks noChangeArrowheads="1"/>
          </p:cNvSpPr>
          <p:nvPr/>
        </p:nvSpPr>
        <p:spPr bwMode="auto">
          <a:xfrm>
            <a:off x="2484439" y="1905000"/>
            <a:ext cx="790575" cy="793750"/>
          </a:xfrm>
          <a:prstGeom prst="ellipse">
            <a:avLst/>
          </a:pr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4" name="Freeform 590"/>
          <p:cNvSpPr>
            <a:spLocks noEditPoints="1"/>
          </p:cNvSpPr>
          <p:nvPr/>
        </p:nvSpPr>
        <p:spPr bwMode="auto">
          <a:xfrm>
            <a:off x="2471739" y="1892300"/>
            <a:ext cx="815975" cy="819150"/>
          </a:xfrm>
          <a:custGeom>
            <a:avLst/>
            <a:gdLst>
              <a:gd name="T0" fmla="*/ 129 w 257"/>
              <a:gd name="T1" fmla="*/ 258 h 258"/>
              <a:gd name="T2" fmla="*/ 0 w 257"/>
              <a:gd name="T3" fmla="*/ 129 h 258"/>
              <a:gd name="T4" fmla="*/ 129 w 257"/>
              <a:gd name="T5" fmla="*/ 0 h 258"/>
              <a:gd name="T6" fmla="*/ 257 w 257"/>
              <a:gd name="T7" fmla="*/ 129 h 258"/>
              <a:gd name="T8" fmla="*/ 129 w 257"/>
              <a:gd name="T9" fmla="*/ 258 h 258"/>
              <a:gd name="T10" fmla="*/ 129 w 257"/>
              <a:gd name="T11" fmla="*/ 8 h 258"/>
              <a:gd name="T12" fmla="*/ 8 w 257"/>
              <a:gd name="T13" fmla="*/ 129 h 258"/>
              <a:gd name="T14" fmla="*/ 129 w 257"/>
              <a:gd name="T15" fmla="*/ 250 h 258"/>
              <a:gd name="T16" fmla="*/ 249 w 257"/>
              <a:gd name="T17" fmla="*/ 129 h 258"/>
              <a:gd name="T18" fmla="*/ 129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9" y="258"/>
                </a:moveTo>
                <a:cubicBezTo>
                  <a:pt x="58" y="258"/>
                  <a:pt x="0" y="200"/>
                  <a:pt x="0" y="129"/>
                </a:cubicBezTo>
                <a:cubicBezTo>
                  <a:pt x="0" y="58"/>
                  <a:pt x="58" y="0"/>
                  <a:pt x="129" y="0"/>
                </a:cubicBezTo>
                <a:cubicBezTo>
                  <a:pt x="200" y="0"/>
                  <a:pt x="257" y="58"/>
                  <a:pt x="257" y="129"/>
                </a:cubicBezTo>
                <a:cubicBezTo>
                  <a:pt x="257" y="200"/>
                  <a:pt x="200" y="258"/>
                  <a:pt x="129" y="258"/>
                </a:cubicBezTo>
                <a:close/>
                <a:moveTo>
                  <a:pt x="129" y="8"/>
                </a:moveTo>
                <a:cubicBezTo>
                  <a:pt x="62" y="8"/>
                  <a:pt x="8" y="62"/>
                  <a:pt x="8" y="129"/>
                </a:cubicBezTo>
                <a:cubicBezTo>
                  <a:pt x="8" y="196"/>
                  <a:pt x="62" y="250"/>
                  <a:pt x="129" y="250"/>
                </a:cubicBezTo>
                <a:cubicBezTo>
                  <a:pt x="195" y="250"/>
                  <a:pt x="249" y="196"/>
                  <a:pt x="249" y="129"/>
                </a:cubicBezTo>
                <a:cubicBezTo>
                  <a:pt x="249" y="62"/>
                  <a:pt x="195" y="8"/>
                  <a:pt x="129" y="8"/>
                </a:cubicBez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5" name="Freeform 591"/>
          <p:cNvSpPr>
            <a:spLocks noEditPoints="1"/>
          </p:cNvSpPr>
          <p:nvPr/>
        </p:nvSpPr>
        <p:spPr bwMode="auto">
          <a:xfrm>
            <a:off x="2706688" y="2060575"/>
            <a:ext cx="349250" cy="508000"/>
          </a:xfrm>
          <a:custGeom>
            <a:avLst/>
            <a:gdLst>
              <a:gd name="T0" fmla="*/ 29 w 110"/>
              <a:gd name="T1" fmla="*/ 123 h 160"/>
              <a:gd name="T2" fmla="*/ 30 w 110"/>
              <a:gd name="T3" fmla="*/ 131 h 160"/>
              <a:gd name="T4" fmla="*/ 55 w 110"/>
              <a:gd name="T5" fmla="*/ 136 h 160"/>
              <a:gd name="T6" fmla="*/ 79 w 110"/>
              <a:gd name="T7" fmla="*/ 131 h 160"/>
              <a:gd name="T8" fmla="*/ 80 w 110"/>
              <a:gd name="T9" fmla="*/ 123 h 160"/>
              <a:gd name="T10" fmla="*/ 55 w 110"/>
              <a:gd name="T11" fmla="*/ 128 h 160"/>
              <a:gd name="T12" fmla="*/ 29 w 110"/>
              <a:gd name="T13" fmla="*/ 123 h 160"/>
              <a:gd name="T14" fmla="*/ 31 w 110"/>
              <a:gd name="T15" fmla="*/ 139 h 160"/>
              <a:gd name="T16" fmla="*/ 33 w 110"/>
              <a:gd name="T17" fmla="*/ 147 h 160"/>
              <a:gd name="T18" fmla="*/ 40 w 110"/>
              <a:gd name="T19" fmla="*/ 151 h 160"/>
              <a:gd name="T20" fmla="*/ 41 w 110"/>
              <a:gd name="T21" fmla="*/ 156 h 160"/>
              <a:gd name="T22" fmla="*/ 55 w 110"/>
              <a:gd name="T23" fmla="*/ 160 h 160"/>
              <a:gd name="T24" fmla="*/ 69 w 110"/>
              <a:gd name="T25" fmla="*/ 156 h 160"/>
              <a:gd name="T26" fmla="*/ 69 w 110"/>
              <a:gd name="T27" fmla="*/ 151 h 160"/>
              <a:gd name="T28" fmla="*/ 77 w 110"/>
              <a:gd name="T29" fmla="*/ 147 h 160"/>
              <a:gd name="T30" fmla="*/ 78 w 110"/>
              <a:gd name="T31" fmla="*/ 139 h 160"/>
              <a:gd name="T32" fmla="*/ 55 w 110"/>
              <a:gd name="T33" fmla="*/ 142 h 160"/>
              <a:gd name="T34" fmla="*/ 31 w 110"/>
              <a:gd name="T35" fmla="*/ 139 h 160"/>
              <a:gd name="T36" fmla="*/ 55 w 110"/>
              <a:gd name="T37" fmla="*/ 0 h 160"/>
              <a:gd name="T38" fmla="*/ 0 w 110"/>
              <a:gd name="T39" fmla="*/ 55 h 160"/>
              <a:gd name="T40" fmla="*/ 26 w 110"/>
              <a:gd name="T41" fmla="*/ 102 h 160"/>
              <a:gd name="T42" fmla="*/ 28 w 110"/>
              <a:gd name="T43" fmla="*/ 116 h 160"/>
              <a:gd name="T44" fmla="*/ 55 w 110"/>
              <a:gd name="T45" fmla="*/ 121 h 160"/>
              <a:gd name="T46" fmla="*/ 81 w 110"/>
              <a:gd name="T47" fmla="*/ 116 h 160"/>
              <a:gd name="T48" fmla="*/ 83 w 110"/>
              <a:gd name="T49" fmla="*/ 102 h 160"/>
              <a:gd name="T50" fmla="*/ 110 w 110"/>
              <a:gd name="T51" fmla="*/ 55 h 160"/>
              <a:gd name="T52" fmla="*/ 55 w 110"/>
              <a:gd name="T53" fmla="*/ 0 h 160"/>
              <a:gd name="T54" fmla="*/ 75 w 110"/>
              <a:gd name="T55" fmla="*/ 96 h 160"/>
              <a:gd name="T56" fmla="*/ 74 w 110"/>
              <a:gd name="T57" fmla="*/ 109 h 160"/>
              <a:gd name="T58" fmla="*/ 55 w 110"/>
              <a:gd name="T59" fmla="*/ 112 h 160"/>
              <a:gd name="T60" fmla="*/ 36 w 110"/>
              <a:gd name="T61" fmla="*/ 109 h 160"/>
              <a:gd name="T62" fmla="*/ 34 w 110"/>
              <a:gd name="T63" fmla="*/ 96 h 160"/>
              <a:gd name="T64" fmla="*/ 9 w 110"/>
              <a:gd name="T65" fmla="*/ 55 h 160"/>
              <a:gd name="T66" fmla="*/ 55 w 110"/>
              <a:gd name="T67" fmla="*/ 10 h 160"/>
              <a:gd name="T68" fmla="*/ 100 w 110"/>
              <a:gd name="T69" fmla="*/ 55 h 160"/>
              <a:gd name="T70" fmla="*/ 75 w 110"/>
              <a:gd name="T71" fmla="*/ 96 h 160"/>
              <a:gd name="T72" fmla="*/ 55 w 110"/>
              <a:gd name="T73" fmla="*/ 23 h 160"/>
              <a:gd name="T74" fmla="*/ 57 w 110"/>
              <a:gd name="T75" fmla="*/ 20 h 160"/>
              <a:gd name="T76" fmla="*/ 55 w 110"/>
              <a:gd name="T77" fmla="*/ 17 h 160"/>
              <a:gd name="T78" fmla="*/ 16 w 110"/>
              <a:gd name="T79" fmla="*/ 55 h 160"/>
              <a:gd name="T80" fmla="*/ 19 w 110"/>
              <a:gd name="T81" fmla="*/ 58 h 160"/>
              <a:gd name="T82" fmla="*/ 22 w 110"/>
              <a:gd name="T83" fmla="*/ 55 h 160"/>
              <a:gd name="T84" fmla="*/ 55 w 110"/>
              <a:gd name="T85" fmla="*/ 23 h 160"/>
              <a:gd name="T86" fmla="*/ 67 w 110"/>
              <a:gd name="T87" fmla="*/ 75 h 160"/>
              <a:gd name="T88" fmla="*/ 55 w 110"/>
              <a:gd name="T89" fmla="*/ 53 h 160"/>
              <a:gd name="T90" fmla="*/ 42 w 110"/>
              <a:gd name="T91" fmla="*/ 75 h 160"/>
              <a:gd name="T92" fmla="*/ 37 w 110"/>
              <a:gd name="T93" fmla="*/ 65 h 160"/>
              <a:gd name="T94" fmla="*/ 29 w 110"/>
              <a:gd name="T95" fmla="*/ 68 h 160"/>
              <a:gd name="T96" fmla="*/ 42 w 110"/>
              <a:gd name="T97" fmla="*/ 94 h 160"/>
              <a:gd name="T98" fmla="*/ 55 w 110"/>
              <a:gd name="T99" fmla="*/ 71 h 160"/>
              <a:gd name="T100" fmla="*/ 67 w 110"/>
              <a:gd name="T101" fmla="*/ 94 h 160"/>
              <a:gd name="T102" fmla="*/ 80 w 110"/>
              <a:gd name="T103" fmla="*/ 68 h 160"/>
              <a:gd name="T104" fmla="*/ 72 w 110"/>
              <a:gd name="T105" fmla="*/ 65 h 160"/>
              <a:gd name="T106" fmla="*/ 67 w 110"/>
              <a:gd name="T107" fmla="*/ 7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29" y="123"/>
                </a:moveTo>
                <a:cubicBezTo>
                  <a:pt x="30" y="131"/>
                  <a:pt x="30" y="131"/>
                  <a:pt x="30" y="131"/>
                </a:cubicBezTo>
                <a:cubicBezTo>
                  <a:pt x="37" y="134"/>
                  <a:pt x="46" y="136"/>
                  <a:pt x="55" y="136"/>
                </a:cubicBezTo>
                <a:cubicBezTo>
                  <a:pt x="63" y="136"/>
                  <a:pt x="72" y="134"/>
                  <a:pt x="79" y="131"/>
                </a:cubicBezTo>
                <a:cubicBezTo>
                  <a:pt x="80" y="123"/>
                  <a:pt x="80" y="123"/>
                  <a:pt x="80" y="123"/>
                </a:cubicBezTo>
                <a:cubicBezTo>
                  <a:pt x="72" y="126"/>
                  <a:pt x="64" y="128"/>
                  <a:pt x="55" y="128"/>
                </a:cubicBezTo>
                <a:cubicBezTo>
                  <a:pt x="45" y="128"/>
                  <a:pt x="37" y="126"/>
                  <a:pt x="29" y="123"/>
                </a:cubicBezTo>
                <a:close/>
                <a:moveTo>
                  <a:pt x="31" y="139"/>
                </a:moveTo>
                <a:cubicBezTo>
                  <a:pt x="33" y="147"/>
                  <a:pt x="33" y="147"/>
                  <a:pt x="33" y="147"/>
                </a:cubicBezTo>
                <a:cubicBezTo>
                  <a:pt x="33" y="147"/>
                  <a:pt x="34" y="150"/>
                  <a:pt x="40" y="151"/>
                </a:cubicBezTo>
                <a:cubicBezTo>
                  <a:pt x="41" y="156"/>
                  <a:pt x="41" y="156"/>
                  <a:pt x="41" y="156"/>
                </a:cubicBezTo>
                <a:cubicBezTo>
                  <a:pt x="41" y="156"/>
                  <a:pt x="44" y="160"/>
                  <a:pt x="55" y="160"/>
                </a:cubicBezTo>
                <a:cubicBezTo>
                  <a:pt x="65" y="160"/>
                  <a:pt x="69" y="156"/>
                  <a:pt x="69" y="156"/>
                </a:cubicBezTo>
                <a:cubicBezTo>
                  <a:pt x="69" y="151"/>
                  <a:pt x="69" y="151"/>
                  <a:pt x="69" y="151"/>
                </a:cubicBezTo>
                <a:cubicBezTo>
                  <a:pt x="75" y="150"/>
                  <a:pt x="77" y="147"/>
                  <a:pt x="77" y="147"/>
                </a:cubicBezTo>
                <a:cubicBezTo>
                  <a:pt x="78" y="139"/>
                  <a:pt x="78" y="139"/>
                  <a:pt x="78" y="139"/>
                </a:cubicBezTo>
                <a:cubicBezTo>
                  <a:pt x="71" y="141"/>
                  <a:pt x="63" y="142"/>
                  <a:pt x="55" y="142"/>
                </a:cubicBezTo>
                <a:cubicBezTo>
                  <a:pt x="46" y="142"/>
                  <a:pt x="38" y="141"/>
                  <a:pt x="31" y="139"/>
                </a:cubicBezTo>
                <a:close/>
                <a:moveTo>
                  <a:pt x="55" y="0"/>
                </a:moveTo>
                <a:cubicBezTo>
                  <a:pt x="24" y="0"/>
                  <a:pt x="0" y="25"/>
                  <a:pt x="0" y="55"/>
                </a:cubicBezTo>
                <a:cubicBezTo>
                  <a:pt x="0" y="75"/>
                  <a:pt x="10" y="92"/>
                  <a:pt x="26" y="102"/>
                </a:cubicBezTo>
                <a:cubicBezTo>
                  <a:pt x="28" y="116"/>
                  <a:pt x="28" y="116"/>
                  <a:pt x="28" y="116"/>
                </a:cubicBezTo>
                <a:cubicBezTo>
                  <a:pt x="36" y="119"/>
                  <a:pt x="45" y="121"/>
                  <a:pt x="55" y="121"/>
                </a:cubicBezTo>
                <a:cubicBezTo>
                  <a:pt x="64" y="121"/>
                  <a:pt x="73" y="119"/>
                  <a:pt x="81" y="116"/>
                </a:cubicBezTo>
                <a:cubicBezTo>
                  <a:pt x="83" y="102"/>
                  <a:pt x="83" y="102"/>
                  <a:pt x="83" y="102"/>
                </a:cubicBezTo>
                <a:cubicBezTo>
                  <a:pt x="99" y="92"/>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4" y="96"/>
                  <a:pt x="34" y="96"/>
                  <a:pt x="34" y="96"/>
                </a:cubicBezTo>
                <a:cubicBezTo>
                  <a:pt x="19" y="88"/>
                  <a:pt x="9" y="73"/>
                  <a:pt x="9" y="55"/>
                </a:cubicBezTo>
                <a:cubicBezTo>
                  <a:pt x="9" y="30"/>
                  <a:pt x="30" y="10"/>
                  <a:pt x="55" y="10"/>
                </a:cubicBezTo>
                <a:cubicBezTo>
                  <a:pt x="80" y="10"/>
                  <a:pt x="100" y="30"/>
                  <a:pt x="100" y="55"/>
                </a:cubicBezTo>
                <a:cubicBezTo>
                  <a:pt x="100" y="73"/>
                  <a:pt x="90" y="88"/>
                  <a:pt x="75" y="96"/>
                </a:cubicBezTo>
                <a:close/>
                <a:moveTo>
                  <a:pt x="55" y="23"/>
                </a:moveTo>
                <a:cubicBezTo>
                  <a:pt x="56" y="23"/>
                  <a:pt x="57" y="21"/>
                  <a:pt x="57" y="20"/>
                </a:cubicBezTo>
                <a:cubicBezTo>
                  <a:pt x="57" y="18"/>
                  <a:pt x="56" y="17"/>
                  <a:pt x="55" y="17"/>
                </a:cubicBezTo>
                <a:cubicBezTo>
                  <a:pt x="34" y="17"/>
                  <a:pt x="16" y="34"/>
                  <a:pt x="16" y="55"/>
                </a:cubicBezTo>
                <a:cubicBezTo>
                  <a:pt x="16" y="57"/>
                  <a:pt x="18" y="58"/>
                  <a:pt x="19" y="58"/>
                </a:cubicBezTo>
                <a:cubicBezTo>
                  <a:pt x="21" y="58"/>
                  <a:pt x="22" y="57"/>
                  <a:pt x="22" y="55"/>
                </a:cubicBezTo>
                <a:cubicBezTo>
                  <a:pt x="22" y="37"/>
                  <a:pt x="37" y="23"/>
                  <a:pt x="55" y="23"/>
                </a:cubicBezTo>
                <a:close/>
                <a:moveTo>
                  <a:pt x="67" y="75"/>
                </a:moveTo>
                <a:cubicBezTo>
                  <a:pt x="55" y="53"/>
                  <a:pt x="55" y="53"/>
                  <a:pt x="55" y="53"/>
                </a:cubicBezTo>
                <a:cubicBezTo>
                  <a:pt x="42" y="75"/>
                  <a:pt x="42" y="75"/>
                  <a:pt x="42" y="75"/>
                </a:cubicBezTo>
                <a:cubicBezTo>
                  <a:pt x="37" y="65"/>
                  <a:pt x="37" y="65"/>
                  <a:pt x="37" y="65"/>
                </a:cubicBezTo>
                <a:cubicBezTo>
                  <a:pt x="29" y="68"/>
                  <a:pt x="29" y="68"/>
                  <a:pt x="29" y="68"/>
                </a:cubicBezTo>
                <a:cubicBezTo>
                  <a:pt x="42" y="94"/>
                  <a:pt x="42" y="94"/>
                  <a:pt x="42" y="94"/>
                </a:cubicBezTo>
                <a:cubicBezTo>
                  <a:pt x="55" y="71"/>
                  <a:pt x="55" y="71"/>
                  <a:pt x="55" y="71"/>
                </a:cubicBezTo>
                <a:cubicBezTo>
                  <a:pt x="67" y="94"/>
                  <a:pt x="67" y="94"/>
                  <a:pt x="67" y="94"/>
                </a:cubicBezTo>
                <a:cubicBezTo>
                  <a:pt x="80" y="68"/>
                  <a:pt x="80" y="68"/>
                  <a:pt x="80" y="68"/>
                </a:cubicBezTo>
                <a:cubicBezTo>
                  <a:pt x="72" y="65"/>
                  <a:pt x="72" y="65"/>
                  <a:pt x="72" y="65"/>
                </a:cubicBezTo>
                <a:lnTo>
                  <a:pt x="67" y="75"/>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6" name="Freeform 599"/>
          <p:cNvSpPr/>
          <p:nvPr/>
        </p:nvSpPr>
        <p:spPr bwMode="auto">
          <a:xfrm>
            <a:off x="5340351" y="4060826"/>
            <a:ext cx="1511300" cy="962025"/>
          </a:xfrm>
          <a:custGeom>
            <a:avLst/>
            <a:gdLst>
              <a:gd name="T0" fmla="*/ 476 w 476"/>
              <a:gd name="T1" fmla="*/ 135 h 303"/>
              <a:gd name="T2" fmla="*/ 476 w 476"/>
              <a:gd name="T3" fmla="*/ 169 h 303"/>
              <a:gd name="T4" fmla="*/ 464 w 476"/>
              <a:gd name="T5" fmla="*/ 185 h 303"/>
              <a:gd name="T6" fmla="*/ 268 w 476"/>
              <a:gd name="T7" fmla="*/ 294 h 303"/>
              <a:gd name="T8" fmla="*/ 208 w 476"/>
              <a:gd name="T9" fmla="*/ 294 h 303"/>
              <a:gd name="T10" fmla="*/ 12 w 476"/>
              <a:gd name="T11" fmla="*/ 185 h 303"/>
              <a:gd name="T12" fmla="*/ 0 w 476"/>
              <a:gd name="T13" fmla="*/ 169 h 303"/>
              <a:gd name="T14" fmla="*/ 0 w 476"/>
              <a:gd name="T15" fmla="*/ 135 h 303"/>
              <a:gd name="T16" fmla="*/ 12 w 476"/>
              <a:gd name="T17" fmla="*/ 118 h 303"/>
              <a:gd name="T18" fmla="*/ 208 w 476"/>
              <a:gd name="T19" fmla="*/ 9 h 303"/>
              <a:gd name="T20" fmla="*/ 268 w 476"/>
              <a:gd name="T21" fmla="*/ 9 h 303"/>
              <a:gd name="T22" fmla="*/ 464 w 476"/>
              <a:gd name="T23" fmla="*/ 118 h 303"/>
              <a:gd name="T24" fmla="*/ 476 w 476"/>
              <a:gd name="T25"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6" h="303">
                <a:moveTo>
                  <a:pt x="476" y="135"/>
                </a:moveTo>
                <a:cubicBezTo>
                  <a:pt x="476" y="169"/>
                  <a:pt x="476" y="169"/>
                  <a:pt x="476" y="169"/>
                </a:cubicBezTo>
                <a:cubicBezTo>
                  <a:pt x="476" y="175"/>
                  <a:pt x="472" y="181"/>
                  <a:pt x="464" y="185"/>
                </a:cubicBezTo>
                <a:cubicBezTo>
                  <a:pt x="268" y="294"/>
                  <a:pt x="268" y="294"/>
                  <a:pt x="268" y="294"/>
                </a:cubicBezTo>
                <a:cubicBezTo>
                  <a:pt x="251" y="303"/>
                  <a:pt x="225" y="303"/>
                  <a:pt x="208" y="294"/>
                </a:cubicBezTo>
                <a:cubicBezTo>
                  <a:pt x="12" y="185"/>
                  <a:pt x="12" y="185"/>
                  <a:pt x="12" y="185"/>
                </a:cubicBezTo>
                <a:cubicBezTo>
                  <a:pt x="4" y="181"/>
                  <a:pt x="0" y="175"/>
                  <a:pt x="0" y="169"/>
                </a:cubicBezTo>
                <a:cubicBezTo>
                  <a:pt x="0" y="135"/>
                  <a:pt x="0" y="135"/>
                  <a:pt x="0" y="135"/>
                </a:cubicBezTo>
                <a:cubicBezTo>
                  <a:pt x="0" y="129"/>
                  <a:pt x="4" y="123"/>
                  <a:pt x="12" y="118"/>
                </a:cubicBezTo>
                <a:cubicBezTo>
                  <a:pt x="208" y="9"/>
                  <a:pt x="208" y="9"/>
                  <a:pt x="208" y="9"/>
                </a:cubicBezTo>
                <a:cubicBezTo>
                  <a:pt x="225" y="0"/>
                  <a:pt x="251" y="0"/>
                  <a:pt x="268" y="9"/>
                </a:cubicBezTo>
                <a:cubicBezTo>
                  <a:pt x="464" y="118"/>
                  <a:pt x="464" y="118"/>
                  <a:pt x="464" y="118"/>
                </a:cubicBezTo>
                <a:cubicBezTo>
                  <a:pt x="472" y="123"/>
                  <a:pt x="476" y="129"/>
                  <a:pt x="476"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7" name="Oval 600"/>
          <p:cNvSpPr>
            <a:spLocks noChangeArrowheads="1"/>
          </p:cNvSpPr>
          <p:nvPr/>
        </p:nvSpPr>
        <p:spPr bwMode="auto">
          <a:xfrm>
            <a:off x="5699126" y="4378326"/>
            <a:ext cx="793750"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8" name="Oval 601"/>
          <p:cNvSpPr>
            <a:spLocks noChangeArrowheads="1"/>
          </p:cNvSpPr>
          <p:nvPr/>
        </p:nvSpPr>
        <p:spPr bwMode="auto">
          <a:xfrm>
            <a:off x="5699126" y="3673475"/>
            <a:ext cx="793750"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9" name="Freeform 602"/>
          <p:cNvSpPr>
            <a:spLocks noEditPoints="1"/>
          </p:cNvSpPr>
          <p:nvPr/>
        </p:nvSpPr>
        <p:spPr bwMode="auto">
          <a:xfrm>
            <a:off x="5686426" y="3660775"/>
            <a:ext cx="819150" cy="819150"/>
          </a:xfrm>
          <a:custGeom>
            <a:avLst/>
            <a:gdLst>
              <a:gd name="T0" fmla="*/ 129 w 258"/>
              <a:gd name="T1" fmla="*/ 258 h 258"/>
              <a:gd name="T2" fmla="*/ 0 w 258"/>
              <a:gd name="T3" fmla="*/ 129 h 258"/>
              <a:gd name="T4" fmla="*/ 129 w 258"/>
              <a:gd name="T5" fmla="*/ 0 h 258"/>
              <a:gd name="T6" fmla="*/ 258 w 258"/>
              <a:gd name="T7" fmla="*/ 129 h 258"/>
              <a:gd name="T8" fmla="*/ 129 w 258"/>
              <a:gd name="T9" fmla="*/ 258 h 258"/>
              <a:gd name="T10" fmla="*/ 129 w 258"/>
              <a:gd name="T11" fmla="*/ 8 h 258"/>
              <a:gd name="T12" fmla="*/ 8 w 258"/>
              <a:gd name="T13" fmla="*/ 129 h 258"/>
              <a:gd name="T14" fmla="*/ 129 w 258"/>
              <a:gd name="T15" fmla="*/ 250 h 258"/>
              <a:gd name="T16" fmla="*/ 250 w 258"/>
              <a:gd name="T17" fmla="*/ 129 h 258"/>
              <a:gd name="T18" fmla="*/ 129 w 258"/>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258">
                <a:moveTo>
                  <a:pt x="129" y="258"/>
                </a:moveTo>
                <a:cubicBezTo>
                  <a:pt x="58" y="258"/>
                  <a:pt x="0" y="200"/>
                  <a:pt x="0" y="129"/>
                </a:cubicBezTo>
                <a:cubicBezTo>
                  <a:pt x="0" y="58"/>
                  <a:pt x="58" y="0"/>
                  <a:pt x="129" y="0"/>
                </a:cubicBezTo>
                <a:cubicBezTo>
                  <a:pt x="200" y="0"/>
                  <a:pt x="258" y="58"/>
                  <a:pt x="258" y="129"/>
                </a:cubicBezTo>
                <a:cubicBezTo>
                  <a:pt x="258" y="200"/>
                  <a:pt x="200" y="258"/>
                  <a:pt x="129" y="258"/>
                </a:cubicBezTo>
                <a:close/>
                <a:moveTo>
                  <a:pt x="129" y="8"/>
                </a:moveTo>
                <a:cubicBezTo>
                  <a:pt x="62" y="8"/>
                  <a:pt x="8" y="62"/>
                  <a:pt x="8" y="129"/>
                </a:cubicBezTo>
                <a:cubicBezTo>
                  <a:pt x="8" y="196"/>
                  <a:pt x="62" y="250"/>
                  <a:pt x="129" y="250"/>
                </a:cubicBezTo>
                <a:cubicBezTo>
                  <a:pt x="196" y="250"/>
                  <a:pt x="250" y="196"/>
                  <a:pt x="250" y="129"/>
                </a:cubicBezTo>
                <a:cubicBezTo>
                  <a:pt x="250" y="62"/>
                  <a:pt x="196" y="8"/>
                  <a:pt x="129" y="8"/>
                </a:cubicBez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0" name="Freeform 603"/>
          <p:cNvSpPr>
            <a:spLocks noEditPoints="1"/>
          </p:cNvSpPr>
          <p:nvPr/>
        </p:nvSpPr>
        <p:spPr bwMode="auto">
          <a:xfrm>
            <a:off x="5867402" y="3886201"/>
            <a:ext cx="454025" cy="384175"/>
          </a:xfrm>
          <a:custGeom>
            <a:avLst/>
            <a:gdLst>
              <a:gd name="T0" fmla="*/ 7 w 143"/>
              <a:gd name="T1" fmla="*/ 115 h 121"/>
              <a:gd name="T2" fmla="*/ 12 w 143"/>
              <a:gd name="T3" fmla="*/ 121 h 121"/>
              <a:gd name="T4" fmla="*/ 38 w 143"/>
              <a:gd name="T5" fmla="*/ 121 h 121"/>
              <a:gd name="T6" fmla="*/ 38 w 143"/>
              <a:gd name="T7" fmla="*/ 66 h 121"/>
              <a:gd name="T8" fmla="*/ 7 w 143"/>
              <a:gd name="T9" fmla="*/ 97 h 121"/>
              <a:gd name="T10" fmla="*/ 7 w 143"/>
              <a:gd name="T11" fmla="*/ 115 h 121"/>
              <a:gd name="T12" fmla="*/ 51 w 143"/>
              <a:gd name="T13" fmla="*/ 78 h 121"/>
              <a:gd name="T14" fmla="*/ 51 w 143"/>
              <a:gd name="T15" fmla="*/ 121 h 121"/>
              <a:gd name="T16" fmla="*/ 83 w 143"/>
              <a:gd name="T17" fmla="*/ 121 h 121"/>
              <a:gd name="T18" fmla="*/ 83 w 143"/>
              <a:gd name="T19" fmla="*/ 83 h 121"/>
              <a:gd name="T20" fmla="*/ 69 w 143"/>
              <a:gd name="T21" fmla="*/ 96 h 121"/>
              <a:gd name="T22" fmla="*/ 51 w 143"/>
              <a:gd name="T23" fmla="*/ 78 h 121"/>
              <a:gd name="T24" fmla="*/ 115 w 143"/>
              <a:gd name="T25" fmla="*/ 2 h 121"/>
              <a:gd name="T26" fmla="*/ 109 w 143"/>
              <a:gd name="T27" fmla="*/ 8 h 121"/>
              <a:gd name="T28" fmla="*/ 116 w 143"/>
              <a:gd name="T29" fmla="*/ 13 h 121"/>
              <a:gd name="T30" fmla="*/ 122 w 143"/>
              <a:gd name="T31" fmla="*/ 13 h 121"/>
              <a:gd name="T32" fmla="*/ 69 w 143"/>
              <a:gd name="T33" fmla="*/ 66 h 121"/>
              <a:gd name="T34" fmla="*/ 38 w 143"/>
              <a:gd name="T35" fmla="*/ 35 h 121"/>
              <a:gd name="T36" fmla="*/ 3 w 143"/>
              <a:gd name="T37" fmla="*/ 71 h 121"/>
              <a:gd name="T38" fmla="*/ 3 w 143"/>
              <a:gd name="T39" fmla="*/ 79 h 121"/>
              <a:gd name="T40" fmla="*/ 11 w 143"/>
              <a:gd name="T41" fmla="*/ 79 h 121"/>
              <a:gd name="T42" fmla="*/ 38 w 143"/>
              <a:gd name="T43" fmla="*/ 51 h 121"/>
              <a:gd name="T44" fmla="*/ 69 w 143"/>
              <a:gd name="T45" fmla="*/ 82 h 121"/>
              <a:gd name="T46" fmla="*/ 130 w 143"/>
              <a:gd name="T47" fmla="*/ 21 h 121"/>
              <a:gd name="T48" fmla="*/ 129 w 143"/>
              <a:gd name="T49" fmla="*/ 27 h 121"/>
              <a:gd name="T50" fmla="*/ 134 w 143"/>
              <a:gd name="T51" fmla="*/ 33 h 121"/>
              <a:gd name="T52" fmla="*/ 135 w 143"/>
              <a:gd name="T53" fmla="*/ 33 h 121"/>
              <a:gd name="T54" fmla="*/ 141 w 143"/>
              <a:gd name="T55" fmla="*/ 28 h 121"/>
              <a:gd name="T56" fmla="*/ 143 w 143"/>
              <a:gd name="T57" fmla="*/ 0 h 121"/>
              <a:gd name="T58" fmla="*/ 115 w 143"/>
              <a:gd name="T59" fmla="*/ 2 h 121"/>
              <a:gd name="T60" fmla="*/ 96 w 143"/>
              <a:gd name="T61" fmla="*/ 70 h 121"/>
              <a:gd name="T62" fmla="*/ 96 w 143"/>
              <a:gd name="T63" fmla="*/ 121 h 121"/>
              <a:gd name="T64" fmla="*/ 122 w 143"/>
              <a:gd name="T65" fmla="*/ 121 h 121"/>
              <a:gd name="T66" fmla="*/ 127 w 143"/>
              <a:gd name="T67" fmla="*/ 115 h 121"/>
              <a:gd name="T68" fmla="*/ 127 w 143"/>
              <a:gd name="T69" fmla="*/ 38 h 121"/>
              <a:gd name="T70" fmla="*/ 100 w 143"/>
              <a:gd name="T71" fmla="*/ 66 h 121"/>
              <a:gd name="T72" fmla="*/ 96 w 143"/>
              <a:gd name="T73"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 h="121">
                <a:moveTo>
                  <a:pt x="7" y="115"/>
                </a:moveTo>
                <a:cubicBezTo>
                  <a:pt x="7" y="118"/>
                  <a:pt x="9" y="121"/>
                  <a:pt x="12" y="121"/>
                </a:cubicBezTo>
                <a:cubicBezTo>
                  <a:pt x="38" y="121"/>
                  <a:pt x="38" y="121"/>
                  <a:pt x="38" y="121"/>
                </a:cubicBezTo>
                <a:cubicBezTo>
                  <a:pt x="38" y="66"/>
                  <a:pt x="38" y="66"/>
                  <a:pt x="38" y="66"/>
                </a:cubicBezTo>
                <a:cubicBezTo>
                  <a:pt x="7" y="97"/>
                  <a:pt x="7" y="97"/>
                  <a:pt x="7" y="97"/>
                </a:cubicBezTo>
                <a:lnTo>
                  <a:pt x="7" y="115"/>
                </a:lnTo>
                <a:close/>
                <a:moveTo>
                  <a:pt x="51" y="78"/>
                </a:moveTo>
                <a:cubicBezTo>
                  <a:pt x="51" y="121"/>
                  <a:pt x="51" y="121"/>
                  <a:pt x="51" y="121"/>
                </a:cubicBezTo>
                <a:cubicBezTo>
                  <a:pt x="83" y="121"/>
                  <a:pt x="83" y="121"/>
                  <a:pt x="83" y="121"/>
                </a:cubicBezTo>
                <a:cubicBezTo>
                  <a:pt x="83" y="83"/>
                  <a:pt x="83" y="83"/>
                  <a:pt x="83" y="83"/>
                </a:cubicBezTo>
                <a:cubicBezTo>
                  <a:pt x="69" y="96"/>
                  <a:pt x="69" y="96"/>
                  <a:pt x="69" y="96"/>
                </a:cubicBezTo>
                <a:lnTo>
                  <a:pt x="51" y="78"/>
                </a:lnTo>
                <a:close/>
                <a:moveTo>
                  <a:pt x="115" y="2"/>
                </a:moveTo>
                <a:cubicBezTo>
                  <a:pt x="112" y="2"/>
                  <a:pt x="109" y="5"/>
                  <a:pt x="109" y="8"/>
                </a:cubicBezTo>
                <a:cubicBezTo>
                  <a:pt x="110" y="11"/>
                  <a:pt x="113" y="14"/>
                  <a:pt x="116" y="13"/>
                </a:cubicBezTo>
                <a:cubicBezTo>
                  <a:pt x="122" y="13"/>
                  <a:pt x="122" y="13"/>
                  <a:pt x="122" y="13"/>
                </a:cubicBezTo>
                <a:cubicBezTo>
                  <a:pt x="69" y="66"/>
                  <a:pt x="69" y="66"/>
                  <a:pt x="69" y="66"/>
                </a:cubicBezTo>
                <a:cubicBezTo>
                  <a:pt x="38" y="35"/>
                  <a:pt x="38" y="35"/>
                  <a:pt x="38" y="35"/>
                </a:cubicBezTo>
                <a:cubicBezTo>
                  <a:pt x="3" y="71"/>
                  <a:pt x="3" y="71"/>
                  <a:pt x="3" y="71"/>
                </a:cubicBezTo>
                <a:cubicBezTo>
                  <a:pt x="0" y="73"/>
                  <a:pt x="0" y="76"/>
                  <a:pt x="3" y="79"/>
                </a:cubicBezTo>
                <a:cubicBezTo>
                  <a:pt x="5" y="81"/>
                  <a:pt x="8" y="81"/>
                  <a:pt x="11" y="79"/>
                </a:cubicBezTo>
                <a:cubicBezTo>
                  <a:pt x="38" y="51"/>
                  <a:pt x="38" y="51"/>
                  <a:pt x="38" y="51"/>
                </a:cubicBezTo>
                <a:cubicBezTo>
                  <a:pt x="69" y="82"/>
                  <a:pt x="69" y="82"/>
                  <a:pt x="69" y="82"/>
                </a:cubicBezTo>
                <a:cubicBezTo>
                  <a:pt x="130" y="21"/>
                  <a:pt x="130" y="21"/>
                  <a:pt x="130" y="21"/>
                </a:cubicBezTo>
                <a:cubicBezTo>
                  <a:pt x="129" y="27"/>
                  <a:pt x="129" y="27"/>
                  <a:pt x="129" y="27"/>
                </a:cubicBezTo>
                <a:cubicBezTo>
                  <a:pt x="129" y="30"/>
                  <a:pt x="131" y="33"/>
                  <a:pt x="134" y="33"/>
                </a:cubicBezTo>
                <a:cubicBezTo>
                  <a:pt x="135" y="33"/>
                  <a:pt x="135" y="33"/>
                  <a:pt x="135" y="33"/>
                </a:cubicBezTo>
                <a:cubicBezTo>
                  <a:pt x="138" y="33"/>
                  <a:pt x="140" y="31"/>
                  <a:pt x="141" y="28"/>
                </a:cubicBezTo>
                <a:cubicBezTo>
                  <a:pt x="143" y="0"/>
                  <a:pt x="143" y="0"/>
                  <a:pt x="143" y="0"/>
                </a:cubicBezTo>
                <a:lnTo>
                  <a:pt x="115" y="2"/>
                </a:lnTo>
                <a:close/>
                <a:moveTo>
                  <a:pt x="96" y="70"/>
                </a:moveTo>
                <a:cubicBezTo>
                  <a:pt x="96" y="121"/>
                  <a:pt x="96" y="121"/>
                  <a:pt x="96" y="121"/>
                </a:cubicBezTo>
                <a:cubicBezTo>
                  <a:pt x="122" y="121"/>
                  <a:pt x="122" y="121"/>
                  <a:pt x="122" y="121"/>
                </a:cubicBezTo>
                <a:cubicBezTo>
                  <a:pt x="125" y="121"/>
                  <a:pt x="127" y="118"/>
                  <a:pt x="127" y="115"/>
                </a:cubicBezTo>
                <a:cubicBezTo>
                  <a:pt x="127" y="38"/>
                  <a:pt x="127" y="38"/>
                  <a:pt x="127" y="38"/>
                </a:cubicBezTo>
                <a:cubicBezTo>
                  <a:pt x="100" y="66"/>
                  <a:pt x="100" y="66"/>
                  <a:pt x="100" y="66"/>
                </a:cubicBezTo>
                <a:lnTo>
                  <a:pt x="96" y="7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1" name="Freeform 607"/>
          <p:cNvSpPr/>
          <p:nvPr/>
        </p:nvSpPr>
        <p:spPr bwMode="auto">
          <a:xfrm>
            <a:off x="8555039" y="2292351"/>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0 w 477"/>
              <a:gd name="T17" fmla="*/ 135 h 303"/>
              <a:gd name="T18" fmla="*/ 13 w 477"/>
              <a:gd name="T19" fmla="*/ 118 h 303"/>
              <a:gd name="T20" fmla="*/ 209 w 477"/>
              <a:gd name="T21" fmla="*/ 9 h 303"/>
              <a:gd name="T22" fmla="*/ 268 w 477"/>
              <a:gd name="T23" fmla="*/ 9 h 303"/>
              <a:gd name="T24" fmla="*/ 464 w 477"/>
              <a:gd name="T25" fmla="*/ 118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2" y="181"/>
                  <a:pt x="464" y="185"/>
                </a:cubicBezTo>
                <a:cubicBezTo>
                  <a:pt x="268" y="294"/>
                  <a:pt x="268" y="294"/>
                  <a:pt x="268" y="294"/>
                </a:cubicBezTo>
                <a:cubicBezTo>
                  <a:pt x="252" y="303"/>
                  <a:pt x="225" y="303"/>
                  <a:pt x="209" y="294"/>
                </a:cubicBezTo>
                <a:cubicBezTo>
                  <a:pt x="13" y="185"/>
                  <a:pt x="13" y="185"/>
                  <a:pt x="13" y="185"/>
                </a:cubicBezTo>
                <a:cubicBezTo>
                  <a:pt x="4" y="181"/>
                  <a:pt x="0" y="175"/>
                  <a:pt x="0" y="169"/>
                </a:cubicBezTo>
                <a:cubicBezTo>
                  <a:pt x="0" y="135"/>
                  <a:pt x="0" y="135"/>
                  <a:pt x="0" y="135"/>
                </a:cubicBezTo>
                <a:cubicBezTo>
                  <a:pt x="0" y="135"/>
                  <a:pt x="0" y="135"/>
                  <a:pt x="0" y="135"/>
                </a:cubicBezTo>
                <a:cubicBezTo>
                  <a:pt x="0" y="129"/>
                  <a:pt x="4" y="123"/>
                  <a:pt x="13" y="118"/>
                </a:cubicBezTo>
                <a:cubicBezTo>
                  <a:pt x="209" y="9"/>
                  <a:pt x="209" y="9"/>
                  <a:pt x="209" y="9"/>
                </a:cubicBezTo>
                <a:cubicBezTo>
                  <a:pt x="225" y="0"/>
                  <a:pt x="252" y="0"/>
                  <a:pt x="268" y="9"/>
                </a:cubicBezTo>
                <a:cubicBezTo>
                  <a:pt x="464" y="118"/>
                  <a:pt x="464" y="118"/>
                  <a:pt x="464" y="118"/>
                </a:cubicBezTo>
                <a:cubicBezTo>
                  <a:pt x="472" y="123"/>
                  <a:pt x="477" y="129"/>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2" name="Oval 608"/>
          <p:cNvSpPr>
            <a:spLocks noChangeArrowheads="1"/>
          </p:cNvSpPr>
          <p:nvPr/>
        </p:nvSpPr>
        <p:spPr bwMode="auto">
          <a:xfrm>
            <a:off x="8916989" y="2609851"/>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3" name="Oval 609"/>
          <p:cNvSpPr>
            <a:spLocks noChangeArrowheads="1"/>
          </p:cNvSpPr>
          <p:nvPr/>
        </p:nvSpPr>
        <p:spPr bwMode="auto">
          <a:xfrm>
            <a:off x="8916989" y="1905000"/>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4" name="Freeform 610"/>
          <p:cNvSpPr>
            <a:spLocks noEditPoints="1"/>
          </p:cNvSpPr>
          <p:nvPr/>
        </p:nvSpPr>
        <p:spPr bwMode="auto">
          <a:xfrm>
            <a:off x="8904289" y="1892300"/>
            <a:ext cx="815975" cy="819150"/>
          </a:xfrm>
          <a:custGeom>
            <a:avLst/>
            <a:gdLst>
              <a:gd name="T0" fmla="*/ 128 w 257"/>
              <a:gd name="T1" fmla="*/ 258 h 258"/>
              <a:gd name="T2" fmla="*/ 0 w 257"/>
              <a:gd name="T3" fmla="*/ 129 h 258"/>
              <a:gd name="T4" fmla="*/ 128 w 257"/>
              <a:gd name="T5" fmla="*/ 0 h 258"/>
              <a:gd name="T6" fmla="*/ 257 w 257"/>
              <a:gd name="T7" fmla="*/ 129 h 258"/>
              <a:gd name="T8" fmla="*/ 128 w 257"/>
              <a:gd name="T9" fmla="*/ 258 h 258"/>
              <a:gd name="T10" fmla="*/ 128 w 257"/>
              <a:gd name="T11" fmla="*/ 8 h 258"/>
              <a:gd name="T12" fmla="*/ 8 w 257"/>
              <a:gd name="T13" fmla="*/ 129 h 258"/>
              <a:gd name="T14" fmla="*/ 128 w 257"/>
              <a:gd name="T15" fmla="*/ 250 h 258"/>
              <a:gd name="T16" fmla="*/ 249 w 257"/>
              <a:gd name="T17" fmla="*/ 129 h 258"/>
              <a:gd name="T18" fmla="*/ 128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8" y="258"/>
                </a:moveTo>
                <a:cubicBezTo>
                  <a:pt x="57" y="258"/>
                  <a:pt x="0" y="200"/>
                  <a:pt x="0" y="129"/>
                </a:cubicBezTo>
                <a:cubicBezTo>
                  <a:pt x="0" y="58"/>
                  <a:pt x="57" y="0"/>
                  <a:pt x="128" y="0"/>
                </a:cubicBezTo>
                <a:cubicBezTo>
                  <a:pt x="199" y="0"/>
                  <a:pt x="257" y="58"/>
                  <a:pt x="257" y="129"/>
                </a:cubicBezTo>
                <a:cubicBezTo>
                  <a:pt x="257" y="200"/>
                  <a:pt x="199" y="258"/>
                  <a:pt x="128" y="258"/>
                </a:cubicBezTo>
                <a:close/>
                <a:moveTo>
                  <a:pt x="128" y="8"/>
                </a:moveTo>
                <a:cubicBezTo>
                  <a:pt x="62" y="8"/>
                  <a:pt x="8" y="62"/>
                  <a:pt x="8" y="129"/>
                </a:cubicBezTo>
                <a:cubicBezTo>
                  <a:pt x="8" y="196"/>
                  <a:pt x="62" y="250"/>
                  <a:pt x="128" y="250"/>
                </a:cubicBezTo>
                <a:cubicBezTo>
                  <a:pt x="195" y="250"/>
                  <a:pt x="249" y="196"/>
                  <a:pt x="249" y="129"/>
                </a:cubicBezTo>
                <a:cubicBezTo>
                  <a:pt x="249" y="62"/>
                  <a:pt x="195" y="8"/>
                  <a:pt x="128"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5" name="Freeform 611"/>
          <p:cNvSpPr>
            <a:spLocks noEditPoints="1"/>
          </p:cNvSpPr>
          <p:nvPr/>
        </p:nvSpPr>
        <p:spPr bwMode="auto">
          <a:xfrm>
            <a:off x="9142413" y="2085975"/>
            <a:ext cx="336550" cy="425450"/>
          </a:xfrm>
          <a:custGeom>
            <a:avLst/>
            <a:gdLst>
              <a:gd name="T0" fmla="*/ 154 w 212"/>
              <a:gd name="T1" fmla="*/ 44 h 268"/>
              <a:gd name="T2" fmla="*/ 36 w 212"/>
              <a:gd name="T3" fmla="*/ 44 h 268"/>
              <a:gd name="T4" fmla="*/ 36 w 212"/>
              <a:gd name="T5" fmla="*/ 60 h 268"/>
              <a:gd name="T6" fmla="*/ 154 w 212"/>
              <a:gd name="T7" fmla="*/ 60 h 268"/>
              <a:gd name="T8" fmla="*/ 154 w 212"/>
              <a:gd name="T9" fmla="*/ 44 h 268"/>
              <a:gd name="T10" fmla="*/ 154 w 212"/>
              <a:gd name="T11" fmla="*/ 110 h 268"/>
              <a:gd name="T12" fmla="*/ 36 w 212"/>
              <a:gd name="T13" fmla="*/ 110 h 268"/>
              <a:gd name="T14" fmla="*/ 36 w 212"/>
              <a:gd name="T15" fmla="*/ 126 h 268"/>
              <a:gd name="T16" fmla="*/ 154 w 212"/>
              <a:gd name="T17" fmla="*/ 126 h 268"/>
              <a:gd name="T18" fmla="*/ 154 w 212"/>
              <a:gd name="T19" fmla="*/ 110 h 268"/>
              <a:gd name="T20" fmla="*/ 154 w 212"/>
              <a:gd name="T21" fmla="*/ 78 h 268"/>
              <a:gd name="T22" fmla="*/ 36 w 212"/>
              <a:gd name="T23" fmla="*/ 78 h 268"/>
              <a:gd name="T24" fmla="*/ 36 w 212"/>
              <a:gd name="T25" fmla="*/ 94 h 268"/>
              <a:gd name="T26" fmla="*/ 154 w 212"/>
              <a:gd name="T27" fmla="*/ 94 h 268"/>
              <a:gd name="T28" fmla="*/ 154 w 212"/>
              <a:gd name="T29" fmla="*/ 78 h 268"/>
              <a:gd name="T30" fmla="*/ 190 w 212"/>
              <a:gd name="T31" fmla="*/ 24 h 268"/>
              <a:gd name="T32" fmla="*/ 190 w 212"/>
              <a:gd name="T33" fmla="*/ 0 h 268"/>
              <a:gd name="T34" fmla="*/ 0 w 212"/>
              <a:gd name="T35" fmla="*/ 0 h 268"/>
              <a:gd name="T36" fmla="*/ 0 w 212"/>
              <a:gd name="T37" fmla="*/ 244 h 268"/>
              <a:gd name="T38" fmla="*/ 24 w 212"/>
              <a:gd name="T39" fmla="*/ 244 h 268"/>
              <a:gd name="T40" fmla="*/ 24 w 212"/>
              <a:gd name="T41" fmla="*/ 268 h 268"/>
              <a:gd name="T42" fmla="*/ 212 w 212"/>
              <a:gd name="T43" fmla="*/ 268 h 268"/>
              <a:gd name="T44" fmla="*/ 212 w 212"/>
              <a:gd name="T45" fmla="*/ 24 h 268"/>
              <a:gd name="T46" fmla="*/ 190 w 212"/>
              <a:gd name="T47" fmla="*/ 24 h 268"/>
              <a:gd name="T48" fmla="*/ 14 w 212"/>
              <a:gd name="T49" fmla="*/ 232 h 268"/>
              <a:gd name="T50" fmla="*/ 14 w 212"/>
              <a:gd name="T51" fmla="*/ 14 h 268"/>
              <a:gd name="T52" fmla="*/ 176 w 212"/>
              <a:gd name="T53" fmla="*/ 14 h 268"/>
              <a:gd name="T54" fmla="*/ 176 w 212"/>
              <a:gd name="T55" fmla="*/ 176 h 268"/>
              <a:gd name="T56" fmla="*/ 120 w 212"/>
              <a:gd name="T57" fmla="*/ 176 h 268"/>
              <a:gd name="T58" fmla="*/ 120 w 212"/>
              <a:gd name="T59" fmla="*/ 232 h 268"/>
              <a:gd name="T60" fmla="*/ 14 w 212"/>
              <a:gd name="T61" fmla="*/ 232 h 268"/>
              <a:gd name="T62" fmla="*/ 200 w 212"/>
              <a:gd name="T63" fmla="*/ 254 h 268"/>
              <a:gd name="T64" fmla="*/ 38 w 212"/>
              <a:gd name="T65" fmla="*/ 254 h 268"/>
              <a:gd name="T66" fmla="*/ 38 w 212"/>
              <a:gd name="T67" fmla="*/ 244 h 268"/>
              <a:gd name="T68" fmla="*/ 128 w 212"/>
              <a:gd name="T69" fmla="*/ 244 h 268"/>
              <a:gd name="T70" fmla="*/ 190 w 212"/>
              <a:gd name="T71" fmla="*/ 182 h 268"/>
              <a:gd name="T72" fmla="*/ 190 w 212"/>
              <a:gd name="T73" fmla="*/ 38 h 268"/>
              <a:gd name="T74" fmla="*/ 200 w 212"/>
              <a:gd name="T75" fmla="*/ 38 h 268"/>
              <a:gd name="T76" fmla="*/ 200 w 212"/>
              <a:gd name="T77" fmla="*/ 254 h 268"/>
              <a:gd name="T78" fmla="*/ 36 w 212"/>
              <a:gd name="T79" fmla="*/ 160 h 268"/>
              <a:gd name="T80" fmla="*/ 96 w 212"/>
              <a:gd name="T81" fmla="*/ 160 h 268"/>
              <a:gd name="T82" fmla="*/ 96 w 212"/>
              <a:gd name="T83" fmla="*/ 142 h 268"/>
              <a:gd name="T84" fmla="*/ 36 w 212"/>
              <a:gd name="T85" fmla="*/ 142 h 268"/>
              <a:gd name="T86" fmla="*/ 36 w 212"/>
              <a:gd name="T87" fmla="*/ 16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2" h="268">
                <a:moveTo>
                  <a:pt x="154" y="44"/>
                </a:moveTo>
                <a:lnTo>
                  <a:pt x="36" y="44"/>
                </a:lnTo>
                <a:lnTo>
                  <a:pt x="36" y="60"/>
                </a:lnTo>
                <a:lnTo>
                  <a:pt x="154" y="60"/>
                </a:lnTo>
                <a:lnTo>
                  <a:pt x="154" y="44"/>
                </a:lnTo>
                <a:close/>
                <a:moveTo>
                  <a:pt x="154" y="110"/>
                </a:moveTo>
                <a:lnTo>
                  <a:pt x="36" y="110"/>
                </a:lnTo>
                <a:lnTo>
                  <a:pt x="36" y="126"/>
                </a:lnTo>
                <a:lnTo>
                  <a:pt x="154" y="126"/>
                </a:lnTo>
                <a:lnTo>
                  <a:pt x="154" y="110"/>
                </a:lnTo>
                <a:close/>
                <a:moveTo>
                  <a:pt x="154" y="78"/>
                </a:moveTo>
                <a:lnTo>
                  <a:pt x="36" y="78"/>
                </a:lnTo>
                <a:lnTo>
                  <a:pt x="36" y="94"/>
                </a:lnTo>
                <a:lnTo>
                  <a:pt x="154" y="94"/>
                </a:lnTo>
                <a:lnTo>
                  <a:pt x="154" y="78"/>
                </a:lnTo>
                <a:close/>
                <a:moveTo>
                  <a:pt x="190" y="24"/>
                </a:moveTo>
                <a:lnTo>
                  <a:pt x="190" y="0"/>
                </a:lnTo>
                <a:lnTo>
                  <a:pt x="0" y="0"/>
                </a:lnTo>
                <a:lnTo>
                  <a:pt x="0" y="244"/>
                </a:lnTo>
                <a:lnTo>
                  <a:pt x="24" y="244"/>
                </a:lnTo>
                <a:lnTo>
                  <a:pt x="24" y="268"/>
                </a:lnTo>
                <a:lnTo>
                  <a:pt x="212" y="268"/>
                </a:lnTo>
                <a:lnTo>
                  <a:pt x="212" y="24"/>
                </a:lnTo>
                <a:lnTo>
                  <a:pt x="190" y="24"/>
                </a:lnTo>
                <a:close/>
                <a:moveTo>
                  <a:pt x="14" y="232"/>
                </a:moveTo>
                <a:lnTo>
                  <a:pt x="14" y="14"/>
                </a:lnTo>
                <a:lnTo>
                  <a:pt x="176" y="14"/>
                </a:lnTo>
                <a:lnTo>
                  <a:pt x="176" y="176"/>
                </a:lnTo>
                <a:lnTo>
                  <a:pt x="120" y="176"/>
                </a:lnTo>
                <a:lnTo>
                  <a:pt x="120" y="232"/>
                </a:lnTo>
                <a:lnTo>
                  <a:pt x="14" y="232"/>
                </a:lnTo>
                <a:close/>
                <a:moveTo>
                  <a:pt x="200" y="254"/>
                </a:moveTo>
                <a:lnTo>
                  <a:pt x="38" y="254"/>
                </a:lnTo>
                <a:lnTo>
                  <a:pt x="38" y="244"/>
                </a:lnTo>
                <a:lnTo>
                  <a:pt x="128" y="244"/>
                </a:lnTo>
                <a:lnTo>
                  <a:pt x="190" y="182"/>
                </a:lnTo>
                <a:lnTo>
                  <a:pt x="190" y="38"/>
                </a:lnTo>
                <a:lnTo>
                  <a:pt x="200" y="38"/>
                </a:lnTo>
                <a:lnTo>
                  <a:pt x="200" y="254"/>
                </a:lnTo>
                <a:close/>
                <a:moveTo>
                  <a:pt x="36" y="160"/>
                </a:moveTo>
                <a:lnTo>
                  <a:pt x="96" y="160"/>
                </a:lnTo>
                <a:lnTo>
                  <a:pt x="96" y="142"/>
                </a:lnTo>
                <a:lnTo>
                  <a:pt x="36" y="142"/>
                </a:lnTo>
                <a:lnTo>
                  <a:pt x="36" y="16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6" name="Freeform 616"/>
          <p:cNvSpPr/>
          <p:nvPr/>
        </p:nvSpPr>
        <p:spPr bwMode="auto">
          <a:xfrm>
            <a:off x="2122489" y="2720975"/>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3" y="12"/>
                  <a:pt x="464" y="16"/>
                </a:cubicBezTo>
                <a:cubicBezTo>
                  <a:pt x="268" y="125"/>
                  <a:pt x="268" y="125"/>
                  <a:pt x="268" y="125"/>
                </a:cubicBezTo>
                <a:cubicBezTo>
                  <a:pt x="252" y="134"/>
                  <a:pt x="225" y="134"/>
                  <a:pt x="209" y="125"/>
                </a:cubicBezTo>
                <a:cubicBezTo>
                  <a:pt x="13" y="16"/>
                  <a:pt x="13" y="16"/>
                  <a:pt x="13" y="16"/>
                </a:cubicBezTo>
                <a:cubicBezTo>
                  <a:pt x="5" y="12"/>
                  <a:pt x="0" y="6"/>
                  <a:pt x="0" y="0"/>
                </a:cubicBezTo>
                <a:cubicBezTo>
                  <a:pt x="0" y="34"/>
                  <a:pt x="0" y="34"/>
                  <a:pt x="0" y="34"/>
                </a:cubicBezTo>
                <a:cubicBezTo>
                  <a:pt x="0" y="40"/>
                  <a:pt x="5" y="46"/>
                  <a:pt x="13" y="50"/>
                </a:cubicBezTo>
                <a:cubicBezTo>
                  <a:pt x="209" y="159"/>
                  <a:pt x="209" y="159"/>
                  <a:pt x="209" y="159"/>
                </a:cubicBezTo>
                <a:cubicBezTo>
                  <a:pt x="225" y="168"/>
                  <a:pt x="252" y="168"/>
                  <a:pt x="268" y="159"/>
                </a:cubicBezTo>
                <a:cubicBezTo>
                  <a:pt x="464" y="50"/>
                  <a:pt x="464" y="50"/>
                  <a:pt x="464" y="50"/>
                </a:cubicBezTo>
                <a:cubicBezTo>
                  <a:pt x="473" y="46"/>
                  <a:pt x="477" y="40"/>
                  <a:pt x="477" y="34"/>
                </a:cubicBezTo>
                <a:lnTo>
                  <a:pt x="477" y="0"/>
                </a:lnTo>
                <a:close/>
              </a:path>
            </a:pathLst>
          </a:custGeom>
          <a:solidFill>
            <a:srgbClr val="009F9A">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7" name="Freeform 618"/>
          <p:cNvSpPr/>
          <p:nvPr/>
        </p:nvSpPr>
        <p:spPr bwMode="auto">
          <a:xfrm>
            <a:off x="5340351" y="4489450"/>
            <a:ext cx="1511300" cy="533400"/>
          </a:xfrm>
          <a:custGeom>
            <a:avLst/>
            <a:gdLst>
              <a:gd name="T0" fmla="*/ 476 w 476"/>
              <a:gd name="T1" fmla="*/ 0 h 168"/>
              <a:gd name="T2" fmla="*/ 464 w 476"/>
              <a:gd name="T3" fmla="*/ 16 h 168"/>
              <a:gd name="T4" fmla="*/ 268 w 476"/>
              <a:gd name="T5" fmla="*/ 125 h 168"/>
              <a:gd name="T6" fmla="*/ 208 w 476"/>
              <a:gd name="T7" fmla="*/ 125 h 168"/>
              <a:gd name="T8" fmla="*/ 12 w 476"/>
              <a:gd name="T9" fmla="*/ 16 h 168"/>
              <a:gd name="T10" fmla="*/ 0 w 476"/>
              <a:gd name="T11" fmla="*/ 0 h 168"/>
              <a:gd name="T12" fmla="*/ 0 w 476"/>
              <a:gd name="T13" fmla="*/ 34 h 168"/>
              <a:gd name="T14" fmla="*/ 12 w 476"/>
              <a:gd name="T15" fmla="*/ 50 h 168"/>
              <a:gd name="T16" fmla="*/ 208 w 476"/>
              <a:gd name="T17" fmla="*/ 159 h 168"/>
              <a:gd name="T18" fmla="*/ 268 w 476"/>
              <a:gd name="T19" fmla="*/ 159 h 168"/>
              <a:gd name="T20" fmla="*/ 464 w 476"/>
              <a:gd name="T21" fmla="*/ 50 h 168"/>
              <a:gd name="T22" fmla="*/ 476 w 476"/>
              <a:gd name="T23" fmla="*/ 34 h 168"/>
              <a:gd name="T24" fmla="*/ 476 w 476"/>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6" h="168">
                <a:moveTo>
                  <a:pt x="476" y="0"/>
                </a:moveTo>
                <a:cubicBezTo>
                  <a:pt x="476" y="6"/>
                  <a:pt x="472" y="12"/>
                  <a:pt x="464" y="16"/>
                </a:cubicBezTo>
                <a:cubicBezTo>
                  <a:pt x="268" y="125"/>
                  <a:pt x="268" y="125"/>
                  <a:pt x="268" y="125"/>
                </a:cubicBezTo>
                <a:cubicBezTo>
                  <a:pt x="251" y="134"/>
                  <a:pt x="225" y="134"/>
                  <a:pt x="208" y="125"/>
                </a:cubicBezTo>
                <a:cubicBezTo>
                  <a:pt x="12" y="16"/>
                  <a:pt x="12" y="16"/>
                  <a:pt x="12" y="16"/>
                </a:cubicBezTo>
                <a:cubicBezTo>
                  <a:pt x="4" y="12"/>
                  <a:pt x="0" y="6"/>
                  <a:pt x="0" y="0"/>
                </a:cubicBezTo>
                <a:cubicBezTo>
                  <a:pt x="0" y="34"/>
                  <a:pt x="0" y="34"/>
                  <a:pt x="0" y="34"/>
                </a:cubicBezTo>
                <a:cubicBezTo>
                  <a:pt x="0" y="40"/>
                  <a:pt x="4" y="46"/>
                  <a:pt x="12" y="50"/>
                </a:cubicBezTo>
                <a:cubicBezTo>
                  <a:pt x="208" y="159"/>
                  <a:pt x="208" y="159"/>
                  <a:pt x="208" y="159"/>
                </a:cubicBezTo>
                <a:cubicBezTo>
                  <a:pt x="225" y="168"/>
                  <a:pt x="251" y="168"/>
                  <a:pt x="268" y="159"/>
                </a:cubicBezTo>
                <a:cubicBezTo>
                  <a:pt x="464" y="50"/>
                  <a:pt x="464" y="50"/>
                  <a:pt x="464" y="50"/>
                </a:cubicBezTo>
                <a:cubicBezTo>
                  <a:pt x="472" y="46"/>
                  <a:pt x="476" y="40"/>
                  <a:pt x="476" y="34"/>
                </a:cubicBezTo>
                <a:lnTo>
                  <a:pt x="476"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8" name="Freeform 620"/>
          <p:cNvSpPr/>
          <p:nvPr/>
        </p:nvSpPr>
        <p:spPr bwMode="auto">
          <a:xfrm>
            <a:off x="8555039" y="2720975"/>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2" y="12"/>
                  <a:pt x="464" y="16"/>
                </a:cubicBezTo>
                <a:cubicBezTo>
                  <a:pt x="268" y="125"/>
                  <a:pt x="268" y="125"/>
                  <a:pt x="268" y="125"/>
                </a:cubicBezTo>
                <a:cubicBezTo>
                  <a:pt x="252" y="134"/>
                  <a:pt x="225" y="134"/>
                  <a:pt x="209" y="125"/>
                </a:cubicBezTo>
                <a:cubicBezTo>
                  <a:pt x="13" y="16"/>
                  <a:pt x="13" y="16"/>
                  <a:pt x="13" y="16"/>
                </a:cubicBezTo>
                <a:cubicBezTo>
                  <a:pt x="4" y="12"/>
                  <a:pt x="0" y="6"/>
                  <a:pt x="0" y="0"/>
                </a:cubicBezTo>
                <a:cubicBezTo>
                  <a:pt x="0" y="34"/>
                  <a:pt x="0" y="34"/>
                  <a:pt x="0" y="34"/>
                </a:cubicBezTo>
                <a:cubicBezTo>
                  <a:pt x="0" y="40"/>
                  <a:pt x="4" y="46"/>
                  <a:pt x="13" y="50"/>
                </a:cubicBezTo>
                <a:cubicBezTo>
                  <a:pt x="209" y="159"/>
                  <a:pt x="209" y="159"/>
                  <a:pt x="209" y="159"/>
                </a:cubicBezTo>
                <a:cubicBezTo>
                  <a:pt x="225" y="168"/>
                  <a:pt x="252" y="168"/>
                  <a:pt x="268" y="159"/>
                </a:cubicBezTo>
                <a:cubicBezTo>
                  <a:pt x="464" y="50"/>
                  <a:pt x="464" y="50"/>
                  <a:pt x="464" y="50"/>
                </a:cubicBezTo>
                <a:cubicBezTo>
                  <a:pt x="472"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9" name="Freeform 566"/>
          <p:cNvSpPr/>
          <p:nvPr/>
        </p:nvSpPr>
        <p:spPr bwMode="auto">
          <a:xfrm>
            <a:off x="7671498" y="2974683"/>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0" name="Freeform 573"/>
          <p:cNvSpPr/>
          <p:nvPr/>
        </p:nvSpPr>
        <p:spPr bwMode="auto">
          <a:xfrm>
            <a:off x="7671498" y="2628608"/>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1" name="Freeform 579"/>
          <p:cNvSpPr/>
          <p:nvPr/>
        </p:nvSpPr>
        <p:spPr bwMode="auto">
          <a:xfrm>
            <a:off x="7671498" y="2803233"/>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2" name="Freeform 606"/>
          <p:cNvSpPr/>
          <p:nvPr/>
        </p:nvSpPr>
        <p:spPr bwMode="auto">
          <a:xfrm>
            <a:off x="6903148" y="3282658"/>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3" name="Freeform 607"/>
          <p:cNvSpPr/>
          <p:nvPr/>
        </p:nvSpPr>
        <p:spPr bwMode="auto">
          <a:xfrm>
            <a:off x="6915848" y="3066758"/>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0 w 477"/>
              <a:gd name="T17" fmla="*/ 135 h 303"/>
              <a:gd name="T18" fmla="*/ 13 w 477"/>
              <a:gd name="T19" fmla="*/ 118 h 303"/>
              <a:gd name="T20" fmla="*/ 209 w 477"/>
              <a:gd name="T21" fmla="*/ 9 h 303"/>
              <a:gd name="T22" fmla="*/ 268 w 477"/>
              <a:gd name="T23" fmla="*/ 9 h 303"/>
              <a:gd name="T24" fmla="*/ 464 w 477"/>
              <a:gd name="T25" fmla="*/ 118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2" y="181"/>
                  <a:pt x="464" y="185"/>
                </a:cubicBezTo>
                <a:cubicBezTo>
                  <a:pt x="268" y="294"/>
                  <a:pt x="268" y="294"/>
                  <a:pt x="268" y="294"/>
                </a:cubicBezTo>
                <a:cubicBezTo>
                  <a:pt x="252" y="303"/>
                  <a:pt x="225" y="303"/>
                  <a:pt x="209" y="294"/>
                </a:cubicBezTo>
                <a:cubicBezTo>
                  <a:pt x="13" y="185"/>
                  <a:pt x="13" y="185"/>
                  <a:pt x="13" y="185"/>
                </a:cubicBezTo>
                <a:cubicBezTo>
                  <a:pt x="4" y="181"/>
                  <a:pt x="0" y="175"/>
                  <a:pt x="0" y="169"/>
                </a:cubicBezTo>
                <a:cubicBezTo>
                  <a:pt x="0" y="135"/>
                  <a:pt x="0" y="135"/>
                  <a:pt x="0" y="135"/>
                </a:cubicBezTo>
                <a:cubicBezTo>
                  <a:pt x="0" y="135"/>
                  <a:pt x="0" y="135"/>
                  <a:pt x="0" y="135"/>
                </a:cubicBezTo>
                <a:cubicBezTo>
                  <a:pt x="0" y="129"/>
                  <a:pt x="4" y="123"/>
                  <a:pt x="13" y="118"/>
                </a:cubicBezTo>
                <a:cubicBezTo>
                  <a:pt x="209" y="9"/>
                  <a:pt x="209" y="9"/>
                  <a:pt x="209" y="9"/>
                </a:cubicBezTo>
                <a:cubicBezTo>
                  <a:pt x="225" y="0"/>
                  <a:pt x="252" y="0"/>
                  <a:pt x="268" y="9"/>
                </a:cubicBezTo>
                <a:cubicBezTo>
                  <a:pt x="464" y="118"/>
                  <a:pt x="464" y="118"/>
                  <a:pt x="464" y="118"/>
                </a:cubicBezTo>
                <a:cubicBezTo>
                  <a:pt x="472" y="123"/>
                  <a:pt x="477" y="129"/>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54" name="Oval 608"/>
          <p:cNvSpPr>
            <a:spLocks noChangeArrowheads="1"/>
          </p:cNvSpPr>
          <p:nvPr/>
        </p:nvSpPr>
        <p:spPr bwMode="auto">
          <a:xfrm>
            <a:off x="7277798" y="3384258"/>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5" name="Oval 609"/>
          <p:cNvSpPr>
            <a:spLocks noChangeArrowheads="1"/>
          </p:cNvSpPr>
          <p:nvPr/>
        </p:nvSpPr>
        <p:spPr bwMode="auto">
          <a:xfrm>
            <a:off x="7277798" y="2679407"/>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6" name="Freeform 610"/>
          <p:cNvSpPr>
            <a:spLocks noEditPoints="1"/>
          </p:cNvSpPr>
          <p:nvPr/>
        </p:nvSpPr>
        <p:spPr bwMode="auto">
          <a:xfrm>
            <a:off x="7265098" y="2666707"/>
            <a:ext cx="815975" cy="819150"/>
          </a:xfrm>
          <a:custGeom>
            <a:avLst/>
            <a:gdLst>
              <a:gd name="T0" fmla="*/ 128 w 257"/>
              <a:gd name="T1" fmla="*/ 258 h 258"/>
              <a:gd name="T2" fmla="*/ 0 w 257"/>
              <a:gd name="T3" fmla="*/ 129 h 258"/>
              <a:gd name="T4" fmla="*/ 128 w 257"/>
              <a:gd name="T5" fmla="*/ 0 h 258"/>
              <a:gd name="T6" fmla="*/ 257 w 257"/>
              <a:gd name="T7" fmla="*/ 129 h 258"/>
              <a:gd name="T8" fmla="*/ 128 w 257"/>
              <a:gd name="T9" fmla="*/ 258 h 258"/>
              <a:gd name="T10" fmla="*/ 128 w 257"/>
              <a:gd name="T11" fmla="*/ 8 h 258"/>
              <a:gd name="T12" fmla="*/ 8 w 257"/>
              <a:gd name="T13" fmla="*/ 129 h 258"/>
              <a:gd name="T14" fmla="*/ 128 w 257"/>
              <a:gd name="T15" fmla="*/ 250 h 258"/>
              <a:gd name="T16" fmla="*/ 249 w 257"/>
              <a:gd name="T17" fmla="*/ 129 h 258"/>
              <a:gd name="T18" fmla="*/ 128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8" y="258"/>
                </a:moveTo>
                <a:cubicBezTo>
                  <a:pt x="57" y="258"/>
                  <a:pt x="0" y="200"/>
                  <a:pt x="0" y="129"/>
                </a:cubicBezTo>
                <a:cubicBezTo>
                  <a:pt x="0" y="58"/>
                  <a:pt x="57" y="0"/>
                  <a:pt x="128" y="0"/>
                </a:cubicBezTo>
                <a:cubicBezTo>
                  <a:pt x="199" y="0"/>
                  <a:pt x="257" y="58"/>
                  <a:pt x="257" y="129"/>
                </a:cubicBezTo>
                <a:cubicBezTo>
                  <a:pt x="257" y="200"/>
                  <a:pt x="199" y="258"/>
                  <a:pt x="128" y="258"/>
                </a:cubicBezTo>
                <a:close/>
                <a:moveTo>
                  <a:pt x="128" y="8"/>
                </a:moveTo>
                <a:cubicBezTo>
                  <a:pt x="62" y="8"/>
                  <a:pt x="8" y="62"/>
                  <a:pt x="8" y="129"/>
                </a:cubicBezTo>
                <a:cubicBezTo>
                  <a:pt x="8" y="196"/>
                  <a:pt x="62" y="250"/>
                  <a:pt x="128" y="250"/>
                </a:cubicBezTo>
                <a:cubicBezTo>
                  <a:pt x="195" y="250"/>
                  <a:pt x="249" y="196"/>
                  <a:pt x="249" y="129"/>
                </a:cubicBezTo>
                <a:cubicBezTo>
                  <a:pt x="249" y="62"/>
                  <a:pt x="195" y="8"/>
                  <a:pt x="128"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7" name="Freeform 611"/>
          <p:cNvSpPr>
            <a:spLocks noEditPoints="1"/>
          </p:cNvSpPr>
          <p:nvPr/>
        </p:nvSpPr>
        <p:spPr bwMode="auto">
          <a:xfrm>
            <a:off x="7503222" y="2860382"/>
            <a:ext cx="336550" cy="425450"/>
          </a:xfrm>
          <a:custGeom>
            <a:avLst/>
            <a:gdLst>
              <a:gd name="T0" fmla="*/ 154 w 212"/>
              <a:gd name="T1" fmla="*/ 44 h 268"/>
              <a:gd name="T2" fmla="*/ 36 w 212"/>
              <a:gd name="T3" fmla="*/ 44 h 268"/>
              <a:gd name="T4" fmla="*/ 36 w 212"/>
              <a:gd name="T5" fmla="*/ 60 h 268"/>
              <a:gd name="T6" fmla="*/ 154 w 212"/>
              <a:gd name="T7" fmla="*/ 60 h 268"/>
              <a:gd name="T8" fmla="*/ 154 w 212"/>
              <a:gd name="T9" fmla="*/ 44 h 268"/>
              <a:gd name="T10" fmla="*/ 154 w 212"/>
              <a:gd name="T11" fmla="*/ 110 h 268"/>
              <a:gd name="T12" fmla="*/ 36 w 212"/>
              <a:gd name="T13" fmla="*/ 110 h 268"/>
              <a:gd name="T14" fmla="*/ 36 w 212"/>
              <a:gd name="T15" fmla="*/ 126 h 268"/>
              <a:gd name="T16" fmla="*/ 154 w 212"/>
              <a:gd name="T17" fmla="*/ 126 h 268"/>
              <a:gd name="T18" fmla="*/ 154 w 212"/>
              <a:gd name="T19" fmla="*/ 110 h 268"/>
              <a:gd name="T20" fmla="*/ 154 w 212"/>
              <a:gd name="T21" fmla="*/ 78 h 268"/>
              <a:gd name="T22" fmla="*/ 36 w 212"/>
              <a:gd name="T23" fmla="*/ 78 h 268"/>
              <a:gd name="T24" fmla="*/ 36 w 212"/>
              <a:gd name="T25" fmla="*/ 94 h 268"/>
              <a:gd name="T26" fmla="*/ 154 w 212"/>
              <a:gd name="T27" fmla="*/ 94 h 268"/>
              <a:gd name="T28" fmla="*/ 154 w 212"/>
              <a:gd name="T29" fmla="*/ 78 h 268"/>
              <a:gd name="T30" fmla="*/ 190 w 212"/>
              <a:gd name="T31" fmla="*/ 24 h 268"/>
              <a:gd name="T32" fmla="*/ 190 w 212"/>
              <a:gd name="T33" fmla="*/ 0 h 268"/>
              <a:gd name="T34" fmla="*/ 0 w 212"/>
              <a:gd name="T35" fmla="*/ 0 h 268"/>
              <a:gd name="T36" fmla="*/ 0 w 212"/>
              <a:gd name="T37" fmla="*/ 244 h 268"/>
              <a:gd name="T38" fmla="*/ 24 w 212"/>
              <a:gd name="T39" fmla="*/ 244 h 268"/>
              <a:gd name="T40" fmla="*/ 24 w 212"/>
              <a:gd name="T41" fmla="*/ 268 h 268"/>
              <a:gd name="T42" fmla="*/ 212 w 212"/>
              <a:gd name="T43" fmla="*/ 268 h 268"/>
              <a:gd name="T44" fmla="*/ 212 w 212"/>
              <a:gd name="T45" fmla="*/ 24 h 268"/>
              <a:gd name="T46" fmla="*/ 190 w 212"/>
              <a:gd name="T47" fmla="*/ 24 h 268"/>
              <a:gd name="T48" fmla="*/ 14 w 212"/>
              <a:gd name="T49" fmla="*/ 232 h 268"/>
              <a:gd name="T50" fmla="*/ 14 w 212"/>
              <a:gd name="T51" fmla="*/ 14 h 268"/>
              <a:gd name="T52" fmla="*/ 176 w 212"/>
              <a:gd name="T53" fmla="*/ 14 h 268"/>
              <a:gd name="T54" fmla="*/ 176 w 212"/>
              <a:gd name="T55" fmla="*/ 176 h 268"/>
              <a:gd name="T56" fmla="*/ 120 w 212"/>
              <a:gd name="T57" fmla="*/ 176 h 268"/>
              <a:gd name="T58" fmla="*/ 120 w 212"/>
              <a:gd name="T59" fmla="*/ 232 h 268"/>
              <a:gd name="T60" fmla="*/ 14 w 212"/>
              <a:gd name="T61" fmla="*/ 232 h 268"/>
              <a:gd name="T62" fmla="*/ 200 w 212"/>
              <a:gd name="T63" fmla="*/ 254 h 268"/>
              <a:gd name="T64" fmla="*/ 38 w 212"/>
              <a:gd name="T65" fmla="*/ 254 h 268"/>
              <a:gd name="T66" fmla="*/ 38 w 212"/>
              <a:gd name="T67" fmla="*/ 244 h 268"/>
              <a:gd name="T68" fmla="*/ 128 w 212"/>
              <a:gd name="T69" fmla="*/ 244 h 268"/>
              <a:gd name="T70" fmla="*/ 190 w 212"/>
              <a:gd name="T71" fmla="*/ 182 h 268"/>
              <a:gd name="T72" fmla="*/ 190 w 212"/>
              <a:gd name="T73" fmla="*/ 38 h 268"/>
              <a:gd name="T74" fmla="*/ 200 w 212"/>
              <a:gd name="T75" fmla="*/ 38 h 268"/>
              <a:gd name="T76" fmla="*/ 200 w 212"/>
              <a:gd name="T77" fmla="*/ 254 h 268"/>
              <a:gd name="T78" fmla="*/ 36 w 212"/>
              <a:gd name="T79" fmla="*/ 160 h 268"/>
              <a:gd name="T80" fmla="*/ 96 w 212"/>
              <a:gd name="T81" fmla="*/ 160 h 268"/>
              <a:gd name="T82" fmla="*/ 96 w 212"/>
              <a:gd name="T83" fmla="*/ 142 h 268"/>
              <a:gd name="T84" fmla="*/ 36 w 212"/>
              <a:gd name="T85" fmla="*/ 142 h 268"/>
              <a:gd name="T86" fmla="*/ 36 w 212"/>
              <a:gd name="T87" fmla="*/ 16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2" h="268">
                <a:moveTo>
                  <a:pt x="154" y="44"/>
                </a:moveTo>
                <a:lnTo>
                  <a:pt x="36" y="44"/>
                </a:lnTo>
                <a:lnTo>
                  <a:pt x="36" y="60"/>
                </a:lnTo>
                <a:lnTo>
                  <a:pt x="154" y="60"/>
                </a:lnTo>
                <a:lnTo>
                  <a:pt x="154" y="44"/>
                </a:lnTo>
                <a:close/>
                <a:moveTo>
                  <a:pt x="154" y="110"/>
                </a:moveTo>
                <a:lnTo>
                  <a:pt x="36" y="110"/>
                </a:lnTo>
                <a:lnTo>
                  <a:pt x="36" y="126"/>
                </a:lnTo>
                <a:lnTo>
                  <a:pt x="154" y="126"/>
                </a:lnTo>
                <a:lnTo>
                  <a:pt x="154" y="110"/>
                </a:lnTo>
                <a:close/>
                <a:moveTo>
                  <a:pt x="154" y="78"/>
                </a:moveTo>
                <a:lnTo>
                  <a:pt x="36" y="78"/>
                </a:lnTo>
                <a:lnTo>
                  <a:pt x="36" y="94"/>
                </a:lnTo>
                <a:lnTo>
                  <a:pt x="154" y="94"/>
                </a:lnTo>
                <a:lnTo>
                  <a:pt x="154" y="78"/>
                </a:lnTo>
                <a:close/>
                <a:moveTo>
                  <a:pt x="190" y="24"/>
                </a:moveTo>
                <a:lnTo>
                  <a:pt x="190" y="0"/>
                </a:lnTo>
                <a:lnTo>
                  <a:pt x="0" y="0"/>
                </a:lnTo>
                <a:lnTo>
                  <a:pt x="0" y="244"/>
                </a:lnTo>
                <a:lnTo>
                  <a:pt x="24" y="244"/>
                </a:lnTo>
                <a:lnTo>
                  <a:pt x="24" y="268"/>
                </a:lnTo>
                <a:lnTo>
                  <a:pt x="212" y="268"/>
                </a:lnTo>
                <a:lnTo>
                  <a:pt x="212" y="24"/>
                </a:lnTo>
                <a:lnTo>
                  <a:pt x="190" y="24"/>
                </a:lnTo>
                <a:close/>
                <a:moveTo>
                  <a:pt x="14" y="232"/>
                </a:moveTo>
                <a:lnTo>
                  <a:pt x="14" y="14"/>
                </a:lnTo>
                <a:lnTo>
                  <a:pt x="176" y="14"/>
                </a:lnTo>
                <a:lnTo>
                  <a:pt x="176" y="176"/>
                </a:lnTo>
                <a:lnTo>
                  <a:pt x="120" y="176"/>
                </a:lnTo>
                <a:lnTo>
                  <a:pt x="120" y="232"/>
                </a:lnTo>
                <a:lnTo>
                  <a:pt x="14" y="232"/>
                </a:lnTo>
                <a:close/>
                <a:moveTo>
                  <a:pt x="200" y="254"/>
                </a:moveTo>
                <a:lnTo>
                  <a:pt x="38" y="254"/>
                </a:lnTo>
                <a:lnTo>
                  <a:pt x="38" y="244"/>
                </a:lnTo>
                <a:lnTo>
                  <a:pt x="128" y="244"/>
                </a:lnTo>
                <a:lnTo>
                  <a:pt x="190" y="182"/>
                </a:lnTo>
                <a:lnTo>
                  <a:pt x="190" y="38"/>
                </a:lnTo>
                <a:lnTo>
                  <a:pt x="200" y="38"/>
                </a:lnTo>
                <a:lnTo>
                  <a:pt x="200" y="254"/>
                </a:lnTo>
                <a:close/>
                <a:moveTo>
                  <a:pt x="36" y="160"/>
                </a:moveTo>
                <a:lnTo>
                  <a:pt x="96" y="160"/>
                </a:lnTo>
                <a:lnTo>
                  <a:pt x="96" y="142"/>
                </a:lnTo>
                <a:lnTo>
                  <a:pt x="36" y="142"/>
                </a:lnTo>
                <a:lnTo>
                  <a:pt x="36" y="16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8" name="Freeform 620"/>
          <p:cNvSpPr/>
          <p:nvPr/>
        </p:nvSpPr>
        <p:spPr bwMode="auto">
          <a:xfrm>
            <a:off x="6915848" y="3495382"/>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2" y="12"/>
                  <a:pt x="464" y="16"/>
                </a:cubicBezTo>
                <a:cubicBezTo>
                  <a:pt x="268" y="125"/>
                  <a:pt x="268" y="125"/>
                  <a:pt x="268" y="125"/>
                </a:cubicBezTo>
                <a:cubicBezTo>
                  <a:pt x="252" y="134"/>
                  <a:pt x="225" y="134"/>
                  <a:pt x="209" y="125"/>
                </a:cubicBezTo>
                <a:cubicBezTo>
                  <a:pt x="13" y="16"/>
                  <a:pt x="13" y="16"/>
                  <a:pt x="13" y="16"/>
                </a:cubicBezTo>
                <a:cubicBezTo>
                  <a:pt x="4" y="12"/>
                  <a:pt x="0" y="6"/>
                  <a:pt x="0" y="0"/>
                </a:cubicBezTo>
                <a:cubicBezTo>
                  <a:pt x="0" y="34"/>
                  <a:pt x="0" y="34"/>
                  <a:pt x="0" y="34"/>
                </a:cubicBezTo>
                <a:cubicBezTo>
                  <a:pt x="0" y="40"/>
                  <a:pt x="4" y="46"/>
                  <a:pt x="13" y="50"/>
                </a:cubicBezTo>
                <a:cubicBezTo>
                  <a:pt x="209" y="159"/>
                  <a:pt x="209" y="159"/>
                  <a:pt x="209" y="159"/>
                </a:cubicBezTo>
                <a:cubicBezTo>
                  <a:pt x="225" y="168"/>
                  <a:pt x="252" y="168"/>
                  <a:pt x="268" y="159"/>
                </a:cubicBezTo>
                <a:cubicBezTo>
                  <a:pt x="464" y="50"/>
                  <a:pt x="464" y="50"/>
                  <a:pt x="464" y="50"/>
                </a:cubicBezTo>
                <a:cubicBezTo>
                  <a:pt x="472"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9" name="Freeform 567"/>
          <p:cNvSpPr/>
          <p:nvPr/>
        </p:nvSpPr>
        <p:spPr bwMode="auto">
          <a:xfrm>
            <a:off x="3230346" y="3107589"/>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0" name="Freeform 575"/>
          <p:cNvSpPr/>
          <p:nvPr/>
        </p:nvSpPr>
        <p:spPr bwMode="auto">
          <a:xfrm>
            <a:off x="3230346" y="2761514"/>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1" name="Freeform 581"/>
          <p:cNvSpPr/>
          <p:nvPr/>
        </p:nvSpPr>
        <p:spPr bwMode="auto">
          <a:xfrm>
            <a:off x="3230346" y="2936139"/>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2" name="Freeform 586"/>
          <p:cNvSpPr/>
          <p:nvPr/>
        </p:nvSpPr>
        <p:spPr bwMode="auto">
          <a:xfrm>
            <a:off x="3814546" y="3415564"/>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3" name="Freeform 587"/>
          <p:cNvSpPr/>
          <p:nvPr/>
        </p:nvSpPr>
        <p:spPr bwMode="auto">
          <a:xfrm>
            <a:off x="3827246" y="3199664"/>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13 w 477"/>
              <a:gd name="T17" fmla="*/ 118 h 303"/>
              <a:gd name="T18" fmla="*/ 209 w 477"/>
              <a:gd name="T19" fmla="*/ 9 h 303"/>
              <a:gd name="T20" fmla="*/ 268 w 477"/>
              <a:gd name="T21" fmla="*/ 9 h 303"/>
              <a:gd name="T22" fmla="*/ 464 w 477"/>
              <a:gd name="T23" fmla="*/ 118 h 303"/>
              <a:gd name="T24" fmla="*/ 477 w 477"/>
              <a:gd name="T25" fmla="*/ 135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3" y="181"/>
                  <a:pt x="464" y="185"/>
                </a:cubicBezTo>
                <a:cubicBezTo>
                  <a:pt x="268" y="294"/>
                  <a:pt x="268" y="294"/>
                  <a:pt x="268" y="294"/>
                </a:cubicBezTo>
                <a:cubicBezTo>
                  <a:pt x="252" y="303"/>
                  <a:pt x="225" y="303"/>
                  <a:pt x="209" y="294"/>
                </a:cubicBezTo>
                <a:cubicBezTo>
                  <a:pt x="13" y="185"/>
                  <a:pt x="13" y="185"/>
                  <a:pt x="13" y="185"/>
                </a:cubicBezTo>
                <a:cubicBezTo>
                  <a:pt x="5" y="181"/>
                  <a:pt x="0" y="175"/>
                  <a:pt x="0" y="169"/>
                </a:cubicBezTo>
                <a:cubicBezTo>
                  <a:pt x="0" y="135"/>
                  <a:pt x="0" y="135"/>
                  <a:pt x="0" y="135"/>
                </a:cubicBezTo>
                <a:cubicBezTo>
                  <a:pt x="0" y="129"/>
                  <a:pt x="5" y="123"/>
                  <a:pt x="13" y="118"/>
                </a:cubicBezTo>
                <a:cubicBezTo>
                  <a:pt x="209" y="9"/>
                  <a:pt x="209" y="9"/>
                  <a:pt x="209" y="9"/>
                </a:cubicBezTo>
                <a:cubicBezTo>
                  <a:pt x="225" y="0"/>
                  <a:pt x="252" y="0"/>
                  <a:pt x="268" y="9"/>
                </a:cubicBezTo>
                <a:cubicBezTo>
                  <a:pt x="464" y="118"/>
                  <a:pt x="464" y="118"/>
                  <a:pt x="464" y="118"/>
                </a:cubicBezTo>
                <a:cubicBezTo>
                  <a:pt x="473" y="123"/>
                  <a:pt x="477" y="129"/>
                  <a:pt x="477" y="135"/>
                </a:cubicBezTo>
                <a:cubicBezTo>
                  <a:pt x="477" y="135"/>
                  <a:pt x="477" y="135"/>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4" name="Oval 588"/>
          <p:cNvSpPr>
            <a:spLocks noChangeArrowheads="1"/>
          </p:cNvSpPr>
          <p:nvPr/>
        </p:nvSpPr>
        <p:spPr bwMode="auto">
          <a:xfrm>
            <a:off x="4189196" y="3517164"/>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5" name="Oval 589"/>
          <p:cNvSpPr>
            <a:spLocks noChangeArrowheads="1"/>
          </p:cNvSpPr>
          <p:nvPr/>
        </p:nvSpPr>
        <p:spPr bwMode="auto">
          <a:xfrm>
            <a:off x="4189196" y="2812313"/>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6" name="Freeform 590"/>
          <p:cNvSpPr>
            <a:spLocks noEditPoints="1"/>
          </p:cNvSpPr>
          <p:nvPr/>
        </p:nvSpPr>
        <p:spPr bwMode="auto">
          <a:xfrm>
            <a:off x="4176496" y="2799613"/>
            <a:ext cx="815975" cy="819150"/>
          </a:xfrm>
          <a:custGeom>
            <a:avLst/>
            <a:gdLst>
              <a:gd name="T0" fmla="*/ 129 w 257"/>
              <a:gd name="T1" fmla="*/ 258 h 258"/>
              <a:gd name="T2" fmla="*/ 0 w 257"/>
              <a:gd name="T3" fmla="*/ 129 h 258"/>
              <a:gd name="T4" fmla="*/ 129 w 257"/>
              <a:gd name="T5" fmla="*/ 0 h 258"/>
              <a:gd name="T6" fmla="*/ 257 w 257"/>
              <a:gd name="T7" fmla="*/ 129 h 258"/>
              <a:gd name="T8" fmla="*/ 129 w 257"/>
              <a:gd name="T9" fmla="*/ 258 h 258"/>
              <a:gd name="T10" fmla="*/ 129 w 257"/>
              <a:gd name="T11" fmla="*/ 8 h 258"/>
              <a:gd name="T12" fmla="*/ 8 w 257"/>
              <a:gd name="T13" fmla="*/ 129 h 258"/>
              <a:gd name="T14" fmla="*/ 129 w 257"/>
              <a:gd name="T15" fmla="*/ 250 h 258"/>
              <a:gd name="T16" fmla="*/ 249 w 257"/>
              <a:gd name="T17" fmla="*/ 129 h 258"/>
              <a:gd name="T18" fmla="*/ 129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9" y="258"/>
                </a:moveTo>
                <a:cubicBezTo>
                  <a:pt x="58" y="258"/>
                  <a:pt x="0" y="200"/>
                  <a:pt x="0" y="129"/>
                </a:cubicBezTo>
                <a:cubicBezTo>
                  <a:pt x="0" y="58"/>
                  <a:pt x="58" y="0"/>
                  <a:pt x="129" y="0"/>
                </a:cubicBezTo>
                <a:cubicBezTo>
                  <a:pt x="200" y="0"/>
                  <a:pt x="257" y="58"/>
                  <a:pt x="257" y="129"/>
                </a:cubicBezTo>
                <a:cubicBezTo>
                  <a:pt x="257" y="200"/>
                  <a:pt x="200" y="258"/>
                  <a:pt x="129" y="258"/>
                </a:cubicBezTo>
                <a:close/>
                <a:moveTo>
                  <a:pt x="129" y="8"/>
                </a:moveTo>
                <a:cubicBezTo>
                  <a:pt x="62" y="8"/>
                  <a:pt x="8" y="62"/>
                  <a:pt x="8" y="129"/>
                </a:cubicBezTo>
                <a:cubicBezTo>
                  <a:pt x="8" y="196"/>
                  <a:pt x="62" y="250"/>
                  <a:pt x="129" y="250"/>
                </a:cubicBezTo>
                <a:cubicBezTo>
                  <a:pt x="195" y="250"/>
                  <a:pt x="249" y="196"/>
                  <a:pt x="249" y="129"/>
                </a:cubicBezTo>
                <a:cubicBezTo>
                  <a:pt x="249" y="62"/>
                  <a:pt x="195" y="8"/>
                  <a:pt x="129"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7" name="Freeform 591"/>
          <p:cNvSpPr>
            <a:spLocks noEditPoints="1"/>
          </p:cNvSpPr>
          <p:nvPr/>
        </p:nvSpPr>
        <p:spPr bwMode="auto">
          <a:xfrm>
            <a:off x="4411445" y="2967888"/>
            <a:ext cx="349250" cy="508000"/>
          </a:xfrm>
          <a:custGeom>
            <a:avLst/>
            <a:gdLst>
              <a:gd name="T0" fmla="*/ 29 w 110"/>
              <a:gd name="T1" fmla="*/ 123 h 160"/>
              <a:gd name="T2" fmla="*/ 30 w 110"/>
              <a:gd name="T3" fmla="*/ 131 h 160"/>
              <a:gd name="T4" fmla="*/ 55 w 110"/>
              <a:gd name="T5" fmla="*/ 136 h 160"/>
              <a:gd name="T6" fmla="*/ 79 w 110"/>
              <a:gd name="T7" fmla="*/ 131 h 160"/>
              <a:gd name="T8" fmla="*/ 80 w 110"/>
              <a:gd name="T9" fmla="*/ 123 h 160"/>
              <a:gd name="T10" fmla="*/ 55 w 110"/>
              <a:gd name="T11" fmla="*/ 128 h 160"/>
              <a:gd name="T12" fmla="*/ 29 w 110"/>
              <a:gd name="T13" fmla="*/ 123 h 160"/>
              <a:gd name="T14" fmla="*/ 31 w 110"/>
              <a:gd name="T15" fmla="*/ 139 h 160"/>
              <a:gd name="T16" fmla="*/ 33 w 110"/>
              <a:gd name="T17" fmla="*/ 147 h 160"/>
              <a:gd name="T18" fmla="*/ 40 w 110"/>
              <a:gd name="T19" fmla="*/ 151 h 160"/>
              <a:gd name="T20" fmla="*/ 41 w 110"/>
              <a:gd name="T21" fmla="*/ 156 h 160"/>
              <a:gd name="T22" fmla="*/ 55 w 110"/>
              <a:gd name="T23" fmla="*/ 160 h 160"/>
              <a:gd name="T24" fmla="*/ 69 w 110"/>
              <a:gd name="T25" fmla="*/ 156 h 160"/>
              <a:gd name="T26" fmla="*/ 69 w 110"/>
              <a:gd name="T27" fmla="*/ 151 h 160"/>
              <a:gd name="T28" fmla="*/ 77 w 110"/>
              <a:gd name="T29" fmla="*/ 147 h 160"/>
              <a:gd name="T30" fmla="*/ 78 w 110"/>
              <a:gd name="T31" fmla="*/ 139 h 160"/>
              <a:gd name="T32" fmla="*/ 55 w 110"/>
              <a:gd name="T33" fmla="*/ 142 h 160"/>
              <a:gd name="T34" fmla="*/ 31 w 110"/>
              <a:gd name="T35" fmla="*/ 139 h 160"/>
              <a:gd name="T36" fmla="*/ 55 w 110"/>
              <a:gd name="T37" fmla="*/ 0 h 160"/>
              <a:gd name="T38" fmla="*/ 0 w 110"/>
              <a:gd name="T39" fmla="*/ 55 h 160"/>
              <a:gd name="T40" fmla="*/ 26 w 110"/>
              <a:gd name="T41" fmla="*/ 102 h 160"/>
              <a:gd name="T42" fmla="*/ 28 w 110"/>
              <a:gd name="T43" fmla="*/ 116 h 160"/>
              <a:gd name="T44" fmla="*/ 55 w 110"/>
              <a:gd name="T45" fmla="*/ 121 h 160"/>
              <a:gd name="T46" fmla="*/ 81 w 110"/>
              <a:gd name="T47" fmla="*/ 116 h 160"/>
              <a:gd name="T48" fmla="*/ 83 w 110"/>
              <a:gd name="T49" fmla="*/ 102 h 160"/>
              <a:gd name="T50" fmla="*/ 110 w 110"/>
              <a:gd name="T51" fmla="*/ 55 h 160"/>
              <a:gd name="T52" fmla="*/ 55 w 110"/>
              <a:gd name="T53" fmla="*/ 0 h 160"/>
              <a:gd name="T54" fmla="*/ 75 w 110"/>
              <a:gd name="T55" fmla="*/ 96 h 160"/>
              <a:gd name="T56" fmla="*/ 74 w 110"/>
              <a:gd name="T57" fmla="*/ 109 h 160"/>
              <a:gd name="T58" fmla="*/ 55 w 110"/>
              <a:gd name="T59" fmla="*/ 112 h 160"/>
              <a:gd name="T60" fmla="*/ 36 w 110"/>
              <a:gd name="T61" fmla="*/ 109 h 160"/>
              <a:gd name="T62" fmla="*/ 34 w 110"/>
              <a:gd name="T63" fmla="*/ 96 h 160"/>
              <a:gd name="T64" fmla="*/ 9 w 110"/>
              <a:gd name="T65" fmla="*/ 55 h 160"/>
              <a:gd name="T66" fmla="*/ 55 w 110"/>
              <a:gd name="T67" fmla="*/ 10 h 160"/>
              <a:gd name="T68" fmla="*/ 100 w 110"/>
              <a:gd name="T69" fmla="*/ 55 h 160"/>
              <a:gd name="T70" fmla="*/ 75 w 110"/>
              <a:gd name="T71" fmla="*/ 96 h 160"/>
              <a:gd name="T72" fmla="*/ 55 w 110"/>
              <a:gd name="T73" fmla="*/ 23 h 160"/>
              <a:gd name="T74" fmla="*/ 57 w 110"/>
              <a:gd name="T75" fmla="*/ 20 h 160"/>
              <a:gd name="T76" fmla="*/ 55 w 110"/>
              <a:gd name="T77" fmla="*/ 17 h 160"/>
              <a:gd name="T78" fmla="*/ 16 w 110"/>
              <a:gd name="T79" fmla="*/ 55 h 160"/>
              <a:gd name="T80" fmla="*/ 19 w 110"/>
              <a:gd name="T81" fmla="*/ 58 h 160"/>
              <a:gd name="T82" fmla="*/ 22 w 110"/>
              <a:gd name="T83" fmla="*/ 55 h 160"/>
              <a:gd name="T84" fmla="*/ 55 w 110"/>
              <a:gd name="T85" fmla="*/ 23 h 160"/>
              <a:gd name="T86" fmla="*/ 67 w 110"/>
              <a:gd name="T87" fmla="*/ 75 h 160"/>
              <a:gd name="T88" fmla="*/ 55 w 110"/>
              <a:gd name="T89" fmla="*/ 53 h 160"/>
              <a:gd name="T90" fmla="*/ 42 w 110"/>
              <a:gd name="T91" fmla="*/ 75 h 160"/>
              <a:gd name="T92" fmla="*/ 37 w 110"/>
              <a:gd name="T93" fmla="*/ 65 h 160"/>
              <a:gd name="T94" fmla="*/ 29 w 110"/>
              <a:gd name="T95" fmla="*/ 68 h 160"/>
              <a:gd name="T96" fmla="*/ 42 w 110"/>
              <a:gd name="T97" fmla="*/ 94 h 160"/>
              <a:gd name="T98" fmla="*/ 55 w 110"/>
              <a:gd name="T99" fmla="*/ 71 h 160"/>
              <a:gd name="T100" fmla="*/ 67 w 110"/>
              <a:gd name="T101" fmla="*/ 94 h 160"/>
              <a:gd name="T102" fmla="*/ 80 w 110"/>
              <a:gd name="T103" fmla="*/ 68 h 160"/>
              <a:gd name="T104" fmla="*/ 72 w 110"/>
              <a:gd name="T105" fmla="*/ 65 h 160"/>
              <a:gd name="T106" fmla="*/ 67 w 110"/>
              <a:gd name="T107" fmla="*/ 7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29" y="123"/>
                </a:moveTo>
                <a:cubicBezTo>
                  <a:pt x="30" y="131"/>
                  <a:pt x="30" y="131"/>
                  <a:pt x="30" y="131"/>
                </a:cubicBezTo>
                <a:cubicBezTo>
                  <a:pt x="37" y="134"/>
                  <a:pt x="46" y="136"/>
                  <a:pt x="55" y="136"/>
                </a:cubicBezTo>
                <a:cubicBezTo>
                  <a:pt x="63" y="136"/>
                  <a:pt x="72" y="134"/>
                  <a:pt x="79" y="131"/>
                </a:cubicBezTo>
                <a:cubicBezTo>
                  <a:pt x="80" y="123"/>
                  <a:pt x="80" y="123"/>
                  <a:pt x="80" y="123"/>
                </a:cubicBezTo>
                <a:cubicBezTo>
                  <a:pt x="72" y="126"/>
                  <a:pt x="64" y="128"/>
                  <a:pt x="55" y="128"/>
                </a:cubicBezTo>
                <a:cubicBezTo>
                  <a:pt x="45" y="128"/>
                  <a:pt x="37" y="126"/>
                  <a:pt x="29" y="123"/>
                </a:cubicBezTo>
                <a:close/>
                <a:moveTo>
                  <a:pt x="31" y="139"/>
                </a:moveTo>
                <a:cubicBezTo>
                  <a:pt x="33" y="147"/>
                  <a:pt x="33" y="147"/>
                  <a:pt x="33" y="147"/>
                </a:cubicBezTo>
                <a:cubicBezTo>
                  <a:pt x="33" y="147"/>
                  <a:pt x="34" y="150"/>
                  <a:pt x="40" y="151"/>
                </a:cubicBezTo>
                <a:cubicBezTo>
                  <a:pt x="41" y="156"/>
                  <a:pt x="41" y="156"/>
                  <a:pt x="41" y="156"/>
                </a:cubicBezTo>
                <a:cubicBezTo>
                  <a:pt x="41" y="156"/>
                  <a:pt x="44" y="160"/>
                  <a:pt x="55" y="160"/>
                </a:cubicBezTo>
                <a:cubicBezTo>
                  <a:pt x="65" y="160"/>
                  <a:pt x="69" y="156"/>
                  <a:pt x="69" y="156"/>
                </a:cubicBezTo>
                <a:cubicBezTo>
                  <a:pt x="69" y="151"/>
                  <a:pt x="69" y="151"/>
                  <a:pt x="69" y="151"/>
                </a:cubicBezTo>
                <a:cubicBezTo>
                  <a:pt x="75" y="150"/>
                  <a:pt x="77" y="147"/>
                  <a:pt x="77" y="147"/>
                </a:cubicBezTo>
                <a:cubicBezTo>
                  <a:pt x="78" y="139"/>
                  <a:pt x="78" y="139"/>
                  <a:pt x="78" y="139"/>
                </a:cubicBezTo>
                <a:cubicBezTo>
                  <a:pt x="71" y="141"/>
                  <a:pt x="63" y="142"/>
                  <a:pt x="55" y="142"/>
                </a:cubicBezTo>
                <a:cubicBezTo>
                  <a:pt x="46" y="142"/>
                  <a:pt x="38" y="141"/>
                  <a:pt x="31" y="139"/>
                </a:cubicBezTo>
                <a:close/>
                <a:moveTo>
                  <a:pt x="55" y="0"/>
                </a:moveTo>
                <a:cubicBezTo>
                  <a:pt x="24" y="0"/>
                  <a:pt x="0" y="25"/>
                  <a:pt x="0" y="55"/>
                </a:cubicBezTo>
                <a:cubicBezTo>
                  <a:pt x="0" y="75"/>
                  <a:pt x="10" y="92"/>
                  <a:pt x="26" y="102"/>
                </a:cubicBezTo>
                <a:cubicBezTo>
                  <a:pt x="28" y="116"/>
                  <a:pt x="28" y="116"/>
                  <a:pt x="28" y="116"/>
                </a:cubicBezTo>
                <a:cubicBezTo>
                  <a:pt x="36" y="119"/>
                  <a:pt x="45" y="121"/>
                  <a:pt x="55" y="121"/>
                </a:cubicBezTo>
                <a:cubicBezTo>
                  <a:pt x="64" y="121"/>
                  <a:pt x="73" y="119"/>
                  <a:pt x="81" y="116"/>
                </a:cubicBezTo>
                <a:cubicBezTo>
                  <a:pt x="83" y="102"/>
                  <a:pt x="83" y="102"/>
                  <a:pt x="83" y="102"/>
                </a:cubicBezTo>
                <a:cubicBezTo>
                  <a:pt x="99" y="92"/>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4" y="96"/>
                  <a:pt x="34" y="96"/>
                  <a:pt x="34" y="96"/>
                </a:cubicBezTo>
                <a:cubicBezTo>
                  <a:pt x="19" y="88"/>
                  <a:pt x="9" y="73"/>
                  <a:pt x="9" y="55"/>
                </a:cubicBezTo>
                <a:cubicBezTo>
                  <a:pt x="9" y="30"/>
                  <a:pt x="30" y="10"/>
                  <a:pt x="55" y="10"/>
                </a:cubicBezTo>
                <a:cubicBezTo>
                  <a:pt x="80" y="10"/>
                  <a:pt x="100" y="30"/>
                  <a:pt x="100" y="55"/>
                </a:cubicBezTo>
                <a:cubicBezTo>
                  <a:pt x="100" y="73"/>
                  <a:pt x="90" y="88"/>
                  <a:pt x="75" y="96"/>
                </a:cubicBezTo>
                <a:close/>
                <a:moveTo>
                  <a:pt x="55" y="23"/>
                </a:moveTo>
                <a:cubicBezTo>
                  <a:pt x="56" y="23"/>
                  <a:pt x="57" y="21"/>
                  <a:pt x="57" y="20"/>
                </a:cubicBezTo>
                <a:cubicBezTo>
                  <a:pt x="57" y="18"/>
                  <a:pt x="56" y="17"/>
                  <a:pt x="55" y="17"/>
                </a:cubicBezTo>
                <a:cubicBezTo>
                  <a:pt x="34" y="17"/>
                  <a:pt x="16" y="34"/>
                  <a:pt x="16" y="55"/>
                </a:cubicBezTo>
                <a:cubicBezTo>
                  <a:pt x="16" y="57"/>
                  <a:pt x="18" y="58"/>
                  <a:pt x="19" y="58"/>
                </a:cubicBezTo>
                <a:cubicBezTo>
                  <a:pt x="21" y="58"/>
                  <a:pt x="22" y="57"/>
                  <a:pt x="22" y="55"/>
                </a:cubicBezTo>
                <a:cubicBezTo>
                  <a:pt x="22" y="37"/>
                  <a:pt x="37" y="23"/>
                  <a:pt x="55" y="23"/>
                </a:cubicBezTo>
                <a:close/>
                <a:moveTo>
                  <a:pt x="67" y="75"/>
                </a:moveTo>
                <a:cubicBezTo>
                  <a:pt x="55" y="53"/>
                  <a:pt x="55" y="53"/>
                  <a:pt x="55" y="53"/>
                </a:cubicBezTo>
                <a:cubicBezTo>
                  <a:pt x="42" y="75"/>
                  <a:pt x="42" y="75"/>
                  <a:pt x="42" y="75"/>
                </a:cubicBezTo>
                <a:cubicBezTo>
                  <a:pt x="37" y="65"/>
                  <a:pt x="37" y="65"/>
                  <a:pt x="37" y="65"/>
                </a:cubicBezTo>
                <a:cubicBezTo>
                  <a:pt x="29" y="68"/>
                  <a:pt x="29" y="68"/>
                  <a:pt x="29" y="68"/>
                </a:cubicBezTo>
                <a:cubicBezTo>
                  <a:pt x="42" y="94"/>
                  <a:pt x="42" y="94"/>
                  <a:pt x="42" y="94"/>
                </a:cubicBezTo>
                <a:cubicBezTo>
                  <a:pt x="55" y="71"/>
                  <a:pt x="55" y="71"/>
                  <a:pt x="55" y="71"/>
                </a:cubicBezTo>
                <a:cubicBezTo>
                  <a:pt x="67" y="94"/>
                  <a:pt x="67" y="94"/>
                  <a:pt x="67" y="94"/>
                </a:cubicBezTo>
                <a:cubicBezTo>
                  <a:pt x="80" y="68"/>
                  <a:pt x="80" y="68"/>
                  <a:pt x="80" y="68"/>
                </a:cubicBezTo>
                <a:cubicBezTo>
                  <a:pt x="72" y="65"/>
                  <a:pt x="72" y="65"/>
                  <a:pt x="72" y="65"/>
                </a:cubicBezTo>
                <a:lnTo>
                  <a:pt x="67" y="75"/>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8" name="Freeform 616"/>
          <p:cNvSpPr/>
          <p:nvPr/>
        </p:nvSpPr>
        <p:spPr bwMode="auto">
          <a:xfrm>
            <a:off x="3827246" y="3628288"/>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3" y="12"/>
                  <a:pt x="464" y="16"/>
                </a:cubicBezTo>
                <a:cubicBezTo>
                  <a:pt x="268" y="125"/>
                  <a:pt x="268" y="125"/>
                  <a:pt x="268" y="125"/>
                </a:cubicBezTo>
                <a:cubicBezTo>
                  <a:pt x="252" y="134"/>
                  <a:pt x="225" y="134"/>
                  <a:pt x="209" y="125"/>
                </a:cubicBezTo>
                <a:cubicBezTo>
                  <a:pt x="13" y="16"/>
                  <a:pt x="13" y="16"/>
                  <a:pt x="13" y="16"/>
                </a:cubicBezTo>
                <a:cubicBezTo>
                  <a:pt x="5" y="12"/>
                  <a:pt x="0" y="6"/>
                  <a:pt x="0" y="0"/>
                </a:cubicBezTo>
                <a:cubicBezTo>
                  <a:pt x="0" y="34"/>
                  <a:pt x="0" y="34"/>
                  <a:pt x="0" y="34"/>
                </a:cubicBezTo>
                <a:cubicBezTo>
                  <a:pt x="0" y="40"/>
                  <a:pt x="5" y="46"/>
                  <a:pt x="13" y="50"/>
                </a:cubicBezTo>
                <a:cubicBezTo>
                  <a:pt x="209" y="159"/>
                  <a:pt x="209" y="159"/>
                  <a:pt x="209" y="159"/>
                </a:cubicBezTo>
                <a:cubicBezTo>
                  <a:pt x="225" y="168"/>
                  <a:pt x="252" y="168"/>
                  <a:pt x="268" y="159"/>
                </a:cubicBezTo>
                <a:cubicBezTo>
                  <a:pt x="464" y="50"/>
                  <a:pt x="464" y="50"/>
                  <a:pt x="464" y="50"/>
                </a:cubicBezTo>
                <a:cubicBezTo>
                  <a:pt x="473"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9" name="文本框 68"/>
          <p:cNvSpPr txBox="1"/>
          <p:nvPr/>
        </p:nvSpPr>
        <p:spPr>
          <a:xfrm>
            <a:off x="1482239" y="3920613"/>
            <a:ext cx="1874655" cy="645160"/>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工单服务时效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售后服务费</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客户问题一次解决率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70" name="文本框 69"/>
          <p:cNvSpPr txBox="1"/>
          <p:nvPr/>
        </p:nvSpPr>
        <p:spPr>
          <a:xfrm>
            <a:off x="5340351" y="5652643"/>
            <a:ext cx="1830705" cy="275590"/>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客户满意度</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1" name="Straight Connector 9"/>
          <p:cNvCxnSpPr/>
          <p:nvPr/>
        </p:nvCxnSpPr>
        <p:spPr>
          <a:xfrm flipV="1">
            <a:off x="9261436" y="3785780"/>
            <a:ext cx="1758864" cy="8053"/>
          </a:xfrm>
          <a:prstGeom prst="line">
            <a:avLst/>
          </a:prstGeom>
          <a:noFill/>
          <a:ln w="25400" cap="rnd" cmpd="sng" algn="ctr">
            <a:solidFill>
              <a:srgbClr val="009F9A"/>
            </a:solidFill>
            <a:prstDash val="solid"/>
            <a:miter lim="800000"/>
          </a:ln>
          <a:effectLst/>
        </p:spPr>
      </p:cxnSp>
      <p:sp>
        <p:nvSpPr>
          <p:cNvPr id="72" name="文本框 71"/>
          <p:cNvSpPr txBox="1"/>
          <p:nvPr/>
        </p:nvSpPr>
        <p:spPr>
          <a:xfrm>
            <a:off x="9129818" y="3822866"/>
            <a:ext cx="1830705" cy="1753235"/>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客诉次数</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客诉处理时效</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方案闭环时效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客诉处理时效</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现场闭环时效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客诉损失（客诉处理预估成本）</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3" name="Straight Connector 9"/>
          <p:cNvCxnSpPr/>
          <p:nvPr/>
        </p:nvCxnSpPr>
        <p:spPr>
          <a:xfrm>
            <a:off x="5333058" y="2214641"/>
            <a:ext cx="1780123" cy="0"/>
          </a:xfrm>
          <a:prstGeom prst="line">
            <a:avLst/>
          </a:prstGeom>
          <a:noFill/>
          <a:ln w="25400" cap="rnd" cmpd="sng" algn="ctr">
            <a:solidFill>
              <a:srgbClr val="009F9A"/>
            </a:solidFill>
            <a:prstDash val="solid"/>
            <a:miter lim="800000"/>
          </a:ln>
          <a:effectLst/>
        </p:spPr>
      </p:cxnSp>
      <p:sp>
        <p:nvSpPr>
          <p:cNvPr id="74" name="TextBox 10"/>
          <p:cNvSpPr txBox="1"/>
          <p:nvPr/>
        </p:nvSpPr>
        <p:spPr>
          <a:xfrm>
            <a:off x="5354421" y="1867509"/>
            <a:ext cx="1425575"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A</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、增值服务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75" name="文本框 74"/>
          <p:cNvSpPr txBox="1"/>
          <p:nvPr/>
        </p:nvSpPr>
        <p:spPr>
          <a:xfrm>
            <a:off x="5301000" y="2296512"/>
            <a:ext cx="2052349" cy="829945"/>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签单</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收入（开票）</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回款</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76" name="文本框 27"/>
          <p:cNvSpPr txBox="1"/>
          <p:nvPr>
            <p:custDataLst>
              <p:tags r:id="rId1"/>
            </p:custDataLst>
          </p:nvPr>
        </p:nvSpPr>
        <p:spPr>
          <a:xfrm>
            <a:off x="7446879" y="5568397"/>
            <a:ext cx="3271623" cy="1014730"/>
          </a:xfrm>
          <a:prstGeom prst="rect">
            <a:avLst/>
          </a:prstGeom>
          <a:solidFill>
            <a:srgbClr val="000000">
              <a:alpha val="0"/>
            </a:srgbClr>
          </a:solidFill>
        </p:spPr>
        <p:txBody>
          <a:bodyPr wrap="square" rtlCol="0">
            <a:spAutoFit/>
          </a:bodyPr>
          <a:lstStyle/>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备注：</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差旅费用：按责任部门、到维修工单</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工单服务时效：按现场服务</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远程服务</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返修服务；按到场</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响应</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处理；</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客诉损失：按问题维度；按产品维度</a:t>
            </a:r>
            <a:endPar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5</a:t>
            </a:r>
            <a:r>
              <a:rPr lang="zh-CN" altLang="en-US" kern="0" dirty="0">
                <a:solidFill>
                  <a:srgbClr val="000000"/>
                </a:solidFill>
                <a:cs typeface="Helvetica"/>
                <a:sym typeface="+mn-ea"/>
              </a:rPr>
              <a:t>、大客户持续经营</a:t>
            </a:r>
            <a:r>
              <a:rPr lang="en-US" altLang="zh-CN" kern="0" dirty="0">
                <a:solidFill>
                  <a:srgbClr val="000000"/>
                </a:solidFill>
                <a:cs typeface="Helvetica"/>
                <a:sym typeface="+mn-ea"/>
              </a:rPr>
              <a:t>MCR</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 name="标注: 弯曲线形(无边框) 33"/>
          <p:cNvSpPr/>
          <p:nvPr/>
        </p:nvSpPr>
        <p:spPr>
          <a:xfrm>
            <a:off x="7449856" y="2895384"/>
            <a:ext cx="998278" cy="129527"/>
          </a:xfrm>
          <a:prstGeom prst="callout2">
            <a:avLst>
              <a:gd name="adj1" fmla="val 53382"/>
              <a:gd name="adj2" fmla="val 100919"/>
              <a:gd name="adj3" fmla="val 52532"/>
              <a:gd name="adj4" fmla="val 113799"/>
              <a:gd name="adj5" fmla="val 204175"/>
              <a:gd name="adj6" fmla="val 1325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3" name="椭圆 22"/>
          <p:cNvSpPr/>
          <p:nvPr/>
        </p:nvSpPr>
        <p:spPr>
          <a:xfrm>
            <a:off x="8267897" y="3099319"/>
            <a:ext cx="1633692" cy="1680666"/>
          </a:xfrm>
          <a:prstGeom prst="ellipse">
            <a:avLst/>
          </a:prstGeom>
          <a:noFill/>
          <a:ln w="28575" cap="flat" cmpd="sng" algn="ctr">
            <a:solidFill>
              <a:srgbClr val="0C7F8A"/>
            </a:solidFill>
            <a:prstDash val="sysDash"/>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24" name="矩形 23"/>
          <p:cNvSpPr/>
          <p:nvPr/>
        </p:nvSpPr>
        <p:spPr>
          <a:xfrm>
            <a:off x="10147402" y="4502764"/>
            <a:ext cx="274426" cy="246235"/>
          </a:xfrm>
          <a:prstGeom prst="rect">
            <a:avLst/>
          </a:prstGeom>
          <a:noFill/>
        </p:spPr>
        <p:txBody>
          <a:bodyPr wrap="none">
            <a:spAutoFit/>
          </a:bodyPr>
          <a:lstStyle/>
          <a:p>
            <a:pPr eaLnBrk="0" fontAlgn="base" hangingPunct="0">
              <a:spcBef>
                <a:spcPct val="0"/>
              </a:spcBef>
              <a:spcAft>
                <a:spcPct val="0"/>
              </a:spcAft>
              <a:defRPr/>
            </a:pPr>
            <a:r>
              <a:rPr lang="en-US" altLang="zh-CN" sz="1000" b="1" kern="0" dirty="0">
                <a:solidFill>
                  <a:srgbClr val="FFFFFF"/>
                </a:solidFill>
                <a:latin typeface="微软雅黑" panose="020B0503020204020204" pitchFamily="34" charset="-122"/>
                <a:ea typeface="微软雅黑" panose="020B0503020204020204" pitchFamily="34" charset="-122"/>
                <a:cs typeface="Helvetica"/>
              </a:rPr>
              <a:t>X</a:t>
            </a:r>
            <a:endParaRPr lang="en-US" altLang="zh-CN"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25" name="流程图: 终止 32"/>
          <p:cNvSpPr/>
          <p:nvPr/>
        </p:nvSpPr>
        <p:spPr>
          <a:xfrm>
            <a:off x="7231008" y="2784270"/>
            <a:ext cx="1216804" cy="244002"/>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6" name="矩形 25"/>
          <p:cNvSpPr/>
          <p:nvPr/>
        </p:nvSpPr>
        <p:spPr>
          <a:xfrm>
            <a:off x="7359680" y="2780356"/>
            <a:ext cx="974752" cy="24623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基础属性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27" name="椭圆 26"/>
          <p:cNvSpPr/>
          <p:nvPr/>
        </p:nvSpPr>
        <p:spPr>
          <a:xfrm>
            <a:off x="8706970" y="3100037"/>
            <a:ext cx="113930" cy="12648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28" name="流程图: 终止 34"/>
          <p:cNvSpPr/>
          <p:nvPr/>
        </p:nvSpPr>
        <p:spPr>
          <a:xfrm>
            <a:off x="6823075" y="3704368"/>
            <a:ext cx="1102283" cy="244002"/>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AE4845">
                  <a:lumMod val="75000"/>
                </a:srgbClr>
              </a:solidFill>
              <a:latin typeface="微软雅黑" panose="020B0503020204020204" pitchFamily="34" charset="-122"/>
              <a:ea typeface="微软雅黑" panose="020B0503020204020204" pitchFamily="34" charset="-122"/>
              <a:cs typeface="Helvetica"/>
            </a:endParaRPr>
          </a:p>
        </p:txBody>
      </p:sp>
      <p:sp>
        <p:nvSpPr>
          <p:cNvPr id="29" name="矩形 28"/>
          <p:cNvSpPr/>
          <p:nvPr/>
        </p:nvSpPr>
        <p:spPr>
          <a:xfrm>
            <a:off x="8621449" y="4836502"/>
            <a:ext cx="1160319" cy="246235"/>
          </a:xfrm>
          <a:prstGeom prst="rect">
            <a:avLst/>
          </a:prstGeom>
        </p:spPr>
        <p:txBody>
          <a:bodyPr wrap="square">
            <a:spAutoFit/>
          </a:bodyPr>
          <a:lstStyle/>
          <a:p>
            <a:pPr eaLnBrk="0" fontAlgn="base" hangingPunct="0">
              <a:spcBef>
                <a:spcPct val="0"/>
              </a:spcBef>
              <a:spcAft>
                <a:spcPct val="0"/>
              </a:spcAft>
              <a:defRPr/>
            </a:pPr>
            <a:r>
              <a:rPr lang="zh-CN" altLang="en-US"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XX</a:t>
            </a:r>
            <a:r>
              <a:rPr lang="zh-CN" altLang="en-US"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客户</a:t>
            </a:r>
            <a:endParaRPr lang="en-US" altLang="zh-CN"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6892996" y="3710926"/>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财务信息</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9" name="矩形 8"/>
          <p:cNvSpPr/>
          <p:nvPr/>
        </p:nvSpPr>
        <p:spPr>
          <a:xfrm>
            <a:off x="10129769" y="2999119"/>
            <a:ext cx="974781" cy="24508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市场属性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0" name="流程图: 终止 32"/>
          <p:cNvSpPr/>
          <p:nvPr/>
        </p:nvSpPr>
        <p:spPr>
          <a:xfrm>
            <a:off x="10008795" y="3005228"/>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1" name="流程图: 终止 32"/>
          <p:cNvSpPr/>
          <p:nvPr/>
        </p:nvSpPr>
        <p:spPr>
          <a:xfrm>
            <a:off x="10258653" y="4132873"/>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2" name="流程图: 终止 32"/>
          <p:cNvSpPr/>
          <p:nvPr/>
        </p:nvSpPr>
        <p:spPr>
          <a:xfrm>
            <a:off x="9172711" y="5064959"/>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3" name="矩形 12"/>
          <p:cNvSpPr/>
          <p:nvPr/>
        </p:nvSpPr>
        <p:spPr>
          <a:xfrm>
            <a:off x="10379627" y="4145037"/>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行为属性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4" name="矩形 13"/>
          <p:cNvSpPr/>
          <p:nvPr/>
        </p:nvSpPr>
        <p:spPr>
          <a:xfrm>
            <a:off x="9350867" y="5072578"/>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决策属性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5" name="椭圆 14"/>
          <p:cNvSpPr/>
          <p:nvPr/>
        </p:nvSpPr>
        <p:spPr>
          <a:xfrm>
            <a:off x="9342266" y="4628758"/>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6" name="椭圆 15"/>
          <p:cNvSpPr/>
          <p:nvPr/>
        </p:nvSpPr>
        <p:spPr>
          <a:xfrm>
            <a:off x="9838258" y="3948107"/>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7" name="椭圆 16"/>
          <p:cNvSpPr/>
          <p:nvPr/>
        </p:nvSpPr>
        <p:spPr>
          <a:xfrm>
            <a:off x="9536962" y="3226185"/>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8" name="椭圆 17"/>
          <p:cNvSpPr/>
          <p:nvPr/>
        </p:nvSpPr>
        <p:spPr>
          <a:xfrm>
            <a:off x="8197294" y="3693498"/>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9" name="标注: 弯曲线形(无边框) 33"/>
          <p:cNvSpPr/>
          <p:nvPr/>
        </p:nvSpPr>
        <p:spPr>
          <a:xfrm>
            <a:off x="6927221" y="3754452"/>
            <a:ext cx="998278" cy="129527"/>
          </a:xfrm>
          <a:prstGeom prst="callout2">
            <a:avLst>
              <a:gd name="adj1" fmla="val 53382"/>
              <a:gd name="adj2" fmla="val 100919"/>
              <a:gd name="adj3" fmla="val 112763"/>
              <a:gd name="adj4" fmla="val 112986"/>
              <a:gd name="adj5" fmla="val 28139"/>
              <a:gd name="adj6" fmla="val 13512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0" name="标注: 弯曲线形(无边框) 33"/>
          <p:cNvSpPr/>
          <p:nvPr/>
        </p:nvSpPr>
        <p:spPr>
          <a:xfrm>
            <a:off x="8953652" y="3948107"/>
            <a:ext cx="998278" cy="129527"/>
          </a:xfrm>
          <a:prstGeom prst="callout2">
            <a:avLst>
              <a:gd name="adj1" fmla="val 53382"/>
              <a:gd name="adj2" fmla="val 100919"/>
              <a:gd name="adj3" fmla="val 72652"/>
              <a:gd name="adj4" fmla="val 122466"/>
              <a:gd name="adj5" fmla="val 169994"/>
              <a:gd name="adj6" fmla="val 136019"/>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1" name="标注: 弯曲线形(无边框) 33"/>
          <p:cNvSpPr/>
          <p:nvPr/>
        </p:nvSpPr>
        <p:spPr>
          <a:xfrm>
            <a:off x="8616794" y="3158247"/>
            <a:ext cx="998278" cy="129527"/>
          </a:xfrm>
          <a:prstGeom prst="callout2">
            <a:avLst>
              <a:gd name="adj1" fmla="val 79989"/>
              <a:gd name="adj2" fmla="val 93007"/>
              <a:gd name="adj3" fmla="val 79011"/>
              <a:gd name="adj4" fmla="val 120812"/>
              <a:gd name="adj5" fmla="val -5612"/>
              <a:gd name="adj6" fmla="val 13951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2" name="标注: 弯曲线形(无边框) 33"/>
          <p:cNvSpPr/>
          <p:nvPr/>
        </p:nvSpPr>
        <p:spPr>
          <a:xfrm>
            <a:off x="9050149" y="4075094"/>
            <a:ext cx="998278" cy="129527"/>
          </a:xfrm>
          <a:prstGeom prst="callout2">
            <a:avLst>
              <a:gd name="adj1" fmla="val 464957"/>
              <a:gd name="adj2" fmla="val 41214"/>
              <a:gd name="adj3" fmla="val 477675"/>
              <a:gd name="adj4" fmla="val 65329"/>
              <a:gd name="adj5" fmla="val 744266"/>
              <a:gd name="adj6" fmla="val 816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30" name="流程图: 磁盘 29"/>
          <p:cNvSpPr/>
          <p:nvPr>
            <p:custDataLst>
              <p:tags r:id="rId1"/>
            </p:custDataLst>
          </p:nvPr>
        </p:nvSpPr>
        <p:spPr bwMode="auto">
          <a:xfrm>
            <a:off x="669290" y="213233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基础属性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文本框 30"/>
          <p:cNvSpPr txBox="1"/>
          <p:nvPr>
            <p:custDataLst>
              <p:tags r:id="rId2"/>
            </p:custDataLst>
          </p:nvPr>
        </p:nvSpPr>
        <p:spPr>
          <a:xfrm>
            <a:off x="2477135" y="2077720"/>
            <a:ext cx="4323715"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注册资本、行业规模、员工规模、成立时长、企业类型、经营状态、省份地区、概念标签、是否上市公司、收入规模、启信分</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2" name="组合 31"/>
          <p:cNvGrpSpPr/>
          <p:nvPr/>
        </p:nvGrpSpPr>
        <p:grpSpPr>
          <a:xfrm>
            <a:off x="526416" y="1507490"/>
            <a:ext cx="4922519" cy="402590"/>
            <a:chOff x="532791" y="2160234"/>
            <a:chExt cx="4160506" cy="402347"/>
          </a:xfrm>
        </p:grpSpPr>
        <p:sp>
          <p:nvSpPr>
            <p:cNvPr id="33" name="缺角矩形 32"/>
            <p:cNvSpPr/>
            <p:nvPr/>
          </p:nvSpPr>
          <p:spPr bwMode="auto">
            <a:xfrm>
              <a:off x="532791" y="2160234"/>
              <a:ext cx="1613640" cy="402347"/>
            </a:xfrm>
            <a:prstGeom prst="plaque">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kumimoji="1" lang="zh-CN" altLang="en-US" sz="1600" b="1" kern="0" dirty="0">
                  <a:solidFill>
                    <a:srgbClr val="000000"/>
                  </a:solidFill>
                  <a:latin typeface="微软雅黑" panose="020B0503020204020204" pitchFamily="34" charset="-122"/>
                  <a:ea typeface="微软雅黑" panose="020B0503020204020204" pitchFamily="34" charset="-122"/>
                  <a:cs typeface="Helvetica"/>
                  <a:sym typeface="+mn-ea"/>
                </a:rPr>
                <a:t>客户标签分类</a:t>
              </a:r>
              <a:endParaRPr kumimoji="1" lang="zh-CN" altLang="en-US" sz="16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34" name="文本框 33"/>
            <p:cNvSpPr txBox="1"/>
            <p:nvPr/>
          </p:nvSpPr>
          <p:spPr>
            <a:xfrm>
              <a:off x="2360717" y="2169080"/>
              <a:ext cx="2332580" cy="337185"/>
            </a:xfrm>
            <a:prstGeom prst="rect">
              <a:avLst/>
            </a:prstGeom>
            <a:noFill/>
          </p:spPr>
          <p:txBody>
            <a:bodyPr wrap="square" rtlCol="0">
              <a:spAutoFit/>
            </a:bodyPr>
            <a:lstStyle/>
            <a:p>
              <a:pPr eaLnBrk="0" fontAlgn="base" hangingPunct="0">
                <a:spcBef>
                  <a:spcPct val="0"/>
                </a:spcBef>
                <a:spcAft>
                  <a:spcPct val="0"/>
                </a:spcAft>
              </a:pPr>
              <a:r>
                <a:rPr lang="zh-CN" altLang="en-US" sz="1600" b="1" dirty="0">
                  <a:solidFill>
                    <a:srgbClr val="FFFFFF"/>
                  </a:solidFill>
                  <a:latin typeface="微软雅黑" panose="020B0503020204020204" pitchFamily="34" charset="-122"/>
                  <a:ea typeface="微软雅黑" panose="020B0503020204020204" pitchFamily="34" charset="-122"/>
                  <a:cs typeface="Helvetica"/>
                </a:rPr>
                <a:t>标签对象：统一客户</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grpSp>
      <p:sp>
        <p:nvSpPr>
          <p:cNvPr id="35" name="流程图: 磁盘 34"/>
          <p:cNvSpPr/>
          <p:nvPr>
            <p:custDataLst>
              <p:tags r:id="rId3"/>
            </p:custDataLst>
          </p:nvPr>
        </p:nvSpPr>
        <p:spPr bwMode="auto">
          <a:xfrm>
            <a:off x="669290" y="271653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业务信息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文本框 35"/>
          <p:cNvSpPr txBox="1"/>
          <p:nvPr>
            <p:custDataLst>
              <p:tags r:id="rId4"/>
            </p:custDataLst>
          </p:nvPr>
        </p:nvSpPr>
        <p:spPr>
          <a:xfrm>
            <a:off x="2549525" y="2906395"/>
            <a:ext cx="3968750"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主营业务、市场定位、业务挑战、增长战略</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流程图: 磁盘 36"/>
          <p:cNvSpPr/>
          <p:nvPr>
            <p:custDataLst>
              <p:tags r:id="rId5"/>
            </p:custDataLst>
          </p:nvPr>
        </p:nvSpPr>
        <p:spPr bwMode="auto">
          <a:xfrm>
            <a:off x="640715" y="330009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财务信息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文本框 37"/>
          <p:cNvSpPr txBox="1"/>
          <p:nvPr>
            <p:custDataLst>
              <p:tags r:id="rId6"/>
            </p:custDataLst>
          </p:nvPr>
        </p:nvSpPr>
        <p:spPr>
          <a:xfrm>
            <a:off x="2524125" y="3500755"/>
            <a:ext cx="3968750" cy="275590"/>
          </a:xfrm>
          <a:prstGeom prst="rect">
            <a:avLst/>
          </a:prstGeom>
          <a:noFill/>
        </p:spPr>
        <p:txBody>
          <a:bodyPr wrap="square" rtlCol="0">
            <a:spAutoFit/>
          </a:bodyPr>
          <a:lstStyle/>
          <a:p>
            <a:pPr eaLnBrk="0" fontAlgn="base" hangingPunct="0">
              <a:spcBef>
                <a:spcPct val="0"/>
              </a:spcBef>
              <a:spcAft>
                <a:spcPct val="0"/>
              </a:spcAft>
            </a:pPr>
            <a:r>
              <a:rPr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收入规模、利润状况、财务健康</a:t>
            </a:r>
            <a:r>
              <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流程图: 磁盘 38"/>
          <p:cNvSpPr/>
          <p:nvPr>
            <p:custDataLst>
              <p:tags r:id="rId7"/>
            </p:custDataLst>
          </p:nvPr>
        </p:nvSpPr>
        <p:spPr bwMode="auto">
          <a:xfrm>
            <a:off x="643255" y="388366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文本框 39"/>
          <p:cNvSpPr txBox="1"/>
          <p:nvPr>
            <p:custDataLst>
              <p:tags r:id="rId8"/>
            </p:custDataLst>
          </p:nvPr>
        </p:nvSpPr>
        <p:spPr>
          <a:xfrm>
            <a:off x="2510790" y="4028440"/>
            <a:ext cx="3969385"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战略客户、重要客户、普通客户、低价值客户</a:t>
            </a:r>
            <a:r>
              <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流程图: 磁盘 40"/>
          <p:cNvSpPr/>
          <p:nvPr>
            <p:custDataLst>
              <p:tags r:id="rId9"/>
            </p:custDataLst>
          </p:nvPr>
        </p:nvSpPr>
        <p:spPr bwMode="auto">
          <a:xfrm>
            <a:off x="640715" y="44672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决策属性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custDataLst>
              <p:tags r:id="rId10"/>
            </p:custDataLst>
          </p:nvPr>
        </p:nvSpPr>
        <p:spPr>
          <a:xfrm>
            <a:off x="2550160" y="4556125"/>
            <a:ext cx="3930650" cy="460375"/>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决策角色、岗位和职能、决策者目标、决策链条、其他个人特征、组织结构....</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3" name="流程图: 磁盘 42"/>
          <p:cNvSpPr/>
          <p:nvPr>
            <p:custDataLst>
              <p:tags r:id="rId11"/>
            </p:custDataLst>
          </p:nvPr>
        </p:nvSpPr>
        <p:spPr bwMode="auto">
          <a:xfrm>
            <a:off x="669290" y="56356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市场属性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文本框 43"/>
          <p:cNvSpPr txBox="1"/>
          <p:nvPr>
            <p:custDataLst>
              <p:tags r:id="rId12"/>
            </p:custDataLst>
          </p:nvPr>
        </p:nvSpPr>
        <p:spPr>
          <a:xfrm>
            <a:off x="2524125" y="5751195"/>
            <a:ext cx="3930650"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市场份额、竞争地位、竞品信息、市场趋势..</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5" name="流程图: 磁盘 44"/>
          <p:cNvSpPr/>
          <p:nvPr>
            <p:custDataLst>
              <p:tags r:id="rId13"/>
            </p:custDataLst>
          </p:nvPr>
        </p:nvSpPr>
        <p:spPr bwMode="auto">
          <a:xfrm>
            <a:off x="643064" y="50514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购买行为</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文本框 45"/>
          <p:cNvSpPr txBox="1"/>
          <p:nvPr>
            <p:custDataLst>
              <p:tags r:id="rId14"/>
            </p:custDataLst>
          </p:nvPr>
        </p:nvSpPr>
        <p:spPr>
          <a:xfrm>
            <a:off x="2557715" y="5068242"/>
            <a:ext cx="3930053"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购买周期、购买动机、品牌忠诚度、咨询次数、咨询内容、客户拜访次数、客户活跃度、历史业务数据（包括项目信息）、负责业务员</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流程图: 磁盘 46"/>
          <p:cNvSpPr/>
          <p:nvPr>
            <p:custDataLst>
              <p:tags r:id="rId15"/>
            </p:custDataLst>
          </p:nvPr>
        </p:nvSpPr>
        <p:spPr bwMode="auto">
          <a:xfrm>
            <a:off x="643064" y="62198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风险属性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文本框 47"/>
          <p:cNvSpPr txBox="1"/>
          <p:nvPr/>
        </p:nvSpPr>
        <p:spPr>
          <a:xfrm>
            <a:off x="2557780" y="6219825"/>
            <a:ext cx="4064000"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偷税漏税、严重违法失信、股权冻结、重大负面舆情、法人变更、行政处罚、环保处罚、立案信息、空壳指数</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0" fontAlgn="base" hangingPunct="0">
              <a:spcBef>
                <a:spcPct val="0"/>
              </a:spcBef>
              <a:spcAft>
                <a:spcPct val="0"/>
              </a:spcAft>
            </a:pPr>
            <a:endParaRPr lang="zh-CN" altLang="en-US" sz="120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椭圆 48"/>
          <p:cNvSpPr/>
          <p:nvPr/>
        </p:nvSpPr>
        <p:spPr>
          <a:xfrm>
            <a:off x="8410022" y="4503079"/>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0" name="流程图: 终止 34"/>
          <p:cNvSpPr/>
          <p:nvPr/>
        </p:nvSpPr>
        <p:spPr>
          <a:xfrm>
            <a:off x="7071705" y="4703171"/>
            <a:ext cx="1102315" cy="243988"/>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AE4845">
                  <a:lumMod val="75000"/>
                </a:srgbClr>
              </a:solidFill>
              <a:latin typeface="微软雅黑" panose="020B0503020204020204" pitchFamily="34" charset="-122"/>
              <a:ea typeface="微软雅黑" panose="020B0503020204020204" pitchFamily="34" charset="-122"/>
              <a:cs typeface="Helvetica"/>
            </a:endParaRPr>
          </a:p>
        </p:txBody>
      </p:sp>
      <p:sp>
        <p:nvSpPr>
          <p:cNvPr id="51" name="矩形 50"/>
          <p:cNvSpPr/>
          <p:nvPr/>
        </p:nvSpPr>
        <p:spPr>
          <a:xfrm>
            <a:off x="7127655" y="4705777"/>
            <a:ext cx="974781" cy="245110"/>
          </a:xfrm>
          <a:prstGeom prst="rect">
            <a:avLst/>
          </a:prstGeom>
        </p:spPr>
        <p:txBody>
          <a:bodyPr wrap="square">
            <a:spAutoFit/>
          </a:bodyPr>
          <a:lstStyle/>
          <a:p>
            <a:pPr algn="ctr" eaLnBrk="0" fontAlgn="base" hangingPunct="0">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rPr>
              <a:t>购买属性</a:t>
            </a:r>
            <a:endPar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2" name="标注: 弯曲线形(无边框) 33"/>
          <p:cNvSpPr/>
          <p:nvPr/>
        </p:nvSpPr>
        <p:spPr>
          <a:xfrm>
            <a:off x="7094862" y="4555822"/>
            <a:ext cx="998277" cy="129527"/>
          </a:xfrm>
          <a:prstGeom prst="callout2">
            <a:avLst>
              <a:gd name="adj1" fmla="val 223295"/>
              <a:gd name="adj2" fmla="val 108008"/>
              <a:gd name="adj3" fmla="val 112763"/>
              <a:gd name="adj4" fmla="val 112986"/>
              <a:gd name="adj5" fmla="val 28139"/>
              <a:gd name="adj6" fmla="val 13512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53" name="椭圆 52"/>
          <p:cNvSpPr/>
          <p:nvPr/>
        </p:nvSpPr>
        <p:spPr>
          <a:xfrm>
            <a:off x="9066610" y="3038813"/>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4" name="椭圆 53"/>
          <p:cNvSpPr/>
          <p:nvPr/>
        </p:nvSpPr>
        <p:spPr>
          <a:xfrm>
            <a:off x="8820865" y="4685368"/>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6" name="矩形 55"/>
          <p:cNvSpPr/>
          <p:nvPr/>
        </p:nvSpPr>
        <p:spPr>
          <a:xfrm>
            <a:off x="9058592" y="2337873"/>
            <a:ext cx="974725" cy="246380"/>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客户分级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7" name="流程图: 终止 32"/>
          <p:cNvSpPr/>
          <p:nvPr/>
        </p:nvSpPr>
        <p:spPr>
          <a:xfrm>
            <a:off x="8937625" y="2346325"/>
            <a:ext cx="1216660" cy="243840"/>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58" name="矩形 57"/>
          <p:cNvSpPr/>
          <p:nvPr/>
        </p:nvSpPr>
        <p:spPr>
          <a:xfrm>
            <a:off x="8276544" y="5388197"/>
            <a:ext cx="974781" cy="245110"/>
          </a:xfrm>
          <a:prstGeom prst="rect">
            <a:avLst/>
          </a:prstGeom>
        </p:spPr>
        <p:txBody>
          <a:bodyPr wrap="square">
            <a:spAutoFit/>
          </a:bodyPr>
          <a:lstStyle/>
          <a:p>
            <a:pPr algn="ctr" eaLnBrk="0" fontAlgn="base" hangingPunct="0">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rPr>
              <a:t>风险属性</a:t>
            </a:r>
            <a:endPar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9" name="流程图: 终止 32"/>
          <p:cNvSpPr/>
          <p:nvPr/>
        </p:nvSpPr>
        <p:spPr>
          <a:xfrm>
            <a:off x="8147230" y="5391558"/>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0" name="标注: 弯曲线形(无边框) 33"/>
          <p:cNvSpPr/>
          <p:nvPr/>
        </p:nvSpPr>
        <p:spPr>
          <a:xfrm>
            <a:off x="7851177" y="2815374"/>
            <a:ext cx="998277" cy="129527"/>
          </a:xfrm>
          <a:prstGeom prst="callout2">
            <a:avLst>
              <a:gd name="adj1" fmla="val -169458"/>
              <a:gd name="adj2" fmla="val 169388"/>
              <a:gd name="adj3" fmla="val -1303"/>
              <a:gd name="adj4" fmla="val 169961"/>
              <a:gd name="adj5" fmla="val 204175"/>
              <a:gd name="adj6" fmla="val 1325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1" name="标注: 弯曲线形(无边框) 33"/>
          <p:cNvSpPr/>
          <p:nvPr/>
        </p:nvSpPr>
        <p:spPr>
          <a:xfrm>
            <a:off x="9177149" y="4202094"/>
            <a:ext cx="998277" cy="129527"/>
          </a:xfrm>
          <a:prstGeom prst="callout2">
            <a:avLst>
              <a:gd name="adj1" fmla="val 403731"/>
              <a:gd name="adj2" fmla="val -28128"/>
              <a:gd name="adj3" fmla="val 558158"/>
              <a:gd name="adj4" fmla="val -54081"/>
              <a:gd name="adj5" fmla="val 906232"/>
              <a:gd name="adj6" fmla="val -4485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2" name="文本框 61"/>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通过建立和维护与客户的长期互动关系，提升客户满意度和忠诚度，从而推动业务增量，实现持续良性的客户关系和市场份额提升。同时对客户标签的梳理，有助于明确客户特征制定更精准的销售策略，既能降低成本、又能提升营销成效。</a:t>
            </a:r>
            <a:endParaRPr lang="zh-CN" altLang="en-US" sz="1600" b="1" dirty="0">
              <a:solidFill>
                <a:srgbClr val="060607"/>
              </a:solidFill>
              <a:latin typeface="微软雅黑" panose="020B0503020204020204" pitchFamily="34" charset="-122"/>
              <a:ea typeface="微软雅黑" panose="020B0503020204020204" pitchFamily="34" charset="-122"/>
              <a:cs typeface="Helvetica"/>
            </a:endParaRPr>
          </a:p>
        </p:txBody>
      </p:sp>
      <p:pic>
        <p:nvPicPr>
          <p:cNvPr id="63" name="图片 62"/>
          <p:cNvPicPr>
            <a:picLocks noChangeAspect="1"/>
          </p:cNvPicPr>
          <p:nvPr/>
        </p:nvPicPr>
        <p:blipFill>
          <a:blip r:embed="rId16"/>
          <a:stretch>
            <a:fillRect/>
          </a:stretch>
        </p:blipFill>
        <p:spPr>
          <a:xfrm>
            <a:off x="8447812" y="3444140"/>
            <a:ext cx="1180221" cy="107269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5</a:t>
            </a:r>
            <a:r>
              <a:rPr lang="zh-CN" altLang="en-US" kern="0" dirty="0">
                <a:solidFill>
                  <a:srgbClr val="000000"/>
                </a:solidFill>
                <a:cs typeface="Helvetica"/>
                <a:sym typeface="+mn-ea"/>
              </a:rPr>
              <a:t>、大客户画像指标体系（存量客户）</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5043135" y="877330"/>
            <a:ext cx="2105055" cy="360000"/>
          </a:xfrm>
          <a:prstGeom prst="rect">
            <a:avLst/>
          </a:prstGeom>
          <a:solidFill>
            <a:srgbClr val="0C7F8A"/>
          </a:solidFill>
          <a:ln>
            <a:noFill/>
          </a:ln>
          <a:effectLst/>
        </p:spPr>
        <p:txBody>
          <a:bodyPr lIns="9000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rPr>
              <a:t>大客户画像</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endParaRPr>
          </a:p>
        </p:txBody>
      </p:sp>
      <p:sp>
        <p:nvSpPr>
          <p:cNvPr id="5" name="Rectangle 217"/>
          <p:cNvSpPr/>
          <p:nvPr/>
        </p:nvSpPr>
        <p:spPr>
          <a:xfrm>
            <a:off x="22322" y="1582615"/>
            <a:ext cx="442371" cy="477568"/>
          </a:xfrm>
          <a:prstGeom prst="rect">
            <a:avLst/>
          </a:prstGeom>
          <a:solidFill>
            <a:srgbClr val="FFFFFF"/>
          </a:solidFill>
          <a:ln>
            <a:noFill/>
          </a:ln>
          <a:effectLst/>
        </p:spPr>
        <p:txBody>
          <a:bodyPr lIns="90000" rtlCol="0" anchor="ctr"/>
          <a:lstStyle/>
          <a:p>
            <a:pPr algn="ctr">
              <a:defRPr/>
            </a:pPr>
            <a:endParaRPr 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6" name="Rectangle 36" descr="7b0a202020202262756c6c6574223a20227b5c2263617465676f727949645c223a5c225c222c5c2274656d706c61746549645c223a32303233313538377d220a7d0a"/>
          <p:cNvSpPr/>
          <p:nvPr/>
        </p:nvSpPr>
        <p:spPr>
          <a:xfrm>
            <a:off x="74295" y="1888247"/>
            <a:ext cx="12960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基础属性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7" name="Rectangle 37"/>
          <p:cNvSpPr/>
          <p:nvPr/>
        </p:nvSpPr>
        <p:spPr>
          <a:xfrm>
            <a:off x="1442685"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业务信息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8" name="Rectangle 37"/>
          <p:cNvSpPr/>
          <p:nvPr/>
        </p:nvSpPr>
        <p:spPr>
          <a:xfrm>
            <a:off x="2774280"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财务信息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9" name="Rectangle 37"/>
          <p:cNvSpPr/>
          <p:nvPr/>
        </p:nvSpPr>
        <p:spPr>
          <a:xfrm>
            <a:off x="8113042" y="1887612"/>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客户分类分级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0" name="Rectangle 37"/>
          <p:cNvSpPr/>
          <p:nvPr/>
        </p:nvSpPr>
        <p:spPr>
          <a:xfrm>
            <a:off x="4105875"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决策属性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11" name="肘形连接符 6"/>
          <p:cNvCxnSpPr>
            <a:stCxn id="4" idx="2"/>
            <a:endCxn id="6" idx="0"/>
          </p:cNvCxnSpPr>
          <p:nvPr/>
        </p:nvCxnSpPr>
        <p:spPr>
          <a:xfrm rot="5400000">
            <a:off x="3083878" y="-1123632"/>
            <a:ext cx="650875" cy="5373370"/>
          </a:xfrm>
          <a:prstGeom prst="bentConnector3">
            <a:avLst>
              <a:gd name="adj1" fmla="val 50000"/>
            </a:avLst>
          </a:prstGeom>
          <a:noFill/>
          <a:ln w="19050" cap="flat" cmpd="sng" algn="ctr">
            <a:solidFill>
              <a:srgbClr val="009F9A"/>
            </a:solidFill>
            <a:prstDash val="solid"/>
            <a:miter lim="800000"/>
            <a:headEnd type="none" w="med" len="med"/>
            <a:tailEnd type="none" w="med" len="med"/>
          </a:ln>
          <a:effectLst/>
        </p:spPr>
      </p:cxnSp>
      <p:cxnSp>
        <p:nvCxnSpPr>
          <p:cNvPr id="12" name="肘形连接符 8"/>
          <p:cNvCxnSpPr>
            <a:stCxn id="4" idx="2"/>
            <a:endCxn id="7" idx="0"/>
          </p:cNvCxnSpPr>
          <p:nvPr/>
        </p:nvCxnSpPr>
        <p:spPr>
          <a:xfrm rot="5400000">
            <a:off x="3767773" y="-439737"/>
            <a:ext cx="650875" cy="4005580"/>
          </a:xfrm>
          <a:prstGeom prst="bentConnector3">
            <a:avLst>
              <a:gd name="adj1" fmla="val 50000"/>
            </a:avLst>
          </a:prstGeom>
          <a:noFill/>
          <a:ln w="19050" cap="flat" cmpd="sng" algn="ctr">
            <a:solidFill>
              <a:srgbClr val="009F9A"/>
            </a:solidFill>
            <a:prstDash val="solid"/>
            <a:miter lim="800000"/>
            <a:headEnd type="none" w="med" len="med"/>
            <a:tailEnd type="none" w="med" len="med"/>
          </a:ln>
          <a:effectLst/>
        </p:spPr>
      </p:cxnSp>
      <p:sp>
        <p:nvSpPr>
          <p:cNvPr id="13" name="Rectangle 37"/>
          <p:cNvSpPr/>
          <p:nvPr/>
        </p:nvSpPr>
        <p:spPr>
          <a:xfrm>
            <a:off x="5441597"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市场属性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4" name="Rectangle 37"/>
          <p:cNvSpPr/>
          <p:nvPr/>
        </p:nvSpPr>
        <p:spPr>
          <a:xfrm>
            <a:off x="6777320"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风险属性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5" name="Rectangle 37"/>
          <p:cNvSpPr/>
          <p:nvPr/>
        </p:nvSpPr>
        <p:spPr>
          <a:xfrm>
            <a:off x="9465275"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交易记录</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6" name="肘形连接符 16"/>
          <p:cNvCxnSpPr>
            <a:stCxn id="4" idx="2"/>
            <a:endCxn id="8" idx="0"/>
          </p:cNvCxnSpPr>
          <p:nvPr/>
        </p:nvCxnSpPr>
        <p:spPr>
          <a:xfrm rot="5400000">
            <a:off x="4433570" y="226060"/>
            <a:ext cx="650875" cy="2673985"/>
          </a:xfrm>
          <a:prstGeom prst="bentConnector3">
            <a:avLst>
              <a:gd name="adj1" fmla="val 50049"/>
            </a:avLst>
          </a:prstGeom>
          <a:noFill/>
          <a:ln w="19050" cap="flat" cmpd="sng" algn="ctr">
            <a:solidFill>
              <a:srgbClr val="009F9A"/>
            </a:solidFill>
            <a:prstDash val="solid"/>
            <a:miter lim="800000"/>
            <a:headEnd type="none" w="med" len="med"/>
            <a:tailEnd type="none" w="med" len="med"/>
          </a:ln>
          <a:effectLst/>
        </p:spPr>
      </p:cxnSp>
      <p:cxnSp>
        <p:nvCxnSpPr>
          <p:cNvPr id="17" name="肘形连接符 19"/>
          <p:cNvCxnSpPr>
            <a:stCxn id="4" idx="2"/>
            <a:endCxn id="14" idx="0"/>
          </p:cNvCxnSpPr>
          <p:nvPr/>
        </p:nvCxnSpPr>
        <p:spPr>
          <a:xfrm rot="5400000" flipV="1">
            <a:off x="6435090" y="898525"/>
            <a:ext cx="650875" cy="1329055"/>
          </a:xfrm>
          <a:prstGeom prst="bentConnector3">
            <a:avLst>
              <a:gd name="adj1" fmla="val 50049"/>
            </a:avLst>
          </a:prstGeom>
          <a:noFill/>
          <a:ln w="19050" cap="flat" cmpd="sng" algn="ctr">
            <a:solidFill>
              <a:srgbClr val="009F9A"/>
            </a:solidFill>
            <a:prstDash val="solid"/>
            <a:miter lim="800000"/>
            <a:headEnd type="none" w="med" len="med"/>
            <a:tailEnd type="none" w="med" len="med"/>
          </a:ln>
          <a:effectLst/>
        </p:spPr>
      </p:cxnSp>
      <p:cxnSp>
        <p:nvCxnSpPr>
          <p:cNvPr id="18" name="肘形连接符 24"/>
          <p:cNvCxnSpPr>
            <a:stCxn id="4" idx="2"/>
            <a:endCxn id="15" idx="0"/>
          </p:cNvCxnSpPr>
          <p:nvPr/>
        </p:nvCxnSpPr>
        <p:spPr>
          <a:xfrm rot="5400000" flipV="1">
            <a:off x="7779385" y="-445770"/>
            <a:ext cx="650240" cy="4017010"/>
          </a:xfrm>
          <a:prstGeom prst="bentConnector3">
            <a:avLst>
              <a:gd name="adj1" fmla="val 50000"/>
            </a:avLst>
          </a:prstGeom>
          <a:noFill/>
          <a:ln w="19050" cap="flat" cmpd="sng" algn="ctr">
            <a:solidFill>
              <a:srgbClr val="009F9A"/>
            </a:solidFill>
            <a:prstDash val="solid"/>
            <a:miter lim="800000"/>
            <a:headEnd type="none" w="med" len="med"/>
            <a:tailEnd type="none" w="med" len="med"/>
          </a:ln>
          <a:effectLst/>
        </p:spPr>
      </p:cxnSp>
      <p:cxnSp>
        <p:nvCxnSpPr>
          <p:cNvPr id="19" name="肘形连接符 26"/>
          <p:cNvCxnSpPr>
            <a:stCxn id="4" idx="2"/>
            <a:endCxn id="9" idx="0"/>
          </p:cNvCxnSpPr>
          <p:nvPr/>
        </p:nvCxnSpPr>
        <p:spPr>
          <a:xfrm rot="5400000" flipV="1">
            <a:off x="7102475" y="229870"/>
            <a:ext cx="650240" cy="2665095"/>
          </a:xfrm>
          <a:prstGeom prst="bentConnector3">
            <a:avLst>
              <a:gd name="adj1" fmla="val 49951"/>
            </a:avLst>
          </a:prstGeom>
          <a:noFill/>
          <a:ln w="19050" cap="flat" cmpd="sng" algn="ctr">
            <a:solidFill>
              <a:srgbClr val="009F9A"/>
            </a:solidFill>
            <a:prstDash val="solid"/>
            <a:miter lim="800000"/>
            <a:headEnd type="none" w="med" len="med"/>
            <a:tailEnd type="none" w="med" len="med"/>
          </a:ln>
          <a:effectLst/>
        </p:spPr>
      </p:cxnSp>
      <p:sp>
        <p:nvSpPr>
          <p:cNvPr id="20" name="Rectangle: Rounded Corners 92"/>
          <p:cNvSpPr/>
          <p:nvPr>
            <p:custDataLst>
              <p:tags r:id="rId1"/>
            </p:custDataLst>
          </p:nvPr>
        </p:nvSpPr>
        <p:spPr>
          <a:xfrm>
            <a:off x="7429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注册资本</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参保员工人数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成立时间</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企业性质</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行业相关信息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内部认定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经营状态</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国家省份地区</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是否上市公司</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经营范围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客户负责人</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客户建档时间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Rectangle: Rounded Corners 92"/>
          <p:cNvSpPr/>
          <p:nvPr>
            <p:custDataLst>
              <p:tags r:id="rId2"/>
            </p:custDataLst>
          </p:nvPr>
        </p:nvSpPr>
        <p:spPr>
          <a:xfrm>
            <a:off x="144208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客户动态</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客户大事件</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Rectangle: Rounded Corners 92"/>
          <p:cNvSpPr/>
          <p:nvPr>
            <p:custDataLst>
              <p:tags r:id="rId3"/>
            </p:custDataLst>
          </p:nvPr>
        </p:nvSpPr>
        <p:spPr>
          <a:xfrm>
            <a:off x="277368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利润状况</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财务健康</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Rectangle: Rounded Corners 92"/>
          <p:cNvSpPr/>
          <p:nvPr>
            <p:custDataLst>
              <p:tags r:id="rId4"/>
            </p:custDataLst>
          </p:nvPr>
        </p:nvSpPr>
        <p:spPr>
          <a:xfrm>
            <a:off x="810895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客户分级</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战略客户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重要客户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普通客户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低价值客户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全球客户</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区域客户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客户类型</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是否集团客户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所属集团</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客户层级展现</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Rectangle: Rounded Corners 92"/>
          <p:cNvSpPr/>
          <p:nvPr>
            <p:custDataLst>
              <p:tags r:id="rId5"/>
            </p:custDataLst>
          </p:nvPr>
        </p:nvSpPr>
        <p:spPr>
          <a:xfrm>
            <a:off x="410527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联系人姓名</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职务</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角色（决策者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影响者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使用者）</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决策链</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Rectangle: Rounded Corners 92"/>
          <p:cNvSpPr/>
          <p:nvPr>
            <p:custDataLst>
              <p:tags r:id="rId6"/>
            </p:custDataLst>
          </p:nvPr>
        </p:nvSpPr>
        <p:spPr>
          <a:xfrm>
            <a:off x="544131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市场份额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行业排名</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竞品信息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市场趋势</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宏发占有额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Rectangle: Rounded Corners 92"/>
          <p:cNvSpPr/>
          <p:nvPr>
            <p:custDataLst>
              <p:tags r:id="rId7"/>
            </p:custDataLst>
          </p:nvPr>
        </p:nvSpPr>
        <p:spPr>
          <a:xfrm>
            <a:off x="677672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偷税漏税</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严重违法失信</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股权冻结</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重大负面舆情</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法人变更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行政处罚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环保处罚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立案信息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空壳指数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风险类别</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超期款</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预警</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逾期未提货订单金额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客户是否三个月未提交</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应收账款</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法律诉讼数量</a:t>
            </a:r>
            <a:endParaRPr lang="zh-CN" altLang="en-US" sz="1000"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8"/>
            </p:custDataLst>
          </p:nvPr>
        </p:nvSpPr>
        <p:spPr>
          <a:xfrm>
            <a:off x="946467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近三年开票额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本年度开票额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近三年回款额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本年度回款额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近三年毛利率</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购买产品分类（一年内）</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最近一次交易时间（下单时间）</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首次交易时间（下单时间）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与我司合作年限</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本年度毛利率</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8" name="肘形连接符 3"/>
          <p:cNvCxnSpPr>
            <a:stCxn id="4" idx="2"/>
            <a:endCxn id="10" idx="0"/>
          </p:cNvCxnSpPr>
          <p:nvPr/>
        </p:nvCxnSpPr>
        <p:spPr>
          <a:xfrm rot="5400000">
            <a:off x="5099368" y="891858"/>
            <a:ext cx="650875" cy="1342390"/>
          </a:xfrm>
          <a:prstGeom prst="bentConnector3">
            <a:avLst>
              <a:gd name="adj1" fmla="val 50000"/>
            </a:avLst>
          </a:prstGeom>
          <a:noFill/>
          <a:ln w="19050" cap="flat" cmpd="sng" algn="ctr">
            <a:solidFill>
              <a:srgbClr val="009F9A"/>
            </a:solidFill>
            <a:prstDash val="solid"/>
            <a:miter lim="800000"/>
            <a:headEnd type="none" w="med" len="med"/>
            <a:tailEnd type="none" w="med" len="med"/>
          </a:ln>
          <a:effectLst/>
        </p:spPr>
      </p:cxnSp>
      <p:sp>
        <p:nvSpPr>
          <p:cNvPr id="29" name="Rectangle 37"/>
          <p:cNvSpPr/>
          <p:nvPr/>
        </p:nvSpPr>
        <p:spPr>
          <a:xfrm>
            <a:off x="10813697"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客户活跃度</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Rectangle: Rounded Corners 92"/>
          <p:cNvSpPr/>
          <p:nvPr>
            <p:custDataLst>
              <p:tags r:id="rId9"/>
            </p:custDataLst>
          </p:nvPr>
        </p:nvSpPr>
        <p:spPr>
          <a:xfrm>
            <a:off x="1081341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近一年订单数量</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金额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本年度项目数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近一年项目预计收入金额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近一年项目实际收入金额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品牌忠诚度（</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NPS</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客户满意度</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客户交流次数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客户活跃度等级分布</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是否公海池客户</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defTabSz="898525" eaLnBrk="0" fontAlgn="t" hangingPunct="0">
              <a:lnSpc>
                <a:spcPct val="150000"/>
              </a:lnSpc>
              <a:spcBef>
                <a:spcPct val="0"/>
              </a:spcBef>
              <a:spcAft>
                <a:spcPct val="0"/>
              </a:spcAft>
              <a:buFont typeface="Arial" panose="020B0604020202020204" pitchFamily="34" charset="0"/>
              <a:buNone/>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1" name="肘形连接符 10"/>
          <p:cNvCxnSpPr>
            <a:stCxn id="4" idx="2"/>
            <a:endCxn id="13" idx="0"/>
          </p:cNvCxnSpPr>
          <p:nvPr/>
        </p:nvCxnSpPr>
        <p:spPr>
          <a:xfrm rot="5400000">
            <a:off x="5767070" y="1559560"/>
            <a:ext cx="650875" cy="6985"/>
          </a:xfrm>
          <a:prstGeom prst="bentConnector3">
            <a:avLst>
              <a:gd name="adj1" fmla="val 50049"/>
            </a:avLst>
          </a:prstGeom>
          <a:noFill/>
          <a:ln w="19050" cap="flat" cmpd="sng" algn="ctr">
            <a:solidFill>
              <a:srgbClr val="009F9A"/>
            </a:solidFill>
            <a:prstDash val="solid"/>
            <a:miter lim="800000"/>
            <a:headEnd type="none" w="med" len="med"/>
            <a:tailEnd type="none" w="med" len="med"/>
          </a:ln>
          <a:effectLst/>
        </p:spPr>
      </p:cxnSp>
      <p:cxnSp>
        <p:nvCxnSpPr>
          <p:cNvPr id="32" name="肘形连接符 11"/>
          <p:cNvCxnSpPr>
            <a:stCxn id="4" idx="2"/>
            <a:endCxn id="29" idx="0"/>
          </p:cNvCxnSpPr>
          <p:nvPr/>
        </p:nvCxnSpPr>
        <p:spPr>
          <a:xfrm rot="5400000" flipV="1">
            <a:off x="8453120" y="-1120140"/>
            <a:ext cx="650240" cy="5365750"/>
          </a:xfrm>
          <a:prstGeom prst="bentConnector3">
            <a:avLst>
              <a:gd name="adj1" fmla="val 50000"/>
            </a:avLst>
          </a:prstGeom>
          <a:noFill/>
          <a:ln w="19050" cap="flat" cmpd="sng" algn="ctr">
            <a:solidFill>
              <a:srgbClr val="009F9A"/>
            </a:solidFill>
            <a:prstDash val="solid"/>
            <a:miter lim="800000"/>
            <a:headEnd type="none" w="med" len="med"/>
            <a:tailEnd type="none" w="med" len="med"/>
          </a:ln>
          <a:effec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5</a:t>
            </a:r>
            <a:r>
              <a:rPr lang="zh-CN" altLang="en-US" kern="0" dirty="0">
                <a:solidFill>
                  <a:srgbClr val="000000"/>
                </a:solidFill>
                <a:cs typeface="Helvetica"/>
                <a:sym typeface="+mn-ea"/>
              </a:rPr>
              <a:t>、大客户画像指标体系（潜在客户）</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5043135" y="877330"/>
            <a:ext cx="2105055" cy="360000"/>
          </a:xfrm>
          <a:prstGeom prst="rect">
            <a:avLst/>
          </a:prstGeom>
          <a:solidFill>
            <a:srgbClr val="0C7F8A"/>
          </a:solidFill>
          <a:ln>
            <a:noFill/>
          </a:ln>
          <a:effectLst/>
        </p:spPr>
        <p:txBody>
          <a:bodyPr lIns="9000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rPr>
              <a:t>大客户画像</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endParaRPr>
          </a:p>
        </p:txBody>
      </p:sp>
      <p:sp>
        <p:nvSpPr>
          <p:cNvPr id="5" name="Rectangle 217"/>
          <p:cNvSpPr/>
          <p:nvPr/>
        </p:nvSpPr>
        <p:spPr>
          <a:xfrm>
            <a:off x="22322" y="1582615"/>
            <a:ext cx="442371" cy="477568"/>
          </a:xfrm>
          <a:prstGeom prst="rect">
            <a:avLst/>
          </a:prstGeom>
          <a:solidFill>
            <a:srgbClr val="FFFFFF"/>
          </a:solidFill>
          <a:ln>
            <a:noFill/>
          </a:ln>
          <a:effectLst/>
        </p:spPr>
        <p:txBody>
          <a:bodyPr lIns="90000" rtlCol="0" anchor="ctr"/>
          <a:lstStyle/>
          <a:p>
            <a:pPr algn="ctr">
              <a:defRPr/>
            </a:pPr>
            <a:endParaRPr 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6" name="Rectangle 36" descr="7b0a202020202262756c6c6574223a20227b5c2263617465676f727949645c223a5c225c222c5c2274656d706c61746549645c223a32303233313538377d220a7d0a"/>
          <p:cNvSpPr/>
          <p:nvPr/>
        </p:nvSpPr>
        <p:spPr>
          <a:xfrm>
            <a:off x="74295" y="1888247"/>
            <a:ext cx="12960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基础属性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7" name="Rectangle 37"/>
          <p:cNvSpPr/>
          <p:nvPr/>
        </p:nvSpPr>
        <p:spPr>
          <a:xfrm>
            <a:off x="1442685"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业务信息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8" name="Rectangle 37"/>
          <p:cNvSpPr/>
          <p:nvPr/>
        </p:nvSpPr>
        <p:spPr>
          <a:xfrm>
            <a:off x="2774280"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财务信息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9" name="Rectangle 37"/>
          <p:cNvSpPr/>
          <p:nvPr/>
        </p:nvSpPr>
        <p:spPr>
          <a:xfrm>
            <a:off x="8113042" y="1887612"/>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客户分类分级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0" name="Rectangle 37"/>
          <p:cNvSpPr/>
          <p:nvPr/>
        </p:nvSpPr>
        <p:spPr>
          <a:xfrm>
            <a:off x="4105875"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决策属性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11" name="肘形连接符 6"/>
          <p:cNvCxnSpPr>
            <a:stCxn id="4" idx="2"/>
            <a:endCxn id="6" idx="0"/>
          </p:cNvCxnSpPr>
          <p:nvPr/>
        </p:nvCxnSpPr>
        <p:spPr>
          <a:xfrm rot="5400000">
            <a:off x="3083878" y="-1123632"/>
            <a:ext cx="650875" cy="5373370"/>
          </a:xfrm>
          <a:prstGeom prst="bentConnector3">
            <a:avLst>
              <a:gd name="adj1" fmla="val 50000"/>
            </a:avLst>
          </a:prstGeom>
          <a:noFill/>
          <a:ln w="19050" cap="flat" cmpd="sng" algn="ctr">
            <a:solidFill>
              <a:srgbClr val="0C7F8A"/>
            </a:solidFill>
            <a:prstDash val="solid"/>
            <a:miter lim="800000"/>
            <a:headEnd type="none" w="med" len="med"/>
            <a:tailEnd type="none" w="med" len="med"/>
          </a:ln>
          <a:effectLst/>
        </p:spPr>
      </p:cxnSp>
      <p:cxnSp>
        <p:nvCxnSpPr>
          <p:cNvPr id="12" name="肘形连接符 8"/>
          <p:cNvCxnSpPr>
            <a:stCxn id="4" idx="2"/>
            <a:endCxn id="7" idx="0"/>
          </p:cNvCxnSpPr>
          <p:nvPr/>
        </p:nvCxnSpPr>
        <p:spPr>
          <a:xfrm rot="5400000">
            <a:off x="3767773" y="-439737"/>
            <a:ext cx="650875" cy="4005580"/>
          </a:xfrm>
          <a:prstGeom prst="bentConnector3">
            <a:avLst>
              <a:gd name="adj1" fmla="val 50000"/>
            </a:avLst>
          </a:prstGeom>
          <a:noFill/>
          <a:ln w="19050" cap="flat" cmpd="sng" algn="ctr">
            <a:solidFill>
              <a:srgbClr val="0C7F8A"/>
            </a:solidFill>
            <a:prstDash val="solid"/>
            <a:miter lim="800000"/>
            <a:headEnd type="none" w="med" len="med"/>
            <a:tailEnd type="none" w="med" len="med"/>
          </a:ln>
          <a:effectLst/>
        </p:spPr>
      </p:cxnSp>
      <p:sp>
        <p:nvSpPr>
          <p:cNvPr id="13" name="Rectangle 37"/>
          <p:cNvSpPr/>
          <p:nvPr/>
        </p:nvSpPr>
        <p:spPr>
          <a:xfrm>
            <a:off x="5441597"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市场属性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4" name="Rectangle 37"/>
          <p:cNvSpPr/>
          <p:nvPr/>
        </p:nvSpPr>
        <p:spPr>
          <a:xfrm>
            <a:off x="6777320"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风险属性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5" name="Rectangle 37"/>
          <p:cNvSpPr/>
          <p:nvPr/>
        </p:nvSpPr>
        <p:spPr>
          <a:xfrm>
            <a:off x="9465275"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交易记录</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6" name="肘形连接符 16"/>
          <p:cNvCxnSpPr>
            <a:stCxn id="4" idx="2"/>
            <a:endCxn id="8" idx="0"/>
          </p:cNvCxnSpPr>
          <p:nvPr/>
        </p:nvCxnSpPr>
        <p:spPr>
          <a:xfrm rot="5400000">
            <a:off x="4433570" y="226060"/>
            <a:ext cx="650875" cy="2673985"/>
          </a:xfrm>
          <a:prstGeom prst="bentConnector3">
            <a:avLst>
              <a:gd name="adj1" fmla="val 50049"/>
            </a:avLst>
          </a:prstGeom>
          <a:noFill/>
          <a:ln w="19050" cap="flat" cmpd="sng" algn="ctr">
            <a:solidFill>
              <a:srgbClr val="0C7F8A"/>
            </a:solidFill>
            <a:prstDash val="solid"/>
            <a:miter lim="800000"/>
            <a:headEnd type="none" w="med" len="med"/>
            <a:tailEnd type="none" w="med" len="med"/>
          </a:ln>
          <a:effectLst/>
        </p:spPr>
      </p:cxnSp>
      <p:cxnSp>
        <p:nvCxnSpPr>
          <p:cNvPr id="17" name="肘形连接符 19"/>
          <p:cNvCxnSpPr>
            <a:stCxn id="4" idx="2"/>
            <a:endCxn id="14" idx="0"/>
          </p:cNvCxnSpPr>
          <p:nvPr/>
        </p:nvCxnSpPr>
        <p:spPr>
          <a:xfrm rot="5400000" flipV="1">
            <a:off x="6435090" y="898525"/>
            <a:ext cx="650875" cy="1329055"/>
          </a:xfrm>
          <a:prstGeom prst="bentConnector3">
            <a:avLst>
              <a:gd name="adj1" fmla="val 50049"/>
            </a:avLst>
          </a:prstGeom>
          <a:noFill/>
          <a:ln w="19050" cap="flat" cmpd="sng" algn="ctr">
            <a:solidFill>
              <a:srgbClr val="0C7F8A"/>
            </a:solidFill>
            <a:prstDash val="solid"/>
            <a:miter lim="800000"/>
            <a:headEnd type="none" w="med" len="med"/>
            <a:tailEnd type="none" w="med" len="med"/>
          </a:ln>
          <a:effectLst/>
        </p:spPr>
      </p:cxnSp>
      <p:cxnSp>
        <p:nvCxnSpPr>
          <p:cNvPr id="18" name="肘形连接符 24"/>
          <p:cNvCxnSpPr>
            <a:stCxn id="4" idx="2"/>
            <a:endCxn id="15" idx="0"/>
          </p:cNvCxnSpPr>
          <p:nvPr/>
        </p:nvCxnSpPr>
        <p:spPr>
          <a:xfrm rot="5400000" flipV="1">
            <a:off x="7779385" y="-445770"/>
            <a:ext cx="650240" cy="4017010"/>
          </a:xfrm>
          <a:prstGeom prst="bentConnector3">
            <a:avLst>
              <a:gd name="adj1" fmla="val 50000"/>
            </a:avLst>
          </a:prstGeom>
          <a:noFill/>
          <a:ln w="19050" cap="flat" cmpd="sng" algn="ctr">
            <a:solidFill>
              <a:srgbClr val="0C7F8A"/>
            </a:solidFill>
            <a:prstDash val="solid"/>
            <a:miter lim="800000"/>
            <a:headEnd type="none" w="med" len="med"/>
            <a:tailEnd type="none" w="med" len="med"/>
          </a:ln>
          <a:effectLst/>
        </p:spPr>
      </p:cxnSp>
      <p:cxnSp>
        <p:nvCxnSpPr>
          <p:cNvPr id="19" name="肘形连接符 26"/>
          <p:cNvCxnSpPr>
            <a:stCxn id="4" idx="2"/>
            <a:endCxn id="9" idx="0"/>
          </p:cNvCxnSpPr>
          <p:nvPr/>
        </p:nvCxnSpPr>
        <p:spPr>
          <a:xfrm rot="5400000" flipV="1">
            <a:off x="7102475" y="229870"/>
            <a:ext cx="650240" cy="2665095"/>
          </a:xfrm>
          <a:prstGeom prst="bentConnector3">
            <a:avLst>
              <a:gd name="adj1" fmla="val 49951"/>
            </a:avLst>
          </a:prstGeom>
          <a:noFill/>
          <a:ln w="19050" cap="flat" cmpd="sng" algn="ctr">
            <a:solidFill>
              <a:srgbClr val="0C7F8A"/>
            </a:solidFill>
            <a:prstDash val="solid"/>
            <a:miter lim="800000"/>
            <a:headEnd type="none" w="med" len="med"/>
            <a:tailEnd type="none" w="med" len="med"/>
          </a:ln>
          <a:effectLst/>
        </p:spPr>
      </p:cxnSp>
      <p:sp>
        <p:nvSpPr>
          <p:cNvPr id="20" name="Rectangle: Rounded Corners 92"/>
          <p:cNvSpPr/>
          <p:nvPr>
            <p:custDataLst>
              <p:tags r:id="rId1"/>
            </p:custDataLst>
          </p:nvPr>
        </p:nvSpPr>
        <p:spPr>
          <a:xfrm>
            <a:off x="7429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注册资本</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参保员工人数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成立时间</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企业性质</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行业相关信息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内部认定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经营状态</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国家省份地区</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是否上市公司</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经营范围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客户负责人</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客户建档时间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Rectangle: Rounded Corners 92"/>
          <p:cNvSpPr/>
          <p:nvPr>
            <p:custDataLst>
              <p:tags r:id="rId2"/>
            </p:custDataLst>
          </p:nvPr>
        </p:nvSpPr>
        <p:spPr>
          <a:xfrm>
            <a:off x="144208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客户动态</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客户大事件</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Rectangle: Rounded Corners 92"/>
          <p:cNvSpPr/>
          <p:nvPr>
            <p:custDataLst>
              <p:tags r:id="rId3"/>
            </p:custDataLst>
          </p:nvPr>
        </p:nvSpPr>
        <p:spPr>
          <a:xfrm>
            <a:off x="277368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利润状况</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财务健康</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Rectangle: Rounded Corners 92"/>
          <p:cNvSpPr/>
          <p:nvPr>
            <p:custDataLst>
              <p:tags r:id="rId4"/>
            </p:custDataLst>
          </p:nvPr>
        </p:nvSpPr>
        <p:spPr>
          <a:xfrm>
            <a:off x="810895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客户分级</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战略客户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重要客户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普通客户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低价值客户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全球客户</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区域客户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客户类型</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是否集团客户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所属集团</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客户层级展现</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Rectangle: Rounded Corners 92"/>
          <p:cNvSpPr/>
          <p:nvPr>
            <p:custDataLst>
              <p:tags r:id="rId5"/>
            </p:custDataLst>
          </p:nvPr>
        </p:nvSpPr>
        <p:spPr>
          <a:xfrm>
            <a:off x="410527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联系人姓名</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职务</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角色（决策者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影响者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使用者）</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决策链</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Rectangle: Rounded Corners 92"/>
          <p:cNvSpPr/>
          <p:nvPr>
            <p:custDataLst>
              <p:tags r:id="rId6"/>
            </p:custDataLst>
          </p:nvPr>
        </p:nvSpPr>
        <p:spPr>
          <a:xfrm>
            <a:off x="544131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市场份额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行业排名</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竞品信息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市场趋势</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宏发占有额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Rectangle: Rounded Corners 92"/>
          <p:cNvSpPr/>
          <p:nvPr>
            <p:custDataLst>
              <p:tags r:id="rId7"/>
            </p:custDataLst>
          </p:nvPr>
        </p:nvSpPr>
        <p:spPr>
          <a:xfrm>
            <a:off x="6776720"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偷税漏税</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严重违法失信</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股权冻结</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重大负面舆情</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法人变更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行政处罚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环保处罚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立案信息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空壳指数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风险类别</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超期款</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预警</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逾期未提货订单金额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客户是否三个月未提交</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应收账款</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法律诉讼数量</a:t>
            </a:r>
            <a:endParaRPr lang="zh-CN" altLang="en-US" sz="1000"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8"/>
            </p:custDataLst>
          </p:nvPr>
        </p:nvSpPr>
        <p:spPr>
          <a:xfrm>
            <a:off x="946467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客户预算</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客户历史交易（和其他企业）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8" name="肘形连接符 3"/>
          <p:cNvCxnSpPr>
            <a:stCxn id="4" idx="2"/>
            <a:endCxn id="10" idx="0"/>
          </p:cNvCxnSpPr>
          <p:nvPr/>
        </p:nvCxnSpPr>
        <p:spPr>
          <a:xfrm rot="5400000">
            <a:off x="5099368" y="891858"/>
            <a:ext cx="650875" cy="1342390"/>
          </a:xfrm>
          <a:prstGeom prst="bentConnector3">
            <a:avLst>
              <a:gd name="adj1" fmla="val 50000"/>
            </a:avLst>
          </a:prstGeom>
          <a:noFill/>
          <a:ln w="19050" cap="flat" cmpd="sng" algn="ctr">
            <a:solidFill>
              <a:srgbClr val="0C7F8A"/>
            </a:solidFill>
            <a:prstDash val="solid"/>
            <a:miter lim="800000"/>
            <a:headEnd type="none" w="med" len="med"/>
            <a:tailEnd type="none" w="med" len="med"/>
          </a:ln>
          <a:effectLst/>
        </p:spPr>
      </p:cxnSp>
      <p:sp>
        <p:nvSpPr>
          <p:cNvPr id="29" name="Rectangle 37"/>
          <p:cNvSpPr/>
          <p:nvPr/>
        </p:nvSpPr>
        <p:spPr>
          <a:xfrm>
            <a:off x="10813697"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客户活跃度</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Rectangle: Rounded Corners 92"/>
          <p:cNvSpPr/>
          <p:nvPr>
            <p:custDataLst>
              <p:tags r:id="rId9"/>
            </p:custDataLst>
          </p:nvPr>
        </p:nvSpPr>
        <p:spPr>
          <a:xfrm>
            <a:off x="10813415" y="2303145"/>
            <a:ext cx="1296035" cy="3710940"/>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t" anchorCtr="0">
            <a:noAutofit/>
          </a:bodyPr>
          <a:lstStyle/>
          <a:p>
            <a:pPr defTabSz="898525" eaLnBrk="0" fontAlgn="t" hangingPunct="0">
              <a:lnSpc>
                <a:spcPct val="150000"/>
              </a:lnSpc>
              <a:spcBef>
                <a:spcPct val="0"/>
              </a:spcBef>
              <a:spcAft>
                <a:spcPct val="0"/>
              </a:spcAft>
              <a:buFont typeface="Arial" panose="020B0604020202020204" pitchFamily="34" charset="0"/>
              <a:buNone/>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1" name="肘形连接符 10"/>
          <p:cNvCxnSpPr>
            <a:stCxn id="4" idx="2"/>
            <a:endCxn id="13" idx="0"/>
          </p:cNvCxnSpPr>
          <p:nvPr/>
        </p:nvCxnSpPr>
        <p:spPr>
          <a:xfrm rot="5400000">
            <a:off x="5767070" y="1559560"/>
            <a:ext cx="650875" cy="6985"/>
          </a:xfrm>
          <a:prstGeom prst="bentConnector3">
            <a:avLst>
              <a:gd name="adj1" fmla="val 50049"/>
            </a:avLst>
          </a:prstGeom>
          <a:noFill/>
          <a:ln w="19050" cap="flat" cmpd="sng" algn="ctr">
            <a:solidFill>
              <a:srgbClr val="0C7F8A"/>
            </a:solidFill>
            <a:prstDash val="solid"/>
            <a:miter lim="800000"/>
            <a:headEnd type="none" w="med" len="med"/>
            <a:tailEnd type="none" w="med" len="med"/>
          </a:ln>
          <a:effectLst/>
        </p:spPr>
      </p:cxnSp>
      <p:cxnSp>
        <p:nvCxnSpPr>
          <p:cNvPr id="32" name="肘形连接符 11"/>
          <p:cNvCxnSpPr>
            <a:stCxn id="4" idx="2"/>
            <a:endCxn id="29" idx="0"/>
          </p:cNvCxnSpPr>
          <p:nvPr/>
        </p:nvCxnSpPr>
        <p:spPr>
          <a:xfrm rot="5400000" flipV="1">
            <a:off x="8453120" y="-1120140"/>
            <a:ext cx="650240" cy="5365750"/>
          </a:xfrm>
          <a:prstGeom prst="bentConnector3">
            <a:avLst>
              <a:gd name="adj1" fmla="val 50000"/>
            </a:avLst>
          </a:prstGeom>
          <a:noFill/>
          <a:ln w="19050" cap="flat" cmpd="sng" algn="ctr">
            <a:solidFill>
              <a:srgbClr val="0C7F8A"/>
            </a:solidFill>
            <a:prstDash val="solid"/>
            <a:miter lim="800000"/>
            <a:headEnd type="none" w="med" len="med"/>
            <a:tailEnd type="none" w="med" len="med"/>
          </a:ln>
          <a:effectLst/>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a:t>
            </a:r>
            <a:r>
              <a:rPr lang="zh-CN" altLang="en-US" dirty="0"/>
              <a:t>、渠道管理指标设计</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 name="Freeform 1470"/>
          <p:cNvSpPr>
            <a:spLocks noEditPoints="1"/>
          </p:cNvSpPr>
          <p:nvPr/>
        </p:nvSpPr>
        <p:spPr bwMode="auto">
          <a:xfrm>
            <a:off x="3963514" y="530511"/>
            <a:ext cx="3810000" cy="3810000"/>
          </a:xfrm>
          <a:custGeom>
            <a:avLst/>
            <a:gdLst>
              <a:gd name="T0" fmla="*/ 600 w 1200"/>
              <a:gd name="T1" fmla="*/ 1200 h 1200"/>
              <a:gd name="T2" fmla="*/ 0 w 1200"/>
              <a:gd name="T3" fmla="*/ 600 h 1200"/>
              <a:gd name="T4" fmla="*/ 600 w 1200"/>
              <a:gd name="T5" fmla="*/ 0 h 1200"/>
              <a:gd name="T6" fmla="*/ 1200 w 1200"/>
              <a:gd name="T7" fmla="*/ 600 h 1200"/>
              <a:gd name="T8" fmla="*/ 600 w 1200"/>
              <a:gd name="T9" fmla="*/ 1200 h 1200"/>
              <a:gd name="T10" fmla="*/ 600 w 1200"/>
              <a:gd name="T11" fmla="*/ 48 h 1200"/>
              <a:gd name="T12" fmla="*/ 48 w 1200"/>
              <a:gd name="T13" fmla="*/ 600 h 1200"/>
              <a:gd name="T14" fmla="*/ 600 w 1200"/>
              <a:gd name="T15" fmla="*/ 1152 h 1200"/>
              <a:gd name="T16" fmla="*/ 1152 w 1200"/>
              <a:gd name="T17" fmla="*/ 600 h 1200"/>
              <a:gd name="T18" fmla="*/ 600 w 1200"/>
              <a:gd name="T19" fmla="*/ 48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0" h="1200">
                <a:moveTo>
                  <a:pt x="600" y="1200"/>
                </a:moveTo>
                <a:cubicBezTo>
                  <a:pt x="269" y="1200"/>
                  <a:pt x="0" y="931"/>
                  <a:pt x="0" y="600"/>
                </a:cubicBezTo>
                <a:cubicBezTo>
                  <a:pt x="0" y="269"/>
                  <a:pt x="269" y="0"/>
                  <a:pt x="600" y="0"/>
                </a:cubicBezTo>
                <a:cubicBezTo>
                  <a:pt x="931" y="0"/>
                  <a:pt x="1200" y="269"/>
                  <a:pt x="1200" y="600"/>
                </a:cubicBezTo>
                <a:cubicBezTo>
                  <a:pt x="1200" y="931"/>
                  <a:pt x="931" y="1200"/>
                  <a:pt x="600" y="1200"/>
                </a:cubicBezTo>
                <a:close/>
                <a:moveTo>
                  <a:pt x="600" y="48"/>
                </a:moveTo>
                <a:cubicBezTo>
                  <a:pt x="295" y="48"/>
                  <a:pt x="48" y="296"/>
                  <a:pt x="48" y="600"/>
                </a:cubicBezTo>
                <a:cubicBezTo>
                  <a:pt x="48" y="905"/>
                  <a:pt x="295" y="1152"/>
                  <a:pt x="600" y="1152"/>
                </a:cubicBezTo>
                <a:cubicBezTo>
                  <a:pt x="905" y="1152"/>
                  <a:pt x="1152" y="905"/>
                  <a:pt x="1152" y="600"/>
                </a:cubicBezTo>
                <a:cubicBezTo>
                  <a:pt x="1152" y="296"/>
                  <a:pt x="905" y="48"/>
                  <a:pt x="600" y="48"/>
                </a:cubicBez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 name="Freeform 98"/>
          <p:cNvSpPr/>
          <p:nvPr/>
        </p:nvSpPr>
        <p:spPr bwMode="auto">
          <a:xfrm>
            <a:off x="4547714" y="298737"/>
            <a:ext cx="2641600" cy="1304925"/>
          </a:xfrm>
          <a:custGeom>
            <a:avLst/>
            <a:gdLst>
              <a:gd name="T0" fmla="*/ 416 w 832"/>
              <a:gd name="T1" fmla="*/ 0 h 411"/>
              <a:gd name="T2" fmla="*/ 831 w 832"/>
              <a:gd name="T3" fmla="*/ 371 h 411"/>
              <a:gd name="T4" fmla="*/ 825 w 832"/>
              <a:gd name="T5" fmla="*/ 387 h 411"/>
              <a:gd name="T6" fmla="*/ 808 w 832"/>
              <a:gd name="T7" fmla="*/ 389 h 411"/>
              <a:gd name="T8" fmla="*/ 637 w 832"/>
              <a:gd name="T9" fmla="*/ 355 h 411"/>
              <a:gd name="T10" fmla="*/ 427 w 832"/>
              <a:gd name="T11" fmla="*/ 408 h 411"/>
              <a:gd name="T12" fmla="*/ 405 w 832"/>
              <a:gd name="T13" fmla="*/ 408 h 411"/>
              <a:gd name="T14" fmla="*/ 195 w 832"/>
              <a:gd name="T15" fmla="*/ 355 h 411"/>
              <a:gd name="T16" fmla="*/ 24 w 832"/>
              <a:gd name="T17" fmla="*/ 389 h 411"/>
              <a:gd name="T18" fmla="*/ 7 w 832"/>
              <a:gd name="T19" fmla="*/ 387 h 411"/>
              <a:gd name="T20" fmla="*/ 1 w 832"/>
              <a:gd name="T21" fmla="*/ 371 h 411"/>
              <a:gd name="T22" fmla="*/ 416 w 832"/>
              <a:gd name="T23"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2" h="411">
                <a:moveTo>
                  <a:pt x="416" y="0"/>
                </a:moveTo>
                <a:cubicBezTo>
                  <a:pt x="631" y="0"/>
                  <a:pt x="808" y="163"/>
                  <a:pt x="831" y="371"/>
                </a:cubicBezTo>
                <a:cubicBezTo>
                  <a:pt x="832" y="377"/>
                  <a:pt x="830" y="383"/>
                  <a:pt x="825" y="387"/>
                </a:cubicBezTo>
                <a:cubicBezTo>
                  <a:pt x="820" y="390"/>
                  <a:pt x="814" y="391"/>
                  <a:pt x="808" y="389"/>
                </a:cubicBezTo>
                <a:cubicBezTo>
                  <a:pt x="755" y="367"/>
                  <a:pt x="698" y="355"/>
                  <a:pt x="637" y="355"/>
                </a:cubicBezTo>
                <a:cubicBezTo>
                  <a:pt x="561" y="355"/>
                  <a:pt x="489" y="374"/>
                  <a:pt x="427" y="408"/>
                </a:cubicBezTo>
                <a:cubicBezTo>
                  <a:pt x="420" y="411"/>
                  <a:pt x="412" y="411"/>
                  <a:pt x="405" y="408"/>
                </a:cubicBezTo>
                <a:cubicBezTo>
                  <a:pt x="343" y="374"/>
                  <a:pt x="271" y="355"/>
                  <a:pt x="195" y="355"/>
                </a:cubicBezTo>
                <a:cubicBezTo>
                  <a:pt x="134" y="355"/>
                  <a:pt x="77" y="367"/>
                  <a:pt x="24" y="389"/>
                </a:cubicBezTo>
                <a:cubicBezTo>
                  <a:pt x="18" y="391"/>
                  <a:pt x="12" y="390"/>
                  <a:pt x="7" y="387"/>
                </a:cubicBezTo>
                <a:cubicBezTo>
                  <a:pt x="2" y="383"/>
                  <a:pt x="0" y="377"/>
                  <a:pt x="1" y="371"/>
                </a:cubicBezTo>
                <a:cubicBezTo>
                  <a:pt x="24" y="163"/>
                  <a:pt x="201" y="0"/>
                  <a:pt x="416" y="0"/>
                </a:cubicBezTo>
                <a:close/>
              </a:path>
            </a:pathLst>
          </a:custGeom>
          <a:solidFill>
            <a:srgbClr val="B9E0DC"/>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7" name="Freeform 99"/>
          <p:cNvSpPr/>
          <p:nvPr/>
        </p:nvSpPr>
        <p:spPr bwMode="auto">
          <a:xfrm>
            <a:off x="3839689" y="1759237"/>
            <a:ext cx="1892300" cy="2409825"/>
          </a:xfrm>
          <a:custGeom>
            <a:avLst/>
            <a:gdLst>
              <a:gd name="T0" fmla="*/ 418 w 596"/>
              <a:gd name="T1" fmla="*/ 759 h 759"/>
              <a:gd name="T2" fmla="*/ 0 w 596"/>
              <a:gd name="T3" fmla="*/ 341 h 759"/>
              <a:gd name="T4" fmla="*/ 170 w 596"/>
              <a:gd name="T5" fmla="*/ 5 h 759"/>
              <a:gd name="T6" fmla="*/ 187 w 596"/>
              <a:gd name="T7" fmla="*/ 3 h 759"/>
              <a:gd name="T8" fmla="*/ 197 w 596"/>
              <a:gd name="T9" fmla="*/ 16 h 759"/>
              <a:gd name="T10" fmla="*/ 404 w 596"/>
              <a:gd name="T11" fmla="*/ 336 h 759"/>
              <a:gd name="T12" fmla="*/ 415 w 596"/>
              <a:gd name="T13" fmla="*/ 355 h 759"/>
              <a:gd name="T14" fmla="*/ 589 w 596"/>
              <a:gd name="T15" fmla="*/ 695 h 759"/>
              <a:gd name="T16" fmla="*/ 596 w 596"/>
              <a:gd name="T17" fmla="*/ 710 h 759"/>
              <a:gd name="T18" fmla="*/ 585 w 596"/>
              <a:gd name="T19" fmla="*/ 724 h 759"/>
              <a:gd name="T20" fmla="*/ 418 w 596"/>
              <a:gd name="T21" fmla="*/ 759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759">
                <a:moveTo>
                  <a:pt x="418" y="759"/>
                </a:moveTo>
                <a:cubicBezTo>
                  <a:pt x="187" y="759"/>
                  <a:pt x="0" y="571"/>
                  <a:pt x="0" y="341"/>
                </a:cubicBezTo>
                <a:cubicBezTo>
                  <a:pt x="0" y="203"/>
                  <a:pt x="67" y="81"/>
                  <a:pt x="170" y="5"/>
                </a:cubicBezTo>
                <a:cubicBezTo>
                  <a:pt x="175" y="1"/>
                  <a:pt x="181" y="0"/>
                  <a:pt x="187" y="3"/>
                </a:cubicBezTo>
                <a:cubicBezTo>
                  <a:pt x="192" y="5"/>
                  <a:pt x="196" y="10"/>
                  <a:pt x="197" y="16"/>
                </a:cubicBezTo>
                <a:cubicBezTo>
                  <a:pt x="215" y="151"/>
                  <a:pt x="293" y="267"/>
                  <a:pt x="404" y="336"/>
                </a:cubicBezTo>
                <a:cubicBezTo>
                  <a:pt x="410" y="340"/>
                  <a:pt x="414" y="347"/>
                  <a:pt x="415" y="355"/>
                </a:cubicBezTo>
                <a:cubicBezTo>
                  <a:pt x="419" y="493"/>
                  <a:pt x="486" y="616"/>
                  <a:pt x="589" y="695"/>
                </a:cubicBezTo>
                <a:cubicBezTo>
                  <a:pt x="594" y="698"/>
                  <a:pt x="596" y="704"/>
                  <a:pt x="596" y="710"/>
                </a:cubicBezTo>
                <a:cubicBezTo>
                  <a:pt x="595" y="716"/>
                  <a:pt x="591" y="721"/>
                  <a:pt x="585" y="724"/>
                </a:cubicBezTo>
                <a:cubicBezTo>
                  <a:pt x="534" y="746"/>
                  <a:pt x="477" y="759"/>
                  <a:pt x="418" y="759"/>
                </a:cubicBezTo>
                <a:close/>
              </a:path>
            </a:pathLst>
          </a:custGeom>
          <a:solidFill>
            <a:srgbClr val="11AFBB"/>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8" name="Freeform 100"/>
          <p:cNvSpPr/>
          <p:nvPr/>
        </p:nvSpPr>
        <p:spPr bwMode="auto">
          <a:xfrm>
            <a:off x="6005039" y="1759237"/>
            <a:ext cx="1892300" cy="2409825"/>
          </a:xfrm>
          <a:custGeom>
            <a:avLst/>
            <a:gdLst>
              <a:gd name="T0" fmla="*/ 178 w 596"/>
              <a:gd name="T1" fmla="*/ 759 h 759"/>
              <a:gd name="T2" fmla="*/ 11 w 596"/>
              <a:gd name="T3" fmla="*/ 724 h 759"/>
              <a:gd name="T4" fmla="*/ 0 w 596"/>
              <a:gd name="T5" fmla="*/ 710 h 759"/>
              <a:gd name="T6" fmla="*/ 7 w 596"/>
              <a:gd name="T7" fmla="*/ 695 h 759"/>
              <a:gd name="T8" fmla="*/ 181 w 596"/>
              <a:gd name="T9" fmla="*/ 355 h 759"/>
              <a:gd name="T10" fmla="*/ 192 w 596"/>
              <a:gd name="T11" fmla="*/ 336 h 759"/>
              <a:gd name="T12" fmla="*/ 399 w 596"/>
              <a:gd name="T13" fmla="*/ 16 h 759"/>
              <a:gd name="T14" fmla="*/ 409 w 596"/>
              <a:gd name="T15" fmla="*/ 3 h 759"/>
              <a:gd name="T16" fmla="*/ 426 w 596"/>
              <a:gd name="T17" fmla="*/ 4 h 759"/>
              <a:gd name="T18" fmla="*/ 596 w 596"/>
              <a:gd name="T19" fmla="*/ 341 h 759"/>
              <a:gd name="T20" fmla="*/ 178 w 596"/>
              <a:gd name="T21" fmla="*/ 759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759">
                <a:moveTo>
                  <a:pt x="178" y="759"/>
                </a:moveTo>
                <a:cubicBezTo>
                  <a:pt x="119" y="759"/>
                  <a:pt x="62" y="746"/>
                  <a:pt x="11" y="724"/>
                </a:cubicBezTo>
                <a:cubicBezTo>
                  <a:pt x="5" y="721"/>
                  <a:pt x="1" y="716"/>
                  <a:pt x="0" y="710"/>
                </a:cubicBezTo>
                <a:cubicBezTo>
                  <a:pt x="0" y="704"/>
                  <a:pt x="2" y="698"/>
                  <a:pt x="7" y="695"/>
                </a:cubicBezTo>
                <a:cubicBezTo>
                  <a:pt x="110" y="616"/>
                  <a:pt x="177" y="493"/>
                  <a:pt x="181" y="355"/>
                </a:cubicBezTo>
                <a:cubicBezTo>
                  <a:pt x="182" y="347"/>
                  <a:pt x="186" y="340"/>
                  <a:pt x="192" y="336"/>
                </a:cubicBezTo>
                <a:cubicBezTo>
                  <a:pt x="303" y="267"/>
                  <a:pt x="381" y="151"/>
                  <a:pt x="399" y="16"/>
                </a:cubicBezTo>
                <a:cubicBezTo>
                  <a:pt x="400" y="10"/>
                  <a:pt x="404" y="5"/>
                  <a:pt x="409" y="3"/>
                </a:cubicBezTo>
                <a:cubicBezTo>
                  <a:pt x="415" y="0"/>
                  <a:pt x="421" y="1"/>
                  <a:pt x="426" y="4"/>
                </a:cubicBezTo>
                <a:cubicBezTo>
                  <a:pt x="529" y="81"/>
                  <a:pt x="596" y="203"/>
                  <a:pt x="596" y="341"/>
                </a:cubicBezTo>
                <a:cubicBezTo>
                  <a:pt x="596" y="571"/>
                  <a:pt x="409" y="759"/>
                  <a:pt x="178" y="759"/>
                </a:cubicBezTo>
                <a:close/>
              </a:path>
            </a:pathLst>
          </a:custGeom>
          <a:solidFill>
            <a:srgbClr val="0C7F8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9" name="Freeform 1471"/>
          <p:cNvSpPr/>
          <p:nvPr/>
        </p:nvSpPr>
        <p:spPr bwMode="auto">
          <a:xfrm>
            <a:off x="6005040" y="1514762"/>
            <a:ext cx="1190625" cy="1190625"/>
          </a:xfrm>
          <a:custGeom>
            <a:avLst/>
            <a:gdLst>
              <a:gd name="T0" fmla="*/ 205 w 375"/>
              <a:gd name="T1" fmla="*/ 371 h 375"/>
              <a:gd name="T2" fmla="*/ 188 w 375"/>
              <a:gd name="T3" fmla="*/ 373 h 375"/>
              <a:gd name="T4" fmla="*/ 178 w 375"/>
              <a:gd name="T5" fmla="*/ 360 h 375"/>
              <a:gd name="T6" fmla="*/ 7 w 375"/>
              <a:gd name="T7" fmla="*/ 64 h 375"/>
              <a:gd name="T8" fmla="*/ 0 w 375"/>
              <a:gd name="T9" fmla="*/ 49 h 375"/>
              <a:gd name="T10" fmla="*/ 11 w 375"/>
              <a:gd name="T11" fmla="*/ 35 h 375"/>
              <a:gd name="T12" fmla="*/ 178 w 375"/>
              <a:gd name="T13" fmla="*/ 0 h 375"/>
              <a:gd name="T14" fmla="*/ 361 w 375"/>
              <a:gd name="T15" fmla="*/ 42 h 375"/>
              <a:gd name="T16" fmla="*/ 374 w 375"/>
              <a:gd name="T17" fmla="*/ 64 h 375"/>
              <a:gd name="T18" fmla="*/ 205 w 375"/>
              <a:gd name="T19" fmla="*/ 37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 h="375">
                <a:moveTo>
                  <a:pt x="205" y="371"/>
                </a:moveTo>
                <a:cubicBezTo>
                  <a:pt x="200" y="375"/>
                  <a:pt x="194" y="375"/>
                  <a:pt x="188" y="373"/>
                </a:cubicBezTo>
                <a:cubicBezTo>
                  <a:pt x="183" y="371"/>
                  <a:pt x="179" y="365"/>
                  <a:pt x="178" y="360"/>
                </a:cubicBezTo>
                <a:cubicBezTo>
                  <a:pt x="162" y="240"/>
                  <a:pt x="99" y="135"/>
                  <a:pt x="7" y="64"/>
                </a:cubicBezTo>
                <a:cubicBezTo>
                  <a:pt x="2" y="60"/>
                  <a:pt x="0" y="55"/>
                  <a:pt x="0" y="49"/>
                </a:cubicBezTo>
                <a:cubicBezTo>
                  <a:pt x="1" y="43"/>
                  <a:pt x="5" y="38"/>
                  <a:pt x="11" y="35"/>
                </a:cubicBezTo>
                <a:cubicBezTo>
                  <a:pt x="62" y="12"/>
                  <a:pt x="119" y="0"/>
                  <a:pt x="178" y="0"/>
                </a:cubicBezTo>
                <a:cubicBezTo>
                  <a:pt x="244" y="0"/>
                  <a:pt x="306" y="15"/>
                  <a:pt x="361" y="42"/>
                </a:cubicBezTo>
                <a:cubicBezTo>
                  <a:pt x="370" y="46"/>
                  <a:pt x="375" y="55"/>
                  <a:pt x="374" y="64"/>
                </a:cubicBezTo>
                <a:cubicBezTo>
                  <a:pt x="365" y="190"/>
                  <a:pt x="301" y="300"/>
                  <a:pt x="205" y="371"/>
                </a:cubicBezTo>
                <a:close/>
              </a:path>
            </a:pathLst>
          </a:custGeom>
          <a:solidFill>
            <a:srgbClr val="B9E0DC"/>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10" name="Freeform 1472"/>
          <p:cNvSpPr/>
          <p:nvPr/>
        </p:nvSpPr>
        <p:spPr bwMode="auto">
          <a:xfrm>
            <a:off x="4541365" y="1514762"/>
            <a:ext cx="1190625" cy="1190625"/>
          </a:xfrm>
          <a:custGeom>
            <a:avLst/>
            <a:gdLst>
              <a:gd name="T0" fmla="*/ 1 w 375"/>
              <a:gd name="T1" fmla="*/ 64 h 375"/>
              <a:gd name="T2" fmla="*/ 14 w 375"/>
              <a:gd name="T3" fmla="*/ 42 h 375"/>
              <a:gd name="T4" fmla="*/ 197 w 375"/>
              <a:gd name="T5" fmla="*/ 0 h 375"/>
              <a:gd name="T6" fmla="*/ 364 w 375"/>
              <a:gd name="T7" fmla="*/ 35 h 375"/>
              <a:gd name="T8" fmla="*/ 375 w 375"/>
              <a:gd name="T9" fmla="*/ 49 h 375"/>
              <a:gd name="T10" fmla="*/ 368 w 375"/>
              <a:gd name="T11" fmla="*/ 64 h 375"/>
              <a:gd name="T12" fmla="*/ 197 w 375"/>
              <a:gd name="T13" fmla="*/ 360 h 375"/>
              <a:gd name="T14" fmla="*/ 187 w 375"/>
              <a:gd name="T15" fmla="*/ 373 h 375"/>
              <a:gd name="T16" fmla="*/ 170 w 375"/>
              <a:gd name="T17" fmla="*/ 371 h 375"/>
              <a:gd name="T18" fmla="*/ 1 w 375"/>
              <a:gd name="T19" fmla="*/ 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 h="375">
                <a:moveTo>
                  <a:pt x="1" y="64"/>
                </a:moveTo>
                <a:cubicBezTo>
                  <a:pt x="0" y="55"/>
                  <a:pt x="5" y="46"/>
                  <a:pt x="14" y="42"/>
                </a:cubicBezTo>
                <a:cubicBezTo>
                  <a:pt x="69" y="15"/>
                  <a:pt x="131" y="0"/>
                  <a:pt x="197" y="0"/>
                </a:cubicBezTo>
                <a:cubicBezTo>
                  <a:pt x="256" y="0"/>
                  <a:pt x="313" y="12"/>
                  <a:pt x="364" y="35"/>
                </a:cubicBezTo>
                <a:cubicBezTo>
                  <a:pt x="370" y="38"/>
                  <a:pt x="374" y="43"/>
                  <a:pt x="375" y="49"/>
                </a:cubicBezTo>
                <a:cubicBezTo>
                  <a:pt x="375" y="55"/>
                  <a:pt x="373" y="60"/>
                  <a:pt x="368" y="64"/>
                </a:cubicBezTo>
                <a:cubicBezTo>
                  <a:pt x="276" y="135"/>
                  <a:pt x="213" y="240"/>
                  <a:pt x="197" y="360"/>
                </a:cubicBezTo>
                <a:cubicBezTo>
                  <a:pt x="196" y="365"/>
                  <a:pt x="192" y="371"/>
                  <a:pt x="187" y="373"/>
                </a:cubicBezTo>
                <a:cubicBezTo>
                  <a:pt x="181" y="375"/>
                  <a:pt x="175" y="375"/>
                  <a:pt x="170" y="371"/>
                </a:cubicBezTo>
                <a:cubicBezTo>
                  <a:pt x="74" y="300"/>
                  <a:pt x="10" y="190"/>
                  <a:pt x="1" y="64"/>
                </a:cubicBezTo>
                <a:close/>
              </a:path>
            </a:pathLst>
          </a:custGeom>
          <a:solidFill>
            <a:srgbClr val="11AFBB"/>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1" name="Freeform 1473"/>
          <p:cNvSpPr/>
          <p:nvPr/>
        </p:nvSpPr>
        <p:spPr bwMode="auto">
          <a:xfrm>
            <a:off x="5249389" y="2924462"/>
            <a:ext cx="1238250" cy="1031875"/>
          </a:xfrm>
          <a:custGeom>
            <a:avLst/>
            <a:gdLst>
              <a:gd name="T0" fmla="*/ 366 w 390"/>
              <a:gd name="T1" fmla="*/ 3 h 325"/>
              <a:gd name="T2" fmla="*/ 382 w 390"/>
              <a:gd name="T3" fmla="*/ 5 h 325"/>
              <a:gd name="T4" fmla="*/ 389 w 390"/>
              <a:gd name="T5" fmla="*/ 20 h 325"/>
              <a:gd name="T6" fmla="*/ 208 w 390"/>
              <a:gd name="T7" fmla="*/ 320 h 325"/>
              <a:gd name="T8" fmla="*/ 182 w 390"/>
              <a:gd name="T9" fmla="*/ 320 h 325"/>
              <a:gd name="T10" fmla="*/ 1 w 390"/>
              <a:gd name="T11" fmla="*/ 20 h 325"/>
              <a:gd name="T12" fmla="*/ 8 w 390"/>
              <a:gd name="T13" fmla="*/ 5 h 325"/>
              <a:gd name="T14" fmla="*/ 24 w 390"/>
              <a:gd name="T15" fmla="*/ 3 h 325"/>
              <a:gd name="T16" fmla="*/ 195 w 390"/>
              <a:gd name="T17" fmla="*/ 37 h 325"/>
              <a:gd name="T18" fmla="*/ 366 w 390"/>
              <a:gd name="T19" fmla="*/ 3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0" h="325">
                <a:moveTo>
                  <a:pt x="366" y="3"/>
                </a:moveTo>
                <a:cubicBezTo>
                  <a:pt x="371" y="0"/>
                  <a:pt x="378" y="1"/>
                  <a:pt x="382" y="5"/>
                </a:cubicBezTo>
                <a:cubicBezTo>
                  <a:pt x="387" y="8"/>
                  <a:pt x="390" y="14"/>
                  <a:pt x="389" y="20"/>
                </a:cubicBezTo>
                <a:cubicBezTo>
                  <a:pt x="375" y="145"/>
                  <a:pt x="307" y="253"/>
                  <a:pt x="208" y="320"/>
                </a:cubicBezTo>
                <a:cubicBezTo>
                  <a:pt x="200" y="325"/>
                  <a:pt x="190" y="325"/>
                  <a:pt x="182" y="320"/>
                </a:cubicBezTo>
                <a:cubicBezTo>
                  <a:pt x="83" y="253"/>
                  <a:pt x="15" y="145"/>
                  <a:pt x="1" y="20"/>
                </a:cubicBezTo>
                <a:cubicBezTo>
                  <a:pt x="0" y="14"/>
                  <a:pt x="3" y="8"/>
                  <a:pt x="8" y="5"/>
                </a:cubicBezTo>
                <a:cubicBezTo>
                  <a:pt x="12" y="1"/>
                  <a:pt x="19" y="0"/>
                  <a:pt x="24" y="3"/>
                </a:cubicBezTo>
                <a:cubicBezTo>
                  <a:pt x="77" y="24"/>
                  <a:pt x="135" y="37"/>
                  <a:pt x="195" y="37"/>
                </a:cubicBezTo>
                <a:cubicBezTo>
                  <a:pt x="255" y="37"/>
                  <a:pt x="313" y="24"/>
                  <a:pt x="366" y="3"/>
                </a:cubicBezTo>
                <a:close/>
              </a:path>
            </a:pathLst>
          </a:custGeom>
          <a:solidFill>
            <a:srgbClr val="0C7F8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2" name="Freeform 274"/>
          <p:cNvSpPr>
            <a:spLocks noEditPoints="1"/>
          </p:cNvSpPr>
          <p:nvPr/>
        </p:nvSpPr>
        <p:spPr bwMode="auto">
          <a:xfrm>
            <a:off x="6545131" y="1797863"/>
            <a:ext cx="390525" cy="333375"/>
          </a:xfrm>
          <a:custGeom>
            <a:avLst/>
            <a:gdLst>
              <a:gd name="T0" fmla="*/ 5 w 123"/>
              <a:gd name="T1" fmla="*/ 100 h 105"/>
              <a:gd name="T2" fmla="*/ 10 w 123"/>
              <a:gd name="T3" fmla="*/ 105 h 105"/>
              <a:gd name="T4" fmla="*/ 32 w 123"/>
              <a:gd name="T5" fmla="*/ 105 h 105"/>
              <a:gd name="T6" fmla="*/ 32 w 123"/>
              <a:gd name="T7" fmla="*/ 57 h 105"/>
              <a:gd name="T8" fmla="*/ 5 w 123"/>
              <a:gd name="T9" fmla="*/ 84 h 105"/>
              <a:gd name="T10" fmla="*/ 5 w 123"/>
              <a:gd name="T11" fmla="*/ 100 h 105"/>
              <a:gd name="T12" fmla="*/ 43 w 123"/>
              <a:gd name="T13" fmla="*/ 68 h 105"/>
              <a:gd name="T14" fmla="*/ 43 w 123"/>
              <a:gd name="T15" fmla="*/ 105 h 105"/>
              <a:gd name="T16" fmla="*/ 71 w 123"/>
              <a:gd name="T17" fmla="*/ 105 h 105"/>
              <a:gd name="T18" fmla="*/ 71 w 123"/>
              <a:gd name="T19" fmla="*/ 72 h 105"/>
              <a:gd name="T20" fmla="*/ 59 w 123"/>
              <a:gd name="T21" fmla="*/ 84 h 105"/>
              <a:gd name="T22" fmla="*/ 43 w 123"/>
              <a:gd name="T23" fmla="*/ 68 h 105"/>
              <a:gd name="T24" fmla="*/ 82 w 123"/>
              <a:gd name="T25" fmla="*/ 61 h 105"/>
              <a:gd name="T26" fmla="*/ 82 w 123"/>
              <a:gd name="T27" fmla="*/ 105 h 105"/>
              <a:gd name="T28" fmla="*/ 104 w 123"/>
              <a:gd name="T29" fmla="*/ 105 h 105"/>
              <a:gd name="T30" fmla="*/ 109 w 123"/>
              <a:gd name="T31" fmla="*/ 100 h 105"/>
              <a:gd name="T32" fmla="*/ 109 w 123"/>
              <a:gd name="T33" fmla="*/ 33 h 105"/>
              <a:gd name="T34" fmla="*/ 85 w 123"/>
              <a:gd name="T35" fmla="*/ 57 h 105"/>
              <a:gd name="T36" fmla="*/ 82 w 123"/>
              <a:gd name="T37" fmla="*/ 61 h 105"/>
              <a:gd name="T38" fmla="*/ 98 w 123"/>
              <a:gd name="T39" fmla="*/ 2 h 105"/>
              <a:gd name="T40" fmla="*/ 94 w 123"/>
              <a:gd name="T41" fmla="*/ 8 h 105"/>
              <a:gd name="T42" fmla="*/ 99 w 123"/>
              <a:gd name="T43" fmla="*/ 12 h 105"/>
              <a:gd name="T44" fmla="*/ 104 w 123"/>
              <a:gd name="T45" fmla="*/ 12 h 105"/>
              <a:gd name="T46" fmla="*/ 59 w 123"/>
              <a:gd name="T47" fmla="*/ 57 h 105"/>
              <a:gd name="T48" fmla="*/ 32 w 123"/>
              <a:gd name="T49" fmla="*/ 30 h 105"/>
              <a:gd name="T50" fmla="*/ 2 w 123"/>
              <a:gd name="T51" fmla="*/ 61 h 105"/>
              <a:gd name="T52" fmla="*/ 2 w 123"/>
              <a:gd name="T53" fmla="*/ 68 h 105"/>
              <a:gd name="T54" fmla="*/ 8 w 123"/>
              <a:gd name="T55" fmla="*/ 68 h 105"/>
              <a:gd name="T56" fmla="*/ 32 w 123"/>
              <a:gd name="T57" fmla="*/ 44 h 105"/>
              <a:gd name="T58" fmla="*/ 59 w 123"/>
              <a:gd name="T59" fmla="*/ 71 h 105"/>
              <a:gd name="T60" fmla="*/ 111 w 123"/>
              <a:gd name="T61" fmla="*/ 19 h 105"/>
              <a:gd name="T62" fmla="*/ 111 w 123"/>
              <a:gd name="T63" fmla="*/ 24 h 105"/>
              <a:gd name="T64" fmla="*/ 115 w 123"/>
              <a:gd name="T65" fmla="*/ 29 h 105"/>
              <a:gd name="T66" fmla="*/ 116 w 123"/>
              <a:gd name="T67" fmla="*/ 29 h 105"/>
              <a:gd name="T68" fmla="*/ 121 w 123"/>
              <a:gd name="T69" fmla="*/ 25 h 105"/>
              <a:gd name="T70" fmla="*/ 123 w 123"/>
              <a:gd name="T71" fmla="*/ 0 h 105"/>
              <a:gd name="T72" fmla="*/ 98 w 123"/>
              <a:gd name="T73" fmla="*/ 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 h="105">
                <a:moveTo>
                  <a:pt x="5" y="100"/>
                </a:moveTo>
                <a:cubicBezTo>
                  <a:pt x="5" y="102"/>
                  <a:pt x="7" y="105"/>
                  <a:pt x="10" y="105"/>
                </a:cubicBezTo>
                <a:cubicBezTo>
                  <a:pt x="32" y="105"/>
                  <a:pt x="32" y="105"/>
                  <a:pt x="32" y="105"/>
                </a:cubicBezTo>
                <a:cubicBezTo>
                  <a:pt x="32" y="57"/>
                  <a:pt x="32" y="57"/>
                  <a:pt x="32" y="57"/>
                </a:cubicBezTo>
                <a:cubicBezTo>
                  <a:pt x="5" y="84"/>
                  <a:pt x="5" y="84"/>
                  <a:pt x="5" y="84"/>
                </a:cubicBezTo>
                <a:lnTo>
                  <a:pt x="5" y="100"/>
                </a:lnTo>
                <a:close/>
                <a:moveTo>
                  <a:pt x="43" y="68"/>
                </a:moveTo>
                <a:cubicBezTo>
                  <a:pt x="43" y="105"/>
                  <a:pt x="43" y="105"/>
                  <a:pt x="43" y="105"/>
                </a:cubicBezTo>
                <a:cubicBezTo>
                  <a:pt x="71" y="105"/>
                  <a:pt x="71" y="105"/>
                  <a:pt x="71" y="105"/>
                </a:cubicBezTo>
                <a:cubicBezTo>
                  <a:pt x="71" y="72"/>
                  <a:pt x="71" y="72"/>
                  <a:pt x="71" y="72"/>
                </a:cubicBezTo>
                <a:cubicBezTo>
                  <a:pt x="59" y="84"/>
                  <a:pt x="59" y="84"/>
                  <a:pt x="59" y="84"/>
                </a:cubicBezTo>
                <a:lnTo>
                  <a:pt x="43" y="68"/>
                </a:lnTo>
                <a:close/>
                <a:moveTo>
                  <a:pt x="82" y="61"/>
                </a:moveTo>
                <a:cubicBezTo>
                  <a:pt x="82" y="105"/>
                  <a:pt x="82" y="105"/>
                  <a:pt x="82" y="105"/>
                </a:cubicBezTo>
                <a:cubicBezTo>
                  <a:pt x="104" y="105"/>
                  <a:pt x="104" y="105"/>
                  <a:pt x="104" y="105"/>
                </a:cubicBezTo>
                <a:cubicBezTo>
                  <a:pt x="107" y="105"/>
                  <a:pt x="109" y="102"/>
                  <a:pt x="109" y="100"/>
                </a:cubicBezTo>
                <a:cubicBezTo>
                  <a:pt x="109" y="33"/>
                  <a:pt x="109" y="33"/>
                  <a:pt x="109" y="33"/>
                </a:cubicBezTo>
                <a:cubicBezTo>
                  <a:pt x="85" y="57"/>
                  <a:pt x="85" y="57"/>
                  <a:pt x="85" y="57"/>
                </a:cubicBezTo>
                <a:lnTo>
                  <a:pt x="82" y="61"/>
                </a:lnTo>
                <a:close/>
                <a:moveTo>
                  <a:pt x="98" y="2"/>
                </a:moveTo>
                <a:cubicBezTo>
                  <a:pt x="95" y="2"/>
                  <a:pt x="93" y="5"/>
                  <a:pt x="94" y="8"/>
                </a:cubicBezTo>
                <a:cubicBezTo>
                  <a:pt x="94" y="10"/>
                  <a:pt x="96" y="12"/>
                  <a:pt x="99" y="12"/>
                </a:cubicBezTo>
                <a:cubicBezTo>
                  <a:pt x="104" y="12"/>
                  <a:pt x="104" y="12"/>
                  <a:pt x="104" y="12"/>
                </a:cubicBezTo>
                <a:cubicBezTo>
                  <a:pt x="59" y="57"/>
                  <a:pt x="59" y="57"/>
                  <a:pt x="59" y="57"/>
                </a:cubicBezTo>
                <a:cubicBezTo>
                  <a:pt x="32" y="30"/>
                  <a:pt x="32" y="30"/>
                  <a:pt x="32" y="30"/>
                </a:cubicBezTo>
                <a:cubicBezTo>
                  <a:pt x="2" y="61"/>
                  <a:pt x="2" y="61"/>
                  <a:pt x="2" y="61"/>
                </a:cubicBezTo>
                <a:cubicBezTo>
                  <a:pt x="0" y="63"/>
                  <a:pt x="0" y="66"/>
                  <a:pt x="2" y="68"/>
                </a:cubicBezTo>
                <a:cubicBezTo>
                  <a:pt x="3" y="70"/>
                  <a:pt x="7" y="70"/>
                  <a:pt x="8" y="68"/>
                </a:cubicBezTo>
                <a:cubicBezTo>
                  <a:pt x="32" y="44"/>
                  <a:pt x="32" y="44"/>
                  <a:pt x="32" y="44"/>
                </a:cubicBezTo>
                <a:cubicBezTo>
                  <a:pt x="59" y="71"/>
                  <a:pt x="59" y="71"/>
                  <a:pt x="59" y="71"/>
                </a:cubicBezTo>
                <a:cubicBezTo>
                  <a:pt x="111" y="19"/>
                  <a:pt x="111" y="19"/>
                  <a:pt x="111" y="19"/>
                </a:cubicBezTo>
                <a:cubicBezTo>
                  <a:pt x="111" y="24"/>
                  <a:pt x="111" y="24"/>
                  <a:pt x="111" y="24"/>
                </a:cubicBezTo>
                <a:cubicBezTo>
                  <a:pt x="111" y="26"/>
                  <a:pt x="113" y="29"/>
                  <a:pt x="115" y="29"/>
                </a:cubicBezTo>
                <a:cubicBezTo>
                  <a:pt x="116" y="29"/>
                  <a:pt x="116" y="29"/>
                  <a:pt x="116" y="29"/>
                </a:cubicBezTo>
                <a:cubicBezTo>
                  <a:pt x="118" y="29"/>
                  <a:pt x="120" y="27"/>
                  <a:pt x="121" y="25"/>
                </a:cubicBezTo>
                <a:cubicBezTo>
                  <a:pt x="123" y="0"/>
                  <a:pt x="123" y="0"/>
                  <a:pt x="123" y="0"/>
                </a:cubicBezTo>
                <a:lnTo>
                  <a:pt x="98" y="2"/>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3" name="Freeform 275"/>
          <p:cNvSpPr>
            <a:spLocks noEditPoints="1"/>
          </p:cNvSpPr>
          <p:nvPr/>
        </p:nvSpPr>
        <p:spPr bwMode="auto">
          <a:xfrm>
            <a:off x="5689330" y="3219456"/>
            <a:ext cx="333375" cy="415925"/>
          </a:xfrm>
          <a:custGeom>
            <a:avLst/>
            <a:gdLst>
              <a:gd name="T0" fmla="*/ 150 w 210"/>
              <a:gd name="T1" fmla="*/ 108 h 262"/>
              <a:gd name="T2" fmla="*/ 36 w 210"/>
              <a:gd name="T3" fmla="*/ 108 h 262"/>
              <a:gd name="T4" fmla="*/ 36 w 210"/>
              <a:gd name="T5" fmla="*/ 124 h 262"/>
              <a:gd name="T6" fmla="*/ 150 w 210"/>
              <a:gd name="T7" fmla="*/ 124 h 262"/>
              <a:gd name="T8" fmla="*/ 150 w 210"/>
              <a:gd name="T9" fmla="*/ 108 h 262"/>
              <a:gd name="T10" fmla="*/ 150 w 210"/>
              <a:gd name="T11" fmla="*/ 42 h 262"/>
              <a:gd name="T12" fmla="*/ 36 w 210"/>
              <a:gd name="T13" fmla="*/ 42 h 262"/>
              <a:gd name="T14" fmla="*/ 36 w 210"/>
              <a:gd name="T15" fmla="*/ 58 h 262"/>
              <a:gd name="T16" fmla="*/ 150 w 210"/>
              <a:gd name="T17" fmla="*/ 58 h 262"/>
              <a:gd name="T18" fmla="*/ 150 w 210"/>
              <a:gd name="T19" fmla="*/ 42 h 262"/>
              <a:gd name="T20" fmla="*/ 150 w 210"/>
              <a:gd name="T21" fmla="*/ 74 h 262"/>
              <a:gd name="T22" fmla="*/ 36 w 210"/>
              <a:gd name="T23" fmla="*/ 74 h 262"/>
              <a:gd name="T24" fmla="*/ 36 w 210"/>
              <a:gd name="T25" fmla="*/ 92 h 262"/>
              <a:gd name="T26" fmla="*/ 150 w 210"/>
              <a:gd name="T27" fmla="*/ 92 h 262"/>
              <a:gd name="T28" fmla="*/ 150 w 210"/>
              <a:gd name="T29" fmla="*/ 74 h 262"/>
              <a:gd name="T30" fmla="*/ 186 w 210"/>
              <a:gd name="T31" fmla="*/ 22 h 262"/>
              <a:gd name="T32" fmla="*/ 186 w 210"/>
              <a:gd name="T33" fmla="*/ 0 h 262"/>
              <a:gd name="T34" fmla="*/ 0 w 210"/>
              <a:gd name="T35" fmla="*/ 0 h 262"/>
              <a:gd name="T36" fmla="*/ 0 w 210"/>
              <a:gd name="T37" fmla="*/ 240 h 262"/>
              <a:gd name="T38" fmla="*/ 24 w 210"/>
              <a:gd name="T39" fmla="*/ 240 h 262"/>
              <a:gd name="T40" fmla="*/ 24 w 210"/>
              <a:gd name="T41" fmla="*/ 262 h 262"/>
              <a:gd name="T42" fmla="*/ 210 w 210"/>
              <a:gd name="T43" fmla="*/ 262 h 262"/>
              <a:gd name="T44" fmla="*/ 210 w 210"/>
              <a:gd name="T45" fmla="*/ 22 h 262"/>
              <a:gd name="T46" fmla="*/ 186 w 210"/>
              <a:gd name="T47" fmla="*/ 22 h 262"/>
              <a:gd name="T48" fmla="*/ 14 w 210"/>
              <a:gd name="T49" fmla="*/ 226 h 262"/>
              <a:gd name="T50" fmla="*/ 14 w 210"/>
              <a:gd name="T51" fmla="*/ 12 h 262"/>
              <a:gd name="T52" fmla="*/ 174 w 210"/>
              <a:gd name="T53" fmla="*/ 12 h 262"/>
              <a:gd name="T54" fmla="*/ 174 w 210"/>
              <a:gd name="T55" fmla="*/ 172 h 262"/>
              <a:gd name="T56" fmla="*/ 118 w 210"/>
              <a:gd name="T57" fmla="*/ 172 h 262"/>
              <a:gd name="T58" fmla="*/ 118 w 210"/>
              <a:gd name="T59" fmla="*/ 226 h 262"/>
              <a:gd name="T60" fmla="*/ 14 w 210"/>
              <a:gd name="T61" fmla="*/ 226 h 262"/>
              <a:gd name="T62" fmla="*/ 196 w 210"/>
              <a:gd name="T63" fmla="*/ 250 h 262"/>
              <a:gd name="T64" fmla="*/ 36 w 210"/>
              <a:gd name="T65" fmla="*/ 250 h 262"/>
              <a:gd name="T66" fmla="*/ 36 w 210"/>
              <a:gd name="T67" fmla="*/ 240 h 262"/>
              <a:gd name="T68" fmla="*/ 126 w 210"/>
              <a:gd name="T69" fmla="*/ 240 h 262"/>
              <a:gd name="T70" fmla="*/ 186 w 210"/>
              <a:gd name="T71" fmla="*/ 178 h 262"/>
              <a:gd name="T72" fmla="*/ 186 w 210"/>
              <a:gd name="T73" fmla="*/ 36 h 262"/>
              <a:gd name="T74" fmla="*/ 196 w 210"/>
              <a:gd name="T75" fmla="*/ 36 h 262"/>
              <a:gd name="T76" fmla="*/ 196 w 210"/>
              <a:gd name="T77" fmla="*/ 250 h 262"/>
              <a:gd name="T78" fmla="*/ 36 w 210"/>
              <a:gd name="T79" fmla="*/ 156 h 262"/>
              <a:gd name="T80" fmla="*/ 94 w 210"/>
              <a:gd name="T81" fmla="*/ 156 h 262"/>
              <a:gd name="T82" fmla="*/ 94 w 210"/>
              <a:gd name="T83" fmla="*/ 140 h 262"/>
              <a:gd name="T84" fmla="*/ 36 w 210"/>
              <a:gd name="T85" fmla="*/ 140 h 262"/>
              <a:gd name="T86" fmla="*/ 36 w 210"/>
              <a:gd name="T87" fmla="*/ 15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0" h="262">
                <a:moveTo>
                  <a:pt x="150" y="108"/>
                </a:moveTo>
                <a:lnTo>
                  <a:pt x="36" y="108"/>
                </a:lnTo>
                <a:lnTo>
                  <a:pt x="36" y="124"/>
                </a:lnTo>
                <a:lnTo>
                  <a:pt x="150" y="124"/>
                </a:lnTo>
                <a:lnTo>
                  <a:pt x="150" y="108"/>
                </a:lnTo>
                <a:close/>
                <a:moveTo>
                  <a:pt x="150" y="42"/>
                </a:moveTo>
                <a:lnTo>
                  <a:pt x="36" y="42"/>
                </a:lnTo>
                <a:lnTo>
                  <a:pt x="36" y="58"/>
                </a:lnTo>
                <a:lnTo>
                  <a:pt x="150" y="58"/>
                </a:lnTo>
                <a:lnTo>
                  <a:pt x="150" y="42"/>
                </a:lnTo>
                <a:close/>
                <a:moveTo>
                  <a:pt x="150" y="74"/>
                </a:moveTo>
                <a:lnTo>
                  <a:pt x="36" y="74"/>
                </a:lnTo>
                <a:lnTo>
                  <a:pt x="36" y="92"/>
                </a:lnTo>
                <a:lnTo>
                  <a:pt x="150" y="92"/>
                </a:lnTo>
                <a:lnTo>
                  <a:pt x="150" y="74"/>
                </a:lnTo>
                <a:close/>
                <a:moveTo>
                  <a:pt x="186" y="22"/>
                </a:moveTo>
                <a:lnTo>
                  <a:pt x="186" y="0"/>
                </a:lnTo>
                <a:lnTo>
                  <a:pt x="0" y="0"/>
                </a:lnTo>
                <a:lnTo>
                  <a:pt x="0" y="240"/>
                </a:lnTo>
                <a:lnTo>
                  <a:pt x="24" y="240"/>
                </a:lnTo>
                <a:lnTo>
                  <a:pt x="24" y="262"/>
                </a:lnTo>
                <a:lnTo>
                  <a:pt x="210" y="262"/>
                </a:lnTo>
                <a:lnTo>
                  <a:pt x="210" y="22"/>
                </a:lnTo>
                <a:lnTo>
                  <a:pt x="186" y="22"/>
                </a:lnTo>
                <a:close/>
                <a:moveTo>
                  <a:pt x="14" y="226"/>
                </a:moveTo>
                <a:lnTo>
                  <a:pt x="14" y="12"/>
                </a:lnTo>
                <a:lnTo>
                  <a:pt x="174" y="12"/>
                </a:lnTo>
                <a:lnTo>
                  <a:pt x="174" y="172"/>
                </a:lnTo>
                <a:lnTo>
                  <a:pt x="118" y="172"/>
                </a:lnTo>
                <a:lnTo>
                  <a:pt x="118" y="226"/>
                </a:lnTo>
                <a:lnTo>
                  <a:pt x="14" y="226"/>
                </a:lnTo>
                <a:close/>
                <a:moveTo>
                  <a:pt x="196" y="250"/>
                </a:moveTo>
                <a:lnTo>
                  <a:pt x="36" y="250"/>
                </a:lnTo>
                <a:lnTo>
                  <a:pt x="36" y="240"/>
                </a:lnTo>
                <a:lnTo>
                  <a:pt x="126" y="240"/>
                </a:lnTo>
                <a:lnTo>
                  <a:pt x="186" y="178"/>
                </a:lnTo>
                <a:lnTo>
                  <a:pt x="186" y="36"/>
                </a:lnTo>
                <a:lnTo>
                  <a:pt x="196" y="36"/>
                </a:lnTo>
                <a:lnTo>
                  <a:pt x="196" y="250"/>
                </a:lnTo>
                <a:close/>
                <a:moveTo>
                  <a:pt x="36" y="156"/>
                </a:moveTo>
                <a:lnTo>
                  <a:pt x="94" y="156"/>
                </a:lnTo>
                <a:lnTo>
                  <a:pt x="94" y="140"/>
                </a:lnTo>
                <a:lnTo>
                  <a:pt x="36" y="140"/>
                </a:lnTo>
                <a:lnTo>
                  <a:pt x="36" y="156"/>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4" name="Freeform 273"/>
          <p:cNvSpPr>
            <a:spLocks noEditPoints="1"/>
          </p:cNvSpPr>
          <p:nvPr/>
        </p:nvSpPr>
        <p:spPr bwMode="auto">
          <a:xfrm>
            <a:off x="4836098" y="1766783"/>
            <a:ext cx="320573" cy="463437"/>
          </a:xfrm>
          <a:custGeom>
            <a:avLst/>
            <a:gdLst>
              <a:gd name="T0" fmla="*/ 46 w 92"/>
              <a:gd name="T1" fmla="*/ 19 h 133"/>
              <a:gd name="T2" fmla="*/ 48 w 92"/>
              <a:gd name="T3" fmla="*/ 16 h 133"/>
              <a:gd name="T4" fmla="*/ 46 w 92"/>
              <a:gd name="T5" fmla="*/ 14 h 133"/>
              <a:gd name="T6" fmla="*/ 14 w 92"/>
              <a:gd name="T7" fmla="*/ 46 h 133"/>
              <a:gd name="T8" fmla="*/ 16 w 92"/>
              <a:gd name="T9" fmla="*/ 48 h 133"/>
              <a:gd name="T10" fmla="*/ 19 w 92"/>
              <a:gd name="T11" fmla="*/ 46 h 133"/>
              <a:gd name="T12" fmla="*/ 46 w 92"/>
              <a:gd name="T13" fmla="*/ 19 h 133"/>
              <a:gd name="T14" fmla="*/ 26 w 92"/>
              <a:gd name="T15" fmla="*/ 115 h 133"/>
              <a:gd name="T16" fmla="*/ 27 w 92"/>
              <a:gd name="T17" fmla="*/ 122 h 133"/>
              <a:gd name="T18" fmla="*/ 34 w 92"/>
              <a:gd name="T19" fmla="*/ 126 h 133"/>
              <a:gd name="T20" fmla="*/ 34 w 92"/>
              <a:gd name="T21" fmla="*/ 130 h 133"/>
              <a:gd name="T22" fmla="*/ 46 w 92"/>
              <a:gd name="T23" fmla="*/ 133 h 133"/>
              <a:gd name="T24" fmla="*/ 57 w 92"/>
              <a:gd name="T25" fmla="*/ 130 h 133"/>
              <a:gd name="T26" fmla="*/ 58 w 92"/>
              <a:gd name="T27" fmla="*/ 126 h 133"/>
              <a:gd name="T28" fmla="*/ 64 w 92"/>
              <a:gd name="T29" fmla="*/ 122 h 133"/>
              <a:gd name="T30" fmla="*/ 65 w 92"/>
              <a:gd name="T31" fmla="*/ 115 h 133"/>
              <a:gd name="T32" fmla="*/ 46 w 92"/>
              <a:gd name="T33" fmla="*/ 118 h 133"/>
              <a:gd name="T34" fmla="*/ 26 w 92"/>
              <a:gd name="T35" fmla="*/ 115 h 133"/>
              <a:gd name="T36" fmla="*/ 25 w 92"/>
              <a:gd name="T37" fmla="*/ 102 h 133"/>
              <a:gd name="T38" fmla="*/ 26 w 92"/>
              <a:gd name="T39" fmla="*/ 109 h 133"/>
              <a:gd name="T40" fmla="*/ 46 w 92"/>
              <a:gd name="T41" fmla="*/ 113 h 133"/>
              <a:gd name="T42" fmla="*/ 66 w 92"/>
              <a:gd name="T43" fmla="*/ 109 h 133"/>
              <a:gd name="T44" fmla="*/ 67 w 92"/>
              <a:gd name="T45" fmla="*/ 102 h 133"/>
              <a:gd name="T46" fmla="*/ 46 w 92"/>
              <a:gd name="T47" fmla="*/ 106 h 133"/>
              <a:gd name="T48" fmla="*/ 25 w 92"/>
              <a:gd name="T49" fmla="*/ 102 h 133"/>
              <a:gd name="T50" fmla="*/ 46 w 92"/>
              <a:gd name="T51" fmla="*/ 0 h 133"/>
              <a:gd name="T52" fmla="*/ 0 w 92"/>
              <a:gd name="T53" fmla="*/ 46 h 133"/>
              <a:gd name="T54" fmla="*/ 22 w 92"/>
              <a:gd name="T55" fmla="*/ 85 h 133"/>
              <a:gd name="T56" fmla="*/ 24 w 92"/>
              <a:gd name="T57" fmla="*/ 96 h 133"/>
              <a:gd name="T58" fmla="*/ 46 w 92"/>
              <a:gd name="T59" fmla="*/ 101 h 133"/>
              <a:gd name="T60" fmla="*/ 68 w 92"/>
              <a:gd name="T61" fmla="*/ 96 h 133"/>
              <a:gd name="T62" fmla="*/ 69 w 92"/>
              <a:gd name="T63" fmla="*/ 85 h 133"/>
              <a:gd name="T64" fmla="*/ 92 w 92"/>
              <a:gd name="T65" fmla="*/ 46 h 133"/>
              <a:gd name="T66" fmla="*/ 46 w 92"/>
              <a:gd name="T67" fmla="*/ 0 h 133"/>
              <a:gd name="T68" fmla="*/ 63 w 92"/>
              <a:gd name="T69" fmla="*/ 79 h 133"/>
              <a:gd name="T70" fmla="*/ 62 w 92"/>
              <a:gd name="T71" fmla="*/ 90 h 133"/>
              <a:gd name="T72" fmla="*/ 46 w 92"/>
              <a:gd name="T73" fmla="*/ 93 h 133"/>
              <a:gd name="T74" fmla="*/ 30 w 92"/>
              <a:gd name="T75" fmla="*/ 90 h 133"/>
              <a:gd name="T76" fmla="*/ 29 w 92"/>
              <a:gd name="T77" fmla="*/ 79 h 133"/>
              <a:gd name="T78" fmla="*/ 8 w 92"/>
              <a:gd name="T79" fmla="*/ 46 h 133"/>
              <a:gd name="T80" fmla="*/ 46 w 92"/>
              <a:gd name="T81" fmla="*/ 8 h 133"/>
              <a:gd name="T82" fmla="*/ 83 w 92"/>
              <a:gd name="T83" fmla="*/ 46 h 133"/>
              <a:gd name="T84" fmla="*/ 63 w 92"/>
              <a:gd name="T85" fmla="*/ 79 h 133"/>
              <a:gd name="T86" fmla="*/ 56 w 92"/>
              <a:gd name="T87" fmla="*/ 63 h 133"/>
              <a:gd name="T88" fmla="*/ 46 w 92"/>
              <a:gd name="T89" fmla="*/ 44 h 133"/>
              <a:gd name="T90" fmla="*/ 36 w 92"/>
              <a:gd name="T91" fmla="*/ 63 h 133"/>
              <a:gd name="T92" fmla="*/ 31 w 92"/>
              <a:gd name="T93" fmla="*/ 54 h 133"/>
              <a:gd name="T94" fmla="*/ 25 w 92"/>
              <a:gd name="T95" fmla="*/ 57 h 133"/>
              <a:gd name="T96" fmla="*/ 35 w 92"/>
              <a:gd name="T97" fmla="*/ 78 h 133"/>
              <a:gd name="T98" fmla="*/ 46 w 92"/>
              <a:gd name="T99" fmla="*/ 59 h 133"/>
              <a:gd name="T100" fmla="*/ 56 w 92"/>
              <a:gd name="T101" fmla="*/ 78 h 133"/>
              <a:gd name="T102" fmla="*/ 67 w 92"/>
              <a:gd name="T103" fmla="*/ 57 h 133"/>
              <a:gd name="T104" fmla="*/ 60 w 92"/>
              <a:gd name="T105" fmla="*/ 54 h 133"/>
              <a:gd name="T106" fmla="*/ 56 w 92"/>
              <a:gd name="T107" fmla="*/ 6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 h="133">
                <a:moveTo>
                  <a:pt x="46" y="19"/>
                </a:moveTo>
                <a:cubicBezTo>
                  <a:pt x="47" y="19"/>
                  <a:pt x="48" y="18"/>
                  <a:pt x="48" y="16"/>
                </a:cubicBezTo>
                <a:cubicBezTo>
                  <a:pt x="48" y="15"/>
                  <a:pt x="47" y="14"/>
                  <a:pt x="46" y="14"/>
                </a:cubicBezTo>
                <a:cubicBezTo>
                  <a:pt x="28" y="14"/>
                  <a:pt x="14" y="28"/>
                  <a:pt x="14" y="46"/>
                </a:cubicBezTo>
                <a:cubicBezTo>
                  <a:pt x="14" y="47"/>
                  <a:pt x="15" y="48"/>
                  <a:pt x="16" y="48"/>
                </a:cubicBezTo>
                <a:cubicBezTo>
                  <a:pt x="18" y="48"/>
                  <a:pt x="19" y="47"/>
                  <a:pt x="19" y="46"/>
                </a:cubicBezTo>
                <a:cubicBezTo>
                  <a:pt x="19" y="31"/>
                  <a:pt x="31" y="19"/>
                  <a:pt x="46" y="19"/>
                </a:cubicBezTo>
                <a:close/>
                <a:moveTo>
                  <a:pt x="26" y="115"/>
                </a:moveTo>
                <a:cubicBezTo>
                  <a:pt x="27" y="122"/>
                  <a:pt x="27" y="122"/>
                  <a:pt x="27" y="122"/>
                </a:cubicBezTo>
                <a:cubicBezTo>
                  <a:pt x="27" y="122"/>
                  <a:pt x="29" y="124"/>
                  <a:pt x="34" y="126"/>
                </a:cubicBezTo>
                <a:cubicBezTo>
                  <a:pt x="34" y="130"/>
                  <a:pt x="34" y="130"/>
                  <a:pt x="34" y="130"/>
                </a:cubicBezTo>
                <a:cubicBezTo>
                  <a:pt x="34" y="130"/>
                  <a:pt x="37" y="133"/>
                  <a:pt x="46" y="133"/>
                </a:cubicBezTo>
                <a:cubicBezTo>
                  <a:pt x="55" y="133"/>
                  <a:pt x="57" y="130"/>
                  <a:pt x="57" y="130"/>
                </a:cubicBezTo>
                <a:cubicBezTo>
                  <a:pt x="58" y="126"/>
                  <a:pt x="58" y="126"/>
                  <a:pt x="58" y="126"/>
                </a:cubicBezTo>
                <a:cubicBezTo>
                  <a:pt x="63" y="124"/>
                  <a:pt x="64" y="122"/>
                  <a:pt x="64" y="122"/>
                </a:cubicBezTo>
                <a:cubicBezTo>
                  <a:pt x="65" y="115"/>
                  <a:pt x="65" y="115"/>
                  <a:pt x="65" y="115"/>
                </a:cubicBezTo>
                <a:cubicBezTo>
                  <a:pt x="59" y="117"/>
                  <a:pt x="53" y="118"/>
                  <a:pt x="46" y="118"/>
                </a:cubicBezTo>
                <a:cubicBezTo>
                  <a:pt x="39" y="118"/>
                  <a:pt x="32" y="117"/>
                  <a:pt x="26" y="115"/>
                </a:cubicBezTo>
                <a:close/>
                <a:moveTo>
                  <a:pt x="25" y="102"/>
                </a:moveTo>
                <a:cubicBezTo>
                  <a:pt x="26" y="109"/>
                  <a:pt x="26" y="109"/>
                  <a:pt x="26" y="109"/>
                </a:cubicBezTo>
                <a:cubicBezTo>
                  <a:pt x="32" y="111"/>
                  <a:pt x="38" y="113"/>
                  <a:pt x="46" y="113"/>
                </a:cubicBezTo>
                <a:cubicBezTo>
                  <a:pt x="53" y="113"/>
                  <a:pt x="60" y="111"/>
                  <a:pt x="66" y="109"/>
                </a:cubicBezTo>
                <a:cubicBezTo>
                  <a:pt x="67" y="102"/>
                  <a:pt x="67" y="102"/>
                  <a:pt x="67" y="102"/>
                </a:cubicBezTo>
                <a:cubicBezTo>
                  <a:pt x="61" y="105"/>
                  <a:pt x="53" y="106"/>
                  <a:pt x="46" y="106"/>
                </a:cubicBezTo>
                <a:cubicBezTo>
                  <a:pt x="38" y="106"/>
                  <a:pt x="31" y="105"/>
                  <a:pt x="25" y="102"/>
                </a:cubicBezTo>
                <a:close/>
                <a:moveTo>
                  <a:pt x="46" y="0"/>
                </a:moveTo>
                <a:cubicBezTo>
                  <a:pt x="21" y="0"/>
                  <a:pt x="0" y="20"/>
                  <a:pt x="0" y="46"/>
                </a:cubicBezTo>
                <a:cubicBezTo>
                  <a:pt x="0" y="62"/>
                  <a:pt x="9" y="77"/>
                  <a:pt x="22" y="85"/>
                </a:cubicBezTo>
                <a:cubicBezTo>
                  <a:pt x="24" y="96"/>
                  <a:pt x="24" y="96"/>
                  <a:pt x="24" y="96"/>
                </a:cubicBezTo>
                <a:cubicBezTo>
                  <a:pt x="30" y="99"/>
                  <a:pt x="38" y="101"/>
                  <a:pt x="46" y="101"/>
                </a:cubicBezTo>
                <a:cubicBezTo>
                  <a:pt x="54" y="101"/>
                  <a:pt x="61" y="99"/>
                  <a:pt x="68" y="96"/>
                </a:cubicBezTo>
                <a:cubicBezTo>
                  <a:pt x="69" y="85"/>
                  <a:pt x="69" y="85"/>
                  <a:pt x="69" y="85"/>
                </a:cubicBezTo>
                <a:cubicBezTo>
                  <a:pt x="83" y="77"/>
                  <a:pt x="92" y="62"/>
                  <a:pt x="92" y="46"/>
                </a:cubicBezTo>
                <a:cubicBezTo>
                  <a:pt x="92" y="20"/>
                  <a:pt x="71" y="0"/>
                  <a:pt x="46" y="0"/>
                </a:cubicBezTo>
                <a:close/>
                <a:moveTo>
                  <a:pt x="63" y="79"/>
                </a:moveTo>
                <a:cubicBezTo>
                  <a:pt x="62" y="90"/>
                  <a:pt x="62" y="90"/>
                  <a:pt x="62" y="90"/>
                </a:cubicBezTo>
                <a:cubicBezTo>
                  <a:pt x="62" y="90"/>
                  <a:pt x="57" y="93"/>
                  <a:pt x="46" y="93"/>
                </a:cubicBezTo>
                <a:cubicBezTo>
                  <a:pt x="34" y="93"/>
                  <a:pt x="30" y="90"/>
                  <a:pt x="30" y="90"/>
                </a:cubicBezTo>
                <a:cubicBezTo>
                  <a:pt x="29" y="79"/>
                  <a:pt x="29" y="79"/>
                  <a:pt x="29" y="79"/>
                </a:cubicBezTo>
                <a:cubicBezTo>
                  <a:pt x="17" y="73"/>
                  <a:pt x="8" y="60"/>
                  <a:pt x="8" y="46"/>
                </a:cubicBezTo>
                <a:cubicBezTo>
                  <a:pt x="8" y="25"/>
                  <a:pt x="25" y="8"/>
                  <a:pt x="46" y="8"/>
                </a:cubicBezTo>
                <a:cubicBezTo>
                  <a:pt x="67" y="8"/>
                  <a:pt x="83" y="25"/>
                  <a:pt x="83" y="46"/>
                </a:cubicBezTo>
                <a:cubicBezTo>
                  <a:pt x="83" y="60"/>
                  <a:pt x="75" y="73"/>
                  <a:pt x="63" y="79"/>
                </a:cubicBezTo>
                <a:close/>
                <a:moveTo>
                  <a:pt x="56" y="63"/>
                </a:moveTo>
                <a:cubicBezTo>
                  <a:pt x="46" y="44"/>
                  <a:pt x="46" y="44"/>
                  <a:pt x="46" y="44"/>
                </a:cubicBezTo>
                <a:cubicBezTo>
                  <a:pt x="36" y="63"/>
                  <a:pt x="36" y="63"/>
                  <a:pt x="36" y="63"/>
                </a:cubicBezTo>
                <a:cubicBezTo>
                  <a:pt x="31" y="54"/>
                  <a:pt x="31" y="54"/>
                  <a:pt x="31" y="54"/>
                </a:cubicBezTo>
                <a:cubicBezTo>
                  <a:pt x="25" y="57"/>
                  <a:pt x="25" y="57"/>
                  <a:pt x="25" y="57"/>
                </a:cubicBezTo>
                <a:cubicBezTo>
                  <a:pt x="35" y="78"/>
                  <a:pt x="35" y="78"/>
                  <a:pt x="35" y="78"/>
                </a:cubicBezTo>
                <a:cubicBezTo>
                  <a:pt x="46" y="59"/>
                  <a:pt x="46" y="59"/>
                  <a:pt x="46" y="59"/>
                </a:cubicBezTo>
                <a:cubicBezTo>
                  <a:pt x="56" y="78"/>
                  <a:pt x="56" y="78"/>
                  <a:pt x="56" y="78"/>
                </a:cubicBezTo>
                <a:cubicBezTo>
                  <a:pt x="67" y="57"/>
                  <a:pt x="67" y="57"/>
                  <a:pt x="67" y="57"/>
                </a:cubicBezTo>
                <a:cubicBezTo>
                  <a:pt x="60" y="54"/>
                  <a:pt x="60" y="54"/>
                  <a:pt x="60" y="54"/>
                </a:cubicBezTo>
                <a:lnTo>
                  <a:pt x="56" y="63"/>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5" name="TextBox 30"/>
          <p:cNvSpPr txBox="1"/>
          <p:nvPr/>
        </p:nvSpPr>
        <p:spPr>
          <a:xfrm>
            <a:off x="5072225" y="841544"/>
            <a:ext cx="1588376" cy="245745"/>
          </a:xfrm>
          <a:prstGeom prst="rect">
            <a:avLst/>
          </a:prstGeom>
          <a:noFill/>
        </p:spPr>
        <p:txBody>
          <a:bodyPr wrap="square" lIns="0" tIns="0" rIns="0" bIns="0" rtlCol="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cs typeface="Helvetica"/>
              </a:rPr>
              <a:t>分销商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6" name="TextBox 33"/>
          <p:cNvSpPr txBox="1"/>
          <p:nvPr/>
        </p:nvSpPr>
        <p:spPr>
          <a:xfrm>
            <a:off x="4016994" y="2952754"/>
            <a:ext cx="1011577" cy="245745"/>
          </a:xfrm>
          <a:prstGeom prst="rect">
            <a:avLst/>
          </a:prstGeom>
          <a:noFill/>
        </p:spPr>
        <p:txBody>
          <a:bodyPr wrap="square" lIns="0" tIns="0" rIns="0" bIns="0" rtlCol="0">
            <a:spAutoFit/>
          </a:bodyPr>
          <a:lstStyle/>
          <a:p>
            <a:pPr algn="r"/>
            <a:r>
              <a:rPr lang="zh-CN" altLang="en-US" sz="1600" b="1" dirty="0">
                <a:solidFill>
                  <a:srgbClr val="FFFFFF"/>
                </a:solidFill>
                <a:latin typeface="微软雅黑" panose="020B0503020204020204" pitchFamily="34" charset="-122"/>
                <a:ea typeface="微软雅黑" panose="020B0503020204020204" pitchFamily="34" charset="-122"/>
                <a:cs typeface="Helvetica"/>
              </a:rPr>
              <a:t>代理商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7" name="TextBox 36"/>
          <p:cNvSpPr txBox="1"/>
          <p:nvPr/>
        </p:nvSpPr>
        <p:spPr>
          <a:xfrm>
            <a:off x="6702318" y="2941534"/>
            <a:ext cx="1011577" cy="245745"/>
          </a:xfrm>
          <a:prstGeom prst="rect">
            <a:avLst/>
          </a:prstGeom>
          <a:noFill/>
        </p:spPr>
        <p:txBody>
          <a:bodyPr wrap="square" lIns="0" tIns="0" rIns="0" bIns="0" rtlCol="0">
            <a:spAutoFit/>
          </a:bodyPr>
          <a:lstStyle/>
          <a:p>
            <a:r>
              <a:rPr lang="zh-CN" altLang="en-US" sz="1600" b="1" dirty="0">
                <a:solidFill>
                  <a:srgbClr val="FFFFFF"/>
                </a:solidFill>
                <a:latin typeface="微软雅黑" panose="020B0503020204020204" pitchFamily="34" charset="-122"/>
                <a:ea typeface="微软雅黑" panose="020B0503020204020204" pitchFamily="34" charset="-122"/>
                <a:cs typeface="Helvetica"/>
              </a:rPr>
              <a:t>经销商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8" name="TextBox 38"/>
          <p:cNvSpPr txBox="1"/>
          <p:nvPr/>
        </p:nvSpPr>
        <p:spPr>
          <a:xfrm>
            <a:off x="4980532" y="2071875"/>
            <a:ext cx="1775962" cy="461645"/>
          </a:xfrm>
          <a:prstGeom prst="rect">
            <a:avLst/>
          </a:prstGeom>
          <a:noFill/>
        </p:spPr>
        <p:txBody>
          <a:bodyPr wrap="square" lIns="0" tIns="0" rIns="0" bIns="0" rtlCol="0">
            <a:spAutoFit/>
          </a:bodyPr>
          <a:lstStyle/>
          <a:p>
            <a:pPr algn="ctr">
              <a:lnSpc>
                <a:spcPts val="1800"/>
              </a:lnSpc>
            </a:pPr>
            <a:r>
              <a:rPr lang="zh-CN" altLang="en-US" sz="1600" b="1" dirty="0">
                <a:solidFill>
                  <a:srgbClr val="000000"/>
                </a:solidFill>
                <a:latin typeface="微软雅黑" panose="020B0503020204020204" pitchFamily="34" charset="-122"/>
                <a:ea typeface="微软雅黑" panose="020B0503020204020204" pitchFamily="34" charset="-122"/>
                <a:cs typeface="Helvetica"/>
              </a:rPr>
              <a:t>渠道</a:t>
            </a:r>
            <a:endParaRPr lang="en-US" altLang="zh-CN" sz="1600" b="1" dirty="0">
              <a:solidFill>
                <a:srgbClr val="000000"/>
              </a:solidFill>
              <a:latin typeface="微软雅黑" panose="020B0503020204020204" pitchFamily="34" charset="-122"/>
              <a:ea typeface="微软雅黑" panose="020B0503020204020204" pitchFamily="34" charset="-122"/>
              <a:cs typeface="Helvetica"/>
            </a:endParaRPr>
          </a:p>
          <a:p>
            <a:pPr algn="ctr">
              <a:lnSpc>
                <a:spcPts val="1800"/>
              </a:lnSpc>
            </a:pPr>
            <a:r>
              <a:rPr lang="zh-CN" altLang="en-US" sz="1600" b="1" dirty="0">
                <a:solidFill>
                  <a:srgbClr val="000000"/>
                </a:solidFill>
                <a:latin typeface="微软雅黑" panose="020B0503020204020204" pitchFamily="34" charset="-122"/>
                <a:ea typeface="微软雅黑" panose="020B0503020204020204" pitchFamily="34" charset="-122"/>
                <a:cs typeface="Helvetica"/>
              </a:rPr>
              <a:t>管理</a:t>
            </a:r>
            <a:endParaRPr lang="en-US" sz="16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19" name="Rectangle: Rounded Corners 92"/>
          <p:cNvSpPr/>
          <p:nvPr>
            <p:custDataLst>
              <p:tags r:id="rId1"/>
            </p:custDataLst>
          </p:nvPr>
        </p:nvSpPr>
        <p:spPr>
          <a:xfrm>
            <a:off x="183568" y="3858076"/>
            <a:ext cx="1954613" cy="2926160"/>
          </a:xfrm>
          <a:prstGeom prst="roundRect">
            <a:avLst>
              <a:gd name="adj" fmla="val 0"/>
            </a:avLst>
          </a:prstGeom>
          <a:solidFill>
            <a:srgbClr val="E3F4F1">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渠道开拓目标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渠道画像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经销商总数（分层分级）</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覆盖国家和地区</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新增渠道数量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渠道渗透率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省级分销省地市覆盖率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渠道排他性占比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右箭头 1"/>
          <p:cNvSpPr/>
          <p:nvPr/>
        </p:nvSpPr>
        <p:spPr>
          <a:xfrm>
            <a:off x="0" y="3342893"/>
            <a:ext cx="12192000" cy="360045"/>
          </a:xfrm>
          <a:prstGeom prst="rightArrow">
            <a:avLst/>
          </a:prstGeom>
          <a:solidFill>
            <a:srgbClr val="11AFBB"/>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1" name="Rectangle 36"/>
          <p:cNvSpPr/>
          <p:nvPr/>
        </p:nvSpPr>
        <p:spPr>
          <a:xfrm>
            <a:off x="183568" y="3337178"/>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渠道策略</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Rectangle 36"/>
          <p:cNvSpPr/>
          <p:nvPr/>
        </p:nvSpPr>
        <p:spPr>
          <a:xfrm>
            <a:off x="2250002" y="3349983"/>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渠道赋能</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Rectangle 36"/>
          <p:cNvSpPr/>
          <p:nvPr/>
        </p:nvSpPr>
        <p:spPr>
          <a:xfrm>
            <a:off x="6756494" y="3346438"/>
            <a:ext cx="3062673"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运营协同</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Rectangle 36"/>
          <p:cNvSpPr/>
          <p:nvPr/>
        </p:nvSpPr>
        <p:spPr>
          <a:xfrm>
            <a:off x="10018093" y="3346438"/>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伙伴关系</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Rectangle: Rounded Corners 92"/>
          <p:cNvSpPr/>
          <p:nvPr>
            <p:custDataLst>
              <p:tags r:id="rId2"/>
            </p:custDataLst>
          </p:nvPr>
        </p:nvSpPr>
        <p:spPr>
          <a:xfrm>
            <a:off x="2250002" y="3847191"/>
            <a:ext cx="1954613" cy="2937045"/>
          </a:xfrm>
          <a:prstGeom prst="roundRect">
            <a:avLst>
              <a:gd name="adj" fmla="val 0"/>
            </a:avLst>
          </a:prstGeom>
          <a:solidFill>
            <a:srgbClr val="E3F4F1">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培训认证通过率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培训场次</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培训参与人数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渠道市场活动次数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市场活动投入产出比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营销活动状态</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现场签单数量金额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获客数量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市场活动获取的线索</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市场活动获取的商机</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endParaRPr kumimoji="0"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Rectangle: Rounded Corners 92"/>
          <p:cNvSpPr/>
          <p:nvPr>
            <p:custDataLst>
              <p:tags r:id="rId3"/>
            </p:custDataLst>
          </p:nvPr>
        </p:nvSpPr>
        <p:spPr>
          <a:xfrm>
            <a:off x="6756494" y="3825261"/>
            <a:ext cx="3062673" cy="2937045"/>
          </a:xfrm>
          <a:prstGeom prst="roundRect">
            <a:avLst>
              <a:gd name="adj" fmla="val 0"/>
            </a:avLst>
          </a:prstGeom>
          <a:solidFill>
            <a:srgbClr val="E3F4F1">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库存数量金额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-sell in</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库存数量金额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-sell out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（净销）</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库存余额数量金额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库存周转率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项目协同成功项目数（由洲明主导给分销商出货）</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应收账款</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总额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应收账款</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逾期</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授信金额（总额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已使用</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剩余）</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银行</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授信金额（总额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已使用</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剩余）</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公司放款</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目标达成率（月度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年度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同比）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补差金额（总额、已用、剩余）</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价格分析（促销</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趋势）</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渠道销售总额（产品</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占比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Rectangle: Rounded Corners 92"/>
          <p:cNvSpPr/>
          <p:nvPr>
            <p:custDataLst>
              <p:tags r:id="rId4"/>
            </p:custDataLst>
          </p:nvPr>
        </p:nvSpPr>
        <p:spPr>
          <a:xfrm>
            <a:off x="10018094" y="3811548"/>
            <a:ext cx="1860550" cy="2964469"/>
          </a:xfrm>
          <a:prstGeom prst="roundRect">
            <a:avLst>
              <a:gd name="adj" fmla="val 0"/>
            </a:avLst>
          </a:prstGeom>
          <a:solidFill>
            <a:srgbClr val="E3F4F1">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渠道伙伴流失率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渠道伙伴满意度</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渠道商</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TOP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排名</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市占率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endParaRPr kumimoji="0"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8" name="文本框 27"/>
          <p:cNvSpPr txBox="1"/>
          <p:nvPr/>
        </p:nvSpPr>
        <p:spPr>
          <a:xfrm>
            <a:off x="672400" y="1188147"/>
            <a:ext cx="2507877" cy="161544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渠道分层分级：？</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代理商：金银铜</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经销商：没有分级</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分销商：省级</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培训类型：经营、管理、产品、技术</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补差金额结构：</a:t>
            </a:r>
            <a:endPar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29" name="Rectangle 36"/>
          <p:cNvSpPr/>
          <p:nvPr/>
        </p:nvSpPr>
        <p:spPr>
          <a:xfrm>
            <a:off x="4535263" y="3333691"/>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渠道管理</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Rectangle: Rounded Corners 92"/>
          <p:cNvSpPr/>
          <p:nvPr>
            <p:custDataLst>
              <p:tags r:id="rId5"/>
            </p:custDataLst>
          </p:nvPr>
        </p:nvSpPr>
        <p:spPr>
          <a:xfrm>
            <a:off x="4547714" y="3838972"/>
            <a:ext cx="1843688" cy="2937045"/>
          </a:xfrm>
          <a:prstGeom prst="roundRect">
            <a:avLst>
              <a:gd name="adj" fmla="val 0"/>
            </a:avLst>
          </a:prstGeom>
          <a:solidFill>
            <a:srgbClr val="E3F4F1">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新签约数量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续签约数量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汰换数量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市场违规次数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同步进行指标清单的整理：包括指标的计算逻辑、分析维度、初步数据探源，需要各部门一起讨论</a:t>
            </a:r>
            <a:endParaRPr lang="zh-CN" altLang="en-US" dirty="0"/>
          </a:p>
        </p:txBody>
      </p:sp>
      <p:pic>
        <p:nvPicPr>
          <p:cNvPr id="31" name="图片 30"/>
          <p:cNvPicPr>
            <a:picLocks noChangeAspect="1"/>
          </p:cNvPicPr>
          <p:nvPr/>
        </p:nvPicPr>
        <p:blipFill>
          <a:blip r:embed="rId1"/>
          <a:stretch>
            <a:fillRect/>
          </a:stretch>
        </p:blipFill>
        <p:spPr>
          <a:xfrm>
            <a:off x="200352" y="1302392"/>
            <a:ext cx="6632091" cy="2904333"/>
          </a:xfrm>
          <a:prstGeom prst="rect">
            <a:avLst/>
          </a:prstGeom>
          <a:ln>
            <a:solidFill>
              <a:srgbClr val="029E9A"/>
            </a:solidFill>
          </a:ln>
        </p:spPr>
      </p:pic>
      <p:pic>
        <p:nvPicPr>
          <p:cNvPr id="33" name="图片 32"/>
          <p:cNvPicPr>
            <a:picLocks noChangeAspect="1"/>
          </p:cNvPicPr>
          <p:nvPr/>
        </p:nvPicPr>
        <p:blipFill>
          <a:blip r:embed="rId2"/>
          <a:stretch>
            <a:fillRect/>
          </a:stretch>
        </p:blipFill>
        <p:spPr>
          <a:xfrm>
            <a:off x="3328189" y="2754559"/>
            <a:ext cx="8557118" cy="3425073"/>
          </a:xfrm>
          <a:prstGeom prst="rect">
            <a:avLst/>
          </a:prstGeom>
          <a:ln>
            <a:solidFill>
              <a:srgbClr val="029E9A"/>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427264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427291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501305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501332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7534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75373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68570"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调研情况总结</a:t>
            </a:r>
            <a:endParaRPr lang="zh-CN" altLang="en-US" sz="1200" dirty="0">
              <a:sym typeface="+mn-ea"/>
            </a:endParaRPr>
          </a:p>
        </p:txBody>
      </p:sp>
      <p:sp>
        <p:nvSpPr>
          <p:cNvPr id="8" name="文本占位符 17"/>
          <p:cNvSpPr txBox="1"/>
          <p:nvPr>
            <p:custDataLst>
              <p:tags r:id="rId14"/>
            </p:custDataLst>
          </p:nvPr>
        </p:nvSpPr>
        <p:spPr>
          <a:xfrm>
            <a:off x="4484370" y="307530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68570" y="347599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销服域指标分析框架与场景</a:t>
            </a:r>
            <a:r>
              <a:rPr lang="zh-CN" altLang="en-US" sz="1200" dirty="0">
                <a:sym typeface="+mn-ea"/>
              </a:rPr>
              <a:t>-</a:t>
            </a:r>
            <a:r>
              <a:rPr lang="zh-CN" altLang="en-US" sz="1200" dirty="0">
                <a:sym typeface="+mn-ea"/>
              </a:rPr>
              <a:t>国内</a:t>
            </a:r>
            <a:endParaRPr lang="zh-CN" altLang="en-US" sz="1200" dirty="0">
              <a:sym typeface="+mn-ea"/>
            </a:endParaRPr>
          </a:p>
        </p:txBody>
      </p:sp>
      <p:sp>
        <p:nvSpPr>
          <p:cNvPr id="23" name="文本占位符 17"/>
          <p:cNvSpPr txBox="1"/>
          <p:nvPr>
            <p:custDataLst>
              <p:tags r:id="rId16"/>
            </p:custDataLst>
          </p:nvPr>
        </p:nvSpPr>
        <p:spPr>
          <a:xfrm>
            <a:off x="4484370" y="34759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5068570" y="3844290"/>
            <a:ext cx="24244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指标详细设计（</a:t>
            </a:r>
            <a:r>
              <a:rPr lang="en-US" altLang="zh-CN" sz="1200" dirty="0">
                <a:sym typeface="+mn-ea"/>
              </a:rPr>
              <a:t>90</a:t>
            </a:r>
            <a:r>
              <a:rPr lang="zh-CN" altLang="en-US" sz="1200" dirty="0">
                <a:sym typeface="+mn-ea"/>
              </a:rPr>
              <a:t>个指标）</a:t>
            </a:r>
            <a:endParaRPr lang="zh-CN" altLang="en-US" sz="1200" dirty="0">
              <a:sym typeface="+mn-ea"/>
            </a:endParaRPr>
          </a:p>
        </p:txBody>
      </p:sp>
      <p:sp>
        <p:nvSpPr>
          <p:cNvPr id="28" name="文本占位符 17"/>
          <p:cNvSpPr txBox="1"/>
          <p:nvPr>
            <p:custDataLst>
              <p:tags r:id="rId18"/>
            </p:custDataLst>
          </p:nvPr>
        </p:nvSpPr>
        <p:spPr>
          <a:xfrm>
            <a:off x="4484370" y="38442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5</a:t>
            </a:r>
            <a:endParaRPr lang="en-US" altLang="zh-CN" sz="1200" dirty="0">
              <a:sym typeface="+mn-ea"/>
            </a:endParaRPr>
          </a:p>
        </p:txBody>
      </p:sp>
      <p:sp>
        <p:nvSpPr>
          <p:cNvPr id="32" name="文本占位符 17"/>
          <p:cNvSpPr txBox="1"/>
          <p:nvPr>
            <p:custDataLst>
              <p:tags r:id="rId19"/>
            </p:custDataLst>
          </p:nvPr>
        </p:nvSpPr>
        <p:spPr>
          <a:xfrm>
            <a:off x="8388985"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财经域指标分析框架与场景</a:t>
            </a:r>
            <a:endParaRPr lang="zh-CN" altLang="en-US" sz="1200" dirty="0">
              <a:sym typeface="+mn-ea"/>
            </a:endParaRPr>
          </a:p>
        </p:txBody>
      </p:sp>
      <p:sp>
        <p:nvSpPr>
          <p:cNvPr id="33" name="文本占位符 17"/>
          <p:cNvSpPr txBox="1"/>
          <p:nvPr>
            <p:custDataLst>
              <p:tags r:id="rId20"/>
            </p:custDataLst>
          </p:nvPr>
        </p:nvSpPr>
        <p:spPr>
          <a:xfrm>
            <a:off x="7804785" y="307530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2</a:t>
            </a:r>
            <a:endParaRPr lang="zh-CN" altLang="en-US" sz="1200" dirty="0">
              <a:sym typeface="+mn-ea"/>
            </a:endParaRPr>
          </a:p>
        </p:txBody>
      </p:sp>
      <p:sp>
        <p:nvSpPr>
          <p:cNvPr id="34" name="文本占位符 17"/>
          <p:cNvSpPr txBox="1"/>
          <p:nvPr>
            <p:custDataLst>
              <p:tags r:id="rId21"/>
            </p:custDataLst>
          </p:nvPr>
        </p:nvSpPr>
        <p:spPr>
          <a:xfrm>
            <a:off x="8388985" y="347853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销服域指标分析框架与场景</a:t>
            </a:r>
            <a:r>
              <a:rPr lang="zh-CN" altLang="en-US" sz="1200" dirty="0">
                <a:sym typeface="+mn-ea"/>
              </a:rPr>
              <a:t>-</a:t>
            </a:r>
            <a:r>
              <a:rPr lang="zh-CN" altLang="en-US" sz="1200" dirty="0">
                <a:sym typeface="+mn-ea"/>
              </a:rPr>
              <a:t>国际</a:t>
            </a:r>
            <a:endParaRPr lang="zh-CN" altLang="en-US" sz="1200" dirty="0">
              <a:sym typeface="+mn-ea"/>
            </a:endParaRPr>
          </a:p>
        </p:txBody>
      </p:sp>
      <p:sp>
        <p:nvSpPr>
          <p:cNvPr id="35" name="文本占位符 17"/>
          <p:cNvSpPr txBox="1"/>
          <p:nvPr>
            <p:custDataLst>
              <p:tags r:id="rId22"/>
            </p:custDataLst>
          </p:nvPr>
        </p:nvSpPr>
        <p:spPr>
          <a:xfrm>
            <a:off x="7804785" y="3478530"/>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3.</a:t>
            </a:r>
            <a:r>
              <a:rPr lang="zh-CN" altLang="en-US" sz="1200" dirty="0">
                <a:sym typeface="+mn-ea"/>
              </a:rPr>
              <a:t>4</a:t>
            </a:r>
            <a:endParaRPr lang="zh-CN" altLang="en-US" sz="1200" dirty="0">
              <a:sym typeface="+mn-ea"/>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000000"/>
                </a:solidFill>
                <a:cs typeface="Helvetica"/>
                <a:sym typeface="+mn-ea"/>
              </a:rPr>
              <a:t>销服主题分析框架：基于</a:t>
            </a:r>
            <a:r>
              <a:rPr lang="en-US" altLang="zh-CN" kern="0" dirty="0">
                <a:solidFill>
                  <a:srgbClr val="000000"/>
                </a:solidFill>
                <a:cs typeface="Helvetica"/>
                <a:sym typeface="+mn-ea"/>
              </a:rPr>
              <a:t>LTC</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5034510" y="806952"/>
            <a:ext cx="2105055" cy="360000"/>
          </a:xfrm>
          <a:prstGeom prst="rect">
            <a:avLst/>
          </a:prstGeom>
          <a:solidFill>
            <a:srgbClr val="0C7F8A"/>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市场营销战略目标</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5" name="Rectangle 217"/>
          <p:cNvSpPr/>
          <p:nvPr/>
        </p:nvSpPr>
        <p:spPr>
          <a:xfrm>
            <a:off x="22322" y="1628778"/>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经营目标</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6" name="Rectangle 36"/>
          <p:cNvSpPr/>
          <p:nvPr/>
        </p:nvSpPr>
        <p:spPr>
          <a:xfrm>
            <a:off x="4883826" y="1481493"/>
            <a:ext cx="2416438" cy="360000"/>
          </a:xfrm>
          <a:prstGeom prst="rect">
            <a:avLst/>
          </a:prstGeom>
          <a:solidFill>
            <a:srgbClr val="029E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A</a:t>
            </a: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rPr>
              <a:t>：以客户维度为优先</a:t>
            </a:r>
            <a:endParaRPr kumimoji="0" lang="en-GB"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7" name="右箭头 1"/>
          <p:cNvSpPr/>
          <p:nvPr/>
        </p:nvSpPr>
        <p:spPr>
          <a:xfrm>
            <a:off x="473710" y="2898548"/>
            <a:ext cx="11369040" cy="360045"/>
          </a:xfrm>
          <a:prstGeom prst="rightArrow">
            <a:avLst/>
          </a:prstGeom>
          <a:solidFill>
            <a:srgbClr val="10AFBC"/>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 name="椭圆 7"/>
          <p:cNvSpPr/>
          <p:nvPr/>
        </p:nvSpPr>
        <p:spPr>
          <a:xfrm>
            <a:off x="457322"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9" name="椭圆 8"/>
          <p:cNvSpPr/>
          <p:nvPr/>
        </p:nvSpPr>
        <p:spPr>
          <a:xfrm>
            <a:off x="2651801"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0" name="椭圆 9"/>
          <p:cNvSpPr/>
          <p:nvPr/>
        </p:nvSpPr>
        <p:spPr>
          <a:xfrm>
            <a:off x="4846280"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1" name="椭圆 10"/>
          <p:cNvSpPr/>
          <p:nvPr/>
        </p:nvSpPr>
        <p:spPr>
          <a:xfrm>
            <a:off x="7040759"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2" name="椭圆 11"/>
          <p:cNvSpPr/>
          <p:nvPr/>
        </p:nvSpPr>
        <p:spPr>
          <a:xfrm>
            <a:off x="9235238" y="2857346"/>
            <a:ext cx="442371" cy="442371"/>
          </a:xfrm>
          <a:prstGeom prst="ellipse">
            <a:avLst/>
          </a:prstGeom>
          <a:solidFill>
            <a:srgbClr val="029E9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3" name="文本框 4"/>
          <p:cNvSpPr txBox="1"/>
          <p:nvPr/>
        </p:nvSpPr>
        <p:spPr>
          <a:xfrm>
            <a:off x="721293" y="2642223"/>
            <a:ext cx="1551305"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1.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市场管理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MTL</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4" name="文本框 13"/>
          <p:cNvSpPr txBox="1"/>
          <p:nvPr/>
        </p:nvSpPr>
        <p:spPr>
          <a:xfrm>
            <a:off x="2905076" y="2642223"/>
            <a:ext cx="149352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2.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商机管理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LTO</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5" name="文本框 15"/>
          <p:cNvSpPr txBox="1"/>
          <p:nvPr/>
        </p:nvSpPr>
        <p:spPr>
          <a:xfrm>
            <a:off x="5088859" y="2642223"/>
            <a:ext cx="152146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3.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销售执行</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OTC</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6" name="文本框 16"/>
          <p:cNvSpPr txBox="1"/>
          <p:nvPr/>
        </p:nvSpPr>
        <p:spPr>
          <a:xfrm>
            <a:off x="7272642" y="2642223"/>
            <a:ext cx="145542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4.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售后管理</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ITR</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7" name="文本框 17"/>
          <p:cNvSpPr txBox="1"/>
          <p:nvPr/>
        </p:nvSpPr>
        <p:spPr>
          <a:xfrm>
            <a:off x="9456423" y="2642223"/>
            <a:ext cx="1943100" cy="306705"/>
          </a:xfrm>
          <a:prstGeom prst="rect">
            <a:avLst/>
          </a:prstGeom>
          <a:noFill/>
        </p:spPr>
        <p:txBody>
          <a:bodyPr wrap="none" rtlCol="0">
            <a:spAutoFit/>
          </a:bodyPr>
          <a:lstStyle/>
          <a:p>
            <a:pPr defTabSz="1219200" fontAlgn="base">
              <a:spcBef>
                <a:spcPct val="0"/>
              </a:spcBef>
              <a:spcAft>
                <a:spcPct val="0"/>
              </a:spcAft>
              <a:defRPr/>
            </a:pP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5. </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客户持续经营</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 MCR</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18" name="图形 17" descr="徽章勾号 轮廓"/>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76423" y="2898531"/>
            <a:ext cx="360000" cy="360000"/>
          </a:xfrm>
          <a:prstGeom prst="rect">
            <a:avLst/>
          </a:prstGeom>
        </p:spPr>
      </p:pic>
      <p:pic>
        <p:nvPicPr>
          <p:cNvPr id="19" name="图形 18" descr="靶心 轮廓"/>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5957" y="2898531"/>
            <a:ext cx="360000" cy="360000"/>
          </a:xfrm>
          <a:prstGeom prst="rect">
            <a:avLst/>
          </a:prstGeom>
        </p:spPr>
      </p:pic>
      <p:pic>
        <p:nvPicPr>
          <p:cNvPr id="20" name="图形 19" descr="清单 轮廓"/>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8507" y="2898531"/>
            <a:ext cx="360000" cy="360000"/>
          </a:xfrm>
          <a:prstGeom prst="rect">
            <a:avLst/>
          </a:prstGeom>
        </p:spPr>
      </p:pic>
      <p:pic>
        <p:nvPicPr>
          <p:cNvPr id="21" name="图形 20" descr="自卸卡车 轮廓"/>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92642" y="2898531"/>
            <a:ext cx="360000" cy="360000"/>
          </a:xfrm>
          <a:prstGeom prst="rect">
            <a:avLst/>
          </a:prstGeom>
        </p:spPr>
      </p:pic>
      <p:pic>
        <p:nvPicPr>
          <p:cNvPr id="22" name="图形 21" descr="电子邮件 轮廓"/>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92986" y="2884495"/>
            <a:ext cx="360000" cy="360000"/>
          </a:xfrm>
          <a:prstGeom prst="rect">
            <a:avLst/>
          </a:prstGeom>
        </p:spPr>
      </p:pic>
      <p:sp>
        <p:nvSpPr>
          <p:cNvPr id="23" name="Rectangle 217"/>
          <p:cNvSpPr/>
          <p:nvPr/>
        </p:nvSpPr>
        <p:spPr>
          <a:xfrm>
            <a:off x="67310" y="2944903"/>
            <a:ext cx="360045" cy="477520"/>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营销价值流</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4" name="Rectangle 217"/>
          <p:cNvSpPr/>
          <p:nvPr/>
        </p:nvSpPr>
        <p:spPr>
          <a:xfrm>
            <a:off x="31175" y="5705139"/>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员工成长</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5" name="Rectangle 217"/>
          <p:cNvSpPr/>
          <p:nvPr/>
        </p:nvSpPr>
        <p:spPr>
          <a:xfrm>
            <a:off x="31175" y="4535052"/>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协同保障</a:t>
            </a: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6" name="Rectangle: Rounded Corners 92"/>
          <p:cNvSpPr/>
          <p:nvPr>
            <p:custDataLst>
              <p:tags r:id="rId11"/>
            </p:custDataLst>
          </p:nvPr>
        </p:nvSpPr>
        <p:spPr>
          <a:xfrm>
            <a:off x="899795" y="3299868"/>
            <a:ext cx="1517650" cy="1235184"/>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市场洞察</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市场活动与费用</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线索管理</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12"/>
            </p:custDataLst>
          </p:nvPr>
        </p:nvSpPr>
        <p:spPr>
          <a:xfrm>
            <a:off x="3094355" y="3289708"/>
            <a:ext cx="1517650" cy="1245344"/>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商机管理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赢单管理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Rectangle: Rounded Corners 92"/>
          <p:cNvSpPr/>
          <p:nvPr>
            <p:custDataLst>
              <p:tags r:id="rId13"/>
            </p:custDataLst>
          </p:nvPr>
        </p:nvSpPr>
        <p:spPr>
          <a:xfrm>
            <a:off x="5299075" y="3317186"/>
            <a:ext cx="1517650" cy="1217866"/>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订单响应</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交期答复</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订单履行</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物流运输</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工程交付</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验收开票</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销售回款</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9" name="Rectangle: Rounded Corners 92"/>
          <p:cNvSpPr/>
          <p:nvPr>
            <p:custDataLst>
              <p:tags r:id="rId14"/>
            </p:custDataLst>
          </p:nvPr>
        </p:nvSpPr>
        <p:spPr>
          <a:xfrm>
            <a:off x="7424310" y="3291613"/>
            <a:ext cx="1517650" cy="1243439"/>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客户关系</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服务响应</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服务质量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30" name="组合 29"/>
          <p:cNvGrpSpPr/>
          <p:nvPr/>
        </p:nvGrpSpPr>
        <p:grpSpPr>
          <a:xfrm>
            <a:off x="3279775" y="4668954"/>
            <a:ext cx="2399665" cy="957580"/>
            <a:chOff x="5165" y="6545"/>
            <a:chExt cx="3779" cy="1508"/>
          </a:xfrm>
        </p:grpSpPr>
        <p:sp>
          <p:nvSpPr>
            <p:cNvPr id="31" name="Rectangle: Rounded Corners 92"/>
            <p:cNvSpPr/>
            <p:nvPr>
              <p:custDataLst>
                <p:tags r:id="rId15"/>
              </p:custDataLst>
            </p:nvPr>
          </p:nvSpPr>
          <p:spPr>
            <a:xfrm>
              <a:off x="5165" y="7109"/>
              <a:ext cx="3281" cy="944"/>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基于市场需求的产品匹配性指标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Helvetica"/>
                </a:rPr>
                <a:t>产品推出周期</a:t>
              </a:r>
              <a:endParaRPr kumimoji="0" lang="en-US" altLang="zh-CN" sz="106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研发项目转化率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32" name="组合 31"/>
            <p:cNvGrpSpPr/>
            <p:nvPr/>
          </p:nvGrpSpPr>
          <p:grpSpPr>
            <a:xfrm>
              <a:off x="5374" y="6545"/>
              <a:ext cx="3570" cy="485"/>
              <a:chOff x="1004" y="6486"/>
              <a:chExt cx="3570" cy="485"/>
            </a:xfrm>
          </p:grpSpPr>
          <p:sp>
            <p:nvSpPr>
              <p:cNvPr id="33" name="文本框 4"/>
              <p:cNvSpPr txBox="1"/>
              <p:nvPr>
                <p:custDataLst>
                  <p:tags r:id="rId16"/>
                </p:custDataLst>
              </p:nvPr>
            </p:nvSpPr>
            <p:spPr>
              <a:xfrm>
                <a:off x="1471" y="6486"/>
                <a:ext cx="3103"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A1.</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 协同打造适销产品</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34" name="图片 33"/>
              <p:cNvPicPr>
                <a:picLocks noChangeAspect="1"/>
              </p:cNvPicPr>
              <p:nvPr>
                <p:custDataLst>
                  <p:tags r:id="rId17"/>
                </p:custDataLst>
              </p:nvPr>
            </p:nvPicPr>
            <p:blipFill>
              <a:blip r:embed="rId18"/>
              <a:stretch>
                <a:fillRect/>
              </a:stretch>
            </p:blipFill>
            <p:spPr>
              <a:xfrm>
                <a:off x="1004" y="6534"/>
                <a:ext cx="470" cy="397"/>
              </a:xfrm>
              <a:prstGeom prst="rect">
                <a:avLst/>
              </a:prstGeom>
            </p:spPr>
          </p:pic>
        </p:grpSp>
      </p:grpSp>
      <p:grpSp>
        <p:nvGrpSpPr>
          <p:cNvPr id="35" name="组合 34"/>
          <p:cNvGrpSpPr/>
          <p:nvPr/>
        </p:nvGrpSpPr>
        <p:grpSpPr>
          <a:xfrm>
            <a:off x="7092950" y="4642284"/>
            <a:ext cx="2068195" cy="970280"/>
            <a:chOff x="8391" y="6581"/>
            <a:chExt cx="3257" cy="1528"/>
          </a:xfrm>
        </p:grpSpPr>
        <p:pic>
          <p:nvPicPr>
            <p:cNvPr id="36" name="图片 35"/>
            <p:cNvPicPr>
              <a:picLocks noChangeAspect="1"/>
            </p:cNvPicPr>
            <p:nvPr>
              <p:custDataLst>
                <p:tags r:id="rId19"/>
              </p:custDataLst>
            </p:nvPr>
          </p:nvPicPr>
          <p:blipFill>
            <a:blip r:embed="rId20"/>
            <a:stretch>
              <a:fillRect/>
            </a:stretch>
          </p:blipFill>
          <p:spPr>
            <a:xfrm>
              <a:off x="8391" y="6593"/>
              <a:ext cx="485" cy="485"/>
            </a:xfrm>
            <a:prstGeom prst="rect">
              <a:avLst/>
            </a:prstGeom>
          </p:spPr>
        </p:pic>
        <p:sp>
          <p:nvSpPr>
            <p:cNvPr id="37" name="文本框 4"/>
            <p:cNvSpPr txBox="1"/>
            <p:nvPr>
              <p:custDataLst>
                <p:tags r:id="rId21"/>
              </p:custDataLst>
            </p:nvPr>
          </p:nvSpPr>
          <p:spPr>
            <a:xfrm>
              <a:off x="9308" y="6581"/>
              <a:ext cx="1972"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A2. </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产销协同</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8" name="Rectangle: Rounded Corners 92"/>
            <p:cNvSpPr/>
            <p:nvPr>
              <p:custDataLst>
                <p:tags r:id="rId22"/>
              </p:custDataLst>
            </p:nvPr>
          </p:nvSpPr>
          <p:spPr>
            <a:xfrm>
              <a:off x="8391" y="7165"/>
              <a:ext cx="3257" cy="944"/>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需求预测准确度</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及时交付率（</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OTD</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库存周转天数</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grpSp>
        <p:nvGrpSpPr>
          <p:cNvPr id="39" name="组合 38"/>
          <p:cNvGrpSpPr/>
          <p:nvPr/>
        </p:nvGrpSpPr>
        <p:grpSpPr>
          <a:xfrm>
            <a:off x="5088890" y="5635424"/>
            <a:ext cx="2278380" cy="1050925"/>
            <a:chOff x="8060" y="6412"/>
            <a:chExt cx="3588" cy="1655"/>
          </a:xfrm>
        </p:grpSpPr>
        <p:sp>
          <p:nvSpPr>
            <p:cNvPr id="40" name="文本框 4"/>
            <p:cNvSpPr txBox="1"/>
            <p:nvPr>
              <p:custDataLst>
                <p:tags r:id="rId23"/>
              </p:custDataLst>
            </p:nvPr>
          </p:nvSpPr>
          <p:spPr>
            <a:xfrm>
              <a:off x="8803" y="6412"/>
              <a:ext cx="2820" cy="485"/>
            </a:xfrm>
            <a:prstGeom prst="rect">
              <a:avLst/>
            </a:prstGeom>
            <a:noFill/>
          </p:spPr>
          <p:txBody>
            <a:bodyPr wrap="none" rtlCol="0">
              <a:spAutoFit/>
            </a:bodyPr>
            <a:lstStyle/>
            <a:p>
              <a:pPr marL="0" marR="0" lvl="0" indent="0" defTabSz="12192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A3. </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rPr>
                <a:t>高水平销售团队</a:t>
              </a:r>
              <a:endPar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1" name="Rectangle: Rounded Corners 92"/>
            <p:cNvSpPr/>
            <p:nvPr>
              <p:custDataLst>
                <p:tags r:id="rId24"/>
              </p:custDataLst>
            </p:nvPr>
          </p:nvSpPr>
          <p:spPr>
            <a:xfrm>
              <a:off x="8060" y="6996"/>
              <a:ext cx="3588" cy="1071"/>
            </a:xfrm>
            <a:prstGeom prst="roundRect">
              <a:avLst>
                <a:gd name="adj" fmla="val 0"/>
              </a:avLst>
            </a:prstGeom>
            <a:solidFill>
              <a:srgbClr val="FFFFFF">
                <a:lumMod val="85000"/>
              </a:srgbClr>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销售人员画像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销售技能培训</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招聘人员适岗率</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0" marR="0" lvl="0" indent="0" defTabSz="898525" eaLnBrk="0" fontAlgn="ctr" latinLnBrk="0" hangingPunct="0">
                <a:lnSpc>
                  <a:spcPct val="100000"/>
                </a:lnSpc>
                <a:spcBef>
                  <a:spcPct val="0"/>
                </a:spcBef>
                <a:spcAft>
                  <a:spcPct val="0"/>
                </a:spcAft>
                <a:buClrTx/>
                <a:buSzTx/>
                <a:buFontTx/>
                <a:buNone/>
                <a:defRPr/>
              </a:pP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CRM</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应用活跃率</a:t>
              </a:r>
              <a:endPar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pic>
        <p:nvPicPr>
          <p:cNvPr id="42" name="图片 41"/>
          <p:cNvPicPr>
            <a:picLocks noChangeAspect="1"/>
          </p:cNvPicPr>
          <p:nvPr>
            <p:custDataLst>
              <p:tags r:id="rId25"/>
            </p:custDataLst>
          </p:nvPr>
        </p:nvPicPr>
        <p:blipFill>
          <a:blip r:embed="rId26"/>
          <a:stretch>
            <a:fillRect/>
          </a:stretch>
        </p:blipFill>
        <p:spPr>
          <a:xfrm>
            <a:off x="5193665" y="5706804"/>
            <a:ext cx="339090" cy="308610"/>
          </a:xfrm>
          <a:prstGeom prst="rect">
            <a:avLst/>
          </a:prstGeom>
        </p:spPr>
      </p:pic>
      <p:sp>
        <p:nvSpPr>
          <p:cNvPr id="43" name="箭头: 下 42"/>
          <p:cNvSpPr/>
          <p:nvPr/>
        </p:nvSpPr>
        <p:spPr bwMode="auto">
          <a:xfrm>
            <a:off x="5494919" y="2189818"/>
            <a:ext cx="1129553" cy="431804"/>
          </a:xfrm>
          <a:prstGeom prst="downArrow">
            <a:avLst/>
          </a:prstGeom>
          <a:solidFill>
            <a:srgbClr val="10AFBC"/>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44" name="Rectangle: Rounded Corners 92"/>
          <p:cNvSpPr/>
          <p:nvPr>
            <p:custDataLst>
              <p:tags r:id="rId27"/>
            </p:custDataLst>
          </p:nvPr>
        </p:nvSpPr>
        <p:spPr>
          <a:xfrm>
            <a:off x="5264475" y="1805394"/>
            <a:ext cx="1644528" cy="331787"/>
          </a:xfrm>
          <a:prstGeom prst="roundRect">
            <a:avLst>
              <a:gd name="adj" fmla="val 0"/>
            </a:avLst>
          </a:prstGeom>
          <a:solidFill>
            <a:srgbClr val="CEEAEE"/>
          </a:solidFill>
          <a:ln w="19050" cap="flat" cmpd="sng" algn="ctr">
            <a:noFill/>
            <a:prstDash val="solid"/>
          </a:ln>
          <a:effectLst/>
        </p:spPr>
        <p:txBody>
          <a:bodyPr spcFirstLastPara="0" vert="horz" wrap="square" lIns="16972" tIns="16972" rIns="16972" bIns="16972" numCol="1" spcCol="1270" anchor="ctr" anchorCtr="0">
            <a:noAutofit/>
          </a:bodyPr>
          <a:lstStyle/>
          <a:p>
            <a:pPr marL="0" marR="0" lvl="0" indent="0" algn="ctr" defTabSz="898525" eaLnBrk="0" fontAlgn="ctr" latinLnBrk="0" hangingPunct="0">
              <a:lnSpc>
                <a:spcPct val="100000"/>
              </a:lnSpc>
              <a:spcBef>
                <a:spcPct val="0"/>
              </a:spcBef>
              <a:spcAft>
                <a:spcPct val="0"/>
              </a:spcAft>
              <a:buClrTx/>
              <a:buSzTx/>
              <a:buFontTx/>
              <a:buNone/>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多维度的收入</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a:t>
            </a:r>
            <a:r>
              <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回款分析</a:t>
            </a:r>
            <a:endParaRPr kumimoji="0" lang="zh-CN"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cxnSp>
        <p:nvCxnSpPr>
          <p:cNvPr id="45" name="直接连接符 44"/>
          <p:cNvCxnSpPr>
            <a:stCxn id="4" idx="2"/>
            <a:endCxn id="6" idx="0"/>
          </p:cNvCxnSpPr>
          <p:nvPr/>
        </p:nvCxnSpPr>
        <p:spPr bwMode="auto">
          <a:xfrm>
            <a:off x="6087038" y="1166952"/>
            <a:ext cx="5007" cy="314541"/>
          </a:xfrm>
          <a:prstGeom prst="line">
            <a:avLst/>
          </a:prstGeom>
          <a:solidFill>
            <a:srgbClr val="5B9BD5"/>
          </a:solidFill>
          <a:ln w="9525" cap="flat" cmpd="sng" algn="ctr">
            <a:solidFill>
              <a:srgbClr val="000000"/>
            </a:solidFill>
            <a:prstDash val="solid"/>
            <a:round/>
            <a:headEnd type="none" w="med" len="med"/>
            <a:tailEnd type="none" w="med" len="med"/>
          </a:ln>
        </p:spPr>
      </p:cxnSp>
      <p:sp>
        <p:nvSpPr>
          <p:cNvPr id="46" name="Rectangle: Rounded Corners 92"/>
          <p:cNvSpPr/>
          <p:nvPr>
            <p:custDataLst>
              <p:tags r:id="rId28"/>
            </p:custDataLst>
          </p:nvPr>
        </p:nvSpPr>
        <p:spPr>
          <a:xfrm>
            <a:off x="9704460" y="3305966"/>
            <a:ext cx="1517650" cy="1229086"/>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准直销客户画像</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171450" marR="0" lvl="0" indent="-171450" defTabSz="898525" eaLnBrk="0" fontAlgn="ctr"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渠道管理</a:t>
            </a:r>
            <a:endParaRPr kumimoji="0" lang="en-US" altLang="zh-CN" sz="106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grpSp>
        <p:nvGrpSpPr>
          <p:cNvPr id="47" name="object 41"/>
          <p:cNvGrpSpPr/>
          <p:nvPr/>
        </p:nvGrpSpPr>
        <p:grpSpPr>
          <a:xfrm>
            <a:off x="1869069" y="4315570"/>
            <a:ext cx="8435340" cy="1917065"/>
            <a:chOff x="494779" y="2537840"/>
            <a:chExt cx="8435479" cy="1030732"/>
          </a:xfrm>
        </p:grpSpPr>
        <p:pic>
          <p:nvPicPr>
            <p:cNvPr id="48" name="object 43"/>
            <p:cNvPicPr/>
            <p:nvPr>
              <p:custDataLst>
                <p:tags r:id="rId29"/>
              </p:custDataLst>
            </p:nvPr>
          </p:nvPicPr>
          <p:blipFill>
            <a:blip r:embed="rId30" cstate="print"/>
            <a:stretch>
              <a:fillRect/>
            </a:stretch>
          </p:blipFill>
          <p:spPr>
            <a:xfrm>
              <a:off x="494779" y="2537840"/>
              <a:ext cx="1086370" cy="1030732"/>
            </a:xfrm>
            <a:prstGeom prst="rect">
              <a:avLst/>
            </a:prstGeom>
          </p:spPr>
        </p:pic>
        <p:pic>
          <p:nvPicPr>
            <p:cNvPr id="49" name="object 44"/>
            <p:cNvPicPr/>
            <p:nvPr>
              <p:custDataLst>
                <p:tags r:id="rId31"/>
              </p:custDataLst>
            </p:nvPr>
          </p:nvPicPr>
          <p:blipFill>
            <a:blip r:embed="rId32" cstate="print"/>
            <a:stretch>
              <a:fillRect/>
            </a:stretch>
          </p:blipFill>
          <p:spPr>
            <a:xfrm>
              <a:off x="7843901" y="2537840"/>
              <a:ext cx="1086357" cy="1030732"/>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营销六要素</a:t>
            </a:r>
            <a:r>
              <a:rPr lang="en-US" altLang="zh-CN" dirty="0"/>
              <a:t>-</a:t>
            </a:r>
            <a:r>
              <a:rPr lang="zh-CN" altLang="en-US" dirty="0"/>
              <a:t>国际</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椭圆 3"/>
          <p:cNvSpPr/>
          <p:nvPr/>
        </p:nvSpPr>
        <p:spPr>
          <a:xfrm>
            <a:off x="3503897" y="1743739"/>
            <a:ext cx="3821462" cy="3583172"/>
          </a:xfrm>
          <a:prstGeom prst="ellipse">
            <a:avLst/>
          </a:prstGeom>
          <a:solidFill>
            <a:srgbClr val="FFFFFF">
              <a:lumMod val="85000"/>
            </a:srgbClr>
          </a:solidFill>
          <a:ln w="12700" cap="flat">
            <a:no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营销管理</a:t>
            </a:r>
            <a:endPar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PI-PA-PB</a:t>
            </a: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endPar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（国际营销六要素）</a:t>
            </a:r>
            <a:endPar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5" name="椭圆 4"/>
          <p:cNvSpPr/>
          <p:nvPr/>
        </p:nvSpPr>
        <p:spPr>
          <a:xfrm>
            <a:off x="4988689" y="1194393"/>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行业</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6" name="椭圆 5"/>
          <p:cNvSpPr/>
          <p:nvPr/>
        </p:nvSpPr>
        <p:spPr>
          <a:xfrm>
            <a:off x="6742175" y="2076895"/>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客户</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7" name="椭圆 6"/>
          <p:cNvSpPr/>
          <p:nvPr/>
        </p:nvSpPr>
        <p:spPr>
          <a:xfrm>
            <a:off x="3197991" y="2128285"/>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产品</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8" name="椭圆 7"/>
          <p:cNvSpPr/>
          <p:nvPr/>
        </p:nvSpPr>
        <p:spPr>
          <a:xfrm>
            <a:off x="6829895" y="3772787"/>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区域</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9" name="椭圆 8"/>
          <p:cNvSpPr/>
          <p:nvPr/>
        </p:nvSpPr>
        <p:spPr>
          <a:xfrm>
            <a:off x="3197990" y="3850760"/>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项目</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0" name="椭圆 9"/>
          <p:cNvSpPr/>
          <p:nvPr/>
        </p:nvSpPr>
        <p:spPr>
          <a:xfrm>
            <a:off x="5137546" y="4839587"/>
            <a:ext cx="907063" cy="882502"/>
          </a:xfrm>
          <a:prstGeom prst="ellipse">
            <a:avLst/>
          </a:prstGeom>
          <a:solidFill>
            <a:srgbClr val="029E9A"/>
          </a:solidFill>
          <a:ln w="12700" cap="flat">
            <a:solidFill>
              <a:srgbClr val="009F9A"/>
            </a:solidFill>
            <a:prstDash val="solid"/>
            <a:miter lim="800000"/>
          </a:ln>
          <a:effectLst/>
        </p:spPr>
        <p:txBody>
          <a:bodyPr rot="0" spcFirstLastPara="1" vertOverflow="overflow" horzOverflow="overflow" vert="horz" wrap="square" lIns="0" tIns="0" rIns="0" bIns="0"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品牌</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1" name="文本框 10"/>
          <p:cNvSpPr txBox="1"/>
          <p:nvPr/>
        </p:nvSpPr>
        <p:spPr>
          <a:xfrm>
            <a:off x="6044609" y="905078"/>
            <a:ext cx="4380614" cy="46164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根据应用划分，目前比较显性的是传媒和体育行业，原来细分行业比较多，实践发现难以区分</a:t>
            </a:r>
            <a:endPar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2" name="文本框 11"/>
          <p:cNvSpPr txBox="1"/>
          <p:nvPr/>
        </p:nvSpPr>
        <p:spPr>
          <a:xfrm>
            <a:off x="7864548" y="2128285"/>
            <a:ext cx="2911549" cy="69215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准直销：直接面对的客户，与渠道一直协作的客户</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渠道：工程商、集成商</a:t>
            </a:r>
            <a:endPar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3" name="文本框 12"/>
          <p:cNvSpPr txBox="1"/>
          <p:nvPr/>
        </p:nvSpPr>
        <p:spPr>
          <a:xfrm>
            <a:off x="7937204" y="3959249"/>
            <a:ext cx="2911549" cy="23050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国际：</a:t>
            </a: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8</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大区域</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4" name="文本框 13"/>
          <p:cNvSpPr txBox="1"/>
          <p:nvPr/>
        </p:nvSpPr>
        <p:spPr>
          <a:xfrm>
            <a:off x="6369788" y="5326911"/>
            <a:ext cx="2911549" cy="23050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2</a:t>
            </a: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大品牌：洲明、蓝普</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5" name="文本框 14"/>
          <p:cNvSpPr txBox="1"/>
          <p:nvPr/>
        </p:nvSpPr>
        <p:spPr>
          <a:xfrm>
            <a:off x="817822" y="4214037"/>
            <a:ext cx="2237266" cy="69215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大型项目以项目制的方式开展，目前的项目管理主要聚集在销售端</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16" name="文本框 15"/>
          <p:cNvSpPr txBox="1"/>
          <p:nvPr/>
        </p:nvSpPr>
        <p:spPr>
          <a:xfrm>
            <a:off x="1228946" y="2012868"/>
            <a:ext cx="1790701" cy="923290"/>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分销标准品</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固装</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租赁</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解决方案</a:t>
            </a:r>
            <a:endParaRPr kumimoji="0" lang="en-US" altLang="zh-CN" sz="15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A</a:t>
            </a:r>
            <a:r>
              <a:rPr lang="zh-CN" altLang="en-US" kern="0" dirty="0">
                <a:solidFill>
                  <a:srgbClr val="000000"/>
                </a:solidFill>
                <a:cs typeface="Helvetica"/>
                <a:sym typeface="+mn-ea"/>
              </a:rPr>
              <a:t>、销服体系经营分析</a:t>
            </a:r>
            <a:r>
              <a:rPr lang="en-US" altLang="zh-CN" kern="0" dirty="0">
                <a:solidFill>
                  <a:srgbClr val="000000"/>
                </a:solidFill>
                <a:cs typeface="Helvetica"/>
                <a:sym typeface="+mn-ea"/>
              </a:rPr>
              <a:t>-</a:t>
            </a:r>
            <a:r>
              <a:rPr lang="zh-CN" altLang="en-US" kern="0" dirty="0">
                <a:solidFill>
                  <a:srgbClr val="000000"/>
                </a:solidFill>
                <a:cs typeface="Helvetica"/>
                <a:sym typeface="+mn-ea"/>
              </a:rPr>
              <a:t>国际</a:t>
            </a:r>
            <a:r>
              <a:rPr lang="en-US" altLang="zh-CN" kern="0" dirty="0">
                <a:solidFill>
                  <a:srgbClr val="000000"/>
                </a:solidFill>
                <a:cs typeface="Helvetica"/>
                <a:sym typeface="+mn-ea"/>
              </a:rPr>
              <a:t>-</a:t>
            </a:r>
            <a:r>
              <a:rPr lang="zh-CN" altLang="en-US" kern="0" dirty="0">
                <a:solidFill>
                  <a:srgbClr val="000000"/>
                </a:solidFill>
                <a:cs typeface="Helvetica"/>
                <a:sym typeface="+mn-ea"/>
              </a:rPr>
              <a:t>待讨论</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cxnSp>
        <p:nvCxnSpPr>
          <p:cNvPr id="4" name="直接连接符 3"/>
          <p:cNvCxnSpPr/>
          <p:nvPr/>
        </p:nvCxnSpPr>
        <p:spPr>
          <a:xfrm>
            <a:off x="10788327" y="2213589"/>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cxnSp>
        <p:nvCxnSpPr>
          <p:cNvPr id="5" name="直接连接符 4"/>
          <p:cNvCxnSpPr/>
          <p:nvPr/>
        </p:nvCxnSpPr>
        <p:spPr>
          <a:xfrm>
            <a:off x="9183004" y="2189648"/>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cxnSp>
        <p:nvCxnSpPr>
          <p:cNvPr id="6" name="直接连接符 5"/>
          <p:cNvCxnSpPr/>
          <p:nvPr/>
        </p:nvCxnSpPr>
        <p:spPr>
          <a:xfrm>
            <a:off x="7347409" y="2260283"/>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cxnSp>
        <p:nvCxnSpPr>
          <p:cNvPr id="7" name="直接连接符 6"/>
          <p:cNvCxnSpPr/>
          <p:nvPr/>
        </p:nvCxnSpPr>
        <p:spPr>
          <a:xfrm>
            <a:off x="5715503" y="2301535"/>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cxnSp>
        <p:nvCxnSpPr>
          <p:cNvPr id="8" name="直接连接符 7"/>
          <p:cNvCxnSpPr/>
          <p:nvPr/>
        </p:nvCxnSpPr>
        <p:spPr>
          <a:xfrm>
            <a:off x="3926502" y="2301535"/>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sp>
        <p:nvSpPr>
          <p:cNvPr id="9" name="等腰三角形 8"/>
          <p:cNvSpPr/>
          <p:nvPr/>
        </p:nvSpPr>
        <p:spPr>
          <a:xfrm>
            <a:off x="1340808" y="941800"/>
            <a:ext cx="10234999" cy="925659"/>
          </a:xfrm>
          <a:prstGeom prst="triangle">
            <a:avLst>
              <a:gd name="adj" fmla="val 49662"/>
            </a:avLst>
          </a:prstGeom>
          <a:solidFill>
            <a:srgbClr val="0C7F8A"/>
          </a:solidFill>
          <a:ln w="6350">
            <a:solidFill>
              <a:srgbClr val="5B9BD5"/>
            </a:solidFill>
            <a:miter lim="800000"/>
          </a:ln>
          <a:effectLst/>
        </p:spPr>
        <p:txBody>
          <a:bodyPr lIns="0" tIns="0" rIns="0" bIns="0" anchor="t">
            <a:noAutofit/>
          </a:bodyPr>
          <a:lstStyle/>
          <a:p>
            <a:pPr algn="ctr" defTabSz="899160">
              <a:defRPr/>
            </a:pPr>
            <a:r>
              <a:rPr lang="zh-CN" altLang="en-US" sz="1500" b="1" dirty="0">
                <a:solidFill>
                  <a:srgbClr val="FFFFFF"/>
                </a:solidFill>
                <a:latin typeface="微软雅黑" panose="020B0503020204020204" pitchFamily="34" charset="-122"/>
                <a:ea typeface="微软雅黑" panose="020B0503020204020204" pitchFamily="34" charset="-122"/>
                <a:cs typeface="Helvetica"/>
              </a:rPr>
              <a:t>显示光彩世界，照明幸福生活</a:t>
            </a:r>
            <a:endParaRPr lang="en-US" altLang="zh-CN" sz="1500" b="1" dirty="0">
              <a:solidFill>
                <a:srgbClr val="FFFFFF"/>
              </a:solidFill>
              <a:latin typeface="微软雅黑" panose="020B0503020204020204" pitchFamily="34" charset="-122"/>
              <a:ea typeface="微软雅黑" panose="020B0503020204020204" pitchFamily="34" charset="-122"/>
              <a:cs typeface="Helvetica"/>
            </a:endParaRPr>
          </a:p>
          <a:p>
            <a:pPr algn="ctr" defTabSz="899160">
              <a:defRPr/>
            </a:pPr>
            <a:r>
              <a:rPr lang="zh-CN" altLang="en-US" sz="1500" b="1" dirty="0">
                <a:solidFill>
                  <a:srgbClr val="FFFFFF"/>
                </a:solidFill>
                <a:latin typeface="微软雅黑" panose="020B0503020204020204" pitchFamily="34" charset="-122"/>
                <a:ea typeface="微软雅黑" panose="020B0503020204020204" pitchFamily="34" charset="-122"/>
                <a:cs typeface="Helvetica"/>
              </a:rPr>
              <a:t>全球</a:t>
            </a:r>
            <a:r>
              <a:rPr lang="en-US" altLang="zh-CN" sz="1500" b="1" dirty="0">
                <a:solidFill>
                  <a:srgbClr val="FFFFFF"/>
                </a:solidFill>
                <a:latin typeface="微软雅黑" panose="020B0503020204020204" pitchFamily="34" charset="-122"/>
                <a:ea typeface="微软雅黑" panose="020B0503020204020204" pitchFamily="34" charset="-122"/>
                <a:cs typeface="Helvetica"/>
              </a:rPr>
              <a:t>LED</a:t>
            </a:r>
            <a:r>
              <a:rPr lang="zh-CN" altLang="en-US" sz="1500" b="1" dirty="0">
                <a:solidFill>
                  <a:srgbClr val="FFFFFF"/>
                </a:solidFill>
                <a:latin typeface="微软雅黑" panose="020B0503020204020204" pitchFamily="34" charset="-122"/>
                <a:ea typeface="微软雅黑" panose="020B0503020204020204" pitchFamily="34" charset="-122"/>
                <a:cs typeface="Helvetica"/>
              </a:rPr>
              <a:t>光显行业的引领者</a:t>
            </a:r>
            <a:endParaRPr lang="en-US" altLang="zh-CN" sz="15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95952" y="1142625"/>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使命愿景</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cxnSp>
        <p:nvCxnSpPr>
          <p:cNvPr id="11" name="直接连接符 10"/>
          <p:cNvCxnSpPr/>
          <p:nvPr/>
        </p:nvCxnSpPr>
        <p:spPr>
          <a:xfrm>
            <a:off x="2259809" y="2149135"/>
            <a:ext cx="0" cy="1514564"/>
          </a:xfrm>
          <a:prstGeom prst="line">
            <a:avLst/>
          </a:prstGeom>
          <a:solidFill>
            <a:srgbClr val="5B9BD5"/>
          </a:solidFill>
          <a:ln w="38100" cap="flat" cmpd="sng" algn="ctr">
            <a:solidFill>
              <a:srgbClr val="029E9A"/>
            </a:solidFill>
            <a:prstDash val="solid"/>
            <a:round/>
            <a:headEnd type="none" w="med" len="med"/>
            <a:tailEnd type="none" w="med" len="med"/>
          </a:ln>
        </p:spPr>
      </p:cxnSp>
      <p:sp>
        <p:nvSpPr>
          <p:cNvPr id="12" name="矩形 11"/>
          <p:cNvSpPr/>
          <p:nvPr>
            <p:custDataLst>
              <p:tags r:id="rId1"/>
            </p:custDataLst>
          </p:nvPr>
        </p:nvSpPr>
        <p:spPr>
          <a:xfrm>
            <a:off x="1462471" y="1922132"/>
            <a:ext cx="10028268" cy="530489"/>
          </a:xfrm>
          <a:prstGeom prst="rect">
            <a:avLst/>
          </a:prstGeom>
          <a:solidFill>
            <a:srgbClr val="11AFBB"/>
          </a:solidFill>
          <a:ln w="9525">
            <a:noFill/>
            <a:miter lim="800000"/>
          </a:ln>
        </p:spPr>
        <p:txBody>
          <a:bodyPr anchor="ctr"/>
          <a:lstStyle/>
          <a:p>
            <a:pPr algn="ctr" defTabSz="899160">
              <a:defRPr/>
            </a:pPr>
            <a:r>
              <a:rPr lang="zh-CN" altLang="en-US" sz="1500" b="1" dirty="0">
                <a:solidFill>
                  <a:srgbClr val="000000"/>
                </a:solidFill>
                <a:latin typeface="微软雅黑" panose="020B0503020204020204" pitchFamily="34" charset="-122"/>
                <a:ea typeface="微软雅黑" panose="020B0503020204020204" pitchFamily="34" charset="-122"/>
                <a:cs typeface="Helvetica"/>
              </a:rPr>
              <a:t>全面拥抱</a:t>
            </a:r>
            <a:r>
              <a:rPr lang="en-US" altLang="zh-CN" sz="1500" b="1" dirty="0">
                <a:solidFill>
                  <a:srgbClr val="000000"/>
                </a:solidFill>
                <a:latin typeface="微软雅黑" panose="020B0503020204020204" pitchFamily="34" charset="-122"/>
                <a:ea typeface="微软雅黑" panose="020B0503020204020204" pitchFamily="34" charset="-122"/>
                <a:cs typeface="Helvetica"/>
              </a:rPr>
              <a:t>AI</a:t>
            </a:r>
            <a:r>
              <a:rPr lang="zh-CN" altLang="en-US" sz="1500" b="1" dirty="0">
                <a:solidFill>
                  <a:srgbClr val="000000"/>
                </a:solidFill>
                <a:latin typeface="微软雅黑" panose="020B0503020204020204" pitchFamily="34" charset="-122"/>
                <a:ea typeface="微软雅黑" panose="020B0503020204020204" pitchFamily="34" charset="-122"/>
                <a:cs typeface="Helvetica"/>
              </a:rPr>
              <a:t>，推动</a:t>
            </a:r>
            <a:r>
              <a:rPr lang="en-US" altLang="zh-CN" sz="1500" b="1" dirty="0">
                <a:solidFill>
                  <a:srgbClr val="000000"/>
                </a:solidFill>
                <a:latin typeface="微软雅黑" panose="020B0503020204020204" pitchFamily="34" charset="-122"/>
                <a:ea typeface="微软雅黑" panose="020B0503020204020204" pitchFamily="34" charset="-122"/>
                <a:cs typeface="Helvetica"/>
              </a:rPr>
              <a:t>"LED+AI"</a:t>
            </a:r>
            <a:r>
              <a:rPr lang="zh-CN" altLang="en-US" sz="1500" b="1" dirty="0">
                <a:solidFill>
                  <a:srgbClr val="000000"/>
                </a:solidFill>
                <a:latin typeface="微软雅黑" panose="020B0503020204020204" pitchFamily="34" charset="-122"/>
                <a:ea typeface="微软雅黑" panose="020B0503020204020204" pitchFamily="34" charset="-122"/>
                <a:cs typeface="Helvetica"/>
              </a:rPr>
              <a:t>深度融合</a:t>
            </a:r>
            <a:endParaRPr lang="zh-CN" altLang="en-US" sz="1500" b="1" kern="0" dirty="0">
              <a:solidFill>
                <a:prstClr val="white"/>
              </a:solidFill>
              <a:latin typeface="微软雅黑" panose="020B0503020204020204" pitchFamily="34" charset="-122"/>
              <a:ea typeface="微软雅黑" panose="020B0503020204020204" pitchFamily="34" charset="-122"/>
              <a:cs typeface="Helvetica"/>
            </a:endParaRPr>
          </a:p>
        </p:txBody>
      </p:sp>
      <p:sp>
        <p:nvSpPr>
          <p:cNvPr id="13" name="文本框 12"/>
          <p:cNvSpPr txBox="1"/>
          <p:nvPr/>
        </p:nvSpPr>
        <p:spPr>
          <a:xfrm>
            <a:off x="95952" y="1977955"/>
            <a:ext cx="975701"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战略方向及目标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4" name="矩形 13"/>
          <p:cNvSpPr/>
          <p:nvPr/>
        </p:nvSpPr>
        <p:spPr>
          <a:xfrm>
            <a:off x="1525231" y="3293116"/>
            <a:ext cx="1486763"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签单数量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存量订单数量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出货数量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年累计签单数量</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5" name="矩形 14"/>
          <p:cNvSpPr/>
          <p:nvPr/>
        </p:nvSpPr>
        <p:spPr>
          <a:xfrm>
            <a:off x="4734707" y="3293116"/>
            <a:ext cx="1678991"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主营业务成本</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直接费用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样展品及借用费</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资金占用成本</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资产减值损失</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资产减值损失</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库存</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总人力成本</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研发费用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融合费用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职能平台费用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6" name="矩形 15"/>
          <p:cNvSpPr/>
          <p:nvPr/>
        </p:nvSpPr>
        <p:spPr>
          <a:xfrm>
            <a:off x="1525232" y="5384496"/>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同期对比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环比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目标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预算对比</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行业对标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国际</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行业对标</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国内     </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排名</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17" name="文本框 16"/>
          <p:cNvSpPr txBox="1"/>
          <p:nvPr/>
        </p:nvSpPr>
        <p:spPr>
          <a:xfrm>
            <a:off x="162230" y="3741500"/>
            <a:ext cx="1127052"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指标细化</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维度</a:t>
            </a:r>
            <a:r>
              <a:rPr lang="en-US" altLang="zh-CN" sz="12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kern="0" dirty="0">
                <a:solidFill>
                  <a:prstClr val="black"/>
                </a:solidFill>
                <a:latin typeface="微软雅黑" panose="020B0503020204020204" pitchFamily="34" charset="-122"/>
                <a:ea typeface="微软雅黑" panose="020B0503020204020204" pitchFamily="34" charset="-122"/>
                <a:cs typeface="Helvetica"/>
              </a:rPr>
              <a:t>子指标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8" name="文本框 17"/>
          <p:cNvSpPr txBox="1"/>
          <p:nvPr/>
        </p:nvSpPr>
        <p:spPr>
          <a:xfrm>
            <a:off x="84438" y="5008866"/>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分析定位问题</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19" name="矩形 18"/>
          <p:cNvSpPr/>
          <p:nvPr/>
        </p:nvSpPr>
        <p:spPr>
          <a:xfrm>
            <a:off x="6626352" y="3287393"/>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毛利率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净利率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客诉毛利率影响</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0" name="矩形 19"/>
          <p:cNvSpPr/>
          <p:nvPr/>
        </p:nvSpPr>
        <p:spPr>
          <a:xfrm>
            <a:off x="8416164" y="3286986"/>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应收总额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应收逾期金额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成品库存金额</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成品库存周转率</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成品库龄分析</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人均签单</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人数</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人均毛利</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1" name="矩形 20"/>
          <p:cNvSpPr/>
          <p:nvPr/>
        </p:nvSpPr>
        <p:spPr>
          <a:xfrm>
            <a:off x="10099146" y="3278129"/>
            <a:ext cx="1426547"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100" kern="0" dirty="0">
                <a:solidFill>
                  <a:prstClr val="black"/>
                </a:solidFill>
                <a:latin typeface="微软雅黑" panose="020B0503020204020204" pitchFamily="34" charset="-122"/>
                <a:ea typeface="微软雅黑" panose="020B0503020204020204" pitchFamily="34" charset="-122"/>
                <a:cs typeface="Helvetica"/>
              </a:rPr>
              <a:t>逾期应收账款</a:t>
            </a:r>
            <a:endParaRPr lang="en-US" altLang="zh-CN" sz="1100" kern="0" dirty="0">
              <a:solidFill>
                <a:prstClr val="black"/>
              </a:solidFill>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呆滞库存</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2" name="文本框 21"/>
          <p:cNvSpPr txBox="1"/>
          <p:nvPr/>
        </p:nvSpPr>
        <p:spPr>
          <a:xfrm>
            <a:off x="162230" y="5850771"/>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管理报告</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3" name="矩形 22"/>
          <p:cNvSpPr/>
          <p:nvPr/>
        </p:nvSpPr>
        <p:spPr>
          <a:xfrm>
            <a:off x="1519045" y="6033283"/>
            <a:ext cx="10001843" cy="310646"/>
          </a:xfrm>
          <a:prstGeom prst="rect">
            <a:avLst/>
          </a:prstGeom>
          <a:solidFill>
            <a:srgbClr val="009F9A">
              <a:alpha val="60000"/>
            </a:srgbClr>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法人合并报表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管理合并报表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单体报表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管理报表</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专项报表</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4" name="矩形 23"/>
          <p:cNvSpPr/>
          <p:nvPr/>
        </p:nvSpPr>
        <p:spPr>
          <a:xfrm>
            <a:off x="1519044" y="6441699"/>
            <a:ext cx="10001843" cy="310646"/>
          </a:xfrm>
          <a:prstGeom prst="rect">
            <a:avLst/>
          </a:prstGeom>
          <a:solidFill>
            <a:srgbClr val="009F9A">
              <a:alpha val="60000"/>
            </a:srgbClr>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一报一会机制保障：通过指标</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报表进行问题诊断</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发现问题</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定位问题</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找举措</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验证改善</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形成闭环</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5" name="文本框 24"/>
          <p:cNvSpPr txBox="1"/>
          <p:nvPr/>
        </p:nvSpPr>
        <p:spPr>
          <a:xfrm>
            <a:off x="141672" y="6283958"/>
            <a:ext cx="1127052"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机制保障</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6" name="左中括号 25"/>
          <p:cNvSpPr/>
          <p:nvPr/>
        </p:nvSpPr>
        <p:spPr>
          <a:xfrm>
            <a:off x="1275504" y="2807269"/>
            <a:ext cx="179901" cy="3162543"/>
          </a:xfrm>
          <a:prstGeom prst="leftBracket">
            <a:avLst/>
          </a:prstGeom>
          <a:noFill/>
          <a:ln w="28575" cap="flat" cmpd="sng" algn="ctr">
            <a:solidFill>
              <a:srgbClr val="5B9BD5"/>
            </a:solidFill>
            <a:prstDash val="solid"/>
            <a:miter lim="800000"/>
          </a:ln>
          <a:effectLst/>
        </p:spPr>
        <p:txBody>
          <a:bodyPr rtlCol="0" anchor="ctr"/>
          <a:lstStyle/>
          <a:p>
            <a:pPr algn="ctr">
              <a:defRPr/>
            </a:pPr>
            <a:endParaRPr lang="zh-CN" altLang="en-US" kern="0">
              <a:solidFill>
                <a:prstClr val="black"/>
              </a:solidFill>
              <a:latin typeface="微软雅黑" panose="020B0503020204020204" pitchFamily="34" charset="-122"/>
              <a:ea typeface="微软雅黑" panose="020B0503020204020204" pitchFamily="34" charset="-122"/>
              <a:cs typeface="Helvetica"/>
            </a:endParaRPr>
          </a:p>
        </p:txBody>
      </p:sp>
      <p:sp>
        <p:nvSpPr>
          <p:cNvPr id="27" name="矩形 26"/>
          <p:cNvSpPr/>
          <p:nvPr/>
        </p:nvSpPr>
        <p:spPr>
          <a:xfrm>
            <a:off x="1515475" y="5701888"/>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市场管理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商机管理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销售执行</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售后管理</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客户持续经营</a:t>
            </a:r>
            <a:endPar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28" name="文本框 27"/>
          <p:cNvSpPr txBox="1"/>
          <p:nvPr/>
        </p:nvSpPr>
        <p:spPr>
          <a:xfrm>
            <a:off x="0" y="5546912"/>
            <a:ext cx="1410396" cy="275590"/>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价值链指标找根因</a:t>
            </a:r>
            <a:endParaRPr lang="en-US" altLang="zh-CN"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29" name="Rectangle 10"/>
          <p:cNvSpPr/>
          <p:nvPr/>
        </p:nvSpPr>
        <p:spPr>
          <a:xfrm>
            <a:off x="1525232" y="2683260"/>
            <a:ext cx="1498406"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机会</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0" name="Rectangle 10"/>
          <p:cNvSpPr/>
          <p:nvPr/>
        </p:nvSpPr>
        <p:spPr>
          <a:xfrm>
            <a:off x="3182139" y="2683260"/>
            <a:ext cx="1416936"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收入</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1" name="Rectangle 10"/>
          <p:cNvSpPr/>
          <p:nvPr/>
        </p:nvSpPr>
        <p:spPr>
          <a:xfrm>
            <a:off x="4925894" y="2683260"/>
            <a:ext cx="1487803"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投入</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2" name="Rectangle 10"/>
          <p:cNvSpPr/>
          <p:nvPr/>
        </p:nvSpPr>
        <p:spPr>
          <a:xfrm>
            <a:off x="6635963" y="2683260"/>
            <a:ext cx="1416936"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回报</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3" name="Rectangle 10"/>
          <p:cNvSpPr/>
          <p:nvPr/>
        </p:nvSpPr>
        <p:spPr>
          <a:xfrm>
            <a:off x="8425775" y="2671819"/>
            <a:ext cx="1416936"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效率</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4" name="Rectangle 10"/>
          <p:cNvSpPr/>
          <p:nvPr/>
        </p:nvSpPr>
        <p:spPr>
          <a:xfrm>
            <a:off x="10103952" y="2671819"/>
            <a:ext cx="1416936" cy="368300"/>
          </a:xfrm>
          <a:prstGeom prst="rect">
            <a:avLst/>
          </a:prstGeom>
          <a:solidFill>
            <a:srgbClr val="029E9A"/>
          </a:solidFill>
          <a:ln>
            <a:solidFill>
              <a:srgbClr val="029E9A"/>
            </a:solidFill>
          </a:ln>
          <a:effectLst/>
        </p:spPr>
        <p:txBody>
          <a:bodyPr vertOverflow="overflow" horzOverflow="overflow" vert="horz" wrap="square" lIns="0" r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rPr>
              <a:t>风险</a:t>
            </a: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5" name="矩形 34"/>
          <p:cNvSpPr/>
          <p:nvPr/>
        </p:nvSpPr>
        <p:spPr>
          <a:xfrm>
            <a:off x="3178118" y="3300549"/>
            <a:ext cx="1416936" cy="1715749"/>
          </a:xfrm>
          <a:prstGeom prst="rect">
            <a:avLst/>
          </a:prstGeom>
          <a:solidFill>
            <a:srgbClr val="CEEAEE"/>
          </a:solidFill>
          <a:ln w="25400" cap="flat" cmpd="sng" algn="ctr">
            <a:noFill/>
            <a:prstDash val="solid"/>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营业收入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增值服务收入</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NONE-TOP</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销售额及占比</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
        <p:nvSpPr>
          <p:cNvPr id="36" name="文本框 35"/>
          <p:cNvSpPr txBox="1"/>
          <p:nvPr/>
        </p:nvSpPr>
        <p:spPr>
          <a:xfrm>
            <a:off x="107586" y="2726579"/>
            <a:ext cx="1127052" cy="460375"/>
          </a:xfrm>
          <a:prstGeom prst="rect">
            <a:avLst/>
          </a:prstGeom>
          <a:noFill/>
        </p:spPr>
        <p:txBody>
          <a:bodyPr wrap="square" rtlCol="0">
            <a:spAutoFit/>
          </a:bodyPr>
          <a:lstStyle/>
          <a:p>
            <a:pPr>
              <a:defRPr/>
            </a:pPr>
            <a:r>
              <a:rPr lang="zh-CN" altLang="en-US" sz="1200" kern="0" dirty="0">
                <a:solidFill>
                  <a:prstClr val="black"/>
                </a:solidFill>
                <a:latin typeface="微软雅黑" panose="020B0503020204020204" pitchFamily="34" charset="-122"/>
                <a:ea typeface="微软雅黑" panose="020B0503020204020204" pitchFamily="34" charset="-122"/>
                <a:cs typeface="Helvetica"/>
              </a:rPr>
              <a:t>经营要素</a:t>
            </a:r>
            <a:r>
              <a:rPr lang="en-US" altLang="zh-CN" sz="1200" kern="0" dirty="0">
                <a:solidFill>
                  <a:prstClr val="black"/>
                </a:solidFill>
                <a:latin typeface="微软雅黑" panose="020B0503020204020204" pitchFamily="34" charset="-122"/>
                <a:ea typeface="微软雅黑" panose="020B0503020204020204" pitchFamily="34" charset="-122"/>
                <a:cs typeface="Helvetica"/>
              </a:rPr>
              <a:t>/</a:t>
            </a:r>
            <a:r>
              <a:rPr lang="zh-CN" altLang="en-US" sz="1200" kern="0" dirty="0">
                <a:solidFill>
                  <a:prstClr val="black"/>
                </a:solidFill>
                <a:latin typeface="微软雅黑" panose="020B0503020204020204" pitchFamily="34" charset="-122"/>
                <a:ea typeface="微软雅黑" panose="020B0503020204020204" pitchFamily="34" charset="-122"/>
                <a:cs typeface="Helvetica"/>
              </a:rPr>
              <a:t>重要经营指标</a:t>
            </a:r>
            <a:endParaRPr lang="zh-CN" altLang="en-US" sz="1200" kern="0" dirty="0">
              <a:solidFill>
                <a:prstClr val="black"/>
              </a:solidFill>
              <a:latin typeface="微软雅黑" panose="020B0503020204020204" pitchFamily="34" charset="-122"/>
              <a:ea typeface="微软雅黑" panose="020B0503020204020204" pitchFamily="34" charset="-122"/>
              <a:cs typeface="Helvetica"/>
            </a:endParaRPr>
          </a:p>
        </p:txBody>
      </p:sp>
      <p:sp>
        <p:nvSpPr>
          <p:cNvPr id="37" name="矩形 36"/>
          <p:cNvSpPr/>
          <p:nvPr/>
        </p:nvSpPr>
        <p:spPr>
          <a:xfrm>
            <a:off x="1525231" y="5044280"/>
            <a:ext cx="10001843" cy="259116"/>
          </a:xfrm>
          <a:prstGeom prst="rect">
            <a:avLst/>
          </a:prstGeom>
          <a:solidFill>
            <a:srgbClr val="CEEAEE"/>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维度：区域   客户</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产品线  项目、行业、品牌、价权、销售部门</a:t>
            </a:r>
            <a:r>
              <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rPr>
              <a:t>    </a:t>
            </a:r>
            <a:endParaRPr kumimoji="0" lang="en-US" alt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、市场拓展</a:t>
            </a:r>
            <a:r>
              <a:rPr lang="en-US" altLang="zh-CN" dirty="0"/>
              <a:t>MTL</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AutoShape 16"/>
          <p:cNvSpPr/>
          <p:nvPr>
            <p:custDataLst>
              <p:tags r:id="rId1"/>
            </p:custDataLst>
          </p:nvPr>
        </p:nvSpPr>
        <p:spPr>
          <a:xfrm rot="16200000">
            <a:off x="5025149" y="-2348582"/>
            <a:ext cx="1095375" cy="9251623"/>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0C7F8A"/>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微软雅黑" panose="020B0503020204020204" pitchFamily="34" charset="-122"/>
              <a:cs typeface="Helvetica"/>
            </a:endParaRPr>
          </a:p>
        </p:txBody>
      </p:sp>
      <p:sp>
        <p:nvSpPr>
          <p:cNvPr id="5" name="文本框 4"/>
          <p:cNvSpPr txBox="1"/>
          <p:nvPr/>
        </p:nvSpPr>
        <p:spPr>
          <a:xfrm>
            <a:off x="1288338" y="2123560"/>
            <a:ext cx="100711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市场洞察</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6" name="文本框 5"/>
          <p:cNvSpPr txBox="1"/>
          <p:nvPr>
            <p:custDataLst>
              <p:tags r:id="rId2"/>
            </p:custDataLst>
          </p:nvPr>
        </p:nvSpPr>
        <p:spPr>
          <a:xfrm>
            <a:off x="4061383" y="212324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市场活动与线索</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7" name="直接连接符 6"/>
          <p:cNvCxnSpPr/>
          <p:nvPr/>
        </p:nvCxnSpPr>
        <p:spPr>
          <a:xfrm>
            <a:off x="2642793" y="2756020"/>
            <a:ext cx="0" cy="3289300"/>
          </a:xfrm>
          <a:prstGeom prst="line">
            <a:avLst/>
          </a:prstGeom>
          <a:solidFill>
            <a:srgbClr val="4F81BD"/>
          </a:solidFill>
          <a:ln w="9525" cap="flat" cmpd="sng" algn="ctr">
            <a:solidFill>
              <a:srgbClr val="0070C0"/>
            </a:solidFill>
            <a:prstDash val="solid"/>
            <a:round/>
            <a:headEnd type="none" w="med" len="med"/>
            <a:tailEnd type="none" w="med" len="med"/>
          </a:ln>
        </p:spPr>
      </p:cxnSp>
      <p:cxnSp>
        <p:nvCxnSpPr>
          <p:cNvPr id="8" name="直接连接符 7"/>
          <p:cNvCxnSpPr/>
          <p:nvPr/>
        </p:nvCxnSpPr>
        <p:spPr>
          <a:xfrm>
            <a:off x="947978" y="2829045"/>
            <a:ext cx="0" cy="320421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10" name="文本框 9"/>
          <p:cNvSpPr txBox="1"/>
          <p:nvPr>
            <p:custDataLst>
              <p:tags r:id="rId3"/>
            </p:custDataLst>
          </p:nvPr>
        </p:nvSpPr>
        <p:spPr>
          <a:xfrm>
            <a:off x="7007142" y="2975095"/>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C7F8A"/>
                </a:solidFill>
                <a:latin typeface="微软雅黑" panose="020B0503020204020204" pitchFamily="34" charset="-122"/>
                <a:ea typeface="微软雅黑" panose="020B0503020204020204" pitchFamily="34" charset="-122"/>
                <a:cs typeface="Helvetica"/>
              </a:rPr>
              <a:t>收集和生成线索</a:t>
            </a:r>
            <a:endParaRPr lang="zh-CN" altLang="en-US" sz="1200" b="1" dirty="0">
              <a:solidFill>
                <a:srgbClr val="0C7F8A"/>
              </a:solidFill>
              <a:latin typeface="微软雅黑" panose="020B0503020204020204" pitchFamily="34" charset="-122"/>
              <a:ea typeface="微软雅黑" panose="020B0503020204020204" pitchFamily="34" charset="-122"/>
              <a:cs typeface="Helvetica"/>
            </a:endParaRPr>
          </a:p>
        </p:txBody>
      </p:sp>
      <p:sp>
        <p:nvSpPr>
          <p:cNvPr id="11" name="右箭头 1"/>
          <p:cNvSpPr/>
          <p:nvPr>
            <p:custDataLst>
              <p:tags r:id="rId4"/>
            </p:custDataLst>
          </p:nvPr>
        </p:nvSpPr>
        <p:spPr>
          <a:xfrm>
            <a:off x="2656127" y="3168770"/>
            <a:ext cx="7504305" cy="176722"/>
          </a:xfrm>
          <a:prstGeom prst="rightArrow">
            <a:avLst/>
          </a:prstGeom>
          <a:solidFill>
            <a:srgbClr val="0C7F8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2" name="文本框 11"/>
          <p:cNvSpPr txBox="1"/>
          <p:nvPr>
            <p:custDataLst>
              <p:tags r:id="rId5"/>
            </p:custDataLst>
          </p:nvPr>
        </p:nvSpPr>
        <p:spPr>
          <a:xfrm>
            <a:off x="7068736" y="3354190"/>
            <a:ext cx="1977293" cy="1753235"/>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线索数量</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线索状态</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线索增长率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en-US" altLang="zh-CN" sz="1200" b="1" dirty="0" err="1">
                <a:solidFill>
                  <a:srgbClr val="000000"/>
                </a:solidFill>
                <a:latin typeface="微软雅黑" panose="020B0503020204020204" pitchFamily="34" charset="-122"/>
                <a:ea typeface="微软雅黑" panose="020B0503020204020204" pitchFamily="34" charset="-122"/>
                <a:cs typeface="Helvetica"/>
              </a:rPr>
              <a:t>有效线索数</a:t>
            </a:r>
            <a:r>
              <a:rPr lang="zh-CN" altLang="en-US" sz="1200" b="1" dirty="0">
                <a:solidFill>
                  <a:srgbClr val="000000"/>
                </a:solidFill>
                <a:latin typeface="微软雅黑" panose="020B0503020204020204" pitchFamily="34" charset="-122"/>
                <a:ea typeface="微软雅黑" panose="020B0503020204020204" pitchFamily="34" charset="-122"/>
                <a:cs typeface="Helvetica"/>
              </a:rPr>
              <a:t>量金额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现场签单数量金额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新增客户</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（线上</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线下）</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线索响应时间</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线索转换率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13" name="右箭头 1"/>
          <p:cNvSpPr/>
          <p:nvPr>
            <p:custDataLst>
              <p:tags r:id="rId6"/>
            </p:custDataLst>
          </p:nvPr>
        </p:nvSpPr>
        <p:spPr>
          <a:xfrm>
            <a:off x="947343" y="3168770"/>
            <a:ext cx="1692000" cy="154305"/>
          </a:xfrm>
          <a:prstGeom prst="rightArrow">
            <a:avLst/>
          </a:prstGeom>
          <a:solidFill>
            <a:srgbClr val="0C7F8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4" name="直接连接符 13"/>
          <p:cNvCxnSpPr/>
          <p:nvPr>
            <p:custDataLst>
              <p:tags r:id="rId7"/>
            </p:custDataLst>
          </p:nvPr>
        </p:nvCxnSpPr>
        <p:spPr>
          <a:xfrm>
            <a:off x="2649143" y="1729860"/>
            <a:ext cx="0" cy="10261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15" name="直接连接符 14"/>
          <p:cNvCxnSpPr/>
          <p:nvPr>
            <p:custDataLst>
              <p:tags r:id="rId8"/>
            </p:custDataLst>
          </p:nvPr>
        </p:nvCxnSpPr>
        <p:spPr>
          <a:xfrm>
            <a:off x="10179540" y="2591555"/>
            <a:ext cx="0" cy="328930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17" name="文本框 16"/>
          <p:cNvSpPr txBox="1"/>
          <p:nvPr>
            <p:custDataLst>
              <p:tags r:id="rId9"/>
            </p:custDataLst>
          </p:nvPr>
        </p:nvSpPr>
        <p:spPr>
          <a:xfrm>
            <a:off x="987387" y="3307387"/>
            <a:ext cx="1928495" cy="1753235"/>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市占率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存量市场规模</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市场规模增长率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新增潜在客户数量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竞争对手名单及数量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竞品及价格</a:t>
            </a: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竞品市占率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询盘量</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询盘金额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8" name="文本框 17"/>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核心价值：分析市场趋势、客户需求、竞争对手情况等，为销售策略提供依据；</a:t>
            </a:r>
            <a:endParaRPr lang="en-US" altLang="zh-CN" sz="1600" b="1" dirty="0">
              <a:solidFill>
                <a:srgbClr val="060607"/>
              </a:solidFill>
              <a:latin typeface="微软雅黑" panose="020B0503020204020204" pitchFamily="34" charset="-122"/>
              <a:ea typeface="微软雅黑" panose="020B0503020204020204" pitchFamily="34" charset="-122"/>
              <a:cs typeface="Helvetica"/>
            </a:endParaRPr>
          </a:p>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                 通过有效的市场活动管理和销售线索生成，帮助业务团队挖掘增量市场机会，实现可持续的业务增长。</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9" name="文本框 18"/>
          <p:cNvSpPr txBox="1"/>
          <p:nvPr>
            <p:custDataLst>
              <p:tags r:id="rId10"/>
            </p:custDataLst>
          </p:nvPr>
        </p:nvSpPr>
        <p:spPr>
          <a:xfrm>
            <a:off x="3016032" y="2970321"/>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C7F8A"/>
                </a:solidFill>
                <a:latin typeface="微软雅黑" panose="020B0503020204020204" pitchFamily="34" charset="-122"/>
                <a:ea typeface="微软雅黑" panose="020B0503020204020204" pitchFamily="34" charset="-122"/>
                <a:cs typeface="Helvetica"/>
              </a:rPr>
              <a:t>市场活动与费用</a:t>
            </a:r>
            <a:endParaRPr lang="zh-CN" altLang="en-US" sz="1200" b="1" dirty="0">
              <a:solidFill>
                <a:srgbClr val="0C7F8A"/>
              </a:solidFill>
              <a:latin typeface="微软雅黑" panose="020B0503020204020204" pitchFamily="34" charset="-122"/>
              <a:ea typeface="微软雅黑" panose="020B0503020204020204" pitchFamily="34" charset="-122"/>
              <a:cs typeface="Helvetica"/>
            </a:endParaRPr>
          </a:p>
        </p:txBody>
      </p:sp>
      <p:sp>
        <p:nvSpPr>
          <p:cNvPr id="20" name="文本框 19"/>
          <p:cNvSpPr txBox="1"/>
          <p:nvPr/>
        </p:nvSpPr>
        <p:spPr>
          <a:xfrm>
            <a:off x="2787184" y="3337328"/>
            <a:ext cx="1828937" cy="829945"/>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1" name="文本框 20"/>
          <p:cNvSpPr txBox="1"/>
          <p:nvPr/>
        </p:nvSpPr>
        <p:spPr>
          <a:xfrm>
            <a:off x="3435133" y="5445258"/>
            <a:ext cx="4736804" cy="100012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细分市场：按行业、再按使用场景？</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竞争分析：分地区</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分行业？</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营销活动花费：费用项目、区域</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活动状态：进行中、已完成</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线索状态：已开启、合格、不合格</a:t>
            </a:r>
            <a:endPar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22" name="文本框 21"/>
          <p:cNvSpPr txBox="1"/>
          <p:nvPr>
            <p:custDataLst>
              <p:tags r:id="rId11"/>
            </p:custDataLst>
          </p:nvPr>
        </p:nvSpPr>
        <p:spPr>
          <a:xfrm>
            <a:off x="5091002" y="2976993"/>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0C7F8A"/>
                </a:solidFill>
                <a:latin typeface="微软雅黑" panose="020B0503020204020204" pitchFamily="34" charset="-122"/>
                <a:ea typeface="微软雅黑" panose="020B0503020204020204" pitchFamily="34" charset="-122"/>
                <a:cs typeface="Helvetica"/>
              </a:rPr>
              <a:t>全球展厅计划</a:t>
            </a:r>
            <a:endParaRPr lang="zh-CN" altLang="en-US" sz="1200" b="1" dirty="0">
              <a:solidFill>
                <a:srgbClr val="0C7F8A"/>
              </a:solidFill>
              <a:latin typeface="微软雅黑" panose="020B0503020204020204" pitchFamily="34" charset="-122"/>
              <a:ea typeface="微软雅黑" panose="020B0503020204020204" pitchFamily="34" charset="-122"/>
              <a:cs typeface="Helvetica"/>
            </a:endParaRPr>
          </a:p>
        </p:txBody>
      </p:sp>
      <p:sp>
        <p:nvSpPr>
          <p:cNvPr id="23" name="文本框 22"/>
          <p:cNvSpPr txBox="1"/>
          <p:nvPr/>
        </p:nvSpPr>
        <p:spPr>
          <a:xfrm>
            <a:off x="5029641" y="3337328"/>
            <a:ext cx="1828937" cy="275590"/>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全球展厅建设进度</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4" name="文本框 23"/>
          <p:cNvSpPr txBox="1"/>
          <p:nvPr>
            <p:custDataLst>
              <p:tags r:id="rId12"/>
            </p:custDataLst>
          </p:nvPr>
        </p:nvSpPr>
        <p:spPr>
          <a:xfrm>
            <a:off x="1131991" y="2962489"/>
            <a:ext cx="1323340" cy="275590"/>
          </a:xfrm>
          <a:prstGeom prst="rect">
            <a:avLst/>
          </a:prstGeom>
          <a:noFill/>
        </p:spPr>
        <p:txBody>
          <a:bodyPr wrap="square" rtlCol="0">
            <a:spAutoFit/>
          </a:bodyPr>
          <a:lstStyle/>
          <a:p>
            <a:pPr algn="ctr" eaLnBrk="0" fontAlgn="base" hangingPunct="0">
              <a:spcBef>
                <a:spcPct val="0"/>
              </a:spcBef>
              <a:spcAft>
                <a:spcPct val="0"/>
              </a:spcAft>
            </a:pPr>
            <a:r>
              <a:rPr lang="zh-CN" altLang="en-US" sz="1200" b="1" dirty="0">
                <a:solidFill>
                  <a:srgbClr val="0C7F8A"/>
                </a:solidFill>
                <a:latin typeface="微软雅黑" panose="020B0503020204020204" pitchFamily="34" charset="-122"/>
                <a:ea typeface="微软雅黑" panose="020B0503020204020204" pitchFamily="34" charset="-122"/>
                <a:cs typeface="Helvetica"/>
              </a:rPr>
              <a:t>市场分析</a:t>
            </a:r>
            <a:endParaRPr lang="zh-CN" altLang="en-US" sz="1200" b="1" dirty="0">
              <a:solidFill>
                <a:srgbClr val="0C7F8A"/>
              </a:solidFill>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市场规划分析专题</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右箭头 1"/>
          <p:cNvSpPr/>
          <p:nvPr/>
        </p:nvSpPr>
        <p:spPr>
          <a:xfrm>
            <a:off x="767080" y="2647136"/>
            <a:ext cx="10492105" cy="360045"/>
          </a:xfrm>
          <a:prstGeom prst="rightArrow">
            <a:avLst/>
          </a:prstGeom>
          <a:solidFill>
            <a:srgbClr val="1F497D">
              <a:lumMod val="60000"/>
              <a:lumOff val="40000"/>
            </a:srgbClr>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 name="Rectangle 9"/>
          <p:cNvSpPr/>
          <p:nvPr/>
        </p:nvSpPr>
        <p:spPr>
          <a:xfrm>
            <a:off x="5126081" y="769836"/>
            <a:ext cx="1703518" cy="360000"/>
          </a:xfrm>
          <a:prstGeom prst="rect">
            <a:avLst/>
          </a:prstGeom>
          <a:solidFill>
            <a:srgbClr val="0C7F8A"/>
          </a:solidFill>
          <a:ln>
            <a:noFill/>
          </a:ln>
          <a:effectLst/>
        </p:spPr>
        <p:txBody>
          <a:bodyPr lIns="9000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rPr>
              <a:t>市场规划分析</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endParaRPr>
          </a:p>
        </p:txBody>
      </p:sp>
      <p:sp>
        <p:nvSpPr>
          <p:cNvPr id="6" name="Rectangle 217"/>
          <p:cNvSpPr/>
          <p:nvPr/>
        </p:nvSpPr>
        <p:spPr>
          <a:xfrm>
            <a:off x="22322" y="1475121"/>
            <a:ext cx="442371" cy="477568"/>
          </a:xfrm>
          <a:prstGeom prst="rect">
            <a:avLst/>
          </a:prstGeom>
          <a:solidFill>
            <a:srgbClr val="FFFFFF"/>
          </a:solidFill>
          <a:ln>
            <a:noFill/>
          </a:ln>
          <a:effectLst/>
        </p:spPr>
        <p:txBody>
          <a:bodyPr lIns="90000" rtlCol="0" anchor="ctr"/>
          <a:lstStyle/>
          <a:p>
            <a:pPr algn="ctr">
              <a:defRPr/>
            </a:pPr>
            <a:endParaRPr 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7" name="Rectangle 36"/>
          <p:cNvSpPr/>
          <p:nvPr/>
        </p:nvSpPr>
        <p:spPr>
          <a:xfrm>
            <a:off x="4926930" y="1531804"/>
            <a:ext cx="2105056" cy="36000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市场占有率</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8" name="Rectangle 217"/>
          <p:cNvSpPr/>
          <p:nvPr/>
        </p:nvSpPr>
        <p:spPr>
          <a:xfrm>
            <a:off x="67310" y="2603920"/>
            <a:ext cx="360045" cy="466726"/>
          </a:xfrm>
          <a:prstGeom prst="rect">
            <a:avLst/>
          </a:prstGeom>
          <a:solidFill>
            <a:srgbClr val="FFFFFF"/>
          </a:solidFill>
          <a:ln>
            <a:noFill/>
          </a:ln>
          <a:effectLst/>
        </p:spPr>
        <p:txBody>
          <a:bodyPr lIns="90000" rtlCol="0" anchor="ctr"/>
          <a:lstStyle/>
          <a:p>
            <a:pPr algn="ctr">
              <a:defRPr/>
            </a:pPr>
            <a:r>
              <a:rPr lang="zh-CN" altLang="en-GB" sz="1400" b="1" kern="0" dirty="0">
                <a:solidFill>
                  <a:srgbClr val="000000"/>
                </a:solidFill>
                <a:latin typeface="微软雅黑" panose="020B0503020204020204" pitchFamily="34" charset="-122"/>
                <a:ea typeface="微软雅黑" panose="020B0503020204020204" pitchFamily="34" charset="-122"/>
                <a:cs typeface="Helvetica"/>
              </a:rPr>
              <a:t>分析视角</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9" name="箭头: 下 8"/>
          <p:cNvSpPr/>
          <p:nvPr/>
        </p:nvSpPr>
        <p:spPr bwMode="auto">
          <a:xfrm rot="10800000">
            <a:off x="5414383" y="2006309"/>
            <a:ext cx="1129553" cy="431804"/>
          </a:xfrm>
          <a:prstGeom prst="downArrow">
            <a:avLst/>
          </a:prstGeom>
          <a:solidFill>
            <a:srgbClr val="11AFBB"/>
          </a:solidFill>
          <a:ln>
            <a:solidFill>
              <a:srgbClr val="11AFBB"/>
            </a:solidFill>
          </a:ln>
          <a:effectLst/>
        </p:spPr>
        <p:txBody>
          <a:bodyPr lIns="90000" rtlCol="0" anchor="ctr"/>
          <a:lstStyle/>
          <a:p>
            <a:pPr algn="ctr">
              <a:defRPr/>
            </a:pPr>
            <a:endParaRPr lang="zh-CN" altLang="en-US" sz="14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0" name="Rectangle 36"/>
          <p:cNvSpPr/>
          <p:nvPr/>
        </p:nvSpPr>
        <p:spPr>
          <a:xfrm>
            <a:off x="721360" y="2641421"/>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应用行业</a:t>
            </a: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终端</a:t>
            </a: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37"/>
          <p:cNvSpPr/>
          <p:nvPr/>
        </p:nvSpPr>
        <p:spPr>
          <a:xfrm>
            <a:off x="3027045" y="2641421"/>
            <a:ext cx="107696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区域</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2" name="Rectangle 37"/>
          <p:cNvSpPr/>
          <p:nvPr/>
        </p:nvSpPr>
        <p:spPr>
          <a:xfrm>
            <a:off x="4818380" y="2659201"/>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客户</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3" name="Rectangle 37"/>
          <p:cNvSpPr/>
          <p:nvPr/>
        </p:nvSpPr>
        <p:spPr>
          <a:xfrm>
            <a:off x="9504045" y="2634436"/>
            <a:ext cx="209550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竞争环境分析</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14" name="直接连接符 13"/>
          <p:cNvCxnSpPr>
            <a:stCxn id="5" idx="2"/>
            <a:endCxn id="7" idx="0"/>
          </p:cNvCxnSpPr>
          <p:nvPr/>
        </p:nvCxnSpPr>
        <p:spPr>
          <a:xfrm>
            <a:off x="5977840" y="1129836"/>
            <a:ext cx="1618" cy="401968"/>
          </a:xfrm>
          <a:prstGeom prst="line">
            <a:avLst/>
          </a:prstGeom>
          <a:noFill/>
          <a:ln w="38100" cap="flat" cmpd="sng" algn="ctr">
            <a:solidFill>
              <a:srgbClr val="11AFBB"/>
            </a:solidFill>
            <a:prstDash val="solid"/>
            <a:miter lim="800000"/>
            <a:headEnd type="none" w="med" len="med"/>
            <a:tailEnd type="none" w="med" len="med"/>
          </a:ln>
          <a:effectLst/>
        </p:spPr>
      </p:cxnSp>
      <p:sp>
        <p:nvSpPr>
          <p:cNvPr id="15" name="Rectangle 217"/>
          <p:cNvSpPr/>
          <p:nvPr/>
        </p:nvSpPr>
        <p:spPr>
          <a:xfrm>
            <a:off x="67310" y="1532041"/>
            <a:ext cx="360045" cy="477520"/>
          </a:xfrm>
          <a:prstGeom prst="rect">
            <a:avLst/>
          </a:prstGeom>
          <a:solidFill>
            <a:srgbClr val="FFFFFF"/>
          </a:solidFill>
          <a:ln>
            <a:noFill/>
          </a:ln>
          <a:effectLst/>
        </p:spPr>
        <p:txBody>
          <a:bodyPr lIns="90000" rtlCol="0" anchor="ctr"/>
          <a:lstStyle/>
          <a:p>
            <a:pPr algn="ctr">
              <a:defRPr/>
            </a:pPr>
            <a:r>
              <a:rPr lang="zh-CN" altLang="en-GB" sz="1400" b="1" kern="0" dirty="0">
                <a:solidFill>
                  <a:srgbClr val="000000"/>
                </a:solidFill>
                <a:latin typeface="微软雅黑" panose="020B0503020204020204" pitchFamily="34" charset="-122"/>
                <a:ea typeface="微软雅黑" panose="020B0503020204020204" pitchFamily="34" charset="-122"/>
                <a:cs typeface="Helvetica"/>
              </a:rPr>
              <a:t>核心指标</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16" name="矩形 15"/>
          <p:cNvSpPr/>
          <p:nvPr/>
        </p:nvSpPr>
        <p:spPr>
          <a:xfrm>
            <a:off x="80327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行业规模</a:t>
            </a:r>
            <a:b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b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与增长率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7" name="矩形 16"/>
          <p:cNvSpPr/>
          <p:nvPr/>
        </p:nvSpPr>
        <p:spPr>
          <a:xfrm>
            <a:off x="117348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TOP终端客户的行业内占比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8" name="矩形 17"/>
          <p:cNvSpPr/>
          <p:nvPr/>
        </p:nvSpPr>
        <p:spPr>
          <a:xfrm>
            <a:off x="236791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行业下的区域规模占比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19" name="矩形 18"/>
          <p:cNvSpPr/>
          <p:nvPr/>
        </p:nvSpPr>
        <p:spPr>
          <a:xfrm>
            <a:off x="43307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行业占有率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0" name="矩形 19"/>
          <p:cNvSpPr/>
          <p:nvPr/>
        </p:nvSpPr>
        <p:spPr>
          <a:xfrm>
            <a:off x="5955207" y="3467555"/>
            <a:ext cx="288282" cy="1916241"/>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销售金额增长率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1" name="矩形 20"/>
          <p:cNvSpPr/>
          <p:nvPr/>
        </p:nvSpPr>
        <p:spPr>
          <a:xfrm>
            <a:off x="1116393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竞争对手数量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2" name="矩形 21"/>
          <p:cNvSpPr/>
          <p:nvPr/>
        </p:nvSpPr>
        <p:spPr>
          <a:xfrm>
            <a:off x="960691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市场占有率</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3" name="矩形 22"/>
          <p:cNvSpPr/>
          <p:nvPr/>
        </p:nvSpPr>
        <p:spPr>
          <a:xfrm>
            <a:off x="1042479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竞品价格</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4" name="矩形 23"/>
          <p:cNvSpPr/>
          <p:nvPr/>
        </p:nvSpPr>
        <p:spPr>
          <a:xfrm>
            <a:off x="4473943"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行业终端客户排名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外部)</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6315252"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客户利润贡献率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6" name="矩形 25"/>
          <p:cNvSpPr/>
          <p:nvPr/>
        </p:nvSpPr>
        <p:spPr>
          <a:xfrm>
            <a:off x="6685457"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客户销售额贡献率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7" name="矩形 26"/>
          <p:cNvSpPr/>
          <p:nvPr/>
        </p:nvSpPr>
        <p:spPr>
          <a:xfrm>
            <a:off x="3198495" y="3454220"/>
            <a:ext cx="288282" cy="1948851"/>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区域市场规模与增长率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28" name="矩形 27"/>
          <p:cNvSpPr/>
          <p:nvPr/>
        </p:nvSpPr>
        <p:spPr>
          <a:xfrm>
            <a:off x="3564890" y="3459935"/>
            <a:ext cx="288282" cy="1934875"/>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区域客户内部销售额占比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29" name="肘形连接符 91"/>
          <p:cNvCxnSpPr>
            <a:stCxn id="10" idx="2"/>
            <a:endCxn id="16" idx="0"/>
          </p:cNvCxnSpPr>
          <p:nvPr/>
        </p:nvCxnSpPr>
        <p:spPr>
          <a:xfrm rot="5400000">
            <a:off x="1066164" y="2882719"/>
            <a:ext cx="466725" cy="704219"/>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30" name="肘形连接符 92"/>
          <p:cNvCxnSpPr>
            <a:stCxn id="10" idx="2"/>
            <a:endCxn id="17" idx="0"/>
          </p:cNvCxnSpPr>
          <p:nvPr/>
        </p:nvCxnSpPr>
        <p:spPr>
          <a:xfrm rot="5400000">
            <a:off x="1251266" y="3067821"/>
            <a:ext cx="466725" cy="334014"/>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31" name="肘形连接符 93"/>
          <p:cNvCxnSpPr/>
          <p:nvPr/>
        </p:nvCxnSpPr>
        <p:spPr>
          <a:xfrm rot="5400000" flipV="1">
            <a:off x="1838960" y="2807156"/>
            <a:ext cx="476250" cy="850900"/>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32" name="肘形连接符 94"/>
          <p:cNvCxnSpPr>
            <a:stCxn id="10" idx="2"/>
            <a:endCxn id="19" idx="0"/>
          </p:cNvCxnSpPr>
          <p:nvPr/>
        </p:nvCxnSpPr>
        <p:spPr>
          <a:xfrm rot="5400000">
            <a:off x="881061" y="2697616"/>
            <a:ext cx="466725" cy="1074424"/>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33" name="肘形连接符 101"/>
          <p:cNvCxnSpPr>
            <a:stCxn id="13" idx="2"/>
            <a:endCxn id="21" idx="0"/>
          </p:cNvCxnSpPr>
          <p:nvPr/>
        </p:nvCxnSpPr>
        <p:spPr>
          <a:xfrm rot="16200000" flipH="1">
            <a:off x="10693080" y="2853195"/>
            <a:ext cx="473710" cy="75628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34" name="肘形连接符 102"/>
          <p:cNvCxnSpPr>
            <a:stCxn id="13" idx="2"/>
            <a:endCxn id="22" idx="0"/>
          </p:cNvCxnSpPr>
          <p:nvPr/>
        </p:nvCxnSpPr>
        <p:spPr>
          <a:xfrm rot="5400000">
            <a:off x="9914571" y="2830967"/>
            <a:ext cx="473710" cy="800739"/>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sp>
        <p:nvSpPr>
          <p:cNvPr id="36" name="矩形 35"/>
          <p:cNvSpPr/>
          <p:nvPr/>
        </p:nvSpPr>
        <p:spPr>
          <a:xfrm>
            <a:off x="4837798" y="3468509"/>
            <a:ext cx="288282" cy="1913912"/>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集团终端客户排名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内部)</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矩形 36"/>
          <p:cNvSpPr/>
          <p:nvPr/>
        </p:nvSpPr>
        <p:spPr>
          <a:xfrm>
            <a:off x="5187683"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LED</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经营规模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38" name="矩形 37"/>
          <p:cNvSpPr/>
          <p:nvPr/>
        </p:nvSpPr>
        <p:spPr>
          <a:xfrm>
            <a:off x="5561698"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客户分级销售额占比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39" name="肘形连接符 10"/>
          <p:cNvCxnSpPr>
            <a:stCxn id="12" idx="2"/>
            <a:endCxn id="24" idx="0"/>
          </p:cNvCxnSpPr>
          <p:nvPr/>
        </p:nvCxnSpPr>
        <p:spPr>
          <a:xfrm rot="5400000">
            <a:off x="4958898" y="2678433"/>
            <a:ext cx="448945" cy="113057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40" name="肘形连接符 15"/>
          <p:cNvCxnSpPr>
            <a:stCxn id="12" idx="2"/>
            <a:endCxn id="26" idx="0"/>
          </p:cNvCxnSpPr>
          <p:nvPr/>
        </p:nvCxnSpPr>
        <p:spPr>
          <a:xfrm rot="16200000" flipH="1">
            <a:off x="6064654" y="2703246"/>
            <a:ext cx="448945" cy="1080943"/>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sp>
        <p:nvSpPr>
          <p:cNvPr id="41" name="矩形 40"/>
          <p:cNvSpPr/>
          <p:nvPr/>
        </p:nvSpPr>
        <p:spPr>
          <a:xfrm>
            <a:off x="1152398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竞争对手画像</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2" name="矩形 41"/>
          <p:cNvSpPr/>
          <p:nvPr/>
        </p:nvSpPr>
        <p:spPr>
          <a:xfrm>
            <a:off x="1002665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市场规模及增长率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3" name="矩形 42"/>
          <p:cNvSpPr/>
          <p:nvPr/>
        </p:nvSpPr>
        <p:spPr>
          <a:xfrm>
            <a:off x="199771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线索客户数量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4" name="矩形 43"/>
          <p:cNvSpPr/>
          <p:nvPr/>
        </p:nvSpPr>
        <p:spPr>
          <a:xfrm>
            <a:off x="2853690" y="3455174"/>
            <a:ext cx="288282" cy="1946522"/>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区域占有率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45" name="矩形 44"/>
          <p:cNvSpPr/>
          <p:nvPr/>
        </p:nvSpPr>
        <p:spPr>
          <a:xfrm>
            <a:off x="1543685" y="3465650"/>
            <a:ext cx="378242" cy="1920899"/>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TOP</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终端客户内部销售额占比</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6" name="肘形连接符 32"/>
          <p:cNvCxnSpPr>
            <a:stCxn id="13" idx="2"/>
            <a:endCxn id="41" idx="0"/>
          </p:cNvCxnSpPr>
          <p:nvPr/>
        </p:nvCxnSpPr>
        <p:spPr>
          <a:xfrm rot="16200000" flipH="1">
            <a:off x="10873103" y="2673173"/>
            <a:ext cx="473710" cy="1116326"/>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47" name="肘形连接符 34"/>
          <p:cNvCxnSpPr/>
          <p:nvPr/>
        </p:nvCxnSpPr>
        <p:spPr>
          <a:xfrm rot="5400000" flipV="1">
            <a:off x="10537090" y="3019146"/>
            <a:ext cx="461010" cy="432000"/>
          </a:xfrm>
          <a:prstGeom prst="bentConnector3">
            <a:avLst>
              <a:gd name="adj1" fmla="val 49931"/>
            </a:avLst>
          </a:prstGeom>
          <a:solidFill>
            <a:srgbClr val="4F81BD"/>
          </a:solidFill>
          <a:ln w="12700" cap="flat" cmpd="sng" algn="ctr">
            <a:solidFill>
              <a:srgbClr val="029E9A"/>
            </a:solidFill>
            <a:prstDash val="solid"/>
            <a:round/>
            <a:headEnd type="none" w="med" len="med"/>
            <a:tailEnd type="none" w="med" len="med"/>
          </a:ln>
        </p:spPr>
      </p:cxnSp>
      <p:cxnSp>
        <p:nvCxnSpPr>
          <p:cNvPr id="48" name="肘形连接符 39"/>
          <p:cNvCxnSpPr>
            <a:stCxn id="13" idx="2"/>
            <a:endCxn id="42" idx="0"/>
          </p:cNvCxnSpPr>
          <p:nvPr/>
        </p:nvCxnSpPr>
        <p:spPr>
          <a:xfrm rot="5400000">
            <a:off x="10124438" y="3040834"/>
            <a:ext cx="473710" cy="381004"/>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sp>
        <p:nvSpPr>
          <p:cNvPr id="49" name="矩形 48"/>
          <p:cNvSpPr/>
          <p:nvPr/>
        </p:nvSpPr>
        <p:spPr>
          <a:xfrm>
            <a:off x="1080960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竞品数量</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50" name="肘形连接符 49"/>
          <p:cNvCxnSpPr>
            <a:stCxn id="12" idx="2"/>
            <a:endCxn id="36" idx="0"/>
          </p:cNvCxnSpPr>
          <p:nvPr/>
        </p:nvCxnSpPr>
        <p:spPr>
          <a:xfrm rot="5400000">
            <a:off x="5140666" y="2860519"/>
            <a:ext cx="449263" cy="766716"/>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1" name="肘形连接符 50"/>
          <p:cNvCxnSpPr>
            <a:stCxn id="12" idx="2"/>
            <a:endCxn id="37" idx="0"/>
          </p:cNvCxnSpPr>
          <p:nvPr/>
        </p:nvCxnSpPr>
        <p:spPr>
          <a:xfrm rot="5400000">
            <a:off x="5315768" y="3035303"/>
            <a:ext cx="448945" cy="41683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2" name="肘形连接符 51"/>
          <p:cNvCxnSpPr>
            <a:stCxn id="12" idx="2"/>
            <a:endCxn id="38" idx="0"/>
          </p:cNvCxnSpPr>
          <p:nvPr/>
        </p:nvCxnSpPr>
        <p:spPr>
          <a:xfrm rot="5400000">
            <a:off x="5502775" y="3222310"/>
            <a:ext cx="448945" cy="42816"/>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3" name="肘形连接符 65"/>
          <p:cNvCxnSpPr>
            <a:stCxn id="12" idx="2"/>
            <a:endCxn id="20" idx="0"/>
          </p:cNvCxnSpPr>
          <p:nvPr/>
        </p:nvCxnSpPr>
        <p:spPr>
          <a:xfrm rot="16200000" flipH="1">
            <a:off x="5699847" y="3068053"/>
            <a:ext cx="448309" cy="350693"/>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4" name="肘形连接符 66"/>
          <p:cNvCxnSpPr>
            <a:stCxn id="12" idx="2"/>
            <a:endCxn id="25" idx="0"/>
          </p:cNvCxnSpPr>
          <p:nvPr/>
        </p:nvCxnSpPr>
        <p:spPr>
          <a:xfrm rot="16200000" flipH="1">
            <a:off x="5879552" y="2888349"/>
            <a:ext cx="448945" cy="710738"/>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5" name="肘形连接符 67"/>
          <p:cNvCxnSpPr>
            <a:stCxn id="10" idx="2"/>
            <a:endCxn id="45" idx="0"/>
          </p:cNvCxnSpPr>
          <p:nvPr/>
        </p:nvCxnSpPr>
        <p:spPr>
          <a:xfrm rot="16200000" flipH="1">
            <a:off x="1460128" y="3192972"/>
            <a:ext cx="464184" cy="8117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56" name="肘形连接符 69"/>
          <p:cNvCxnSpPr/>
          <p:nvPr/>
        </p:nvCxnSpPr>
        <p:spPr>
          <a:xfrm rot="5400000" flipV="1">
            <a:off x="1653540" y="2991941"/>
            <a:ext cx="476250" cy="480695"/>
          </a:xfrm>
          <a:prstGeom prst="bentConnector3">
            <a:avLst>
              <a:gd name="adj1" fmla="val 49934"/>
            </a:avLst>
          </a:prstGeom>
          <a:solidFill>
            <a:srgbClr val="4F81BD"/>
          </a:solidFill>
          <a:ln w="12700" cap="flat" cmpd="sng" algn="ctr">
            <a:solidFill>
              <a:srgbClr val="029E9A"/>
            </a:solidFill>
            <a:prstDash val="solid"/>
            <a:round/>
            <a:headEnd type="none" w="med" len="med"/>
            <a:tailEnd type="none" w="med" len="med"/>
          </a:ln>
        </p:spPr>
      </p:cxnSp>
      <p:sp>
        <p:nvSpPr>
          <p:cNvPr id="57" name="Rectangle 37"/>
          <p:cNvSpPr/>
          <p:nvPr/>
        </p:nvSpPr>
        <p:spPr>
          <a:xfrm>
            <a:off x="7339330" y="2659836"/>
            <a:ext cx="1860550" cy="360045"/>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rPr>
              <a:t>产品</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58" name="肘形连接符 9"/>
          <p:cNvCxnSpPr>
            <a:stCxn id="57" idx="2"/>
            <a:endCxn id="63" idx="0"/>
          </p:cNvCxnSpPr>
          <p:nvPr/>
        </p:nvCxnSpPr>
        <p:spPr>
          <a:xfrm rot="16200000" flipH="1">
            <a:off x="8339135" y="2950350"/>
            <a:ext cx="448310" cy="58737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sp>
        <p:nvSpPr>
          <p:cNvPr id="59" name="矩形 58"/>
          <p:cNvSpPr/>
          <p:nvPr/>
        </p:nvSpPr>
        <p:spPr>
          <a:xfrm>
            <a:off x="8389620"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产品利润贡献率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0" name="矩形 59"/>
          <p:cNvSpPr/>
          <p:nvPr/>
        </p:nvSpPr>
        <p:spPr>
          <a:xfrm>
            <a:off x="7437446" y="3467733"/>
            <a:ext cx="288282" cy="1915464"/>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产品上市转化率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1" name="矩形 60"/>
          <p:cNvSpPr/>
          <p:nvPr/>
        </p:nvSpPr>
        <p:spPr>
          <a:xfrm>
            <a:off x="775398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订单金额增长率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2" name="矩形 61"/>
          <p:cNvSpPr/>
          <p:nvPr/>
        </p:nvSpPr>
        <p:spPr>
          <a:xfrm>
            <a:off x="8075295" y="3467555"/>
            <a:ext cx="288282" cy="1916241"/>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销售金额增长率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3" name="矩形 62"/>
          <p:cNvSpPr/>
          <p:nvPr/>
        </p:nvSpPr>
        <p:spPr>
          <a:xfrm>
            <a:off x="871283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产品销售额贡献率</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64" name="矩形 63"/>
          <p:cNvSpPr/>
          <p:nvPr/>
        </p:nvSpPr>
        <p:spPr>
          <a:xfrm>
            <a:off x="9030335" y="3468191"/>
            <a:ext cx="288282" cy="191468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431</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产品领域销售结构</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5" name="肘形连接符 35"/>
          <p:cNvCxnSpPr>
            <a:stCxn id="57" idx="2"/>
            <a:endCxn id="64" idx="0"/>
          </p:cNvCxnSpPr>
          <p:nvPr/>
        </p:nvCxnSpPr>
        <p:spPr>
          <a:xfrm rot="16200000" flipH="1">
            <a:off x="8497885" y="2791600"/>
            <a:ext cx="448310" cy="904871"/>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66" name="肘形连接符 43"/>
          <p:cNvCxnSpPr>
            <a:stCxn id="57" idx="2"/>
            <a:endCxn id="59" idx="0"/>
          </p:cNvCxnSpPr>
          <p:nvPr/>
        </p:nvCxnSpPr>
        <p:spPr>
          <a:xfrm rot="16200000" flipH="1">
            <a:off x="8177528" y="3111958"/>
            <a:ext cx="448310" cy="264156"/>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67" name="肘形连接符 44"/>
          <p:cNvCxnSpPr>
            <a:stCxn id="57" idx="2"/>
            <a:endCxn id="61" idx="0"/>
          </p:cNvCxnSpPr>
          <p:nvPr/>
        </p:nvCxnSpPr>
        <p:spPr>
          <a:xfrm rot="5400000">
            <a:off x="7859711" y="3058297"/>
            <a:ext cx="448310" cy="371479"/>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68" name="肘形连接符 54"/>
          <p:cNvCxnSpPr>
            <a:stCxn id="57" idx="2"/>
            <a:endCxn id="62" idx="0"/>
          </p:cNvCxnSpPr>
          <p:nvPr/>
        </p:nvCxnSpPr>
        <p:spPr>
          <a:xfrm rot="5400000">
            <a:off x="8020684" y="3218634"/>
            <a:ext cx="447674" cy="50169"/>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69" name="肘形连接符 55"/>
          <p:cNvCxnSpPr>
            <a:stCxn id="57" idx="2"/>
            <a:endCxn id="60" idx="0"/>
          </p:cNvCxnSpPr>
          <p:nvPr/>
        </p:nvCxnSpPr>
        <p:spPr>
          <a:xfrm rot="5400000">
            <a:off x="7701670" y="2899798"/>
            <a:ext cx="447852" cy="688018"/>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cxnSp>
        <p:nvCxnSpPr>
          <p:cNvPr id="70" name="肘形连接符 60"/>
          <p:cNvCxnSpPr/>
          <p:nvPr/>
        </p:nvCxnSpPr>
        <p:spPr>
          <a:xfrm rot="5400000">
            <a:off x="10320233" y="3241918"/>
            <a:ext cx="453600" cy="0"/>
          </a:xfrm>
          <a:prstGeom prst="bentConnector3">
            <a:avLst>
              <a:gd name="adj1" fmla="val 50000"/>
            </a:avLst>
          </a:prstGeom>
          <a:solidFill>
            <a:srgbClr val="4F81BD"/>
          </a:solidFill>
          <a:ln w="12700" cap="flat" cmpd="sng" algn="ctr">
            <a:solidFill>
              <a:srgbClr val="029E9A"/>
            </a:solidFill>
            <a:prstDash val="solid"/>
            <a:round/>
            <a:headEnd type="none" w="med" len="med"/>
            <a:tailEnd type="none" w="med" len="med"/>
          </a:ln>
        </p:spPr>
      </p:cxnSp>
      <p:sp>
        <p:nvSpPr>
          <p:cNvPr id="71" name="矩形 70"/>
          <p:cNvSpPr/>
          <p:nvPr/>
        </p:nvSpPr>
        <p:spPr>
          <a:xfrm>
            <a:off x="3906520" y="3459301"/>
            <a:ext cx="288282" cy="1936428"/>
          </a:xfrm>
          <a:prstGeom prst="rect">
            <a:avLst/>
          </a:prstGeom>
          <a:solidFill>
            <a:srgbClr val="E3F5F1"/>
          </a:solidFill>
          <a:ln w="19050" cap="flat" cmpd="sng" algn="ctr">
            <a:solidFill>
              <a:srgbClr val="029E9A"/>
            </a:solidFill>
            <a:prstDash val="solid"/>
          </a:ln>
          <a:effectLst/>
        </p:spPr>
        <p:txBody>
          <a:bodyPr spcFirstLastPara="0" vert="horz" wrap="square" lIns="16972" tIns="16972" rIns="16972" bIns="16972" numCol="1" spcCol="1270" anchor="ctr" anchorCtr="0" compatLnSpc="0">
            <a:noAutofit/>
          </a:bodyPr>
          <a:lstStyle/>
          <a:p>
            <a:pPr marL="0" marR="0" lvl="0" indent="0" algn="ctr" defTabSz="470535" eaLnBrk="0" fontAlgn="base" latinLnBrk="0" hangingPunct="0">
              <a:lnSpc>
                <a:spcPct val="90000"/>
              </a:lnSpc>
              <a:spcBef>
                <a:spcPct val="0"/>
              </a:spcBef>
              <a:spcAft>
                <a:spcPct val="3500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区域下的产品领域（行业）客户排名</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p:txBody>
      </p:sp>
      <p:cxnSp>
        <p:nvCxnSpPr>
          <p:cNvPr id="72" name="连接符: 肘形 71"/>
          <p:cNvCxnSpPr>
            <a:stCxn id="11" idx="2"/>
            <a:endCxn id="44" idx="0"/>
          </p:cNvCxnSpPr>
          <p:nvPr/>
        </p:nvCxnSpPr>
        <p:spPr bwMode="auto">
          <a:xfrm rot="5400000">
            <a:off x="3054824" y="2944473"/>
            <a:ext cx="453708" cy="567694"/>
          </a:xfrm>
          <a:prstGeom prst="bentConnector3">
            <a:avLst/>
          </a:prstGeom>
          <a:solidFill>
            <a:srgbClr val="4F81BD"/>
          </a:solidFill>
          <a:ln w="12700" cap="flat" cmpd="sng" algn="ctr">
            <a:solidFill>
              <a:srgbClr val="029E9A"/>
            </a:solidFill>
            <a:prstDash val="solid"/>
            <a:round/>
            <a:headEnd type="none" w="med" len="med"/>
            <a:tailEnd type="none" w="med" len="med"/>
          </a:ln>
        </p:spPr>
      </p:cxnSp>
      <p:cxnSp>
        <p:nvCxnSpPr>
          <p:cNvPr id="73" name="连接符: 肘形 72"/>
          <p:cNvCxnSpPr>
            <a:stCxn id="11" idx="2"/>
            <a:endCxn id="27" idx="0"/>
          </p:cNvCxnSpPr>
          <p:nvPr/>
        </p:nvCxnSpPr>
        <p:spPr bwMode="auto">
          <a:xfrm rot="5400000">
            <a:off x="3227704" y="3116399"/>
            <a:ext cx="452754" cy="222889"/>
          </a:xfrm>
          <a:prstGeom prst="bentConnector3">
            <a:avLst/>
          </a:prstGeom>
          <a:solidFill>
            <a:srgbClr val="4F81BD"/>
          </a:solidFill>
          <a:ln w="12700" cap="flat" cmpd="sng" algn="ctr">
            <a:solidFill>
              <a:srgbClr val="029E9A"/>
            </a:solidFill>
            <a:prstDash val="solid"/>
            <a:round/>
            <a:headEnd type="none" w="med" len="med"/>
            <a:tailEnd type="none" w="med" len="med"/>
          </a:ln>
        </p:spPr>
      </p:cxnSp>
      <p:cxnSp>
        <p:nvCxnSpPr>
          <p:cNvPr id="74" name="连接符: 肘形 73"/>
          <p:cNvCxnSpPr>
            <a:stCxn id="11" idx="2"/>
            <a:endCxn id="28" idx="0"/>
          </p:cNvCxnSpPr>
          <p:nvPr/>
        </p:nvCxnSpPr>
        <p:spPr bwMode="auto">
          <a:xfrm rot="16200000" flipH="1">
            <a:off x="3408044" y="3158947"/>
            <a:ext cx="458469" cy="143506"/>
          </a:xfrm>
          <a:prstGeom prst="bentConnector3">
            <a:avLst/>
          </a:prstGeom>
          <a:solidFill>
            <a:srgbClr val="4F81BD"/>
          </a:solidFill>
          <a:ln w="12700" cap="flat" cmpd="sng" algn="ctr">
            <a:solidFill>
              <a:srgbClr val="029E9A"/>
            </a:solidFill>
            <a:prstDash val="solid"/>
            <a:round/>
            <a:headEnd type="none" w="med" len="med"/>
            <a:tailEnd type="none" w="med" len="med"/>
          </a:ln>
        </p:spPr>
      </p:cxnSp>
      <p:cxnSp>
        <p:nvCxnSpPr>
          <p:cNvPr id="75" name="连接符: 肘形 74"/>
          <p:cNvCxnSpPr>
            <a:stCxn id="11" idx="2"/>
            <a:endCxn id="71" idx="0"/>
          </p:cNvCxnSpPr>
          <p:nvPr/>
        </p:nvCxnSpPr>
        <p:spPr bwMode="auto">
          <a:xfrm rot="16200000" flipH="1">
            <a:off x="3579176" y="2987815"/>
            <a:ext cx="457835" cy="485136"/>
          </a:xfrm>
          <a:prstGeom prst="bentConnector3">
            <a:avLst/>
          </a:prstGeom>
          <a:solidFill>
            <a:srgbClr val="4F81BD"/>
          </a:solidFill>
          <a:ln w="12700" cap="flat" cmpd="sng" algn="ctr">
            <a:solidFill>
              <a:srgbClr val="029E9A"/>
            </a:solidFill>
            <a:prstDash val="solid"/>
            <a:round/>
            <a:headEnd type="none" w="med" len="med"/>
            <a:tailEnd type="none" w="med" len="med"/>
          </a:ln>
        </p:spPr>
      </p:cxnSp>
      <p:sp>
        <p:nvSpPr>
          <p:cNvPr id="83" name="Rectangle 217"/>
          <p:cNvSpPr/>
          <p:nvPr/>
        </p:nvSpPr>
        <p:spPr>
          <a:xfrm>
            <a:off x="67310" y="4121700"/>
            <a:ext cx="360045" cy="466726"/>
          </a:xfrm>
          <a:prstGeom prst="rect">
            <a:avLst/>
          </a:prstGeom>
          <a:solidFill>
            <a:srgbClr val="FFFFFF"/>
          </a:solidFill>
          <a:ln>
            <a:noFill/>
          </a:ln>
          <a:effectLst/>
        </p:spPr>
        <p:txBody>
          <a:bodyPr lIns="90000" rtlCol="0" anchor="ctr"/>
          <a:lstStyle/>
          <a:p>
            <a:pPr algn="ctr">
              <a:defRPr/>
            </a:pPr>
            <a:r>
              <a:rPr lang="zh-CN" altLang="en-US" sz="1400" b="1" kern="0" dirty="0">
                <a:solidFill>
                  <a:srgbClr val="000000"/>
                </a:solidFill>
                <a:latin typeface="微软雅黑" panose="020B0503020204020204" pitchFamily="34" charset="-122"/>
                <a:ea typeface="微软雅黑" panose="020B0503020204020204" pitchFamily="34" charset="-122"/>
                <a:cs typeface="Helvetica"/>
              </a:rPr>
              <a:t>二级指标</a:t>
            </a:r>
            <a:endParaRPr lang="zh-CN" alt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竞争对手画像专题</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4975190" y="1117360"/>
            <a:ext cx="2105055" cy="360000"/>
          </a:xfrm>
          <a:prstGeom prst="rect">
            <a:avLst/>
          </a:prstGeom>
          <a:solidFill>
            <a:srgbClr val="0C7F8A"/>
          </a:solidFill>
          <a:ln>
            <a:solidFill>
              <a:srgbClr val="0C7F8A"/>
            </a:solid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sym typeface="+mn-ea"/>
              </a:rPr>
              <a:t>竞争对手画像</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sym typeface="+mn-ea"/>
            </a:endParaRPr>
          </a:p>
        </p:txBody>
      </p:sp>
      <p:sp>
        <p:nvSpPr>
          <p:cNvPr id="5" name="Rectangle 217"/>
          <p:cNvSpPr/>
          <p:nvPr/>
        </p:nvSpPr>
        <p:spPr>
          <a:xfrm>
            <a:off x="518257" y="1823280"/>
            <a:ext cx="442371" cy="477568"/>
          </a:xfrm>
          <a:prstGeom prst="rect">
            <a:avLst/>
          </a:prstGeom>
          <a:solidFill>
            <a:srgbClr val="FFFFFF"/>
          </a:solidFill>
          <a:ln>
            <a:noFill/>
          </a:ln>
          <a:effectLst/>
        </p:spPr>
        <p:txBody>
          <a:bodyPr lIns="90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6" name="Rectangle 36" descr="7b0a202020202262756c6c6574223a20227b5c2263617465676f727949645c223a5c225c222c5c2274656d706c61746549645c223a32303233313538377d220a7d0a"/>
          <p:cNvSpPr/>
          <p:nvPr/>
        </p:nvSpPr>
        <p:spPr>
          <a:xfrm>
            <a:off x="552132"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基础属性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7" name="Rectangle 37"/>
          <p:cNvSpPr/>
          <p:nvPr/>
        </p:nvSpPr>
        <p:spPr>
          <a:xfrm>
            <a:off x="2143107"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业务信息</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8" name="Rectangle 37"/>
          <p:cNvSpPr/>
          <p:nvPr/>
        </p:nvSpPr>
        <p:spPr>
          <a:xfrm>
            <a:off x="3679490"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财务信息</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9" name="Rectangle 37"/>
          <p:cNvSpPr/>
          <p:nvPr/>
        </p:nvSpPr>
        <p:spPr>
          <a:xfrm>
            <a:off x="9835497" y="2128277"/>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竞争分类分级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10" name="Rectangle 37"/>
          <p:cNvSpPr/>
          <p:nvPr/>
        </p:nvSpPr>
        <p:spPr>
          <a:xfrm>
            <a:off x="5209840" y="2128912"/>
            <a:ext cx="1296000" cy="323850"/>
          </a:xfrm>
          <a:prstGeom prst="rect">
            <a:avLst/>
          </a:prstGeom>
          <a:solidFill>
            <a:srgbClr val="009F9A"/>
          </a:solidFill>
          <a:ln>
            <a:noFill/>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cxnSp>
        <p:nvCxnSpPr>
          <p:cNvPr id="11" name="肘形连接符 6"/>
          <p:cNvCxnSpPr>
            <a:stCxn id="4" idx="2"/>
            <a:endCxn id="6" idx="0"/>
          </p:cNvCxnSpPr>
          <p:nvPr/>
        </p:nvCxnSpPr>
        <p:spPr>
          <a:xfrm rot="5400000">
            <a:off x="3288348" y="-610552"/>
            <a:ext cx="651510" cy="482790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cxnSp>
        <p:nvCxnSpPr>
          <p:cNvPr id="12" name="肘形连接符 8"/>
          <p:cNvCxnSpPr>
            <a:stCxn id="4" idx="2"/>
            <a:endCxn id="7" idx="0"/>
          </p:cNvCxnSpPr>
          <p:nvPr/>
        </p:nvCxnSpPr>
        <p:spPr>
          <a:xfrm rot="5400000">
            <a:off x="4083050" y="184785"/>
            <a:ext cx="651510" cy="323659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sp>
        <p:nvSpPr>
          <p:cNvPr id="13" name="Rectangle 37"/>
          <p:cNvSpPr/>
          <p:nvPr/>
        </p:nvSpPr>
        <p:spPr>
          <a:xfrm>
            <a:off x="6760192"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sp>
        <p:nvSpPr>
          <p:cNvPr id="14" name="Rectangle 37"/>
          <p:cNvSpPr/>
          <p:nvPr/>
        </p:nvSpPr>
        <p:spPr>
          <a:xfrm>
            <a:off x="8311180" y="2128912"/>
            <a:ext cx="1296000" cy="323850"/>
          </a:xfrm>
          <a:prstGeom prst="rect">
            <a:avLst/>
          </a:prstGeom>
          <a:solidFill>
            <a:srgbClr val="009F9A"/>
          </a:solidFill>
          <a:ln>
            <a:noFill/>
          </a:ln>
          <a:effectLst/>
        </p:spPr>
        <p:txBody>
          <a:bodyPr lIns="0" rIns="0" rtlCol="0" anchor="ctr"/>
          <a:lstStyle/>
          <a:p>
            <a:pPr marL="0" marR="0" lvl="0" indent="0" algn="ctr" defTabSz="4572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风险属性</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Helvetica"/>
            </a:endParaRPr>
          </a:p>
        </p:txBody>
      </p:sp>
      <p:cxnSp>
        <p:nvCxnSpPr>
          <p:cNvPr id="15" name="肘形连接符 16"/>
          <p:cNvCxnSpPr>
            <a:stCxn id="4" idx="2"/>
            <a:endCxn id="8" idx="0"/>
          </p:cNvCxnSpPr>
          <p:nvPr/>
        </p:nvCxnSpPr>
        <p:spPr>
          <a:xfrm rot="5400000">
            <a:off x="4851400" y="953135"/>
            <a:ext cx="651510" cy="1699895"/>
          </a:xfrm>
          <a:prstGeom prst="bentConnector3">
            <a:avLst>
              <a:gd name="adj1" fmla="val 49951"/>
            </a:avLst>
          </a:prstGeom>
          <a:noFill/>
          <a:ln w="19050" cap="flat" cmpd="sng" algn="ctr">
            <a:solidFill>
              <a:srgbClr val="0C7F8A"/>
            </a:solidFill>
            <a:prstDash val="solid"/>
            <a:headEnd type="none" w="med" len="med"/>
            <a:tailEnd type="none" w="med" len="med"/>
          </a:ln>
          <a:effectLst/>
        </p:spPr>
      </p:cxnSp>
      <p:cxnSp>
        <p:nvCxnSpPr>
          <p:cNvPr id="16" name="肘形连接符 18"/>
          <p:cNvCxnSpPr>
            <a:stCxn id="4" idx="2"/>
            <a:endCxn id="13" idx="0"/>
          </p:cNvCxnSpPr>
          <p:nvPr/>
        </p:nvCxnSpPr>
        <p:spPr>
          <a:xfrm rot="5400000" flipV="1">
            <a:off x="6392545" y="1113155"/>
            <a:ext cx="651510" cy="1380490"/>
          </a:xfrm>
          <a:prstGeom prst="bentConnector3">
            <a:avLst>
              <a:gd name="adj1" fmla="val 50000"/>
            </a:avLst>
          </a:prstGeom>
          <a:noFill/>
          <a:ln w="19050" cap="flat" cmpd="sng" algn="ctr">
            <a:solidFill>
              <a:srgbClr val="0C7F8A"/>
            </a:solidFill>
            <a:prstDash val="solid"/>
            <a:headEnd type="none" w="med" len="med"/>
            <a:tailEnd type="none" w="med" len="med"/>
          </a:ln>
          <a:effectLst/>
        </p:spPr>
      </p:cxnSp>
      <p:cxnSp>
        <p:nvCxnSpPr>
          <p:cNvPr id="17" name="肘形连接符 19"/>
          <p:cNvCxnSpPr>
            <a:stCxn id="4" idx="2"/>
            <a:endCxn id="14" idx="0"/>
          </p:cNvCxnSpPr>
          <p:nvPr/>
        </p:nvCxnSpPr>
        <p:spPr>
          <a:xfrm rot="5400000" flipV="1">
            <a:off x="7167880" y="337820"/>
            <a:ext cx="651510" cy="2931160"/>
          </a:xfrm>
          <a:prstGeom prst="bentConnector3">
            <a:avLst>
              <a:gd name="adj1" fmla="val 50000"/>
            </a:avLst>
          </a:prstGeom>
          <a:noFill/>
          <a:ln w="19050" cap="flat" cmpd="sng" algn="ctr">
            <a:solidFill>
              <a:srgbClr val="0C7F8A"/>
            </a:solidFill>
            <a:prstDash val="solid"/>
            <a:headEnd type="none" w="med" len="med"/>
            <a:tailEnd type="none" w="med" len="med"/>
          </a:ln>
          <a:effectLst/>
        </p:spPr>
      </p:cxnSp>
      <p:cxnSp>
        <p:nvCxnSpPr>
          <p:cNvPr id="18" name="肘形连接符 26"/>
          <p:cNvCxnSpPr>
            <a:stCxn id="4" idx="2"/>
            <a:endCxn id="9" idx="0"/>
          </p:cNvCxnSpPr>
          <p:nvPr/>
        </p:nvCxnSpPr>
        <p:spPr>
          <a:xfrm rot="5400000" flipV="1">
            <a:off x="7930515" y="-424815"/>
            <a:ext cx="650875" cy="4455795"/>
          </a:xfrm>
          <a:prstGeom prst="bentConnector3">
            <a:avLst>
              <a:gd name="adj1" fmla="val 50049"/>
            </a:avLst>
          </a:prstGeom>
          <a:noFill/>
          <a:ln w="19050" cap="flat" cmpd="sng" algn="ctr">
            <a:solidFill>
              <a:srgbClr val="0C7F8A"/>
            </a:solidFill>
            <a:prstDash val="solid"/>
            <a:headEnd type="none" w="med" len="med"/>
            <a:tailEnd type="none" w="med" len="med"/>
          </a:ln>
          <a:effectLst/>
        </p:spPr>
      </p:cxnSp>
      <p:sp>
        <p:nvSpPr>
          <p:cNvPr id="19" name="Rectangle: Rounded Corners 92"/>
          <p:cNvSpPr/>
          <p:nvPr>
            <p:custDataLst>
              <p:tags r:id="rId1"/>
            </p:custDataLst>
          </p:nvPr>
        </p:nvSpPr>
        <p:spPr>
          <a:xfrm>
            <a:off x="552133"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注册资本</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行业规模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员工规模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成立时长</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企业类型</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经营状态</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省份地区</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概念标签</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是否上市公司</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启信分</a:t>
            </a:r>
            <a:endPar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Rectangle: Rounded Corners 92"/>
          <p:cNvSpPr/>
          <p:nvPr>
            <p:custDataLst>
              <p:tags r:id="rId2"/>
            </p:custDataLst>
          </p:nvPr>
        </p:nvSpPr>
        <p:spPr>
          <a:xfrm>
            <a:off x="2143108"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主营业务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市场定位</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目标行业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业务挑战</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增长战略</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主要客户及份额</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21" name="Rectangle: Rounded Corners 92"/>
          <p:cNvSpPr/>
          <p:nvPr>
            <p:custDataLst>
              <p:tags r:id="rId3"/>
            </p:custDataLst>
          </p:nvPr>
        </p:nvSpPr>
        <p:spPr>
          <a:xfrm>
            <a:off x="3679490" y="266636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利润状况</a:t>
            </a:r>
            <a:endPar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财务健康</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Rectangle: Rounded Corners 92"/>
          <p:cNvSpPr/>
          <p:nvPr>
            <p:custDataLst>
              <p:tags r:id="rId4"/>
            </p:custDataLst>
          </p:nvPr>
        </p:nvSpPr>
        <p:spPr>
          <a:xfrm>
            <a:off x="9835498" y="266636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竞争分级</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战略对手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重要对手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普通对手</a:t>
            </a:r>
            <a:r>
              <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Rectangle: Rounded Corners 92"/>
          <p:cNvSpPr/>
          <p:nvPr>
            <p:custDataLst>
              <p:tags r:id="rId5"/>
            </p:custDataLst>
          </p:nvPr>
        </p:nvSpPr>
        <p:spPr>
          <a:xfrm>
            <a:off x="5209840"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决策角色</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岗位和职能</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决策者目标</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决策链条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其他个人特征</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组织结构</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Rectangle: Rounded Corners 92"/>
          <p:cNvSpPr/>
          <p:nvPr>
            <p:custDataLst>
              <p:tags r:id="rId6"/>
            </p:custDataLst>
          </p:nvPr>
        </p:nvSpPr>
        <p:spPr>
          <a:xfrm>
            <a:off x="6753843"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市场份额</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竞争地位</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竞品信息</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竞品价格</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市场趋势</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Rectangle: Rounded Corners 92"/>
          <p:cNvSpPr/>
          <p:nvPr>
            <p:custDataLst>
              <p:tags r:id="rId7"/>
            </p:custDataLst>
          </p:nvPr>
        </p:nvSpPr>
        <p:spPr>
          <a:xfrm>
            <a:off x="8311180" y="2662555"/>
            <a:ext cx="1296000" cy="2510155"/>
          </a:xfrm>
          <a:prstGeom prst="roundRect">
            <a:avLst>
              <a:gd name="adj" fmla="val 0"/>
            </a:avLst>
          </a:prstGeom>
          <a:solidFill>
            <a:srgbClr val="E3F5F1"/>
          </a:solidFill>
          <a:ln w="19050" cap="flat" cmpd="sng" algn="ctr">
            <a:noFill/>
            <a:prstDash val="solid"/>
          </a:ln>
          <a:effectLst/>
        </p:spPr>
        <p:txBody>
          <a:bodyPr spcFirstLastPara="0" vert="horz" wrap="square" lIns="16972" tIns="16972" rIns="16972" bIns="16972" numCol="1" spcCol="1270" anchor="ctr"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偷税漏税</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严重违法失信</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股权冻结</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重大负面舆情</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法人变更</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行政处罚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环保处罚</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立案信息</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空壳指数</a:t>
            </a:r>
            <a:endParaRPr kumimoji="0" lang="zh-CN" altLang="en-US" sz="106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6" name="连接符: 肘形 25"/>
          <p:cNvCxnSpPr>
            <a:stCxn id="4" idx="2"/>
            <a:endCxn id="10" idx="0"/>
          </p:cNvCxnSpPr>
          <p:nvPr/>
        </p:nvCxnSpPr>
        <p:spPr>
          <a:xfrm rot="5400000">
            <a:off x="5617003" y="1718197"/>
            <a:ext cx="651552" cy="169878"/>
          </a:xfrm>
          <a:prstGeom prst="bentConnector3">
            <a:avLst/>
          </a:prstGeom>
          <a:noFill/>
          <a:ln w="12700" cap="flat">
            <a:solidFill>
              <a:srgbClr val="0C7F8A"/>
            </a:solidFill>
            <a:prstDash val="solid"/>
            <a:miter lim="800000"/>
          </a:ln>
          <a:effectLst/>
        </p:spPr>
      </p:cxnSp>
      <p:sp>
        <p:nvSpPr>
          <p:cNvPr id="27" name="文本框 26"/>
          <p:cNvSpPr txBox="1"/>
          <p:nvPr/>
        </p:nvSpPr>
        <p:spPr>
          <a:xfrm>
            <a:off x="3313039" y="5780183"/>
            <a:ext cx="4736804" cy="20002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需要区域销售收集这部分数据</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、销售赢单</a:t>
            </a:r>
            <a:r>
              <a:rPr lang="en-US" altLang="zh-CN" dirty="0"/>
              <a:t>LTO</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AutoShape 16"/>
          <p:cNvSpPr/>
          <p:nvPr>
            <p:custDataLst>
              <p:tags r:id="rId1"/>
            </p:custDataLst>
          </p:nvPr>
        </p:nvSpPr>
        <p:spPr>
          <a:xfrm rot="16200000">
            <a:off x="2352457" y="-679892"/>
            <a:ext cx="1095375" cy="5410835"/>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FFFFFF">
              <a:lumMod val="50000"/>
            </a:srgbClr>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华文楷体" panose="02010600040101010101" pitchFamily="2" charset="-122"/>
              <a:cs typeface="Helvetica"/>
            </a:endParaRPr>
          </a:p>
        </p:txBody>
      </p:sp>
      <p:sp>
        <p:nvSpPr>
          <p:cNvPr id="5" name="文本框 4"/>
          <p:cNvSpPr txBox="1"/>
          <p:nvPr/>
        </p:nvSpPr>
        <p:spPr>
          <a:xfrm>
            <a:off x="563245" y="1856570"/>
            <a:ext cx="1007110" cy="306705"/>
          </a:xfrm>
          <a:prstGeom prst="rect">
            <a:avLst/>
          </a:prstGeom>
          <a:noFill/>
        </p:spPr>
        <p:txBody>
          <a:bodyPr wrap="square" rtlCol="0">
            <a:spAutoFit/>
          </a:bodyPr>
          <a:lstStyle/>
          <a:p>
            <a:pPr eaLnBrk="0" fontAlgn="base" hangingPunct="0">
              <a:spcBef>
                <a:spcPct val="0"/>
              </a:spcBef>
              <a:spcAft>
                <a:spcPct val="0"/>
              </a:spcAft>
            </a:pPr>
            <a:r>
              <a:rPr lang="zh-CN" altLang="en-US" sz="1400" b="1">
                <a:solidFill>
                  <a:srgbClr val="FFFFFF"/>
                </a:solidFill>
                <a:latin typeface="微软雅黑" panose="020B0503020204020204" pitchFamily="34" charset="-122"/>
                <a:ea typeface="微软雅黑" panose="020B0503020204020204" pitchFamily="34" charset="-122"/>
                <a:cs typeface="Helvetica"/>
              </a:rPr>
              <a:t>市场</a:t>
            </a:r>
            <a:endParaRPr lang="zh-CN" altLang="en-US" sz="1400" b="1">
              <a:solidFill>
                <a:srgbClr val="FFFFFF"/>
              </a:solidFill>
              <a:latin typeface="微软雅黑" panose="020B0503020204020204" pitchFamily="34" charset="-122"/>
              <a:ea typeface="微软雅黑" panose="020B0503020204020204" pitchFamily="34" charset="-122"/>
              <a:cs typeface="Helvetica"/>
            </a:endParaRPr>
          </a:p>
        </p:txBody>
      </p:sp>
      <p:sp>
        <p:nvSpPr>
          <p:cNvPr id="6" name="文本框 5"/>
          <p:cNvSpPr txBox="1"/>
          <p:nvPr>
            <p:custDataLst>
              <p:tags r:id="rId2"/>
            </p:custDataLst>
          </p:nvPr>
        </p:nvSpPr>
        <p:spPr>
          <a:xfrm>
            <a:off x="3336290" y="185625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线索</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7" name="直接连接符 6"/>
          <p:cNvCxnSpPr/>
          <p:nvPr/>
        </p:nvCxnSpPr>
        <p:spPr>
          <a:xfrm>
            <a:off x="1772920" y="2491570"/>
            <a:ext cx="0" cy="3274695"/>
          </a:xfrm>
          <a:prstGeom prst="line">
            <a:avLst/>
          </a:prstGeom>
          <a:solidFill>
            <a:srgbClr val="4F81BD"/>
          </a:solidFill>
          <a:ln w="9525" cap="flat" cmpd="sng" algn="ctr">
            <a:solidFill>
              <a:srgbClr val="FFFFFF">
                <a:lumMod val="50000"/>
              </a:srgbClr>
            </a:solidFill>
            <a:prstDash val="solid"/>
            <a:round/>
            <a:headEnd type="none" w="med" len="med"/>
            <a:tailEnd type="none" w="med" len="med"/>
          </a:ln>
        </p:spPr>
      </p:cxnSp>
      <p:cxnSp>
        <p:nvCxnSpPr>
          <p:cNvPr id="8" name="直接连接符 7"/>
          <p:cNvCxnSpPr/>
          <p:nvPr/>
        </p:nvCxnSpPr>
        <p:spPr>
          <a:xfrm>
            <a:off x="222885" y="2537925"/>
            <a:ext cx="0" cy="3204210"/>
          </a:xfrm>
          <a:prstGeom prst="line">
            <a:avLst/>
          </a:prstGeom>
          <a:solidFill>
            <a:srgbClr val="4F81BD"/>
          </a:solidFill>
          <a:ln w="9525" cap="flat" cmpd="sng" algn="ctr">
            <a:solidFill>
              <a:srgbClr val="FFFFFF">
                <a:lumMod val="50000"/>
              </a:srgbClr>
            </a:solidFill>
            <a:prstDash val="solid"/>
            <a:round/>
            <a:headEnd type="none" w="med" len="med"/>
            <a:tailEnd type="none" w="med" len="med"/>
          </a:ln>
        </p:spPr>
      </p:cxnSp>
      <p:grpSp>
        <p:nvGrpSpPr>
          <p:cNvPr id="9" name="组合 8"/>
          <p:cNvGrpSpPr/>
          <p:nvPr/>
        </p:nvGrpSpPr>
        <p:grpSpPr>
          <a:xfrm>
            <a:off x="215900" y="2684610"/>
            <a:ext cx="1928495" cy="2525395"/>
            <a:chOff x="340" y="3706"/>
            <a:chExt cx="3037" cy="3977"/>
          </a:xfrm>
        </p:grpSpPr>
        <p:sp>
          <p:nvSpPr>
            <p:cNvPr id="10" name="文本框 9"/>
            <p:cNvSpPr txBox="1"/>
            <p:nvPr/>
          </p:nvSpPr>
          <p:spPr>
            <a:xfrm>
              <a:off x="351" y="3706"/>
              <a:ext cx="2084" cy="434"/>
            </a:xfrm>
            <a:prstGeom prst="rect">
              <a:avLst/>
            </a:prstGeom>
            <a:noFill/>
          </p:spPr>
          <p:txBody>
            <a:bodyPr wrap="square" rtlCol="0">
              <a:spAutoFit/>
            </a:bodyPr>
            <a:lstStyle/>
            <a:p>
              <a:pPr eaLnBrk="0" fontAlgn="base" hangingPunct="0">
                <a:spcBef>
                  <a:spcPct val="0"/>
                </a:spcBef>
                <a:spcAft>
                  <a:spcPct val="0"/>
                </a:spcAft>
              </a:pPr>
              <a:r>
                <a:rPr lang="zh-CN" altLang="en-US" sz="1200" b="1">
                  <a:solidFill>
                    <a:srgbClr val="FFFFFF">
                      <a:lumMod val="50000"/>
                    </a:srgbClr>
                  </a:solidFill>
                  <a:latin typeface="微软雅黑" panose="020B0503020204020204" pitchFamily="34" charset="-122"/>
                  <a:ea typeface="微软雅黑" panose="020B0503020204020204" pitchFamily="34" charset="-122"/>
                  <a:cs typeface="Helvetica"/>
                </a:rPr>
                <a:t>市场分析</a:t>
              </a:r>
              <a:endParaRPr lang="zh-CN" altLang="en-US" sz="1200" b="1">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1" name="文本框 10"/>
            <p:cNvSpPr txBox="1"/>
            <p:nvPr>
              <p:custDataLst>
                <p:tags r:id="rId3"/>
              </p:custDataLst>
            </p:nvPr>
          </p:nvSpPr>
          <p:spPr>
            <a:xfrm>
              <a:off x="340" y="4340"/>
              <a:ext cx="3037" cy="3343"/>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市占率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存量市场规模</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市场规模增长率</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潜在客户名单及数量</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竞争对手名单及数量</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竞品及价格</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竞品市占率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新客数量</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公海池客户个数</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订单金额增长率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rPr>
                <a:t>客户流失率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sym typeface="+mn-ea"/>
              </a:endParaRPr>
            </a:p>
          </p:txBody>
        </p:sp>
      </p:grpSp>
      <p:sp>
        <p:nvSpPr>
          <p:cNvPr id="12" name="右箭头 1"/>
          <p:cNvSpPr/>
          <p:nvPr>
            <p:custDataLst>
              <p:tags r:id="rId4"/>
            </p:custDataLst>
          </p:nvPr>
        </p:nvSpPr>
        <p:spPr>
          <a:xfrm>
            <a:off x="245745" y="2901780"/>
            <a:ext cx="1476000" cy="154305"/>
          </a:xfrm>
          <a:prstGeom prst="rightArrow">
            <a:avLst/>
          </a:prstGeom>
          <a:solidFill>
            <a:srgbClr val="FFFFFF">
              <a:lumMod val="50000"/>
            </a:srgbClr>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3" name="文本框 12"/>
          <p:cNvSpPr txBox="1"/>
          <p:nvPr>
            <p:custDataLst>
              <p:tags r:id="rId5"/>
            </p:custDataLst>
          </p:nvPr>
        </p:nvSpPr>
        <p:spPr>
          <a:xfrm>
            <a:off x="1773555" y="2696040"/>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市场活动与费用</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4" name="文本框 13"/>
          <p:cNvSpPr txBox="1"/>
          <p:nvPr>
            <p:custDataLst>
              <p:tags r:id="rId6"/>
            </p:custDataLst>
          </p:nvPr>
        </p:nvSpPr>
        <p:spPr>
          <a:xfrm>
            <a:off x="3722557" y="2714485"/>
            <a:ext cx="1323340" cy="275590"/>
          </a:xfrm>
          <a:prstGeom prst="rect">
            <a:avLst/>
          </a:prstGeom>
          <a:noFill/>
        </p:spPr>
        <p:txBody>
          <a:bodyPr wrap="square" rtlCol="0">
            <a:spAutoFit/>
          </a:bodyPr>
          <a:lstStyle/>
          <a:p>
            <a:pPr eaLnBrk="0" fontAlgn="base" hangingPunct="0">
              <a:spcBef>
                <a:spcPct val="0"/>
              </a:spcBef>
              <a:spcAft>
                <a:spcPct val="0"/>
              </a:spcAft>
            </a:pP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线索管理</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15" name="AutoShape 16"/>
          <p:cNvSpPr/>
          <p:nvPr>
            <p:custDataLst>
              <p:tags r:id="rId7"/>
            </p:custDataLst>
          </p:nvPr>
        </p:nvSpPr>
        <p:spPr>
          <a:xfrm rot="16200000">
            <a:off x="8498205" y="-1163435"/>
            <a:ext cx="644525" cy="6337935"/>
          </a:xfrm>
          <a:custGeom>
            <a:avLst/>
            <a:gdLst>
              <a:gd name="txL" fmla="*/ 3960 w 21600"/>
              <a:gd name="txT" fmla="*/ 3960 h 21600"/>
              <a:gd name="txR" fmla="*/ 17640 w 21600"/>
              <a:gd name="txB" fmla="*/ 17640 h 21600"/>
            </a:gdLst>
            <a:ahLst/>
            <a:cxnLst>
              <a:cxn ang="0">
                <a:pos x="1060486" y="44347158"/>
              </a:cxn>
              <a:cxn ang="0">
                <a:pos x="1060486" y="44347158"/>
              </a:cxn>
              <a:cxn ang="0">
                <a:pos x="1060486" y="44347158"/>
              </a:cxn>
              <a:cxn ang="0">
                <a:pos x="1060486" y="0"/>
              </a:cxn>
            </a:cxnLst>
            <a:rect l="txL" t="txT" r="txR" b="txB"/>
            <a:pathLst>
              <a:path w="21600" h="21600">
                <a:moveTo>
                  <a:pt x="0" y="0"/>
                </a:moveTo>
                <a:lnTo>
                  <a:pt x="4310" y="21600"/>
                </a:lnTo>
                <a:lnTo>
                  <a:pt x="17290" y="21600"/>
                </a:lnTo>
                <a:lnTo>
                  <a:pt x="21600" y="0"/>
                </a:lnTo>
                <a:lnTo>
                  <a:pt x="0" y="0"/>
                </a:lnTo>
                <a:close/>
              </a:path>
            </a:pathLst>
          </a:custGeom>
          <a:solidFill>
            <a:srgbClr val="0C7F8A"/>
          </a:solidFill>
          <a:ln w="9525" cap="flat" cmpd="sng">
            <a:noFill/>
            <a:prstDash val="solid"/>
            <a:miter lim="800000"/>
            <a:headEnd type="none" w="med" len="med"/>
            <a:tailEnd type="none" w="med" len="med"/>
          </a:ln>
        </p:spPr>
        <p:txBody>
          <a:bodyPr/>
          <a:lstStyle/>
          <a:p>
            <a:pPr eaLnBrk="0" fontAlgn="base" hangingPunct="0">
              <a:spcBef>
                <a:spcPct val="0"/>
              </a:spcBef>
              <a:spcAft>
                <a:spcPct val="0"/>
              </a:spcAft>
              <a:defRPr/>
            </a:pPr>
            <a:endParaRPr lang="zh-CN" altLang="en-US" b="1" kern="0">
              <a:solidFill>
                <a:srgbClr val="FFFFFF"/>
              </a:solidFill>
              <a:latin typeface="华文楷体" panose="02010600040101010101" pitchFamily="2" charset="-122"/>
              <a:cs typeface="Helvetica"/>
            </a:endParaRPr>
          </a:p>
        </p:txBody>
      </p:sp>
      <p:sp>
        <p:nvSpPr>
          <p:cNvPr id="16" name="文本框 15"/>
          <p:cNvSpPr txBox="1"/>
          <p:nvPr>
            <p:custDataLst>
              <p:tags r:id="rId8"/>
            </p:custDataLst>
          </p:nvPr>
        </p:nvSpPr>
        <p:spPr>
          <a:xfrm>
            <a:off x="6010275" y="1867683"/>
            <a:ext cx="2032000" cy="306705"/>
          </a:xfrm>
          <a:prstGeom prst="rect">
            <a:avLst/>
          </a:prstGeom>
          <a:noFill/>
        </p:spPr>
        <p:txBody>
          <a:bodyPr wrap="square" rtlCol="0">
            <a:spAutoFit/>
          </a:bodyPr>
          <a:lstStyle/>
          <a:p>
            <a:pPr eaLnBrk="0" fontAlgn="base" hangingPunct="0">
              <a:spcBef>
                <a:spcPct val="0"/>
              </a:spcBef>
              <a:spcAft>
                <a:spcPct val="0"/>
              </a:spcAft>
            </a:pPr>
            <a:r>
              <a:rPr lang="zh-CN" altLang="en-US" sz="1400" b="1">
                <a:solidFill>
                  <a:srgbClr val="FFFFFF"/>
                </a:solidFill>
                <a:latin typeface="微软雅黑" panose="020B0503020204020204" pitchFamily="34" charset="-122"/>
                <a:ea typeface="微软雅黑" panose="020B0503020204020204" pitchFamily="34" charset="-122"/>
                <a:cs typeface="Helvetica"/>
              </a:rPr>
              <a:t>商机</a:t>
            </a:r>
            <a:endParaRPr lang="zh-CN" altLang="en-US" sz="1400" b="1">
              <a:solidFill>
                <a:srgbClr val="FFFFFF"/>
              </a:solidFill>
              <a:latin typeface="微软雅黑" panose="020B0503020204020204" pitchFamily="34" charset="-122"/>
              <a:ea typeface="微软雅黑" panose="020B0503020204020204" pitchFamily="34" charset="-122"/>
              <a:cs typeface="Helvetica"/>
            </a:endParaRPr>
          </a:p>
        </p:txBody>
      </p:sp>
      <p:sp>
        <p:nvSpPr>
          <p:cNvPr id="17" name="文本框 16"/>
          <p:cNvSpPr txBox="1"/>
          <p:nvPr>
            <p:custDataLst>
              <p:tags r:id="rId9"/>
            </p:custDataLst>
          </p:nvPr>
        </p:nvSpPr>
        <p:spPr>
          <a:xfrm>
            <a:off x="10953115" y="1868000"/>
            <a:ext cx="1089025" cy="306705"/>
          </a:xfrm>
          <a:prstGeom prst="rect">
            <a:avLst/>
          </a:prstGeom>
          <a:noFill/>
        </p:spPr>
        <p:txBody>
          <a:bodyPr wrap="square" rtlCol="0">
            <a:spAutoFit/>
          </a:bodyPr>
          <a:lstStyle/>
          <a:p>
            <a:pPr eaLnBrk="0" fontAlgn="base" hangingPunct="0">
              <a:spcBef>
                <a:spcPct val="0"/>
              </a:spcBef>
              <a:spcAft>
                <a:spcPct val="0"/>
              </a:spcAft>
            </a:pPr>
            <a:r>
              <a:rPr lang="zh-CN" altLang="en-US" sz="1400" b="1" dirty="0">
                <a:solidFill>
                  <a:srgbClr val="FFFFFF"/>
                </a:solidFill>
                <a:latin typeface="微软雅黑" panose="020B0503020204020204" pitchFamily="34" charset="-122"/>
                <a:ea typeface="微软雅黑" panose="020B0503020204020204" pitchFamily="34" charset="-122"/>
                <a:cs typeface="Helvetica"/>
              </a:rPr>
              <a:t>订单</a:t>
            </a:r>
            <a:endParaRPr lang="zh-CN" altLang="en-US" sz="14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8" name="右箭头 1"/>
          <p:cNvSpPr/>
          <p:nvPr>
            <p:custDataLst>
              <p:tags r:id="rId10"/>
            </p:custDataLst>
          </p:nvPr>
        </p:nvSpPr>
        <p:spPr>
          <a:xfrm>
            <a:off x="1848485" y="2901780"/>
            <a:ext cx="3708000" cy="154305"/>
          </a:xfrm>
          <a:prstGeom prst="rightArrow">
            <a:avLst/>
          </a:prstGeom>
          <a:solidFill>
            <a:srgbClr val="FFFFFF">
              <a:lumMod val="50000"/>
            </a:srgbClr>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9" name="直接连接符 18"/>
          <p:cNvCxnSpPr/>
          <p:nvPr>
            <p:custDataLst>
              <p:tags r:id="rId11"/>
            </p:custDataLst>
          </p:nvPr>
        </p:nvCxnSpPr>
        <p:spPr>
          <a:xfrm>
            <a:off x="5631815" y="2346155"/>
            <a:ext cx="0" cy="3552825"/>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20" name="右箭头 1"/>
          <p:cNvSpPr/>
          <p:nvPr>
            <p:custDataLst>
              <p:tags r:id="rId12"/>
            </p:custDataLst>
          </p:nvPr>
        </p:nvSpPr>
        <p:spPr>
          <a:xfrm>
            <a:off x="5696585" y="2898605"/>
            <a:ext cx="5004000" cy="154305"/>
          </a:xfrm>
          <a:prstGeom prst="rightArrow">
            <a:avLst/>
          </a:prstGeom>
          <a:solidFill>
            <a:srgbClr val="0C7F8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21" name="直接连接符 20"/>
          <p:cNvCxnSpPr/>
          <p:nvPr>
            <p:custDataLst>
              <p:tags r:id="rId13"/>
            </p:custDataLst>
          </p:nvPr>
        </p:nvCxnSpPr>
        <p:spPr>
          <a:xfrm>
            <a:off x="10753090" y="2236300"/>
            <a:ext cx="0" cy="3662680"/>
          </a:xfrm>
          <a:prstGeom prst="line">
            <a:avLst/>
          </a:prstGeom>
          <a:solidFill>
            <a:srgbClr val="4F81BD"/>
          </a:solidFill>
          <a:ln w="9525" cap="flat" cmpd="sng" algn="ctr">
            <a:solidFill>
              <a:srgbClr val="0070C0"/>
            </a:solidFill>
            <a:prstDash val="solid"/>
            <a:round/>
            <a:headEnd type="none" w="med" len="med"/>
            <a:tailEnd type="none" w="med" len="med"/>
          </a:ln>
        </p:spPr>
      </p:cxnSp>
      <p:sp>
        <p:nvSpPr>
          <p:cNvPr id="22" name="文本框 21"/>
          <p:cNvSpPr txBox="1"/>
          <p:nvPr>
            <p:custDataLst>
              <p:tags r:id="rId14"/>
            </p:custDataLst>
          </p:nvPr>
        </p:nvSpPr>
        <p:spPr>
          <a:xfrm>
            <a:off x="7320916" y="2696275"/>
            <a:ext cx="1323340" cy="275590"/>
          </a:xfrm>
          <a:prstGeom prst="rect">
            <a:avLst/>
          </a:prstGeom>
          <a:noFill/>
        </p:spPr>
        <p:txBody>
          <a:bodyPr wrap="square" rtlCol="0">
            <a:spAutoFit/>
          </a:bodyPr>
          <a:lstStyle/>
          <a:p>
            <a:pPr algn="ctr" eaLnBrk="0" fontAlgn="base" hangingPunct="0">
              <a:spcBef>
                <a:spcPct val="0"/>
              </a:spcBef>
              <a:spcAft>
                <a:spcPct val="0"/>
              </a:spcAft>
            </a:pPr>
            <a:r>
              <a:rPr lang="zh-CN" altLang="en-US" sz="1200" b="1" dirty="0">
                <a:solidFill>
                  <a:srgbClr val="0C7F8A"/>
                </a:solidFill>
                <a:latin typeface="微软雅黑" panose="020B0503020204020204" pitchFamily="34" charset="-122"/>
                <a:ea typeface="微软雅黑" panose="020B0503020204020204" pitchFamily="34" charset="-122"/>
                <a:cs typeface="Helvetica"/>
              </a:rPr>
              <a:t>商机管理</a:t>
            </a:r>
            <a:endParaRPr lang="zh-CN" altLang="en-US" sz="1200" b="1" dirty="0">
              <a:solidFill>
                <a:srgbClr val="0C7F8A"/>
              </a:solidFill>
              <a:latin typeface="微软雅黑" panose="020B0503020204020204" pitchFamily="34" charset="-122"/>
              <a:ea typeface="微软雅黑" panose="020B0503020204020204" pitchFamily="34" charset="-122"/>
              <a:cs typeface="Helvetica"/>
            </a:endParaRPr>
          </a:p>
        </p:txBody>
      </p:sp>
      <p:grpSp>
        <p:nvGrpSpPr>
          <p:cNvPr id="23" name="组合 22"/>
          <p:cNvGrpSpPr/>
          <p:nvPr/>
        </p:nvGrpSpPr>
        <p:grpSpPr>
          <a:xfrm>
            <a:off x="10856595" y="2675720"/>
            <a:ext cx="1224915" cy="1025525"/>
            <a:chOff x="3022" y="3743"/>
            <a:chExt cx="2374" cy="1615"/>
          </a:xfrm>
        </p:grpSpPr>
        <p:sp>
          <p:nvSpPr>
            <p:cNvPr id="24" name="文本框 23"/>
            <p:cNvSpPr txBox="1"/>
            <p:nvPr>
              <p:custDataLst>
                <p:tags r:id="rId15"/>
              </p:custDataLst>
            </p:nvPr>
          </p:nvSpPr>
          <p:spPr>
            <a:xfrm>
              <a:off x="3022" y="3743"/>
              <a:ext cx="2084" cy="434"/>
            </a:xfrm>
            <a:prstGeom prst="rect">
              <a:avLst/>
            </a:prstGeom>
            <a:noFill/>
          </p:spPr>
          <p:txBody>
            <a:bodyPr wrap="square" rtlCol="0">
              <a:spAutoFit/>
            </a:bodyPr>
            <a:lstStyle/>
            <a:p>
              <a:pPr algn="ctr" eaLnBrk="0" fontAlgn="base" hangingPunct="0">
                <a:spcBef>
                  <a:spcPct val="0"/>
                </a:spcBef>
                <a:spcAft>
                  <a:spcPct val="0"/>
                </a:spcAft>
              </a:pPr>
              <a:r>
                <a:rPr lang="zh-CN" altLang="en-US" sz="1200" b="1" dirty="0">
                  <a:latin typeface="微软雅黑" panose="020B0503020204020204" pitchFamily="34" charset="-122"/>
                  <a:ea typeface="微软雅黑" panose="020B0503020204020204" pitchFamily="34" charset="-122"/>
                  <a:cs typeface="Helvetica"/>
                </a:rPr>
                <a:t>赢单</a:t>
              </a:r>
              <a:endParaRPr lang="zh-CN" altLang="en-US" sz="1200" b="1" dirty="0">
                <a:latin typeface="微软雅黑" panose="020B0503020204020204" pitchFamily="34" charset="-122"/>
                <a:ea typeface="微软雅黑" panose="020B0503020204020204" pitchFamily="34" charset="-122"/>
                <a:cs typeface="Helvetica"/>
              </a:endParaRPr>
            </a:p>
          </p:txBody>
        </p:sp>
        <p:sp>
          <p:nvSpPr>
            <p:cNvPr id="25" name="文本框 24"/>
            <p:cNvSpPr txBox="1"/>
            <p:nvPr>
              <p:custDataLst>
                <p:tags r:id="rId16"/>
              </p:custDataLst>
            </p:nvPr>
          </p:nvSpPr>
          <p:spPr>
            <a:xfrm>
              <a:off x="3022" y="4340"/>
              <a:ext cx="2374" cy="1018"/>
            </a:xfrm>
            <a:prstGeom prst="rect">
              <a:avLst/>
            </a:prstGeom>
            <a:noFill/>
          </p:spPr>
          <p:txBody>
            <a:bodyPr wrap="square" rtlCol="0">
              <a:spAutoFit/>
            </a:bodyPr>
            <a:lstStyle/>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销售订单数量</a:t>
              </a:r>
              <a:endParaRPr lang="zh-CN" altLang="en-US"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销售订单金额</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en-US" altLang="zh-CN" sz="1200" b="1" dirty="0">
                <a:latin typeface="微软雅黑" panose="020B0503020204020204" pitchFamily="34" charset="-122"/>
                <a:ea typeface="微软雅黑" panose="020B0503020204020204" pitchFamily="34" charset="-122"/>
                <a:cs typeface="Helvetica"/>
              </a:endParaRPr>
            </a:p>
          </p:txBody>
        </p:sp>
      </p:grpSp>
      <p:sp>
        <p:nvSpPr>
          <p:cNvPr id="26" name="右箭头 1"/>
          <p:cNvSpPr/>
          <p:nvPr>
            <p:custDataLst>
              <p:tags r:id="rId17"/>
            </p:custDataLst>
          </p:nvPr>
        </p:nvSpPr>
        <p:spPr>
          <a:xfrm>
            <a:off x="10787380" y="2898605"/>
            <a:ext cx="1296000" cy="154305"/>
          </a:xfrm>
          <a:prstGeom prst="rightArrow">
            <a:avLst/>
          </a:prstGeom>
          <a:solidFill>
            <a:srgbClr val="0C7F8A"/>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27" name="直接连接符 26"/>
          <p:cNvCxnSpPr/>
          <p:nvPr>
            <p:custDataLst>
              <p:tags r:id="rId18"/>
            </p:custDataLst>
          </p:nvPr>
        </p:nvCxnSpPr>
        <p:spPr>
          <a:xfrm>
            <a:off x="1779270" y="1529545"/>
            <a:ext cx="0" cy="9499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28" name="直接连接符 27"/>
          <p:cNvCxnSpPr/>
          <p:nvPr>
            <p:custDataLst>
              <p:tags r:id="rId19"/>
            </p:custDataLst>
          </p:nvPr>
        </p:nvCxnSpPr>
        <p:spPr>
          <a:xfrm>
            <a:off x="10755630" y="957580"/>
            <a:ext cx="0" cy="949960"/>
          </a:xfrm>
          <a:prstGeom prst="line">
            <a:avLst/>
          </a:prstGeom>
          <a:solidFill>
            <a:srgbClr val="4F81BD"/>
          </a:solidFill>
          <a:ln w="9525" cap="flat" cmpd="sng" algn="ctr">
            <a:solidFill>
              <a:srgbClr val="FFFFFF"/>
            </a:solidFill>
            <a:prstDash val="solid"/>
            <a:round/>
            <a:headEnd type="none" w="med" len="med"/>
            <a:tailEnd type="none" w="med" len="med"/>
          </a:ln>
        </p:spPr>
      </p:cxnSp>
      <p:cxnSp>
        <p:nvCxnSpPr>
          <p:cNvPr id="29" name="直接连接符 28"/>
          <p:cNvCxnSpPr/>
          <p:nvPr>
            <p:custDataLst>
              <p:tags r:id="rId20"/>
            </p:custDataLst>
          </p:nvPr>
        </p:nvCxnSpPr>
        <p:spPr>
          <a:xfrm>
            <a:off x="5636260" y="1678135"/>
            <a:ext cx="0" cy="668020"/>
          </a:xfrm>
          <a:prstGeom prst="line">
            <a:avLst/>
          </a:prstGeom>
          <a:solidFill>
            <a:srgbClr val="4F81BD"/>
          </a:solidFill>
          <a:ln w="9525" cap="flat" cmpd="sng" algn="ctr">
            <a:solidFill>
              <a:srgbClr val="FFFFFF"/>
            </a:solidFill>
            <a:prstDash val="solid"/>
            <a:round/>
            <a:headEnd type="none" w="med" len="med"/>
            <a:tailEnd type="none" w="med" len="med"/>
          </a:ln>
        </p:spPr>
      </p:cxnSp>
      <p:sp>
        <p:nvSpPr>
          <p:cNvPr id="30" name="文本框 29"/>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核心价值：通过精细化管理和策略优化，将高质量的销售线索转化为商机项目和订单，实现销售流程的高效闭环，从而驱动企业订单持续增长和营业收入稳步提升。</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31" name="文本框 30"/>
          <p:cNvSpPr txBox="1"/>
          <p:nvPr/>
        </p:nvSpPr>
        <p:spPr>
          <a:xfrm>
            <a:off x="5925902" y="4649252"/>
            <a:ext cx="4113368" cy="1800225"/>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维度：</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阶段（需求、方案设计、方案认可、投标、商务谈判、中标待采、合同签订、预付款）</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商机金额分段、</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时间分段（月度、周）</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渠道类型（准直销、渠道</a:t>
            </a:r>
            <a:r>
              <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囤货、渠道</a:t>
            </a:r>
            <a:r>
              <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非囤货）</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项目状态（已下单、未下单、取消、丢单）</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产品领域（固装、创意、</a:t>
            </a:r>
            <a:r>
              <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a:p>
            <a:pPr marL="285750" marR="0" lvl="0" indent="-285750" defTabSz="914400" eaLnBrk="1"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300" b="0" i="0" u="none" strike="noStrike" kern="0" cap="none" spc="0" normalizeH="0" baseline="0" noProof="0" dirty="0">
                <a:ln>
                  <a:noFill/>
                </a:ln>
                <a:solidFill>
                  <a:srgbClr val="000000"/>
                </a:solidFill>
                <a:effectLst/>
                <a:uLnTx/>
                <a:uFillTx/>
                <a:ea typeface="+mj-ea"/>
                <a:cs typeface="Calibri" panose="020F0502020204030204"/>
                <a:sym typeface="Calibri" panose="020F0502020204030204"/>
              </a:rPr>
              <a:t>成单概率</a:t>
            </a:r>
            <a:endParaRPr kumimoji="0" lang="en-US" altLang="zh-CN" sz="1300" b="0" i="0" u="none" strike="noStrike" kern="0" cap="none" spc="0" normalizeH="0" baseline="0" noProof="0" dirty="0">
              <a:ln>
                <a:noFill/>
              </a:ln>
              <a:solidFill>
                <a:srgbClr val="000000"/>
              </a:solidFill>
              <a:effectLst/>
              <a:uLnTx/>
              <a:uFillTx/>
              <a:ea typeface="Calibri" panose="020F0502020204030204"/>
              <a:cs typeface="Calibri" panose="020F0502020204030204"/>
              <a:sym typeface="Calibri" panose="020F0502020204030204"/>
            </a:endParaRPr>
          </a:p>
        </p:txBody>
      </p:sp>
      <p:sp>
        <p:nvSpPr>
          <p:cNvPr id="32" name="文本框 31"/>
          <p:cNvSpPr txBox="1"/>
          <p:nvPr>
            <p:custDataLst>
              <p:tags r:id="rId21"/>
            </p:custDataLst>
          </p:nvPr>
        </p:nvSpPr>
        <p:spPr>
          <a:xfrm>
            <a:off x="5853430" y="3052910"/>
            <a:ext cx="4476512" cy="1383665"/>
          </a:xfrm>
          <a:prstGeom prst="rect">
            <a:avLst/>
          </a:prstGeom>
          <a:noFill/>
        </p:spPr>
        <p:txBody>
          <a:bodyPr wrap="square" rtlCol="0">
            <a:spAutoFit/>
          </a:bodyPr>
          <a:lstStyle/>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全部商机数量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（阶段</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商机类型</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endParaRPr lang="zh-CN" altLang="en-US"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重要商机数量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（产品领域</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区域</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渠道</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必保商机数量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（项目状态</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产品是否到型号）</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竞争产品价格</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丢单分析</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（丢单原因</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业务员）</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对必保商机</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商机转换率</a:t>
            </a:r>
            <a:endParaRPr lang="en-US" altLang="zh-CN" sz="1200" b="1" dirty="0">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销售预测数量</a:t>
            </a:r>
            <a:r>
              <a:rPr lang="en-US" altLang="zh-CN" sz="1200" b="1" dirty="0">
                <a:latin typeface="微软雅黑" panose="020B0503020204020204" pitchFamily="34" charset="-122"/>
                <a:ea typeface="微软雅黑" panose="020B0503020204020204" pitchFamily="34" charset="-122"/>
                <a:cs typeface="Helvetica"/>
              </a:rPr>
              <a:t>/</a:t>
            </a:r>
            <a:r>
              <a:rPr lang="zh-CN" altLang="en-US" sz="1200" b="1" dirty="0">
                <a:latin typeface="微软雅黑" panose="020B0503020204020204" pitchFamily="34" charset="-122"/>
                <a:ea typeface="微软雅黑" panose="020B0503020204020204" pitchFamily="34" charset="-122"/>
                <a:cs typeface="Helvetica"/>
              </a:rPr>
              <a:t>金额</a:t>
            </a:r>
            <a:endParaRPr lang="en-US" altLang="zh-CN" sz="1200" b="1" dirty="0">
              <a:latin typeface="微软雅黑" panose="020B0503020204020204" pitchFamily="34" charset="-122"/>
              <a:ea typeface="微软雅黑" panose="020B0503020204020204" pitchFamily="34" charset="-122"/>
              <a:cs typeface="Helvetica"/>
            </a:endParaRPr>
          </a:p>
        </p:txBody>
      </p:sp>
      <p:sp>
        <p:nvSpPr>
          <p:cNvPr id="33" name="文本框 32"/>
          <p:cNvSpPr txBox="1"/>
          <p:nvPr>
            <p:custDataLst>
              <p:tags r:id="rId22"/>
            </p:custDataLst>
          </p:nvPr>
        </p:nvSpPr>
        <p:spPr>
          <a:xfrm>
            <a:off x="3670749" y="3060908"/>
            <a:ext cx="1644015" cy="1938020"/>
          </a:xfrm>
          <a:prstGeom prst="rect">
            <a:avLst/>
          </a:prstGeom>
          <a:noFill/>
        </p:spPr>
        <p:txBody>
          <a:bodyPr wrap="square" rtlCol="0">
            <a:spAutoFit/>
          </a:bodyPr>
          <a:lstStyle/>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线索数量</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线索状态</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线索增长率</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en-US" altLang="zh-CN" sz="1200" b="1" dirty="0" err="1">
                <a:solidFill>
                  <a:srgbClr val="FFFFFF">
                    <a:lumMod val="50000"/>
                  </a:srgbClr>
                </a:solidFill>
                <a:latin typeface="微软雅黑" panose="020B0503020204020204" pitchFamily="34" charset="-122"/>
                <a:ea typeface="微软雅黑" panose="020B0503020204020204" pitchFamily="34" charset="-122"/>
                <a:cs typeface="Helvetica"/>
              </a:rPr>
              <a:t>有效线索数</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量金额</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现场签单数量金额</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新增客户</a:t>
            </a: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线上</a:t>
            </a: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线下</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新增客户</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线索响应时间</a:t>
            </a:r>
            <a:endPar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r>
              <a:rPr lang="en-US" altLang="zh-CN" sz="1200" b="1" dirty="0">
                <a:solidFill>
                  <a:srgbClr val="FFFFFF">
                    <a:lumMod val="50000"/>
                  </a:srgbClr>
                </a:solidFill>
                <a:latin typeface="微软雅黑" panose="020B0503020204020204" pitchFamily="34" charset="-122"/>
                <a:ea typeface="微软雅黑" panose="020B0503020204020204" pitchFamily="34" charset="-122"/>
                <a:cs typeface="Helvetica"/>
              </a:rPr>
              <a:t>-</a:t>
            </a:r>
            <a:r>
              <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rPr>
              <a:t>线索转换率</a:t>
            </a: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a:p>
            <a:pPr eaLnBrk="0" fontAlgn="base" hangingPunct="0">
              <a:spcBef>
                <a:spcPct val="0"/>
              </a:spcBef>
              <a:spcAft>
                <a:spcPct val="0"/>
              </a:spcAft>
            </a:pPr>
            <a:endParaRPr lang="zh-CN" altLang="en-US" sz="1200" b="1" dirty="0">
              <a:solidFill>
                <a:srgbClr val="FFFFFF">
                  <a:lumMod val="50000"/>
                </a:srgbClr>
              </a:solidFill>
              <a:latin typeface="微软雅黑" panose="020B0503020204020204" pitchFamily="34" charset="-122"/>
              <a:ea typeface="微软雅黑" panose="020B0503020204020204" pitchFamily="34" charset="-122"/>
              <a:cs typeface="Helvetica"/>
            </a:endParaRPr>
          </a:p>
        </p:txBody>
      </p:sp>
      <p:sp>
        <p:nvSpPr>
          <p:cNvPr id="34" name="文本框 33"/>
          <p:cNvSpPr txBox="1"/>
          <p:nvPr/>
        </p:nvSpPr>
        <p:spPr>
          <a:xfrm>
            <a:off x="1795980" y="3045926"/>
            <a:ext cx="1828937" cy="1014730"/>
          </a:xfrm>
          <a:prstGeom prst="rect">
            <a:avLst/>
          </a:prstGeom>
          <a:noFill/>
          <a:ln w="12700" cap="flat">
            <a:noFill/>
            <a:miter lim="400000"/>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rPr>
              <a:t>营销活动状态</a:t>
            </a:r>
            <a:endPar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Helvetica"/>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3</a:t>
            </a:r>
            <a:r>
              <a:rPr lang="zh-CN" altLang="en-US" kern="0" dirty="0">
                <a:solidFill>
                  <a:srgbClr val="000000"/>
                </a:solidFill>
                <a:cs typeface="Helvetica"/>
                <a:sym typeface="+mn-ea"/>
              </a:rPr>
              <a:t>、销售执行</a:t>
            </a:r>
            <a:r>
              <a:rPr lang="en-US" altLang="zh-CN" kern="0" dirty="0">
                <a:solidFill>
                  <a:srgbClr val="000000"/>
                </a:solidFill>
                <a:cs typeface="Helvetica"/>
                <a:sym typeface="+mn-ea"/>
              </a:rPr>
              <a:t>-</a:t>
            </a:r>
            <a:r>
              <a:rPr lang="zh-CN" altLang="en-US" kern="0" dirty="0">
                <a:solidFill>
                  <a:srgbClr val="000000"/>
                </a:solidFill>
                <a:cs typeface="Helvetica"/>
                <a:sym typeface="+mn-ea"/>
              </a:rPr>
              <a:t>履约收款</a:t>
            </a:r>
            <a:r>
              <a:rPr lang="en-US" altLang="zh-CN" kern="0" dirty="0">
                <a:solidFill>
                  <a:srgbClr val="000000"/>
                </a:solidFill>
                <a:cs typeface="Helvetica"/>
                <a:sym typeface="+mn-ea"/>
              </a:rPr>
              <a:t>OTC</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右箭头 1"/>
          <p:cNvSpPr/>
          <p:nvPr/>
        </p:nvSpPr>
        <p:spPr>
          <a:xfrm>
            <a:off x="445135" y="1688544"/>
            <a:ext cx="11343640" cy="360045"/>
          </a:xfrm>
          <a:prstGeom prst="rightArrow">
            <a:avLst/>
          </a:prstGeom>
          <a:solidFill>
            <a:srgbClr val="009F9A"/>
          </a:solidFill>
          <a:ln w="19050" cap="flat" cmpd="sng" algn="ctr">
            <a:solidFill>
              <a:srgbClr val="009F9A"/>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 name="椭圆 4"/>
          <p:cNvSpPr/>
          <p:nvPr/>
        </p:nvSpPr>
        <p:spPr>
          <a:xfrm>
            <a:off x="403106" y="1647499"/>
            <a:ext cx="442371" cy="442371"/>
          </a:xfrm>
          <a:prstGeom prst="ellipse">
            <a:avLst/>
          </a:prstGeom>
          <a:solidFill>
            <a:srgbClr val="009F9A"/>
          </a:solid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6" name="椭圆 5"/>
          <p:cNvSpPr/>
          <p:nvPr/>
        </p:nvSpPr>
        <p:spPr>
          <a:xfrm>
            <a:off x="6052486" y="1647499"/>
            <a:ext cx="442371" cy="442371"/>
          </a:xfrm>
          <a:prstGeom prst="ellipse">
            <a:avLst/>
          </a:prstGeom>
          <a:solidFill>
            <a:srgbClr val="009F9A"/>
          </a:solid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7" name="文本框 21"/>
          <p:cNvSpPr txBox="1"/>
          <p:nvPr/>
        </p:nvSpPr>
        <p:spPr>
          <a:xfrm>
            <a:off x="805015" y="2274723"/>
            <a:ext cx="7924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下单时效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 name="文本框 36"/>
          <p:cNvSpPr txBox="1"/>
          <p:nvPr/>
        </p:nvSpPr>
        <p:spPr>
          <a:xfrm>
            <a:off x="805015" y="3103383"/>
            <a:ext cx="151892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销售订单数量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 </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 name="肘形连接符 43"/>
          <p:cNvCxnSpPr>
            <a:stCxn id="5" idx="4"/>
            <a:endCxn id="7" idx="1"/>
          </p:cNvCxnSpPr>
          <p:nvPr/>
        </p:nvCxnSpPr>
        <p:spPr>
          <a:xfrm rot="5400000" flipV="1">
            <a:off x="553720" y="2160905"/>
            <a:ext cx="322580" cy="180340"/>
          </a:xfrm>
          <a:prstGeom prst="bentConnector2">
            <a:avLst/>
          </a:prstGeom>
          <a:noFill/>
          <a:ln w="19050" cap="flat" cmpd="sng" algn="ctr">
            <a:solidFill>
              <a:srgbClr val="009F9A"/>
            </a:solidFill>
            <a:prstDash val="solid"/>
            <a:miter lim="800000"/>
          </a:ln>
          <a:effectLst/>
        </p:spPr>
      </p:cxnSp>
      <p:cxnSp>
        <p:nvCxnSpPr>
          <p:cNvPr id="10" name="肘形连接符 44"/>
          <p:cNvCxnSpPr>
            <a:stCxn id="5" idx="4"/>
            <a:endCxn id="32" idx="1"/>
          </p:cNvCxnSpPr>
          <p:nvPr/>
        </p:nvCxnSpPr>
        <p:spPr>
          <a:xfrm rot="5400000" flipV="1">
            <a:off x="321310" y="2393315"/>
            <a:ext cx="787400" cy="180340"/>
          </a:xfrm>
          <a:prstGeom prst="bentConnector2">
            <a:avLst/>
          </a:prstGeom>
          <a:noFill/>
          <a:ln w="19050" cap="flat" cmpd="sng" algn="ctr">
            <a:solidFill>
              <a:srgbClr val="009F9A"/>
            </a:solidFill>
            <a:prstDash val="solid"/>
            <a:miter lim="800000"/>
          </a:ln>
          <a:effectLst/>
        </p:spPr>
      </p:cxnSp>
      <p:cxnSp>
        <p:nvCxnSpPr>
          <p:cNvPr id="11" name="肘形连接符 45"/>
          <p:cNvCxnSpPr>
            <a:stCxn id="5" idx="4"/>
            <a:endCxn id="8" idx="1"/>
          </p:cNvCxnSpPr>
          <p:nvPr/>
        </p:nvCxnSpPr>
        <p:spPr>
          <a:xfrm rot="5400000" flipV="1">
            <a:off x="139383" y="2575243"/>
            <a:ext cx="1151255" cy="180340"/>
          </a:xfrm>
          <a:prstGeom prst="bentConnector2">
            <a:avLst/>
          </a:prstGeom>
          <a:noFill/>
          <a:ln w="19050" cap="flat" cmpd="sng" algn="ctr">
            <a:solidFill>
              <a:srgbClr val="009F9A"/>
            </a:solidFill>
            <a:prstDash val="solid"/>
            <a:miter lim="800000"/>
          </a:ln>
          <a:effectLst/>
        </p:spPr>
      </p:cxnSp>
      <p:sp>
        <p:nvSpPr>
          <p:cNvPr id="12" name="文本框 48"/>
          <p:cNvSpPr txBox="1"/>
          <p:nvPr/>
        </p:nvSpPr>
        <p:spPr>
          <a:xfrm>
            <a:off x="2576187" y="2184854"/>
            <a:ext cx="1097280" cy="460375"/>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在手未结订单</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3" name="肘形连接符 58"/>
          <p:cNvCxnSpPr>
            <a:stCxn id="30" idx="4"/>
          </p:cNvCxnSpPr>
          <p:nvPr/>
        </p:nvCxnSpPr>
        <p:spPr>
          <a:xfrm rot="5400000" flipV="1">
            <a:off x="2338689" y="2174637"/>
            <a:ext cx="322580" cy="153035"/>
          </a:xfrm>
          <a:prstGeom prst="bentConnector2">
            <a:avLst/>
          </a:prstGeom>
          <a:noFill/>
          <a:ln w="19050" cap="flat" cmpd="sng" algn="ctr">
            <a:solidFill>
              <a:srgbClr val="009F9A"/>
            </a:solidFill>
            <a:prstDash val="solid"/>
            <a:miter lim="800000"/>
          </a:ln>
          <a:effectLst/>
        </p:spPr>
      </p:cxnSp>
      <p:cxnSp>
        <p:nvCxnSpPr>
          <p:cNvPr id="14" name="肘形连接符 23"/>
          <p:cNvCxnSpPr>
            <a:stCxn id="59" idx="4"/>
            <a:endCxn id="34" idx="1"/>
          </p:cNvCxnSpPr>
          <p:nvPr/>
        </p:nvCxnSpPr>
        <p:spPr>
          <a:xfrm rot="5400000" flipV="1">
            <a:off x="2908935" y="3262630"/>
            <a:ext cx="2523490" cy="177800"/>
          </a:xfrm>
          <a:prstGeom prst="bentConnector2">
            <a:avLst/>
          </a:prstGeom>
          <a:noFill/>
          <a:ln w="19050" cap="flat" cmpd="sng" algn="ctr">
            <a:solidFill>
              <a:srgbClr val="009F9A"/>
            </a:solidFill>
            <a:prstDash val="solid"/>
            <a:miter lim="800000"/>
          </a:ln>
          <a:effectLst/>
        </p:spPr>
      </p:cxnSp>
      <p:cxnSp>
        <p:nvCxnSpPr>
          <p:cNvPr id="15" name="肘形连接符 24"/>
          <p:cNvCxnSpPr>
            <a:stCxn id="59" idx="4"/>
            <a:endCxn id="35" idx="1"/>
          </p:cNvCxnSpPr>
          <p:nvPr/>
        </p:nvCxnSpPr>
        <p:spPr>
          <a:xfrm rot="5400000" flipV="1">
            <a:off x="3381375" y="2790190"/>
            <a:ext cx="1578610" cy="177800"/>
          </a:xfrm>
          <a:prstGeom prst="bentConnector2">
            <a:avLst/>
          </a:prstGeom>
          <a:noFill/>
          <a:ln w="19050" cap="flat" cmpd="sng" algn="ctr">
            <a:solidFill>
              <a:srgbClr val="009F9A"/>
            </a:solidFill>
            <a:prstDash val="solid"/>
            <a:miter lim="800000"/>
          </a:ln>
          <a:effectLst/>
        </p:spPr>
      </p:cxnSp>
      <p:cxnSp>
        <p:nvCxnSpPr>
          <p:cNvPr id="16" name="肘形连接符 26"/>
          <p:cNvCxnSpPr>
            <a:stCxn id="59" idx="4"/>
            <a:endCxn id="99" idx="1"/>
          </p:cNvCxnSpPr>
          <p:nvPr/>
        </p:nvCxnSpPr>
        <p:spPr>
          <a:xfrm rot="5400000" flipV="1">
            <a:off x="2496820" y="3674745"/>
            <a:ext cx="3345815" cy="175895"/>
          </a:xfrm>
          <a:prstGeom prst="bentConnector2">
            <a:avLst/>
          </a:prstGeom>
          <a:noFill/>
          <a:ln w="19050" cap="flat" cmpd="sng" algn="ctr">
            <a:solidFill>
              <a:srgbClr val="009F9A"/>
            </a:solidFill>
            <a:prstDash val="solid"/>
            <a:miter lim="800000"/>
          </a:ln>
          <a:effectLst/>
        </p:spPr>
      </p:cxnSp>
      <p:sp>
        <p:nvSpPr>
          <p:cNvPr id="17" name="文本框 27"/>
          <p:cNvSpPr txBox="1"/>
          <p:nvPr/>
        </p:nvSpPr>
        <p:spPr>
          <a:xfrm>
            <a:off x="6451418" y="2118281"/>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订单发运及时率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8" name="文本框 28"/>
          <p:cNvSpPr txBox="1"/>
          <p:nvPr/>
        </p:nvSpPr>
        <p:spPr>
          <a:xfrm>
            <a:off x="6451418" y="300007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物流费用金额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9" name="文本框 29"/>
          <p:cNvSpPr txBox="1"/>
          <p:nvPr/>
        </p:nvSpPr>
        <p:spPr>
          <a:xfrm>
            <a:off x="6451418" y="3690484"/>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异常物流费用占比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20" name="肘形连接符 40"/>
          <p:cNvCxnSpPr>
            <a:stCxn id="6" idx="4"/>
            <a:endCxn id="17" idx="1"/>
          </p:cNvCxnSpPr>
          <p:nvPr/>
        </p:nvCxnSpPr>
        <p:spPr>
          <a:xfrm rot="5400000" flipV="1">
            <a:off x="6279515" y="2084070"/>
            <a:ext cx="166370" cy="177800"/>
          </a:xfrm>
          <a:prstGeom prst="bentConnector2">
            <a:avLst/>
          </a:prstGeom>
          <a:noFill/>
          <a:ln w="19050" cap="flat" cmpd="sng" algn="ctr">
            <a:solidFill>
              <a:srgbClr val="009F9A"/>
            </a:solidFill>
            <a:prstDash val="solid"/>
            <a:miter lim="800000"/>
          </a:ln>
          <a:effectLst/>
        </p:spPr>
      </p:cxnSp>
      <p:cxnSp>
        <p:nvCxnSpPr>
          <p:cNvPr id="21" name="肘形连接符 51"/>
          <p:cNvCxnSpPr>
            <a:stCxn id="6" idx="4"/>
            <a:endCxn id="18" idx="1"/>
          </p:cNvCxnSpPr>
          <p:nvPr/>
        </p:nvCxnSpPr>
        <p:spPr>
          <a:xfrm rot="5400000" flipV="1">
            <a:off x="5838508" y="2525078"/>
            <a:ext cx="1048385" cy="177800"/>
          </a:xfrm>
          <a:prstGeom prst="bentConnector2">
            <a:avLst/>
          </a:prstGeom>
          <a:noFill/>
          <a:ln w="19050" cap="flat" cmpd="sng" algn="ctr">
            <a:solidFill>
              <a:srgbClr val="009F9A"/>
            </a:solidFill>
            <a:prstDash val="solid"/>
            <a:miter lim="800000"/>
          </a:ln>
          <a:effectLst/>
        </p:spPr>
      </p:cxnSp>
      <p:cxnSp>
        <p:nvCxnSpPr>
          <p:cNvPr id="22" name="肘形连接符 52"/>
          <p:cNvCxnSpPr>
            <a:stCxn id="6" idx="4"/>
            <a:endCxn id="19" idx="1"/>
          </p:cNvCxnSpPr>
          <p:nvPr/>
        </p:nvCxnSpPr>
        <p:spPr>
          <a:xfrm rot="5400000" flipV="1">
            <a:off x="5493385" y="2870200"/>
            <a:ext cx="1738630" cy="177800"/>
          </a:xfrm>
          <a:prstGeom prst="bentConnector2">
            <a:avLst/>
          </a:prstGeom>
          <a:noFill/>
          <a:ln w="19050" cap="flat" cmpd="sng" algn="ctr">
            <a:solidFill>
              <a:srgbClr val="009F9A"/>
            </a:solidFill>
            <a:prstDash val="solid"/>
            <a:miter lim="800000"/>
          </a:ln>
          <a:effectLst/>
        </p:spPr>
      </p:cxnSp>
      <p:sp>
        <p:nvSpPr>
          <p:cNvPr id="23" name="文本框 4"/>
          <p:cNvSpPr txBox="1"/>
          <p:nvPr/>
        </p:nvSpPr>
        <p:spPr>
          <a:xfrm>
            <a:off x="72105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订单响应</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4" name="文本框 12"/>
          <p:cNvSpPr txBox="1"/>
          <p:nvPr/>
        </p:nvSpPr>
        <p:spPr>
          <a:xfrm>
            <a:off x="2527311"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交期答复</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5" name="文本框 15"/>
          <p:cNvSpPr txBox="1"/>
          <p:nvPr/>
        </p:nvSpPr>
        <p:spPr>
          <a:xfrm>
            <a:off x="4211031" y="1432376"/>
            <a:ext cx="168275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订单履行</a:t>
            </a:r>
            <a:r>
              <a:rPr lang="en-US" altLang="zh-CN"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产品发货</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6" name="文本框 16"/>
          <p:cNvSpPr txBox="1"/>
          <p:nvPr/>
        </p:nvSpPr>
        <p:spPr>
          <a:xfrm>
            <a:off x="6451374"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物流运输</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27" name="图形 26" descr="清单 轮廓"/>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4926" y="1674714"/>
            <a:ext cx="360000" cy="360000"/>
          </a:xfrm>
          <a:prstGeom prst="rect">
            <a:avLst/>
          </a:prstGeom>
        </p:spPr>
      </p:pic>
      <p:pic>
        <p:nvPicPr>
          <p:cNvPr id="28" name="图形 27" descr="自卸卡车 轮廓"/>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2784" y="1659474"/>
            <a:ext cx="360000" cy="360000"/>
          </a:xfrm>
          <a:prstGeom prst="rect">
            <a:avLst/>
          </a:prstGeom>
        </p:spPr>
      </p:pic>
      <p:grpSp>
        <p:nvGrpSpPr>
          <p:cNvPr id="29" name="组合 28"/>
          <p:cNvGrpSpPr/>
          <p:nvPr/>
        </p:nvGrpSpPr>
        <p:grpSpPr>
          <a:xfrm>
            <a:off x="2201846" y="1647269"/>
            <a:ext cx="441960" cy="441960"/>
            <a:chOff x="4091" y="2759"/>
            <a:chExt cx="696" cy="696"/>
          </a:xfrm>
          <a:solidFill>
            <a:srgbClr val="009F9A"/>
          </a:solidFill>
        </p:grpSpPr>
        <p:sp>
          <p:nvSpPr>
            <p:cNvPr id="30" name="椭圆 29"/>
            <p:cNvSpPr/>
            <p:nvPr/>
          </p:nvSpPr>
          <p:spPr>
            <a:xfrm>
              <a:off x="4091" y="2759"/>
              <a:ext cx="697" cy="697"/>
            </a:xfrm>
            <a:prstGeom prst="ellipse">
              <a:avLst/>
            </a:prstGeom>
            <a:grp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31" name="图形 30" descr="电子邮件 轮廓"/>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56" y="2802"/>
              <a:ext cx="567" cy="567"/>
            </a:xfrm>
            <a:prstGeom prst="rect">
              <a:avLst/>
            </a:prstGeom>
          </p:spPr>
        </p:pic>
      </p:grpSp>
      <p:sp>
        <p:nvSpPr>
          <p:cNvPr id="32" name="文本框 21"/>
          <p:cNvSpPr txBox="1"/>
          <p:nvPr/>
        </p:nvSpPr>
        <p:spPr>
          <a:xfrm>
            <a:off x="805015" y="2739543"/>
            <a:ext cx="17068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eaLnBrk="0" fontAlgn="base" hangingPunct="0">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订单打款财务审批时效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3" name="文本框 49"/>
          <p:cNvSpPr txBox="1"/>
          <p:nvPr/>
        </p:nvSpPr>
        <p:spPr>
          <a:xfrm>
            <a:off x="2576187" y="2645229"/>
            <a:ext cx="10972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交期答复时间</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4" name="文本框 49"/>
          <p:cNvSpPr txBox="1"/>
          <p:nvPr>
            <p:custDataLst>
              <p:tags r:id="rId7"/>
            </p:custDataLst>
          </p:nvPr>
        </p:nvSpPr>
        <p:spPr>
          <a:xfrm>
            <a:off x="4259563" y="4475527"/>
            <a:ext cx="148790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物料齐套率及时率</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5" name="文本框 49"/>
          <p:cNvSpPr txBox="1"/>
          <p:nvPr>
            <p:custDataLst>
              <p:tags r:id="rId8"/>
            </p:custDataLst>
          </p:nvPr>
        </p:nvSpPr>
        <p:spPr>
          <a:xfrm>
            <a:off x="4259563" y="3437882"/>
            <a:ext cx="1473835" cy="460375"/>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订单变更次数</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变更类型</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原因）</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36" name="文本框 66"/>
          <p:cNvSpPr txBox="1"/>
          <p:nvPr>
            <p:custDataLst>
              <p:tags r:id="rId9"/>
            </p:custDataLst>
          </p:nvPr>
        </p:nvSpPr>
        <p:spPr>
          <a:xfrm>
            <a:off x="4259563" y="3875121"/>
            <a:ext cx="1495586"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订单交付周期</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37" name="肘形连接符 26"/>
          <p:cNvCxnSpPr>
            <a:stCxn id="59" idx="4"/>
            <a:endCxn id="36" idx="1"/>
          </p:cNvCxnSpPr>
          <p:nvPr>
            <p:custDataLst>
              <p:tags r:id="rId10"/>
            </p:custDataLst>
          </p:nvPr>
        </p:nvCxnSpPr>
        <p:spPr>
          <a:xfrm rot="5400000" flipV="1">
            <a:off x="3208973" y="2962593"/>
            <a:ext cx="1923415" cy="177800"/>
          </a:xfrm>
          <a:prstGeom prst="bentConnector2">
            <a:avLst/>
          </a:prstGeom>
          <a:noFill/>
          <a:ln w="19050" cap="flat" cmpd="sng" algn="ctr">
            <a:solidFill>
              <a:srgbClr val="009F9A"/>
            </a:solidFill>
            <a:prstDash val="solid"/>
            <a:miter lim="800000"/>
          </a:ln>
          <a:effectLst/>
        </p:spPr>
      </p:cxnSp>
      <p:sp>
        <p:nvSpPr>
          <p:cNvPr id="38" name="文本框 29"/>
          <p:cNvSpPr txBox="1"/>
          <p:nvPr>
            <p:custDataLst>
              <p:tags r:id="rId11"/>
            </p:custDataLst>
          </p:nvPr>
        </p:nvSpPr>
        <p:spPr>
          <a:xfrm>
            <a:off x="6451418" y="3978939"/>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一次性费用占比</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39" name="文本框 29"/>
          <p:cNvSpPr txBox="1"/>
          <p:nvPr>
            <p:custDataLst>
              <p:tags r:id="rId12"/>
            </p:custDataLst>
          </p:nvPr>
        </p:nvSpPr>
        <p:spPr>
          <a:xfrm>
            <a:off x="6451418" y="4451379"/>
            <a:ext cx="1441420" cy="460375"/>
          </a:xfrm>
          <a:prstGeom prst="rect">
            <a:avLst/>
          </a:prstGeom>
          <a:solidFill>
            <a:srgbClr val="000000">
              <a:alpha val="0"/>
            </a:srgbClr>
          </a:solidFill>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物流资料的完整性</a:t>
            </a:r>
            <a:endParaRPr lang="en-US" altLang="zh-CN" sz="1200" b="1" dirty="0">
              <a:solidFill>
                <a:srgbClr val="000000"/>
              </a:solidFill>
              <a:latin typeface="微软雅黑" panose="020B0503020204020204" pitchFamily="34" charset="-122"/>
              <a:ea typeface="微软雅黑" panose="020B0503020204020204" pitchFamily="34" charset="-122"/>
              <a:cs typeface="Helvetica"/>
              <a:sym typeface="+mn-ea"/>
            </a:endParaRPr>
          </a:p>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rPr>
              <a:t>（按条件判断）</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40" name="肘形连接符 52"/>
          <p:cNvCxnSpPr>
            <a:stCxn id="6" idx="4"/>
            <a:endCxn id="38" idx="1"/>
          </p:cNvCxnSpPr>
          <p:nvPr>
            <p:custDataLst>
              <p:tags r:id="rId13"/>
            </p:custDataLst>
          </p:nvPr>
        </p:nvCxnSpPr>
        <p:spPr>
          <a:xfrm rot="5400000" flipV="1">
            <a:off x="5349240" y="3014345"/>
            <a:ext cx="2026920" cy="177800"/>
          </a:xfrm>
          <a:prstGeom prst="bentConnector2">
            <a:avLst/>
          </a:prstGeom>
          <a:noFill/>
          <a:ln w="19050" cap="flat" cmpd="sng" algn="ctr">
            <a:solidFill>
              <a:srgbClr val="009F9A"/>
            </a:solidFill>
            <a:prstDash val="solid"/>
            <a:miter lim="800000"/>
          </a:ln>
          <a:effectLst/>
        </p:spPr>
      </p:cxnSp>
      <p:cxnSp>
        <p:nvCxnSpPr>
          <p:cNvPr id="41" name="肘形连接符 52"/>
          <p:cNvCxnSpPr>
            <a:stCxn id="6" idx="4"/>
            <a:endCxn id="39" idx="1"/>
          </p:cNvCxnSpPr>
          <p:nvPr>
            <p:custDataLst>
              <p:tags r:id="rId14"/>
            </p:custDataLst>
          </p:nvPr>
        </p:nvCxnSpPr>
        <p:spPr>
          <a:xfrm rot="5400000" flipV="1">
            <a:off x="5066665" y="3296920"/>
            <a:ext cx="2592070" cy="177800"/>
          </a:xfrm>
          <a:prstGeom prst="bentConnector2">
            <a:avLst/>
          </a:prstGeom>
          <a:noFill/>
          <a:ln w="19050" cap="flat" cmpd="sng" algn="ctr">
            <a:solidFill>
              <a:srgbClr val="009F9A"/>
            </a:solidFill>
            <a:prstDash val="solid"/>
            <a:miter lim="800000"/>
          </a:ln>
          <a:effectLst/>
        </p:spPr>
      </p:cxnSp>
      <p:sp>
        <p:nvSpPr>
          <p:cNvPr id="42" name="椭圆 41"/>
          <p:cNvSpPr/>
          <p:nvPr>
            <p:custDataLst>
              <p:tags r:id="rId15"/>
            </p:custDataLst>
          </p:nvPr>
        </p:nvSpPr>
        <p:spPr>
          <a:xfrm>
            <a:off x="10095660" y="1624204"/>
            <a:ext cx="442371" cy="442371"/>
          </a:xfrm>
          <a:prstGeom prst="ellipse">
            <a:avLst/>
          </a:prstGeom>
          <a:solidFill>
            <a:srgbClr val="009F9A"/>
          </a:solid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43" name="图片 42" descr="收款"/>
          <p:cNvPicPr>
            <a:picLocks noChangeAspect="1"/>
          </p:cNvPicPr>
          <p:nvPr/>
        </p:nvPicPr>
        <p:blipFill>
          <a:blip r:embed="rId16"/>
          <a:stretch>
            <a:fillRect/>
          </a:stretch>
        </p:blipFill>
        <p:spPr>
          <a:xfrm>
            <a:off x="10095660" y="1613409"/>
            <a:ext cx="442371" cy="442371"/>
          </a:xfrm>
          <a:prstGeom prst="rect">
            <a:avLst/>
          </a:prstGeom>
          <a:noFill/>
          <a:ln w="19050">
            <a:noFill/>
          </a:ln>
        </p:spPr>
      </p:pic>
      <p:sp>
        <p:nvSpPr>
          <p:cNvPr id="44" name="文本框 17"/>
          <p:cNvSpPr txBox="1"/>
          <p:nvPr>
            <p:custDataLst>
              <p:tags r:id="rId17"/>
            </p:custDataLst>
          </p:nvPr>
        </p:nvSpPr>
        <p:spPr>
          <a:xfrm>
            <a:off x="10563622" y="1432376"/>
            <a:ext cx="8940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销售回款</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5" name="文本框 27"/>
          <p:cNvSpPr txBox="1"/>
          <p:nvPr>
            <p:custDataLst>
              <p:tags r:id="rId18"/>
            </p:custDataLst>
          </p:nvPr>
        </p:nvSpPr>
        <p:spPr>
          <a:xfrm>
            <a:off x="10474115" y="2274757"/>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销售回款金额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46" name="肘形连接符 76"/>
          <p:cNvCxnSpPr>
            <a:stCxn id="42" idx="4"/>
            <a:endCxn id="45" idx="1"/>
          </p:cNvCxnSpPr>
          <p:nvPr>
            <p:custDataLst>
              <p:tags r:id="rId19"/>
            </p:custDataLst>
          </p:nvPr>
        </p:nvCxnSpPr>
        <p:spPr>
          <a:xfrm rot="5400000" flipV="1">
            <a:off x="10223183" y="2161223"/>
            <a:ext cx="345440" cy="156845"/>
          </a:xfrm>
          <a:prstGeom prst="bentConnector2">
            <a:avLst/>
          </a:prstGeom>
          <a:noFill/>
          <a:ln w="19050" cap="flat" cmpd="sng" algn="ctr">
            <a:solidFill>
              <a:srgbClr val="009F9A"/>
            </a:solidFill>
            <a:prstDash val="solid"/>
            <a:miter lim="800000"/>
          </a:ln>
          <a:effectLst/>
        </p:spPr>
      </p:cxnSp>
      <p:sp>
        <p:nvSpPr>
          <p:cNvPr id="47" name="文本框 27"/>
          <p:cNvSpPr txBox="1"/>
          <p:nvPr>
            <p:custDataLst>
              <p:tags r:id="rId20"/>
            </p:custDataLst>
          </p:nvPr>
        </p:nvSpPr>
        <p:spPr>
          <a:xfrm>
            <a:off x="10474115" y="4283365"/>
            <a:ext cx="9448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回款及时率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8" name="文本框 27"/>
          <p:cNvSpPr txBox="1"/>
          <p:nvPr>
            <p:custDataLst>
              <p:tags r:id="rId21"/>
            </p:custDataLst>
          </p:nvPr>
        </p:nvSpPr>
        <p:spPr>
          <a:xfrm>
            <a:off x="10474115" y="3811560"/>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应收账款账龄</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49" name="文本框 27"/>
          <p:cNvSpPr txBox="1"/>
          <p:nvPr>
            <p:custDataLst>
              <p:tags r:id="rId22"/>
            </p:custDataLst>
          </p:nvPr>
        </p:nvSpPr>
        <p:spPr>
          <a:xfrm>
            <a:off x="10474115" y="2895418"/>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应收账款周转天数</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50" name="文本框 27"/>
          <p:cNvSpPr txBox="1"/>
          <p:nvPr>
            <p:custDataLst>
              <p:tags r:id="rId23"/>
            </p:custDataLst>
          </p:nvPr>
        </p:nvSpPr>
        <p:spPr>
          <a:xfrm>
            <a:off x="10474115" y="333975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逾期应收账款</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51" name="肘形连接符 76"/>
          <p:cNvCxnSpPr>
            <a:stCxn id="42" idx="4"/>
            <a:endCxn id="49" idx="1"/>
          </p:cNvCxnSpPr>
          <p:nvPr>
            <p:custDataLst>
              <p:tags r:id="rId24"/>
            </p:custDataLst>
          </p:nvPr>
        </p:nvCxnSpPr>
        <p:spPr>
          <a:xfrm rot="5400000" flipV="1">
            <a:off x="9912668" y="2471738"/>
            <a:ext cx="966470" cy="156845"/>
          </a:xfrm>
          <a:prstGeom prst="bentConnector2">
            <a:avLst/>
          </a:prstGeom>
          <a:noFill/>
          <a:ln w="19050" cap="flat" cmpd="sng" algn="ctr">
            <a:solidFill>
              <a:srgbClr val="009F9A"/>
            </a:solidFill>
            <a:prstDash val="solid"/>
            <a:miter lim="800000"/>
          </a:ln>
          <a:effectLst/>
        </p:spPr>
      </p:cxnSp>
      <p:cxnSp>
        <p:nvCxnSpPr>
          <p:cNvPr id="52" name="肘形连接符 76"/>
          <p:cNvCxnSpPr>
            <a:stCxn id="42" idx="4"/>
            <a:endCxn id="50" idx="1"/>
          </p:cNvCxnSpPr>
          <p:nvPr>
            <p:custDataLst>
              <p:tags r:id="rId25"/>
            </p:custDataLst>
          </p:nvPr>
        </p:nvCxnSpPr>
        <p:spPr>
          <a:xfrm rot="5400000" flipV="1">
            <a:off x="9690735" y="2693670"/>
            <a:ext cx="1410335" cy="156845"/>
          </a:xfrm>
          <a:prstGeom prst="bentConnector2">
            <a:avLst/>
          </a:prstGeom>
          <a:noFill/>
          <a:ln w="19050" cap="flat" cmpd="sng" algn="ctr">
            <a:solidFill>
              <a:srgbClr val="009F9A"/>
            </a:solidFill>
            <a:prstDash val="solid"/>
            <a:miter lim="800000"/>
          </a:ln>
          <a:effectLst/>
        </p:spPr>
      </p:cxnSp>
      <p:cxnSp>
        <p:nvCxnSpPr>
          <p:cNvPr id="53" name="肘形连接符 76"/>
          <p:cNvCxnSpPr>
            <a:stCxn id="42" idx="4"/>
            <a:endCxn id="48" idx="1"/>
          </p:cNvCxnSpPr>
          <p:nvPr>
            <p:custDataLst>
              <p:tags r:id="rId26"/>
            </p:custDataLst>
          </p:nvPr>
        </p:nvCxnSpPr>
        <p:spPr>
          <a:xfrm rot="5400000" flipV="1">
            <a:off x="9454833" y="2929573"/>
            <a:ext cx="1882140" cy="156845"/>
          </a:xfrm>
          <a:prstGeom prst="bentConnector2">
            <a:avLst/>
          </a:prstGeom>
          <a:noFill/>
          <a:ln w="19050" cap="flat" cmpd="sng" algn="ctr">
            <a:solidFill>
              <a:srgbClr val="009F9A"/>
            </a:solidFill>
            <a:prstDash val="solid"/>
            <a:miter lim="800000"/>
          </a:ln>
          <a:effectLst/>
        </p:spPr>
      </p:cxnSp>
      <p:cxnSp>
        <p:nvCxnSpPr>
          <p:cNvPr id="54" name="肘形连接符 76"/>
          <p:cNvCxnSpPr>
            <a:stCxn id="42" idx="4"/>
            <a:endCxn id="47" idx="1"/>
          </p:cNvCxnSpPr>
          <p:nvPr>
            <p:custDataLst>
              <p:tags r:id="rId27"/>
            </p:custDataLst>
          </p:nvPr>
        </p:nvCxnSpPr>
        <p:spPr>
          <a:xfrm rot="5400000" flipV="1">
            <a:off x="9218930" y="3165475"/>
            <a:ext cx="2353945" cy="156845"/>
          </a:xfrm>
          <a:prstGeom prst="bentConnector2">
            <a:avLst/>
          </a:prstGeom>
          <a:noFill/>
          <a:ln w="19050" cap="flat" cmpd="sng" algn="ctr">
            <a:solidFill>
              <a:srgbClr val="009F9A"/>
            </a:solidFill>
            <a:prstDash val="solid"/>
            <a:miter lim="800000"/>
          </a:ln>
          <a:effectLst/>
        </p:spPr>
      </p:cxnSp>
      <p:cxnSp>
        <p:nvCxnSpPr>
          <p:cNvPr id="55" name="肘形连接符 58"/>
          <p:cNvCxnSpPr>
            <a:stCxn id="30" idx="4"/>
            <a:endCxn id="33" idx="1"/>
          </p:cNvCxnSpPr>
          <p:nvPr>
            <p:custDataLst>
              <p:tags r:id="rId28"/>
            </p:custDataLst>
          </p:nvPr>
        </p:nvCxnSpPr>
        <p:spPr>
          <a:xfrm rot="5400000" flipV="1">
            <a:off x="2152968" y="2359978"/>
            <a:ext cx="693420" cy="153035"/>
          </a:xfrm>
          <a:prstGeom prst="bentConnector2">
            <a:avLst/>
          </a:prstGeom>
          <a:noFill/>
          <a:ln w="19050" cap="flat" cmpd="sng" algn="ctr">
            <a:solidFill>
              <a:srgbClr val="009F9A"/>
            </a:solidFill>
            <a:prstDash val="solid"/>
            <a:miter lim="800000"/>
          </a:ln>
          <a:effectLst/>
        </p:spPr>
      </p:cxnSp>
      <p:sp>
        <p:nvSpPr>
          <p:cNvPr id="56" name="文本框 61"/>
          <p:cNvSpPr txBox="1"/>
          <p:nvPr>
            <p:custDataLst>
              <p:tags r:id="rId29"/>
            </p:custDataLst>
          </p:nvPr>
        </p:nvSpPr>
        <p:spPr>
          <a:xfrm>
            <a:off x="4259563" y="2625876"/>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订单及时交付率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57" name="肘形连接符 11"/>
          <p:cNvCxnSpPr>
            <a:stCxn id="60" idx="2"/>
            <a:endCxn id="56" idx="1"/>
          </p:cNvCxnSpPr>
          <p:nvPr>
            <p:custDataLst>
              <p:tags r:id="rId30"/>
            </p:custDataLst>
          </p:nvPr>
        </p:nvCxnSpPr>
        <p:spPr>
          <a:xfrm rot="16200000" flipH="1">
            <a:off x="3812011" y="2316119"/>
            <a:ext cx="715082" cy="180022"/>
          </a:xfrm>
          <a:prstGeom prst="bentConnector2">
            <a:avLst/>
          </a:prstGeom>
          <a:noFill/>
          <a:ln w="19050" cap="flat" cmpd="sng" algn="ctr">
            <a:solidFill>
              <a:srgbClr val="009F9A"/>
            </a:solidFill>
            <a:prstDash val="solid"/>
            <a:miter lim="800000"/>
          </a:ln>
          <a:effectLst/>
        </p:spPr>
      </p:cxnSp>
      <p:grpSp>
        <p:nvGrpSpPr>
          <p:cNvPr id="58" name="组合 57"/>
          <p:cNvGrpSpPr/>
          <p:nvPr/>
        </p:nvGrpSpPr>
        <p:grpSpPr>
          <a:xfrm>
            <a:off x="3860148" y="1647269"/>
            <a:ext cx="441960" cy="441960"/>
            <a:chOff x="7547" y="2135"/>
            <a:chExt cx="696" cy="696"/>
          </a:xfrm>
          <a:solidFill>
            <a:srgbClr val="009F9A"/>
          </a:solidFill>
        </p:grpSpPr>
        <p:sp>
          <p:nvSpPr>
            <p:cNvPr id="59" name="椭圆 58"/>
            <p:cNvSpPr/>
            <p:nvPr/>
          </p:nvSpPr>
          <p:spPr>
            <a:xfrm>
              <a:off x="7547" y="2135"/>
              <a:ext cx="697" cy="697"/>
            </a:xfrm>
            <a:prstGeom prst="ellipse">
              <a:avLst/>
            </a:prstGeom>
            <a:grp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60" name="图形 59" descr="靶心 轮廓"/>
            <p:cNvPicPr>
              <a:picLocks noChangeAspect="1"/>
            </p:cNvPicPr>
            <p:nvPr/>
          </p:nvPicPr>
          <p:blipFill>
            <a:blip r:embed="rId31" cstate="print">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7609" y="2200"/>
              <a:ext cx="567" cy="567"/>
            </a:xfrm>
            <a:prstGeom prst="rect">
              <a:avLst/>
            </a:prstGeom>
          </p:spPr>
        </p:pic>
      </p:grpSp>
      <p:sp>
        <p:nvSpPr>
          <p:cNvPr id="61" name="文本框 49"/>
          <p:cNvSpPr txBox="1"/>
          <p:nvPr>
            <p:custDataLst>
              <p:tags r:id="rId33"/>
            </p:custDataLst>
          </p:nvPr>
        </p:nvSpPr>
        <p:spPr>
          <a:xfrm>
            <a:off x="4259563" y="2904342"/>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已发货数量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2" name="肘形连接符 24"/>
          <p:cNvCxnSpPr>
            <a:stCxn id="60" idx="2"/>
            <a:endCxn id="61" idx="1"/>
          </p:cNvCxnSpPr>
          <p:nvPr>
            <p:custDataLst>
              <p:tags r:id="rId34"/>
            </p:custDataLst>
          </p:nvPr>
        </p:nvCxnSpPr>
        <p:spPr>
          <a:xfrm rot="5400000" flipV="1">
            <a:off x="3672840" y="2455545"/>
            <a:ext cx="993775" cy="179705"/>
          </a:xfrm>
          <a:prstGeom prst="bentConnector2">
            <a:avLst/>
          </a:prstGeom>
          <a:noFill/>
          <a:ln w="19050" cap="flat" cmpd="sng" algn="ctr">
            <a:solidFill>
              <a:srgbClr val="009F9A"/>
            </a:solidFill>
            <a:prstDash val="solid"/>
            <a:miter lim="800000"/>
          </a:ln>
          <a:effectLst/>
        </p:spPr>
      </p:cxnSp>
      <p:sp>
        <p:nvSpPr>
          <p:cNvPr id="63" name="文本框 62"/>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defRPr/>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核心价值：优化订单处理和收款流程，确保准确、及时地满足客户需求并回收款项，从而提高企业的订单物流交付能力和提升财务健康状况。</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64" name="文本框 36"/>
          <p:cNvSpPr txBox="1"/>
          <p:nvPr/>
        </p:nvSpPr>
        <p:spPr>
          <a:xfrm>
            <a:off x="828258" y="3520210"/>
            <a:ext cx="22358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要货当月未产出转入数量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5" name="连接符: 肘形 64"/>
          <p:cNvCxnSpPr>
            <a:stCxn id="5" idx="4"/>
            <a:endCxn id="64" idx="1"/>
          </p:cNvCxnSpPr>
          <p:nvPr/>
        </p:nvCxnSpPr>
        <p:spPr>
          <a:xfrm rot="5400000" flipV="1">
            <a:off x="-57785" y="2772410"/>
            <a:ext cx="1568450" cy="203200"/>
          </a:xfrm>
          <a:prstGeom prst="bentConnector2">
            <a:avLst/>
          </a:prstGeom>
          <a:noFill/>
          <a:ln w="19050" cap="flat" cmpd="sng" algn="ctr">
            <a:solidFill>
              <a:srgbClr val="009F9A"/>
            </a:solidFill>
            <a:prstDash val="solid"/>
            <a:miter lim="800000"/>
          </a:ln>
          <a:effectLst/>
        </p:spPr>
      </p:cxnSp>
      <p:sp>
        <p:nvSpPr>
          <p:cNvPr id="66" name="文本框 36"/>
          <p:cNvSpPr txBox="1"/>
          <p:nvPr/>
        </p:nvSpPr>
        <p:spPr>
          <a:xfrm>
            <a:off x="845477" y="3884050"/>
            <a:ext cx="10972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屏体平均单价</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7" name="连接符: 肘形 66"/>
          <p:cNvCxnSpPr>
            <a:stCxn id="5" idx="4"/>
            <a:endCxn id="66" idx="1"/>
          </p:cNvCxnSpPr>
          <p:nvPr/>
        </p:nvCxnSpPr>
        <p:spPr>
          <a:xfrm rot="5400000" flipV="1">
            <a:off x="-231140" y="2945765"/>
            <a:ext cx="1932305" cy="220345"/>
          </a:xfrm>
          <a:prstGeom prst="bentConnector2">
            <a:avLst/>
          </a:prstGeom>
          <a:noFill/>
          <a:ln w="19050" cap="flat" cmpd="sng" algn="ctr">
            <a:solidFill>
              <a:srgbClr val="009F9A"/>
            </a:solidFill>
            <a:prstDash val="solid"/>
            <a:miter lim="800000"/>
          </a:ln>
          <a:effectLst/>
        </p:spPr>
      </p:cxnSp>
      <p:sp>
        <p:nvSpPr>
          <p:cNvPr id="68" name="文本框 49"/>
          <p:cNvSpPr txBox="1"/>
          <p:nvPr>
            <p:custDataLst>
              <p:tags r:id="rId35"/>
            </p:custDataLst>
          </p:nvPr>
        </p:nvSpPr>
        <p:spPr>
          <a:xfrm>
            <a:off x="4259562" y="3181453"/>
            <a:ext cx="132143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未发货数量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69" name="连接符: 肘形 68"/>
          <p:cNvCxnSpPr>
            <a:stCxn id="59" idx="4"/>
            <a:endCxn id="68" idx="1"/>
          </p:cNvCxnSpPr>
          <p:nvPr/>
        </p:nvCxnSpPr>
        <p:spPr>
          <a:xfrm rot="5400000" flipV="1">
            <a:off x="3556000" y="2615565"/>
            <a:ext cx="1229360" cy="177800"/>
          </a:xfrm>
          <a:prstGeom prst="bentConnector2">
            <a:avLst/>
          </a:prstGeom>
          <a:noFill/>
          <a:ln w="19050" cap="flat" cmpd="sng" algn="ctr">
            <a:solidFill>
              <a:srgbClr val="009F9A"/>
            </a:solidFill>
            <a:prstDash val="solid"/>
            <a:miter lim="800000"/>
          </a:ln>
          <a:effectLst/>
        </p:spPr>
      </p:cxnSp>
      <p:sp>
        <p:nvSpPr>
          <p:cNvPr id="70" name="文本框 49"/>
          <p:cNvSpPr txBox="1"/>
          <p:nvPr>
            <p:custDataLst>
              <p:tags r:id="rId36"/>
            </p:custDataLst>
          </p:nvPr>
        </p:nvSpPr>
        <p:spPr>
          <a:xfrm>
            <a:off x="4251885" y="4731988"/>
            <a:ext cx="1349375"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生产交付及时率</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1" name="连接符: 肘形 70"/>
          <p:cNvCxnSpPr>
            <a:stCxn id="59" idx="4"/>
            <a:endCxn id="70" idx="1"/>
          </p:cNvCxnSpPr>
          <p:nvPr/>
        </p:nvCxnSpPr>
        <p:spPr>
          <a:xfrm rot="16200000" flipH="1">
            <a:off x="2776706" y="3394603"/>
            <a:ext cx="2779919" cy="170439"/>
          </a:xfrm>
          <a:prstGeom prst="bentConnector2">
            <a:avLst/>
          </a:prstGeom>
          <a:noFill/>
          <a:ln w="19050" cap="flat" cmpd="sng" algn="ctr">
            <a:solidFill>
              <a:srgbClr val="009F9A"/>
            </a:solidFill>
            <a:prstDash val="solid"/>
            <a:miter lim="800000"/>
          </a:ln>
          <a:effectLst/>
        </p:spPr>
      </p:cxnSp>
      <p:sp>
        <p:nvSpPr>
          <p:cNvPr id="72" name="椭圆 71"/>
          <p:cNvSpPr/>
          <p:nvPr/>
        </p:nvSpPr>
        <p:spPr>
          <a:xfrm>
            <a:off x="8047533" y="1631604"/>
            <a:ext cx="442371" cy="442371"/>
          </a:xfrm>
          <a:prstGeom prst="ellipse">
            <a:avLst/>
          </a:prstGeom>
          <a:solidFill>
            <a:srgbClr val="009F9A"/>
          </a:solidFill>
          <a:ln w="19050" cap="flat" cmpd="sng" algn="ctr">
            <a:solidFill>
              <a:schemeClr val="bg1"/>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73" name="文本框 17"/>
          <p:cNvSpPr txBox="1"/>
          <p:nvPr/>
        </p:nvSpPr>
        <p:spPr>
          <a:xfrm>
            <a:off x="8377303" y="1416481"/>
            <a:ext cx="1249680" cy="306705"/>
          </a:xfrm>
          <a:prstGeom prst="rect">
            <a:avLst/>
          </a:prstGeom>
          <a:noFill/>
        </p:spPr>
        <p:txBody>
          <a:bodyPr wrap="none" rtlCol="0">
            <a:spAutoFit/>
          </a:bodyPr>
          <a:lstStyle/>
          <a:p>
            <a:pPr defTabSz="1219200" fontAlgn="base">
              <a:spcBef>
                <a:spcPct val="0"/>
              </a:spcBef>
              <a:spcAft>
                <a:spcPct val="0"/>
              </a:spcAft>
              <a:defRPr/>
            </a:pPr>
            <a:r>
              <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rPr>
              <a:t>工程交付验收</a:t>
            </a:r>
            <a:endParaRPr lang="zh-CN" altLang="en-US" sz="1400" b="1" dirty="0">
              <a:solidFill>
                <a:prstClr val="black"/>
              </a:solidFill>
              <a:latin typeface="微软雅黑" panose="020B0503020204020204" pitchFamily="34" charset="-122"/>
              <a:ea typeface="微软雅黑" panose="020B0503020204020204" pitchFamily="34" charset="-122"/>
              <a:cs typeface="Helvetica"/>
              <a:sym typeface="Helvetica Neue" panose="02000503000000020004"/>
            </a:endParaRPr>
          </a:p>
        </p:txBody>
      </p:sp>
      <p:pic>
        <p:nvPicPr>
          <p:cNvPr id="74" name="图形 73" descr="徽章勾号 轮廓"/>
          <p:cNvPicPr>
            <a:picLocks noChangeAspect="1"/>
          </p:cNvPicPr>
          <p:nvPr/>
        </p:nvPicPr>
        <p:blipFill>
          <a:blip r:embed="rId37" cstate="print">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8088718" y="1672789"/>
            <a:ext cx="360000" cy="360000"/>
          </a:xfrm>
          <a:prstGeom prst="rect">
            <a:avLst/>
          </a:prstGeom>
        </p:spPr>
      </p:pic>
      <p:sp>
        <p:nvSpPr>
          <p:cNvPr id="75" name="文本框 27"/>
          <p:cNvSpPr txBox="1"/>
          <p:nvPr>
            <p:custDataLst>
              <p:tags r:id="rId39"/>
            </p:custDataLst>
          </p:nvPr>
        </p:nvSpPr>
        <p:spPr>
          <a:xfrm>
            <a:off x="8448451" y="2235367"/>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平均交付周期</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6" name="肘形连接符 76"/>
          <p:cNvCxnSpPr>
            <a:stCxn id="72" idx="4"/>
            <a:endCxn id="75" idx="1"/>
          </p:cNvCxnSpPr>
          <p:nvPr>
            <p:custDataLst>
              <p:tags r:id="rId40"/>
            </p:custDataLst>
          </p:nvPr>
        </p:nvCxnSpPr>
        <p:spPr>
          <a:xfrm rot="5400000" flipV="1">
            <a:off x="8209280" y="2133600"/>
            <a:ext cx="299085" cy="179705"/>
          </a:xfrm>
          <a:prstGeom prst="bentConnector2">
            <a:avLst/>
          </a:prstGeom>
          <a:noFill/>
          <a:ln w="19050" cap="flat" cmpd="sng" algn="ctr">
            <a:solidFill>
              <a:srgbClr val="009F9A"/>
            </a:solidFill>
            <a:prstDash val="solid"/>
            <a:miter lim="800000"/>
          </a:ln>
          <a:effectLst/>
        </p:spPr>
      </p:cxnSp>
      <p:sp>
        <p:nvSpPr>
          <p:cNvPr id="77" name="文本框 27"/>
          <p:cNvSpPr txBox="1"/>
          <p:nvPr>
            <p:custDataLst>
              <p:tags r:id="rId41"/>
            </p:custDataLst>
          </p:nvPr>
        </p:nvSpPr>
        <p:spPr>
          <a:xfrm>
            <a:off x="8448451" y="2711617"/>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工程交付费用率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78" name="肘形连接符 76"/>
          <p:cNvCxnSpPr>
            <a:stCxn id="72" idx="4"/>
            <a:endCxn id="77" idx="1"/>
          </p:cNvCxnSpPr>
          <p:nvPr>
            <p:custDataLst>
              <p:tags r:id="rId42"/>
            </p:custDataLst>
          </p:nvPr>
        </p:nvCxnSpPr>
        <p:spPr>
          <a:xfrm rot="5400000" flipV="1">
            <a:off x="7971155" y="2371725"/>
            <a:ext cx="775335" cy="179705"/>
          </a:xfrm>
          <a:prstGeom prst="bentConnector2">
            <a:avLst/>
          </a:prstGeom>
          <a:noFill/>
          <a:ln w="19050" cap="flat" cmpd="sng" algn="ctr">
            <a:solidFill>
              <a:srgbClr val="009F9A"/>
            </a:solidFill>
            <a:prstDash val="solid"/>
            <a:miter lim="800000"/>
          </a:ln>
          <a:effectLst/>
        </p:spPr>
      </p:cxnSp>
      <p:sp>
        <p:nvSpPr>
          <p:cNvPr id="79" name="文本框 27"/>
          <p:cNvSpPr txBox="1"/>
          <p:nvPr>
            <p:custDataLst>
              <p:tags r:id="rId43"/>
            </p:custDataLst>
          </p:nvPr>
        </p:nvSpPr>
        <p:spPr>
          <a:xfrm>
            <a:off x="8454759" y="317692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工程验收收入</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0" name="连接符: 肘形 79"/>
          <p:cNvCxnSpPr>
            <a:stCxn id="72" idx="4"/>
            <a:endCxn id="79" idx="1"/>
          </p:cNvCxnSpPr>
          <p:nvPr/>
        </p:nvCxnSpPr>
        <p:spPr>
          <a:xfrm rot="5400000" flipV="1">
            <a:off x="7741603" y="2601278"/>
            <a:ext cx="1240790" cy="186055"/>
          </a:xfrm>
          <a:prstGeom prst="bentConnector2">
            <a:avLst/>
          </a:prstGeom>
          <a:noFill/>
          <a:ln w="19050" cap="flat" cmpd="sng" algn="ctr">
            <a:solidFill>
              <a:srgbClr val="009F9A"/>
            </a:solidFill>
            <a:prstDash val="solid"/>
            <a:miter lim="800000"/>
          </a:ln>
          <a:effectLst/>
        </p:spPr>
      </p:cxnSp>
      <p:sp>
        <p:nvSpPr>
          <p:cNvPr id="81" name="文本框 27"/>
          <p:cNvSpPr txBox="1"/>
          <p:nvPr>
            <p:custDataLst>
              <p:tags r:id="rId44"/>
            </p:custDataLst>
          </p:nvPr>
        </p:nvSpPr>
        <p:spPr>
          <a:xfrm>
            <a:off x="8479177" y="4325785"/>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人均验收金额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2" name="连接符: 肘形 81"/>
          <p:cNvCxnSpPr>
            <a:stCxn id="72" idx="4"/>
            <a:endCxn id="81" idx="1"/>
          </p:cNvCxnSpPr>
          <p:nvPr/>
        </p:nvCxnSpPr>
        <p:spPr>
          <a:xfrm rot="5400000" flipV="1">
            <a:off x="7179310" y="3163570"/>
            <a:ext cx="2389505" cy="210185"/>
          </a:xfrm>
          <a:prstGeom prst="bentConnector2">
            <a:avLst/>
          </a:prstGeom>
          <a:noFill/>
          <a:ln w="19050" cap="flat" cmpd="sng" algn="ctr">
            <a:solidFill>
              <a:srgbClr val="009F9A"/>
            </a:solidFill>
            <a:prstDash val="solid"/>
            <a:miter lim="800000"/>
          </a:ln>
          <a:effectLst/>
        </p:spPr>
      </p:cxnSp>
      <p:sp>
        <p:nvSpPr>
          <p:cNvPr id="83" name="文本框 27"/>
          <p:cNvSpPr txBox="1"/>
          <p:nvPr>
            <p:custDataLst>
              <p:tags r:id="rId45"/>
            </p:custDataLst>
          </p:nvPr>
        </p:nvSpPr>
        <p:spPr>
          <a:xfrm>
            <a:off x="8455694" y="3622747"/>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已出货未验收金额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4" name="连接符: 肘形 83"/>
          <p:cNvCxnSpPr>
            <a:stCxn id="72" idx="4"/>
            <a:endCxn id="83" idx="1"/>
          </p:cNvCxnSpPr>
          <p:nvPr/>
        </p:nvCxnSpPr>
        <p:spPr>
          <a:xfrm rot="5400000" flipV="1">
            <a:off x="7519035" y="2823845"/>
            <a:ext cx="1686560" cy="186690"/>
          </a:xfrm>
          <a:prstGeom prst="bentConnector2">
            <a:avLst/>
          </a:prstGeom>
          <a:noFill/>
          <a:ln w="19050" cap="flat" cmpd="sng" algn="ctr">
            <a:solidFill>
              <a:srgbClr val="009F9A"/>
            </a:solidFill>
            <a:prstDash val="solid"/>
            <a:miter lim="800000"/>
          </a:ln>
          <a:effectLst/>
        </p:spPr>
      </p:cxnSp>
      <p:sp>
        <p:nvSpPr>
          <p:cNvPr id="85" name="文本框 27"/>
          <p:cNvSpPr txBox="1"/>
          <p:nvPr>
            <p:custDataLst>
              <p:tags r:id="rId46"/>
            </p:custDataLst>
          </p:nvPr>
        </p:nvSpPr>
        <p:spPr>
          <a:xfrm>
            <a:off x="8485721" y="4697849"/>
            <a:ext cx="14020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人均交付项目数量</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86" name="连接符: 肘形 85"/>
          <p:cNvCxnSpPr>
            <a:stCxn id="72" idx="4"/>
            <a:endCxn id="85" idx="1"/>
          </p:cNvCxnSpPr>
          <p:nvPr/>
        </p:nvCxnSpPr>
        <p:spPr>
          <a:xfrm rot="5400000" flipV="1">
            <a:off x="6996430" y="3346450"/>
            <a:ext cx="2761615" cy="216535"/>
          </a:xfrm>
          <a:prstGeom prst="bentConnector2">
            <a:avLst/>
          </a:prstGeom>
          <a:noFill/>
          <a:ln w="19050" cap="flat" cmpd="sng" algn="ctr">
            <a:solidFill>
              <a:srgbClr val="009F9A"/>
            </a:solidFill>
            <a:prstDash val="solid"/>
            <a:miter lim="800000"/>
          </a:ln>
          <a:effectLst/>
        </p:spPr>
      </p:cxnSp>
      <p:sp>
        <p:nvSpPr>
          <p:cNvPr id="87" name="文本框 21"/>
          <p:cNvSpPr txBox="1"/>
          <p:nvPr/>
        </p:nvSpPr>
        <p:spPr>
          <a:xfrm>
            <a:off x="763864" y="4271599"/>
            <a:ext cx="1482725"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BOM</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首次开放时效</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8" name="文本框 66"/>
          <p:cNvSpPr txBox="1"/>
          <p:nvPr/>
        </p:nvSpPr>
        <p:spPr>
          <a:xfrm>
            <a:off x="4251885" y="5016550"/>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最后一周集中交货占比</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89" name="文本框 66"/>
          <p:cNvSpPr txBox="1"/>
          <p:nvPr/>
        </p:nvSpPr>
        <p:spPr>
          <a:xfrm>
            <a:off x="4259562" y="5772101"/>
            <a:ext cx="275682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提前备库备料数量</a:t>
            </a:r>
            <a:r>
              <a:rPr lang="en-US" altLang="zh-CN"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90" name="文本框 66"/>
          <p:cNvSpPr txBox="1"/>
          <p:nvPr/>
        </p:nvSpPr>
        <p:spPr>
          <a:xfrm>
            <a:off x="4233499" y="5977321"/>
            <a:ext cx="3505451" cy="460375"/>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客户借用订单逾期数量金额</a:t>
            </a:r>
            <a:endParaRPr lang="en-US" altLang="zh-CN"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（借用类型</a:t>
            </a:r>
            <a:r>
              <a:rPr lang="en-US" altLang="zh-CN"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样品等）</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91" name="文本框 27"/>
          <p:cNvSpPr txBox="1"/>
          <p:nvPr>
            <p:custDataLst>
              <p:tags r:id="rId47"/>
            </p:custDataLst>
          </p:nvPr>
        </p:nvSpPr>
        <p:spPr>
          <a:xfrm>
            <a:off x="8471801" y="3981444"/>
            <a:ext cx="1473835"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验收开票数量</a:t>
            </a:r>
            <a:r>
              <a:rPr lang="en-US" altLang="zh-CN"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金额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2" name="连接符: 肘形 91"/>
          <p:cNvCxnSpPr>
            <a:stCxn id="72" idx="4"/>
            <a:endCxn id="91" idx="1"/>
          </p:cNvCxnSpPr>
          <p:nvPr/>
        </p:nvCxnSpPr>
        <p:spPr>
          <a:xfrm rot="5400000" flipV="1">
            <a:off x="7347585" y="2995295"/>
            <a:ext cx="2045335" cy="202565"/>
          </a:xfrm>
          <a:prstGeom prst="bentConnector2">
            <a:avLst/>
          </a:prstGeom>
          <a:noFill/>
          <a:ln w="19050" cap="flat">
            <a:solidFill>
              <a:srgbClr val="009F9A"/>
            </a:solidFill>
            <a:prstDash val="solid"/>
            <a:miter lim="800000"/>
          </a:ln>
          <a:effectLst/>
        </p:spPr>
      </p:cxnSp>
      <p:sp>
        <p:nvSpPr>
          <p:cNvPr id="93" name="文本框 49"/>
          <p:cNvSpPr txBox="1"/>
          <p:nvPr/>
        </p:nvSpPr>
        <p:spPr>
          <a:xfrm>
            <a:off x="2593597" y="2978389"/>
            <a:ext cx="7924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交期时间</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4" name="连接符: 肘形 93"/>
          <p:cNvCxnSpPr>
            <a:stCxn id="30" idx="4"/>
            <a:endCxn id="93" idx="1"/>
          </p:cNvCxnSpPr>
          <p:nvPr/>
        </p:nvCxnSpPr>
        <p:spPr>
          <a:xfrm rot="5400000" flipV="1">
            <a:off x="1995170" y="2517775"/>
            <a:ext cx="1026160" cy="170180"/>
          </a:xfrm>
          <a:prstGeom prst="bentConnector2">
            <a:avLst/>
          </a:prstGeom>
          <a:noFill/>
          <a:ln w="19050" cap="flat">
            <a:solidFill>
              <a:srgbClr val="009F9A"/>
            </a:solidFill>
            <a:prstDash val="solid"/>
            <a:miter lim="800000"/>
          </a:ln>
          <a:effectLst/>
        </p:spPr>
      </p:cxnSp>
      <p:cxnSp>
        <p:nvCxnSpPr>
          <p:cNvPr id="95" name="连接符: 肘形 94"/>
          <p:cNvCxnSpPr>
            <a:stCxn id="5" idx="4"/>
            <a:endCxn id="87" idx="1"/>
          </p:cNvCxnSpPr>
          <p:nvPr/>
        </p:nvCxnSpPr>
        <p:spPr>
          <a:xfrm rot="5400000" flipV="1">
            <a:off x="-465455" y="3180080"/>
            <a:ext cx="2319655" cy="139065"/>
          </a:xfrm>
          <a:prstGeom prst="bentConnector2">
            <a:avLst/>
          </a:prstGeom>
          <a:noFill/>
          <a:ln w="19050" cap="flat">
            <a:solidFill>
              <a:srgbClr val="009F9A"/>
            </a:solidFill>
            <a:prstDash val="solid"/>
            <a:miter lim="800000"/>
          </a:ln>
          <a:effectLst/>
        </p:spPr>
      </p:cxnSp>
      <p:sp>
        <p:nvSpPr>
          <p:cNvPr id="96" name="文本框 49"/>
          <p:cNvSpPr txBox="1"/>
          <p:nvPr/>
        </p:nvSpPr>
        <p:spPr>
          <a:xfrm>
            <a:off x="4276103" y="4184712"/>
            <a:ext cx="792480" cy="275590"/>
          </a:xfrm>
          <a:prstGeom prst="rect">
            <a:avLst/>
          </a:prstGeom>
          <a:noFill/>
          <a:extLst>
            <a:ext uri="{909E8E84-426E-40DD-AFC4-6F175D3DCCD1}">
              <a14:hiddenFill xmlns:a14="http://schemas.microsoft.com/office/drawing/2010/main">
                <a:solidFill>
                  <a:srgbClr val="36AEBA"/>
                </a:solidFill>
              </a14:hiddenFill>
            </a:ext>
          </a:extLst>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合同交期</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97" name="连接符: 肘形 96"/>
          <p:cNvCxnSpPr>
            <a:stCxn id="59" idx="4"/>
            <a:endCxn id="96" idx="1"/>
          </p:cNvCxnSpPr>
          <p:nvPr/>
        </p:nvCxnSpPr>
        <p:spPr>
          <a:xfrm rot="5400000" flipV="1">
            <a:off x="3062605" y="3108960"/>
            <a:ext cx="2232660" cy="194310"/>
          </a:xfrm>
          <a:prstGeom prst="bentConnector2">
            <a:avLst/>
          </a:prstGeom>
          <a:noFill/>
          <a:ln w="19050" cap="flat">
            <a:solidFill>
              <a:srgbClr val="009F9A"/>
            </a:solidFill>
            <a:prstDash val="solid"/>
            <a:miter lim="800000"/>
          </a:ln>
          <a:effectLst/>
        </p:spPr>
      </p:cxnSp>
      <p:cxnSp>
        <p:nvCxnSpPr>
          <p:cNvPr id="98" name="连接符: 肘形 97"/>
          <p:cNvCxnSpPr>
            <a:stCxn id="59" idx="4"/>
            <a:endCxn id="88" idx="1"/>
          </p:cNvCxnSpPr>
          <p:nvPr/>
        </p:nvCxnSpPr>
        <p:spPr>
          <a:xfrm rot="5400000" flipV="1">
            <a:off x="2634615" y="3536950"/>
            <a:ext cx="3064510" cy="170180"/>
          </a:xfrm>
          <a:prstGeom prst="bentConnector2">
            <a:avLst/>
          </a:prstGeom>
          <a:noFill/>
          <a:ln w="19050" cap="flat">
            <a:solidFill>
              <a:srgbClr val="009F9A"/>
            </a:solidFill>
            <a:prstDash val="solid"/>
            <a:miter lim="800000"/>
          </a:ln>
          <a:effectLst/>
        </p:spPr>
      </p:cxnSp>
      <p:sp>
        <p:nvSpPr>
          <p:cNvPr id="99" name="文本框 66"/>
          <p:cNvSpPr txBox="1"/>
          <p:nvPr/>
        </p:nvSpPr>
        <p:spPr>
          <a:xfrm>
            <a:off x="4257790" y="5297678"/>
            <a:ext cx="2446038"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现货库存数量金额（包括在制）</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100" name="文本框 66"/>
          <p:cNvSpPr txBox="1"/>
          <p:nvPr/>
        </p:nvSpPr>
        <p:spPr>
          <a:xfrm>
            <a:off x="4263881" y="5520267"/>
            <a:ext cx="2123654"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库龄分析（</a:t>
            </a:r>
            <a:r>
              <a:rPr lang="en-US" altLang="zh-CN"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6</a:t>
            </a:r>
            <a:r>
              <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rPr>
              <a:t>个月以上）</a:t>
            </a:r>
            <a:endParaRPr lang="zh-CN" altLang="en-US" sz="1200" b="1" dirty="0">
              <a:solidFill>
                <a:srgbClr val="000000">
                  <a:lumMod val="50000"/>
                  <a:lumOff val="50000"/>
                </a:srgbClr>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01" name="连接符: 肘形 100"/>
          <p:cNvCxnSpPr>
            <a:stCxn id="59" idx="4"/>
            <a:endCxn id="100" idx="1"/>
          </p:cNvCxnSpPr>
          <p:nvPr/>
        </p:nvCxnSpPr>
        <p:spPr>
          <a:xfrm rot="5400000" flipV="1">
            <a:off x="2388870" y="3782695"/>
            <a:ext cx="3568065" cy="182245"/>
          </a:xfrm>
          <a:prstGeom prst="bentConnector2">
            <a:avLst/>
          </a:prstGeom>
          <a:noFill/>
          <a:ln w="19050" cap="flat">
            <a:solidFill>
              <a:srgbClr val="009F9A"/>
            </a:solidFill>
            <a:prstDash val="solid"/>
            <a:miter lim="800000"/>
          </a:ln>
          <a:effectLst/>
        </p:spPr>
      </p:cxnSp>
      <p:sp>
        <p:nvSpPr>
          <p:cNvPr id="102" name="文本框 61"/>
          <p:cNvSpPr txBox="1"/>
          <p:nvPr>
            <p:custDataLst>
              <p:tags r:id="rId48"/>
            </p:custDataLst>
          </p:nvPr>
        </p:nvSpPr>
        <p:spPr>
          <a:xfrm>
            <a:off x="4247429" y="2072330"/>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月度要货计划</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03" name="文本框 61"/>
          <p:cNvSpPr txBox="1"/>
          <p:nvPr>
            <p:custDataLst>
              <p:tags r:id="rId49"/>
            </p:custDataLst>
          </p:nvPr>
        </p:nvSpPr>
        <p:spPr>
          <a:xfrm>
            <a:off x="4249420" y="2324589"/>
            <a:ext cx="1846580" cy="275590"/>
          </a:xfrm>
          <a:prstGeom prst="rect">
            <a:avLst/>
          </a:prstGeom>
          <a:noFill/>
          <a:extLst>
            <a:ext uri="{909E8E84-426E-40DD-AFC4-6F175D3DCCD1}">
              <a14:hiddenFill xmlns:a14="http://schemas.microsoft.com/office/drawing/2010/main">
                <a:solidFill>
                  <a:srgbClr val="36AEBA"/>
                </a:solidFill>
              </a14:hiddenFill>
            </a:ext>
          </a:extLst>
        </p:spPr>
        <p:txBody>
          <a:bodyPr wrap="squar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要货计划达成率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mn-ea"/>
            </a:endParaRPr>
          </a:p>
        </p:txBody>
      </p:sp>
      <p:cxnSp>
        <p:nvCxnSpPr>
          <p:cNvPr id="104" name="连接符: 肘形 103"/>
          <p:cNvCxnSpPr>
            <a:stCxn id="59" idx="4"/>
            <a:endCxn id="102" idx="1"/>
          </p:cNvCxnSpPr>
          <p:nvPr/>
        </p:nvCxnSpPr>
        <p:spPr>
          <a:xfrm rot="16200000" flipH="1">
            <a:off x="4104307" y="2067002"/>
            <a:ext cx="120261" cy="165983"/>
          </a:xfrm>
          <a:prstGeom prst="bentConnector2">
            <a:avLst/>
          </a:prstGeom>
          <a:noFill/>
          <a:ln w="19050" cap="flat">
            <a:solidFill>
              <a:srgbClr val="009F9A"/>
            </a:solidFill>
            <a:prstDash val="solid"/>
            <a:miter lim="800000"/>
          </a:ln>
          <a:effectLst/>
        </p:spPr>
      </p:cxnSp>
      <p:cxnSp>
        <p:nvCxnSpPr>
          <p:cNvPr id="105" name="连接符: 肘形 104"/>
          <p:cNvCxnSpPr>
            <a:stCxn id="59" idx="4"/>
            <a:endCxn id="103" idx="1"/>
          </p:cNvCxnSpPr>
          <p:nvPr/>
        </p:nvCxnSpPr>
        <p:spPr>
          <a:xfrm rot="16200000" flipH="1">
            <a:off x="3979173" y="2192137"/>
            <a:ext cx="372520" cy="167974"/>
          </a:xfrm>
          <a:prstGeom prst="bentConnector2">
            <a:avLst/>
          </a:prstGeom>
          <a:noFill/>
          <a:ln w="19050" cap="flat">
            <a:solidFill>
              <a:srgbClr val="009F9A"/>
            </a:solidFill>
            <a:prstDash val="solid"/>
            <a:miter lim="800000"/>
          </a:ln>
          <a:effectLst/>
        </p:spPr>
      </p:cxnSp>
      <p:cxnSp>
        <p:nvCxnSpPr>
          <p:cNvPr id="106" name="连接符: 肘形 105"/>
          <p:cNvCxnSpPr>
            <a:stCxn id="59" idx="4"/>
            <a:endCxn id="89" idx="1"/>
          </p:cNvCxnSpPr>
          <p:nvPr/>
        </p:nvCxnSpPr>
        <p:spPr>
          <a:xfrm rot="5400000" flipV="1">
            <a:off x="2260600" y="3910965"/>
            <a:ext cx="3820160" cy="177800"/>
          </a:xfrm>
          <a:prstGeom prst="bentConnector2">
            <a:avLst/>
          </a:prstGeom>
          <a:noFill/>
          <a:ln w="19050" cap="flat">
            <a:solidFill>
              <a:srgbClr val="009F9A"/>
            </a:solidFill>
            <a:prstDash val="solid"/>
            <a:miter lim="800000"/>
          </a:ln>
          <a:effectLst/>
        </p:spPr>
      </p:cxnSp>
      <p:cxnSp>
        <p:nvCxnSpPr>
          <p:cNvPr id="107" name="连接符: 肘形 106"/>
          <p:cNvCxnSpPr>
            <a:stCxn id="59" idx="4"/>
            <a:endCxn id="90" idx="1"/>
          </p:cNvCxnSpPr>
          <p:nvPr/>
        </p:nvCxnSpPr>
        <p:spPr>
          <a:xfrm rot="5400000" flipV="1">
            <a:off x="2098675" y="4072890"/>
            <a:ext cx="4117975" cy="151765"/>
          </a:xfrm>
          <a:prstGeom prst="bentConnector2">
            <a:avLst/>
          </a:prstGeom>
          <a:noFill/>
          <a:ln w="19050" cap="flat">
            <a:solidFill>
              <a:srgbClr val="009F9A"/>
            </a:solidFill>
            <a:prstDash val="solid"/>
            <a:miter lim="800000"/>
          </a:ln>
          <a:effectLst/>
        </p:spPr>
      </p:cxnSp>
      <p:sp>
        <p:nvSpPr>
          <p:cNvPr id="108" name="文本框 27"/>
          <p:cNvSpPr txBox="1"/>
          <p:nvPr>
            <p:custDataLst>
              <p:tags r:id="rId50"/>
            </p:custDataLst>
          </p:nvPr>
        </p:nvSpPr>
        <p:spPr>
          <a:xfrm>
            <a:off x="10469420" y="2549893"/>
            <a:ext cx="10972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应收账款余额</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09" name="连接符: 肘形 108"/>
          <p:cNvCxnSpPr>
            <a:stCxn id="43" idx="2"/>
            <a:endCxn id="108" idx="1"/>
          </p:cNvCxnSpPr>
          <p:nvPr/>
        </p:nvCxnSpPr>
        <p:spPr>
          <a:xfrm rot="16200000" flipH="1">
            <a:off x="10077179" y="2295447"/>
            <a:ext cx="631908" cy="152574"/>
          </a:xfrm>
          <a:prstGeom prst="bentConnector2">
            <a:avLst/>
          </a:prstGeom>
          <a:noFill/>
          <a:ln w="19050" cap="flat">
            <a:solidFill>
              <a:srgbClr val="009F9A"/>
            </a:solidFill>
            <a:prstDash val="solid"/>
            <a:miter lim="800000"/>
          </a:ln>
          <a:effectLst/>
        </p:spPr>
      </p:cxnSp>
      <p:sp>
        <p:nvSpPr>
          <p:cNvPr id="110" name="文本框 27"/>
          <p:cNvSpPr txBox="1"/>
          <p:nvPr/>
        </p:nvSpPr>
        <p:spPr>
          <a:xfrm>
            <a:off x="6451374" y="2654307"/>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订单发运安全率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11" name="连接符: 肘形 110"/>
          <p:cNvCxnSpPr>
            <a:stCxn id="6" idx="4"/>
            <a:endCxn id="110" idx="1"/>
          </p:cNvCxnSpPr>
          <p:nvPr/>
        </p:nvCxnSpPr>
        <p:spPr>
          <a:xfrm rot="5400000" flipV="1">
            <a:off x="6011545" y="2352040"/>
            <a:ext cx="702310" cy="177800"/>
          </a:xfrm>
          <a:prstGeom prst="bentConnector2">
            <a:avLst/>
          </a:prstGeom>
          <a:noFill/>
          <a:ln w="19050" cap="flat">
            <a:solidFill>
              <a:srgbClr val="009F9A"/>
            </a:solidFill>
            <a:prstDash val="solid"/>
            <a:miter lim="800000"/>
          </a:ln>
          <a:effectLst/>
        </p:spPr>
      </p:cxnSp>
      <p:sp>
        <p:nvSpPr>
          <p:cNvPr id="112" name="文本框 27"/>
          <p:cNvSpPr txBox="1"/>
          <p:nvPr/>
        </p:nvSpPr>
        <p:spPr>
          <a:xfrm>
            <a:off x="6439175" y="2360229"/>
            <a:ext cx="12496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订单送达及时率</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13" name="连接符: 肘形 112"/>
          <p:cNvCxnSpPr>
            <a:stCxn id="6" idx="4"/>
            <a:endCxn id="112" idx="1"/>
          </p:cNvCxnSpPr>
          <p:nvPr/>
        </p:nvCxnSpPr>
        <p:spPr>
          <a:xfrm rot="5400000" flipV="1">
            <a:off x="6152198" y="2211388"/>
            <a:ext cx="408305" cy="165100"/>
          </a:xfrm>
          <a:prstGeom prst="bentConnector2">
            <a:avLst/>
          </a:prstGeom>
          <a:noFill/>
          <a:ln w="19050" cap="flat">
            <a:solidFill>
              <a:srgbClr val="009F9A"/>
            </a:solidFill>
            <a:prstDash val="solid"/>
            <a:miter lim="800000"/>
          </a:ln>
          <a:effectLst/>
        </p:spPr>
      </p:cxnSp>
      <p:sp>
        <p:nvSpPr>
          <p:cNvPr id="114" name="文本框 28"/>
          <p:cNvSpPr txBox="1"/>
          <p:nvPr/>
        </p:nvSpPr>
        <p:spPr>
          <a:xfrm>
            <a:off x="6452900" y="3315424"/>
            <a:ext cx="792480" cy="275590"/>
          </a:xfrm>
          <a:prstGeom prst="rect">
            <a:avLst/>
          </a:prstGeom>
          <a:solidFill>
            <a:srgbClr val="000000">
              <a:alpha val="0"/>
            </a:srgbClr>
          </a:solidFill>
        </p:spPr>
        <p:txBody>
          <a:bodyPr wrap="none" rtlCol="0">
            <a:spAutoFit/>
          </a:bodyPr>
          <a:lstStyle/>
          <a:p>
            <a:pPr defTabSz="1219200" fontAlgn="base">
              <a:spcBef>
                <a:spcPct val="0"/>
              </a:spcBef>
              <a:spcAft>
                <a:spcPct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单位运费</a:t>
            </a:r>
            <a:endParaRPr lang="zh-CN" altLang="en-US" sz="1200" b="1"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cxnSp>
        <p:nvCxnSpPr>
          <p:cNvPr id="115" name="连接符: 肘形 114"/>
          <p:cNvCxnSpPr>
            <a:stCxn id="6" idx="4"/>
            <a:endCxn id="114" idx="1"/>
          </p:cNvCxnSpPr>
          <p:nvPr/>
        </p:nvCxnSpPr>
        <p:spPr>
          <a:xfrm rot="5400000" flipV="1">
            <a:off x="5681663" y="2681923"/>
            <a:ext cx="1363345" cy="179070"/>
          </a:xfrm>
          <a:prstGeom prst="bentConnector2">
            <a:avLst/>
          </a:prstGeom>
          <a:noFill/>
          <a:ln w="19050" cap="flat">
            <a:solidFill>
              <a:srgbClr val="009F9A"/>
            </a:solidFill>
            <a:prstDash val="solid"/>
            <a:miter lim="800000"/>
          </a:ln>
          <a:effectLst/>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4</a:t>
            </a:r>
            <a:r>
              <a:rPr lang="zh-CN" altLang="en-US" kern="0" dirty="0">
                <a:solidFill>
                  <a:srgbClr val="000000"/>
                </a:solidFill>
                <a:cs typeface="Helvetica"/>
                <a:sym typeface="+mn-ea"/>
              </a:rPr>
              <a:t>、服务满意</a:t>
            </a:r>
            <a:r>
              <a:rPr lang="en-US" altLang="zh-CN" kern="0" dirty="0">
                <a:solidFill>
                  <a:srgbClr val="000000"/>
                </a:solidFill>
                <a:cs typeface="Helvetica"/>
                <a:sym typeface="+mn-ea"/>
              </a:rPr>
              <a:t>ITR</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文本框 3"/>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系统化地识别、分析服务响应与效率、服务质量与成本、客户关系维护三个维度，全方位响应和解决客户问题，以提升客户满意度、减少退货率，并增强企业的市场响应能力、品牌净推荐率以及客户粘性。</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5" name="Straight Connector 9"/>
          <p:cNvCxnSpPr/>
          <p:nvPr/>
        </p:nvCxnSpPr>
        <p:spPr>
          <a:xfrm>
            <a:off x="1621394" y="3775076"/>
            <a:ext cx="1706597" cy="0"/>
          </a:xfrm>
          <a:prstGeom prst="line">
            <a:avLst/>
          </a:prstGeom>
          <a:noFill/>
          <a:ln w="25400" cap="rnd" cmpd="sng" algn="ctr">
            <a:solidFill>
              <a:srgbClr val="009F9A"/>
            </a:solidFill>
            <a:prstDash val="solid"/>
            <a:miter lim="800000"/>
          </a:ln>
          <a:effectLst/>
        </p:spPr>
      </p:cxnSp>
      <p:sp>
        <p:nvSpPr>
          <p:cNvPr id="6" name="TextBox 10"/>
          <p:cNvSpPr txBox="1"/>
          <p:nvPr/>
        </p:nvSpPr>
        <p:spPr>
          <a:xfrm>
            <a:off x="1525589" y="3438648"/>
            <a:ext cx="1879383"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1</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、售后服务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 name="Straight Connector 17"/>
          <p:cNvCxnSpPr/>
          <p:nvPr/>
        </p:nvCxnSpPr>
        <p:spPr>
          <a:xfrm>
            <a:off x="5294746" y="5550919"/>
            <a:ext cx="1627480" cy="0"/>
          </a:xfrm>
          <a:prstGeom prst="line">
            <a:avLst/>
          </a:prstGeom>
          <a:noFill/>
          <a:ln w="25400" cap="rnd" cmpd="sng" algn="ctr">
            <a:solidFill>
              <a:srgbClr val="009F9A"/>
            </a:solidFill>
            <a:prstDash val="solid"/>
            <a:miter lim="800000"/>
          </a:ln>
          <a:effectLst/>
        </p:spPr>
      </p:cxnSp>
      <p:sp>
        <p:nvSpPr>
          <p:cNvPr id="8" name="TextBox 18"/>
          <p:cNvSpPr txBox="1"/>
          <p:nvPr/>
        </p:nvSpPr>
        <p:spPr>
          <a:xfrm>
            <a:off x="5236871" y="5203787"/>
            <a:ext cx="1678978"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3</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、客户关系维护</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9" name="TextBox 26"/>
          <p:cNvSpPr txBox="1"/>
          <p:nvPr/>
        </p:nvSpPr>
        <p:spPr>
          <a:xfrm>
            <a:off x="9189595" y="3473157"/>
            <a:ext cx="1830705"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2</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、客诉服务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10" name="Freeform 566"/>
          <p:cNvSpPr/>
          <p:nvPr/>
        </p:nvSpPr>
        <p:spPr bwMode="auto">
          <a:xfrm>
            <a:off x="9310689" y="2200276"/>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1" name="Freeform 567"/>
          <p:cNvSpPr/>
          <p:nvPr/>
        </p:nvSpPr>
        <p:spPr bwMode="auto">
          <a:xfrm>
            <a:off x="1525589" y="2200276"/>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2" name="Freeform 568"/>
          <p:cNvSpPr/>
          <p:nvPr/>
        </p:nvSpPr>
        <p:spPr bwMode="auto">
          <a:xfrm>
            <a:off x="7705727" y="2952751"/>
            <a:ext cx="1604963" cy="993775"/>
          </a:xfrm>
          <a:custGeom>
            <a:avLst/>
            <a:gdLst>
              <a:gd name="T0" fmla="*/ 0 w 1011"/>
              <a:gd name="T1" fmla="*/ 626 h 626"/>
              <a:gd name="T2" fmla="*/ 1011 w 1011"/>
              <a:gd name="T3" fmla="*/ 64 h 626"/>
              <a:gd name="T4" fmla="*/ 1011 w 1011"/>
              <a:gd name="T5" fmla="*/ 0 h 626"/>
              <a:gd name="T6" fmla="*/ 0 w 1011"/>
              <a:gd name="T7" fmla="*/ 562 h 626"/>
              <a:gd name="T8" fmla="*/ 0 w 1011"/>
              <a:gd name="T9" fmla="*/ 626 h 626"/>
            </a:gdLst>
            <a:ahLst/>
            <a:cxnLst>
              <a:cxn ang="0">
                <a:pos x="T0" y="T1"/>
              </a:cxn>
              <a:cxn ang="0">
                <a:pos x="T2" y="T3"/>
              </a:cxn>
              <a:cxn ang="0">
                <a:pos x="T4" y="T5"/>
              </a:cxn>
              <a:cxn ang="0">
                <a:pos x="T6" y="T7"/>
              </a:cxn>
              <a:cxn ang="0">
                <a:pos x="T8" y="T9"/>
              </a:cxn>
            </a:cxnLst>
            <a:rect l="0" t="0" r="r" b="b"/>
            <a:pathLst>
              <a:path w="1011" h="626">
                <a:moveTo>
                  <a:pt x="0" y="626"/>
                </a:moveTo>
                <a:lnTo>
                  <a:pt x="1011" y="64"/>
                </a:lnTo>
                <a:lnTo>
                  <a:pt x="1011" y="0"/>
                </a:lnTo>
                <a:lnTo>
                  <a:pt x="0" y="562"/>
                </a:lnTo>
                <a:lnTo>
                  <a:pt x="0" y="626"/>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3" name="Freeform 569"/>
          <p:cNvSpPr/>
          <p:nvPr/>
        </p:nvSpPr>
        <p:spPr bwMode="auto">
          <a:xfrm>
            <a:off x="2881314" y="2952750"/>
            <a:ext cx="1604963" cy="996950"/>
          </a:xfrm>
          <a:custGeom>
            <a:avLst/>
            <a:gdLst>
              <a:gd name="T0" fmla="*/ 0 w 1011"/>
              <a:gd name="T1" fmla="*/ 0 h 628"/>
              <a:gd name="T2" fmla="*/ 0 w 1011"/>
              <a:gd name="T3" fmla="*/ 64 h 628"/>
              <a:gd name="T4" fmla="*/ 1011 w 1011"/>
              <a:gd name="T5" fmla="*/ 628 h 628"/>
              <a:gd name="T6" fmla="*/ 1011 w 1011"/>
              <a:gd name="T7" fmla="*/ 564 h 628"/>
              <a:gd name="T8" fmla="*/ 0 w 1011"/>
              <a:gd name="T9" fmla="*/ 0 h 628"/>
            </a:gdLst>
            <a:ahLst/>
            <a:cxnLst>
              <a:cxn ang="0">
                <a:pos x="T0" y="T1"/>
              </a:cxn>
              <a:cxn ang="0">
                <a:pos x="T2" y="T3"/>
              </a:cxn>
              <a:cxn ang="0">
                <a:pos x="T4" y="T5"/>
              </a:cxn>
              <a:cxn ang="0">
                <a:pos x="T6" y="T7"/>
              </a:cxn>
              <a:cxn ang="0">
                <a:pos x="T8" y="T9"/>
              </a:cxn>
            </a:cxnLst>
            <a:rect l="0" t="0" r="r" b="b"/>
            <a:pathLst>
              <a:path w="1011" h="628">
                <a:moveTo>
                  <a:pt x="0" y="0"/>
                </a:moveTo>
                <a:lnTo>
                  <a:pt x="0" y="64"/>
                </a:lnTo>
                <a:lnTo>
                  <a:pt x="1011" y="628"/>
                </a:lnTo>
                <a:lnTo>
                  <a:pt x="1011" y="56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4" name="Freeform 570"/>
          <p:cNvSpPr/>
          <p:nvPr/>
        </p:nvSpPr>
        <p:spPr bwMode="auto">
          <a:xfrm>
            <a:off x="4486277" y="3848101"/>
            <a:ext cx="1609725" cy="993775"/>
          </a:xfrm>
          <a:custGeom>
            <a:avLst/>
            <a:gdLst>
              <a:gd name="T0" fmla="*/ 1014 w 1014"/>
              <a:gd name="T1" fmla="*/ 562 h 626"/>
              <a:gd name="T2" fmla="*/ 0 w 1014"/>
              <a:gd name="T3" fmla="*/ 0 h 626"/>
              <a:gd name="T4" fmla="*/ 0 w 1014"/>
              <a:gd name="T5" fmla="*/ 64 h 626"/>
              <a:gd name="T6" fmla="*/ 1014 w 1014"/>
              <a:gd name="T7" fmla="*/ 626 h 626"/>
              <a:gd name="T8" fmla="*/ 1014 w 1014"/>
              <a:gd name="T9" fmla="*/ 626 h 626"/>
              <a:gd name="T10" fmla="*/ 1014 w 1014"/>
              <a:gd name="T11" fmla="*/ 562 h 626"/>
              <a:gd name="T12" fmla="*/ 1014 w 1014"/>
              <a:gd name="T13" fmla="*/ 562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562"/>
                </a:moveTo>
                <a:lnTo>
                  <a:pt x="0" y="0"/>
                </a:lnTo>
                <a:lnTo>
                  <a:pt x="0" y="64"/>
                </a:lnTo>
                <a:lnTo>
                  <a:pt x="1014" y="626"/>
                </a:lnTo>
                <a:lnTo>
                  <a:pt x="1014" y="626"/>
                </a:lnTo>
                <a:lnTo>
                  <a:pt x="1014" y="562"/>
                </a:lnTo>
                <a:lnTo>
                  <a:pt x="1014" y="562"/>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5" name="Freeform 571"/>
          <p:cNvSpPr/>
          <p:nvPr/>
        </p:nvSpPr>
        <p:spPr bwMode="auto">
          <a:xfrm>
            <a:off x="6096002" y="3844925"/>
            <a:ext cx="1609725" cy="996950"/>
          </a:xfrm>
          <a:custGeom>
            <a:avLst/>
            <a:gdLst>
              <a:gd name="T0" fmla="*/ 0 w 1014"/>
              <a:gd name="T1" fmla="*/ 564 h 628"/>
              <a:gd name="T2" fmla="*/ 0 w 1014"/>
              <a:gd name="T3" fmla="*/ 628 h 628"/>
              <a:gd name="T4" fmla="*/ 1014 w 1014"/>
              <a:gd name="T5" fmla="*/ 64 h 628"/>
              <a:gd name="T6" fmla="*/ 1014 w 1014"/>
              <a:gd name="T7" fmla="*/ 0 h 628"/>
              <a:gd name="T8" fmla="*/ 0 w 1014"/>
              <a:gd name="T9" fmla="*/ 564 h 628"/>
            </a:gdLst>
            <a:ahLst/>
            <a:cxnLst>
              <a:cxn ang="0">
                <a:pos x="T0" y="T1"/>
              </a:cxn>
              <a:cxn ang="0">
                <a:pos x="T2" y="T3"/>
              </a:cxn>
              <a:cxn ang="0">
                <a:pos x="T4" y="T5"/>
              </a:cxn>
              <a:cxn ang="0">
                <a:pos x="T6" y="T7"/>
              </a:cxn>
              <a:cxn ang="0">
                <a:pos x="T8" y="T9"/>
              </a:cxn>
            </a:cxnLst>
            <a:rect l="0" t="0" r="r" b="b"/>
            <a:pathLst>
              <a:path w="1014" h="628">
                <a:moveTo>
                  <a:pt x="0" y="564"/>
                </a:moveTo>
                <a:lnTo>
                  <a:pt x="0" y="628"/>
                </a:lnTo>
                <a:lnTo>
                  <a:pt x="1014" y="64"/>
                </a:lnTo>
                <a:lnTo>
                  <a:pt x="1014" y="0"/>
                </a:lnTo>
                <a:lnTo>
                  <a:pt x="0" y="5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6" name="Freeform 572"/>
          <p:cNvSpPr/>
          <p:nvPr/>
        </p:nvSpPr>
        <p:spPr bwMode="auto">
          <a:xfrm>
            <a:off x="7705727" y="2606675"/>
            <a:ext cx="1604963" cy="996950"/>
          </a:xfrm>
          <a:custGeom>
            <a:avLst/>
            <a:gdLst>
              <a:gd name="T0" fmla="*/ 1011 w 1011"/>
              <a:gd name="T1" fmla="*/ 64 h 628"/>
              <a:gd name="T2" fmla="*/ 1011 w 1011"/>
              <a:gd name="T3" fmla="*/ 0 h 628"/>
              <a:gd name="T4" fmla="*/ 0 w 1011"/>
              <a:gd name="T5" fmla="*/ 564 h 628"/>
              <a:gd name="T6" fmla="*/ 0 w 1011"/>
              <a:gd name="T7" fmla="*/ 628 h 628"/>
              <a:gd name="T8" fmla="*/ 1011 w 1011"/>
              <a:gd name="T9" fmla="*/ 64 h 628"/>
            </a:gdLst>
            <a:ahLst/>
            <a:cxnLst>
              <a:cxn ang="0">
                <a:pos x="T0" y="T1"/>
              </a:cxn>
              <a:cxn ang="0">
                <a:pos x="T2" y="T3"/>
              </a:cxn>
              <a:cxn ang="0">
                <a:pos x="T4" y="T5"/>
              </a:cxn>
              <a:cxn ang="0">
                <a:pos x="T6" y="T7"/>
              </a:cxn>
              <a:cxn ang="0">
                <a:pos x="T8" y="T9"/>
              </a:cxn>
            </a:cxnLst>
            <a:rect l="0" t="0" r="r" b="b"/>
            <a:pathLst>
              <a:path w="1011" h="628">
                <a:moveTo>
                  <a:pt x="1011" y="64"/>
                </a:moveTo>
                <a:lnTo>
                  <a:pt x="1011" y="0"/>
                </a:lnTo>
                <a:lnTo>
                  <a:pt x="0" y="564"/>
                </a:lnTo>
                <a:lnTo>
                  <a:pt x="0" y="628"/>
                </a:lnTo>
                <a:lnTo>
                  <a:pt x="1011"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7" name="Freeform 573"/>
          <p:cNvSpPr/>
          <p:nvPr/>
        </p:nvSpPr>
        <p:spPr bwMode="auto">
          <a:xfrm>
            <a:off x="9310689" y="1854201"/>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8" name="Freeform 574"/>
          <p:cNvSpPr/>
          <p:nvPr/>
        </p:nvSpPr>
        <p:spPr bwMode="auto">
          <a:xfrm>
            <a:off x="4486277" y="3502026"/>
            <a:ext cx="1609725" cy="993775"/>
          </a:xfrm>
          <a:custGeom>
            <a:avLst/>
            <a:gdLst>
              <a:gd name="T0" fmla="*/ 1014 w 1014"/>
              <a:gd name="T1" fmla="*/ 626 h 626"/>
              <a:gd name="T2" fmla="*/ 1014 w 1014"/>
              <a:gd name="T3" fmla="*/ 626 h 626"/>
              <a:gd name="T4" fmla="*/ 1014 w 1014"/>
              <a:gd name="T5" fmla="*/ 562 h 626"/>
              <a:gd name="T6" fmla="*/ 1014 w 1014"/>
              <a:gd name="T7" fmla="*/ 562 h 626"/>
              <a:gd name="T8" fmla="*/ 0 w 1014"/>
              <a:gd name="T9" fmla="*/ 0 h 626"/>
              <a:gd name="T10" fmla="*/ 0 w 1014"/>
              <a:gd name="T11" fmla="*/ 64 h 626"/>
              <a:gd name="T12" fmla="*/ 1014 w 1014"/>
              <a:gd name="T13" fmla="*/ 626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626"/>
                </a:moveTo>
                <a:lnTo>
                  <a:pt x="1014" y="626"/>
                </a:lnTo>
                <a:lnTo>
                  <a:pt x="1014" y="562"/>
                </a:lnTo>
                <a:lnTo>
                  <a:pt x="1014" y="562"/>
                </a:lnTo>
                <a:lnTo>
                  <a:pt x="0" y="0"/>
                </a:lnTo>
                <a:lnTo>
                  <a:pt x="0" y="64"/>
                </a:lnTo>
                <a:lnTo>
                  <a:pt x="1014" y="626"/>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9" name="Freeform 575"/>
          <p:cNvSpPr/>
          <p:nvPr/>
        </p:nvSpPr>
        <p:spPr bwMode="auto">
          <a:xfrm>
            <a:off x="1525589" y="1854201"/>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0" name="Freeform 576"/>
          <p:cNvSpPr/>
          <p:nvPr/>
        </p:nvSpPr>
        <p:spPr bwMode="auto">
          <a:xfrm>
            <a:off x="6096002" y="3502026"/>
            <a:ext cx="1609725" cy="993775"/>
          </a:xfrm>
          <a:custGeom>
            <a:avLst/>
            <a:gdLst>
              <a:gd name="T0" fmla="*/ 1014 w 1014"/>
              <a:gd name="T1" fmla="*/ 64 h 626"/>
              <a:gd name="T2" fmla="*/ 1014 w 1014"/>
              <a:gd name="T3" fmla="*/ 0 h 626"/>
              <a:gd name="T4" fmla="*/ 0 w 1014"/>
              <a:gd name="T5" fmla="*/ 562 h 626"/>
              <a:gd name="T6" fmla="*/ 0 w 1014"/>
              <a:gd name="T7" fmla="*/ 626 h 626"/>
              <a:gd name="T8" fmla="*/ 1014 w 1014"/>
              <a:gd name="T9" fmla="*/ 64 h 626"/>
            </a:gdLst>
            <a:ahLst/>
            <a:cxnLst>
              <a:cxn ang="0">
                <a:pos x="T0" y="T1"/>
              </a:cxn>
              <a:cxn ang="0">
                <a:pos x="T2" y="T3"/>
              </a:cxn>
              <a:cxn ang="0">
                <a:pos x="T4" y="T5"/>
              </a:cxn>
              <a:cxn ang="0">
                <a:pos x="T6" y="T7"/>
              </a:cxn>
              <a:cxn ang="0">
                <a:pos x="T8" y="T9"/>
              </a:cxn>
            </a:cxnLst>
            <a:rect l="0" t="0" r="r" b="b"/>
            <a:pathLst>
              <a:path w="1014" h="626">
                <a:moveTo>
                  <a:pt x="1014" y="64"/>
                </a:moveTo>
                <a:lnTo>
                  <a:pt x="1014" y="0"/>
                </a:lnTo>
                <a:lnTo>
                  <a:pt x="0" y="562"/>
                </a:lnTo>
                <a:lnTo>
                  <a:pt x="0" y="626"/>
                </a:lnTo>
                <a:lnTo>
                  <a:pt x="101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1" name="Freeform 577"/>
          <p:cNvSpPr/>
          <p:nvPr/>
        </p:nvSpPr>
        <p:spPr bwMode="auto">
          <a:xfrm>
            <a:off x="2881314" y="2606675"/>
            <a:ext cx="1604963" cy="996950"/>
          </a:xfrm>
          <a:custGeom>
            <a:avLst/>
            <a:gdLst>
              <a:gd name="T0" fmla="*/ 1011 w 1011"/>
              <a:gd name="T1" fmla="*/ 564 h 628"/>
              <a:gd name="T2" fmla="*/ 0 w 1011"/>
              <a:gd name="T3" fmla="*/ 0 h 628"/>
              <a:gd name="T4" fmla="*/ 0 w 1011"/>
              <a:gd name="T5" fmla="*/ 64 h 628"/>
              <a:gd name="T6" fmla="*/ 1011 w 1011"/>
              <a:gd name="T7" fmla="*/ 628 h 628"/>
              <a:gd name="T8" fmla="*/ 1011 w 1011"/>
              <a:gd name="T9" fmla="*/ 564 h 628"/>
            </a:gdLst>
            <a:ahLst/>
            <a:cxnLst>
              <a:cxn ang="0">
                <a:pos x="T0" y="T1"/>
              </a:cxn>
              <a:cxn ang="0">
                <a:pos x="T2" y="T3"/>
              </a:cxn>
              <a:cxn ang="0">
                <a:pos x="T4" y="T5"/>
              </a:cxn>
              <a:cxn ang="0">
                <a:pos x="T6" y="T7"/>
              </a:cxn>
              <a:cxn ang="0">
                <a:pos x="T8" y="T9"/>
              </a:cxn>
            </a:cxnLst>
            <a:rect l="0" t="0" r="r" b="b"/>
            <a:pathLst>
              <a:path w="1011" h="628">
                <a:moveTo>
                  <a:pt x="1011" y="564"/>
                </a:moveTo>
                <a:lnTo>
                  <a:pt x="0" y="0"/>
                </a:lnTo>
                <a:lnTo>
                  <a:pt x="0" y="64"/>
                </a:lnTo>
                <a:lnTo>
                  <a:pt x="1011" y="628"/>
                </a:lnTo>
                <a:lnTo>
                  <a:pt x="1011" y="5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2" name="Freeform 578"/>
          <p:cNvSpPr/>
          <p:nvPr/>
        </p:nvSpPr>
        <p:spPr bwMode="auto">
          <a:xfrm>
            <a:off x="4486277" y="3673476"/>
            <a:ext cx="1609725" cy="993775"/>
          </a:xfrm>
          <a:custGeom>
            <a:avLst/>
            <a:gdLst>
              <a:gd name="T0" fmla="*/ 1014 w 1014"/>
              <a:gd name="T1" fmla="*/ 626 h 626"/>
              <a:gd name="T2" fmla="*/ 1014 w 1014"/>
              <a:gd name="T3" fmla="*/ 562 h 626"/>
              <a:gd name="T4" fmla="*/ 1014 w 1014"/>
              <a:gd name="T5" fmla="*/ 562 h 626"/>
              <a:gd name="T6" fmla="*/ 0 w 1014"/>
              <a:gd name="T7" fmla="*/ 0 h 626"/>
              <a:gd name="T8" fmla="*/ 0 w 1014"/>
              <a:gd name="T9" fmla="*/ 64 h 626"/>
              <a:gd name="T10" fmla="*/ 1014 w 1014"/>
              <a:gd name="T11" fmla="*/ 626 h 626"/>
              <a:gd name="T12" fmla="*/ 1014 w 1014"/>
              <a:gd name="T13" fmla="*/ 626 h 626"/>
            </a:gdLst>
            <a:ahLst/>
            <a:cxnLst>
              <a:cxn ang="0">
                <a:pos x="T0" y="T1"/>
              </a:cxn>
              <a:cxn ang="0">
                <a:pos x="T2" y="T3"/>
              </a:cxn>
              <a:cxn ang="0">
                <a:pos x="T4" y="T5"/>
              </a:cxn>
              <a:cxn ang="0">
                <a:pos x="T6" y="T7"/>
              </a:cxn>
              <a:cxn ang="0">
                <a:pos x="T8" y="T9"/>
              </a:cxn>
              <a:cxn ang="0">
                <a:pos x="T10" y="T11"/>
              </a:cxn>
              <a:cxn ang="0">
                <a:pos x="T12" y="T13"/>
              </a:cxn>
            </a:cxnLst>
            <a:rect l="0" t="0" r="r" b="b"/>
            <a:pathLst>
              <a:path w="1014" h="626">
                <a:moveTo>
                  <a:pt x="1014" y="626"/>
                </a:moveTo>
                <a:lnTo>
                  <a:pt x="1014" y="562"/>
                </a:lnTo>
                <a:lnTo>
                  <a:pt x="1014" y="562"/>
                </a:lnTo>
                <a:lnTo>
                  <a:pt x="0" y="0"/>
                </a:lnTo>
                <a:lnTo>
                  <a:pt x="0" y="64"/>
                </a:lnTo>
                <a:lnTo>
                  <a:pt x="1014" y="626"/>
                </a:lnTo>
                <a:lnTo>
                  <a:pt x="1014"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3" name="Freeform 579"/>
          <p:cNvSpPr/>
          <p:nvPr/>
        </p:nvSpPr>
        <p:spPr bwMode="auto">
          <a:xfrm>
            <a:off x="9310689" y="2028826"/>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4" name="Freeform 580"/>
          <p:cNvSpPr/>
          <p:nvPr/>
        </p:nvSpPr>
        <p:spPr bwMode="auto">
          <a:xfrm>
            <a:off x="7705727" y="2781301"/>
            <a:ext cx="1604963" cy="993775"/>
          </a:xfrm>
          <a:custGeom>
            <a:avLst/>
            <a:gdLst>
              <a:gd name="T0" fmla="*/ 0 w 1011"/>
              <a:gd name="T1" fmla="*/ 626 h 626"/>
              <a:gd name="T2" fmla="*/ 1011 w 1011"/>
              <a:gd name="T3" fmla="*/ 64 h 626"/>
              <a:gd name="T4" fmla="*/ 1011 w 1011"/>
              <a:gd name="T5" fmla="*/ 0 h 626"/>
              <a:gd name="T6" fmla="*/ 0 w 1011"/>
              <a:gd name="T7" fmla="*/ 562 h 626"/>
              <a:gd name="T8" fmla="*/ 0 w 1011"/>
              <a:gd name="T9" fmla="*/ 626 h 626"/>
            </a:gdLst>
            <a:ahLst/>
            <a:cxnLst>
              <a:cxn ang="0">
                <a:pos x="T0" y="T1"/>
              </a:cxn>
              <a:cxn ang="0">
                <a:pos x="T2" y="T3"/>
              </a:cxn>
              <a:cxn ang="0">
                <a:pos x="T4" y="T5"/>
              </a:cxn>
              <a:cxn ang="0">
                <a:pos x="T6" y="T7"/>
              </a:cxn>
              <a:cxn ang="0">
                <a:pos x="T8" y="T9"/>
              </a:cxn>
            </a:cxnLst>
            <a:rect l="0" t="0" r="r" b="b"/>
            <a:pathLst>
              <a:path w="1011" h="626">
                <a:moveTo>
                  <a:pt x="0" y="626"/>
                </a:moveTo>
                <a:lnTo>
                  <a:pt x="1011" y="64"/>
                </a:lnTo>
                <a:lnTo>
                  <a:pt x="1011" y="0"/>
                </a:lnTo>
                <a:lnTo>
                  <a:pt x="0" y="562"/>
                </a:lnTo>
                <a:lnTo>
                  <a:pt x="0"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5" name="Freeform 581"/>
          <p:cNvSpPr/>
          <p:nvPr/>
        </p:nvSpPr>
        <p:spPr bwMode="auto">
          <a:xfrm>
            <a:off x="1525589" y="2028826"/>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6" name="Freeform 582"/>
          <p:cNvSpPr/>
          <p:nvPr/>
        </p:nvSpPr>
        <p:spPr bwMode="auto">
          <a:xfrm>
            <a:off x="2881314" y="2781301"/>
            <a:ext cx="1604963" cy="993775"/>
          </a:xfrm>
          <a:custGeom>
            <a:avLst/>
            <a:gdLst>
              <a:gd name="T0" fmla="*/ 1011 w 1011"/>
              <a:gd name="T1" fmla="*/ 562 h 626"/>
              <a:gd name="T2" fmla="*/ 0 w 1011"/>
              <a:gd name="T3" fmla="*/ 0 h 626"/>
              <a:gd name="T4" fmla="*/ 0 w 1011"/>
              <a:gd name="T5" fmla="*/ 64 h 626"/>
              <a:gd name="T6" fmla="*/ 1011 w 1011"/>
              <a:gd name="T7" fmla="*/ 626 h 626"/>
              <a:gd name="T8" fmla="*/ 1011 w 1011"/>
              <a:gd name="T9" fmla="*/ 562 h 626"/>
            </a:gdLst>
            <a:ahLst/>
            <a:cxnLst>
              <a:cxn ang="0">
                <a:pos x="T0" y="T1"/>
              </a:cxn>
              <a:cxn ang="0">
                <a:pos x="T2" y="T3"/>
              </a:cxn>
              <a:cxn ang="0">
                <a:pos x="T4" y="T5"/>
              </a:cxn>
              <a:cxn ang="0">
                <a:pos x="T6" y="T7"/>
              </a:cxn>
              <a:cxn ang="0">
                <a:pos x="T8" y="T9"/>
              </a:cxn>
            </a:cxnLst>
            <a:rect l="0" t="0" r="r" b="b"/>
            <a:pathLst>
              <a:path w="1011" h="626">
                <a:moveTo>
                  <a:pt x="1011" y="562"/>
                </a:moveTo>
                <a:lnTo>
                  <a:pt x="0" y="0"/>
                </a:lnTo>
                <a:lnTo>
                  <a:pt x="0" y="64"/>
                </a:lnTo>
                <a:lnTo>
                  <a:pt x="1011" y="626"/>
                </a:lnTo>
                <a:lnTo>
                  <a:pt x="1011" y="562"/>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7" name="Freeform 583"/>
          <p:cNvSpPr/>
          <p:nvPr/>
        </p:nvSpPr>
        <p:spPr bwMode="auto">
          <a:xfrm>
            <a:off x="6096002" y="3673476"/>
            <a:ext cx="1609725" cy="993775"/>
          </a:xfrm>
          <a:custGeom>
            <a:avLst/>
            <a:gdLst>
              <a:gd name="T0" fmla="*/ 0 w 1014"/>
              <a:gd name="T1" fmla="*/ 626 h 626"/>
              <a:gd name="T2" fmla="*/ 1014 w 1014"/>
              <a:gd name="T3" fmla="*/ 64 h 626"/>
              <a:gd name="T4" fmla="*/ 1014 w 1014"/>
              <a:gd name="T5" fmla="*/ 0 h 626"/>
              <a:gd name="T6" fmla="*/ 0 w 1014"/>
              <a:gd name="T7" fmla="*/ 562 h 626"/>
              <a:gd name="T8" fmla="*/ 0 w 1014"/>
              <a:gd name="T9" fmla="*/ 626 h 626"/>
            </a:gdLst>
            <a:ahLst/>
            <a:cxnLst>
              <a:cxn ang="0">
                <a:pos x="T0" y="T1"/>
              </a:cxn>
              <a:cxn ang="0">
                <a:pos x="T2" y="T3"/>
              </a:cxn>
              <a:cxn ang="0">
                <a:pos x="T4" y="T5"/>
              </a:cxn>
              <a:cxn ang="0">
                <a:pos x="T6" y="T7"/>
              </a:cxn>
              <a:cxn ang="0">
                <a:pos x="T8" y="T9"/>
              </a:cxn>
            </a:cxnLst>
            <a:rect l="0" t="0" r="r" b="b"/>
            <a:pathLst>
              <a:path w="1014" h="626">
                <a:moveTo>
                  <a:pt x="0" y="626"/>
                </a:moveTo>
                <a:lnTo>
                  <a:pt x="1014" y="64"/>
                </a:lnTo>
                <a:lnTo>
                  <a:pt x="1014" y="0"/>
                </a:lnTo>
                <a:lnTo>
                  <a:pt x="0" y="562"/>
                </a:lnTo>
                <a:lnTo>
                  <a:pt x="0" y="626"/>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8" name="Freeform 586"/>
          <p:cNvSpPr/>
          <p:nvPr/>
        </p:nvSpPr>
        <p:spPr bwMode="auto">
          <a:xfrm>
            <a:off x="2109789" y="2508251"/>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29" name="Freeform 598"/>
          <p:cNvSpPr/>
          <p:nvPr/>
        </p:nvSpPr>
        <p:spPr bwMode="auto">
          <a:xfrm>
            <a:off x="5327651" y="4276726"/>
            <a:ext cx="1536700" cy="854075"/>
          </a:xfrm>
          <a:custGeom>
            <a:avLst/>
            <a:gdLst>
              <a:gd name="T0" fmla="*/ 468 w 484"/>
              <a:gd name="T1" fmla="*/ 118 h 269"/>
              <a:gd name="T2" fmla="*/ 468 w 484"/>
              <a:gd name="T3" fmla="*/ 151 h 269"/>
              <a:gd name="T4" fmla="*/ 272 w 484"/>
              <a:gd name="T5" fmla="*/ 260 h 269"/>
              <a:gd name="T6" fmla="*/ 212 w 484"/>
              <a:gd name="T7" fmla="*/ 260 h 269"/>
              <a:gd name="T8" fmla="*/ 16 w 484"/>
              <a:gd name="T9" fmla="*/ 151 h 269"/>
              <a:gd name="T10" fmla="*/ 16 w 484"/>
              <a:gd name="T11" fmla="*/ 118 h 269"/>
              <a:gd name="T12" fmla="*/ 212 w 484"/>
              <a:gd name="T13" fmla="*/ 9 h 269"/>
              <a:gd name="T14" fmla="*/ 272 w 484"/>
              <a:gd name="T15" fmla="*/ 9 h 269"/>
              <a:gd name="T16" fmla="*/ 468 w 484"/>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269">
                <a:moveTo>
                  <a:pt x="468" y="118"/>
                </a:moveTo>
                <a:cubicBezTo>
                  <a:pt x="484" y="127"/>
                  <a:pt x="484" y="142"/>
                  <a:pt x="468" y="151"/>
                </a:cubicBezTo>
                <a:cubicBezTo>
                  <a:pt x="272" y="260"/>
                  <a:pt x="272" y="260"/>
                  <a:pt x="272" y="260"/>
                </a:cubicBezTo>
                <a:cubicBezTo>
                  <a:pt x="255" y="269"/>
                  <a:pt x="229" y="269"/>
                  <a:pt x="212" y="260"/>
                </a:cubicBezTo>
                <a:cubicBezTo>
                  <a:pt x="16" y="151"/>
                  <a:pt x="16" y="151"/>
                  <a:pt x="16" y="151"/>
                </a:cubicBezTo>
                <a:cubicBezTo>
                  <a:pt x="0" y="142"/>
                  <a:pt x="0" y="127"/>
                  <a:pt x="16" y="118"/>
                </a:cubicBezTo>
                <a:cubicBezTo>
                  <a:pt x="212" y="9"/>
                  <a:pt x="212" y="9"/>
                  <a:pt x="212" y="9"/>
                </a:cubicBezTo>
                <a:cubicBezTo>
                  <a:pt x="229" y="0"/>
                  <a:pt x="255"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0" name="Freeform 606"/>
          <p:cNvSpPr/>
          <p:nvPr/>
        </p:nvSpPr>
        <p:spPr bwMode="auto">
          <a:xfrm>
            <a:off x="8542339" y="2508251"/>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1" name="Freeform 587"/>
          <p:cNvSpPr/>
          <p:nvPr/>
        </p:nvSpPr>
        <p:spPr bwMode="auto">
          <a:xfrm>
            <a:off x="2122489" y="2292351"/>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13 w 477"/>
              <a:gd name="T17" fmla="*/ 118 h 303"/>
              <a:gd name="T18" fmla="*/ 209 w 477"/>
              <a:gd name="T19" fmla="*/ 9 h 303"/>
              <a:gd name="T20" fmla="*/ 268 w 477"/>
              <a:gd name="T21" fmla="*/ 9 h 303"/>
              <a:gd name="T22" fmla="*/ 464 w 477"/>
              <a:gd name="T23" fmla="*/ 118 h 303"/>
              <a:gd name="T24" fmla="*/ 477 w 477"/>
              <a:gd name="T25" fmla="*/ 135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3" y="181"/>
                  <a:pt x="464" y="185"/>
                </a:cubicBezTo>
                <a:cubicBezTo>
                  <a:pt x="268" y="294"/>
                  <a:pt x="268" y="294"/>
                  <a:pt x="268" y="294"/>
                </a:cubicBezTo>
                <a:cubicBezTo>
                  <a:pt x="252" y="303"/>
                  <a:pt x="225" y="303"/>
                  <a:pt x="209" y="294"/>
                </a:cubicBezTo>
                <a:cubicBezTo>
                  <a:pt x="13" y="185"/>
                  <a:pt x="13" y="185"/>
                  <a:pt x="13" y="185"/>
                </a:cubicBezTo>
                <a:cubicBezTo>
                  <a:pt x="5" y="181"/>
                  <a:pt x="0" y="175"/>
                  <a:pt x="0" y="169"/>
                </a:cubicBezTo>
                <a:cubicBezTo>
                  <a:pt x="0" y="135"/>
                  <a:pt x="0" y="135"/>
                  <a:pt x="0" y="135"/>
                </a:cubicBezTo>
                <a:cubicBezTo>
                  <a:pt x="0" y="129"/>
                  <a:pt x="5" y="123"/>
                  <a:pt x="13" y="118"/>
                </a:cubicBezTo>
                <a:cubicBezTo>
                  <a:pt x="209" y="9"/>
                  <a:pt x="209" y="9"/>
                  <a:pt x="209" y="9"/>
                </a:cubicBezTo>
                <a:cubicBezTo>
                  <a:pt x="225" y="0"/>
                  <a:pt x="252" y="0"/>
                  <a:pt x="268" y="9"/>
                </a:cubicBezTo>
                <a:cubicBezTo>
                  <a:pt x="464" y="118"/>
                  <a:pt x="464" y="118"/>
                  <a:pt x="464" y="118"/>
                </a:cubicBezTo>
                <a:cubicBezTo>
                  <a:pt x="473" y="123"/>
                  <a:pt x="477" y="129"/>
                  <a:pt x="477" y="135"/>
                </a:cubicBezTo>
                <a:cubicBezTo>
                  <a:pt x="477" y="135"/>
                  <a:pt x="477" y="135"/>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2" name="Oval 588"/>
          <p:cNvSpPr>
            <a:spLocks noChangeArrowheads="1"/>
          </p:cNvSpPr>
          <p:nvPr/>
        </p:nvSpPr>
        <p:spPr bwMode="auto">
          <a:xfrm>
            <a:off x="2484439" y="2609851"/>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3" name="Oval 589"/>
          <p:cNvSpPr>
            <a:spLocks noChangeArrowheads="1"/>
          </p:cNvSpPr>
          <p:nvPr/>
        </p:nvSpPr>
        <p:spPr bwMode="auto">
          <a:xfrm>
            <a:off x="2484439" y="1905000"/>
            <a:ext cx="790575" cy="793750"/>
          </a:xfrm>
          <a:prstGeom prst="ellipse">
            <a:avLst/>
          </a:pr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4" name="Freeform 590"/>
          <p:cNvSpPr>
            <a:spLocks noEditPoints="1"/>
          </p:cNvSpPr>
          <p:nvPr/>
        </p:nvSpPr>
        <p:spPr bwMode="auto">
          <a:xfrm>
            <a:off x="2471739" y="1892300"/>
            <a:ext cx="815975" cy="819150"/>
          </a:xfrm>
          <a:custGeom>
            <a:avLst/>
            <a:gdLst>
              <a:gd name="T0" fmla="*/ 129 w 257"/>
              <a:gd name="T1" fmla="*/ 258 h 258"/>
              <a:gd name="T2" fmla="*/ 0 w 257"/>
              <a:gd name="T3" fmla="*/ 129 h 258"/>
              <a:gd name="T4" fmla="*/ 129 w 257"/>
              <a:gd name="T5" fmla="*/ 0 h 258"/>
              <a:gd name="T6" fmla="*/ 257 w 257"/>
              <a:gd name="T7" fmla="*/ 129 h 258"/>
              <a:gd name="T8" fmla="*/ 129 w 257"/>
              <a:gd name="T9" fmla="*/ 258 h 258"/>
              <a:gd name="T10" fmla="*/ 129 w 257"/>
              <a:gd name="T11" fmla="*/ 8 h 258"/>
              <a:gd name="T12" fmla="*/ 8 w 257"/>
              <a:gd name="T13" fmla="*/ 129 h 258"/>
              <a:gd name="T14" fmla="*/ 129 w 257"/>
              <a:gd name="T15" fmla="*/ 250 h 258"/>
              <a:gd name="T16" fmla="*/ 249 w 257"/>
              <a:gd name="T17" fmla="*/ 129 h 258"/>
              <a:gd name="T18" fmla="*/ 129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9" y="258"/>
                </a:moveTo>
                <a:cubicBezTo>
                  <a:pt x="58" y="258"/>
                  <a:pt x="0" y="200"/>
                  <a:pt x="0" y="129"/>
                </a:cubicBezTo>
                <a:cubicBezTo>
                  <a:pt x="0" y="58"/>
                  <a:pt x="58" y="0"/>
                  <a:pt x="129" y="0"/>
                </a:cubicBezTo>
                <a:cubicBezTo>
                  <a:pt x="200" y="0"/>
                  <a:pt x="257" y="58"/>
                  <a:pt x="257" y="129"/>
                </a:cubicBezTo>
                <a:cubicBezTo>
                  <a:pt x="257" y="200"/>
                  <a:pt x="200" y="258"/>
                  <a:pt x="129" y="258"/>
                </a:cubicBezTo>
                <a:close/>
                <a:moveTo>
                  <a:pt x="129" y="8"/>
                </a:moveTo>
                <a:cubicBezTo>
                  <a:pt x="62" y="8"/>
                  <a:pt x="8" y="62"/>
                  <a:pt x="8" y="129"/>
                </a:cubicBezTo>
                <a:cubicBezTo>
                  <a:pt x="8" y="196"/>
                  <a:pt x="62" y="250"/>
                  <a:pt x="129" y="250"/>
                </a:cubicBezTo>
                <a:cubicBezTo>
                  <a:pt x="195" y="250"/>
                  <a:pt x="249" y="196"/>
                  <a:pt x="249" y="129"/>
                </a:cubicBezTo>
                <a:cubicBezTo>
                  <a:pt x="249" y="62"/>
                  <a:pt x="195" y="8"/>
                  <a:pt x="129" y="8"/>
                </a:cubicBez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5" name="Freeform 591"/>
          <p:cNvSpPr>
            <a:spLocks noEditPoints="1"/>
          </p:cNvSpPr>
          <p:nvPr/>
        </p:nvSpPr>
        <p:spPr bwMode="auto">
          <a:xfrm>
            <a:off x="2706688" y="2060575"/>
            <a:ext cx="349250" cy="508000"/>
          </a:xfrm>
          <a:custGeom>
            <a:avLst/>
            <a:gdLst>
              <a:gd name="T0" fmla="*/ 29 w 110"/>
              <a:gd name="T1" fmla="*/ 123 h 160"/>
              <a:gd name="T2" fmla="*/ 30 w 110"/>
              <a:gd name="T3" fmla="*/ 131 h 160"/>
              <a:gd name="T4" fmla="*/ 55 w 110"/>
              <a:gd name="T5" fmla="*/ 136 h 160"/>
              <a:gd name="T6" fmla="*/ 79 w 110"/>
              <a:gd name="T7" fmla="*/ 131 h 160"/>
              <a:gd name="T8" fmla="*/ 80 w 110"/>
              <a:gd name="T9" fmla="*/ 123 h 160"/>
              <a:gd name="T10" fmla="*/ 55 w 110"/>
              <a:gd name="T11" fmla="*/ 128 h 160"/>
              <a:gd name="T12" fmla="*/ 29 w 110"/>
              <a:gd name="T13" fmla="*/ 123 h 160"/>
              <a:gd name="T14" fmla="*/ 31 w 110"/>
              <a:gd name="T15" fmla="*/ 139 h 160"/>
              <a:gd name="T16" fmla="*/ 33 w 110"/>
              <a:gd name="T17" fmla="*/ 147 h 160"/>
              <a:gd name="T18" fmla="*/ 40 w 110"/>
              <a:gd name="T19" fmla="*/ 151 h 160"/>
              <a:gd name="T20" fmla="*/ 41 w 110"/>
              <a:gd name="T21" fmla="*/ 156 h 160"/>
              <a:gd name="T22" fmla="*/ 55 w 110"/>
              <a:gd name="T23" fmla="*/ 160 h 160"/>
              <a:gd name="T24" fmla="*/ 69 w 110"/>
              <a:gd name="T25" fmla="*/ 156 h 160"/>
              <a:gd name="T26" fmla="*/ 69 w 110"/>
              <a:gd name="T27" fmla="*/ 151 h 160"/>
              <a:gd name="T28" fmla="*/ 77 w 110"/>
              <a:gd name="T29" fmla="*/ 147 h 160"/>
              <a:gd name="T30" fmla="*/ 78 w 110"/>
              <a:gd name="T31" fmla="*/ 139 h 160"/>
              <a:gd name="T32" fmla="*/ 55 w 110"/>
              <a:gd name="T33" fmla="*/ 142 h 160"/>
              <a:gd name="T34" fmla="*/ 31 w 110"/>
              <a:gd name="T35" fmla="*/ 139 h 160"/>
              <a:gd name="T36" fmla="*/ 55 w 110"/>
              <a:gd name="T37" fmla="*/ 0 h 160"/>
              <a:gd name="T38" fmla="*/ 0 w 110"/>
              <a:gd name="T39" fmla="*/ 55 h 160"/>
              <a:gd name="T40" fmla="*/ 26 w 110"/>
              <a:gd name="T41" fmla="*/ 102 h 160"/>
              <a:gd name="T42" fmla="*/ 28 w 110"/>
              <a:gd name="T43" fmla="*/ 116 h 160"/>
              <a:gd name="T44" fmla="*/ 55 w 110"/>
              <a:gd name="T45" fmla="*/ 121 h 160"/>
              <a:gd name="T46" fmla="*/ 81 w 110"/>
              <a:gd name="T47" fmla="*/ 116 h 160"/>
              <a:gd name="T48" fmla="*/ 83 w 110"/>
              <a:gd name="T49" fmla="*/ 102 h 160"/>
              <a:gd name="T50" fmla="*/ 110 w 110"/>
              <a:gd name="T51" fmla="*/ 55 h 160"/>
              <a:gd name="T52" fmla="*/ 55 w 110"/>
              <a:gd name="T53" fmla="*/ 0 h 160"/>
              <a:gd name="T54" fmla="*/ 75 w 110"/>
              <a:gd name="T55" fmla="*/ 96 h 160"/>
              <a:gd name="T56" fmla="*/ 74 w 110"/>
              <a:gd name="T57" fmla="*/ 109 h 160"/>
              <a:gd name="T58" fmla="*/ 55 w 110"/>
              <a:gd name="T59" fmla="*/ 112 h 160"/>
              <a:gd name="T60" fmla="*/ 36 w 110"/>
              <a:gd name="T61" fmla="*/ 109 h 160"/>
              <a:gd name="T62" fmla="*/ 34 w 110"/>
              <a:gd name="T63" fmla="*/ 96 h 160"/>
              <a:gd name="T64" fmla="*/ 9 w 110"/>
              <a:gd name="T65" fmla="*/ 55 h 160"/>
              <a:gd name="T66" fmla="*/ 55 w 110"/>
              <a:gd name="T67" fmla="*/ 10 h 160"/>
              <a:gd name="T68" fmla="*/ 100 w 110"/>
              <a:gd name="T69" fmla="*/ 55 h 160"/>
              <a:gd name="T70" fmla="*/ 75 w 110"/>
              <a:gd name="T71" fmla="*/ 96 h 160"/>
              <a:gd name="T72" fmla="*/ 55 w 110"/>
              <a:gd name="T73" fmla="*/ 23 h 160"/>
              <a:gd name="T74" fmla="*/ 57 w 110"/>
              <a:gd name="T75" fmla="*/ 20 h 160"/>
              <a:gd name="T76" fmla="*/ 55 w 110"/>
              <a:gd name="T77" fmla="*/ 17 h 160"/>
              <a:gd name="T78" fmla="*/ 16 w 110"/>
              <a:gd name="T79" fmla="*/ 55 h 160"/>
              <a:gd name="T80" fmla="*/ 19 w 110"/>
              <a:gd name="T81" fmla="*/ 58 h 160"/>
              <a:gd name="T82" fmla="*/ 22 w 110"/>
              <a:gd name="T83" fmla="*/ 55 h 160"/>
              <a:gd name="T84" fmla="*/ 55 w 110"/>
              <a:gd name="T85" fmla="*/ 23 h 160"/>
              <a:gd name="T86" fmla="*/ 67 w 110"/>
              <a:gd name="T87" fmla="*/ 75 h 160"/>
              <a:gd name="T88" fmla="*/ 55 w 110"/>
              <a:gd name="T89" fmla="*/ 53 h 160"/>
              <a:gd name="T90" fmla="*/ 42 w 110"/>
              <a:gd name="T91" fmla="*/ 75 h 160"/>
              <a:gd name="T92" fmla="*/ 37 w 110"/>
              <a:gd name="T93" fmla="*/ 65 h 160"/>
              <a:gd name="T94" fmla="*/ 29 w 110"/>
              <a:gd name="T95" fmla="*/ 68 h 160"/>
              <a:gd name="T96" fmla="*/ 42 w 110"/>
              <a:gd name="T97" fmla="*/ 94 h 160"/>
              <a:gd name="T98" fmla="*/ 55 w 110"/>
              <a:gd name="T99" fmla="*/ 71 h 160"/>
              <a:gd name="T100" fmla="*/ 67 w 110"/>
              <a:gd name="T101" fmla="*/ 94 h 160"/>
              <a:gd name="T102" fmla="*/ 80 w 110"/>
              <a:gd name="T103" fmla="*/ 68 h 160"/>
              <a:gd name="T104" fmla="*/ 72 w 110"/>
              <a:gd name="T105" fmla="*/ 65 h 160"/>
              <a:gd name="T106" fmla="*/ 67 w 110"/>
              <a:gd name="T107" fmla="*/ 7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29" y="123"/>
                </a:moveTo>
                <a:cubicBezTo>
                  <a:pt x="30" y="131"/>
                  <a:pt x="30" y="131"/>
                  <a:pt x="30" y="131"/>
                </a:cubicBezTo>
                <a:cubicBezTo>
                  <a:pt x="37" y="134"/>
                  <a:pt x="46" y="136"/>
                  <a:pt x="55" y="136"/>
                </a:cubicBezTo>
                <a:cubicBezTo>
                  <a:pt x="63" y="136"/>
                  <a:pt x="72" y="134"/>
                  <a:pt x="79" y="131"/>
                </a:cubicBezTo>
                <a:cubicBezTo>
                  <a:pt x="80" y="123"/>
                  <a:pt x="80" y="123"/>
                  <a:pt x="80" y="123"/>
                </a:cubicBezTo>
                <a:cubicBezTo>
                  <a:pt x="72" y="126"/>
                  <a:pt x="64" y="128"/>
                  <a:pt x="55" y="128"/>
                </a:cubicBezTo>
                <a:cubicBezTo>
                  <a:pt x="45" y="128"/>
                  <a:pt x="37" y="126"/>
                  <a:pt x="29" y="123"/>
                </a:cubicBezTo>
                <a:close/>
                <a:moveTo>
                  <a:pt x="31" y="139"/>
                </a:moveTo>
                <a:cubicBezTo>
                  <a:pt x="33" y="147"/>
                  <a:pt x="33" y="147"/>
                  <a:pt x="33" y="147"/>
                </a:cubicBezTo>
                <a:cubicBezTo>
                  <a:pt x="33" y="147"/>
                  <a:pt x="34" y="150"/>
                  <a:pt x="40" y="151"/>
                </a:cubicBezTo>
                <a:cubicBezTo>
                  <a:pt x="41" y="156"/>
                  <a:pt x="41" y="156"/>
                  <a:pt x="41" y="156"/>
                </a:cubicBezTo>
                <a:cubicBezTo>
                  <a:pt x="41" y="156"/>
                  <a:pt x="44" y="160"/>
                  <a:pt x="55" y="160"/>
                </a:cubicBezTo>
                <a:cubicBezTo>
                  <a:pt x="65" y="160"/>
                  <a:pt x="69" y="156"/>
                  <a:pt x="69" y="156"/>
                </a:cubicBezTo>
                <a:cubicBezTo>
                  <a:pt x="69" y="151"/>
                  <a:pt x="69" y="151"/>
                  <a:pt x="69" y="151"/>
                </a:cubicBezTo>
                <a:cubicBezTo>
                  <a:pt x="75" y="150"/>
                  <a:pt x="77" y="147"/>
                  <a:pt x="77" y="147"/>
                </a:cubicBezTo>
                <a:cubicBezTo>
                  <a:pt x="78" y="139"/>
                  <a:pt x="78" y="139"/>
                  <a:pt x="78" y="139"/>
                </a:cubicBezTo>
                <a:cubicBezTo>
                  <a:pt x="71" y="141"/>
                  <a:pt x="63" y="142"/>
                  <a:pt x="55" y="142"/>
                </a:cubicBezTo>
                <a:cubicBezTo>
                  <a:pt x="46" y="142"/>
                  <a:pt x="38" y="141"/>
                  <a:pt x="31" y="139"/>
                </a:cubicBezTo>
                <a:close/>
                <a:moveTo>
                  <a:pt x="55" y="0"/>
                </a:moveTo>
                <a:cubicBezTo>
                  <a:pt x="24" y="0"/>
                  <a:pt x="0" y="25"/>
                  <a:pt x="0" y="55"/>
                </a:cubicBezTo>
                <a:cubicBezTo>
                  <a:pt x="0" y="75"/>
                  <a:pt x="10" y="92"/>
                  <a:pt x="26" y="102"/>
                </a:cubicBezTo>
                <a:cubicBezTo>
                  <a:pt x="28" y="116"/>
                  <a:pt x="28" y="116"/>
                  <a:pt x="28" y="116"/>
                </a:cubicBezTo>
                <a:cubicBezTo>
                  <a:pt x="36" y="119"/>
                  <a:pt x="45" y="121"/>
                  <a:pt x="55" y="121"/>
                </a:cubicBezTo>
                <a:cubicBezTo>
                  <a:pt x="64" y="121"/>
                  <a:pt x="73" y="119"/>
                  <a:pt x="81" y="116"/>
                </a:cubicBezTo>
                <a:cubicBezTo>
                  <a:pt x="83" y="102"/>
                  <a:pt x="83" y="102"/>
                  <a:pt x="83" y="102"/>
                </a:cubicBezTo>
                <a:cubicBezTo>
                  <a:pt x="99" y="92"/>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4" y="96"/>
                  <a:pt x="34" y="96"/>
                  <a:pt x="34" y="96"/>
                </a:cubicBezTo>
                <a:cubicBezTo>
                  <a:pt x="19" y="88"/>
                  <a:pt x="9" y="73"/>
                  <a:pt x="9" y="55"/>
                </a:cubicBezTo>
                <a:cubicBezTo>
                  <a:pt x="9" y="30"/>
                  <a:pt x="30" y="10"/>
                  <a:pt x="55" y="10"/>
                </a:cubicBezTo>
                <a:cubicBezTo>
                  <a:pt x="80" y="10"/>
                  <a:pt x="100" y="30"/>
                  <a:pt x="100" y="55"/>
                </a:cubicBezTo>
                <a:cubicBezTo>
                  <a:pt x="100" y="73"/>
                  <a:pt x="90" y="88"/>
                  <a:pt x="75" y="96"/>
                </a:cubicBezTo>
                <a:close/>
                <a:moveTo>
                  <a:pt x="55" y="23"/>
                </a:moveTo>
                <a:cubicBezTo>
                  <a:pt x="56" y="23"/>
                  <a:pt x="57" y="21"/>
                  <a:pt x="57" y="20"/>
                </a:cubicBezTo>
                <a:cubicBezTo>
                  <a:pt x="57" y="18"/>
                  <a:pt x="56" y="17"/>
                  <a:pt x="55" y="17"/>
                </a:cubicBezTo>
                <a:cubicBezTo>
                  <a:pt x="34" y="17"/>
                  <a:pt x="16" y="34"/>
                  <a:pt x="16" y="55"/>
                </a:cubicBezTo>
                <a:cubicBezTo>
                  <a:pt x="16" y="57"/>
                  <a:pt x="18" y="58"/>
                  <a:pt x="19" y="58"/>
                </a:cubicBezTo>
                <a:cubicBezTo>
                  <a:pt x="21" y="58"/>
                  <a:pt x="22" y="57"/>
                  <a:pt x="22" y="55"/>
                </a:cubicBezTo>
                <a:cubicBezTo>
                  <a:pt x="22" y="37"/>
                  <a:pt x="37" y="23"/>
                  <a:pt x="55" y="23"/>
                </a:cubicBezTo>
                <a:close/>
                <a:moveTo>
                  <a:pt x="67" y="75"/>
                </a:moveTo>
                <a:cubicBezTo>
                  <a:pt x="55" y="53"/>
                  <a:pt x="55" y="53"/>
                  <a:pt x="55" y="53"/>
                </a:cubicBezTo>
                <a:cubicBezTo>
                  <a:pt x="42" y="75"/>
                  <a:pt x="42" y="75"/>
                  <a:pt x="42" y="75"/>
                </a:cubicBezTo>
                <a:cubicBezTo>
                  <a:pt x="37" y="65"/>
                  <a:pt x="37" y="65"/>
                  <a:pt x="37" y="65"/>
                </a:cubicBezTo>
                <a:cubicBezTo>
                  <a:pt x="29" y="68"/>
                  <a:pt x="29" y="68"/>
                  <a:pt x="29" y="68"/>
                </a:cubicBezTo>
                <a:cubicBezTo>
                  <a:pt x="42" y="94"/>
                  <a:pt x="42" y="94"/>
                  <a:pt x="42" y="94"/>
                </a:cubicBezTo>
                <a:cubicBezTo>
                  <a:pt x="55" y="71"/>
                  <a:pt x="55" y="71"/>
                  <a:pt x="55" y="71"/>
                </a:cubicBezTo>
                <a:cubicBezTo>
                  <a:pt x="67" y="94"/>
                  <a:pt x="67" y="94"/>
                  <a:pt x="67" y="94"/>
                </a:cubicBezTo>
                <a:cubicBezTo>
                  <a:pt x="80" y="68"/>
                  <a:pt x="80" y="68"/>
                  <a:pt x="80" y="68"/>
                </a:cubicBezTo>
                <a:cubicBezTo>
                  <a:pt x="72" y="65"/>
                  <a:pt x="72" y="65"/>
                  <a:pt x="72" y="65"/>
                </a:cubicBezTo>
                <a:lnTo>
                  <a:pt x="67" y="75"/>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6" name="Freeform 599"/>
          <p:cNvSpPr/>
          <p:nvPr/>
        </p:nvSpPr>
        <p:spPr bwMode="auto">
          <a:xfrm>
            <a:off x="5340351" y="4060826"/>
            <a:ext cx="1511300" cy="962025"/>
          </a:xfrm>
          <a:custGeom>
            <a:avLst/>
            <a:gdLst>
              <a:gd name="T0" fmla="*/ 476 w 476"/>
              <a:gd name="T1" fmla="*/ 135 h 303"/>
              <a:gd name="T2" fmla="*/ 476 w 476"/>
              <a:gd name="T3" fmla="*/ 169 h 303"/>
              <a:gd name="T4" fmla="*/ 464 w 476"/>
              <a:gd name="T5" fmla="*/ 185 h 303"/>
              <a:gd name="T6" fmla="*/ 268 w 476"/>
              <a:gd name="T7" fmla="*/ 294 h 303"/>
              <a:gd name="T8" fmla="*/ 208 w 476"/>
              <a:gd name="T9" fmla="*/ 294 h 303"/>
              <a:gd name="T10" fmla="*/ 12 w 476"/>
              <a:gd name="T11" fmla="*/ 185 h 303"/>
              <a:gd name="T12" fmla="*/ 0 w 476"/>
              <a:gd name="T13" fmla="*/ 169 h 303"/>
              <a:gd name="T14" fmla="*/ 0 w 476"/>
              <a:gd name="T15" fmla="*/ 135 h 303"/>
              <a:gd name="T16" fmla="*/ 12 w 476"/>
              <a:gd name="T17" fmla="*/ 118 h 303"/>
              <a:gd name="T18" fmla="*/ 208 w 476"/>
              <a:gd name="T19" fmla="*/ 9 h 303"/>
              <a:gd name="T20" fmla="*/ 268 w 476"/>
              <a:gd name="T21" fmla="*/ 9 h 303"/>
              <a:gd name="T22" fmla="*/ 464 w 476"/>
              <a:gd name="T23" fmla="*/ 118 h 303"/>
              <a:gd name="T24" fmla="*/ 476 w 476"/>
              <a:gd name="T25"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6" h="303">
                <a:moveTo>
                  <a:pt x="476" y="135"/>
                </a:moveTo>
                <a:cubicBezTo>
                  <a:pt x="476" y="169"/>
                  <a:pt x="476" y="169"/>
                  <a:pt x="476" y="169"/>
                </a:cubicBezTo>
                <a:cubicBezTo>
                  <a:pt x="476" y="175"/>
                  <a:pt x="472" y="181"/>
                  <a:pt x="464" y="185"/>
                </a:cubicBezTo>
                <a:cubicBezTo>
                  <a:pt x="268" y="294"/>
                  <a:pt x="268" y="294"/>
                  <a:pt x="268" y="294"/>
                </a:cubicBezTo>
                <a:cubicBezTo>
                  <a:pt x="251" y="303"/>
                  <a:pt x="225" y="303"/>
                  <a:pt x="208" y="294"/>
                </a:cubicBezTo>
                <a:cubicBezTo>
                  <a:pt x="12" y="185"/>
                  <a:pt x="12" y="185"/>
                  <a:pt x="12" y="185"/>
                </a:cubicBezTo>
                <a:cubicBezTo>
                  <a:pt x="4" y="181"/>
                  <a:pt x="0" y="175"/>
                  <a:pt x="0" y="169"/>
                </a:cubicBezTo>
                <a:cubicBezTo>
                  <a:pt x="0" y="135"/>
                  <a:pt x="0" y="135"/>
                  <a:pt x="0" y="135"/>
                </a:cubicBezTo>
                <a:cubicBezTo>
                  <a:pt x="0" y="129"/>
                  <a:pt x="4" y="123"/>
                  <a:pt x="12" y="118"/>
                </a:cubicBezTo>
                <a:cubicBezTo>
                  <a:pt x="208" y="9"/>
                  <a:pt x="208" y="9"/>
                  <a:pt x="208" y="9"/>
                </a:cubicBezTo>
                <a:cubicBezTo>
                  <a:pt x="225" y="0"/>
                  <a:pt x="251" y="0"/>
                  <a:pt x="268" y="9"/>
                </a:cubicBezTo>
                <a:cubicBezTo>
                  <a:pt x="464" y="118"/>
                  <a:pt x="464" y="118"/>
                  <a:pt x="464" y="118"/>
                </a:cubicBezTo>
                <a:cubicBezTo>
                  <a:pt x="472" y="123"/>
                  <a:pt x="476" y="129"/>
                  <a:pt x="476"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7" name="Oval 600"/>
          <p:cNvSpPr>
            <a:spLocks noChangeArrowheads="1"/>
          </p:cNvSpPr>
          <p:nvPr/>
        </p:nvSpPr>
        <p:spPr bwMode="auto">
          <a:xfrm>
            <a:off x="5699126" y="4378326"/>
            <a:ext cx="793750"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8" name="Oval 601"/>
          <p:cNvSpPr>
            <a:spLocks noChangeArrowheads="1"/>
          </p:cNvSpPr>
          <p:nvPr/>
        </p:nvSpPr>
        <p:spPr bwMode="auto">
          <a:xfrm>
            <a:off x="5699126" y="3673475"/>
            <a:ext cx="793750"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39" name="Freeform 602"/>
          <p:cNvSpPr>
            <a:spLocks noEditPoints="1"/>
          </p:cNvSpPr>
          <p:nvPr/>
        </p:nvSpPr>
        <p:spPr bwMode="auto">
          <a:xfrm>
            <a:off x="5686426" y="3660775"/>
            <a:ext cx="819150" cy="819150"/>
          </a:xfrm>
          <a:custGeom>
            <a:avLst/>
            <a:gdLst>
              <a:gd name="T0" fmla="*/ 129 w 258"/>
              <a:gd name="T1" fmla="*/ 258 h 258"/>
              <a:gd name="T2" fmla="*/ 0 w 258"/>
              <a:gd name="T3" fmla="*/ 129 h 258"/>
              <a:gd name="T4" fmla="*/ 129 w 258"/>
              <a:gd name="T5" fmla="*/ 0 h 258"/>
              <a:gd name="T6" fmla="*/ 258 w 258"/>
              <a:gd name="T7" fmla="*/ 129 h 258"/>
              <a:gd name="T8" fmla="*/ 129 w 258"/>
              <a:gd name="T9" fmla="*/ 258 h 258"/>
              <a:gd name="T10" fmla="*/ 129 w 258"/>
              <a:gd name="T11" fmla="*/ 8 h 258"/>
              <a:gd name="T12" fmla="*/ 8 w 258"/>
              <a:gd name="T13" fmla="*/ 129 h 258"/>
              <a:gd name="T14" fmla="*/ 129 w 258"/>
              <a:gd name="T15" fmla="*/ 250 h 258"/>
              <a:gd name="T16" fmla="*/ 250 w 258"/>
              <a:gd name="T17" fmla="*/ 129 h 258"/>
              <a:gd name="T18" fmla="*/ 129 w 258"/>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258">
                <a:moveTo>
                  <a:pt x="129" y="258"/>
                </a:moveTo>
                <a:cubicBezTo>
                  <a:pt x="58" y="258"/>
                  <a:pt x="0" y="200"/>
                  <a:pt x="0" y="129"/>
                </a:cubicBezTo>
                <a:cubicBezTo>
                  <a:pt x="0" y="58"/>
                  <a:pt x="58" y="0"/>
                  <a:pt x="129" y="0"/>
                </a:cubicBezTo>
                <a:cubicBezTo>
                  <a:pt x="200" y="0"/>
                  <a:pt x="258" y="58"/>
                  <a:pt x="258" y="129"/>
                </a:cubicBezTo>
                <a:cubicBezTo>
                  <a:pt x="258" y="200"/>
                  <a:pt x="200" y="258"/>
                  <a:pt x="129" y="258"/>
                </a:cubicBezTo>
                <a:close/>
                <a:moveTo>
                  <a:pt x="129" y="8"/>
                </a:moveTo>
                <a:cubicBezTo>
                  <a:pt x="62" y="8"/>
                  <a:pt x="8" y="62"/>
                  <a:pt x="8" y="129"/>
                </a:cubicBezTo>
                <a:cubicBezTo>
                  <a:pt x="8" y="196"/>
                  <a:pt x="62" y="250"/>
                  <a:pt x="129" y="250"/>
                </a:cubicBezTo>
                <a:cubicBezTo>
                  <a:pt x="196" y="250"/>
                  <a:pt x="250" y="196"/>
                  <a:pt x="250" y="129"/>
                </a:cubicBezTo>
                <a:cubicBezTo>
                  <a:pt x="250" y="62"/>
                  <a:pt x="196" y="8"/>
                  <a:pt x="129" y="8"/>
                </a:cubicBez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0" name="Freeform 603"/>
          <p:cNvSpPr>
            <a:spLocks noEditPoints="1"/>
          </p:cNvSpPr>
          <p:nvPr/>
        </p:nvSpPr>
        <p:spPr bwMode="auto">
          <a:xfrm>
            <a:off x="5867402" y="3886201"/>
            <a:ext cx="454025" cy="384175"/>
          </a:xfrm>
          <a:custGeom>
            <a:avLst/>
            <a:gdLst>
              <a:gd name="T0" fmla="*/ 7 w 143"/>
              <a:gd name="T1" fmla="*/ 115 h 121"/>
              <a:gd name="T2" fmla="*/ 12 w 143"/>
              <a:gd name="T3" fmla="*/ 121 h 121"/>
              <a:gd name="T4" fmla="*/ 38 w 143"/>
              <a:gd name="T5" fmla="*/ 121 h 121"/>
              <a:gd name="T6" fmla="*/ 38 w 143"/>
              <a:gd name="T7" fmla="*/ 66 h 121"/>
              <a:gd name="T8" fmla="*/ 7 w 143"/>
              <a:gd name="T9" fmla="*/ 97 h 121"/>
              <a:gd name="T10" fmla="*/ 7 w 143"/>
              <a:gd name="T11" fmla="*/ 115 h 121"/>
              <a:gd name="T12" fmla="*/ 51 w 143"/>
              <a:gd name="T13" fmla="*/ 78 h 121"/>
              <a:gd name="T14" fmla="*/ 51 w 143"/>
              <a:gd name="T15" fmla="*/ 121 h 121"/>
              <a:gd name="T16" fmla="*/ 83 w 143"/>
              <a:gd name="T17" fmla="*/ 121 h 121"/>
              <a:gd name="T18" fmla="*/ 83 w 143"/>
              <a:gd name="T19" fmla="*/ 83 h 121"/>
              <a:gd name="T20" fmla="*/ 69 w 143"/>
              <a:gd name="T21" fmla="*/ 96 h 121"/>
              <a:gd name="T22" fmla="*/ 51 w 143"/>
              <a:gd name="T23" fmla="*/ 78 h 121"/>
              <a:gd name="T24" fmla="*/ 115 w 143"/>
              <a:gd name="T25" fmla="*/ 2 h 121"/>
              <a:gd name="T26" fmla="*/ 109 w 143"/>
              <a:gd name="T27" fmla="*/ 8 h 121"/>
              <a:gd name="T28" fmla="*/ 116 w 143"/>
              <a:gd name="T29" fmla="*/ 13 h 121"/>
              <a:gd name="T30" fmla="*/ 122 w 143"/>
              <a:gd name="T31" fmla="*/ 13 h 121"/>
              <a:gd name="T32" fmla="*/ 69 w 143"/>
              <a:gd name="T33" fmla="*/ 66 h 121"/>
              <a:gd name="T34" fmla="*/ 38 w 143"/>
              <a:gd name="T35" fmla="*/ 35 h 121"/>
              <a:gd name="T36" fmla="*/ 3 w 143"/>
              <a:gd name="T37" fmla="*/ 71 h 121"/>
              <a:gd name="T38" fmla="*/ 3 w 143"/>
              <a:gd name="T39" fmla="*/ 79 h 121"/>
              <a:gd name="T40" fmla="*/ 11 w 143"/>
              <a:gd name="T41" fmla="*/ 79 h 121"/>
              <a:gd name="T42" fmla="*/ 38 w 143"/>
              <a:gd name="T43" fmla="*/ 51 h 121"/>
              <a:gd name="T44" fmla="*/ 69 w 143"/>
              <a:gd name="T45" fmla="*/ 82 h 121"/>
              <a:gd name="T46" fmla="*/ 130 w 143"/>
              <a:gd name="T47" fmla="*/ 21 h 121"/>
              <a:gd name="T48" fmla="*/ 129 w 143"/>
              <a:gd name="T49" fmla="*/ 27 h 121"/>
              <a:gd name="T50" fmla="*/ 134 w 143"/>
              <a:gd name="T51" fmla="*/ 33 h 121"/>
              <a:gd name="T52" fmla="*/ 135 w 143"/>
              <a:gd name="T53" fmla="*/ 33 h 121"/>
              <a:gd name="T54" fmla="*/ 141 w 143"/>
              <a:gd name="T55" fmla="*/ 28 h 121"/>
              <a:gd name="T56" fmla="*/ 143 w 143"/>
              <a:gd name="T57" fmla="*/ 0 h 121"/>
              <a:gd name="T58" fmla="*/ 115 w 143"/>
              <a:gd name="T59" fmla="*/ 2 h 121"/>
              <a:gd name="T60" fmla="*/ 96 w 143"/>
              <a:gd name="T61" fmla="*/ 70 h 121"/>
              <a:gd name="T62" fmla="*/ 96 w 143"/>
              <a:gd name="T63" fmla="*/ 121 h 121"/>
              <a:gd name="T64" fmla="*/ 122 w 143"/>
              <a:gd name="T65" fmla="*/ 121 h 121"/>
              <a:gd name="T66" fmla="*/ 127 w 143"/>
              <a:gd name="T67" fmla="*/ 115 h 121"/>
              <a:gd name="T68" fmla="*/ 127 w 143"/>
              <a:gd name="T69" fmla="*/ 38 h 121"/>
              <a:gd name="T70" fmla="*/ 100 w 143"/>
              <a:gd name="T71" fmla="*/ 66 h 121"/>
              <a:gd name="T72" fmla="*/ 96 w 143"/>
              <a:gd name="T73"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 h="121">
                <a:moveTo>
                  <a:pt x="7" y="115"/>
                </a:moveTo>
                <a:cubicBezTo>
                  <a:pt x="7" y="118"/>
                  <a:pt x="9" y="121"/>
                  <a:pt x="12" y="121"/>
                </a:cubicBezTo>
                <a:cubicBezTo>
                  <a:pt x="38" y="121"/>
                  <a:pt x="38" y="121"/>
                  <a:pt x="38" y="121"/>
                </a:cubicBezTo>
                <a:cubicBezTo>
                  <a:pt x="38" y="66"/>
                  <a:pt x="38" y="66"/>
                  <a:pt x="38" y="66"/>
                </a:cubicBezTo>
                <a:cubicBezTo>
                  <a:pt x="7" y="97"/>
                  <a:pt x="7" y="97"/>
                  <a:pt x="7" y="97"/>
                </a:cubicBezTo>
                <a:lnTo>
                  <a:pt x="7" y="115"/>
                </a:lnTo>
                <a:close/>
                <a:moveTo>
                  <a:pt x="51" y="78"/>
                </a:moveTo>
                <a:cubicBezTo>
                  <a:pt x="51" y="121"/>
                  <a:pt x="51" y="121"/>
                  <a:pt x="51" y="121"/>
                </a:cubicBezTo>
                <a:cubicBezTo>
                  <a:pt x="83" y="121"/>
                  <a:pt x="83" y="121"/>
                  <a:pt x="83" y="121"/>
                </a:cubicBezTo>
                <a:cubicBezTo>
                  <a:pt x="83" y="83"/>
                  <a:pt x="83" y="83"/>
                  <a:pt x="83" y="83"/>
                </a:cubicBezTo>
                <a:cubicBezTo>
                  <a:pt x="69" y="96"/>
                  <a:pt x="69" y="96"/>
                  <a:pt x="69" y="96"/>
                </a:cubicBezTo>
                <a:lnTo>
                  <a:pt x="51" y="78"/>
                </a:lnTo>
                <a:close/>
                <a:moveTo>
                  <a:pt x="115" y="2"/>
                </a:moveTo>
                <a:cubicBezTo>
                  <a:pt x="112" y="2"/>
                  <a:pt x="109" y="5"/>
                  <a:pt x="109" y="8"/>
                </a:cubicBezTo>
                <a:cubicBezTo>
                  <a:pt x="110" y="11"/>
                  <a:pt x="113" y="14"/>
                  <a:pt x="116" y="13"/>
                </a:cubicBezTo>
                <a:cubicBezTo>
                  <a:pt x="122" y="13"/>
                  <a:pt x="122" y="13"/>
                  <a:pt x="122" y="13"/>
                </a:cubicBezTo>
                <a:cubicBezTo>
                  <a:pt x="69" y="66"/>
                  <a:pt x="69" y="66"/>
                  <a:pt x="69" y="66"/>
                </a:cubicBezTo>
                <a:cubicBezTo>
                  <a:pt x="38" y="35"/>
                  <a:pt x="38" y="35"/>
                  <a:pt x="38" y="35"/>
                </a:cubicBezTo>
                <a:cubicBezTo>
                  <a:pt x="3" y="71"/>
                  <a:pt x="3" y="71"/>
                  <a:pt x="3" y="71"/>
                </a:cubicBezTo>
                <a:cubicBezTo>
                  <a:pt x="0" y="73"/>
                  <a:pt x="0" y="76"/>
                  <a:pt x="3" y="79"/>
                </a:cubicBezTo>
                <a:cubicBezTo>
                  <a:pt x="5" y="81"/>
                  <a:pt x="8" y="81"/>
                  <a:pt x="11" y="79"/>
                </a:cubicBezTo>
                <a:cubicBezTo>
                  <a:pt x="38" y="51"/>
                  <a:pt x="38" y="51"/>
                  <a:pt x="38" y="51"/>
                </a:cubicBezTo>
                <a:cubicBezTo>
                  <a:pt x="69" y="82"/>
                  <a:pt x="69" y="82"/>
                  <a:pt x="69" y="82"/>
                </a:cubicBezTo>
                <a:cubicBezTo>
                  <a:pt x="130" y="21"/>
                  <a:pt x="130" y="21"/>
                  <a:pt x="130" y="21"/>
                </a:cubicBezTo>
                <a:cubicBezTo>
                  <a:pt x="129" y="27"/>
                  <a:pt x="129" y="27"/>
                  <a:pt x="129" y="27"/>
                </a:cubicBezTo>
                <a:cubicBezTo>
                  <a:pt x="129" y="30"/>
                  <a:pt x="131" y="33"/>
                  <a:pt x="134" y="33"/>
                </a:cubicBezTo>
                <a:cubicBezTo>
                  <a:pt x="135" y="33"/>
                  <a:pt x="135" y="33"/>
                  <a:pt x="135" y="33"/>
                </a:cubicBezTo>
                <a:cubicBezTo>
                  <a:pt x="138" y="33"/>
                  <a:pt x="140" y="31"/>
                  <a:pt x="141" y="28"/>
                </a:cubicBezTo>
                <a:cubicBezTo>
                  <a:pt x="143" y="0"/>
                  <a:pt x="143" y="0"/>
                  <a:pt x="143" y="0"/>
                </a:cubicBezTo>
                <a:lnTo>
                  <a:pt x="115" y="2"/>
                </a:lnTo>
                <a:close/>
                <a:moveTo>
                  <a:pt x="96" y="70"/>
                </a:moveTo>
                <a:cubicBezTo>
                  <a:pt x="96" y="121"/>
                  <a:pt x="96" y="121"/>
                  <a:pt x="96" y="121"/>
                </a:cubicBezTo>
                <a:cubicBezTo>
                  <a:pt x="122" y="121"/>
                  <a:pt x="122" y="121"/>
                  <a:pt x="122" y="121"/>
                </a:cubicBezTo>
                <a:cubicBezTo>
                  <a:pt x="125" y="121"/>
                  <a:pt x="127" y="118"/>
                  <a:pt x="127" y="115"/>
                </a:cubicBezTo>
                <a:cubicBezTo>
                  <a:pt x="127" y="38"/>
                  <a:pt x="127" y="38"/>
                  <a:pt x="127" y="38"/>
                </a:cubicBezTo>
                <a:cubicBezTo>
                  <a:pt x="100" y="66"/>
                  <a:pt x="100" y="66"/>
                  <a:pt x="100" y="66"/>
                </a:cubicBezTo>
                <a:lnTo>
                  <a:pt x="96" y="7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1" name="Freeform 607"/>
          <p:cNvSpPr/>
          <p:nvPr/>
        </p:nvSpPr>
        <p:spPr bwMode="auto">
          <a:xfrm>
            <a:off x="8555039" y="2292351"/>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0 w 477"/>
              <a:gd name="T17" fmla="*/ 135 h 303"/>
              <a:gd name="T18" fmla="*/ 13 w 477"/>
              <a:gd name="T19" fmla="*/ 118 h 303"/>
              <a:gd name="T20" fmla="*/ 209 w 477"/>
              <a:gd name="T21" fmla="*/ 9 h 303"/>
              <a:gd name="T22" fmla="*/ 268 w 477"/>
              <a:gd name="T23" fmla="*/ 9 h 303"/>
              <a:gd name="T24" fmla="*/ 464 w 477"/>
              <a:gd name="T25" fmla="*/ 118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2" y="181"/>
                  <a:pt x="464" y="185"/>
                </a:cubicBezTo>
                <a:cubicBezTo>
                  <a:pt x="268" y="294"/>
                  <a:pt x="268" y="294"/>
                  <a:pt x="268" y="294"/>
                </a:cubicBezTo>
                <a:cubicBezTo>
                  <a:pt x="252" y="303"/>
                  <a:pt x="225" y="303"/>
                  <a:pt x="209" y="294"/>
                </a:cubicBezTo>
                <a:cubicBezTo>
                  <a:pt x="13" y="185"/>
                  <a:pt x="13" y="185"/>
                  <a:pt x="13" y="185"/>
                </a:cubicBezTo>
                <a:cubicBezTo>
                  <a:pt x="4" y="181"/>
                  <a:pt x="0" y="175"/>
                  <a:pt x="0" y="169"/>
                </a:cubicBezTo>
                <a:cubicBezTo>
                  <a:pt x="0" y="135"/>
                  <a:pt x="0" y="135"/>
                  <a:pt x="0" y="135"/>
                </a:cubicBezTo>
                <a:cubicBezTo>
                  <a:pt x="0" y="135"/>
                  <a:pt x="0" y="135"/>
                  <a:pt x="0" y="135"/>
                </a:cubicBezTo>
                <a:cubicBezTo>
                  <a:pt x="0" y="129"/>
                  <a:pt x="4" y="123"/>
                  <a:pt x="13" y="118"/>
                </a:cubicBezTo>
                <a:cubicBezTo>
                  <a:pt x="209" y="9"/>
                  <a:pt x="209" y="9"/>
                  <a:pt x="209" y="9"/>
                </a:cubicBezTo>
                <a:cubicBezTo>
                  <a:pt x="225" y="0"/>
                  <a:pt x="252" y="0"/>
                  <a:pt x="268" y="9"/>
                </a:cubicBezTo>
                <a:cubicBezTo>
                  <a:pt x="464" y="118"/>
                  <a:pt x="464" y="118"/>
                  <a:pt x="464" y="118"/>
                </a:cubicBezTo>
                <a:cubicBezTo>
                  <a:pt x="472" y="123"/>
                  <a:pt x="477" y="129"/>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2" name="Oval 608"/>
          <p:cNvSpPr>
            <a:spLocks noChangeArrowheads="1"/>
          </p:cNvSpPr>
          <p:nvPr/>
        </p:nvSpPr>
        <p:spPr bwMode="auto">
          <a:xfrm>
            <a:off x="8916989" y="2609851"/>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3" name="Oval 609"/>
          <p:cNvSpPr>
            <a:spLocks noChangeArrowheads="1"/>
          </p:cNvSpPr>
          <p:nvPr/>
        </p:nvSpPr>
        <p:spPr bwMode="auto">
          <a:xfrm>
            <a:off x="8916989" y="1905000"/>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4" name="Freeform 610"/>
          <p:cNvSpPr>
            <a:spLocks noEditPoints="1"/>
          </p:cNvSpPr>
          <p:nvPr/>
        </p:nvSpPr>
        <p:spPr bwMode="auto">
          <a:xfrm>
            <a:off x="8904289" y="1892300"/>
            <a:ext cx="815975" cy="819150"/>
          </a:xfrm>
          <a:custGeom>
            <a:avLst/>
            <a:gdLst>
              <a:gd name="T0" fmla="*/ 128 w 257"/>
              <a:gd name="T1" fmla="*/ 258 h 258"/>
              <a:gd name="T2" fmla="*/ 0 w 257"/>
              <a:gd name="T3" fmla="*/ 129 h 258"/>
              <a:gd name="T4" fmla="*/ 128 w 257"/>
              <a:gd name="T5" fmla="*/ 0 h 258"/>
              <a:gd name="T6" fmla="*/ 257 w 257"/>
              <a:gd name="T7" fmla="*/ 129 h 258"/>
              <a:gd name="T8" fmla="*/ 128 w 257"/>
              <a:gd name="T9" fmla="*/ 258 h 258"/>
              <a:gd name="T10" fmla="*/ 128 w 257"/>
              <a:gd name="T11" fmla="*/ 8 h 258"/>
              <a:gd name="T12" fmla="*/ 8 w 257"/>
              <a:gd name="T13" fmla="*/ 129 h 258"/>
              <a:gd name="T14" fmla="*/ 128 w 257"/>
              <a:gd name="T15" fmla="*/ 250 h 258"/>
              <a:gd name="T16" fmla="*/ 249 w 257"/>
              <a:gd name="T17" fmla="*/ 129 h 258"/>
              <a:gd name="T18" fmla="*/ 128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8" y="258"/>
                </a:moveTo>
                <a:cubicBezTo>
                  <a:pt x="57" y="258"/>
                  <a:pt x="0" y="200"/>
                  <a:pt x="0" y="129"/>
                </a:cubicBezTo>
                <a:cubicBezTo>
                  <a:pt x="0" y="58"/>
                  <a:pt x="57" y="0"/>
                  <a:pt x="128" y="0"/>
                </a:cubicBezTo>
                <a:cubicBezTo>
                  <a:pt x="199" y="0"/>
                  <a:pt x="257" y="58"/>
                  <a:pt x="257" y="129"/>
                </a:cubicBezTo>
                <a:cubicBezTo>
                  <a:pt x="257" y="200"/>
                  <a:pt x="199" y="258"/>
                  <a:pt x="128" y="258"/>
                </a:cubicBezTo>
                <a:close/>
                <a:moveTo>
                  <a:pt x="128" y="8"/>
                </a:moveTo>
                <a:cubicBezTo>
                  <a:pt x="62" y="8"/>
                  <a:pt x="8" y="62"/>
                  <a:pt x="8" y="129"/>
                </a:cubicBezTo>
                <a:cubicBezTo>
                  <a:pt x="8" y="196"/>
                  <a:pt x="62" y="250"/>
                  <a:pt x="128" y="250"/>
                </a:cubicBezTo>
                <a:cubicBezTo>
                  <a:pt x="195" y="250"/>
                  <a:pt x="249" y="196"/>
                  <a:pt x="249" y="129"/>
                </a:cubicBezTo>
                <a:cubicBezTo>
                  <a:pt x="249" y="62"/>
                  <a:pt x="195" y="8"/>
                  <a:pt x="128"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5" name="Freeform 611"/>
          <p:cNvSpPr>
            <a:spLocks noEditPoints="1"/>
          </p:cNvSpPr>
          <p:nvPr/>
        </p:nvSpPr>
        <p:spPr bwMode="auto">
          <a:xfrm>
            <a:off x="9142413" y="2085975"/>
            <a:ext cx="336550" cy="425450"/>
          </a:xfrm>
          <a:custGeom>
            <a:avLst/>
            <a:gdLst>
              <a:gd name="T0" fmla="*/ 154 w 212"/>
              <a:gd name="T1" fmla="*/ 44 h 268"/>
              <a:gd name="T2" fmla="*/ 36 w 212"/>
              <a:gd name="T3" fmla="*/ 44 h 268"/>
              <a:gd name="T4" fmla="*/ 36 w 212"/>
              <a:gd name="T5" fmla="*/ 60 h 268"/>
              <a:gd name="T6" fmla="*/ 154 w 212"/>
              <a:gd name="T7" fmla="*/ 60 h 268"/>
              <a:gd name="T8" fmla="*/ 154 w 212"/>
              <a:gd name="T9" fmla="*/ 44 h 268"/>
              <a:gd name="T10" fmla="*/ 154 w 212"/>
              <a:gd name="T11" fmla="*/ 110 h 268"/>
              <a:gd name="T12" fmla="*/ 36 w 212"/>
              <a:gd name="T13" fmla="*/ 110 h 268"/>
              <a:gd name="T14" fmla="*/ 36 w 212"/>
              <a:gd name="T15" fmla="*/ 126 h 268"/>
              <a:gd name="T16" fmla="*/ 154 w 212"/>
              <a:gd name="T17" fmla="*/ 126 h 268"/>
              <a:gd name="T18" fmla="*/ 154 w 212"/>
              <a:gd name="T19" fmla="*/ 110 h 268"/>
              <a:gd name="T20" fmla="*/ 154 w 212"/>
              <a:gd name="T21" fmla="*/ 78 h 268"/>
              <a:gd name="T22" fmla="*/ 36 w 212"/>
              <a:gd name="T23" fmla="*/ 78 h 268"/>
              <a:gd name="T24" fmla="*/ 36 w 212"/>
              <a:gd name="T25" fmla="*/ 94 h 268"/>
              <a:gd name="T26" fmla="*/ 154 w 212"/>
              <a:gd name="T27" fmla="*/ 94 h 268"/>
              <a:gd name="T28" fmla="*/ 154 w 212"/>
              <a:gd name="T29" fmla="*/ 78 h 268"/>
              <a:gd name="T30" fmla="*/ 190 w 212"/>
              <a:gd name="T31" fmla="*/ 24 h 268"/>
              <a:gd name="T32" fmla="*/ 190 w 212"/>
              <a:gd name="T33" fmla="*/ 0 h 268"/>
              <a:gd name="T34" fmla="*/ 0 w 212"/>
              <a:gd name="T35" fmla="*/ 0 h 268"/>
              <a:gd name="T36" fmla="*/ 0 w 212"/>
              <a:gd name="T37" fmla="*/ 244 h 268"/>
              <a:gd name="T38" fmla="*/ 24 w 212"/>
              <a:gd name="T39" fmla="*/ 244 h 268"/>
              <a:gd name="T40" fmla="*/ 24 w 212"/>
              <a:gd name="T41" fmla="*/ 268 h 268"/>
              <a:gd name="T42" fmla="*/ 212 w 212"/>
              <a:gd name="T43" fmla="*/ 268 h 268"/>
              <a:gd name="T44" fmla="*/ 212 w 212"/>
              <a:gd name="T45" fmla="*/ 24 h 268"/>
              <a:gd name="T46" fmla="*/ 190 w 212"/>
              <a:gd name="T47" fmla="*/ 24 h 268"/>
              <a:gd name="T48" fmla="*/ 14 w 212"/>
              <a:gd name="T49" fmla="*/ 232 h 268"/>
              <a:gd name="T50" fmla="*/ 14 w 212"/>
              <a:gd name="T51" fmla="*/ 14 h 268"/>
              <a:gd name="T52" fmla="*/ 176 w 212"/>
              <a:gd name="T53" fmla="*/ 14 h 268"/>
              <a:gd name="T54" fmla="*/ 176 w 212"/>
              <a:gd name="T55" fmla="*/ 176 h 268"/>
              <a:gd name="T56" fmla="*/ 120 w 212"/>
              <a:gd name="T57" fmla="*/ 176 h 268"/>
              <a:gd name="T58" fmla="*/ 120 w 212"/>
              <a:gd name="T59" fmla="*/ 232 h 268"/>
              <a:gd name="T60" fmla="*/ 14 w 212"/>
              <a:gd name="T61" fmla="*/ 232 h 268"/>
              <a:gd name="T62" fmla="*/ 200 w 212"/>
              <a:gd name="T63" fmla="*/ 254 h 268"/>
              <a:gd name="T64" fmla="*/ 38 w 212"/>
              <a:gd name="T65" fmla="*/ 254 h 268"/>
              <a:gd name="T66" fmla="*/ 38 w 212"/>
              <a:gd name="T67" fmla="*/ 244 h 268"/>
              <a:gd name="T68" fmla="*/ 128 w 212"/>
              <a:gd name="T69" fmla="*/ 244 h 268"/>
              <a:gd name="T70" fmla="*/ 190 w 212"/>
              <a:gd name="T71" fmla="*/ 182 h 268"/>
              <a:gd name="T72" fmla="*/ 190 w 212"/>
              <a:gd name="T73" fmla="*/ 38 h 268"/>
              <a:gd name="T74" fmla="*/ 200 w 212"/>
              <a:gd name="T75" fmla="*/ 38 h 268"/>
              <a:gd name="T76" fmla="*/ 200 w 212"/>
              <a:gd name="T77" fmla="*/ 254 h 268"/>
              <a:gd name="T78" fmla="*/ 36 w 212"/>
              <a:gd name="T79" fmla="*/ 160 h 268"/>
              <a:gd name="T80" fmla="*/ 96 w 212"/>
              <a:gd name="T81" fmla="*/ 160 h 268"/>
              <a:gd name="T82" fmla="*/ 96 w 212"/>
              <a:gd name="T83" fmla="*/ 142 h 268"/>
              <a:gd name="T84" fmla="*/ 36 w 212"/>
              <a:gd name="T85" fmla="*/ 142 h 268"/>
              <a:gd name="T86" fmla="*/ 36 w 212"/>
              <a:gd name="T87" fmla="*/ 16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2" h="268">
                <a:moveTo>
                  <a:pt x="154" y="44"/>
                </a:moveTo>
                <a:lnTo>
                  <a:pt x="36" y="44"/>
                </a:lnTo>
                <a:lnTo>
                  <a:pt x="36" y="60"/>
                </a:lnTo>
                <a:lnTo>
                  <a:pt x="154" y="60"/>
                </a:lnTo>
                <a:lnTo>
                  <a:pt x="154" y="44"/>
                </a:lnTo>
                <a:close/>
                <a:moveTo>
                  <a:pt x="154" y="110"/>
                </a:moveTo>
                <a:lnTo>
                  <a:pt x="36" y="110"/>
                </a:lnTo>
                <a:lnTo>
                  <a:pt x="36" y="126"/>
                </a:lnTo>
                <a:lnTo>
                  <a:pt x="154" y="126"/>
                </a:lnTo>
                <a:lnTo>
                  <a:pt x="154" y="110"/>
                </a:lnTo>
                <a:close/>
                <a:moveTo>
                  <a:pt x="154" y="78"/>
                </a:moveTo>
                <a:lnTo>
                  <a:pt x="36" y="78"/>
                </a:lnTo>
                <a:lnTo>
                  <a:pt x="36" y="94"/>
                </a:lnTo>
                <a:lnTo>
                  <a:pt x="154" y="94"/>
                </a:lnTo>
                <a:lnTo>
                  <a:pt x="154" y="78"/>
                </a:lnTo>
                <a:close/>
                <a:moveTo>
                  <a:pt x="190" y="24"/>
                </a:moveTo>
                <a:lnTo>
                  <a:pt x="190" y="0"/>
                </a:lnTo>
                <a:lnTo>
                  <a:pt x="0" y="0"/>
                </a:lnTo>
                <a:lnTo>
                  <a:pt x="0" y="244"/>
                </a:lnTo>
                <a:lnTo>
                  <a:pt x="24" y="244"/>
                </a:lnTo>
                <a:lnTo>
                  <a:pt x="24" y="268"/>
                </a:lnTo>
                <a:lnTo>
                  <a:pt x="212" y="268"/>
                </a:lnTo>
                <a:lnTo>
                  <a:pt x="212" y="24"/>
                </a:lnTo>
                <a:lnTo>
                  <a:pt x="190" y="24"/>
                </a:lnTo>
                <a:close/>
                <a:moveTo>
                  <a:pt x="14" y="232"/>
                </a:moveTo>
                <a:lnTo>
                  <a:pt x="14" y="14"/>
                </a:lnTo>
                <a:lnTo>
                  <a:pt x="176" y="14"/>
                </a:lnTo>
                <a:lnTo>
                  <a:pt x="176" y="176"/>
                </a:lnTo>
                <a:lnTo>
                  <a:pt x="120" y="176"/>
                </a:lnTo>
                <a:lnTo>
                  <a:pt x="120" y="232"/>
                </a:lnTo>
                <a:lnTo>
                  <a:pt x="14" y="232"/>
                </a:lnTo>
                <a:close/>
                <a:moveTo>
                  <a:pt x="200" y="254"/>
                </a:moveTo>
                <a:lnTo>
                  <a:pt x="38" y="254"/>
                </a:lnTo>
                <a:lnTo>
                  <a:pt x="38" y="244"/>
                </a:lnTo>
                <a:lnTo>
                  <a:pt x="128" y="244"/>
                </a:lnTo>
                <a:lnTo>
                  <a:pt x="190" y="182"/>
                </a:lnTo>
                <a:lnTo>
                  <a:pt x="190" y="38"/>
                </a:lnTo>
                <a:lnTo>
                  <a:pt x="200" y="38"/>
                </a:lnTo>
                <a:lnTo>
                  <a:pt x="200" y="254"/>
                </a:lnTo>
                <a:close/>
                <a:moveTo>
                  <a:pt x="36" y="160"/>
                </a:moveTo>
                <a:lnTo>
                  <a:pt x="96" y="160"/>
                </a:lnTo>
                <a:lnTo>
                  <a:pt x="96" y="142"/>
                </a:lnTo>
                <a:lnTo>
                  <a:pt x="36" y="142"/>
                </a:lnTo>
                <a:lnTo>
                  <a:pt x="36" y="16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6" name="Freeform 616"/>
          <p:cNvSpPr/>
          <p:nvPr/>
        </p:nvSpPr>
        <p:spPr bwMode="auto">
          <a:xfrm>
            <a:off x="2122489" y="2720975"/>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3" y="12"/>
                  <a:pt x="464" y="16"/>
                </a:cubicBezTo>
                <a:cubicBezTo>
                  <a:pt x="268" y="125"/>
                  <a:pt x="268" y="125"/>
                  <a:pt x="268" y="125"/>
                </a:cubicBezTo>
                <a:cubicBezTo>
                  <a:pt x="252" y="134"/>
                  <a:pt x="225" y="134"/>
                  <a:pt x="209" y="125"/>
                </a:cubicBezTo>
                <a:cubicBezTo>
                  <a:pt x="13" y="16"/>
                  <a:pt x="13" y="16"/>
                  <a:pt x="13" y="16"/>
                </a:cubicBezTo>
                <a:cubicBezTo>
                  <a:pt x="5" y="12"/>
                  <a:pt x="0" y="6"/>
                  <a:pt x="0" y="0"/>
                </a:cubicBezTo>
                <a:cubicBezTo>
                  <a:pt x="0" y="34"/>
                  <a:pt x="0" y="34"/>
                  <a:pt x="0" y="34"/>
                </a:cubicBezTo>
                <a:cubicBezTo>
                  <a:pt x="0" y="40"/>
                  <a:pt x="5" y="46"/>
                  <a:pt x="13" y="50"/>
                </a:cubicBezTo>
                <a:cubicBezTo>
                  <a:pt x="209" y="159"/>
                  <a:pt x="209" y="159"/>
                  <a:pt x="209" y="159"/>
                </a:cubicBezTo>
                <a:cubicBezTo>
                  <a:pt x="225" y="168"/>
                  <a:pt x="252" y="168"/>
                  <a:pt x="268" y="159"/>
                </a:cubicBezTo>
                <a:cubicBezTo>
                  <a:pt x="464" y="50"/>
                  <a:pt x="464" y="50"/>
                  <a:pt x="464" y="50"/>
                </a:cubicBezTo>
                <a:cubicBezTo>
                  <a:pt x="473" y="46"/>
                  <a:pt x="477" y="40"/>
                  <a:pt x="477" y="34"/>
                </a:cubicBezTo>
                <a:lnTo>
                  <a:pt x="477" y="0"/>
                </a:lnTo>
                <a:close/>
              </a:path>
            </a:pathLst>
          </a:custGeom>
          <a:solidFill>
            <a:srgbClr val="009F9A">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7" name="Freeform 618"/>
          <p:cNvSpPr/>
          <p:nvPr/>
        </p:nvSpPr>
        <p:spPr bwMode="auto">
          <a:xfrm>
            <a:off x="5340351" y="4489450"/>
            <a:ext cx="1511300" cy="533400"/>
          </a:xfrm>
          <a:custGeom>
            <a:avLst/>
            <a:gdLst>
              <a:gd name="T0" fmla="*/ 476 w 476"/>
              <a:gd name="T1" fmla="*/ 0 h 168"/>
              <a:gd name="T2" fmla="*/ 464 w 476"/>
              <a:gd name="T3" fmla="*/ 16 h 168"/>
              <a:gd name="T4" fmla="*/ 268 w 476"/>
              <a:gd name="T5" fmla="*/ 125 h 168"/>
              <a:gd name="T6" fmla="*/ 208 w 476"/>
              <a:gd name="T7" fmla="*/ 125 h 168"/>
              <a:gd name="T8" fmla="*/ 12 w 476"/>
              <a:gd name="T9" fmla="*/ 16 h 168"/>
              <a:gd name="T10" fmla="*/ 0 w 476"/>
              <a:gd name="T11" fmla="*/ 0 h 168"/>
              <a:gd name="T12" fmla="*/ 0 w 476"/>
              <a:gd name="T13" fmla="*/ 34 h 168"/>
              <a:gd name="T14" fmla="*/ 12 w 476"/>
              <a:gd name="T15" fmla="*/ 50 h 168"/>
              <a:gd name="T16" fmla="*/ 208 w 476"/>
              <a:gd name="T17" fmla="*/ 159 h 168"/>
              <a:gd name="T18" fmla="*/ 268 w 476"/>
              <a:gd name="T19" fmla="*/ 159 h 168"/>
              <a:gd name="T20" fmla="*/ 464 w 476"/>
              <a:gd name="T21" fmla="*/ 50 h 168"/>
              <a:gd name="T22" fmla="*/ 476 w 476"/>
              <a:gd name="T23" fmla="*/ 34 h 168"/>
              <a:gd name="T24" fmla="*/ 476 w 476"/>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6" h="168">
                <a:moveTo>
                  <a:pt x="476" y="0"/>
                </a:moveTo>
                <a:cubicBezTo>
                  <a:pt x="476" y="6"/>
                  <a:pt x="472" y="12"/>
                  <a:pt x="464" y="16"/>
                </a:cubicBezTo>
                <a:cubicBezTo>
                  <a:pt x="268" y="125"/>
                  <a:pt x="268" y="125"/>
                  <a:pt x="268" y="125"/>
                </a:cubicBezTo>
                <a:cubicBezTo>
                  <a:pt x="251" y="134"/>
                  <a:pt x="225" y="134"/>
                  <a:pt x="208" y="125"/>
                </a:cubicBezTo>
                <a:cubicBezTo>
                  <a:pt x="12" y="16"/>
                  <a:pt x="12" y="16"/>
                  <a:pt x="12" y="16"/>
                </a:cubicBezTo>
                <a:cubicBezTo>
                  <a:pt x="4" y="12"/>
                  <a:pt x="0" y="6"/>
                  <a:pt x="0" y="0"/>
                </a:cubicBezTo>
                <a:cubicBezTo>
                  <a:pt x="0" y="34"/>
                  <a:pt x="0" y="34"/>
                  <a:pt x="0" y="34"/>
                </a:cubicBezTo>
                <a:cubicBezTo>
                  <a:pt x="0" y="40"/>
                  <a:pt x="4" y="46"/>
                  <a:pt x="12" y="50"/>
                </a:cubicBezTo>
                <a:cubicBezTo>
                  <a:pt x="208" y="159"/>
                  <a:pt x="208" y="159"/>
                  <a:pt x="208" y="159"/>
                </a:cubicBezTo>
                <a:cubicBezTo>
                  <a:pt x="225" y="168"/>
                  <a:pt x="251" y="168"/>
                  <a:pt x="268" y="159"/>
                </a:cubicBezTo>
                <a:cubicBezTo>
                  <a:pt x="464" y="50"/>
                  <a:pt x="464" y="50"/>
                  <a:pt x="464" y="50"/>
                </a:cubicBezTo>
                <a:cubicBezTo>
                  <a:pt x="472" y="46"/>
                  <a:pt x="476" y="40"/>
                  <a:pt x="476" y="34"/>
                </a:cubicBezTo>
                <a:lnTo>
                  <a:pt x="476"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8" name="Freeform 620"/>
          <p:cNvSpPr/>
          <p:nvPr/>
        </p:nvSpPr>
        <p:spPr bwMode="auto">
          <a:xfrm>
            <a:off x="8555039" y="2720975"/>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2" y="12"/>
                  <a:pt x="464" y="16"/>
                </a:cubicBezTo>
                <a:cubicBezTo>
                  <a:pt x="268" y="125"/>
                  <a:pt x="268" y="125"/>
                  <a:pt x="268" y="125"/>
                </a:cubicBezTo>
                <a:cubicBezTo>
                  <a:pt x="252" y="134"/>
                  <a:pt x="225" y="134"/>
                  <a:pt x="209" y="125"/>
                </a:cubicBezTo>
                <a:cubicBezTo>
                  <a:pt x="13" y="16"/>
                  <a:pt x="13" y="16"/>
                  <a:pt x="13" y="16"/>
                </a:cubicBezTo>
                <a:cubicBezTo>
                  <a:pt x="4" y="12"/>
                  <a:pt x="0" y="6"/>
                  <a:pt x="0" y="0"/>
                </a:cubicBezTo>
                <a:cubicBezTo>
                  <a:pt x="0" y="34"/>
                  <a:pt x="0" y="34"/>
                  <a:pt x="0" y="34"/>
                </a:cubicBezTo>
                <a:cubicBezTo>
                  <a:pt x="0" y="40"/>
                  <a:pt x="4" y="46"/>
                  <a:pt x="13" y="50"/>
                </a:cubicBezTo>
                <a:cubicBezTo>
                  <a:pt x="209" y="159"/>
                  <a:pt x="209" y="159"/>
                  <a:pt x="209" y="159"/>
                </a:cubicBezTo>
                <a:cubicBezTo>
                  <a:pt x="225" y="168"/>
                  <a:pt x="252" y="168"/>
                  <a:pt x="268" y="159"/>
                </a:cubicBezTo>
                <a:cubicBezTo>
                  <a:pt x="464" y="50"/>
                  <a:pt x="464" y="50"/>
                  <a:pt x="464" y="50"/>
                </a:cubicBezTo>
                <a:cubicBezTo>
                  <a:pt x="472"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49" name="Freeform 566"/>
          <p:cNvSpPr/>
          <p:nvPr/>
        </p:nvSpPr>
        <p:spPr bwMode="auto">
          <a:xfrm>
            <a:off x="7671498" y="2974683"/>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0" name="Freeform 573"/>
          <p:cNvSpPr/>
          <p:nvPr/>
        </p:nvSpPr>
        <p:spPr bwMode="auto">
          <a:xfrm>
            <a:off x="7671498" y="2628608"/>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1" name="Freeform 579"/>
          <p:cNvSpPr/>
          <p:nvPr/>
        </p:nvSpPr>
        <p:spPr bwMode="auto">
          <a:xfrm>
            <a:off x="7671498" y="2803233"/>
            <a:ext cx="1355725" cy="854075"/>
          </a:xfrm>
          <a:custGeom>
            <a:avLst/>
            <a:gdLst>
              <a:gd name="T0" fmla="*/ 854 w 854"/>
              <a:gd name="T1" fmla="*/ 64 h 538"/>
              <a:gd name="T2" fmla="*/ 854 w 854"/>
              <a:gd name="T3" fmla="*/ 0 h 538"/>
              <a:gd name="T4" fmla="*/ 0 w 854"/>
              <a:gd name="T5" fmla="*/ 474 h 538"/>
              <a:gd name="T6" fmla="*/ 0 w 854"/>
              <a:gd name="T7" fmla="*/ 538 h 538"/>
              <a:gd name="T8" fmla="*/ 854 w 854"/>
              <a:gd name="T9" fmla="*/ 64 h 538"/>
            </a:gdLst>
            <a:ahLst/>
            <a:cxnLst>
              <a:cxn ang="0">
                <a:pos x="T0" y="T1"/>
              </a:cxn>
              <a:cxn ang="0">
                <a:pos x="T2" y="T3"/>
              </a:cxn>
              <a:cxn ang="0">
                <a:pos x="T4" y="T5"/>
              </a:cxn>
              <a:cxn ang="0">
                <a:pos x="T6" y="T7"/>
              </a:cxn>
              <a:cxn ang="0">
                <a:pos x="T8" y="T9"/>
              </a:cxn>
            </a:cxnLst>
            <a:rect l="0" t="0" r="r" b="b"/>
            <a:pathLst>
              <a:path w="854" h="538">
                <a:moveTo>
                  <a:pt x="854" y="64"/>
                </a:moveTo>
                <a:lnTo>
                  <a:pt x="854" y="0"/>
                </a:lnTo>
                <a:lnTo>
                  <a:pt x="0" y="474"/>
                </a:lnTo>
                <a:lnTo>
                  <a:pt x="0" y="538"/>
                </a:lnTo>
                <a:lnTo>
                  <a:pt x="854" y="64"/>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2" name="Freeform 606"/>
          <p:cNvSpPr/>
          <p:nvPr/>
        </p:nvSpPr>
        <p:spPr bwMode="auto">
          <a:xfrm>
            <a:off x="6903148" y="3282658"/>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3" name="Freeform 607"/>
          <p:cNvSpPr/>
          <p:nvPr/>
        </p:nvSpPr>
        <p:spPr bwMode="auto">
          <a:xfrm>
            <a:off x="6915848" y="3066758"/>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0 w 477"/>
              <a:gd name="T17" fmla="*/ 135 h 303"/>
              <a:gd name="T18" fmla="*/ 13 w 477"/>
              <a:gd name="T19" fmla="*/ 118 h 303"/>
              <a:gd name="T20" fmla="*/ 209 w 477"/>
              <a:gd name="T21" fmla="*/ 9 h 303"/>
              <a:gd name="T22" fmla="*/ 268 w 477"/>
              <a:gd name="T23" fmla="*/ 9 h 303"/>
              <a:gd name="T24" fmla="*/ 464 w 477"/>
              <a:gd name="T25" fmla="*/ 118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2" y="181"/>
                  <a:pt x="464" y="185"/>
                </a:cubicBezTo>
                <a:cubicBezTo>
                  <a:pt x="268" y="294"/>
                  <a:pt x="268" y="294"/>
                  <a:pt x="268" y="294"/>
                </a:cubicBezTo>
                <a:cubicBezTo>
                  <a:pt x="252" y="303"/>
                  <a:pt x="225" y="303"/>
                  <a:pt x="209" y="294"/>
                </a:cubicBezTo>
                <a:cubicBezTo>
                  <a:pt x="13" y="185"/>
                  <a:pt x="13" y="185"/>
                  <a:pt x="13" y="185"/>
                </a:cubicBezTo>
                <a:cubicBezTo>
                  <a:pt x="4" y="181"/>
                  <a:pt x="0" y="175"/>
                  <a:pt x="0" y="169"/>
                </a:cubicBezTo>
                <a:cubicBezTo>
                  <a:pt x="0" y="135"/>
                  <a:pt x="0" y="135"/>
                  <a:pt x="0" y="135"/>
                </a:cubicBezTo>
                <a:cubicBezTo>
                  <a:pt x="0" y="135"/>
                  <a:pt x="0" y="135"/>
                  <a:pt x="0" y="135"/>
                </a:cubicBezTo>
                <a:cubicBezTo>
                  <a:pt x="0" y="129"/>
                  <a:pt x="4" y="123"/>
                  <a:pt x="13" y="118"/>
                </a:cubicBezTo>
                <a:cubicBezTo>
                  <a:pt x="209" y="9"/>
                  <a:pt x="209" y="9"/>
                  <a:pt x="209" y="9"/>
                </a:cubicBezTo>
                <a:cubicBezTo>
                  <a:pt x="225" y="0"/>
                  <a:pt x="252" y="0"/>
                  <a:pt x="268" y="9"/>
                </a:cubicBezTo>
                <a:cubicBezTo>
                  <a:pt x="464" y="118"/>
                  <a:pt x="464" y="118"/>
                  <a:pt x="464" y="118"/>
                </a:cubicBezTo>
                <a:cubicBezTo>
                  <a:pt x="472" y="123"/>
                  <a:pt x="477" y="129"/>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54" name="Oval 608"/>
          <p:cNvSpPr>
            <a:spLocks noChangeArrowheads="1"/>
          </p:cNvSpPr>
          <p:nvPr/>
        </p:nvSpPr>
        <p:spPr bwMode="auto">
          <a:xfrm>
            <a:off x="7277798" y="3384258"/>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5" name="Oval 609"/>
          <p:cNvSpPr>
            <a:spLocks noChangeArrowheads="1"/>
          </p:cNvSpPr>
          <p:nvPr/>
        </p:nvSpPr>
        <p:spPr bwMode="auto">
          <a:xfrm>
            <a:off x="7277798" y="2679407"/>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6" name="Freeform 610"/>
          <p:cNvSpPr>
            <a:spLocks noEditPoints="1"/>
          </p:cNvSpPr>
          <p:nvPr/>
        </p:nvSpPr>
        <p:spPr bwMode="auto">
          <a:xfrm>
            <a:off x="7265098" y="2666707"/>
            <a:ext cx="815975" cy="819150"/>
          </a:xfrm>
          <a:custGeom>
            <a:avLst/>
            <a:gdLst>
              <a:gd name="T0" fmla="*/ 128 w 257"/>
              <a:gd name="T1" fmla="*/ 258 h 258"/>
              <a:gd name="T2" fmla="*/ 0 w 257"/>
              <a:gd name="T3" fmla="*/ 129 h 258"/>
              <a:gd name="T4" fmla="*/ 128 w 257"/>
              <a:gd name="T5" fmla="*/ 0 h 258"/>
              <a:gd name="T6" fmla="*/ 257 w 257"/>
              <a:gd name="T7" fmla="*/ 129 h 258"/>
              <a:gd name="T8" fmla="*/ 128 w 257"/>
              <a:gd name="T9" fmla="*/ 258 h 258"/>
              <a:gd name="T10" fmla="*/ 128 w 257"/>
              <a:gd name="T11" fmla="*/ 8 h 258"/>
              <a:gd name="T12" fmla="*/ 8 w 257"/>
              <a:gd name="T13" fmla="*/ 129 h 258"/>
              <a:gd name="T14" fmla="*/ 128 w 257"/>
              <a:gd name="T15" fmla="*/ 250 h 258"/>
              <a:gd name="T16" fmla="*/ 249 w 257"/>
              <a:gd name="T17" fmla="*/ 129 h 258"/>
              <a:gd name="T18" fmla="*/ 128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8" y="258"/>
                </a:moveTo>
                <a:cubicBezTo>
                  <a:pt x="57" y="258"/>
                  <a:pt x="0" y="200"/>
                  <a:pt x="0" y="129"/>
                </a:cubicBezTo>
                <a:cubicBezTo>
                  <a:pt x="0" y="58"/>
                  <a:pt x="57" y="0"/>
                  <a:pt x="128" y="0"/>
                </a:cubicBezTo>
                <a:cubicBezTo>
                  <a:pt x="199" y="0"/>
                  <a:pt x="257" y="58"/>
                  <a:pt x="257" y="129"/>
                </a:cubicBezTo>
                <a:cubicBezTo>
                  <a:pt x="257" y="200"/>
                  <a:pt x="199" y="258"/>
                  <a:pt x="128" y="258"/>
                </a:cubicBezTo>
                <a:close/>
                <a:moveTo>
                  <a:pt x="128" y="8"/>
                </a:moveTo>
                <a:cubicBezTo>
                  <a:pt x="62" y="8"/>
                  <a:pt x="8" y="62"/>
                  <a:pt x="8" y="129"/>
                </a:cubicBezTo>
                <a:cubicBezTo>
                  <a:pt x="8" y="196"/>
                  <a:pt x="62" y="250"/>
                  <a:pt x="128" y="250"/>
                </a:cubicBezTo>
                <a:cubicBezTo>
                  <a:pt x="195" y="250"/>
                  <a:pt x="249" y="196"/>
                  <a:pt x="249" y="129"/>
                </a:cubicBezTo>
                <a:cubicBezTo>
                  <a:pt x="249" y="62"/>
                  <a:pt x="195" y="8"/>
                  <a:pt x="128"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7" name="Freeform 611"/>
          <p:cNvSpPr>
            <a:spLocks noEditPoints="1"/>
          </p:cNvSpPr>
          <p:nvPr/>
        </p:nvSpPr>
        <p:spPr bwMode="auto">
          <a:xfrm>
            <a:off x="7503222" y="2860382"/>
            <a:ext cx="336550" cy="425450"/>
          </a:xfrm>
          <a:custGeom>
            <a:avLst/>
            <a:gdLst>
              <a:gd name="T0" fmla="*/ 154 w 212"/>
              <a:gd name="T1" fmla="*/ 44 h 268"/>
              <a:gd name="T2" fmla="*/ 36 w 212"/>
              <a:gd name="T3" fmla="*/ 44 h 268"/>
              <a:gd name="T4" fmla="*/ 36 w 212"/>
              <a:gd name="T5" fmla="*/ 60 h 268"/>
              <a:gd name="T6" fmla="*/ 154 w 212"/>
              <a:gd name="T7" fmla="*/ 60 h 268"/>
              <a:gd name="T8" fmla="*/ 154 w 212"/>
              <a:gd name="T9" fmla="*/ 44 h 268"/>
              <a:gd name="T10" fmla="*/ 154 w 212"/>
              <a:gd name="T11" fmla="*/ 110 h 268"/>
              <a:gd name="T12" fmla="*/ 36 w 212"/>
              <a:gd name="T13" fmla="*/ 110 h 268"/>
              <a:gd name="T14" fmla="*/ 36 w 212"/>
              <a:gd name="T15" fmla="*/ 126 h 268"/>
              <a:gd name="T16" fmla="*/ 154 w 212"/>
              <a:gd name="T17" fmla="*/ 126 h 268"/>
              <a:gd name="T18" fmla="*/ 154 w 212"/>
              <a:gd name="T19" fmla="*/ 110 h 268"/>
              <a:gd name="T20" fmla="*/ 154 w 212"/>
              <a:gd name="T21" fmla="*/ 78 h 268"/>
              <a:gd name="T22" fmla="*/ 36 w 212"/>
              <a:gd name="T23" fmla="*/ 78 h 268"/>
              <a:gd name="T24" fmla="*/ 36 w 212"/>
              <a:gd name="T25" fmla="*/ 94 h 268"/>
              <a:gd name="T26" fmla="*/ 154 w 212"/>
              <a:gd name="T27" fmla="*/ 94 h 268"/>
              <a:gd name="T28" fmla="*/ 154 w 212"/>
              <a:gd name="T29" fmla="*/ 78 h 268"/>
              <a:gd name="T30" fmla="*/ 190 w 212"/>
              <a:gd name="T31" fmla="*/ 24 h 268"/>
              <a:gd name="T32" fmla="*/ 190 w 212"/>
              <a:gd name="T33" fmla="*/ 0 h 268"/>
              <a:gd name="T34" fmla="*/ 0 w 212"/>
              <a:gd name="T35" fmla="*/ 0 h 268"/>
              <a:gd name="T36" fmla="*/ 0 w 212"/>
              <a:gd name="T37" fmla="*/ 244 h 268"/>
              <a:gd name="T38" fmla="*/ 24 w 212"/>
              <a:gd name="T39" fmla="*/ 244 h 268"/>
              <a:gd name="T40" fmla="*/ 24 w 212"/>
              <a:gd name="T41" fmla="*/ 268 h 268"/>
              <a:gd name="T42" fmla="*/ 212 w 212"/>
              <a:gd name="T43" fmla="*/ 268 h 268"/>
              <a:gd name="T44" fmla="*/ 212 w 212"/>
              <a:gd name="T45" fmla="*/ 24 h 268"/>
              <a:gd name="T46" fmla="*/ 190 w 212"/>
              <a:gd name="T47" fmla="*/ 24 h 268"/>
              <a:gd name="T48" fmla="*/ 14 w 212"/>
              <a:gd name="T49" fmla="*/ 232 h 268"/>
              <a:gd name="T50" fmla="*/ 14 w 212"/>
              <a:gd name="T51" fmla="*/ 14 h 268"/>
              <a:gd name="T52" fmla="*/ 176 w 212"/>
              <a:gd name="T53" fmla="*/ 14 h 268"/>
              <a:gd name="T54" fmla="*/ 176 w 212"/>
              <a:gd name="T55" fmla="*/ 176 h 268"/>
              <a:gd name="T56" fmla="*/ 120 w 212"/>
              <a:gd name="T57" fmla="*/ 176 h 268"/>
              <a:gd name="T58" fmla="*/ 120 w 212"/>
              <a:gd name="T59" fmla="*/ 232 h 268"/>
              <a:gd name="T60" fmla="*/ 14 w 212"/>
              <a:gd name="T61" fmla="*/ 232 h 268"/>
              <a:gd name="T62" fmla="*/ 200 w 212"/>
              <a:gd name="T63" fmla="*/ 254 h 268"/>
              <a:gd name="T64" fmla="*/ 38 w 212"/>
              <a:gd name="T65" fmla="*/ 254 h 268"/>
              <a:gd name="T66" fmla="*/ 38 w 212"/>
              <a:gd name="T67" fmla="*/ 244 h 268"/>
              <a:gd name="T68" fmla="*/ 128 w 212"/>
              <a:gd name="T69" fmla="*/ 244 h 268"/>
              <a:gd name="T70" fmla="*/ 190 w 212"/>
              <a:gd name="T71" fmla="*/ 182 h 268"/>
              <a:gd name="T72" fmla="*/ 190 w 212"/>
              <a:gd name="T73" fmla="*/ 38 h 268"/>
              <a:gd name="T74" fmla="*/ 200 w 212"/>
              <a:gd name="T75" fmla="*/ 38 h 268"/>
              <a:gd name="T76" fmla="*/ 200 w 212"/>
              <a:gd name="T77" fmla="*/ 254 h 268"/>
              <a:gd name="T78" fmla="*/ 36 w 212"/>
              <a:gd name="T79" fmla="*/ 160 h 268"/>
              <a:gd name="T80" fmla="*/ 96 w 212"/>
              <a:gd name="T81" fmla="*/ 160 h 268"/>
              <a:gd name="T82" fmla="*/ 96 w 212"/>
              <a:gd name="T83" fmla="*/ 142 h 268"/>
              <a:gd name="T84" fmla="*/ 36 w 212"/>
              <a:gd name="T85" fmla="*/ 142 h 268"/>
              <a:gd name="T86" fmla="*/ 36 w 212"/>
              <a:gd name="T87" fmla="*/ 16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2" h="268">
                <a:moveTo>
                  <a:pt x="154" y="44"/>
                </a:moveTo>
                <a:lnTo>
                  <a:pt x="36" y="44"/>
                </a:lnTo>
                <a:lnTo>
                  <a:pt x="36" y="60"/>
                </a:lnTo>
                <a:lnTo>
                  <a:pt x="154" y="60"/>
                </a:lnTo>
                <a:lnTo>
                  <a:pt x="154" y="44"/>
                </a:lnTo>
                <a:close/>
                <a:moveTo>
                  <a:pt x="154" y="110"/>
                </a:moveTo>
                <a:lnTo>
                  <a:pt x="36" y="110"/>
                </a:lnTo>
                <a:lnTo>
                  <a:pt x="36" y="126"/>
                </a:lnTo>
                <a:lnTo>
                  <a:pt x="154" y="126"/>
                </a:lnTo>
                <a:lnTo>
                  <a:pt x="154" y="110"/>
                </a:lnTo>
                <a:close/>
                <a:moveTo>
                  <a:pt x="154" y="78"/>
                </a:moveTo>
                <a:lnTo>
                  <a:pt x="36" y="78"/>
                </a:lnTo>
                <a:lnTo>
                  <a:pt x="36" y="94"/>
                </a:lnTo>
                <a:lnTo>
                  <a:pt x="154" y="94"/>
                </a:lnTo>
                <a:lnTo>
                  <a:pt x="154" y="78"/>
                </a:lnTo>
                <a:close/>
                <a:moveTo>
                  <a:pt x="190" y="24"/>
                </a:moveTo>
                <a:lnTo>
                  <a:pt x="190" y="0"/>
                </a:lnTo>
                <a:lnTo>
                  <a:pt x="0" y="0"/>
                </a:lnTo>
                <a:lnTo>
                  <a:pt x="0" y="244"/>
                </a:lnTo>
                <a:lnTo>
                  <a:pt x="24" y="244"/>
                </a:lnTo>
                <a:lnTo>
                  <a:pt x="24" y="268"/>
                </a:lnTo>
                <a:lnTo>
                  <a:pt x="212" y="268"/>
                </a:lnTo>
                <a:lnTo>
                  <a:pt x="212" y="24"/>
                </a:lnTo>
                <a:lnTo>
                  <a:pt x="190" y="24"/>
                </a:lnTo>
                <a:close/>
                <a:moveTo>
                  <a:pt x="14" y="232"/>
                </a:moveTo>
                <a:lnTo>
                  <a:pt x="14" y="14"/>
                </a:lnTo>
                <a:lnTo>
                  <a:pt x="176" y="14"/>
                </a:lnTo>
                <a:lnTo>
                  <a:pt x="176" y="176"/>
                </a:lnTo>
                <a:lnTo>
                  <a:pt x="120" y="176"/>
                </a:lnTo>
                <a:lnTo>
                  <a:pt x="120" y="232"/>
                </a:lnTo>
                <a:lnTo>
                  <a:pt x="14" y="232"/>
                </a:lnTo>
                <a:close/>
                <a:moveTo>
                  <a:pt x="200" y="254"/>
                </a:moveTo>
                <a:lnTo>
                  <a:pt x="38" y="254"/>
                </a:lnTo>
                <a:lnTo>
                  <a:pt x="38" y="244"/>
                </a:lnTo>
                <a:lnTo>
                  <a:pt x="128" y="244"/>
                </a:lnTo>
                <a:lnTo>
                  <a:pt x="190" y="182"/>
                </a:lnTo>
                <a:lnTo>
                  <a:pt x="190" y="38"/>
                </a:lnTo>
                <a:lnTo>
                  <a:pt x="200" y="38"/>
                </a:lnTo>
                <a:lnTo>
                  <a:pt x="200" y="254"/>
                </a:lnTo>
                <a:close/>
                <a:moveTo>
                  <a:pt x="36" y="160"/>
                </a:moveTo>
                <a:lnTo>
                  <a:pt x="96" y="160"/>
                </a:lnTo>
                <a:lnTo>
                  <a:pt x="96" y="142"/>
                </a:lnTo>
                <a:lnTo>
                  <a:pt x="36" y="142"/>
                </a:lnTo>
                <a:lnTo>
                  <a:pt x="36" y="160"/>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8" name="Freeform 620"/>
          <p:cNvSpPr/>
          <p:nvPr/>
        </p:nvSpPr>
        <p:spPr bwMode="auto">
          <a:xfrm>
            <a:off x="6915848" y="3495382"/>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2" y="12"/>
                  <a:pt x="464" y="16"/>
                </a:cubicBezTo>
                <a:cubicBezTo>
                  <a:pt x="268" y="125"/>
                  <a:pt x="268" y="125"/>
                  <a:pt x="268" y="125"/>
                </a:cubicBezTo>
                <a:cubicBezTo>
                  <a:pt x="252" y="134"/>
                  <a:pt x="225" y="134"/>
                  <a:pt x="209" y="125"/>
                </a:cubicBezTo>
                <a:cubicBezTo>
                  <a:pt x="13" y="16"/>
                  <a:pt x="13" y="16"/>
                  <a:pt x="13" y="16"/>
                </a:cubicBezTo>
                <a:cubicBezTo>
                  <a:pt x="4" y="12"/>
                  <a:pt x="0" y="6"/>
                  <a:pt x="0" y="0"/>
                </a:cubicBezTo>
                <a:cubicBezTo>
                  <a:pt x="0" y="34"/>
                  <a:pt x="0" y="34"/>
                  <a:pt x="0" y="34"/>
                </a:cubicBezTo>
                <a:cubicBezTo>
                  <a:pt x="0" y="40"/>
                  <a:pt x="4" y="46"/>
                  <a:pt x="13" y="50"/>
                </a:cubicBezTo>
                <a:cubicBezTo>
                  <a:pt x="209" y="159"/>
                  <a:pt x="209" y="159"/>
                  <a:pt x="209" y="159"/>
                </a:cubicBezTo>
                <a:cubicBezTo>
                  <a:pt x="225" y="168"/>
                  <a:pt x="252" y="168"/>
                  <a:pt x="268" y="159"/>
                </a:cubicBezTo>
                <a:cubicBezTo>
                  <a:pt x="464" y="50"/>
                  <a:pt x="464" y="50"/>
                  <a:pt x="464" y="50"/>
                </a:cubicBezTo>
                <a:cubicBezTo>
                  <a:pt x="472"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59" name="Freeform 567"/>
          <p:cNvSpPr/>
          <p:nvPr/>
        </p:nvSpPr>
        <p:spPr bwMode="auto">
          <a:xfrm>
            <a:off x="3230346" y="3107589"/>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0" name="Freeform 575"/>
          <p:cNvSpPr/>
          <p:nvPr/>
        </p:nvSpPr>
        <p:spPr bwMode="auto">
          <a:xfrm>
            <a:off x="3230346" y="2761514"/>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1" name="Freeform 581"/>
          <p:cNvSpPr/>
          <p:nvPr/>
        </p:nvSpPr>
        <p:spPr bwMode="auto">
          <a:xfrm>
            <a:off x="3230346" y="2936139"/>
            <a:ext cx="1355725" cy="854075"/>
          </a:xfrm>
          <a:custGeom>
            <a:avLst/>
            <a:gdLst>
              <a:gd name="T0" fmla="*/ 0 w 854"/>
              <a:gd name="T1" fmla="*/ 0 h 538"/>
              <a:gd name="T2" fmla="*/ 0 w 854"/>
              <a:gd name="T3" fmla="*/ 64 h 538"/>
              <a:gd name="T4" fmla="*/ 854 w 854"/>
              <a:gd name="T5" fmla="*/ 538 h 538"/>
              <a:gd name="T6" fmla="*/ 854 w 854"/>
              <a:gd name="T7" fmla="*/ 474 h 538"/>
              <a:gd name="T8" fmla="*/ 0 w 854"/>
              <a:gd name="T9" fmla="*/ 0 h 538"/>
            </a:gdLst>
            <a:ahLst/>
            <a:cxnLst>
              <a:cxn ang="0">
                <a:pos x="T0" y="T1"/>
              </a:cxn>
              <a:cxn ang="0">
                <a:pos x="T2" y="T3"/>
              </a:cxn>
              <a:cxn ang="0">
                <a:pos x="T4" y="T5"/>
              </a:cxn>
              <a:cxn ang="0">
                <a:pos x="T6" y="T7"/>
              </a:cxn>
              <a:cxn ang="0">
                <a:pos x="T8" y="T9"/>
              </a:cxn>
            </a:cxnLst>
            <a:rect l="0" t="0" r="r" b="b"/>
            <a:pathLst>
              <a:path w="854" h="538">
                <a:moveTo>
                  <a:pt x="0" y="0"/>
                </a:moveTo>
                <a:lnTo>
                  <a:pt x="0" y="64"/>
                </a:lnTo>
                <a:lnTo>
                  <a:pt x="854" y="538"/>
                </a:lnTo>
                <a:lnTo>
                  <a:pt x="854" y="474"/>
                </a:lnTo>
                <a:lnTo>
                  <a:pt x="0" y="0"/>
                </a:lnTo>
                <a:close/>
              </a:path>
            </a:pathLst>
          </a:custGeom>
          <a:solidFill>
            <a:srgbClr val="1B2C70">
              <a:alpha val="3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2" name="Freeform 586"/>
          <p:cNvSpPr/>
          <p:nvPr/>
        </p:nvSpPr>
        <p:spPr bwMode="auto">
          <a:xfrm>
            <a:off x="3814546" y="3415564"/>
            <a:ext cx="1539875" cy="854075"/>
          </a:xfrm>
          <a:custGeom>
            <a:avLst/>
            <a:gdLst>
              <a:gd name="T0" fmla="*/ 468 w 485"/>
              <a:gd name="T1" fmla="*/ 118 h 269"/>
              <a:gd name="T2" fmla="*/ 468 w 485"/>
              <a:gd name="T3" fmla="*/ 151 h 269"/>
              <a:gd name="T4" fmla="*/ 272 w 485"/>
              <a:gd name="T5" fmla="*/ 260 h 269"/>
              <a:gd name="T6" fmla="*/ 213 w 485"/>
              <a:gd name="T7" fmla="*/ 260 h 269"/>
              <a:gd name="T8" fmla="*/ 17 w 485"/>
              <a:gd name="T9" fmla="*/ 151 h 269"/>
              <a:gd name="T10" fmla="*/ 17 w 485"/>
              <a:gd name="T11" fmla="*/ 118 h 269"/>
              <a:gd name="T12" fmla="*/ 213 w 485"/>
              <a:gd name="T13" fmla="*/ 9 h 269"/>
              <a:gd name="T14" fmla="*/ 272 w 485"/>
              <a:gd name="T15" fmla="*/ 9 h 269"/>
              <a:gd name="T16" fmla="*/ 468 w 485"/>
              <a:gd name="T17" fmla="*/ 1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5" h="269">
                <a:moveTo>
                  <a:pt x="468" y="118"/>
                </a:moveTo>
                <a:cubicBezTo>
                  <a:pt x="485" y="127"/>
                  <a:pt x="485" y="142"/>
                  <a:pt x="468" y="151"/>
                </a:cubicBezTo>
                <a:cubicBezTo>
                  <a:pt x="272" y="260"/>
                  <a:pt x="272" y="260"/>
                  <a:pt x="272" y="260"/>
                </a:cubicBezTo>
                <a:cubicBezTo>
                  <a:pt x="256" y="269"/>
                  <a:pt x="229" y="269"/>
                  <a:pt x="213" y="260"/>
                </a:cubicBezTo>
                <a:cubicBezTo>
                  <a:pt x="17" y="151"/>
                  <a:pt x="17" y="151"/>
                  <a:pt x="17" y="151"/>
                </a:cubicBezTo>
                <a:cubicBezTo>
                  <a:pt x="0" y="142"/>
                  <a:pt x="0" y="127"/>
                  <a:pt x="17" y="118"/>
                </a:cubicBezTo>
                <a:cubicBezTo>
                  <a:pt x="213" y="9"/>
                  <a:pt x="213" y="9"/>
                  <a:pt x="213" y="9"/>
                </a:cubicBezTo>
                <a:cubicBezTo>
                  <a:pt x="229" y="0"/>
                  <a:pt x="256" y="0"/>
                  <a:pt x="272" y="9"/>
                </a:cubicBezTo>
                <a:lnTo>
                  <a:pt x="468" y="118"/>
                </a:lnTo>
                <a:close/>
              </a:path>
            </a:pathLst>
          </a:custGeom>
          <a:solidFill>
            <a:srgbClr val="B5B5B5">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3" name="Freeform 587"/>
          <p:cNvSpPr/>
          <p:nvPr/>
        </p:nvSpPr>
        <p:spPr bwMode="auto">
          <a:xfrm>
            <a:off x="3827246" y="3199664"/>
            <a:ext cx="1514475" cy="962025"/>
          </a:xfrm>
          <a:custGeom>
            <a:avLst/>
            <a:gdLst>
              <a:gd name="T0" fmla="*/ 477 w 477"/>
              <a:gd name="T1" fmla="*/ 135 h 303"/>
              <a:gd name="T2" fmla="*/ 477 w 477"/>
              <a:gd name="T3" fmla="*/ 169 h 303"/>
              <a:gd name="T4" fmla="*/ 464 w 477"/>
              <a:gd name="T5" fmla="*/ 185 h 303"/>
              <a:gd name="T6" fmla="*/ 268 w 477"/>
              <a:gd name="T7" fmla="*/ 294 h 303"/>
              <a:gd name="T8" fmla="*/ 209 w 477"/>
              <a:gd name="T9" fmla="*/ 294 h 303"/>
              <a:gd name="T10" fmla="*/ 13 w 477"/>
              <a:gd name="T11" fmla="*/ 185 h 303"/>
              <a:gd name="T12" fmla="*/ 0 w 477"/>
              <a:gd name="T13" fmla="*/ 169 h 303"/>
              <a:gd name="T14" fmla="*/ 0 w 477"/>
              <a:gd name="T15" fmla="*/ 135 h 303"/>
              <a:gd name="T16" fmla="*/ 13 w 477"/>
              <a:gd name="T17" fmla="*/ 118 h 303"/>
              <a:gd name="T18" fmla="*/ 209 w 477"/>
              <a:gd name="T19" fmla="*/ 9 h 303"/>
              <a:gd name="T20" fmla="*/ 268 w 477"/>
              <a:gd name="T21" fmla="*/ 9 h 303"/>
              <a:gd name="T22" fmla="*/ 464 w 477"/>
              <a:gd name="T23" fmla="*/ 118 h 303"/>
              <a:gd name="T24" fmla="*/ 477 w 477"/>
              <a:gd name="T25" fmla="*/ 135 h 303"/>
              <a:gd name="T26" fmla="*/ 477 w 477"/>
              <a:gd name="T27" fmla="*/ 13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303">
                <a:moveTo>
                  <a:pt x="477" y="135"/>
                </a:moveTo>
                <a:cubicBezTo>
                  <a:pt x="477" y="169"/>
                  <a:pt x="477" y="169"/>
                  <a:pt x="477" y="169"/>
                </a:cubicBezTo>
                <a:cubicBezTo>
                  <a:pt x="477" y="175"/>
                  <a:pt x="473" y="181"/>
                  <a:pt x="464" y="185"/>
                </a:cubicBezTo>
                <a:cubicBezTo>
                  <a:pt x="268" y="294"/>
                  <a:pt x="268" y="294"/>
                  <a:pt x="268" y="294"/>
                </a:cubicBezTo>
                <a:cubicBezTo>
                  <a:pt x="252" y="303"/>
                  <a:pt x="225" y="303"/>
                  <a:pt x="209" y="294"/>
                </a:cubicBezTo>
                <a:cubicBezTo>
                  <a:pt x="13" y="185"/>
                  <a:pt x="13" y="185"/>
                  <a:pt x="13" y="185"/>
                </a:cubicBezTo>
                <a:cubicBezTo>
                  <a:pt x="5" y="181"/>
                  <a:pt x="0" y="175"/>
                  <a:pt x="0" y="169"/>
                </a:cubicBezTo>
                <a:cubicBezTo>
                  <a:pt x="0" y="135"/>
                  <a:pt x="0" y="135"/>
                  <a:pt x="0" y="135"/>
                </a:cubicBezTo>
                <a:cubicBezTo>
                  <a:pt x="0" y="129"/>
                  <a:pt x="5" y="123"/>
                  <a:pt x="13" y="118"/>
                </a:cubicBezTo>
                <a:cubicBezTo>
                  <a:pt x="209" y="9"/>
                  <a:pt x="209" y="9"/>
                  <a:pt x="209" y="9"/>
                </a:cubicBezTo>
                <a:cubicBezTo>
                  <a:pt x="225" y="0"/>
                  <a:pt x="252" y="0"/>
                  <a:pt x="268" y="9"/>
                </a:cubicBezTo>
                <a:cubicBezTo>
                  <a:pt x="464" y="118"/>
                  <a:pt x="464" y="118"/>
                  <a:pt x="464" y="118"/>
                </a:cubicBezTo>
                <a:cubicBezTo>
                  <a:pt x="473" y="123"/>
                  <a:pt x="477" y="129"/>
                  <a:pt x="477" y="135"/>
                </a:cubicBezTo>
                <a:cubicBezTo>
                  <a:pt x="477" y="135"/>
                  <a:pt x="477" y="135"/>
                  <a:pt x="477" y="135"/>
                </a:cubicBezTo>
                <a:close/>
              </a:path>
            </a:pathLst>
          </a:custGeom>
          <a:solidFill>
            <a:srgbClr val="009F9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4" name="Oval 588"/>
          <p:cNvSpPr>
            <a:spLocks noChangeArrowheads="1"/>
          </p:cNvSpPr>
          <p:nvPr/>
        </p:nvSpPr>
        <p:spPr bwMode="auto">
          <a:xfrm>
            <a:off x="4189196" y="3517164"/>
            <a:ext cx="790575" cy="174625"/>
          </a:xfrm>
          <a:prstGeom prst="ellipse">
            <a:avLst/>
          </a:prstGeom>
          <a:solidFill>
            <a:srgbClr val="00000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5" name="Oval 589"/>
          <p:cNvSpPr>
            <a:spLocks noChangeArrowheads="1"/>
          </p:cNvSpPr>
          <p:nvPr/>
        </p:nvSpPr>
        <p:spPr bwMode="auto">
          <a:xfrm>
            <a:off x="4189196" y="2812313"/>
            <a:ext cx="790575" cy="793750"/>
          </a:xfrm>
          <a:prstGeom prst="ellipse">
            <a:avLst/>
          </a:prstGeom>
          <a:solidFill>
            <a:srgbClr val="FFFFFF"/>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6" name="Freeform 590"/>
          <p:cNvSpPr>
            <a:spLocks noEditPoints="1"/>
          </p:cNvSpPr>
          <p:nvPr/>
        </p:nvSpPr>
        <p:spPr bwMode="auto">
          <a:xfrm>
            <a:off x="4176496" y="2799613"/>
            <a:ext cx="815975" cy="819150"/>
          </a:xfrm>
          <a:custGeom>
            <a:avLst/>
            <a:gdLst>
              <a:gd name="T0" fmla="*/ 129 w 257"/>
              <a:gd name="T1" fmla="*/ 258 h 258"/>
              <a:gd name="T2" fmla="*/ 0 w 257"/>
              <a:gd name="T3" fmla="*/ 129 h 258"/>
              <a:gd name="T4" fmla="*/ 129 w 257"/>
              <a:gd name="T5" fmla="*/ 0 h 258"/>
              <a:gd name="T6" fmla="*/ 257 w 257"/>
              <a:gd name="T7" fmla="*/ 129 h 258"/>
              <a:gd name="T8" fmla="*/ 129 w 257"/>
              <a:gd name="T9" fmla="*/ 258 h 258"/>
              <a:gd name="T10" fmla="*/ 129 w 257"/>
              <a:gd name="T11" fmla="*/ 8 h 258"/>
              <a:gd name="T12" fmla="*/ 8 w 257"/>
              <a:gd name="T13" fmla="*/ 129 h 258"/>
              <a:gd name="T14" fmla="*/ 129 w 257"/>
              <a:gd name="T15" fmla="*/ 250 h 258"/>
              <a:gd name="T16" fmla="*/ 249 w 257"/>
              <a:gd name="T17" fmla="*/ 129 h 258"/>
              <a:gd name="T18" fmla="*/ 129 w 257"/>
              <a:gd name="T19" fmla="*/ 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258">
                <a:moveTo>
                  <a:pt x="129" y="258"/>
                </a:moveTo>
                <a:cubicBezTo>
                  <a:pt x="58" y="258"/>
                  <a:pt x="0" y="200"/>
                  <a:pt x="0" y="129"/>
                </a:cubicBezTo>
                <a:cubicBezTo>
                  <a:pt x="0" y="58"/>
                  <a:pt x="58" y="0"/>
                  <a:pt x="129" y="0"/>
                </a:cubicBezTo>
                <a:cubicBezTo>
                  <a:pt x="200" y="0"/>
                  <a:pt x="257" y="58"/>
                  <a:pt x="257" y="129"/>
                </a:cubicBezTo>
                <a:cubicBezTo>
                  <a:pt x="257" y="200"/>
                  <a:pt x="200" y="258"/>
                  <a:pt x="129" y="258"/>
                </a:cubicBezTo>
                <a:close/>
                <a:moveTo>
                  <a:pt x="129" y="8"/>
                </a:moveTo>
                <a:cubicBezTo>
                  <a:pt x="62" y="8"/>
                  <a:pt x="8" y="62"/>
                  <a:pt x="8" y="129"/>
                </a:cubicBezTo>
                <a:cubicBezTo>
                  <a:pt x="8" y="196"/>
                  <a:pt x="62" y="250"/>
                  <a:pt x="129" y="250"/>
                </a:cubicBezTo>
                <a:cubicBezTo>
                  <a:pt x="195" y="250"/>
                  <a:pt x="249" y="196"/>
                  <a:pt x="249" y="129"/>
                </a:cubicBezTo>
                <a:cubicBezTo>
                  <a:pt x="249" y="62"/>
                  <a:pt x="195" y="8"/>
                  <a:pt x="129" y="8"/>
                </a:cubicBezTo>
                <a:close/>
              </a:path>
            </a:pathLst>
          </a:custGeom>
          <a:solidFill>
            <a:srgbClr val="0070C0"/>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7" name="Freeform 591"/>
          <p:cNvSpPr>
            <a:spLocks noEditPoints="1"/>
          </p:cNvSpPr>
          <p:nvPr/>
        </p:nvSpPr>
        <p:spPr bwMode="auto">
          <a:xfrm>
            <a:off x="4411445" y="2967888"/>
            <a:ext cx="349250" cy="508000"/>
          </a:xfrm>
          <a:custGeom>
            <a:avLst/>
            <a:gdLst>
              <a:gd name="T0" fmla="*/ 29 w 110"/>
              <a:gd name="T1" fmla="*/ 123 h 160"/>
              <a:gd name="T2" fmla="*/ 30 w 110"/>
              <a:gd name="T3" fmla="*/ 131 h 160"/>
              <a:gd name="T4" fmla="*/ 55 w 110"/>
              <a:gd name="T5" fmla="*/ 136 h 160"/>
              <a:gd name="T6" fmla="*/ 79 w 110"/>
              <a:gd name="T7" fmla="*/ 131 h 160"/>
              <a:gd name="T8" fmla="*/ 80 w 110"/>
              <a:gd name="T9" fmla="*/ 123 h 160"/>
              <a:gd name="T10" fmla="*/ 55 w 110"/>
              <a:gd name="T11" fmla="*/ 128 h 160"/>
              <a:gd name="T12" fmla="*/ 29 w 110"/>
              <a:gd name="T13" fmla="*/ 123 h 160"/>
              <a:gd name="T14" fmla="*/ 31 w 110"/>
              <a:gd name="T15" fmla="*/ 139 h 160"/>
              <a:gd name="T16" fmla="*/ 33 w 110"/>
              <a:gd name="T17" fmla="*/ 147 h 160"/>
              <a:gd name="T18" fmla="*/ 40 w 110"/>
              <a:gd name="T19" fmla="*/ 151 h 160"/>
              <a:gd name="T20" fmla="*/ 41 w 110"/>
              <a:gd name="T21" fmla="*/ 156 h 160"/>
              <a:gd name="T22" fmla="*/ 55 w 110"/>
              <a:gd name="T23" fmla="*/ 160 h 160"/>
              <a:gd name="T24" fmla="*/ 69 w 110"/>
              <a:gd name="T25" fmla="*/ 156 h 160"/>
              <a:gd name="T26" fmla="*/ 69 w 110"/>
              <a:gd name="T27" fmla="*/ 151 h 160"/>
              <a:gd name="T28" fmla="*/ 77 w 110"/>
              <a:gd name="T29" fmla="*/ 147 h 160"/>
              <a:gd name="T30" fmla="*/ 78 w 110"/>
              <a:gd name="T31" fmla="*/ 139 h 160"/>
              <a:gd name="T32" fmla="*/ 55 w 110"/>
              <a:gd name="T33" fmla="*/ 142 h 160"/>
              <a:gd name="T34" fmla="*/ 31 w 110"/>
              <a:gd name="T35" fmla="*/ 139 h 160"/>
              <a:gd name="T36" fmla="*/ 55 w 110"/>
              <a:gd name="T37" fmla="*/ 0 h 160"/>
              <a:gd name="T38" fmla="*/ 0 w 110"/>
              <a:gd name="T39" fmla="*/ 55 h 160"/>
              <a:gd name="T40" fmla="*/ 26 w 110"/>
              <a:gd name="T41" fmla="*/ 102 h 160"/>
              <a:gd name="T42" fmla="*/ 28 w 110"/>
              <a:gd name="T43" fmla="*/ 116 h 160"/>
              <a:gd name="T44" fmla="*/ 55 w 110"/>
              <a:gd name="T45" fmla="*/ 121 h 160"/>
              <a:gd name="T46" fmla="*/ 81 w 110"/>
              <a:gd name="T47" fmla="*/ 116 h 160"/>
              <a:gd name="T48" fmla="*/ 83 w 110"/>
              <a:gd name="T49" fmla="*/ 102 h 160"/>
              <a:gd name="T50" fmla="*/ 110 w 110"/>
              <a:gd name="T51" fmla="*/ 55 h 160"/>
              <a:gd name="T52" fmla="*/ 55 w 110"/>
              <a:gd name="T53" fmla="*/ 0 h 160"/>
              <a:gd name="T54" fmla="*/ 75 w 110"/>
              <a:gd name="T55" fmla="*/ 96 h 160"/>
              <a:gd name="T56" fmla="*/ 74 w 110"/>
              <a:gd name="T57" fmla="*/ 109 h 160"/>
              <a:gd name="T58" fmla="*/ 55 w 110"/>
              <a:gd name="T59" fmla="*/ 112 h 160"/>
              <a:gd name="T60" fmla="*/ 36 w 110"/>
              <a:gd name="T61" fmla="*/ 109 h 160"/>
              <a:gd name="T62" fmla="*/ 34 w 110"/>
              <a:gd name="T63" fmla="*/ 96 h 160"/>
              <a:gd name="T64" fmla="*/ 9 w 110"/>
              <a:gd name="T65" fmla="*/ 55 h 160"/>
              <a:gd name="T66" fmla="*/ 55 w 110"/>
              <a:gd name="T67" fmla="*/ 10 h 160"/>
              <a:gd name="T68" fmla="*/ 100 w 110"/>
              <a:gd name="T69" fmla="*/ 55 h 160"/>
              <a:gd name="T70" fmla="*/ 75 w 110"/>
              <a:gd name="T71" fmla="*/ 96 h 160"/>
              <a:gd name="T72" fmla="*/ 55 w 110"/>
              <a:gd name="T73" fmla="*/ 23 h 160"/>
              <a:gd name="T74" fmla="*/ 57 w 110"/>
              <a:gd name="T75" fmla="*/ 20 h 160"/>
              <a:gd name="T76" fmla="*/ 55 w 110"/>
              <a:gd name="T77" fmla="*/ 17 h 160"/>
              <a:gd name="T78" fmla="*/ 16 w 110"/>
              <a:gd name="T79" fmla="*/ 55 h 160"/>
              <a:gd name="T80" fmla="*/ 19 w 110"/>
              <a:gd name="T81" fmla="*/ 58 h 160"/>
              <a:gd name="T82" fmla="*/ 22 w 110"/>
              <a:gd name="T83" fmla="*/ 55 h 160"/>
              <a:gd name="T84" fmla="*/ 55 w 110"/>
              <a:gd name="T85" fmla="*/ 23 h 160"/>
              <a:gd name="T86" fmla="*/ 67 w 110"/>
              <a:gd name="T87" fmla="*/ 75 h 160"/>
              <a:gd name="T88" fmla="*/ 55 w 110"/>
              <a:gd name="T89" fmla="*/ 53 h 160"/>
              <a:gd name="T90" fmla="*/ 42 w 110"/>
              <a:gd name="T91" fmla="*/ 75 h 160"/>
              <a:gd name="T92" fmla="*/ 37 w 110"/>
              <a:gd name="T93" fmla="*/ 65 h 160"/>
              <a:gd name="T94" fmla="*/ 29 w 110"/>
              <a:gd name="T95" fmla="*/ 68 h 160"/>
              <a:gd name="T96" fmla="*/ 42 w 110"/>
              <a:gd name="T97" fmla="*/ 94 h 160"/>
              <a:gd name="T98" fmla="*/ 55 w 110"/>
              <a:gd name="T99" fmla="*/ 71 h 160"/>
              <a:gd name="T100" fmla="*/ 67 w 110"/>
              <a:gd name="T101" fmla="*/ 94 h 160"/>
              <a:gd name="T102" fmla="*/ 80 w 110"/>
              <a:gd name="T103" fmla="*/ 68 h 160"/>
              <a:gd name="T104" fmla="*/ 72 w 110"/>
              <a:gd name="T105" fmla="*/ 65 h 160"/>
              <a:gd name="T106" fmla="*/ 67 w 110"/>
              <a:gd name="T107" fmla="*/ 7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29" y="123"/>
                </a:moveTo>
                <a:cubicBezTo>
                  <a:pt x="30" y="131"/>
                  <a:pt x="30" y="131"/>
                  <a:pt x="30" y="131"/>
                </a:cubicBezTo>
                <a:cubicBezTo>
                  <a:pt x="37" y="134"/>
                  <a:pt x="46" y="136"/>
                  <a:pt x="55" y="136"/>
                </a:cubicBezTo>
                <a:cubicBezTo>
                  <a:pt x="63" y="136"/>
                  <a:pt x="72" y="134"/>
                  <a:pt x="79" y="131"/>
                </a:cubicBezTo>
                <a:cubicBezTo>
                  <a:pt x="80" y="123"/>
                  <a:pt x="80" y="123"/>
                  <a:pt x="80" y="123"/>
                </a:cubicBezTo>
                <a:cubicBezTo>
                  <a:pt x="72" y="126"/>
                  <a:pt x="64" y="128"/>
                  <a:pt x="55" y="128"/>
                </a:cubicBezTo>
                <a:cubicBezTo>
                  <a:pt x="45" y="128"/>
                  <a:pt x="37" y="126"/>
                  <a:pt x="29" y="123"/>
                </a:cubicBezTo>
                <a:close/>
                <a:moveTo>
                  <a:pt x="31" y="139"/>
                </a:moveTo>
                <a:cubicBezTo>
                  <a:pt x="33" y="147"/>
                  <a:pt x="33" y="147"/>
                  <a:pt x="33" y="147"/>
                </a:cubicBezTo>
                <a:cubicBezTo>
                  <a:pt x="33" y="147"/>
                  <a:pt x="34" y="150"/>
                  <a:pt x="40" y="151"/>
                </a:cubicBezTo>
                <a:cubicBezTo>
                  <a:pt x="41" y="156"/>
                  <a:pt x="41" y="156"/>
                  <a:pt x="41" y="156"/>
                </a:cubicBezTo>
                <a:cubicBezTo>
                  <a:pt x="41" y="156"/>
                  <a:pt x="44" y="160"/>
                  <a:pt x="55" y="160"/>
                </a:cubicBezTo>
                <a:cubicBezTo>
                  <a:pt x="65" y="160"/>
                  <a:pt x="69" y="156"/>
                  <a:pt x="69" y="156"/>
                </a:cubicBezTo>
                <a:cubicBezTo>
                  <a:pt x="69" y="151"/>
                  <a:pt x="69" y="151"/>
                  <a:pt x="69" y="151"/>
                </a:cubicBezTo>
                <a:cubicBezTo>
                  <a:pt x="75" y="150"/>
                  <a:pt x="77" y="147"/>
                  <a:pt x="77" y="147"/>
                </a:cubicBezTo>
                <a:cubicBezTo>
                  <a:pt x="78" y="139"/>
                  <a:pt x="78" y="139"/>
                  <a:pt x="78" y="139"/>
                </a:cubicBezTo>
                <a:cubicBezTo>
                  <a:pt x="71" y="141"/>
                  <a:pt x="63" y="142"/>
                  <a:pt x="55" y="142"/>
                </a:cubicBezTo>
                <a:cubicBezTo>
                  <a:pt x="46" y="142"/>
                  <a:pt x="38" y="141"/>
                  <a:pt x="31" y="139"/>
                </a:cubicBezTo>
                <a:close/>
                <a:moveTo>
                  <a:pt x="55" y="0"/>
                </a:moveTo>
                <a:cubicBezTo>
                  <a:pt x="24" y="0"/>
                  <a:pt x="0" y="25"/>
                  <a:pt x="0" y="55"/>
                </a:cubicBezTo>
                <a:cubicBezTo>
                  <a:pt x="0" y="75"/>
                  <a:pt x="10" y="92"/>
                  <a:pt x="26" y="102"/>
                </a:cubicBezTo>
                <a:cubicBezTo>
                  <a:pt x="28" y="116"/>
                  <a:pt x="28" y="116"/>
                  <a:pt x="28" y="116"/>
                </a:cubicBezTo>
                <a:cubicBezTo>
                  <a:pt x="36" y="119"/>
                  <a:pt x="45" y="121"/>
                  <a:pt x="55" y="121"/>
                </a:cubicBezTo>
                <a:cubicBezTo>
                  <a:pt x="64" y="121"/>
                  <a:pt x="73" y="119"/>
                  <a:pt x="81" y="116"/>
                </a:cubicBezTo>
                <a:cubicBezTo>
                  <a:pt x="83" y="102"/>
                  <a:pt x="83" y="102"/>
                  <a:pt x="83" y="102"/>
                </a:cubicBezTo>
                <a:cubicBezTo>
                  <a:pt x="99" y="92"/>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4" y="96"/>
                  <a:pt x="34" y="96"/>
                  <a:pt x="34" y="96"/>
                </a:cubicBezTo>
                <a:cubicBezTo>
                  <a:pt x="19" y="88"/>
                  <a:pt x="9" y="73"/>
                  <a:pt x="9" y="55"/>
                </a:cubicBezTo>
                <a:cubicBezTo>
                  <a:pt x="9" y="30"/>
                  <a:pt x="30" y="10"/>
                  <a:pt x="55" y="10"/>
                </a:cubicBezTo>
                <a:cubicBezTo>
                  <a:pt x="80" y="10"/>
                  <a:pt x="100" y="30"/>
                  <a:pt x="100" y="55"/>
                </a:cubicBezTo>
                <a:cubicBezTo>
                  <a:pt x="100" y="73"/>
                  <a:pt x="90" y="88"/>
                  <a:pt x="75" y="96"/>
                </a:cubicBezTo>
                <a:close/>
                <a:moveTo>
                  <a:pt x="55" y="23"/>
                </a:moveTo>
                <a:cubicBezTo>
                  <a:pt x="56" y="23"/>
                  <a:pt x="57" y="21"/>
                  <a:pt x="57" y="20"/>
                </a:cubicBezTo>
                <a:cubicBezTo>
                  <a:pt x="57" y="18"/>
                  <a:pt x="56" y="17"/>
                  <a:pt x="55" y="17"/>
                </a:cubicBezTo>
                <a:cubicBezTo>
                  <a:pt x="34" y="17"/>
                  <a:pt x="16" y="34"/>
                  <a:pt x="16" y="55"/>
                </a:cubicBezTo>
                <a:cubicBezTo>
                  <a:pt x="16" y="57"/>
                  <a:pt x="18" y="58"/>
                  <a:pt x="19" y="58"/>
                </a:cubicBezTo>
                <a:cubicBezTo>
                  <a:pt x="21" y="58"/>
                  <a:pt x="22" y="57"/>
                  <a:pt x="22" y="55"/>
                </a:cubicBezTo>
                <a:cubicBezTo>
                  <a:pt x="22" y="37"/>
                  <a:pt x="37" y="23"/>
                  <a:pt x="55" y="23"/>
                </a:cubicBezTo>
                <a:close/>
                <a:moveTo>
                  <a:pt x="67" y="75"/>
                </a:moveTo>
                <a:cubicBezTo>
                  <a:pt x="55" y="53"/>
                  <a:pt x="55" y="53"/>
                  <a:pt x="55" y="53"/>
                </a:cubicBezTo>
                <a:cubicBezTo>
                  <a:pt x="42" y="75"/>
                  <a:pt x="42" y="75"/>
                  <a:pt x="42" y="75"/>
                </a:cubicBezTo>
                <a:cubicBezTo>
                  <a:pt x="37" y="65"/>
                  <a:pt x="37" y="65"/>
                  <a:pt x="37" y="65"/>
                </a:cubicBezTo>
                <a:cubicBezTo>
                  <a:pt x="29" y="68"/>
                  <a:pt x="29" y="68"/>
                  <a:pt x="29" y="68"/>
                </a:cubicBezTo>
                <a:cubicBezTo>
                  <a:pt x="42" y="94"/>
                  <a:pt x="42" y="94"/>
                  <a:pt x="42" y="94"/>
                </a:cubicBezTo>
                <a:cubicBezTo>
                  <a:pt x="55" y="71"/>
                  <a:pt x="55" y="71"/>
                  <a:pt x="55" y="71"/>
                </a:cubicBezTo>
                <a:cubicBezTo>
                  <a:pt x="67" y="94"/>
                  <a:pt x="67" y="94"/>
                  <a:pt x="67" y="94"/>
                </a:cubicBezTo>
                <a:cubicBezTo>
                  <a:pt x="80" y="68"/>
                  <a:pt x="80" y="68"/>
                  <a:pt x="80" y="68"/>
                </a:cubicBezTo>
                <a:cubicBezTo>
                  <a:pt x="72" y="65"/>
                  <a:pt x="72" y="65"/>
                  <a:pt x="72" y="65"/>
                </a:cubicBezTo>
                <a:lnTo>
                  <a:pt x="67" y="75"/>
                </a:lnTo>
                <a:close/>
              </a:path>
            </a:pathLst>
          </a:custGeom>
          <a:solidFill>
            <a:srgbClr val="0070C0"/>
          </a:solidFill>
          <a:ln>
            <a:solidFill>
              <a:srgbClr val="009F9A"/>
            </a:solid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8" name="Freeform 616"/>
          <p:cNvSpPr/>
          <p:nvPr/>
        </p:nvSpPr>
        <p:spPr bwMode="auto">
          <a:xfrm>
            <a:off x="3827246" y="3628288"/>
            <a:ext cx="1514475" cy="533400"/>
          </a:xfrm>
          <a:custGeom>
            <a:avLst/>
            <a:gdLst>
              <a:gd name="T0" fmla="*/ 477 w 477"/>
              <a:gd name="T1" fmla="*/ 0 h 168"/>
              <a:gd name="T2" fmla="*/ 464 w 477"/>
              <a:gd name="T3" fmla="*/ 16 h 168"/>
              <a:gd name="T4" fmla="*/ 268 w 477"/>
              <a:gd name="T5" fmla="*/ 125 h 168"/>
              <a:gd name="T6" fmla="*/ 209 w 477"/>
              <a:gd name="T7" fmla="*/ 125 h 168"/>
              <a:gd name="T8" fmla="*/ 13 w 477"/>
              <a:gd name="T9" fmla="*/ 16 h 168"/>
              <a:gd name="T10" fmla="*/ 0 w 477"/>
              <a:gd name="T11" fmla="*/ 0 h 168"/>
              <a:gd name="T12" fmla="*/ 0 w 477"/>
              <a:gd name="T13" fmla="*/ 34 h 168"/>
              <a:gd name="T14" fmla="*/ 13 w 477"/>
              <a:gd name="T15" fmla="*/ 50 h 168"/>
              <a:gd name="T16" fmla="*/ 209 w 477"/>
              <a:gd name="T17" fmla="*/ 159 h 168"/>
              <a:gd name="T18" fmla="*/ 268 w 477"/>
              <a:gd name="T19" fmla="*/ 159 h 168"/>
              <a:gd name="T20" fmla="*/ 464 w 477"/>
              <a:gd name="T21" fmla="*/ 50 h 168"/>
              <a:gd name="T22" fmla="*/ 477 w 477"/>
              <a:gd name="T23" fmla="*/ 34 h 168"/>
              <a:gd name="T24" fmla="*/ 477 w 477"/>
              <a:gd name="T2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68">
                <a:moveTo>
                  <a:pt x="477" y="0"/>
                </a:moveTo>
                <a:cubicBezTo>
                  <a:pt x="477" y="6"/>
                  <a:pt x="473" y="12"/>
                  <a:pt x="464" y="16"/>
                </a:cubicBezTo>
                <a:cubicBezTo>
                  <a:pt x="268" y="125"/>
                  <a:pt x="268" y="125"/>
                  <a:pt x="268" y="125"/>
                </a:cubicBezTo>
                <a:cubicBezTo>
                  <a:pt x="252" y="134"/>
                  <a:pt x="225" y="134"/>
                  <a:pt x="209" y="125"/>
                </a:cubicBezTo>
                <a:cubicBezTo>
                  <a:pt x="13" y="16"/>
                  <a:pt x="13" y="16"/>
                  <a:pt x="13" y="16"/>
                </a:cubicBezTo>
                <a:cubicBezTo>
                  <a:pt x="5" y="12"/>
                  <a:pt x="0" y="6"/>
                  <a:pt x="0" y="0"/>
                </a:cubicBezTo>
                <a:cubicBezTo>
                  <a:pt x="0" y="34"/>
                  <a:pt x="0" y="34"/>
                  <a:pt x="0" y="34"/>
                </a:cubicBezTo>
                <a:cubicBezTo>
                  <a:pt x="0" y="40"/>
                  <a:pt x="5" y="46"/>
                  <a:pt x="13" y="50"/>
                </a:cubicBezTo>
                <a:cubicBezTo>
                  <a:pt x="209" y="159"/>
                  <a:pt x="209" y="159"/>
                  <a:pt x="209" y="159"/>
                </a:cubicBezTo>
                <a:cubicBezTo>
                  <a:pt x="225" y="168"/>
                  <a:pt x="252" y="168"/>
                  <a:pt x="268" y="159"/>
                </a:cubicBezTo>
                <a:cubicBezTo>
                  <a:pt x="464" y="50"/>
                  <a:pt x="464" y="50"/>
                  <a:pt x="464" y="50"/>
                </a:cubicBezTo>
                <a:cubicBezTo>
                  <a:pt x="473" y="46"/>
                  <a:pt x="477" y="40"/>
                  <a:pt x="477" y="34"/>
                </a:cubicBezTo>
                <a:lnTo>
                  <a:pt x="477" y="0"/>
                </a:lnTo>
                <a:close/>
              </a:path>
            </a:pathLst>
          </a:custGeom>
          <a:solidFill>
            <a:srgbClr val="000000">
              <a:alpha val="15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9" name="文本框 68"/>
          <p:cNvSpPr txBox="1"/>
          <p:nvPr/>
        </p:nvSpPr>
        <p:spPr>
          <a:xfrm>
            <a:off x="1482239" y="3920613"/>
            <a:ext cx="1874655" cy="645160"/>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工单服务时效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售后服务费</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客户问题一次解决率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70" name="文本框 69"/>
          <p:cNvSpPr txBox="1"/>
          <p:nvPr/>
        </p:nvSpPr>
        <p:spPr>
          <a:xfrm>
            <a:off x="5340351" y="5652643"/>
            <a:ext cx="1830705" cy="275590"/>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客户满意度</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1" name="Straight Connector 9"/>
          <p:cNvCxnSpPr/>
          <p:nvPr/>
        </p:nvCxnSpPr>
        <p:spPr>
          <a:xfrm flipV="1">
            <a:off x="9261436" y="3785780"/>
            <a:ext cx="1758864" cy="8053"/>
          </a:xfrm>
          <a:prstGeom prst="line">
            <a:avLst/>
          </a:prstGeom>
          <a:noFill/>
          <a:ln w="25400" cap="rnd" cmpd="sng" algn="ctr">
            <a:solidFill>
              <a:srgbClr val="009F9A"/>
            </a:solidFill>
            <a:prstDash val="solid"/>
            <a:miter lim="800000"/>
          </a:ln>
          <a:effectLst/>
        </p:spPr>
      </p:cxnSp>
      <p:sp>
        <p:nvSpPr>
          <p:cNvPr id="72" name="文本框 71"/>
          <p:cNvSpPr txBox="1"/>
          <p:nvPr/>
        </p:nvSpPr>
        <p:spPr>
          <a:xfrm>
            <a:off x="9129818" y="3822866"/>
            <a:ext cx="1830705" cy="1753235"/>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客诉次数</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客诉率</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客诉处理时效</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方案闭环时效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客诉处理时效</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现场闭环时效</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客诉损失（客诉处理预估成本）</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endParaRPr lang="zh-CN" altLang="en-US" sz="1200" b="1" dirty="0">
              <a:solidFill>
                <a:srgbClr val="000000"/>
              </a:solidFill>
              <a:latin typeface="微软雅黑" panose="020B0503020204020204" pitchFamily="34" charset="-122"/>
              <a:ea typeface="微软雅黑" panose="020B0503020204020204" pitchFamily="34" charset="-122"/>
              <a:cs typeface="Helvetica"/>
            </a:endParaRPr>
          </a:p>
        </p:txBody>
      </p:sp>
      <p:cxnSp>
        <p:nvCxnSpPr>
          <p:cNvPr id="73" name="Straight Connector 9"/>
          <p:cNvCxnSpPr/>
          <p:nvPr/>
        </p:nvCxnSpPr>
        <p:spPr>
          <a:xfrm>
            <a:off x="5333058" y="2214641"/>
            <a:ext cx="1780123" cy="0"/>
          </a:xfrm>
          <a:prstGeom prst="line">
            <a:avLst/>
          </a:prstGeom>
          <a:noFill/>
          <a:ln w="25400" cap="rnd" cmpd="sng" algn="ctr">
            <a:solidFill>
              <a:srgbClr val="009F9A"/>
            </a:solidFill>
            <a:prstDash val="solid"/>
            <a:miter lim="800000"/>
          </a:ln>
          <a:effectLst/>
        </p:spPr>
      </p:cxnSp>
      <p:sp>
        <p:nvSpPr>
          <p:cNvPr id="74" name="TextBox 10"/>
          <p:cNvSpPr txBox="1"/>
          <p:nvPr/>
        </p:nvSpPr>
        <p:spPr>
          <a:xfrm>
            <a:off x="5354421" y="1867509"/>
            <a:ext cx="1425575" cy="245745"/>
          </a:xfrm>
          <a:prstGeom prst="rect">
            <a:avLst/>
          </a:prstGeom>
          <a:noFill/>
        </p:spPr>
        <p:txBody>
          <a:bodyPr wrap="square" lIns="0" tIns="0" rIns="0" bIns="0" rtlCol="0">
            <a:spAutoFit/>
          </a:bodyPr>
          <a:lstStyle/>
          <a:p>
            <a:pPr algn="ctr">
              <a:defRPr/>
            </a:pPr>
            <a:r>
              <a:rPr lang="en-US" altLang="zh-CN" sz="1600" b="1" kern="0" dirty="0">
                <a:solidFill>
                  <a:srgbClr val="000000"/>
                </a:solidFill>
                <a:latin typeface="微软雅黑" panose="020B0503020204020204" pitchFamily="34" charset="-122"/>
                <a:ea typeface="微软雅黑" panose="020B0503020204020204" pitchFamily="34" charset="-122"/>
                <a:cs typeface="Helvetica"/>
              </a:rPr>
              <a:t>A</a:t>
            </a:r>
            <a:r>
              <a:rPr lang="zh-CN" altLang="en-US" sz="1600" b="1" kern="0" dirty="0">
                <a:solidFill>
                  <a:srgbClr val="000000"/>
                </a:solidFill>
                <a:latin typeface="微软雅黑" panose="020B0503020204020204" pitchFamily="34" charset="-122"/>
                <a:ea typeface="微软雅黑" panose="020B0503020204020204" pitchFamily="34" charset="-122"/>
                <a:cs typeface="Helvetica"/>
              </a:rPr>
              <a:t>、增值服务</a:t>
            </a:r>
            <a:endParaRPr lang="en-US" sz="16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75" name="文本框 74"/>
          <p:cNvSpPr txBox="1"/>
          <p:nvPr/>
        </p:nvSpPr>
        <p:spPr>
          <a:xfrm>
            <a:off x="5301000" y="2296512"/>
            <a:ext cx="2052349" cy="829945"/>
          </a:xfrm>
          <a:prstGeom prst="rect">
            <a:avLst/>
          </a:prstGeom>
          <a:noFill/>
        </p:spPr>
        <p:txBody>
          <a:bodyPr wrap="square" rtlCol="0">
            <a:spAutoFit/>
          </a:bodyPr>
          <a:lstStyle/>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签单</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收入（开票）</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r>
              <a:rPr lang="zh-CN" altLang="en-US" sz="1200" b="1" dirty="0">
                <a:solidFill>
                  <a:srgbClr val="000000"/>
                </a:solidFill>
                <a:latin typeface="微软雅黑" panose="020B0503020204020204" pitchFamily="34" charset="-122"/>
                <a:ea typeface="微软雅黑" panose="020B0503020204020204" pitchFamily="34" charset="-122"/>
                <a:cs typeface="Helvetica"/>
              </a:rPr>
              <a:t>增值服务</a:t>
            </a:r>
            <a:r>
              <a:rPr lang="en-US" altLang="zh-CN" sz="1200" b="1" dirty="0">
                <a:solidFill>
                  <a:srgbClr val="000000"/>
                </a:solidFill>
                <a:latin typeface="微软雅黑" panose="020B0503020204020204" pitchFamily="34" charset="-122"/>
                <a:ea typeface="微软雅黑" panose="020B0503020204020204" pitchFamily="34" charset="-122"/>
                <a:cs typeface="Helvetica"/>
              </a:rPr>
              <a:t>-</a:t>
            </a:r>
            <a:r>
              <a:rPr lang="zh-CN" altLang="en-US" sz="1200" b="1" dirty="0">
                <a:solidFill>
                  <a:srgbClr val="000000"/>
                </a:solidFill>
                <a:latin typeface="微软雅黑" panose="020B0503020204020204" pitchFamily="34" charset="-122"/>
                <a:ea typeface="微软雅黑" panose="020B0503020204020204" pitchFamily="34" charset="-122"/>
                <a:cs typeface="Helvetica"/>
              </a:rPr>
              <a:t>回款</a:t>
            </a: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a:p>
            <a:pPr marL="171450" indent="-171450" eaLnBrk="0" fontAlgn="base" hangingPunct="0">
              <a:spcBef>
                <a:spcPct val="0"/>
              </a:spcBef>
              <a:spcAft>
                <a:spcPct val="0"/>
              </a:spcAft>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76" name="文本框 27"/>
          <p:cNvSpPr txBox="1"/>
          <p:nvPr>
            <p:custDataLst>
              <p:tags r:id="rId1"/>
            </p:custDataLst>
          </p:nvPr>
        </p:nvSpPr>
        <p:spPr>
          <a:xfrm>
            <a:off x="7446879" y="5568397"/>
            <a:ext cx="3271623" cy="1014730"/>
          </a:xfrm>
          <a:prstGeom prst="rect">
            <a:avLst/>
          </a:prstGeom>
          <a:solidFill>
            <a:srgbClr val="000000">
              <a:alpha val="0"/>
            </a:srgbClr>
          </a:solidFill>
        </p:spPr>
        <p:txBody>
          <a:bodyPr wrap="square" rtlCol="0">
            <a:spAutoFit/>
          </a:bodyPr>
          <a:lstStyle/>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备注：</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差旅费用：按责任部门、到维修工单</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工单服务时效：按现场服务</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远程服务</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返修服务；按到场</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响应</a:t>
            </a:r>
            <a:r>
              <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a:t>
            </a: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处理；</a:t>
            </a:r>
            <a:endParaRPr lang="en-US" altLang="zh-CN"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a:p>
            <a:pPr defTabSz="1219200" fontAlgn="base">
              <a:spcBef>
                <a:spcPct val="0"/>
              </a:spcBef>
              <a:spcAft>
                <a:spcPct val="0"/>
              </a:spcAft>
              <a:defRPr/>
            </a:pPr>
            <a:r>
              <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rPr>
              <a:t>客诉损失：按问题维度；按产品维度</a:t>
            </a:r>
            <a:endParaRPr lang="zh-CN" altLang="en-US" sz="1200" dirty="0">
              <a:solidFill>
                <a:srgbClr val="000000"/>
              </a:solidFill>
              <a:latin typeface="微软雅黑" panose="020B0503020204020204" pitchFamily="34" charset="-122"/>
              <a:ea typeface="微软雅黑" panose="020B0503020204020204" pitchFamily="34" charset="-122"/>
              <a:cs typeface="Helvetica"/>
              <a:sym typeface="Helvetica Neue" panose="020005030000000200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5</a:t>
            </a:r>
            <a:r>
              <a:rPr lang="zh-CN" altLang="en-US" kern="0" dirty="0">
                <a:solidFill>
                  <a:srgbClr val="000000"/>
                </a:solidFill>
                <a:cs typeface="Helvetica"/>
                <a:sym typeface="+mn-ea"/>
              </a:rPr>
              <a:t>、大客户持续经营</a:t>
            </a:r>
            <a:r>
              <a:rPr lang="en-US" altLang="zh-CN" kern="0" dirty="0">
                <a:solidFill>
                  <a:srgbClr val="000000"/>
                </a:solidFill>
                <a:cs typeface="Helvetica"/>
                <a:sym typeface="+mn-ea"/>
              </a:rPr>
              <a:t>MCR</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 name="标注: 弯曲线形(无边框) 33"/>
          <p:cNvSpPr/>
          <p:nvPr/>
        </p:nvSpPr>
        <p:spPr>
          <a:xfrm>
            <a:off x="7449856" y="2895384"/>
            <a:ext cx="998278" cy="129527"/>
          </a:xfrm>
          <a:prstGeom prst="callout2">
            <a:avLst>
              <a:gd name="adj1" fmla="val 53382"/>
              <a:gd name="adj2" fmla="val 100919"/>
              <a:gd name="adj3" fmla="val 52532"/>
              <a:gd name="adj4" fmla="val 113799"/>
              <a:gd name="adj5" fmla="val 204175"/>
              <a:gd name="adj6" fmla="val 1325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3" name="椭圆 22"/>
          <p:cNvSpPr/>
          <p:nvPr/>
        </p:nvSpPr>
        <p:spPr>
          <a:xfrm>
            <a:off x="8267897" y="3099319"/>
            <a:ext cx="1633692" cy="1680666"/>
          </a:xfrm>
          <a:prstGeom prst="ellipse">
            <a:avLst/>
          </a:prstGeom>
          <a:noFill/>
          <a:ln w="28575" cap="flat" cmpd="sng" algn="ctr">
            <a:solidFill>
              <a:srgbClr val="0C7F8A"/>
            </a:solidFill>
            <a:prstDash val="sysDash"/>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24" name="矩形 23"/>
          <p:cNvSpPr/>
          <p:nvPr/>
        </p:nvSpPr>
        <p:spPr>
          <a:xfrm>
            <a:off x="10147402" y="4502764"/>
            <a:ext cx="274426" cy="246235"/>
          </a:xfrm>
          <a:prstGeom prst="rect">
            <a:avLst/>
          </a:prstGeom>
          <a:noFill/>
        </p:spPr>
        <p:txBody>
          <a:bodyPr wrap="none">
            <a:spAutoFit/>
          </a:bodyPr>
          <a:lstStyle/>
          <a:p>
            <a:pPr eaLnBrk="0" fontAlgn="base" hangingPunct="0">
              <a:spcBef>
                <a:spcPct val="0"/>
              </a:spcBef>
              <a:spcAft>
                <a:spcPct val="0"/>
              </a:spcAft>
              <a:defRPr/>
            </a:pPr>
            <a:r>
              <a:rPr lang="en-US" altLang="zh-CN" sz="1000" b="1" kern="0" dirty="0">
                <a:solidFill>
                  <a:srgbClr val="FFFFFF"/>
                </a:solidFill>
                <a:latin typeface="微软雅黑" panose="020B0503020204020204" pitchFamily="34" charset="-122"/>
                <a:ea typeface="微软雅黑" panose="020B0503020204020204" pitchFamily="34" charset="-122"/>
                <a:cs typeface="Helvetica"/>
              </a:rPr>
              <a:t>X</a:t>
            </a:r>
            <a:endParaRPr lang="en-US" altLang="zh-CN"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25" name="流程图: 终止 32"/>
          <p:cNvSpPr/>
          <p:nvPr/>
        </p:nvSpPr>
        <p:spPr>
          <a:xfrm>
            <a:off x="7231008" y="2784270"/>
            <a:ext cx="1216804" cy="244002"/>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6" name="矩形 25"/>
          <p:cNvSpPr/>
          <p:nvPr/>
        </p:nvSpPr>
        <p:spPr>
          <a:xfrm>
            <a:off x="7359680" y="2780356"/>
            <a:ext cx="974752" cy="24623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基础属性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27" name="椭圆 26"/>
          <p:cNvSpPr/>
          <p:nvPr/>
        </p:nvSpPr>
        <p:spPr>
          <a:xfrm>
            <a:off x="8706970" y="3100037"/>
            <a:ext cx="113930" cy="12648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28" name="流程图: 终止 34"/>
          <p:cNvSpPr/>
          <p:nvPr/>
        </p:nvSpPr>
        <p:spPr>
          <a:xfrm>
            <a:off x="6823075" y="3704368"/>
            <a:ext cx="1102283" cy="244002"/>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AE4845">
                  <a:lumMod val="75000"/>
                </a:srgbClr>
              </a:solidFill>
              <a:latin typeface="微软雅黑" panose="020B0503020204020204" pitchFamily="34" charset="-122"/>
              <a:ea typeface="微软雅黑" panose="020B0503020204020204" pitchFamily="34" charset="-122"/>
              <a:cs typeface="Helvetica"/>
            </a:endParaRPr>
          </a:p>
        </p:txBody>
      </p:sp>
      <p:sp>
        <p:nvSpPr>
          <p:cNvPr id="29" name="矩形 28"/>
          <p:cNvSpPr/>
          <p:nvPr/>
        </p:nvSpPr>
        <p:spPr>
          <a:xfrm>
            <a:off x="8621449" y="4836502"/>
            <a:ext cx="1160319" cy="246235"/>
          </a:xfrm>
          <a:prstGeom prst="rect">
            <a:avLst/>
          </a:prstGeom>
        </p:spPr>
        <p:txBody>
          <a:bodyPr wrap="square">
            <a:spAutoFit/>
          </a:bodyPr>
          <a:lstStyle/>
          <a:p>
            <a:pPr eaLnBrk="0" fontAlgn="base" hangingPunct="0">
              <a:spcBef>
                <a:spcPct val="0"/>
              </a:spcBef>
              <a:spcAft>
                <a:spcPct val="0"/>
              </a:spcAft>
              <a:defRPr/>
            </a:pPr>
            <a:r>
              <a:rPr lang="zh-CN" altLang="en-US"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XX</a:t>
            </a:r>
            <a:r>
              <a:rPr lang="zh-CN" altLang="en-US"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rPr>
              <a:t>客户</a:t>
            </a:r>
            <a:endParaRPr lang="en-US" altLang="zh-CN" sz="1000" b="1" kern="0" spc="11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6892996" y="3710926"/>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财务信息</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9" name="矩形 8"/>
          <p:cNvSpPr/>
          <p:nvPr/>
        </p:nvSpPr>
        <p:spPr>
          <a:xfrm>
            <a:off x="10129769" y="2999119"/>
            <a:ext cx="974781" cy="24508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市场属性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0" name="流程图: 终止 32"/>
          <p:cNvSpPr/>
          <p:nvPr/>
        </p:nvSpPr>
        <p:spPr>
          <a:xfrm>
            <a:off x="10008795" y="3005228"/>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1" name="流程图: 终止 32"/>
          <p:cNvSpPr/>
          <p:nvPr/>
        </p:nvSpPr>
        <p:spPr>
          <a:xfrm>
            <a:off x="10258653" y="4132873"/>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2" name="流程图: 终止 32"/>
          <p:cNvSpPr/>
          <p:nvPr/>
        </p:nvSpPr>
        <p:spPr>
          <a:xfrm>
            <a:off x="9172711" y="5064959"/>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13" name="矩形 12"/>
          <p:cNvSpPr/>
          <p:nvPr/>
        </p:nvSpPr>
        <p:spPr>
          <a:xfrm>
            <a:off x="10379627" y="4145037"/>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行为属性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4" name="矩形 13"/>
          <p:cNvSpPr/>
          <p:nvPr/>
        </p:nvSpPr>
        <p:spPr>
          <a:xfrm>
            <a:off x="9350867" y="5072578"/>
            <a:ext cx="974781" cy="246355"/>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决策属性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15" name="椭圆 14"/>
          <p:cNvSpPr/>
          <p:nvPr/>
        </p:nvSpPr>
        <p:spPr>
          <a:xfrm>
            <a:off x="9342266" y="4628758"/>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6" name="椭圆 15"/>
          <p:cNvSpPr/>
          <p:nvPr/>
        </p:nvSpPr>
        <p:spPr>
          <a:xfrm>
            <a:off x="9838258" y="3948107"/>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7" name="椭圆 16"/>
          <p:cNvSpPr/>
          <p:nvPr/>
        </p:nvSpPr>
        <p:spPr>
          <a:xfrm>
            <a:off x="9536962" y="3226185"/>
            <a:ext cx="113672" cy="126352"/>
          </a:xfrm>
          <a:prstGeom prst="ellipse">
            <a:avLst/>
          </a:prstGeom>
          <a:solidFill>
            <a:srgbClr val="0C7F8A"/>
          </a:solidFill>
          <a:ln w="12700" cap="flat" cmpd="sng" algn="ctr">
            <a:solidFill>
              <a:srgbClr val="0C7F8A"/>
            </a:solidFill>
            <a:prstDash val="solid"/>
            <a:miter lim="800000"/>
          </a:ln>
          <a:effectLst/>
        </p:spPr>
        <p:txBody>
          <a:bodyPr rtlCol="0" anchor="ctr"/>
          <a:lstStyle/>
          <a:p>
            <a:pPr algn="ctr" eaLnBrk="0" fontAlgn="base" hangingPunct="0">
              <a:spcBef>
                <a:spcPct val="0"/>
              </a:spcBef>
              <a:spcAft>
                <a:spcPct val="0"/>
              </a:spcAft>
              <a:defRPr/>
            </a:pPr>
            <a:endParaRPr lang="zh-CN" altLang="en-US" sz="1000" b="1" kern="0">
              <a:solidFill>
                <a:srgbClr val="FFFFFF"/>
              </a:solidFill>
              <a:latin typeface="微软雅黑" panose="020B0503020204020204" pitchFamily="34" charset="-122"/>
              <a:ea typeface="微软雅黑" panose="020B0503020204020204" pitchFamily="34" charset="-122"/>
              <a:cs typeface="Helvetica"/>
            </a:endParaRPr>
          </a:p>
        </p:txBody>
      </p:sp>
      <p:sp>
        <p:nvSpPr>
          <p:cNvPr id="18" name="椭圆 17"/>
          <p:cNvSpPr/>
          <p:nvPr/>
        </p:nvSpPr>
        <p:spPr>
          <a:xfrm>
            <a:off x="8197294" y="3693498"/>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9" name="标注: 弯曲线形(无边框) 33"/>
          <p:cNvSpPr/>
          <p:nvPr/>
        </p:nvSpPr>
        <p:spPr>
          <a:xfrm>
            <a:off x="6927221" y="3754452"/>
            <a:ext cx="998278" cy="129527"/>
          </a:xfrm>
          <a:prstGeom prst="callout2">
            <a:avLst>
              <a:gd name="adj1" fmla="val 53382"/>
              <a:gd name="adj2" fmla="val 100919"/>
              <a:gd name="adj3" fmla="val 112763"/>
              <a:gd name="adj4" fmla="val 112986"/>
              <a:gd name="adj5" fmla="val 28139"/>
              <a:gd name="adj6" fmla="val 13512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0" name="标注: 弯曲线形(无边框) 33"/>
          <p:cNvSpPr/>
          <p:nvPr/>
        </p:nvSpPr>
        <p:spPr>
          <a:xfrm>
            <a:off x="8953652" y="3948107"/>
            <a:ext cx="998278" cy="129527"/>
          </a:xfrm>
          <a:prstGeom prst="callout2">
            <a:avLst>
              <a:gd name="adj1" fmla="val 53382"/>
              <a:gd name="adj2" fmla="val 100919"/>
              <a:gd name="adj3" fmla="val 72652"/>
              <a:gd name="adj4" fmla="val 122466"/>
              <a:gd name="adj5" fmla="val 169994"/>
              <a:gd name="adj6" fmla="val 136019"/>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1" name="标注: 弯曲线形(无边框) 33"/>
          <p:cNvSpPr/>
          <p:nvPr/>
        </p:nvSpPr>
        <p:spPr>
          <a:xfrm>
            <a:off x="8616794" y="3158247"/>
            <a:ext cx="998278" cy="129527"/>
          </a:xfrm>
          <a:prstGeom prst="callout2">
            <a:avLst>
              <a:gd name="adj1" fmla="val 79989"/>
              <a:gd name="adj2" fmla="val 93007"/>
              <a:gd name="adj3" fmla="val 79011"/>
              <a:gd name="adj4" fmla="val 120812"/>
              <a:gd name="adj5" fmla="val -5612"/>
              <a:gd name="adj6" fmla="val 13951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22" name="标注: 弯曲线形(无边框) 33"/>
          <p:cNvSpPr/>
          <p:nvPr/>
        </p:nvSpPr>
        <p:spPr>
          <a:xfrm>
            <a:off x="9050149" y="4075094"/>
            <a:ext cx="998278" cy="129527"/>
          </a:xfrm>
          <a:prstGeom prst="callout2">
            <a:avLst>
              <a:gd name="adj1" fmla="val 464957"/>
              <a:gd name="adj2" fmla="val 41214"/>
              <a:gd name="adj3" fmla="val 477675"/>
              <a:gd name="adj4" fmla="val 65329"/>
              <a:gd name="adj5" fmla="val 744266"/>
              <a:gd name="adj6" fmla="val 816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30" name="流程图: 磁盘 29"/>
          <p:cNvSpPr/>
          <p:nvPr>
            <p:custDataLst>
              <p:tags r:id="rId1"/>
            </p:custDataLst>
          </p:nvPr>
        </p:nvSpPr>
        <p:spPr bwMode="auto">
          <a:xfrm>
            <a:off x="669290" y="213233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基础属性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文本框 30"/>
          <p:cNvSpPr txBox="1"/>
          <p:nvPr>
            <p:custDataLst>
              <p:tags r:id="rId2"/>
            </p:custDataLst>
          </p:nvPr>
        </p:nvSpPr>
        <p:spPr>
          <a:xfrm>
            <a:off x="2477135" y="2077720"/>
            <a:ext cx="4323715"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注册资本、行业规模、员工规模、成立时长、企业类型、经营状态、省份地区、概念标签、是否上市公司、收入规模、启信分</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2" name="组合 31"/>
          <p:cNvGrpSpPr/>
          <p:nvPr/>
        </p:nvGrpSpPr>
        <p:grpSpPr>
          <a:xfrm>
            <a:off x="526416" y="1507490"/>
            <a:ext cx="4922519" cy="402590"/>
            <a:chOff x="532791" y="2160234"/>
            <a:chExt cx="4160506" cy="402347"/>
          </a:xfrm>
        </p:grpSpPr>
        <p:sp>
          <p:nvSpPr>
            <p:cNvPr id="33" name="缺角矩形 32"/>
            <p:cNvSpPr/>
            <p:nvPr/>
          </p:nvSpPr>
          <p:spPr bwMode="auto">
            <a:xfrm>
              <a:off x="532791" y="2160234"/>
              <a:ext cx="1613640" cy="402347"/>
            </a:xfrm>
            <a:prstGeom prst="plaque">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kumimoji="1" lang="zh-CN" altLang="en-US" sz="1600" b="1" kern="0" dirty="0">
                  <a:solidFill>
                    <a:srgbClr val="000000"/>
                  </a:solidFill>
                  <a:latin typeface="微软雅黑" panose="020B0503020204020204" pitchFamily="34" charset="-122"/>
                  <a:ea typeface="微软雅黑" panose="020B0503020204020204" pitchFamily="34" charset="-122"/>
                  <a:cs typeface="Helvetica"/>
                  <a:sym typeface="+mn-ea"/>
                </a:rPr>
                <a:t>客户标签分类</a:t>
              </a:r>
              <a:endParaRPr kumimoji="1" lang="zh-CN" altLang="en-US" sz="16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34" name="文本框 33"/>
            <p:cNvSpPr txBox="1"/>
            <p:nvPr/>
          </p:nvSpPr>
          <p:spPr>
            <a:xfrm>
              <a:off x="2360717" y="2169080"/>
              <a:ext cx="2332580" cy="337185"/>
            </a:xfrm>
            <a:prstGeom prst="rect">
              <a:avLst/>
            </a:prstGeom>
            <a:noFill/>
          </p:spPr>
          <p:txBody>
            <a:bodyPr wrap="square" rtlCol="0">
              <a:spAutoFit/>
            </a:bodyPr>
            <a:lstStyle/>
            <a:p>
              <a:pPr eaLnBrk="0" fontAlgn="base" hangingPunct="0">
                <a:spcBef>
                  <a:spcPct val="0"/>
                </a:spcBef>
                <a:spcAft>
                  <a:spcPct val="0"/>
                </a:spcAft>
              </a:pPr>
              <a:r>
                <a:rPr lang="zh-CN" altLang="en-US" sz="1600" b="1" dirty="0">
                  <a:solidFill>
                    <a:srgbClr val="FFFFFF"/>
                  </a:solidFill>
                  <a:latin typeface="微软雅黑" panose="020B0503020204020204" pitchFamily="34" charset="-122"/>
                  <a:ea typeface="微软雅黑" panose="020B0503020204020204" pitchFamily="34" charset="-122"/>
                  <a:cs typeface="Helvetica"/>
                </a:rPr>
                <a:t>标签对象：统一客户</a:t>
              </a:r>
              <a:endParaRPr lang="zh-CN" altLang="en-US" sz="1600" b="1" dirty="0">
                <a:solidFill>
                  <a:srgbClr val="FFFFFF"/>
                </a:solidFill>
                <a:latin typeface="微软雅黑" panose="020B0503020204020204" pitchFamily="34" charset="-122"/>
                <a:ea typeface="微软雅黑" panose="020B0503020204020204" pitchFamily="34" charset="-122"/>
                <a:cs typeface="Helvetica"/>
              </a:endParaRPr>
            </a:p>
          </p:txBody>
        </p:sp>
      </p:grpSp>
      <p:sp>
        <p:nvSpPr>
          <p:cNvPr id="35" name="流程图: 磁盘 34"/>
          <p:cNvSpPr/>
          <p:nvPr>
            <p:custDataLst>
              <p:tags r:id="rId3"/>
            </p:custDataLst>
          </p:nvPr>
        </p:nvSpPr>
        <p:spPr bwMode="auto">
          <a:xfrm>
            <a:off x="669290" y="271653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业务信息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文本框 35"/>
          <p:cNvSpPr txBox="1"/>
          <p:nvPr>
            <p:custDataLst>
              <p:tags r:id="rId4"/>
            </p:custDataLst>
          </p:nvPr>
        </p:nvSpPr>
        <p:spPr>
          <a:xfrm>
            <a:off x="2549525" y="2906395"/>
            <a:ext cx="3968750"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主营业务、市场定位、业务挑战、增长战略</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流程图: 磁盘 36"/>
          <p:cNvSpPr/>
          <p:nvPr>
            <p:custDataLst>
              <p:tags r:id="rId5"/>
            </p:custDataLst>
          </p:nvPr>
        </p:nvSpPr>
        <p:spPr bwMode="auto">
          <a:xfrm>
            <a:off x="640715" y="330009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财务信息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文本框 37"/>
          <p:cNvSpPr txBox="1"/>
          <p:nvPr>
            <p:custDataLst>
              <p:tags r:id="rId6"/>
            </p:custDataLst>
          </p:nvPr>
        </p:nvSpPr>
        <p:spPr>
          <a:xfrm>
            <a:off x="2524125" y="3500755"/>
            <a:ext cx="3968750" cy="275590"/>
          </a:xfrm>
          <a:prstGeom prst="rect">
            <a:avLst/>
          </a:prstGeom>
          <a:noFill/>
        </p:spPr>
        <p:txBody>
          <a:bodyPr wrap="square" rtlCol="0">
            <a:spAutoFit/>
          </a:bodyPr>
          <a:lstStyle/>
          <a:p>
            <a:pPr eaLnBrk="0" fontAlgn="base" hangingPunct="0">
              <a:spcBef>
                <a:spcPct val="0"/>
              </a:spcBef>
              <a:spcAft>
                <a:spcPct val="0"/>
              </a:spcAft>
            </a:pPr>
            <a:r>
              <a:rPr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收入规模、利润状况、财务健康</a:t>
            </a:r>
            <a:r>
              <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流程图: 磁盘 38"/>
          <p:cNvSpPr/>
          <p:nvPr>
            <p:custDataLst>
              <p:tags r:id="rId7"/>
            </p:custDataLst>
          </p:nvPr>
        </p:nvSpPr>
        <p:spPr bwMode="auto">
          <a:xfrm>
            <a:off x="643255" y="3883660"/>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文本框 39"/>
          <p:cNvSpPr txBox="1"/>
          <p:nvPr>
            <p:custDataLst>
              <p:tags r:id="rId8"/>
            </p:custDataLst>
          </p:nvPr>
        </p:nvSpPr>
        <p:spPr>
          <a:xfrm>
            <a:off x="2510790" y="4028440"/>
            <a:ext cx="3969385"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战略客户、重要客户、普通客户、低价值客户</a:t>
            </a:r>
            <a:r>
              <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流程图: 磁盘 40"/>
          <p:cNvSpPr/>
          <p:nvPr>
            <p:custDataLst>
              <p:tags r:id="rId9"/>
            </p:custDataLst>
          </p:nvPr>
        </p:nvSpPr>
        <p:spPr bwMode="auto">
          <a:xfrm>
            <a:off x="640715" y="44672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决策属性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custDataLst>
              <p:tags r:id="rId10"/>
            </p:custDataLst>
          </p:nvPr>
        </p:nvSpPr>
        <p:spPr>
          <a:xfrm>
            <a:off x="2550160" y="4556125"/>
            <a:ext cx="3930650" cy="460375"/>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决策角色、岗位和职能、决策者目标、决策链条、其他个人特征、组织结构....</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3" name="流程图: 磁盘 42"/>
          <p:cNvSpPr/>
          <p:nvPr>
            <p:custDataLst>
              <p:tags r:id="rId11"/>
            </p:custDataLst>
          </p:nvPr>
        </p:nvSpPr>
        <p:spPr bwMode="auto">
          <a:xfrm>
            <a:off x="669290" y="56356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市场属性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文本框 43"/>
          <p:cNvSpPr txBox="1"/>
          <p:nvPr>
            <p:custDataLst>
              <p:tags r:id="rId12"/>
            </p:custDataLst>
          </p:nvPr>
        </p:nvSpPr>
        <p:spPr>
          <a:xfrm>
            <a:off x="2524125" y="5751195"/>
            <a:ext cx="3930650" cy="27559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市场份额、竞争地位、竞品信息、市场趋势..</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5" name="流程图: 磁盘 44"/>
          <p:cNvSpPr/>
          <p:nvPr>
            <p:custDataLst>
              <p:tags r:id="rId13"/>
            </p:custDataLst>
          </p:nvPr>
        </p:nvSpPr>
        <p:spPr bwMode="auto">
          <a:xfrm>
            <a:off x="643064" y="50514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购买行为</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文本框 45"/>
          <p:cNvSpPr txBox="1"/>
          <p:nvPr>
            <p:custDataLst>
              <p:tags r:id="rId14"/>
            </p:custDataLst>
          </p:nvPr>
        </p:nvSpPr>
        <p:spPr>
          <a:xfrm>
            <a:off x="2557715" y="5068242"/>
            <a:ext cx="3930053"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购买周期、购买动机、品牌忠诚度、咨询次数、咨询内容、客户拜访次数、客户活跃度、历史业务数据（包括项目信息）、负责业务员</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流程图: 磁盘 46"/>
          <p:cNvSpPr/>
          <p:nvPr>
            <p:custDataLst>
              <p:tags r:id="rId15"/>
            </p:custDataLst>
          </p:nvPr>
        </p:nvSpPr>
        <p:spPr bwMode="auto">
          <a:xfrm>
            <a:off x="643064" y="6219825"/>
            <a:ext cx="1581199" cy="518795"/>
          </a:xfrm>
          <a:prstGeom prst="flowChartMagneticDisk">
            <a:avLst/>
          </a:prstGeom>
          <a:solidFill>
            <a:srgbClr val="009F9A"/>
          </a:solidFill>
          <a:ln w="9525" cap="flat" cmpd="sng" algn="ctr">
            <a:solidFill>
              <a:srgbClr val="000000"/>
            </a:solidFill>
            <a:prstDash val="solid"/>
            <a:round/>
            <a:headEnd type="none" w="med" len="med"/>
            <a:tailEnd type="none" w="med" len="med"/>
          </a:ln>
        </p:spPr>
        <p:txBody>
          <a:bodyPr vert="horz" wrap="square" lIns="91440" tIns="45720" rIns="91440" bIns="45720" numCol="1" rtlCol="0" anchor="ctr" anchorCtr="0" compatLnSpc="1"/>
          <a:lstStyle/>
          <a:p>
            <a:pPr algn="ctr" defTabSz="457200" fontAlgn="base">
              <a:spcBef>
                <a:spcPct val="0"/>
              </a:spcBef>
              <a:spcAft>
                <a:spcPct val="0"/>
              </a:spcAft>
              <a:buFont typeface="Arial" panose="020B0604020202020204" pitchFamily="34" charset="0"/>
              <a:buNone/>
              <a:defRPr/>
            </a:pPr>
            <a:r>
              <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风险属性</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文本框 47"/>
          <p:cNvSpPr txBox="1"/>
          <p:nvPr/>
        </p:nvSpPr>
        <p:spPr>
          <a:xfrm>
            <a:off x="2557780" y="6219825"/>
            <a:ext cx="4064000" cy="645160"/>
          </a:xfrm>
          <a:prstGeom prst="rect">
            <a:avLst/>
          </a:prstGeom>
          <a:noFill/>
        </p:spPr>
        <p:txBody>
          <a:bodyPr wrap="square" rtlCol="0">
            <a:spAutoFit/>
          </a:bodyPr>
          <a:lstStyle/>
          <a:p>
            <a:pPr eaLnBrk="0" fontAlgn="base" hangingPunct="0">
              <a:spcBef>
                <a:spcPct val="0"/>
              </a:spcBef>
              <a:spcAft>
                <a:spcPct val="0"/>
              </a:spcAf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偷税漏税、严重违法失信、股权冻结、重大负面舆情、法人变更、行政处罚、环保处罚、立案信息、空壳指数</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0" fontAlgn="base" hangingPunct="0">
              <a:spcBef>
                <a:spcPct val="0"/>
              </a:spcBef>
              <a:spcAft>
                <a:spcPct val="0"/>
              </a:spcAft>
            </a:pPr>
            <a:endParaRPr lang="zh-CN" altLang="en-US" sz="120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椭圆 48"/>
          <p:cNvSpPr/>
          <p:nvPr/>
        </p:nvSpPr>
        <p:spPr>
          <a:xfrm>
            <a:off x="8410022" y="4503079"/>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0" name="流程图: 终止 34"/>
          <p:cNvSpPr/>
          <p:nvPr/>
        </p:nvSpPr>
        <p:spPr>
          <a:xfrm>
            <a:off x="7071705" y="4703171"/>
            <a:ext cx="1102315" cy="243988"/>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AE4845">
                  <a:lumMod val="75000"/>
                </a:srgbClr>
              </a:solidFill>
              <a:latin typeface="微软雅黑" panose="020B0503020204020204" pitchFamily="34" charset="-122"/>
              <a:ea typeface="微软雅黑" panose="020B0503020204020204" pitchFamily="34" charset="-122"/>
              <a:cs typeface="Helvetica"/>
            </a:endParaRPr>
          </a:p>
        </p:txBody>
      </p:sp>
      <p:sp>
        <p:nvSpPr>
          <p:cNvPr id="51" name="矩形 50"/>
          <p:cNvSpPr/>
          <p:nvPr/>
        </p:nvSpPr>
        <p:spPr>
          <a:xfrm>
            <a:off x="7127655" y="4705777"/>
            <a:ext cx="974781" cy="245110"/>
          </a:xfrm>
          <a:prstGeom prst="rect">
            <a:avLst/>
          </a:prstGeom>
        </p:spPr>
        <p:txBody>
          <a:bodyPr wrap="square">
            <a:spAutoFit/>
          </a:bodyPr>
          <a:lstStyle/>
          <a:p>
            <a:pPr algn="ctr" eaLnBrk="0" fontAlgn="base" hangingPunct="0">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rPr>
              <a:t>购买属性</a:t>
            </a:r>
            <a:endPar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2" name="标注: 弯曲线形(无边框) 33"/>
          <p:cNvSpPr/>
          <p:nvPr/>
        </p:nvSpPr>
        <p:spPr>
          <a:xfrm>
            <a:off x="7094862" y="4555822"/>
            <a:ext cx="998277" cy="129527"/>
          </a:xfrm>
          <a:prstGeom prst="callout2">
            <a:avLst>
              <a:gd name="adj1" fmla="val 223295"/>
              <a:gd name="adj2" fmla="val 108008"/>
              <a:gd name="adj3" fmla="val 112763"/>
              <a:gd name="adj4" fmla="val 112986"/>
              <a:gd name="adj5" fmla="val 28139"/>
              <a:gd name="adj6" fmla="val 135128"/>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53" name="椭圆 52"/>
          <p:cNvSpPr/>
          <p:nvPr/>
        </p:nvSpPr>
        <p:spPr>
          <a:xfrm>
            <a:off x="9066610" y="3038813"/>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4" name="椭圆 53"/>
          <p:cNvSpPr/>
          <p:nvPr/>
        </p:nvSpPr>
        <p:spPr>
          <a:xfrm>
            <a:off x="8820865" y="4685368"/>
            <a:ext cx="125737" cy="125717"/>
          </a:xfrm>
          <a:prstGeom prst="ellipse">
            <a:avLst/>
          </a:prstGeom>
          <a:solidFill>
            <a:srgbClr val="0C7F8A"/>
          </a:solidFill>
          <a:ln w="9525" cap="flat" cmpd="sng" algn="ctr">
            <a:solidFill>
              <a:srgbClr val="0C7F8A"/>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defRPr/>
            </a:pPr>
            <a:endParaRPr lang="zh-CN" altLang="en-US" sz="10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56" name="矩形 55"/>
          <p:cNvSpPr/>
          <p:nvPr/>
        </p:nvSpPr>
        <p:spPr>
          <a:xfrm>
            <a:off x="9058592" y="2337873"/>
            <a:ext cx="974725" cy="246380"/>
          </a:xfrm>
          <a:prstGeom prst="rect">
            <a:avLst/>
          </a:prstGeom>
        </p:spPr>
        <p:txBody>
          <a:bodyPr wrap="square">
            <a:spAutoFit/>
          </a:bodyPr>
          <a:lstStyle/>
          <a:p>
            <a:pPr algn="ctr" eaLnBrk="0" fontAlgn="base" hangingPunct="0">
              <a:spcBef>
                <a:spcPct val="0"/>
              </a:spcBef>
              <a:spcAft>
                <a:spcPct val="0"/>
              </a:spcAft>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客户分级</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7" name="流程图: 终止 32"/>
          <p:cNvSpPr/>
          <p:nvPr/>
        </p:nvSpPr>
        <p:spPr>
          <a:xfrm>
            <a:off x="8937625" y="2346325"/>
            <a:ext cx="1216660" cy="243840"/>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58" name="矩形 57"/>
          <p:cNvSpPr/>
          <p:nvPr/>
        </p:nvSpPr>
        <p:spPr>
          <a:xfrm>
            <a:off x="8276544" y="5388197"/>
            <a:ext cx="974781" cy="245110"/>
          </a:xfrm>
          <a:prstGeom prst="rect">
            <a:avLst/>
          </a:prstGeom>
        </p:spPr>
        <p:txBody>
          <a:bodyPr wrap="square">
            <a:spAutoFit/>
          </a:bodyPr>
          <a:lstStyle/>
          <a:p>
            <a:pPr algn="ctr" eaLnBrk="0" fontAlgn="base" hangingPunct="0">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rPr>
              <a:t>风险属性</a:t>
            </a:r>
            <a:endParaRPr lang="zh-CN" altLang="en-US" sz="1000" b="1" dirty="0">
              <a:solidFill>
                <a:srgbClr val="000000"/>
              </a:solidFill>
              <a:latin typeface="微软雅黑" panose="020B0503020204020204" pitchFamily="34" charset="-122"/>
              <a:ea typeface="微软雅黑" panose="020B0503020204020204" pitchFamily="34" charset="-122"/>
              <a:cs typeface="Helvetica"/>
              <a:sym typeface="+mn-ea"/>
            </a:endParaRPr>
          </a:p>
        </p:txBody>
      </p:sp>
      <p:sp>
        <p:nvSpPr>
          <p:cNvPr id="59" name="流程图: 终止 32"/>
          <p:cNvSpPr/>
          <p:nvPr/>
        </p:nvSpPr>
        <p:spPr>
          <a:xfrm>
            <a:off x="8147230" y="5391558"/>
            <a:ext cx="1216730" cy="243815"/>
          </a:xfrm>
          <a:prstGeom prst="flowChartTerminator">
            <a:avLst/>
          </a:prstGeom>
          <a:noFill/>
          <a:ln w="12700" cap="flat" cmpd="sng" algn="ctr">
            <a:solidFill>
              <a:srgbClr val="0C7F8A"/>
            </a:solidFill>
            <a:prstDash val="solid"/>
            <a:miter lim="800000"/>
          </a:ln>
          <a:effectLst>
            <a:outerShdw blurRad="50800" dist="38100" dir="2700000" algn="tl" rotWithShape="0">
              <a:prstClr val="black">
                <a:alpha val="40000"/>
              </a:prstClr>
            </a:outerShdw>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0" name="标注: 弯曲线形(无边框) 33"/>
          <p:cNvSpPr/>
          <p:nvPr/>
        </p:nvSpPr>
        <p:spPr>
          <a:xfrm>
            <a:off x="7851177" y="2815374"/>
            <a:ext cx="998277" cy="129527"/>
          </a:xfrm>
          <a:prstGeom prst="callout2">
            <a:avLst>
              <a:gd name="adj1" fmla="val -169458"/>
              <a:gd name="adj2" fmla="val 169388"/>
              <a:gd name="adj3" fmla="val -1303"/>
              <a:gd name="adj4" fmla="val 169961"/>
              <a:gd name="adj5" fmla="val 204175"/>
              <a:gd name="adj6" fmla="val 13251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1" name="标注: 弯曲线形(无边框) 33"/>
          <p:cNvSpPr/>
          <p:nvPr/>
        </p:nvSpPr>
        <p:spPr>
          <a:xfrm>
            <a:off x="9177149" y="4202094"/>
            <a:ext cx="998277" cy="129527"/>
          </a:xfrm>
          <a:prstGeom prst="callout2">
            <a:avLst>
              <a:gd name="adj1" fmla="val 403731"/>
              <a:gd name="adj2" fmla="val -28128"/>
              <a:gd name="adj3" fmla="val 558158"/>
              <a:gd name="adj4" fmla="val -54081"/>
              <a:gd name="adj5" fmla="val 906232"/>
              <a:gd name="adj6" fmla="val -44857"/>
            </a:avLst>
          </a:prstGeom>
          <a:noFill/>
          <a:ln w="12700" cap="flat" cmpd="sng" algn="ctr">
            <a:solidFill>
              <a:srgbClr val="0C7F8A"/>
            </a:solidFill>
            <a:prstDash val="solid"/>
            <a:miter lim="800000"/>
          </a:ln>
          <a:effectLst/>
        </p:spPr>
        <p:txBody>
          <a:bodyPr rtlCol="0" anchor="ctr"/>
          <a:lstStyle/>
          <a:p>
            <a:pPr eaLnBrk="0" fontAlgn="base" hangingPunct="0">
              <a:spcBef>
                <a:spcPct val="0"/>
              </a:spcBef>
              <a:spcAft>
                <a:spcPct val="0"/>
              </a:spcAft>
              <a:defRPr/>
            </a:pPr>
            <a:endParaRPr lang="zh-CN" altLang="en-US" sz="1000" b="1" kern="0" dirty="0">
              <a:solidFill>
                <a:srgbClr val="4F81BD">
                  <a:lumMod val="75000"/>
                </a:srgbClr>
              </a:solidFill>
              <a:latin typeface="微软雅黑" panose="020B0503020204020204" pitchFamily="34" charset="-122"/>
              <a:ea typeface="微软雅黑" panose="020B0503020204020204" pitchFamily="34" charset="-122"/>
              <a:cs typeface="Helvetica"/>
            </a:endParaRPr>
          </a:p>
        </p:txBody>
      </p:sp>
      <p:sp>
        <p:nvSpPr>
          <p:cNvPr id="62" name="文本框 61"/>
          <p:cNvSpPr txBox="1"/>
          <p:nvPr/>
        </p:nvSpPr>
        <p:spPr>
          <a:xfrm>
            <a:off x="346504" y="649846"/>
            <a:ext cx="11605495" cy="829945"/>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1600" b="1" dirty="0">
                <a:solidFill>
                  <a:srgbClr val="060607"/>
                </a:solidFill>
                <a:latin typeface="微软雅黑" panose="020B0503020204020204" pitchFamily="34" charset="-122"/>
                <a:ea typeface="微软雅黑" panose="020B0503020204020204" pitchFamily="34" charset="-122"/>
                <a:cs typeface="Helvetica"/>
              </a:rPr>
              <a:t>核心价值：通过建立和维护与客户的长期互动关系，提升客户满意度和忠诚度，从而推动业务增量，实现持续良性的客户关系和市场份额提升。同时对客户标签的梳理，有助于明确客户特征制定更精准的销售策略，既能降低成本、又能提升营销成效。</a:t>
            </a:r>
            <a:endParaRPr lang="zh-CN" altLang="en-US" sz="1600" b="1" dirty="0">
              <a:solidFill>
                <a:srgbClr val="060607"/>
              </a:solidFill>
              <a:latin typeface="微软雅黑" panose="020B0503020204020204" pitchFamily="34" charset="-122"/>
              <a:ea typeface="微软雅黑" panose="020B0503020204020204" pitchFamily="34" charset="-122"/>
              <a:cs typeface="Helvetica"/>
            </a:endParaRPr>
          </a:p>
        </p:txBody>
      </p:sp>
      <p:pic>
        <p:nvPicPr>
          <p:cNvPr id="63" name="图片 62"/>
          <p:cNvPicPr>
            <a:picLocks noChangeAspect="1"/>
          </p:cNvPicPr>
          <p:nvPr/>
        </p:nvPicPr>
        <p:blipFill>
          <a:blip r:embed="rId16"/>
          <a:stretch>
            <a:fillRect/>
          </a:stretch>
        </p:blipFill>
        <p:spPr>
          <a:xfrm>
            <a:off x="8447812" y="3444140"/>
            <a:ext cx="1180221" cy="107269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a:solidFill>
                  <a:srgbClr val="000000"/>
                </a:solidFill>
                <a:cs typeface="Helvetica"/>
                <a:sym typeface="+mn-ea"/>
              </a:rPr>
              <a:t>5</a:t>
            </a:r>
            <a:r>
              <a:rPr lang="zh-CN" altLang="en-US" kern="0" dirty="0">
                <a:solidFill>
                  <a:srgbClr val="000000"/>
                </a:solidFill>
                <a:cs typeface="Helvetica"/>
                <a:sym typeface="+mn-ea"/>
              </a:rPr>
              <a:t>、大客户画像指标体系</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Rectangle 9"/>
          <p:cNvSpPr/>
          <p:nvPr/>
        </p:nvSpPr>
        <p:spPr>
          <a:xfrm>
            <a:off x="5043135" y="877330"/>
            <a:ext cx="2105055" cy="360000"/>
          </a:xfrm>
          <a:prstGeom prst="rect">
            <a:avLst/>
          </a:prstGeom>
          <a:solidFill>
            <a:srgbClr val="0C7F8A"/>
          </a:solidFill>
          <a:ln>
            <a:solidFill>
              <a:srgbClr val="0C7F8A"/>
            </a:solidFill>
          </a:ln>
          <a:effectLst/>
        </p:spPr>
        <p:txBody>
          <a:bodyPr lIns="9000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rPr>
              <a:t>客户画像</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sym typeface="+mn-ea"/>
            </a:endParaRPr>
          </a:p>
        </p:txBody>
      </p:sp>
      <p:sp>
        <p:nvSpPr>
          <p:cNvPr id="5" name="Rectangle 217"/>
          <p:cNvSpPr/>
          <p:nvPr/>
        </p:nvSpPr>
        <p:spPr>
          <a:xfrm>
            <a:off x="22322" y="1582615"/>
            <a:ext cx="442371" cy="477568"/>
          </a:xfrm>
          <a:prstGeom prst="rect">
            <a:avLst/>
          </a:prstGeom>
          <a:solidFill>
            <a:srgbClr val="FFFFFF"/>
          </a:solidFill>
          <a:ln>
            <a:noFill/>
          </a:ln>
          <a:effectLst/>
        </p:spPr>
        <p:txBody>
          <a:bodyPr lIns="90000" rtlCol="0" anchor="ctr"/>
          <a:lstStyle/>
          <a:p>
            <a:pPr algn="ctr">
              <a:defRPr/>
            </a:pPr>
            <a:endParaRPr lang="en-GB" sz="1400" b="1"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6" name="Rectangle 36" descr="7b0a202020202262756c6c6574223a20227b5c2263617465676f727949645c223a5c225c222c5c2274656d706c61746549645c223a32303233313538377d220a7d0a"/>
          <p:cNvSpPr/>
          <p:nvPr/>
        </p:nvSpPr>
        <p:spPr>
          <a:xfrm>
            <a:off x="74295" y="1888247"/>
            <a:ext cx="12960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基础属性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7" name="Rectangle 37"/>
          <p:cNvSpPr/>
          <p:nvPr/>
        </p:nvSpPr>
        <p:spPr>
          <a:xfrm>
            <a:off x="1442685"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业务信息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8" name="Rectangle 37"/>
          <p:cNvSpPr/>
          <p:nvPr/>
        </p:nvSpPr>
        <p:spPr>
          <a:xfrm>
            <a:off x="2774280"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财务信息</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9" name="Rectangle 37"/>
          <p:cNvSpPr/>
          <p:nvPr/>
        </p:nvSpPr>
        <p:spPr>
          <a:xfrm>
            <a:off x="8113042" y="1887612"/>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客户分类分级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0" name="Rectangle 37"/>
          <p:cNvSpPr/>
          <p:nvPr/>
        </p:nvSpPr>
        <p:spPr>
          <a:xfrm>
            <a:off x="4105875" y="1888247"/>
            <a:ext cx="1295400" cy="323850"/>
          </a:xfrm>
          <a:prstGeom prst="rect">
            <a:avLst/>
          </a:prstGeom>
          <a:solidFill>
            <a:srgbClr val="009F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决策属性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cxnSp>
        <p:nvCxnSpPr>
          <p:cNvPr id="11" name="肘形连接符 6"/>
          <p:cNvCxnSpPr>
            <a:stCxn id="4" idx="2"/>
            <a:endCxn id="6" idx="0"/>
          </p:cNvCxnSpPr>
          <p:nvPr/>
        </p:nvCxnSpPr>
        <p:spPr>
          <a:xfrm rot="5400000">
            <a:off x="3083878" y="-1123632"/>
            <a:ext cx="650875" cy="5373370"/>
          </a:xfrm>
          <a:prstGeom prst="bentConnector3">
            <a:avLst>
              <a:gd name="adj1" fmla="val 50000"/>
            </a:avLst>
          </a:prstGeom>
          <a:noFill/>
          <a:ln w="28575" cap="flat" cmpd="sng" algn="ctr">
            <a:solidFill>
              <a:srgbClr val="0C7F8A"/>
            </a:solidFill>
            <a:prstDash val="solid"/>
            <a:miter lim="800000"/>
            <a:headEnd type="none" w="med" len="med"/>
            <a:tailEnd type="none" w="med" len="med"/>
          </a:ln>
          <a:effectLst/>
        </p:spPr>
      </p:cxnSp>
      <p:cxnSp>
        <p:nvCxnSpPr>
          <p:cNvPr id="12" name="肘形连接符 8"/>
          <p:cNvCxnSpPr>
            <a:stCxn id="4" idx="2"/>
            <a:endCxn id="7" idx="0"/>
          </p:cNvCxnSpPr>
          <p:nvPr/>
        </p:nvCxnSpPr>
        <p:spPr>
          <a:xfrm rot="5400000">
            <a:off x="3767773" y="-439737"/>
            <a:ext cx="650875" cy="4005580"/>
          </a:xfrm>
          <a:prstGeom prst="bentConnector3">
            <a:avLst>
              <a:gd name="adj1" fmla="val 50000"/>
            </a:avLst>
          </a:prstGeom>
          <a:noFill/>
          <a:ln w="28575" cap="flat" cmpd="sng" algn="ctr">
            <a:solidFill>
              <a:srgbClr val="0C7F8A"/>
            </a:solidFill>
            <a:prstDash val="solid"/>
            <a:miter lim="800000"/>
            <a:headEnd type="none" w="med" len="med"/>
            <a:tailEnd type="none" w="med" len="med"/>
          </a:ln>
          <a:effectLst/>
        </p:spPr>
      </p:cxnSp>
      <p:sp>
        <p:nvSpPr>
          <p:cNvPr id="13" name="Rectangle 37"/>
          <p:cNvSpPr/>
          <p:nvPr/>
        </p:nvSpPr>
        <p:spPr>
          <a:xfrm>
            <a:off x="5441597"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市场属性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4" name="Rectangle 37"/>
          <p:cNvSpPr/>
          <p:nvPr/>
        </p:nvSpPr>
        <p:spPr>
          <a:xfrm>
            <a:off x="6777320" y="1888247"/>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风险属性</a:t>
            </a:r>
            <a:endParaRPr lang="zh-CN" altLang="en-US" sz="1400" b="1" kern="0" dirty="0">
              <a:solidFill>
                <a:srgbClr val="FFFFFF"/>
              </a:solidFill>
              <a:latin typeface="微软雅黑" panose="020B0503020204020204" pitchFamily="34" charset="-122"/>
              <a:ea typeface="微软雅黑" panose="020B0503020204020204" pitchFamily="34" charset="-122"/>
              <a:cs typeface="Helvetica"/>
            </a:endParaRPr>
          </a:p>
        </p:txBody>
      </p:sp>
      <p:sp>
        <p:nvSpPr>
          <p:cNvPr id="15" name="Rectangle 37"/>
          <p:cNvSpPr/>
          <p:nvPr/>
        </p:nvSpPr>
        <p:spPr>
          <a:xfrm>
            <a:off x="9465275"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交易记录</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6" name="肘形连接符 16"/>
          <p:cNvCxnSpPr>
            <a:stCxn id="4" idx="2"/>
            <a:endCxn id="8" idx="0"/>
          </p:cNvCxnSpPr>
          <p:nvPr/>
        </p:nvCxnSpPr>
        <p:spPr>
          <a:xfrm rot="5400000">
            <a:off x="4433570" y="226060"/>
            <a:ext cx="650875" cy="2673985"/>
          </a:xfrm>
          <a:prstGeom prst="bentConnector3">
            <a:avLst>
              <a:gd name="adj1" fmla="val 50049"/>
            </a:avLst>
          </a:prstGeom>
          <a:noFill/>
          <a:ln w="28575" cap="flat" cmpd="sng" algn="ctr">
            <a:solidFill>
              <a:srgbClr val="0C7F8A"/>
            </a:solidFill>
            <a:prstDash val="solid"/>
            <a:miter lim="800000"/>
            <a:headEnd type="none" w="med" len="med"/>
            <a:tailEnd type="none" w="med" len="med"/>
          </a:ln>
          <a:effectLst/>
        </p:spPr>
      </p:cxnSp>
      <p:cxnSp>
        <p:nvCxnSpPr>
          <p:cNvPr id="17" name="肘形连接符 19"/>
          <p:cNvCxnSpPr>
            <a:stCxn id="4" idx="2"/>
            <a:endCxn id="14" idx="0"/>
          </p:cNvCxnSpPr>
          <p:nvPr/>
        </p:nvCxnSpPr>
        <p:spPr>
          <a:xfrm rot="5400000" flipV="1">
            <a:off x="6435090" y="898525"/>
            <a:ext cx="650875" cy="1329055"/>
          </a:xfrm>
          <a:prstGeom prst="bentConnector3">
            <a:avLst>
              <a:gd name="adj1" fmla="val 50049"/>
            </a:avLst>
          </a:prstGeom>
          <a:noFill/>
          <a:ln w="28575" cap="flat" cmpd="sng" algn="ctr">
            <a:solidFill>
              <a:srgbClr val="0C7F8A"/>
            </a:solidFill>
            <a:prstDash val="solid"/>
            <a:miter lim="800000"/>
            <a:headEnd type="none" w="med" len="med"/>
            <a:tailEnd type="none" w="med" len="med"/>
          </a:ln>
          <a:effectLst/>
        </p:spPr>
      </p:cxnSp>
      <p:cxnSp>
        <p:nvCxnSpPr>
          <p:cNvPr id="18" name="肘形连接符 24"/>
          <p:cNvCxnSpPr>
            <a:stCxn id="4" idx="2"/>
            <a:endCxn id="15" idx="0"/>
          </p:cNvCxnSpPr>
          <p:nvPr/>
        </p:nvCxnSpPr>
        <p:spPr>
          <a:xfrm rot="5400000" flipV="1">
            <a:off x="7779385" y="-445770"/>
            <a:ext cx="650240" cy="4017010"/>
          </a:xfrm>
          <a:prstGeom prst="bentConnector3">
            <a:avLst>
              <a:gd name="adj1" fmla="val 50000"/>
            </a:avLst>
          </a:prstGeom>
          <a:noFill/>
          <a:ln w="28575" cap="flat" cmpd="sng" algn="ctr">
            <a:solidFill>
              <a:srgbClr val="0C7F8A"/>
            </a:solidFill>
            <a:prstDash val="solid"/>
            <a:miter lim="800000"/>
            <a:headEnd type="none" w="med" len="med"/>
            <a:tailEnd type="none" w="med" len="med"/>
          </a:ln>
          <a:effectLst/>
        </p:spPr>
      </p:cxnSp>
      <p:cxnSp>
        <p:nvCxnSpPr>
          <p:cNvPr id="19" name="肘形连接符 26"/>
          <p:cNvCxnSpPr>
            <a:stCxn id="4" idx="2"/>
            <a:endCxn id="9" idx="0"/>
          </p:cNvCxnSpPr>
          <p:nvPr/>
        </p:nvCxnSpPr>
        <p:spPr>
          <a:xfrm rot="5400000" flipV="1">
            <a:off x="7102475" y="229870"/>
            <a:ext cx="650240" cy="2665095"/>
          </a:xfrm>
          <a:prstGeom prst="bentConnector3">
            <a:avLst>
              <a:gd name="adj1" fmla="val 49951"/>
            </a:avLst>
          </a:prstGeom>
          <a:noFill/>
          <a:ln w="28575" cap="flat" cmpd="sng" algn="ctr">
            <a:solidFill>
              <a:srgbClr val="0C7F8A"/>
            </a:solidFill>
            <a:prstDash val="solid"/>
            <a:miter lim="800000"/>
            <a:headEnd type="none" w="med" len="med"/>
            <a:tailEnd type="none" w="med" len="med"/>
          </a:ln>
          <a:effectLst/>
        </p:spPr>
      </p:cxnSp>
      <p:sp>
        <p:nvSpPr>
          <p:cNvPr id="20" name="Rectangle: Rounded Corners 92"/>
          <p:cNvSpPr/>
          <p:nvPr>
            <p:custDataLst>
              <p:tags r:id="rId1"/>
            </p:custDataLst>
          </p:nvPr>
        </p:nvSpPr>
        <p:spPr>
          <a:xfrm>
            <a:off x="7429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注册资本</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参保员工人数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成立时间</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企业性质</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行业相关信息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内部认定</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经营状态</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国家省份地区</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是否上市公司</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经营范围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客户负责人</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客户建档时间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Rectangle: Rounded Corners 92"/>
          <p:cNvSpPr/>
          <p:nvPr>
            <p:custDataLst>
              <p:tags r:id="rId2"/>
            </p:custDataLst>
          </p:nvPr>
        </p:nvSpPr>
        <p:spPr>
          <a:xfrm>
            <a:off x="144208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客户动态</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客户大事件</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Rectangle: Rounded Corners 92"/>
          <p:cNvSpPr/>
          <p:nvPr>
            <p:custDataLst>
              <p:tags r:id="rId3"/>
            </p:custDataLst>
          </p:nvPr>
        </p:nvSpPr>
        <p:spPr>
          <a:xfrm>
            <a:off x="2773680"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收入规模</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利润状况</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lnSpc>
                <a:spcPct val="150000"/>
              </a:lnSpc>
              <a:spcBef>
                <a:spcPct val="0"/>
              </a:spcBef>
              <a:spcAft>
                <a:spcPct val="0"/>
              </a:spcAft>
              <a:buFont typeface="Arial" panose="020B0604020202020204" pitchFamily="34" charset="0"/>
              <a:buChar char="•"/>
              <a:defRPr/>
            </a:pPr>
            <a:r>
              <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财务健康</a:t>
            </a:r>
            <a:endParaRPr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ctr"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Rectangle: Rounded Corners 92"/>
          <p:cNvSpPr/>
          <p:nvPr>
            <p:custDataLst>
              <p:tags r:id="rId4"/>
            </p:custDataLst>
          </p:nvPr>
        </p:nvSpPr>
        <p:spPr>
          <a:xfrm>
            <a:off x="8108950"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客户分级</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战略客户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重要客户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普通客户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低价值客户</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客户分类</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全球客户</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区域客户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客户类型</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是否集团客户</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所属集团</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客户层级展现</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Rectangle: Rounded Corners 92"/>
          <p:cNvSpPr/>
          <p:nvPr>
            <p:custDataLst>
              <p:tags r:id="rId5"/>
            </p:custDataLst>
          </p:nvPr>
        </p:nvSpPr>
        <p:spPr>
          <a:xfrm>
            <a:off x="410527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联系人姓名</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职务</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角色（决策者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影响者</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使用者）</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决策链</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Rectangle: Rounded Corners 92"/>
          <p:cNvSpPr/>
          <p:nvPr>
            <p:custDataLst>
              <p:tags r:id="rId6"/>
            </p:custDataLst>
          </p:nvPr>
        </p:nvSpPr>
        <p:spPr>
          <a:xfrm>
            <a:off x="544131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市场份额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行业排名</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竞品信息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市场趋势</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宏发占有额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Rectangle: Rounded Corners 92"/>
          <p:cNvSpPr/>
          <p:nvPr>
            <p:custDataLst>
              <p:tags r:id="rId7"/>
            </p:custDataLst>
          </p:nvPr>
        </p:nvSpPr>
        <p:spPr>
          <a:xfrm>
            <a:off x="6776720"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偷税漏税</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严重违法失信</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股权冻结</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重大负面舆情</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法人变更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行政处罚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环保处罚</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立案信息</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空壳指数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风险类别</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超期款</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预警</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逾期未提货订单金额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客户是否三个月未提交</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rPr>
              <a:t>应收账款</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法律诉讼数量</a:t>
            </a:r>
            <a:endParaRPr lang="zh-CN" altLang="en-US" sz="1000" kern="0" dirty="0">
              <a:solidFill>
                <a:srgbClr val="000000"/>
              </a:solidFill>
              <a:latin typeface="微软雅黑" panose="020B0503020204020204" pitchFamily="34" charset="-122"/>
              <a:ea typeface="微软雅黑" panose="020B0503020204020204" pitchFamily="34" charset="-122"/>
              <a:cs typeface="Helvetica"/>
            </a:endParaRPr>
          </a:p>
        </p:txBody>
      </p:sp>
      <p:sp>
        <p:nvSpPr>
          <p:cNvPr id="27" name="Rectangle: Rounded Corners 92"/>
          <p:cNvSpPr/>
          <p:nvPr>
            <p:custDataLst>
              <p:tags r:id="rId8"/>
            </p:custDataLst>
          </p:nvPr>
        </p:nvSpPr>
        <p:spPr>
          <a:xfrm>
            <a:off x="946467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近三年开票额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本年度开票额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近三年回款额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本年度回款额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近三年毛利率</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购买产品分类（一年内）</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最近一次交易时间（下单时间）</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首次交易时间（下单时间）</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与我司合作年限</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本年度毛利率</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8" name="肘形连接符 3"/>
          <p:cNvCxnSpPr>
            <a:stCxn id="4" idx="2"/>
            <a:endCxn id="10" idx="0"/>
          </p:cNvCxnSpPr>
          <p:nvPr/>
        </p:nvCxnSpPr>
        <p:spPr>
          <a:xfrm rot="5400000">
            <a:off x="5099368" y="891858"/>
            <a:ext cx="650875" cy="1342390"/>
          </a:xfrm>
          <a:prstGeom prst="bentConnector3">
            <a:avLst>
              <a:gd name="adj1" fmla="val 50000"/>
            </a:avLst>
          </a:prstGeom>
          <a:noFill/>
          <a:ln w="28575" cap="flat" cmpd="sng" algn="ctr">
            <a:solidFill>
              <a:srgbClr val="0C7F8A"/>
            </a:solidFill>
            <a:prstDash val="solid"/>
            <a:miter lim="800000"/>
            <a:headEnd type="none" w="med" len="med"/>
            <a:tailEnd type="none" w="med" len="med"/>
          </a:ln>
          <a:effectLst/>
        </p:spPr>
      </p:cxnSp>
      <p:sp>
        <p:nvSpPr>
          <p:cNvPr id="29" name="Rectangle 37"/>
          <p:cNvSpPr/>
          <p:nvPr/>
        </p:nvSpPr>
        <p:spPr>
          <a:xfrm>
            <a:off x="10813697" y="1887612"/>
            <a:ext cx="1295400" cy="323850"/>
          </a:xfrm>
          <a:prstGeom prst="rect">
            <a:avLst/>
          </a:prstGeom>
          <a:solidFill>
            <a:srgbClr val="009F9A"/>
          </a:solidFill>
          <a:ln>
            <a:noFill/>
          </a:ln>
          <a:effectLst/>
        </p:spPr>
        <p:txBody>
          <a:bodyPr lIns="0" rIns="0" rtlCol="0" anchor="ctr"/>
          <a:lstStyle/>
          <a:p>
            <a:pPr algn="ctr" defTabSz="457200" fontAlgn="base">
              <a:spcBef>
                <a:spcPct val="0"/>
              </a:spcBef>
              <a:spcAft>
                <a:spcPct val="0"/>
              </a:spcAft>
              <a:buFont typeface="Arial" panose="020B0604020202020204" pitchFamily="34" charset="0"/>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rPr>
              <a:t>客户活跃度</a:t>
            </a:r>
            <a:endPar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Rectangle: Rounded Corners 92"/>
          <p:cNvSpPr/>
          <p:nvPr>
            <p:custDataLst>
              <p:tags r:id="rId9"/>
            </p:custDataLst>
          </p:nvPr>
        </p:nvSpPr>
        <p:spPr>
          <a:xfrm>
            <a:off x="10813415" y="2303145"/>
            <a:ext cx="1296035" cy="3710940"/>
          </a:xfrm>
          <a:prstGeom prst="roundRect">
            <a:avLst>
              <a:gd name="adj" fmla="val 0"/>
            </a:avLst>
          </a:prstGeom>
          <a:solidFill>
            <a:srgbClr val="E3F4F1"/>
          </a:solidFill>
          <a:ln w="19050" cap="flat" cmpd="sng" algn="ctr">
            <a:noFill/>
            <a:prstDash val="solid"/>
          </a:ln>
          <a:effectLst/>
        </p:spPr>
        <p:txBody>
          <a:bodyPr spcFirstLastPara="0" vert="horz" wrap="square" lIns="16972" tIns="16972" rIns="16972" bIns="16972" numCol="1" spcCol="1270" anchor="t" anchorCtr="0">
            <a:noAutofit/>
          </a:bodyPr>
          <a:lstStyle/>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近一年订单数量</a:t>
            </a:r>
            <a:r>
              <a:rPr lang="en-US" altLang="zh-CN" sz="1000" b="1" kern="0" dirty="0">
                <a:solidFill>
                  <a:srgbClr val="000000"/>
                </a:solidFill>
                <a:latin typeface="微软雅黑" panose="020B0503020204020204" pitchFamily="34" charset="-122"/>
                <a:ea typeface="微软雅黑" panose="020B0503020204020204" pitchFamily="34" charset="-122"/>
                <a:cs typeface="Helvetica"/>
                <a:sym typeface="+mn-ea"/>
              </a:rPr>
              <a:t>/</a:t>
            </a: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金额</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本年度项目数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近一年项目预计收入金额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近一年项目实际收入金额</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品牌忠诚度（</a:t>
            </a:r>
            <a:r>
              <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NPS</a:t>
            </a: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客户满意度</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客户交流次数</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rPr>
              <a:t>客户活跃度等级分布</a:t>
            </a:r>
            <a:endParaRPr lang="zh-CN" altLang="en-US" sz="1000" b="1" kern="0" dirty="0">
              <a:solidFill>
                <a:srgbClr val="000000"/>
              </a:solidFill>
              <a:latin typeface="微软雅黑" panose="020B0503020204020204" pitchFamily="34" charset="-122"/>
              <a:ea typeface="微软雅黑" panose="020B0503020204020204" pitchFamily="34" charset="-122"/>
              <a:cs typeface="Helvetica"/>
              <a:sym typeface="+mn-ea"/>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r>
              <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是否公海池客户</a:t>
            </a: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defTabSz="898525" eaLnBrk="0" fontAlgn="t" hangingPunct="0">
              <a:lnSpc>
                <a:spcPct val="150000"/>
              </a:lnSpc>
              <a:spcBef>
                <a:spcPct val="0"/>
              </a:spcBef>
              <a:spcAft>
                <a:spcPct val="0"/>
              </a:spcAft>
              <a:buFont typeface="Arial" panose="020B0604020202020204" pitchFamily="34" charset="0"/>
              <a:buNone/>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lnSpc>
                <a:spcPct val="150000"/>
              </a:lnSpc>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defTabSz="898525" eaLnBrk="0" fontAlgn="t" hangingPunct="0">
              <a:spcBef>
                <a:spcPct val="0"/>
              </a:spcBef>
              <a:spcAft>
                <a:spcPct val="0"/>
              </a:spcAft>
              <a:buFont typeface="Arial" panose="020B0604020202020204" pitchFamily="34" charset="0"/>
              <a:buChar char="•"/>
              <a:defRPr/>
            </a:pPr>
            <a:endParaRPr lang="zh-CN" altLang="en-US" sz="1000" b="1"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1" name="肘形连接符 10"/>
          <p:cNvCxnSpPr>
            <a:stCxn id="4" idx="2"/>
            <a:endCxn id="13" idx="0"/>
          </p:cNvCxnSpPr>
          <p:nvPr/>
        </p:nvCxnSpPr>
        <p:spPr>
          <a:xfrm rot="5400000">
            <a:off x="5767070" y="1559560"/>
            <a:ext cx="650875" cy="6985"/>
          </a:xfrm>
          <a:prstGeom prst="bentConnector3">
            <a:avLst>
              <a:gd name="adj1" fmla="val 50049"/>
            </a:avLst>
          </a:prstGeom>
          <a:noFill/>
          <a:ln w="28575" cap="flat" cmpd="sng" algn="ctr">
            <a:solidFill>
              <a:srgbClr val="0C7F8A"/>
            </a:solidFill>
            <a:prstDash val="solid"/>
            <a:miter lim="800000"/>
            <a:headEnd type="none" w="med" len="med"/>
            <a:tailEnd type="none" w="med" len="med"/>
          </a:ln>
          <a:effectLst/>
        </p:spPr>
      </p:cxnSp>
      <p:cxnSp>
        <p:nvCxnSpPr>
          <p:cNvPr id="32" name="肘形连接符 11"/>
          <p:cNvCxnSpPr>
            <a:stCxn id="4" idx="2"/>
            <a:endCxn id="29" idx="0"/>
          </p:cNvCxnSpPr>
          <p:nvPr/>
        </p:nvCxnSpPr>
        <p:spPr>
          <a:xfrm rot="5400000" flipV="1">
            <a:off x="8453120" y="-1120140"/>
            <a:ext cx="650240" cy="5365750"/>
          </a:xfrm>
          <a:prstGeom prst="bentConnector3">
            <a:avLst>
              <a:gd name="adj1" fmla="val 50000"/>
            </a:avLst>
          </a:prstGeom>
          <a:noFill/>
          <a:ln w="28575" cap="flat" cmpd="sng" algn="ctr">
            <a:solidFill>
              <a:srgbClr val="0C7F8A"/>
            </a:solidFill>
            <a:prstDash val="solid"/>
            <a:miter lim="800000"/>
            <a:headEnd type="none" w="med" len="med"/>
            <a:tailEnd type="none" w="med" len="med"/>
          </a:ln>
          <a:effectLst/>
        </p:spPr>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a:t>
            </a:r>
            <a:r>
              <a:rPr lang="zh-CN" altLang="en-US" dirty="0"/>
              <a:t>、渠道管理指标设计</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 name="Freeform 1470"/>
          <p:cNvSpPr>
            <a:spLocks noEditPoints="1"/>
          </p:cNvSpPr>
          <p:nvPr/>
        </p:nvSpPr>
        <p:spPr bwMode="auto">
          <a:xfrm>
            <a:off x="3963514" y="530511"/>
            <a:ext cx="3810000" cy="3810000"/>
          </a:xfrm>
          <a:custGeom>
            <a:avLst/>
            <a:gdLst>
              <a:gd name="T0" fmla="*/ 600 w 1200"/>
              <a:gd name="T1" fmla="*/ 1200 h 1200"/>
              <a:gd name="T2" fmla="*/ 0 w 1200"/>
              <a:gd name="T3" fmla="*/ 600 h 1200"/>
              <a:gd name="T4" fmla="*/ 600 w 1200"/>
              <a:gd name="T5" fmla="*/ 0 h 1200"/>
              <a:gd name="T6" fmla="*/ 1200 w 1200"/>
              <a:gd name="T7" fmla="*/ 600 h 1200"/>
              <a:gd name="T8" fmla="*/ 600 w 1200"/>
              <a:gd name="T9" fmla="*/ 1200 h 1200"/>
              <a:gd name="T10" fmla="*/ 600 w 1200"/>
              <a:gd name="T11" fmla="*/ 48 h 1200"/>
              <a:gd name="T12" fmla="*/ 48 w 1200"/>
              <a:gd name="T13" fmla="*/ 600 h 1200"/>
              <a:gd name="T14" fmla="*/ 600 w 1200"/>
              <a:gd name="T15" fmla="*/ 1152 h 1200"/>
              <a:gd name="T16" fmla="*/ 1152 w 1200"/>
              <a:gd name="T17" fmla="*/ 600 h 1200"/>
              <a:gd name="T18" fmla="*/ 600 w 1200"/>
              <a:gd name="T19" fmla="*/ 48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0" h="1200">
                <a:moveTo>
                  <a:pt x="600" y="1200"/>
                </a:moveTo>
                <a:cubicBezTo>
                  <a:pt x="269" y="1200"/>
                  <a:pt x="0" y="931"/>
                  <a:pt x="0" y="600"/>
                </a:cubicBezTo>
                <a:cubicBezTo>
                  <a:pt x="0" y="269"/>
                  <a:pt x="269" y="0"/>
                  <a:pt x="600" y="0"/>
                </a:cubicBezTo>
                <a:cubicBezTo>
                  <a:pt x="931" y="0"/>
                  <a:pt x="1200" y="269"/>
                  <a:pt x="1200" y="600"/>
                </a:cubicBezTo>
                <a:cubicBezTo>
                  <a:pt x="1200" y="931"/>
                  <a:pt x="931" y="1200"/>
                  <a:pt x="600" y="1200"/>
                </a:cubicBezTo>
                <a:close/>
                <a:moveTo>
                  <a:pt x="600" y="48"/>
                </a:moveTo>
                <a:cubicBezTo>
                  <a:pt x="295" y="48"/>
                  <a:pt x="48" y="296"/>
                  <a:pt x="48" y="600"/>
                </a:cubicBezTo>
                <a:cubicBezTo>
                  <a:pt x="48" y="905"/>
                  <a:pt x="295" y="1152"/>
                  <a:pt x="600" y="1152"/>
                </a:cubicBezTo>
                <a:cubicBezTo>
                  <a:pt x="905" y="1152"/>
                  <a:pt x="1152" y="905"/>
                  <a:pt x="1152" y="600"/>
                </a:cubicBezTo>
                <a:cubicBezTo>
                  <a:pt x="1152" y="296"/>
                  <a:pt x="905" y="48"/>
                  <a:pt x="600" y="48"/>
                </a:cubicBezTo>
                <a:close/>
              </a:path>
            </a:pathLst>
          </a:custGeom>
          <a:solidFill>
            <a:srgbClr val="1B2C70">
              <a:alpha val="10000"/>
            </a:srgbClr>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6" name="Freeform 98"/>
          <p:cNvSpPr/>
          <p:nvPr/>
        </p:nvSpPr>
        <p:spPr bwMode="auto">
          <a:xfrm>
            <a:off x="4547714" y="298737"/>
            <a:ext cx="2641600" cy="1304925"/>
          </a:xfrm>
          <a:custGeom>
            <a:avLst/>
            <a:gdLst>
              <a:gd name="T0" fmla="*/ 416 w 832"/>
              <a:gd name="T1" fmla="*/ 0 h 411"/>
              <a:gd name="T2" fmla="*/ 831 w 832"/>
              <a:gd name="T3" fmla="*/ 371 h 411"/>
              <a:gd name="T4" fmla="*/ 825 w 832"/>
              <a:gd name="T5" fmla="*/ 387 h 411"/>
              <a:gd name="T6" fmla="*/ 808 w 832"/>
              <a:gd name="T7" fmla="*/ 389 h 411"/>
              <a:gd name="T8" fmla="*/ 637 w 832"/>
              <a:gd name="T9" fmla="*/ 355 h 411"/>
              <a:gd name="T10" fmla="*/ 427 w 832"/>
              <a:gd name="T11" fmla="*/ 408 h 411"/>
              <a:gd name="T12" fmla="*/ 405 w 832"/>
              <a:gd name="T13" fmla="*/ 408 h 411"/>
              <a:gd name="T14" fmla="*/ 195 w 832"/>
              <a:gd name="T15" fmla="*/ 355 h 411"/>
              <a:gd name="T16" fmla="*/ 24 w 832"/>
              <a:gd name="T17" fmla="*/ 389 h 411"/>
              <a:gd name="T18" fmla="*/ 7 w 832"/>
              <a:gd name="T19" fmla="*/ 387 h 411"/>
              <a:gd name="T20" fmla="*/ 1 w 832"/>
              <a:gd name="T21" fmla="*/ 371 h 411"/>
              <a:gd name="T22" fmla="*/ 416 w 832"/>
              <a:gd name="T23"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2" h="411">
                <a:moveTo>
                  <a:pt x="416" y="0"/>
                </a:moveTo>
                <a:cubicBezTo>
                  <a:pt x="631" y="0"/>
                  <a:pt x="808" y="163"/>
                  <a:pt x="831" y="371"/>
                </a:cubicBezTo>
                <a:cubicBezTo>
                  <a:pt x="832" y="377"/>
                  <a:pt x="830" y="383"/>
                  <a:pt x="825" y="387"/>
                </a:cubicBezTo>
                <a:cubicBezTo>
                  <a:pt x="820" y="390"/>
                  <a:pt x="814" y="391"/>
                  <a:pt x="808" y="389"/>
                </a:cubicBezTo>
                <a:cubicBezTo>
                  <a:pt x="755" y="367"/>
                  <a:pt x="698" y="355"/>
                  <a:pt x="637" y="355"/>
                </a:cubicBezTo>
                <a:cubicBezTo>
                  <a:pt x="561" y="355"/>
                  <a:pt x="489" y="374"/>
                  <a:pt x="427" y="408"/>
                </a:cubicBezTo>
                <a:cubicBezTo>
                  <a:pt x="420" y="411"/>
                  <a:pt x="412" y="411"/>
                  <a:pt x="405" y="408"/>
                </a:cubicBezTo>
                <a:cubicBezTo>
                  <a:pt x="343" y="374"/>
                  <a:pt x="271" y="355"/>
                  <a:pt x="195" y="355"/>
                </a:cubicBezTo>
                <a:cubicBezTo>
                  <a:pt x="134" y="355"/>
                  <a:pt x="77" y="367"/>
                  <a:pt x="24" y="389"/>
                </a:cubicBezTo>
                <a:cubicBezTo>
                  <a:pt x="18" y="391"/>
                  <a:pt x="12" y="390"/>
                  <a:pt x="7" y="387"/>
                </a:cubicBezTo>
                <a:cubicBezTo>
                  <a:pt x="2" y="383"/>
                  <a:pt x="0" y="377"/>
                  <a:pt x="1" y="371"/>
                </a:cubicBezTo>
                <a:cubicBezTo>
                  <a:pt x="24" y="163"/>
                  <a:pt x="201" y="0"/>
                  <a:pt x="416" y="0"/>
                </a:cubicBezTo>
                <a:close/>
              </a:path>
            </a:pathLst>
          </a:custGeom>
          <a:solidFill>
            <a:srgbClr val="B8DFD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7" name="Freeform 99"/>
          <p:cNvSpPr/>
          <p:nvPr/>
        </p:nvSpPr>
        <p:spPr bwMode="auto">
          <a:xfrm>
            <a:off x="3839689" y="1759237"/>
            <a:ext cx="1892300" cy="2409825"/>
          </a:xfrm>
          <a:custGeom>
            <a:avLst/>
            <a:gdLst>
              <a:gd name="T0" fmla="*/ 418 w 596"/>
              <a:gd name="T1" fmla="*/ 759 h 759"/>
              <a:gd name="T2" fmla="*/ 0 w 596"/>
              <a:gd name="T3" fmla="*/ 341 h 759"/>
              <a:gd name="T4" fmla="*/ 170 w 596"/>
              <a:gd name="T5" fmla="*/ 5 h 759"/>
              <a:gd name="T6" fmla="*/ 187 w 596"/>
              <a:gd name="T7" fmla="*/ 3 h 759"/>
              <a:gd name="T8" fmla="*/ 197 w 596"/>
              <a:gd name="T9" fmla="*/ 16 h 759"/>
              <a:gd name="T10" fmla="*/ 404 w 596"/>
              <a:gd name="T11" fmla="*/ 336 h 759"/>
              <a:gd name="T12" fmla="*/ 415 w 596"/>
              <a:gd name="T13" fmla="*/ 355 h 759"/>
              <a:gd name="T14" fmla="*/ 589 w 596"/>
              <a:gd name="T15" fmla="*/ 695 h 759"/>
              <a:gd name="T16" fmla="*/ 596 w 596"/>
              <a:gd name="T17" fmla="*/ 710 h 759"/>
              <a:gd name="T18" fmla="*/ 585 w 596"/>
              <a:gd name="T19" fmla="*/ 724 h 759"/>
              <a:gd name="T20" fmla="*/ 418 w 596"/>
              <a:gd name="T21" fmla="*/ 759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759">
                <a:moveTo>
                  <a:pt x="418" y="759"/>
                </a:moveTo>
                <a:cubicBezTo>
                  <a:pt x="187" y="759"/>
                  <a:pt x="0" y="571"/>
                  <a:pt x="0" y="341"/>
                </a:cubicBezTo>
                <a:cubicBezTo>
                  <a:pt x="0" y="203"/>
                  <a:pt x="67" y="81"/>
                  <a:pt x="170" y="5"/>
                </a:cubicBezTo>
                <a:cubicBezTo>
                  <a:pt x="175" y="1"/>
                  <a:pt x="181" y="0"/>
                  <a:pt x="187" y="3"/>
                </a:cubicBezTo>
                <a:cubicBezTo>
                  <a:pt x="192" y="5"/>
                  <a:pt x="196" y="10"/>
                  <a:pt x="197" y="16"/>
                </a:cubicBezTo>
                <a:cubicBezTo>
                  <a:pt x="215" y="151"/>
                  <a:pt x="293" y="267"/>
                  <a:pt x="404" y="336"/>
                </a:cubicBezTo>
                <a:cubicBezTo>
                  <a:pt x="410" y="340"/>
                  <a:pt x="414" y="347"/>
                  <a:pt x="415" y="355"/>
                </a:cubicBezTo>
                <a:cubicBezTo>
                  <a:pt x="419" y="493"/>
                  <a:pt x="486" y="616"/>
                  <a:pt x="589" y="695"/>
                </a:cubicBezTo>
                <a:cubicBezTo>
                  <a:pt x="594" y="698"/>
                  <a:pt x="596" y="704"/>
                  <a:pt x="596" y="710"/>
                </a:cubicBezTo>
                <a:cubicBezTo>
                  <a:pt x="595" y="716"/>
                  <a:pt x="591" y="721"/>
                  <a:pt x="585" y="724"/>
                </a:cubicBezTo>
                <a:cubicBezTo>
                  <a:pt x="534" y="746"/>
                  <a:pt x="477" y="759"/>
                  <a:pt x="418" y="759"/>
                </a:cubicBezTo>
                <a:close/>
              </a:path>
            </a:pathLst>
          </a:custGeom>
          <a:solidFill>
            <a:srgbClr val="10AFBC"/>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8" name="Freeform 100"/>
          <p:cNvSpPr/>
          <p:nvPr/>
        </p:nvSpPr>
        <p:spPr bwMode="auto">
          <a:xfrm>
            <a:off x="6005039" y="1759237"/>
            <a:ext cx="1892300" cy="2409825"/>
          </a:xfrm>
          <a:custGeom>
            <a:avLst/>
            <a:gdLst>
              <a:gd name="T0" fmla="*/ 178 w 596"/>
              <a:gd name="T1" fmla="*/ 759 h 759"/>
              <a:gd name="T2" fmla="*/ 11 w 596"/>
              <a:gd name="T3" fmla="*/ 724 h 759"/>
              <a:gd name="T4" fmla="*/ 0 w 596"/>
              <a:gd name="T5" fmla="*/ 710 h 759"/>
              <a:gd name="T6" fmla="*/ 7 w 596"/>
              <a:gd name="T7" fmla="*/ 695 h 759"/>
              <a:gd name="T8" fmla="*/ 181 w 596"/>
              <a:gd name="T9" fmla="*/ 355 h 759"/>
              <a:gd name="T10" fmla="*/ 192 w 596"/>
              <a:gd name="T11" fmla="*/ 336 h 759"/>
              <a:gd name="T12" fmla="*/ 399 w 596"/>
              <a:gd name="T13" fmla="*/ 16 h 759"/>
              <a:gd name="T14" fmla="*/ 409 w 596"/>
              <a:gd name="T15" fmla="*/ 3 h 759"/>
              <a:gd name="T16" fmla="*/ 426 w 596"/>
              <a:gd name="T17" fmla="*/ 4 h 759"/>
              <a:gd name="T18" fmla="*/ 596 w 596"/>
              <a:gd name="T19" fmla="*/ 341 h 759"/>
              <a:gd name="T20" fmla="*/ 178 w 596"/>
              <a:gd name="T21" fmla="*/ 759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759">
                <a:moveTo>
                  <a:pt x="178" y="759"/>
                </a:moveTo>
                <a:cubicBezTo>
                  <a:pt x="119" y="759"/>
                  <a:pt x="62" y="746"/>
                  <a:pt x="11" y="724"/>
                </a:cubicBezTo>
                <a:cubicBezTo>
                  <a:pt x="5" y="721"/>
                  <a:pt x="1" y="716"/>
                  <a:pt x="0" y="710"/>
                </a:cubicBezTo>
                <a:cubicBezTo>
                  <a:pt x="0" y="704"/>
                  <a:pt x="2" y="698"/>
                  <a:pt x="7" y="695"/>
                </a:cubicBezTo>
                <a:cubicBezTo>
                  <a:pt x="110" y="616"/>
                  <a:pt x="177" y="493"/>
                  <a:pt x="181" y="355"/>
                </a:cubicBezTo>
                <a:cubicBezTo>
                  <a:pt x="182" y="347"/>
                  <a:pt x="186" y="340"/>
                  <a:pt x="192" y="336"/>
                </a:cubicBezTo>
                <a:cubicBezTo>
                  <a:pt x="303" y="267"/>
                  <a:pt x="381" y="151"/>
                  <a:pt x="399" y="16"/>
                </a:cubicBezTo>
                <a:cubicBezTo>
                  <a:pt x="400" y="10"/>
                  <a:pt x="404" y="5"/>
                  <a:pt x="409" y="3"/>
                </a:cubicBezTo>
                <a:cubicBezTo>
                  <a:pt x="415" y="0"/>
                  <a:pt x="421" y="1"/>
                  <a:pt x="426" y="4"/>
                </a:cubicBezTo>
                <a:cubicBezTo>
                  <a:pt x="529" y="81"/>
                  <a:pt x="596" y="203"/>
                  <a:pt x="596" y="341"/>
                </a:cubicBezTo>
                <a:cubicBezTo>
                  <a:pt x="596" y="571"/>
                  <a:pt x="409" y="759"/>
                  <a:pt x="178" y="759"/>
                </a:cubicBezTo>
                <a:close/>
              </a:path>
            </a:pathLst>
          </a:custGeom>
          <a:solidFill>
            <a:srgbClr val="0C7F8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9" name="Freeform 1471"/>
          <p:cNvSpPr/>
          <p:nvPr/>
        </p:nvSpPr>
        <p:spPr bwMode="auto">
          <a:xfrm>
            <a:off x="6005040" y="1514762"/>
            <a:ext cx="1190625" cy="1190625"/>
          </a:xfrm>
          <a:custGeom>
            <a:avLst/>
            <a:gdLst>
              <a:gd name="T0" fmla="*/ 205 w 375"/>
              <a:gd name="T1" fmla="*/ 371 h 375"/>
              <a:gd name="T2" fmla="*/ 188 w 375"/>
              <a:gd name="T3" fmla="*/ 373 h 375"/>
              <a:gd name="T4" fmla="*/ 178 w 375"/>
              <a:gd name="T5" fmla="*/ 360 h 375"/>
              <a:gd name="T6" fmla="*/ 7 w 375"/>
              <a:gd name="T7" fmla="*/ 64 h 375"/>
              <a:gd name="T8" fmla="*/ 0 w 375"/>
              <a:gd name="T9" fmla="*/ 49 h 375"/>
              <a:gd name="T10" fmla="*/ 11 w 375"/>
              <a:gd name="T11" fmla="*/ 35 h 375"/>
              <a:gd name="T12" fmla="*/ 178 w 375"/>
              <a:gd name="T13" fmla="*/ 0 h 375"/>
              <a:gd name="T14" fmla="*/ 361 w 375"/>
              <a:gd name="T15" fmla="*/ 42 h 375"/>
              <a:gd name="T16" fmla="*/ 374 w 375"/>
              <a:gd name="T17" fmla="*/ 64 h 375"/>
              <a:gd name="T18" fmla="*/ 205 w 375"/>
              <a:gd name="T19" fmla="*/ 37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 h="375">
                <a:moveTo>
                  <a:pt x="205" y="371"/>
                </a:moveTo>
                <a:cubicBezTo>
                  <a:pt x="200" y="375"/>
                  <a:pt x="194" y="375"/>
                  <a:pt x="188" y="373"/>
                </a:cubicBezTo>
                <a:cubicBezTo>
                  <a:pt x="183" y="371"/>
                  <a:pt x="179" y="365"/>
                  <a:pt x="178" y="360"/>
                </a:cubicBezTo>
                <a:cubicBezTo>
                  <a:pt x="162" y="240"/>
                  <a:pt x="99" y="135"/>
                  <a:pt x="7" y="64"/>
                </a:cubicBezTo>
                <a:cubicBezTo>
                  <a:pt x="2" y="60"/>
                  <a:pt x="0" y="55"/>
                  <a:pt x="0" y="49"/>
                </a:cubicBezTo>
                <a:cubicBezTo>
                  <a:pt x="1" y="43"/>
                  <a:pt x="5" y="38"/>
                  <a:pt x="11" y="35"/>
                </a:cubicBezTo>
                <a:cubicBezTo>
                  <a:pt x="62" y="12"/>
                  <a:pt x="119" y="0"/>
                  <a:pt x="178" y="0"/>
                </a:cubicBezTo>
                <a:cubicBezTo>
                  <a:pt x="244" y="0"/>
                  <a:pt x="306" y="15"/>
                  <a:pt x="361" y="42"/>
                </a:cubicBezTo>
                <a:cubicBezTo>
                  <a:pt x="370" y="46"/>
                  <a:pt x="375" y="55"/>
                  <a:pt x="374" y="64"/>
                </a:cubicBezTo>
                <a:cubicBezTo>
                  <a:pt x="365" y="190"/>
                  <a:pt x="301" y="300"/>
                  <a:pt x="205" y="371"/>
                </a:cubicBezTo>
                <a:close/>
              </a:path>
            </a:pathLst>
          </a:custGeom>
          <a:solidFill>
            <a:srgbClr val="B8DFD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p:txBody>
      </p:sp>
      <p:sp>
        <p:nvSpPr>
          <p:cNvPr id="10" name="Freeform 1472"/>
          <p:cNvSpPr/>
          <p:nvPr/>
        </p:nvSpPr>
        <p:spPr bwMode="auto">
          <a:xfrm>
            <a:off x="4541365" y="1514762"/>
            <a:ext cx="1190625" cy="1190625"/>
          </a:xfrm>
          <a:custGeom>
            <a:avLst/>
            <a:gdLst>
              <a:gd name="T0" fmla="*/ 1 w 375"/>
              <a:gd name="T1" fmla="*/ 64 h 375"/>
              <a:gd name="T2" fmla="*/ 14 w 375"/>
              <a:gd name="T3" fmla="*/ 42 h 375"/>
              <a:gd name="T4" fmla="*/ 197 w 375"/>
              <a:gd name="T5" fmla="*/ 0 h 375"/>
              <a:gd name="T6" fmla="*/ 364 w 375"/>
              <a:gd name="T7" fmla="*/ 35 h 375"/>
              <a:gd name="T8" fmla="*/ 375 w 375"/>
              <a:gd name="T9" fmla="*/ 49 h 375"/>
              <a:gd name="T10" fmla="*/ 368 w 375"/>
              <a:gd name="T11" fmla="*/ 64 h 375"/>
              <a:gd name="T12" fmla="*/ 197 w 375"/>
              <a:gd name="T13" fmla="*/ 360 h 375"/>
              <a:gd name="T14" fmla="*/ 187 w 375"/>
              <a:gd name="T15" fmla="*/ 373 h 375"/>
              <a:gd name="T16" fmla="*/ 170 w 375"/>
              <a:gd name="T17" fmla="*/ 371 h 375"/>
              <a:gd name="T18" fmla="*/ 1 w 375"/>
              <a:gd name="T19" fmla="*/ 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 h="375">
                <a:moveTo>
                  <a:pt x="1" y="64"/>
                </a:moveTo>
                <a:cubicBezTo>
                  <a:pt x="0" y="55"/>
                  <a:pt x="5" y="46"/>
                  <a:pt x="14" y="42"/>
                </a:cubicBezTo>
                <a:cubicBezTo>
                  <a:pt x="69" y="15"/>
                  <a:pt x="131" y="0"/>
                  <a:pt x="197" y="0"/>
                </a:cubicBezTo>
                <a:cubicBezTo>
                  <a:pt x="256" y="0"/>
                  <a:pt x="313" y="12"/>
                  <a:pt x="364" y="35"/>
                </a:cubicBezTo>
                <a:cubicBezTo>
                  <a:pt x="370" y="38"/>
                  <a:pt x="374" y="43"/>
                  <a:pt x="375" y="49"/>
                </a:cubicBezTo>
                <a:cubicBezTo>
                  <a:pt x="375" y="55"/>
                  <a:pt x="373" y="60"/>
                  <a:pt x="368" y="64"/>
                </a:cubicBezTo>
                <a:cubicBezTo>
                  <a:pt x="276" y="135"/>
                  <a:pt x="213" y="240"/>
                  <a:pt x="197" y="360"/>
                </a:cubicBezTo>
                <a:cubicBezTo>
                  <a:pt x="196" y="365"/>
                  <a:pt x="192" y="371"/>
                  <a:pt x="187" y="373"/>
                </a:cubicBezTo>
                <a:cubicBezTo>
                  <a:pt x="181" y="375"/>
                  <a:pt x="175" y="375"/>
                  <a:pt x="170" y="371"/>
                </a:cubicBezTo>
                <a:cubicBezTo>
                  <a:pt x="74" y="300"/>
                  <a:pt x="10" y="190"/>
                  <a:pt x="1" y="64"/>
                </a:cubicBezTo>
                <a:close/>
              </a:path>
            </a:pathLst>
          </a:custGeom>
          <a:solidFill>
            <a:srgbClr val="10AFBC"/>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1" name="Freeform 1473"/>
          <p:cNvSpPr/>
          <p:nvPr/>
        </p:nvSpPr>
        <p:spPr bwMode="auto">
          <a:xfrm>
            <a:off x="5249389" y="2924462"/>
            <a:ext cx="1238250" cy="1031875"/>
          </a:xfrm>
          <a:custGeom>
            <a:avLst/>
            <a:gdLst>
              <a:gd name="T0" fmla="*/ 366 w 390"/>
              <a:gd name="T1" fmla="*/ 3 h 325"/>
              <a:gd name="T2" fmla="*/ 382 w 390"/>
              <a:gd name="T3" fmla="*/ 5 h 325"/>
              <a:gd name="T4" fmla="*/ 389 w 390"/>
              <a:gd name="T5" fmla="*/ 20 h 325"/>
              <a:gd name="T6" fmla="*/ 208 w 390"/>
              <a:gd name="T7" fmla="*/ 320 h 325"/>
              <a:gd name="T8" fmla="*/ 182 w 390"/>
              <a:gd name="T9" fmla="*/ 320 h 325"/>
              <a:gd name="T10" fmla="*/ 1 w 390"/>
              <a:gd name="T11" fmla="*/ 20 h 325"/>
              <a:gd name="T12" fmla="*/ 8 w 390"/>
              <a:gd name="T13" fmla="*/ 5 h 325"/>
              <a:gd name="T14" fmla="*/ 24 w 390"/>
              <a:gd name="T15" fmla="*/ 3 h 325"/>
              <a:gd name="T16" fmla="*/ 195 w 390"/>
              <a:gd name="T17" fmla="*/ 37 h 325"/>
              <a:gd name="T18" fmla="*/ 366 w 390"/>
              <a:gd name="T19" fmla="*/ 3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0" h="325">
                <a:moveTo>
                  <a:pt x="366" y="3"/>
                </a:moveTo>
                <a:cubicBezTo>
                  <a:pt x="371" y="0"/>
                  <a:pt x="378" y="1"/>
                  <a:pt x="382" y="5"/>
                </a:cubicBezTo>
                <a:cubicBezTo>
                  <a:pt x="387" y="8"/>
                  <a:pt x="390" y="14"/>
                  <a:pt x="389" y="20"/>
                </a:cubicBezTo>
                <a:cubicBezTo>
                  <a:pt x="375" y="145"/>
                  <a:pt x="307" y="253"/>
                  <a:pt x="208" y="320"/>
                </a:cubicBezTo>
                <a:cubicBezTo>
                  <a:pt x="200" y="325"/>
                  <a:pt x="190" y="325"/>
                  <a:pt x="182" y="320"/>
                </a:cubicBezTo>
                <a:cubicBezTo>
                  <a:pt x="83" y="253"/>
                  <a:pt x="15" y="145"/>
                  <a:pt x="1" y="20"/>
                </a:cubicBezTo>
                <a:cubicBezTo>
                  <a:pt x="0" y="14"/>
                  <a:pt x="3" y="8"/>
                  <a:pt x="8" y="5"/>
                </a:cubicBezTo>
                <a:cubicBezTo>
                  <a:pt x="12" y="1"/>
                  <a:pt x="19" y="0"/>
                  <a:pt x="24" y="3"/>
                </a:cubicBezTo>
                <a:cubicBezTo>
                  <a:pt x="77" y="24"/>
                  <a:pt x="135" y="37"/>
                  <a:pt x="195" y="37"/>
                </a:cubicBezTo>
                <a:cubicBezTo>
                  <a:pt x="255" y="37"/>
                  <a:pt x="313" y="24"/>
                  <a:pt x="366" y="3"/>
                </a:cubicBezTo>
                <a:close/>
              </a:path>
            </a:pathLst>
          </a:custGeom>
          <a:solidFill>
            <a:srgbClr val="0C7F8A"/>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2" name="Freeform 274"/>
          <p:cNvSpPr>
            <a:spLocks noEditPoints="1"/>
          </p:cNvSpPr>
          <p:nvPr/>
        </p:nvSpPr>
        <p:spPr bwMode="auto">
          <a:xfrm>
            <a:off x="6545131" y="1797863"/>
            <a:ext cx="390525" cy="333375"/>
          </a:xfrm>
          <a:custGeom>
            <a:avLst/>
            <a:gdLst>
              <a:gd name="T0" fmla="*/ 5 w 123"/>
              <a:gd name="T1" fmla="*/ 100 h 105"/>
              <a:gd name="T2" fmla="*/ 10 w 123"/>
              <a:gd name="T3" fmla="*/ 105 h 105"/>
              <a:gd name="T4" fmla="*/ 32 w 123"/>
              <a:gd name="T5" fmla="*/ 105 h 105"/>
              <a:gd name="T6" fmla="*/ 32 w 123"/>
              <a:gd name="T7" fmla="*/ 57 h 105"/>
              <a:gd name="T8" fmla="*/ 5 w 123"/>
              <a:gd name="T9" fmla="*/ 84 h 105"/>
              <a:gd name="T10" fmla="*/ 5 w 123"/>
              <a:gd name="T11" fmla="*/ 100 h 105"/>
              <a:gd name="T12" fmla="*/ 43 w 123"/>
              <a:gd name="T13" fmla="*/ 68 h 105"/>
              <a:gd name="T14" fmla="*/ 43 w 123"/>
              <a:gd name="T15" fmla="*/ 105 h 105"/>
              <a:gd name="T16" fmla="*/ 71 w 123"/>
              <a:gd name="T17" fmla="*/ 105 h 105"/>
              <a:gd name="T18" fmla="*/ 71 w 123"/>
              <a:gd name="T19" fmla="*/ 72 h 105"/>
              <a:gd name="T20" fmla="*/ 59 w 123"/>
              <a:gd name="T21" fmla="*/ 84 h 105"/>
              <a:gd name="T22" fmla="*/ 43 w 123"/>
              <a:gd name="T23" fmla="*/ 68 h 105"/>
              <a:gd name="T24" fmla="*/ 82 w 123"/>
              <a:gd name="T25" fmla="*/ 61 h 105"/>
              <a:gd name="T26" fmla="*/ 82 w 123"/>
              <a:gd name="T27" fmla="*/ 105 h 105"/>
              <a:gd name="T28" fmla="*/ 104 w 123"/>
              <a:gd name="T29" fmla="*/ 105 h 105"/>
              <a:gd name="T30" fmla="*/ 109 w 123"/>
              <a:gd name="T31" fmla="*/ 100 h 105"/>
              <a:gd name="T32" fmla="*/ 109 w 123"/>
              <a:gd name="T33" fmla="*/ 33 h 105"/>
              <a:gd name="T34" fmla="*/ 85 w 123"/>
              <a:gd name="T35" fmla="*/ 57 h 105"/>
              <a:gd name="T36" fmla="*/ 82 w 123"/>
              <a:gd name="T37" fmla="*/ 61 h 105"/>
              <a:gd name="T38" fmla="*/ 98 w 123"/>
              <a:gd name="T39" fmla="*/ 2 h 105"/>
              <a:gd name="T40" fmla="*/ 94 w 123"/>
              <a:gd name="T41" fmla="*/ 8 h 105"/>
              <a:gd name="T42" fmla="*/ 99 w 123"/>
              <a:gd name="T43" fmla="*/ 12 h 105"/>
              <a:gd name="T44" fmla="*/ 104 w 123"/>
              <a:gd name="T45" fmla="*/ 12 h 105"/>
              <a:gd name="T46" fmla="*/ 59 w 123"/>
              <a:gd name="T47" fmla="*/ 57 h 105"/>
              <a:gd name="T48" fmla="*/ 32 w 123"/>
              <a:gd name="T49" fmla="*/ 30 h 105"/>
              <a:gd name="T50" fmla="*/ 2 w 123"/>
              <a:gd name="T51" fmla="*/ 61 h 105"/>
              <a:gd name="T52" fmla="*/ 2 w 123"/>
              <a:gd name="T53" fmla="*/ 68 h 105"/>
              <a:gd name="T54" fmla="*/ 8 w 123"/>
              <a:gd name="T55" fmla="*/ 68 h 105"/>
              <a:gd name="T56" fmla="*/ 32 w 123"/>
              <a:gd name="T57" fmla="*/ 44 h 105"/>
              <a:gd name="T58" fmla="*/ 59 w 123"/>
              <a:gd name="T59" fmla="*/ 71 h 105"/>
              <a:gd name="T60" fmla="*/ 111 w 123"/>
              <a:gd name="T61" fmla="*/ 19 h 105"/>
              <a:gd name="T62" fmla="*/ 111 w 123"/>
              <a:gd name="T63" fmla="*/ 24 h 105"/>
              <a:gd name="T64" fmla="*/ 115 w 123"/>
              <a:gd name="T65" fmla="*/ 29 h 105"/>
              <a:gd name="T66" fmla="*/ 116 w 123"/>
              <a:gd name="T67" fmla="*/ 29 h 105"/>
              <a:gd name="T68" fmla="*/ 121 w 123"/>
              <a:gd name="T69" fmla="*/ 25 h 105"/>
              <a:gd name="T70" fmla="*/ 123 w 123"/>
              <a:gd name="T71" fmla="*/ 0 h 105"/>
              <a:gd name="T72" fmla="*/ 98 w 123"/>
              <a:gd name="T73" fmla="*/ 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 h="105">
                <a:moveTo>
                  <a:pt x="5" y="100"/>
                </a:moveTo>
                <a:cubicBezTo>
                  <a:pt x="5" y="102"/>
                  <a:pt x="7" y="105"/>
                  <a:pt x="10" y="105"/>
                </a:cubicBezTo>
                <a:cubicBezTo>
                  <a:pt x="32" y="105"/>
                  <a:pt x="32" y="105"/>
                  <a:pt x="32" y="105"/>
                </a:cubicBezTo>
                <a:cubicBezTo>
                  <a:pt x="32" y="57"/>
                  <a:pt x="32" y="57"/>
                  <a:pt x="32" y="57"/>
                </a:cubicBezTo>
                <a:cubicBezTo>
                  <a:pt x="5" y="84"/>
                  <a:pt x="5" y="84"/>
                  <a:pt x="5" y="84"/>
                </a:cubicBezTo>
                <a:lnTo>
                  <a:pt x="5" y="100"/>
                </a:lnTo>
                <a:close/>
                <a:moveTo>
                  <a:pt x="43" y="68"/>
                </a:moveTo>
                <a:cubicBezTo>
                  <a:pt x="43" y="105"/>
                  <a:pt x="43" y="105"/>
                  <a:pt x="43" y="105"/>
                </a:cubicBezTo>
                <a:cubicBezTo>
                  <a:pt x="71" y="105"/>
                  <a:pt x="71" y="105"/>
                  <a:pt x="71" y="105"/>
                </a:cubicBezTo>
                <a:cubicBezTo>
                  <a:pt x="71" y="72"/>
                  <a:pt x="71" y="72"/>
                  <a:pt x="71" y="72"/>
                </a:cubicBezTo>
                <a:cubicBezTo>
                  <a:pt x="59" y="84"/>
                  <a:pt x="59" y="84"/>
                  <a:pt x="59" y="84"/>
                </a:cubicBezTo>
                <a:lnTo>
                  <a:pt x="43" y="68"/>
                </a:lnTo>
                <a:close/>
                <a:moveTo>
                  <a:pt x="82" y="61"/>
                </a:moveTo>
                <a:cubicBezTo>
                  <a:pt x="82" y="105"/>
                  <a:pt x="82" y="105"/>
                  <a:pt x="82" y="105"/>
                </a:cubicBezTo>
                <a:cubicBezTo>
                  <a:pt x="104" y="105"/>
                  <a:pt x="104" y="105"/>
                  <a:pt x="104" y="105"/>
                </a:cubicBezTo>
                <a:cubicBezTo>
                  <a:pt x="107" y="105"/>
                  <a:pt x="109" y="102"/>
                  <a:pt x="109" y="100"/>
                </a:cubicBezTo>
                <a:cubicBezTo>
                  <a:pt x="109" y="33"/>
                  <a:pt x="109" y="33"/>
                  <a:pt x="109" y="33"/>
                </a:cubicBezTo>
                <a:cubicBezTo>
                  <a:pt x="85" y="57"/>
                  <a:pt x="85" y="57"/>
                  <a:pt x="85" y="57"/>
                </a:cubicBezTo>
                <a:lnTo>
                  <a:pt x="82" y="61"/>
                </a:lnTo>
                <a:close/>
                <a:moveTo>
                  <a:pt x="98" y="2"/>
                </a:moveTo>
                <a:cubicBezTo>
                  <a:pt x="95" y="2"/>
                  <a:pt x="93" y="5"/>
                  <a:pt x="94" y="8"/>
                </a:cubicBezTo>
                <a:cubicBezTo>
                  <a:pt x="94" y="10"/>
                  <a:pt x="96" y="12"/>
                  <a:pt x="99" y="12"/>
                </a:cubicBezTo>
                <a:cubicBezTo>
                  <a:pt x="104" y="12"/>
                  <a:pt x="104" y="12"/>
                  <a:pt x="104" y="12"/>
                </a:cubicBezTo>
                <a:cubicBezTo>
                  <a:pt x="59" y="57"/>
                  <a:pt x="59" y="57"/>
                  <a:pt x="59" y="57"/>
                </a:cubicBezTo>
                <a:cubicBezTo>
                  <a:pt x="32" y="30"/>
                  <a:pt x="32" y="30"/>
                  <a:pt x="32" y="30"/>
                </a:cubicBezTo>
                <a:cubicBezTo>
                  <a:pt x="2" y="61"/>
                  <a:pt x="2" y="61"/>
                  <a:pt x="2" y="61"/>
                </a:cubicBezTo>
                <a:cubicBezTo>
                  <a:pt x="0" y="63"/>
                  <a:pt x="0" y="66"/>
                  <a:pt x="2" y="68"/>
                </a:cubicBezTo>
                <a:cubicBezTo>
                  <a:pt x="3" y="70"/>
                  <a:pt x="7" y="70"/>
                  <a:pt x="8" y="68"/>
                </a:cubicBezTo>
                <a:cubicBezTo>
                  <a:pt x="32" y="44"/>
                  <a:pt x="32" y="44"/>
                  <a:pt x="32" y="44"/>
                </a:cubicBezTo>
                <a:cubicBezTo>
                  <a:pt x="59" y="71"/>
                  <a:pt x="59" y="71"/>
                  <a:pt x="59" y="71"/>
                </a:cubicBezTo>
                <a:cubicBezTo>
                  <a:pt x="111" y="19"/>
                  <a:pt x="111" y="19"/>
                  <a:pt x="111" y="19"/>
                </a:cubicBezTo>
                <a:cubicBezTo>
                  <a:pt x="111" y="24"/>
                  <a:pt x="111" y="24"/>
                  <a:pt x="111" y="24"/>
                </a:cubicBezTo>
                <a:cubicBezTo>
                  <a:pt x="111" y="26"/>
                  <a:pt x="113" y="29"/>
                  <a:pt x="115" y="29"/>
                </a:cubicBezTo>
                <a:cubicBezTo>
                  <a:pt x="116" y="29"/>
                  <a:pt x="116" y="29"/>
                  <a:pt x="116" y="29"/>
                </a:cubicBezTo>
                <a:cubicBezTo>
                  <a:pt x="118" y="29"/>
                  <a:pt x="120" y="27"/>
                  <a:pt x="121" y="25"/>
                </a:cubicBezTo>
                <a:cubicBezTo>
                  <a:pt x="123" y="0"/>
                  <a:pt x="123" y="0"/>
                  <a:pt x="123" y="0"/>
                </a:cubicBezTo>
                <a:lnTo>
                  <a:pt x="98" y="2"/>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3" name="Freeform 275"/>
          <p:cNvSpPr>
            <a:spLocks noEditPoints="1"/>
          </p:cNvSpPr>
          <p:nvPr/>
        </p:nvSpPr>
        <p:spPr bwMode="auto">
          <a:xfrm>
            <a:off x="5689330" y="3219456"/>
            <a:ext cx="333375" cy="415925"/>
          </a:xfrm>
          <a:custGeom>
            <a:avLst/>
            <a:gdLst>
              <a:gd name="T0" fmla="*/ 150 w 210"/>
              <a:gd name="T1" fmla="*/ 108 h 262"/>
              <a:gd name="T2" fmla="*/ 36 w 210"/>
              <a:gd name="T3" fmla="*/ 108 h 262"/>
              <a:gd name="T4" fmla="*/ 36 w 210"/>
              <a:gd name="T5" fmla="*/ 124 h 262"/>
              <a:gd name="T6" fmla="*/ 150 w 210"/>
              <a:gd name="T7" fmla="*/ 124 h 262"/>
              <a:gd name="T8" fmla="*/ 150 w 210"/>
              <a:gd name="T9" fmla="*/ 108 h 262"/>
              <a:gd name="T10" fmla="*/ 150 w 210"/>
              <a:gd name="T11" fmla="*/ 42 h 262"/>
              <a:gd name="T12" fmla="*/ 36 w 210"/>
              <a:gd name="T13" fmla="*/ 42 h 262"/>
              <a:gd name="T14" fmla="*/ 36 w 210"/>
              <a:gd name="T15" fmla="*/ 58 h 262"/>
              <a:gd name="T16" fmla="*/ 150 w 210"/>
              <a:gd name="T17" fmla="*/ 58 h 262"/>
              <a:gd name="T18" fmla="*/ 150 w 210"/>
              <a:gd name="T19" fmla="*/ 42 h 262"/>
              <a:gd name="T20" fmla="*/ 150 w 210"/>
              <a:gd name="T21" fmla="*/ 74 h 262"/>
              <a:gd name="T22" fmla="*/ 36 w 210"/>
              <a:gd name="T23" fmla="*/ 74 h 262"/>
              <a:gd name="T24" fmla="*/ 36 w 210"/>
              <a:gd name="T25" fmla="*/ 92 h 262"/>
              <a:gd name="T26" fmla="*/ 150 w 210"/>
              <a:gd name="T27" fmla="*/ 92 h 262"/>
              <a:gd name="T28" fmla="*/ 150 w 210"/>
              <a:gd name="T29" fmla="*/ 74 h 262"/>
              <a:gd name="T30" fmla="*/ 186 w 210"/>
              <a:gd name="T31" fmla="*/ 22 h 262"/>
              <a:gd name="T32" fmla="*/ 186 w 210"/>
              <a:gd name="T33" fmla="*/ 0 h 262"/>
              <a:gd name="T34" fmla="*/ 0 w 210"/>
              <a:gd name="T35" fmla="*/ 0 h 262"/>
              <a:gd name="T36" fmla="*/ 0 w 210"/>
              <a:gd name="T37" fmla="*/ 240 h 262"/>
              <a:gd name="T38" fmla="*/ 24 w 210"/>
              <a:gd name="T39" fmla="*/ 240 h 262"/>
              <a:gd name="T40" fmla="*/ 24 w 210"/>
              <a:gd name="T41" fmla="*/ 262 h 262"/>
              <a:gd name="T42" fmla="*/ 210 w 210"/>
              <a:gd name="T43" fmla="*/ 262 h 262"/>
              <a:gd name="T44" fmla="*/ 210 w 210"/>
              <a:gd name="T45" fmla="*/ 22 h 262"/>
              <a:gd name="T46" fmla="*/ 186 w 210"/>
              <a:gd name="T47" fmla="*/ 22 h 262"/>
              <a:gd name="T48" fmla="*/ 14 w 210"/>
              <a:gd name="T49" fmla="*/ 226 h 262"/>
              <a:gd name="T50" fmla="*/ 14 w 210"/>
              <a:gd name="T51" fmla="*/ 12 h 262"/>
              <a:gd name="T52" fmla="*/ 174 w 210"/>
              <a:gd name="T53" fmla="*/ 12 h 262"/>
              <a:gd name="T54" fmla="*/ 174 w 210"/>
              <a:gd name="T55" fmla="*/ 172 h 262"/>
              <a:gd name="T56" fmla="*/ 118 w 210"/>
              <a:gd name="T57" fmla="*/ 172 h 262"/>
              <a:gd name="T58" fmla="*/ 118 w 210"/>
              <a:gd name="T59" fmla="*/ 226 h 262"/>
              <a:gd name="T60" fmla="*/ 14 w 210"/>
              <a:gd name="T61" fmla="*/ 226 h 262"/>
              <a:gd name="T62" fmla="*/ 196 w 210"/>
              <a:gd name="T63" fmla="*/ 250 h 262"/>
              <a:gd name="T64" fmla="*/ 36 w 210"/>
              <a:gd name="T65" fmla="*/ 250 h 262"/>
              <a:gd name="T66" fmla="*/ 36 w 210"/>
              <a:gd name="T67" fmla="*/ 240 h 262"/>
              <a:gd name="T68" fmla="*/ 126 w 210"/>
              <a:gd name="T69" fmla="*/ 240 h 262"/>
              <a:gd name="T70" fmla="*/ 186 w 210"/>
              <a:gd name="T71" fmla="*/ 178 h 262"/>
              <a:gd name="T72" fmla="*/ 186 w 210"/>
              <a:gd name="T73" fmla="*/ 36 h 262"/>
              <a:gd name="T74" fmla="*/ 196 w 210"/>
              <a:gd name="T75" fmla="*/ 36 h 262"/>
              <a:gd name="T76" fmla="*/ 196 w 210"/>
              <a:gd name="T77" fmla="*/ 250 h 262"/>
              <a:gd name="T78" fmla="*/ 36 w 210"/>
              <a:gd name="T79" fmla="*/ 156 h 262"/>
              <a:gd name="T80" fmla="*/ 94 w 210"/>
              <a:gd name="T81" fmla="*/ 156 h 262"/>
              <a:gd name="T82" fmla="*/ 94 w 210"/>
              <a:gd name="T83" fmla="*/ 140 h 262"/>
              <a:gd name="T84" fmla="*/ 36 w 210"/>
              <a:gd name="T85" fmla="*/ 140 h 262"/>
              <a:gd name="T86" fmla="*/ 36 w 210"/>
              <a:gd name="T87" fmla="*/ 15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0" h="262">
                <a:moveTo>
                  <a:pt x="150" y="108"/>
                </a:moveTo>
                <a:lnTo>
                  <a:pt x="36" y="108"/>
                </a:lnTo>
                <a:lnTo>
                  <a:pt x="36" y="124"/>
                </a:lnTo>
                <a:lnTo>
                  <a:pt x="150" y="124"/>
                </a:lnTo>
                <a:lnTo>
                  <a:pt x="150" y="108"/>
                </a:lnTo>
                <a:close/>
                <a:moveTo>
                  <a:pt x="150" y="42"/>
                </a:moveTo>
                <a:lnTo>
                  <a:pt x="36" y="42"/>
                </a:lnTo>
                <a:lnTo>
                  <a:pt x="36" y="58"/>
                </a:lnTo>
                <a:lnTo>
                  <a:pt x="150" y="58"/>
                </a:lnTo>
                <a:lnTo>
                  <a:pt x="150" y="42"/>
                </a:lnTo>
                <a:close/>
                <a:moveTo>
                  <a:pt x="150" y="74"/>
                </a:moveTo>
                <a:lnTo>
                  <a:pt x="36" y="74"/>
                </a:lnTo>
                <a:lnTo>
                  <a:pt x="36" y="92"/>
                </a:lnTo>
                <a:lnTo>
                  <a:pt x="150" y="92"/>
                </a:lnTo>
                <a:lnTo>
                  <a:pt x="150" y="74"/>
                </a:lnTo>
                <a:close/>
                <a:moveTo>
                  <a:pt x="186" y="22"/>
                </a:moveTo>
                <a:lnTo>
                  <a:pt x="186" y="0"/>
                </a:lnTo>
                <a:lnTo>
                  <a:pt x="0" y="0"/>
                </a:lnTo>
                <a:lnTo>
                  <a:pt x="0" y="240"/>
                </a:lnTo>
                <a:lnTo>
                  <a:pt x="24" y="240"/>
                </a:lnTo>
                <a:lnTo>
                  <a:pt x="24" y="262"/>
                </a:lnTo>
                <a:lnTo>
                  <a:pt x="210" y="262"/>
                </a:lnTo>
                <a:lnTo>
                  <a:pt x="210" y="22"/>
                </a:lnTo>
                <a:lnTo>
                  <a:pt x="186" y="22"/>
                </a:lnTo>
                <a:close/>
                <a:moveTo>
                  <a:pt x="14" y="226"/>
                </a:moveTo>
                <a:lnTo>
                  <a:pt x="14" y="12"/>
                </a:lnTo>
                <a:lnTo>
                  <a:pt x="174" y="12"/>
                </a:lnTo>
                <a:lnTo>
                  <a:pt x="174" y="172"/>
                </a:lnTo>
                <a:lnTo>
                  <a:pt x="118" y="172"/>
                </a:lnTo>
                <a:lnTo>
                  <a:pt x="118" y="226"/>
                </a:lnTo>
                <a:lnTo>
                  <a:pt x="14" y="226"/>
                </a:lnTo>
                <a:close/>
                <a:moveTo>
                  <a:pt x="196" y="250"/>
                </a:moveTo>
                <a:lnTo>
                  <a:pt x="36" y="250"/>
                </a:lnTo>
                <a:lnTo>
                  <a:pt x="36" y="240"/>
                </a:lnTo>
                <a:lnTo>
                  <a:pt x="126" y="240"/>
                </a:lnTo>
                <a:lnTo>
                  <a:pt x="186" y="178"/>
                </a:lnTo>
                <a:lnTo>
                  <a:pt x="186" y="36"/>
                </a:lnTo>
                <a:lnTo>
                  <a:pt x="196" y="36"/>
                </a:lnTo>
                <a:lnTo>
                  <a:pt x="196" y="250"/>
                </a:lnTo>
                <a:close/>
                <a:moveTo>
                  <a:pt x="36" y="156"/>
                </a:moveTo>
                <a:lnTo>
                  <a:pt x="94" y="156"/>
                </a:lnTo>
                <a:lnTo>
                  <a:pt x="94" y="140"/>
                </a:lnTo>
                <a:lnTo>
                  <a:pt x="36" y="140"/>
                </a:lnTo>
                <a:lnTo>
                  <a:pt x="36" y="156"/>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4" name="Freeform 273"/>
          <p:cNvSpPr>
            <a:spLocks noEditPoints="1"/>
          </p:cNvSpPr>
          <p:nvPr/>
        </p:nvSpPr>
        <p:spPr bwMode="auto">
          <a:xfrm>
            <a:off x="4836098" y="1766783"/>
            <a:ext cx="320573" cy="463437"/>
          </a:xfrm>
          <a:custGeom>
            <a:avLst/>
            <a:gdLst>
              <a:gd name="T0" fmla="*/ 46 w 92"/>
              <a:gd name="T1" fmla="*/ 19 h 133"/>
              <a:gd name="T2" fmla="*/ 48 w 92"/>
              <a:gd name="T3" fmla="*/ 16 h 133"/>
              <a:gd name="T4" fmla="*/ 46 w 92"/>
              <a:gd name="T5" fmla="*/ 14 h 133"/>
              <a:gd name="T6" fmla="*/ 14 w 92"/>
              <a:gd name="T7" fmla="*/ 46 h 133"/>
              <a:gd name="T8" fmla="*/ 16 w 92"/>
              <a:gd name="T9" fmla="*/ 48 h 133"/>
              <a:gd name="T10" fmla="*/ 19 w 92"/>
              <a:gd name="T11" fmla="*/ 46 h 133"/>
              <a:gd name="T12" fmla="*/ 46 w 92"/>
              <a:gd name="T13" fmla="*/ 19 h 133"/>
              <a:gd name="T14" fmla="*/ 26 w 92"/>
              <a:gd name="T15" fmla="*/ 115 h 133"/>
              <a:gd name="T16" fmla="*/ 27 w 92"/>
              <a:gd name="T17" fmla="*/ 122 h 133"/>
              <a:gd name="T18" fmla="*/ 34 w 92"/>
              <a:gd name="T19" fmla="*/ 126 h 133"/>
              <a:gd name="T20" fmla="*/ 34 w 92"/>
              <a:gd name="T21" fmla="*/ 130 h 133"/>
              <a:gd name="T22" fmla="*/ 46 w 92"/>
              <a:gd name="T23" fmla="*/ 133 h 133"/>
              <a:gd name="T24" fmla="*/ 57 w 92"/>
              <a:gd name="T25" fmla="*/ 130 h 133"/>
              <a:gd name="T26" fmla="*/ 58 w 92"/>
              <a:gd name="T27" fmla="*/ 126 h 133"/>
              <a:gd name="T28" fmla="*/ 64 w 92"/>
              <a:gd name="T29" fmla="*/ 122 h 133"/>
              <a:gd name="T30" fmla="*/ 65 w 92"/>
              <a:gd name="T31" fmla="*/ 115 h 133"/>
              <a:gd name="T32" fmla="*/ 46 w 92"/>
              <a:gd name="T33" fmla="*/ 118 h 133"/>
              <a:gd name="T34" fmla="*/ 26 w 92"/>
              <a:gd name="T35" fmla="*/ 115 h 133"/>
              <a:gd name="T36" fmla="*/ 25 w 92"/>
              <a:gd name="T37" fmla="*/ 102 h 133"/>
              <a:gd name="T38" fmla="*/ 26 w 92"/>
              <a:gd name="T39" fmla="*/ 109 h 133"/>
              <a:gd name="T40" fmla="*/ 46 w 92"/>
              <a:gd name="T41" fmla="*/ 113 h 133"/>
              <a:gd name="T42" fmla="*/ 66 w 92"/>
              <a:gd name="T43" fmla="*/ 109 h 133"/>
              <a:gd name="T44" fmla="*/ 67 w 92"/>
              <a:gd name="T45" fmla="*/ 102 h 133"/>
              <a:gd name="T46" fmla="*/ 46 w 92"/>
              <a:gd name="T47" fmla="*/ 106 h 133"/>
              <a:gd name="T48" fmla="*/ 25 w 92"/>
              <a:gd name="T49" fmla="*/ 102 h 133"/>
              <a:gd name="T50" fmla="*/ 46 w 92"/>
              <a:gd name="T51" fmla="*/ 0 h 133"/>
              <a:gd name="T52" fmla="*/ 0 w 92"/>
              <a:gd name="T53" fmla="*/ 46 h 133"/>
              <a:gd name="T54" fmla="*/ 22 w 92"/>
              <a:gd name="T55" fmla="*/ 85 h 133"/>
              <a:gd name="T56" fmla="*/ 24 w 92"/>
              <a:gd name="T57" fmla="*/ 96 h 133"/>
              <a:gd name="T58" fmla="*/ 46 w 92"/>
              <a:gd name="T59" fmla="*/ 101 h 133"/>
              <a:gd name="T60" fmla="*/ 68 w 92"/>
              <a:gd name="T61" fmla="*/ 96 h 133"/>
              <a:gd name="T62" fmla="*/ 69 w 92"/>
              <a:gd name="T63" fmla="*/ 85 h 133"/>
              <a:gd name="T64" fmla="*/ 92 w 92"/>
              <a:gd name="T65" fmla="*/ 46 h 133"/>
              <a:gd name="T66" fmla="*/ 46 w 92"/>
              <a:gd name="T67" fmla="*/ 0 h 133"/>
              <a:gd name="T68" fmla="*/ 63 w 92"/>
              <a:gd name="T69" fmla="*/ 79 h 133"/>
              <a:gd name="T70" fmla="*/ 62 w 92"/>
              <a:gd name="T71" fmla="*/ 90 h 133"/>
              <a:gd name="T72" fmla="*/ 46 w 92"/>
              <a:gd name="T73" fmla="*/ 93 h 133"/>
              <a:gd name="T74" fmla="*/ 30 w 92"/>
              <a:gd name="T75" fmla="*/ 90 h 133"/>
              <a:gd name="T76" fmla="*/ 29 w 92"/>
              <a:gd name="T77" fmla="*/ 79 h 133"/>
              <a:gd name="T78" fmla="*/ 8 w 92"/>
              <a:gd name="T79" fmla="*/ 46 h 133"/>
              <a:gd name="T80" fmla="*/ 46 w 92"/>
              <a:gd name="T81" fmla="*/ 8 h 133"/>
              <a:gd name="T82" fmla="*/ 83 w 92"/>
              <a:gd name="T83" fmla="*/ 46 h 133"/>
              <a:gd name="T84" fmla="*/ 63 w 92"/>
              <a:gd name="T85" fmla="*/ 79 h 133"/>
              <a:gd name="T86" fmla="*/ 56 w 92"/>
              <a:gd name="T87" fmla="*/ 63 h 133"/>
              <a:gd name="T88" fmla="*/ 46 w 92"/>
              <a:gd name="T89" fmla="*/ 44 h 133"/>
              <a:gd name="T90" fmla="*/ 36 w 92"/>
              <a:gd name="T91" fmla="*/ 63 h 133"/>
              <a:gd name="T92" fmla="*/ 31 w 92"/>
              <a:gd name="T93" fmla="*/ 54 h 133"/>
              <a:gd name="T94" fmla="*/ 25 w 92"/>
              <a:gd name="T95" fmla="*/ 57 h 133"/>
              <a:gd name="T96" fmla="*/ 35 w 92"/>
              <a:gd name="T97" fmla="*/ 78 h 133"/>
              <a:gd name="T98" fmla="*/ 46 w 92"/>
              <a:gd name="T99" fmla="*/ 59 h 133"/>
              <a:gd name="T100" fmla="*/ 56 w 92"/>
              <a:gd name="T101" fmla="*/ 78 h 133"/>
              <a:gd name="T102" fmla="*/ 67 w 92"/>
              <a:gd name="T103" fmla="*/ 57 h 133"/>
              <a:gd name="T104" fmla="*/ 60 w 92"/>
              <a:gd name="T105" fmla="*/ 54 h 133"/>
              <a:gd name="T106" fmla="*/ 56 w 92"/>
              <a:gd name="T107" fmla="*/ 6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 h="133">
                <a:moveTo>
                  <a:pt x="46" y="19"/>
                </a:moveTo>
                <a:cubicBezTo>
                  <a:pt x="47" y="19"/>
                  <a:pt x="48" y="18"/>
                  <a:pt x="48" y="16"/>
                </a:cubicBezTo>
                <a:cubicBezTo>
                  <a:pt x="48" y="15"/>
                  <a:pt x="47" y="14"/>
                  <a:pt x="46" y="14"/>
                </a:cubicBezTo>
                <a:cubicBezTo>
                  <a:pt x="28" y="14"/>
                  <a:pt x="14" y="28"/>
                  <a:pt x="14" y="46"/>
                </a:cubicBezTo>
                <a:cubicBezTo>
                  <a:pt x="14" y="47"/>
                  <a:pt x="15" y="48"/>
                  <a:pt x="16" y="48"/>
                </a:cubicBezTo>
                <a:cubicBezTo>
                  <a:pt x="18" y="48"/>
                  <a:pt x="19" y="47"/>
                  <a:pt x="19" y="46"/>
                </a:cubicBezTo>
                <a:cubicBezTo>
                  <a:pt x="19" y="31"/>
                  <a:pt x="31" y="19"/>
                  <a:pt x="46" y="19"/>
                </a:cubicBezTo>
                <a:close/>
                <a:moveTo>
                  <a:pt x="26" y="115"/>
                </a:moveTo>
                <a:cubicBezTo>
                  <a:pt x="27" y="122"/>
                  <a:pt x="27" y="122"/>
                  <a:pt x="27" y="122"/>
                </a:cubicBezTo>
                <a:cubicBezTo>
                  <a:pt x="27" y="122"/>
                  <a:pt x="29" y="124"/>
                  <a:pt x="34" y="126"/>
                </a:cubicBezTo>
                <a:cubicBezTo>
                  <a:pt x="34" y="130"/>
                  <a:pt x="34" y="130"/>
                  <a:pt x="34" y="130"/>
                </a:cubicBezTo>
                <a:cubicBezTo>
                  <a:pt x="34" y="130"/>
                  <a:pt x="37" y="133"/>
                  <a:pt x="46" y="133"/>
                </a:cubicBezTo>
                <a:cubicBezTo>
                  <a:pt x="55" y="133"/>
                  <a:pt x="57" y="130"/>
                  <a:pt x="57" y="130"/>
                </a:cubicBezTo>
                <a:cubicBezTo>
                  <a:pt x="58" y="126"/>
                  <a:pt x="58" y="126"/>
                  <a:pt x="58" y="126"/>
                </a:cubicBezTo>
                <a:cubicBezTo>
                  <a:pt x="63" y="124"/>
                  <a:pt x="64" y="122"/>
                  <a:pt x="64" y="122"/>
                </a:cubicBezTo>
                <a:cubicBezTo>
                  <a:pt x="65" y="115"/>
                  <a:pt x="65" y="115"/>
                  <a:pt x="65" y="115"/>
                </a:cubicBezTo>
                <a:cubicBezTo>
                  <a:pt x="59" y="117"/>
                  <a:pt x="53" y="118"/>
                  <a:pt x="46" y="118"/>
                </a:cubicBezTo>
                <a:cubicBezTo>
                  <a:pt x="39" y="118"/>
                  <a:pt x="32" y="117"/>
                  <a:pt x="26" y="115"/>
                </a:cubicBezTo>
                <a:close/>
                <a:moveTo>
                  <a:pt x="25" y="102"/>
                </a:moveTo>
                <a:cubicBezTo>
                  <a:pt x="26" y="109"/>
                  <a:pt x="26" y="109"/>
                  <a:pt x="26" y="109"/>
                </a:cubicBezTo>
                <a:cubicBezTo>
                  <a:pt x="32" y="111"/>
                  <a:pt x="38" y="113"/>
                  <a:pt x="46" y="113"/>
                </a:cubicBezTo>
                <a:cubicBezTo>
                  <a:pt x="53" y="113"/>
                  <a:pt x="60" y="111"/>
                  <a:pt x="66" y="109"/>
                </a:cubicBezTo>
                <a:cubicBezTo>
                  <a:pt x="67" y="102"/>
                  <a:pt x="67" y="102"/>
                  <a:pt x="67" y="102"/>
                </a:cubicBezTo>
                <a:cubicBezTo>
                  <a:pt x="61" y="105"/>
                  <a:pt x="53" y="106"/>
                  <a:pt x="46" y="106"/>
                </a:cubicBezTo>
                <a:cubicBezTo>
                  <a:pt x="38" y="106"/>
                  <a:pt x="31" y="105"/>
                  <a:pt x="25" y="102"/>
                </a:cubicBezTo>
                <a:close/>
                <a:moveTo>
                  <a:pt x="46" y="0"/>
                </a:moveTo>
                <a:cubicBezTo>
                  <a:pt x="21" y="0"/>
                  <a:pt x="0" y="20"/>
                  <a:pt x="0" y="46"/>
                </a:cubicBezTo>
                <a:cubicBezTo>
                  <a:pt x="0" y="62"/>
                  <a:pt x="9" y="77"/>
                  <a:pt x="22" y="85"/>
                </a:cubicBezTo>
                <a:cubicBezTo>
                  <a:pt x="24" y="96"/>
                  <a:pt x="24" y="96"/>
                  <a:pt x="24" y="96"/>
                </a:cubicBezTo>
                <a:cubicBezTo>
                  <a:pt x="30" y="99"/>
                  <a:pt x="38" y="101"/>
                  <a:pt x="46" y="101"/>
                </a:cubicBezTo>
                <a:cubicBezTo>
                  <a:pt x="54" y="101"/>
                  <a:pt x="61" y="99"/>
                  <a:pt x="68" y="96"/>
                </a:cubicBezTo>
                <a:cubicBezTo>
                  <a:pt x="69" y="85"/>
                  <a:pt x="69" y="85"/>
                  <a:pt x="69" y="85"/>
                </a:cubicBezTo>
                <a:cubicBezTo>
                  <a:pt x="83" y="77"/>
                  <a:pt x="92" y="62"/>
                  <a:pt x="92" y="46"/>
                </a:cubicBezTo>
                <a:cubicBezTo>
                  <a:pt x="92" y="20"/>
                  <a:pt x="71" y="0"/>
                  <a:pt x="46" y="0"/>
                </a:cubicBezTo>
                <a:close/>
                <a:moveTo>
                  <a:pt x="63" y="79"/>
                </a:moveTo>
                <a:cubicBezTo>
                  <a:pt x="62" y="90"/>
                  <a:pt x="62" y="90"/>
                  <a:pt x="62" y="90"/>
                </a:cubicBezTo>
                <a:cubicBezTo>
                  <a:pt x="62" y="90"/>
                  <a:pt x="57" y="93"/>
                  <a:pt x="46" y="93"/>
                </a:cubicBezTo>
                <a:cubicBezTo>
                  <a:pt x="34" y="93"/>
                  <a:pt x="30" y="90"/>
                  <a:pt x="30" y="90"/>
                </a:cubicBezTo>
                <a:cubicBezTo>
                  <a:pt x="29" y="79"/>
                  <a:pt x="29" y="79"/>
                  <a:pt x="29" y="79"/>
                </a:cubicBezTo>
                <a:cubicBezTo>
                  <a:pt x="17" y="73"/>
                  <a:pt x="8" y="60"/>
                  <a:pt x="8" y="46"/>
                </a:cubicBezTo>
                <a:cubicBezTo>
                  <a:pt x="8" y="25"/>
                  <a:pt x="25" y="8"/>
                  <a:pt x="46" y="8"/>
                </a:cubicBezTo>
                <a:cubicBezTo>
                  <a:pt x="67" y="8"/>
                  <a:pt x="83" y="25"/>
                  <a:pt x="83" y="46"/>
                </a:cubicBezTo>
                <a:cubicBezTo>
                  <a:pt x="83" y="60"/>
                  <a:pt x="75" y="73"/>
                  <a:pt x="63" y="79"/>
                </a:cubicBezTo>
                <a:close/>
                <a:moveTo>
                  <a:pt x="56" y="63"/>
                </a:moveTo>
                <a:cubicBezTo>
                  <a:pt x="46" y="44"/>
                  <a:pt x="46" y="44"/>
                  <a:pt x="46" y="44"/>
                </a:cubicBezTo>
                <a:cubicBezTo>
                  <a:pt x="36" y="63"/>
                  <a:pt x="36" y="63"/>
                  <a:pt x="36" y="63"/>
                </a:cubicBezTo>
                <a:cubicBezTo>
                  <a:pt x="31" y="54"/>
                  <a:pt x="31" y="54"/>
                  <a:pt x="31" y="54"/>
                </a:cubicBezTo>
                <a:cubicBezTo>
                  <a:pt x="25" y="57"/>
                  <a:pt x="25" y="57"/>
                  <a:pt x="25" y="57"/>
                </a:cubicBezTo>
                <a:cubicBezTo>
                  <a:pt x="35" y="78"/>
                  <a:pt x="35" y="78"/>
                  <a:pt x="35" y="78"/>
                </a:cubicBezTo>
                <a:cubicBezTo>
                  <a:pt x="46" y="59"/>
                  <a:pt x="46" y="59"/>
                  <a:pt x="46" y="59"/>
                </a:cubicBezTo>
                <a:cubicBezTo>
                  <a:pt x="56" y="78"/>
                  <a:pt x="56" y="78"/>
                  <a:pt x="56" y="78"/>
                </a:cubicBezTo>
                <a:cubicBezTo>
                  <a:pt x="67" y="57"/>
                  <a:pt x="67" y="57"/>
                  <a:pt x="67" y="57"/>
                </a:cubicBezTo>
                <a:cubicBezTo>
                  <a:pt x="60" y="54"/>
                  <a:pt x="60" y="54"/>
                  <a:pt x="60" y="54"/>
                </a:cubicBezTo>
                <a:lnTo>
                  <a:pt x="56" y="63"/>
                </a:lnTo>
                <a:close/>
              </a:path>
            </a:pathLst>
          </a:custGeom>
          <a:solidFill>
            <a:srgbClr val="FFFFFF"/>
          </a:solidFill>
          <a:ln>
            <a:noFill/>
          </a:ln>
        </p:spPr>
        <p:txBody>
          <a:bodyPr vert="horz" wrap="square" lIns="91440" tIns="45720" rIns="91440" bIns="45720" numCol="1" anchor="t" anchorCtr="0" compatLnSpc="1"/>
          <a:lstStyle/>
          <a:p>
            <a:pPr>
              <a:defRPr/>
            </a:pPr>
            <a:endParaRPr lang="en-US" kern="0">
              <a:solidFill>
                <a:srgbClr val="000000"/>
              </a:solidFill>
              <a:latin typeface="微软雅黑" panose="020B0503020204020204" pitchFamily="34" charset="-122"/>
              <a:ea typeface="微软雅黑" panose="020B0503020204020204" pitchFamily="34" charset="-122"/>
              <a:cs typeface="Helvetica"/>
            </a:endParaRPr>
          </a:p>
        </p:txBody>
      </p:sp>
      <p:sp>
        <p:nvSpPr>
          <p:cNvPr id="15" name="TextBox 30"/>
          <p:cNvSpPr txBox="1"/>
          <p:nvPr/>
        </p:nvSpPr>
        <p:spPr>
          <a:xfrm>
            <a:off x="5072225" y="841544"/>
            <a:ext cx="1588376" cy="246221"/>
          </a:xfrm>
          <a:prstGeom prst="rect">
            <a:avLst/>
          </a:prstGeom>
          <a:noFill/>
        </p:spPr>
        <p:txBody>
          <a:bodyPr wrap="square" lIns="0" tIns="0" rIns="0" bIns="0" rtlCol="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cs typeface="Helvetica"/>
              </a:rPr>
              <a:t>分销商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6" name="TextBox 33"/>
          <p:cNvSpPr txBox="1"/>
          <p:nvPr/>
        </p:nvSpPr>
        <p:spPr>
          <a:xfrm>
            <a:off x="4016994" y="2952754"/>
            <a:ext cx="1011577" cy="246221"/>
          </a:xfrm>
          <a:prstGeom prst="rect">
            <a:avLst/>
          </a:prstGeom>
          <a:noFill/>
        </p:spPr>
        <p:txBody>
          <a:bodyPr wrap="square" lIns="0" tIns="0" rIns="0" bIns="0" rtlCol="0">
            <a:spAutoFit/>
          </a:bodyPr>
          <a:lstStyle/>
          <a:p>
            <a:pPr algn="r"/>
            <a:r>
              <a:rPr lang="zh-CN" altLang="en-US" sz="1600" b="1" dirty="0">
                <a:solidFill>
                  <a:srgbClr val="FFFFFF"/>
                </a:solidFill>
                <a:latin typeface="微软雅黑" panose="020B0503020204020204" pitchFamily="34" charset="-122"/>
                <a:ea typeface="微软雅黑" panose="020B0503020204020204" pitchFamily="34" charset="-122"/>
                <a:cs typeface="Helvetica"/>
              </a:rPr>
              <a:t>代理商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7" name="TextBox 36"/>
          <p:cNvSpPr txBox="1"/>
          <p:nvPr/>
        </p:nvSpPr>
        <p:spPr>
          <a:xfrm>
            <a:off x="6702318" y="2941534"/>
            <a:ext cx="1124676" cy="246221"/>
          </a:xfrm>
          <a:prstGeom prst="rect">
            <a:avLst/>
          </a:prstGeom>
          <a:noFill/>
        </p:spPr>
        <p:txBody>
          <a:bodyPr wrap="square" lIns="0" tIns="0" rIns="0" bIns="0" rtlCol="0">
            <a:spAutoFit/>
          </a:bodyPr>
          <a:lstStyle/>
          <a:p>
            <a:r>
              <a:rPr lang="zh-CN" altLang="en-US" sz="1600" b="1" dirty="0">
                <a:solidFill>
                  <a:srgbClr val="FFFFFF"/>
                </a:solidFill>
                <a:latin typeface="微软雅黑" panose="020B0503020204020204" pitchFamily="34" charset="-122"/>
                <a:ea typeface="微软雅黑" panose="020B0503020204020204" pitchFamily="34" charset="-122"/>
                <a:cs typeface="Helvetica"/>
              </a:rPr>
              <a:t>授权经销商</a:t>
            </a:r>
            <a:endParaRPr lang="en-US" sz="1600" b="1" dirty="0">
              <a:solidFill>
                <a:srgbClr val="FFFFFF"/>
              </a:solidFill>
              <a:latin typeface="微软雅黑" panose="020B0503020204020204" pitchFamily="34" charset="-122"/>
              <a:ea typeface="微软雅黑" panose="020B0503020204020204" pitchFamily="34" charset="-122"/>
              <a:cs typeface="Helvetica"/>
            </a:endParaRPr>
          </a:p>
        </p:txBody>
      </p:sp>
      <p:sp>
        <p:nvSpPr>
          <p:cNvPr id="18" name="TextBox 38"/>
          <p:cNvSpPr txBox="1"/>
          <p:nvPr/>
        </p:nvSpPr>
        <p:spPr>
          <a:xfrm>
            <a:off x="4980532" y="2071875"/>
            <a:ext cx="1775962" cy="461665"/>
          </a:xfrm>
          <a:prstGeom prst="rect">
            <a:avLst/>
          </a:prstGeom>
          <a:noFill/>
        </p:spPr>
        <p:txBody>
          <a:bodyPr wrap="square" lIns="0" tIns="0" rIns="0" bIns="0" rtlCol="0">
            <a:spAutoFit/>
          </a:bodyPr>
          <a:lstStyle/>
          <a:p>
            <a:pPr algn="ctr">
              <a:lnSpc>
                <a:spcPts val="1800"/>
              </a:lnSpc>
            </a:pPr>
            <a:r>
              <a:rPr lang="zh-CN" altLang="en-US" sz="1600" b="1" dirty="0">
                <a:solidFill>
                  <a:srgbClr val="000000"/>
                </a:solidFill>
                <a:latin typeface="微软雅黑" panose="020B0503020204020204" pitchFamily="34" charset="-122"/>
                <a:ea typeface="微软雅黑" panose="020B0503020204020204" pitchFamily="34" charset="-122"/>
                <a:cs typeface="Helvetica"/>
              </a:rPr>
              <a:t>渠道</a:t>
            </a:r>
            <a:endParaRPr lang="en-US" altLang="zh-CN" sz="1600" b="1" dirty="0">
              <a:solidFill>
                <a:srgbClr val="000000"/>
              </a:solidFill>
              <a:latin typeface="微软雅黑" panose="020B0503020204020204" pitchFamily="34" charset="-122"/>
              <a:ea typeface="微软雅黑" panose="020B0503020204020204" pitchFamily="34" charset="-122"/>
              <a:cs typeface="Helvetica"/>
            </a:endParaRPr>
          </a:p>
          <a:p>
            <a:pPr algn="ctr">
              <a:lnSpc>
                <a:spcPts val="1800"/>
              </a:lnSpc>
            </a:pPr>
            <a:r>
              <a:rPr lang="zh-CN" altLang="en-US" sz="1600" b="1" dirty="0">
                <a:solidFill>
                  <a:srgbClr val="000000"/>
                </a:solidFill>
                <a:latin typeface="微软雅黑" panose="020B0503020204020204" pitchFamily="34" charset="-122"/>
                <a:ea typeface="微软雅黑" panose="020B0503020204020204" pitchFamily="34" charset="-122"/>
                <a:cs typeface="Helvetica"/>
              </a:rPr>
              <a:t>管理</a:t>
            </a:r>
            <a:endParaRPr lang="en-US" sz="1600" b="1" dirty="0">
              <a:solidFill>
                <a:srgbClr val="000000"/>
              </a:solidFill>
              <a:latin typeface="微软雅黑" panose="020B0503020204020204" pitchFamily="34" charset="-122"/>
              <a:ea typeface="微软雅黑" panose="020B0503020204020204" pitchFamily="34" charset="-122"/>
              <a:cs typeface="Helvetica"/>
            </a:endParaRPr>
          </a:p>
        </p:txBody>
      </p:sp>
      <p:sp>
        <p:nvSpPr>
          <p:cNvPr id="19" name="Rectangle: Rounded Corners 92"/>
          <p:cNvSpPr/>
          <p:nvPr>
            <p:custDataLst>
              <p:tags r:id="rId1"/>
            </p:custDataLst>
          </p:nvPr>
        </p:nvSpPr>
        <p:spPr>
          <a:xfrm>
            <a:off x="183568" y="3858076"/>
            <a:ext cx="1954613" cy="2926160"/>
          </a:xfrm>
          <a:prstGeom prst="roundRect">
            <a:avLst>
              <a:gd name="adj" fmla="val 0"/>
            </a:avLst>
          </a:prstGeom>
          <a:solidFill>
            <a:srgbClr val="B9E0DC">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渠道开拓目标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渠道画像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授权经销商数量（分层分级）</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覆盖国家和地区</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新增渠道数量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渠道渗透率？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分销商地市覆盖率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渠道排他性占比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右箭头 1"/>
          <p:cNvSpPr/>
          <p:nvPr/>
        </p:nvSpPr>
        <p:spPr>
          <a:xfrm>
            <a:off x="0" y="3342893"/>
            <a:ext cx="12192000" cy="360045"/>
          </a:xfrm>
          <a:prstGeom prst="rightArrow">
            <a:avLst/>
          </a:prstGeom>
          <a:solidFill>
            <a:srgbClr val="11AFBB"/>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微软雅黑" panose="020B0503020204020204" pitchFamily="34" charset="-122"/>
              <a:ea typeface="微软雅黑" panose="020B0503020204020204" pitchFamily="34" charset="-122"/>
              <a:cs typeface="Helvetica"/>
              <a:sym typeface="Helvetica Neue" panose="02000503000000020004"/>
            </a:endParaRPr>
          </a:p>
        </p:txBody>
      </p:sp>
      <p:sp>
        <p:nvSpPr>
          <p:cNvPr id="21" name="Rectangle 36"/>
          <p:cNvSpPr/>
          <p:nvPr/>
        </p:nvSpPr>
        <p:spPr>
          <a:xfrm>
            <a:off x="183568" y="3337178"/>
            <a:ext cx="1860550" cy="360045"/>
          </a:xfrm>
          <a:prstGeom prst="rect">
            <a:avLst/>
          </a:prstGeom>
          <a:solidFill>
            <a:srgbClr val="029E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渠道策略</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Rectangle 36"/>
          <p:cNvSpPr/>
          <p:nvPr/>
        </p:nvSpPr>
        <p:spPr>
          <a:xfrm>
            <a:off x="2250002" y="3349983"/>
            <a:ext cx="1860550" cy="360045"/>
          </a:xfrm>
          <a:prstGeom prst="rect">
            <a:avLst/>
          </a:prstGeom>
          <a:solidFill>
            <a:srgbClr val="029E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渠道赋能</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Rectangle 36"/>
          <p:cNvSpPr/>
          <p:nvPr/>
        </p:nvSpPr>
        <p:spPr>
          <a:xfrm>
            <a:off x="6756494" y="3346438"/>
            <a:ext cx="3062673" cy="360045"/>
          </a:xfrm>
          <a:prstGeom prst="rect">
            <a:avLst/>
          </a:prstGeom>
          <a:solidFill>
            <a:srgbClr val="029E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运营协同</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Rectangle 36"/>
          <p:cNvSpPr/>
          <p:nvPr/>
        </p:nvSpPr>
        <p:spPr>
          <a:xfrm>
            <a:off x="10018093" y="3346438"/>
            <a:ext cx="1954612" cy="360045"/>
          </a:xfrm>
          <a:prstGeom prst="rect">
            <a:avLst/>
          </a:prstGeom>
          <a:solidFill>
            <a:srgbClr val="029E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伙伴关系</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Rectangle: Rounded Corners 92"/>
          <p:cNvSpPr/>
          <p:nvPr>
            <p:custDataLst>
              <p:tags r:id="rId2"/>
            </p:custDataLst>
          </p:nvPr>
        </p:nvSpPr>
        <p:spPr>
          <a:xfrm>
            <a:off x="2250002" y="3847191"/>
            <a:ext cx="1954613" cy="2937045"/>
          </a:xfrm>
          <a:prstGeom prst="roundRect">
            <a:avLst>
              <a:gd name="adj" fmla="val 0"/>
            </a:avLst>
          </a:prstGeom>
          <a:solidFill>
            <a:srgbClr val="B9E0DC">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培训认证通过率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培训场次</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培训参与人数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渠道市场活动次数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市场活动投入产出比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营销活动预算</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营销活动计划</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营销活动实际花费</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预算外营销活动数量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现场签单数量金额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获客数量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市场活动获取的线索</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endParaRPr>
          </a:p>
          <a:p>
            <a:pPr marL="0" marR="0" lvl="0" indent="0" defTabSz="914400" eaLnBrk="0" fontAlgn="base" latinLnBrk="0" hangingPunct="0">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rPr>
              <a:t>市场活动获取的商机</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endParaRPr kumimoji="0"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Rectangle: Rounded Corners 92"/>
          <p:cNvSpPr/>
          <p:nvPr>
            <p:custDataLst>
              <p:tags r:id="rId3"/>
            </p:custDataLst>
          </p:nvPr>
        </p:nvSpPr>
        <p:spPr>
          <a:xfrm>
            <a:off x="6756494" y="3825261"/>
            <a:ext cx="3062673" cy="2937045"/>
          </a:xfrm>
          <a:prstGeom prst="roundRect">
            <a:avLst>
              <a:gd name="adj" fmla="val 0"/>
            </a:avLst>
          </a:prstGeom>
          <a:solidFill>
            <a:srgbClr val="B9E0DC">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库存数量金额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-sell in</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库存数量金额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-sell out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（净销）</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库存余额数量金额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库存周转率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项目协同成功项目数（由洲明主导给分销商出货）</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应收账款</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总额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应收账款</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逾期</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回款金额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授信金额（总额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已使用</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剩余）</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信保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授信金额（总额</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已使用</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剩余）</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公司放款</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目标达成率（月度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季度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年度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同比）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补差金额（总额、已用、剩余）</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价格分析（促销</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趋势）</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渠道销售总额（产品</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占比）</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Rectangle: Rounded Corners 92"/>
          <p:cNvSpPr/>
          <p:nvPr>
            <p:custDataLst>
              <p:tags r:id="rId4"/>
            </p:custDataLst>
          </p:nvPr>
        </p:nvSpPr>
        <p:spPr>
          <a:xfrm>
            <a:off x="10018093" y="3811548"/>
            <a:ext cx="1954613" cy="2964469"/>
          </a:xfrm>
          <a:prstGeom prst="roundRect">
            <a:avLst>
              <a:gd name="adj" fmla="val 0"/>
            </a:avLst>
          </a:prstGeom>
          <a:solidFill>
            <a:srgbClr val="B9E0DC">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渠道伙伴流失率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渠道伙伴满意度</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渠道商</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TOP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排名</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市占率</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endParaRPr kumimoji="0"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8" name="文本框 27"/>
          <p:cNvSpPr txBox="1"/>
          <p:nvPr/>
        </p:nvSpPr>
        <p:spPr>
          <a:xfrm>
            <a:off x="629960" y="964276"/>
            <a:ext cx="3164198" cy="2000548"/>
          </a:xfrm>
          <a:prstGeom prst="rect">
            <a:avLst/>
          </a:prstGeom>
          <a:noFill/>
          <a:ln w="12700" cap="flat">
            <a:noFill/>
            <a:miter lim="400000"/>
          </a:ln>
          <a:effectLst/>
        </p:spPr>
        <p:txBody>
          <a:bodyPr rot="0" spcFirstLastPara="1" vertOverflow="overflow" horzOverflow="overflow" vert="horz" wrap="square" lIns="0" tIns="0" rIns="0" bIns="0" numCol="1" spcCol="38100" rtlCol="0" anchor="t">
            <a:spAutoFit/>
          </a:bodyPr>
          <a:lstStyle/>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渠道分层分级：？</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代理商：部分有分，</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Calibri" panose="020F0502020204030204"/>
              </a:rPr>
              <a:t>钻石</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Calibri" panose="020F0502020204030204"/>
              </a:rPr>
              <a:t>金</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a:sym typeface="Calibri" panose="020F0502020204030204"/>
              </a:rPr>
              <a:t>银</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授权经销商：有分层分级（钻石</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金</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银）</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分销商：主导国</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集群国</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代理商：主导国</a:t>
            </a:r>
            <a:r>
              <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a:t>
            </a: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集群国</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培训类型：经营、管理、产品、技术</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补差金额结构：</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产品线</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区域</a:t>
            </a:r>
            <a:endParaRPr kumimoji="0" lang="en-US" altLang="zh-CN"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a:p>
            <a:pPr marL="0" marR="0" lvl="0" indent="0" defTabSz="914400" eaLnBrk="1" fontAlgn="auto" latinLnBrk="0" hangingPunct="0">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rPr>
              <a:t>返利形式</a:t>
            </a:r>
            <a:endParaRPr kumimoji="0" lang="zh-CN" altLang="en-US" sz="13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libri" panose="020F0502020204030204"/>
              <a:sym typeface="Calibri" panose="020F0502020204030204"/>
            </a:endParaRPr>
          </a:p>
        </p:txBody>
      </p:sp>
      <p:sp>
        <p:nvSpPr>
          <p:cNvPr id="29" name="Rectangle 36"/>
          <p:cNvSpPr/>
          <p:nvPr/>
        </p:nvSpPr>
        <p:spPr>
          <a:xfrm>
            <a:off x="4535263" y="3333691"/>
            <a:ext cx="1860550" cy="360045"/>
          </a:xfrm>
          <a:prstGeom prst="rect">
            <a:avLst/>
          </a:prstGeom>
          <a:solidFill>
            <a:srgbClr val="029E9A"/>
          </a:solidFill>
          <a:ln>
            <a:noFill/>
          </a:ln>
          <a:effectLst/>
        </p:spPr>
        <p:txBody>
          <a:bodyPr lIns="0" rIns="0" rtlCol="0" anchor="ctr"/>
          <a:lstStyle/>
          <a:p>
            <a:pPr algn="ctr">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渠道管理</a:t>
            </a:r>
            <a:endParaRPr lang="en-US" altLang="zh-CN"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Rectangle: Rounded Corners 92"/>
          <p:cNvSpPr/>
          <p:nvPr>
            <p:custDataLst>
              <p:tags r:id="rId5"/>
            </p:custDataLst>
          </p:nvPr>
        </p:nvSpPr>
        <p:spPr>
          <a:xfrm>
            <a:off x="4493917" y="3838972"/>
            <a:ext cx="1954613" cy="2937045"/>
          </a:xfrm>
          <a:prstGeom prst="roundRect">
            <a:avLst>
              <a:gd name="adj" fmla="val 0"/>
            </a:avLst>
          </a:prstGeom>
          <a:solidFill>
            <a:srgbClr val="B9E0DC">
              <a:alpha val="40000"/>
            </a:srgbClr>
          </a:solidFill>
          <a:ln w="19050" cap="flat" cmpd="sng" algn="ctr">
            <a:noFill/>
            <a:prstDash val="solid"/>
          </a:ln>
          <a:effectLst/>
        </p:spPr>
        <p:txBody>
          <a:bodyPr spcFirstLastPara="0" vert="horz" wrap="square" lIns="16972" tIns="16972" rIns="16972" bIns="16972" numCol="1" spcCol="1270" anchor="t" anchorCtr="0">
            <a:noAutofit/>
          </a:bodyPr>
          <a:lstStyle/>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新签约数量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续签约数量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汰换数量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市场违规次数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协议金额</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无交易渠道数量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展厅数量（按级别）</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未达签约门槛渠道数量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defTabSz="898525" eaLnBrk="0" fontAlgn="t" latinLnBrk="0" hangingPunct="0">
              <a:lnSpc>
                <a:spcPct val="100000"/>
              </a:lnSpc>
              <a:spcBef>
                <a:spcPct val="0"/>
              </a:spcBef>
              <a:spcAft>
                <a:spcPct val="0"/>
              </a:spcAft>
              <a:buClrTx/>
              <a:buSzTx/>
              <a:buFont typeface="Arial" panose="020B0604020202020204" pitchFamily="34" charset="0"/>
              <a:buChar char="•"/>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项目案例数量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427264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427291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501305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501332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7534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753735"/>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68570"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调研情况总结</a:t>
            </a:r>
            <a:endParaRPr lang="zh-CN" altLang="en-US" sz="1200" dirty="0">
              <a:sym typeface="+mn-ea"/>
            </a:endParaRPr>
          </a:p>
        </p:txBody>
      </p:sp>
      <p:sp>
        <p:nvSpPr>
          <p:cNvPr id="8" name="文本占位符 17"/>
          <p:cNvSpPr txBox="1"/>
          <p:nvPr>
            <p:custDataLst>
              <p:tags r:id="rId14"/>
            </p:custDataLst>
          </p:nvPr>
        </p:nvSpPr>
        <p:spPr>
          <a:xfrm>
            <a:off x="4484370" y="307530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68570" y="347599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销服域指标分析框架与场景</a:t>
            </a:r>
            <a:r>
              <a:rPr lang="zh-CN" altLang="en-US" sz="1200" dirty="0">
                <a:sym typeface="+mn-ea"/>
              </a:rPr>
              <a:t>-</a:t>
            </a:r>
            <a:r>
              <a:rPr lang="zh-CN" altLang="en-US" sz="1200" dirty="0">
                <a:sym typeface="+mn-ea"/>
              </a:rPr>
              <a:t>国内</a:t>
            </a:r>
            <a:endParaRPr lang="zh-CN" altLang="en-US" sz="1200" dirty="0">
              <a:sym typeface="+mn-ea"/>
            </a:endParaRPr>
          </a:p>
        </p:txBody>
      </p:sp>
      <p:sp>
        <p:nvSpPr>
          <p:cNvPr id="23" name="文本占位符 17"/>
          <p:cNvSpPr txBox="1"/>
          <p:nvPr>
            <p:custDataLst>
              <p:tags r:id="rId16"/>
            </p:custDataLst>
          </p:nvPr>
        </p:nvSpPr>
        <p:spPr>
          <a:xfrm>
            <a:off x="4484370" y="347599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5068570" y="3844290"/>
            <a:ext cx="2424430"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指标详细设计（</a:t>
            </a:r>
            <a:r>
              <a:rPr lang="zh-CN" altLang="en-US" sz="1200" dirty="0">
                <a:sym typeface="+mn-ea"/>
              </a:rPr>
              <a:t>90</a:t>
            </a:r>
            <a:r>
              <a:rPr lang="zh-CN" altLang="en-US" sz="1200" dirty="0">
                <a:sym typeface="+mn-ea"/>
              </a:rPr>
              <a:t>个指标）</a:t>
            </a:r>
            <a:endParaRPr lang="zh-CN" altLang="en-US" sz="1200" dirty="0">
              <a:sym typeface="+mn-ea"/>
            </a:endParaRPr>
          </a:p>
        </p:txBody>
      </p:sp>
      <p:sp>
        <p:nvSpPr>
          <p:cNvPr id="28" name="文本占位符 17"/>
          <p:cNvSpPr txBox="1"/>
          <p:nvPr>
            <p:custDataLst>
              <p:tags r:id="rId18"/>
            </p:custDataLst>
          </p:nvPr>
        </p:nvSpPr>
        <p:spPr>
          <a:xfrm>
            <a:off x="4484370" y="3844290"/>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3.</a:t>
            </a:r>
            <a:r>
              <a:rPr lang="zh-CN" altLang="en-US" sz="1200" dirty="0">
                <a:sym typeface="+mn-ea"/>
              </a:rPr>
              <a:t>5</a:t>
            </a:r>
            <a:endParaRPr lang="zh-CN" altLang="en-US" sz="1200" dirty="0">
              <a:sym typeface="+mn-ea"/>
            </a:endParaRPr>
          </a:p>
        </p:txBody>
      </p:sp>
      <p:sp>
        <p:nvSpPr>
          <p:cNvPr id="32" name="文本占位符 17"/>
          <p:cNvSpPr txBox="1"/>
          <p:nvPr>
            <p:custDataLst>
              <p:tags r:id="rId19"/>
            </p:custDataLst>
          </p:nvPr>
        </p:nvSpPr>
        <p:spPr>
          <a:xfrm>
            <a:off x="8388985" y="307530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财经域指标分析框架与场景</a:t>
            </a:r>
            <a:endParaRPr lang="zh-CN" altLang="en-US" sz="1200" dirty="0">
              <a:sym typeface="+mn-ea"/>
            </a:endParaRPr>
          </a:p>
        </p:txBody>
      </p:sp>
      <p:sp>
        <p:nvSpPr>
          <p:cNvPr id="33" name="文本占位符 17"/>
          <p:cNvSpPr txBox="1"/>
          <p:nvPr>
            <p:custDataLst>
              <p:tags r:id="rId20"/>
            </p:custDataLst>
          </p:nvPr>
        </p:nvSpPr>
        <p:spPr>
          <a:xfrm>
            <a:off x="7804785" y="307530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3.</a:t>
            </a:r>
            <a:r>
              <a:rPr lang="zh-CN" altLang="en-US" sz="1200" dirty="0">
                <a:sym typeface="+mn-ea"/>
              </a:rPr>
              <a:t>2</a:t>
            </a:r>
            <a:endParaRPr lang="zh-CN" altLang="en-US" sz="1200" dirty="0">
              <a:sym typeface="+mn-ea"/>
            </a:endParaRPr>
          </a:p>
        </p:txBody>
      </p:sp>
      <p:sp>
        <p:nvSpPr>
          <p:cNvPr id="34" name="文本占位符 17"/>
          <p:cNvSpPr txBox="1"/>
          <p:nvPr>
            <p:custDataLst>
              <p:tags r:id="rId21"/>
            </p:custDataLst>
          </p:nvPr>
        </p:nvSpPr>
        <p:spPr>
          <a:xfrm>
            <a:off x="8388985" y="347853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销服域指标分析框架与场景</a:t>
            </a:r>
            <a:r>
              <a:rPr lang="en-US" altLang="zh-CN" sz="1200" dirty="0">
                <a:sym typeface="+mn-ea"/>
              </a:rPr>
              <a:t>-</a:t>
            </a:r>
            <a:r>
              <a:rPr lang="zh-CN" altLang="en-US" sz="1200" dirty="0">
                <a:sym typeface="+mn-ea"/>
              </a:rPr>
              <a:t>国际</a:t>
            </a:r>
            <a:endParaRPr lang="zh-CN" altLang="en-US" sz="1200" dirty="0">
              <a:sym typeface="+mn-ea"/>
            </a:endParaRPr>
          </a:p>
        </p:txBody>
      </p:sp>
      <p:sp>
        <p:nvSpPr>
          <p:cNvPr id="35" name="文本占位符 17"/>
          <p:cNvSpPr txBox="1"/>
          <p:nvPr>
            <p:custDataLst>
              <p:tags r:id="rId22"/>
            </p:custDataLst>
          </p:nvPr>
        </p:nvSpPr>
        <p:spPr>
          <a:xfrm>
            <a:off x="7804785" y="347853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buClrTx/>
              <a:buSzTx/>
            </a:pPr>
            <a:r>
              <a:rPr lang="zh-CN" altLang="en-US" sz="1200" dirty="0">
                <a:sym typeface="+mn-ea"/>
              </a:rPr>
              <a:t>3.</a:t>
            </a:r>
            <a:r>
              <a:rPr lang="en-US" altLang="zh-CN" sz="1200" dirty="0">
                <a:sym typeface="+mn-ea"/>
              </a:rPr>
              <a:t>4</a:t>
            </a:r>
            <a:endParaRPr lang="en-US" altLang="zh-CN" sz="1200" dirty="0">
              <a:sym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待</a:t>
            </a:r>
            <a:r>
              <a:rPr lang="zh-CN" altLang="en-US" dirty="0"/>
              <a:t>补充</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4979" y="466317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5525" y="466344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10" name="文本占位符 17"/>
          <p:cNvSpPr txBox="1"/>
          <p:nvPr>
            <p:custDataLst>
              <p:tags r:id="rId13"/>
            </p:custDataLst>
          </p:nvPr>
        </p:nvSpPr>
        <p:spPr>
          <a:xfrm>
            <a:off x="5055870" y="379984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现状及主要诉求</a:t>
            </a:r>
            <a:endParaRPr lang="zh-CN" altLang="en-US" sz="1200" dirty="0">
              <a:sym typeface="+mn-ea"/>
            </a:endParaRPr>
          </a:p>
        </p:txBody>
      </p:sp>
      <p:sp>
        <p:nvSpPr>
          <p:cNvPr id="11" name="文本占位符 17"/>
          <p:cNvSpPr txBox="1"/>
          <p:nvPr>
            <p:custDataLst>
              <p:tags r:id="rId14"/>
            </p:custDataLst>
          </p:nvPr>
        </p:nvSpPr>
        <p:spPr>
          <a:xfrm>
            <a:off x="4471670" y="3799840"/>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en-US" altLang="zh-CN" sz="1200" dirty="0">
                <a:sym typeface="+mn-ea"/>
              </a:rPr>
              <a:t>4</a:t>
            </a:r>
            <a:r>
              <a:rPr lang="zh-CN" altLang="en-US" sz="1200" dirty="0">
                <a:sym typeface="+mn-ea"/>
              </a:rPr>
              <a:t>.1</a:t>
            </a:r>
            <a:endParaRPr lang="zh-CN" altLang="en-US" sz="1200" dirty="0">
              <a:sym typeface="+mn-ea"/>
            </a:endParaRPr>
          </a:p>
        </p:txBody>
      </p:sp>
      <p:sp>
        <p:nvSpPr>
          <p:cNvPr id="24" name="文本占位符 17"/>
          <p:cNvSpPr txBox="1"/>
          <p:nvPr>
            <p:custDataLst>
              <p:tags r:id="rId15"/>
            </p:custDataLst>
          </p:nvPr>
        </p:nvSpPr>
        <p:spPr>
          <a:xfrm>
            <a:off x="5055870" y="420052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详细</a:t>
            </a:r>
            <a:r>
              <a:rPr lang="zh-CN" altLang="en-US" sz="1200" dirty="0">
                <a:sym typeface="+mn-ea"/>
              </a:rPr>
              <a:t>方案</a:t>
            </a:r>
            <a:endParaRPr lang="zh-CN" altLang="en-US" sz="1200" dirty="0">
              <a:sym typeface="+mn-ea"/>
            </a:endParaRPr>
          </a:p>
        </p:txBody>
      </p:sp>
      <p:sp>
        <p:nvSpPr>
          <p:cNvPr id="25" name="文本占位符 17"/>
          <p:cNvSpPr txBox="1"/>
          <p:nvPr>
            <p:custDataLst>
              <p:tags r:id="rId16"/>
            </p:custDataLst>
          </p:nvPr>
        </p:nvSpPr>
        <p:spPr>
          <a:xfrm>
            <a:off x="4471670" y="420052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4</a:t>
            </a:r>
            <a:r>
              <a:rPr lang="zh-CN" altLang="en-US" sz="1200" dirty="0">
                <a:sym typeface="+mn-ea"/>
              </a:rPr>
              <a:t>.</a:t>
            </a:r>
            <a:r>
              <a:rPr lang="zh-CN" altLang="en-US" sz="1200" dirty="0">
                <a:sym typeface="+mn-ea"/>
              </a:rPr>
              <a:t>3</a:t>
            </a:r>
            <a:endParaRPr lang="zh-CN" altLang="en-US" sz="1200" dirty="0">
              <a:sym typeface="+mn-ea"/>
            </a:endParaRPr>
          </a:p>
        </p:txBody>
      </p:sp>
      <p:sp>
        <p:nvSpPr>
          <p:cNvPr id="29" name="文本占位符 17"/>
          <p:cNvSpPr txBox="1"/>
          <p:nvPr>
            <p:custDataLst>
              <p:tags r:id="rId17"/>
            </p:custDataLst>
          </p:nvPr>
        </p:nvSpPr>
        <p:spPr>
          <a:xfrm>
            <a:off x="8376285" y="379984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总体</a:t>
            </a:r>
            <a:r>
              <a:rPr lang="zh-CN" altLang="en-US" sz="1200" dirty="0">
                <a:sym typeface="+mn-ea"/>
              </a:rPr>
              <a:t>方案</a:t>
            </a:r>
            <a:endParaRPr lang="zh-CN" altLang="en-US" sz="1200" dirty="0">
              <a:sym typeface="+mn-ea"/>
            </a:endParaRPr>
          </a:p>
        </p:txBody>
      </p:sp>
      <p:sp>
        <p:nvSpPr>
          <p:cNvPr id="30" name="文本占位符 17"/>
          <p:cNvSpPr txBox="1"/>
          <p:nvPr>
            <p:custDataLst>
              <p:tags r:id="rId18"/>
            </p:custDataLst>
          </p:nvPr>
        </p:nvSpPr>
        <p:spPr>
          <a:xfrm>
            <a:off x="7792085" y="3799840"/>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4</a:t>
            </a:r>
            <a:r>
              <a:rPr lang="zh-CN" altLang="en-US" sz="1200" dirty="0">
                <a:sym typeface="+mn-ea"/>
              </a:rPr>
              <a:t>.</a:t>
            </a:r>
            <a:r>
              <a:rPr lang="zh-CN" altLang="en-US" sz="1200" dirty="0">
                <a:sym typeface="+mn-ea"/>
              </a:rPr>
              <a:t>2</a:t>
            </a:r>
            <a:endParaRPr lang="zh-CN" altLang="en-US" sz="1200" dirty="0">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产品基准价测算现状及主要诉求</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2" name="îślíḋe"/>
          <p:cNvSpPr/>
          <p:nvPr/>
        </p:nvSpPr>
        <p:spPr bwMode="auto">
          <a:xfrm>
            <a:off x="566653" y="821767"/>
            <a:ext cx="11285378" cy="1010003"/>
          </a:xfrm>
          <a:prstGeom prst="roundRect">
            <a:avLst>
              <a:gd name="adj" fmla="val 13529"/>
            </a:avLst>
          </a:prstGeom>
          <a:solidFill>
            <a:schemeClr val="accent5">
              <a:lumMod val="20000"/>
              <a:lumOff val="80000"/>
            </a:schemeClr>
          </a:solidFill>
          <a:ln w="38100" algn="ctr">
            <a:noFill/>
            <a:prstDash val="sysDot"/>
            <a:round/>
          </a:ln>
        </p:spPr>
        <p:txBody>
          <a:bodyPr wrap="none" lIns="432000" tIns="108000" bIns="0" anchor="ctr" anchorCtr="0"/>
          <a:lstStyle/>
          <a:p>
            <a:pPr>
              <a:defRPr/>
            </a:pPr>
            <a:r>
              <a:rPr lang="zh-CN" altLang="en-US" sz="2400" b="1" dirty="0">
                <a:solidFill>
                  <a:schemeClr val="accent1"/>
                </a:solidFill>
                <a:latin typeface="微软雅黑" panose="020B0503020204020204" pitchFamily="34" charset="-122"/>
                <a:ea typeface="微软雅黑" panose="020B0503020204020204" pitchFamily="34" charset="-122"/>
              </a:rPr>
              <a:t>核心诉求</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4">
              <a:defRPr/>
            </a:pPr>
            <a:r>
              <a:rPr lang="zh-CN" altLang="en-US" sz="2000" b="1" dirty="0">
                <a:solidFill>
                  <a:schemeClr val="accent1"/>
                </a:solidFill>
                <a:latin typeface="微软雅黑" panose="020B0503020204020204" pitchFamily="34" charset="-122"/>
                <a:ea typeface="微软雅黑" panose="020B0503020204020204" pitchFamily="34" charset="-122"/>
              </a:rPr>
              <a:t>自动化</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准确性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及时性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可跟踪</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流程规范</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07" name="ïśľíḋê"/>
          <p:cNvSpPr/>
          <p:nvPr/>
        </p:nvSpPr>
        <p:spPr bwMode="auto">
          <a:xfrm>
            <a:off x="3044858" y="931861"/>
            <a:ext cx="326866" cy="478426"/>
          </a:xfrm>
          <a:custGeom>
            <a:avLst/>
            <a:gdLst>
              <a:gd name="connsiteX0" fmla="*/ 249830 w 431507"/>
              <a:gd name="connsiteY0" fmla="*/ 561058 h 608274"/>
              <a:gd name="connsiteX1" fmla="*/ 249830 w 431507"/>
              <a:gd name="connsiteY1" fmla="*/ 594884 h 608274"/>
              <a:gd name="connsiteX2" fmla="*/ 340366 w 431507"/>
              <a:gd name="connsiteY2" fmla="*/ 594884 h 608274"/>
              <a:gd name="connsiteX3" fmla="*/ 340366 w 431507"/>
              <a:gd name="connsiteY3" fmla="*/ 561058 h 608274"/>
              <a:gd name="connsiteX4" fmla="*/ 91141 w 431507"/>
              <a:gd name="connsiteY4" fmla="*/ 561058 h 608274"/>
              <a:gd name="connsiteX5" fmla="*/ 91141 w 431507"/>
              <a:gd name="connsiteY5" fmla="*/ 594884 h 608274"/>
              <a:gd name="connsiteX6" fmla="*/ 181777 w 431507"/>
              <a:gd name="connsiteY6" fmla="*/ 594884 h 608274"/>
              <a:gd name="connsiteX7" fmla="*/ 181777 w 431507"/>
              <a:gd name="connsiteY7" fmla="*/ 561058 h 608274"/>
              <a:gd name="connsiteX8" fmla="*/ 249830 w 431507"/>
              <a:gd name="connsiteY8" fmla="*/ 540923 h 608274"/>
              <a:gd name="connsiteX9" fmla="*/ 249830 w 431507"/>
              <a:gd name="connsiteY9" fmla="*/ 547668 h 608274"/>
              <a:gd name="connsiteX10" fmla="*/ 340366 w 431507"/>
              <a:gd name="connsiteY10" fmla="*/ 547668 h 608274"/>
              <a:gd name="connsiteX11" fmla="*/ 340366 w 431507"/>
              <a:gd name="connsiteY11" fmla="*/ 540923 h 608274"/>
              <a:gd name="connsiteX12" fmla="*/ 91141 w 431507"/>
              <a:gd name="connsiteY12" fmla="*/ 540923 h 608274"/>
              <a:gd name="connsiteX13" fmla="*/ 91141 w 431507"/>
              <a:gd name="connsiteY13" fmla="*/ 547668 h 608274"/>
              <a:gd name="connsiteX14" fmla="*/ 181777 w 431507"/>
              <a:gd name="connsiteY14" fmla="*/ 547668 h 608274"/>
              <a:gd name="connsiteX15" fmla="*/ 181777 w 431507"/>
              <a:gd name="connsiteY15" fmla="*/ 540923 h 608274"/>
              <a:gd name="connsiteX16" fmla="*/ 265558 w 431507"/>
              <a:gd name="connsiteY16" fmla="*/ 502063 h 608274"/>
              <a:gd name="connsiteX17" fmla="*/ 265558 w 431507"/>
              <a:gd name="connsiteY17" fmla="*/ 527533 h 608274"/>
              <a:gd name="connsiteX18" fmla="*/ 324538 w 431507"/>
              <a:gd name="connsiteY18" fmla="*/ 527533 h 608274"/>
              <a:gd name="connsiteX19" fmla="*/ 324538 w 431507"/>
              <a:gd name="connsiteY19" fmla="*/ 502063 h 608274"/>
              <a:gd name="connsiteX20" fmla="*/ 106969 w 431507"/>
              <a:gd name="connsiteY20" fmla="*/ 502063 h 608274"/>
              <a:gd name="connsiteX21" fmla="*/ 106969 w 431507"/>
              <a:gd name="connsiteY21" fmla="*/ 527533 h 608274"/>
              <a:gd name="connsiteX22" fmla="*/ 165949 w 431507"/>
              <a:gd name="connsiteY22" fmla="*/ 527533 h 608274"/>
              <a:gd name="connsiteX23" fmla="*/ 165949 w 431507"/>
              <a:gd name="connsiteY23" fmla="*/ 502063 h 608274"/>
              <a:gd name="connsiteX24" fmla="*/ 317980 w 431507"/>
              <a:gd name="connsiteY24" fmla="*/ 451238 h 608274"/>
              <a:gd name="connsiteX25" fmla="*/ 317980 w 431507"/>
              <a:gd name="connsiteY25" fmla="*/ 466846 h 608274"/>
              <a:gd name="connsiteX26" fmla="*/ 335726 w 431507"/>
              <a:gd name="connsiteY26" fmla="*/ 466846 h 608274"/>
              <a:gd name="connsiteX27" fmla="*/ 338751 w 431507"/>
              <a:gd name="connsiteY27" fmla="*/ 463825 h 608274"/>
              <a:gd name="connsiteX28" fmla="*/ 338751 w 431507"/>
              <a:gd name="connsiteY28" fmla="*/ 451238 h 608274"/>
              <a:gd name="connsiteX29" fmla="*/ 279765 w 431507"/>
              <a:gd name="connsiteY29" fmla="*/ 451238 h 608274"/>
              <a:gd name="connsiteX30" fmla="*/ 279765 w 431507"/>
              <a:gd name="connsiteY30" fmla="*/ 466846 h 608274"/>
              <a:gd name="connsiteX31" fmla="*/ 304469 w 431507"/>
              <a:gd name="connsiteY31" fmla="*/ 466846 h 608274"/>
              <a:gd name="connsiteX32" fmla="*/ 304469 w 431507"/>
              <a:gd name="connsiteY32" fmla="*/ 451238 h 608274"/>
              <a:gd name="connsiteX33" fmla="*/ 241551 w 431507"/>
              <a:gd name="connsiteY33" fmla="*/ 451238 h 608274"/>
              <a:gd name="connsiteX34" fmla="*/ 241551 w 431507"/>
              <a:gd name="connsiteY34" fmla="*/ 466846 h 608274"/>
              <a:gd name="connsiteX35" fmla="*/ 266355 w 431507"/>
              <a:gd name="connsiteY35" fmla="*/ 466846 h 608274"/>
              <a:gd name="connsiteX36" fmla="*/ 266355 w 431507"/>
              <a:gd name="connsiteY36" fmla="*/ 451238 h 608274"/>
              <a:gd name="connsiteX37" fmla="*/ 203437 w 431507"/>
              <a:gd name="connsiteY37" fmla="*/ 451238 h 608274"/>
              <a:gd name="connsiteX38" fmla="*/ 203437 w 431507"/>
              <a:gd name="connsiteY38" fmla="*/ 466846 h 608274"/>
              <a:gd name="connsiteX39" fmla="*/ 228140 w 431507"/>
              <a:gd name="connsiteY39" fmla="*/ 466846 h 608274"/>
              <a:gd name="connsiteX40" fmla="*/ 228140 w 431507"/>
              <a:gd name="connsiteY40" fmla="*/ 451238 h 608274"/>
              <a:gd name="connsiteX41" fmla="*/ 165222 w 431507"/>
              <a:gd name="connsiteY41" fmla="*/ 451238 h 608274"/>
              <a:gd name="connsiteX42" fmla="*/ 165222 w 431507"/>
              <a:gd name="connsiteY42" fmla="*/ 466846 h 608274"/>
              <a:gd name="connsiteX43" fmla="*/ 189926 w 431507"/>
              <a:gd name="connsiteY43" fmla="*/ 466846 h 608274"/>
              <a:gd name="connsiteX44" fmla="*/ 189926 w 431507"/>
              <a:gd name="connsiteY44" fmla="*/ 451238 h 608274"/>
              <a:gd name="connsiteX45" fmla="*/ 127008 w 431507"/>
              <a:gd name="connsiteY45" fmla="*/ 451238 h 608274"/>
              <a:gd name="connsiteX46" fmla="*/ 127008 w 431507"/>
              <a:gd name="connsiteY46" fmla="*/ 466846 h 608274"/>
              <a:gd name="connsiteX47" fmla="*/ 151812 w 431507"/>
              <a:gd name="connsiteY47" fmla="*/ 466846 h 608274"/>
              <a:gd name="connsiteX48" fmla="*/ 151812 w 431507"/>
              <a:gd name="connsiteY48" fmla="*/ 451238 h 608274"/>
              <a:gd name="connsiteX49" fmla="*/ 92725 w 431507"/>
              <a:gd name="connsiteY49" fmla="*/ 451238 h 608274"/>
              <a:gd name="connsiteX50" fmla="*/ 92725 w 431507"/>
              <a:gd name="connsiteY50" fmla="*/ 463825 h 608274"/>
              <a:gd name="connsiteX51" fmla="*/ 95750 w 431507"/>
              <a:gd name="connsiteY51" fmla="*/ 466846 h 608274"/>
              <a:gd name="connsiteX52" fmla="*/ 113597 w 431507"/>
              <a:gd name="connsiteY52" fmla="*/ 466846 h 608274"/>
              <a:gd name="connsiteX53" fmla="*/ 113597 w 431507"/>
              <a:gd name="connsiteY53" fmla="*/ 451238 h 608274"/>
              <a:gd name="connsiteX54" fmla="*/ 408722 w 431507"/>
              <a:gd name="connsiteY54" fmla="*/ 422832 h 608274"/>
              <a:gd name="connsiteX55" fmla="*/ 408722 w 431507"/>
              <a:gd name="connsiteY55" fmla="*/ 440953 h 608274"/>
              <a:gd name="connsiteX56" fmla="*/ 418098 w 431507"/>
              <a:gd name="connsiteY56" fmla="*/ 440953 h 608274"/>
              <a:gd name="connsiteX57" fmla="*/ 418098 w 431507"/>
              <a:gd name="connsiteY57" fmla="*/ 422832 h 608274"/>
              <a:gd name="connsiteX58" fmla="*/ 13510 w 431507"/>
              <a:gd name="connsiteY58" fmla="*/ 422832 h 608274"/>
              <a:gd name="connsiteX59" fmla="*/ 13510 w 431507"/>
              <a:gd name="connsiteY59" fmla="*/ 440953 h 608274"/>
              <a:gd name="connsiteX60" fmla="*/ 22886 w 431507"/>
              <a:gd name="connsiteY60" fmla="*/ 440953 h 608274"/>
              <a:gd name="connsiteX61" fmla="*/ 22886 w 431507"/>
              <a:gd name="connsiteY61" fmla="*/ 422832 h 608274"/>
              <a:gd name="connsiteX62" fmla="*/ 298822 w 431507"/>
              <a:gd name="connsiteY62" fmla="*/ 422136 h 608274"/>
              <a:gd name="connsiteX63" fmla="*/ 298822 w 431507"/>
              <a:gd name="connsiteY63" fmla="*/ 437744 h 608274"/>
              <a:gd name="connsiteX64" fmla="*/ 338751 w 431507"/>
              <a:gd name="connsiteY64" fmla="*/ 437744 h 608274"/>
              <a:gd name="connsiteX65" fmla="*/ 338751 w 431507"/>
              <a:gd name="connsiteY65" fmla="*/ 422136 h 608274"/>
              <a:gd name="connsiteX66" fmla="*/ 260708 w 431507"/>
              <a:gd name="connsiteY66" fmla="*/ 422136 h 608274"/>
              <a:gd name="connsiteX67" fmla="*/ 260708 w 431507"/>
              <a:gd name="connsiteY67" fmla="*/ 437744 h 608274"/>
              <a:gd name="connsiteX68" fmla="*/ 285412 w 431507"/>
              <a:gd name="connsiteY68" fmla="*/ 437744 h 608274"/>
              <a:gd name="connsiteX69" fmla="*/ 285412 w 431507"/>
              <a:gd name="connsiteY69" fmla="*/ 422136 h 608274"/>
              <a:gd name="connsiteX70" fmla="*/ 222494 w 431507"/>
              <a:gd name="connsiteY70" fmla="*/ 422136 h 608274"/>
              <a:gd name="connsiteX71" fmla="*/ 222494 w 431507"/>
              <a:gd name="connsiteY71" fmla="*/ 437744 h 608274"/>
              <a:gd name="connsiteX72" fmla="*/ 247197 w 431507"/>
              <a:gd name="connsiteY72" fmla="*/ 437744 h 608274"/>
              <a:gd name="connsiteX73" fmla="*/ 247197 w 431507"/>
              <a:gd name="connsiteY73" fmla="*/ 422136 h 608274"/>
              <a:gd name="connsiteX74" fmla="*/ 184279 w 431507"/>
              <a:gd name="connsiteY74" fmla="*/ 422136 h 608274"/>
              <a:gd name="connsiteX75" fmla="*/ 184279 w 431507"/>
              <a:gd name="connsiteY75" fmla="*/ 437744 h 608274"/>
              <a:gd name="connsiteX76" fmla="*/ 209083 w 431507"/>
              <a:gd name="connsiteY76" fmla="*/ 437744 h 608274"/>
              <a:gd name="connsiteX77" fmla="*/ 209083 w 431507"/>
              <a:gd name="connsiteY77" fmla="*/ 422136 h 608274"/>
              <a:gd name="connsiteX78" fmla="*/ 146165 w 431507"/>
              <a:gd name="connsiteY78" fmla="*/ 422136 h 608274"/>
              <a:gd name="connsiteX79" fmla="*/ 146165 w 431507"/>
              <a:gd name="connsiteY79" fmla="*/ 437744 h 608274"/>
              <a:gd name="connsiteX80" fmla="*/ 170869 w 431507"/>
              <a:gd name="connsiteY80" fmla="*/ 437744 h 608274"/>
              <a:gd name="connsiteX81" fmla="*/ 170869 w 431507"/>
              <a:gd name="connsiteY81" fmla="*/ 422136 h 608274"/>
              <a:gd name="connsiteX82" fmla="*/ 92725 w 431507"/>
              <a:gd name="connsiteY82" fmla="*/ 422136 h 608274"/>
              <a:gd name="connsiteX83" fmla="*/ 92725 w 431507"/>
              <a:gd name="connsiteY83" fmla="*/ 437744 h 608274"/>
              <a:gd name="connsiteX84" fmla="*/ 132654 w 431507"/>
              <a:gd name="connsiteY84" fmla="*/ 437744 h 608274"/>
              <a:gd name="connsiteX85" fmla="*/ 132654 w 431507"/>
              <a:gd name="connsiteY85" fmla="*/ 422136 h 608274"/>
              <a:gd name="connsiteX86" fmla="*/ 317980 w 431507"/>
              <a:gd name="connsiteY86" fmla="*/ 393035 h 608274"/>
              <a:gd name="connsiteX87" fmla="*/ 317980 w 431507"/>
              <a:gd name="connsiteY87" fmla="*/ 408743 h 608274"/>
              <a:gd name="connsiteX88" fmla="*/ 338751 w 431507"/>
              <a:gd name="connsiteY88" fmla="*/ 408743 h 608274"/>
              <a:gd name="connsiteX89" fmla="*/ 338751 w 431507"/>
              <a:gd name="connsiteY89" fmla="*/ 396056 h 608274"/>
              <a:gd name="connsiteX90" fmla="*/ 335726 w 431507"/>
              <a:gd name="connsiteY90" fmla="*/ 393035 h 608274"/>
              <a:gd name="connsiteX91" fmla="*/ 279765 w 431507"/>
              <a:gd name="connsiteY91" fmla="*/ 393035 h 608274"/>
              <a:gd name="connsiteX92" fmla="*/ 279765 w 431507"/>
              <a:gd name="connsiteY92" fmla="*/ 408743 h 608274"/>
              <a:gd name="connsiteX93" fmla="*/ 304469 w 431507"/>
              <a:gd name="connsiteY93" fmla="*/ 408743 h 608274"/>
              <a:gd name="connsiteX94" fmla="*/ 304469 w 431507"/>
              <a:gd name="connsiteY94" fmla="*/ 393035 h 608274"/>
              <a:gd name="connsiteX95" fmla="*/ 241551 w 431507"/>
              <a:gd name="connsiteY95" fmla="*/ 393035 h 608274"/>
              <a:gd name="connsiteX96" fmla="*/ 241551 w 431507"/>
              <a:gd name="connsiteY96" fmla="*/ 408743 h 608274"/>
              <a:gd name="connsiteX97" fmla="*/ 266355 w 431507"/>
              <a:gd name="connsiteY97" fmla="*/ 408743 h 608274"/>
              <a:gd name="connsiteX98" fmla="*/ 266355 w 431507"/>
              <a:gd name="connsiteY98" fmla="*/ 393035 h 608274"/>
              <a:gd name="connsiteX99" fmla="*/ 203437 w 431507"/>
              <a:gd name="connsiteY99" fmla="*/ 393035 h 608274"/>
              <a:gd name="connsiteX100" fmla="*/ 203437 w 431507"/>
              <a:gd name="connsiteY100" fmla="*/ 408743 h 608274"/>
              <a:gd name="connsiteX101" fmla="*/ 228140 w 431507"/>
              <a:gd name="connsiteY101" fmla="*/ 408743 h 608274"/>
              <a:gd name="connsiteX102" fmla="*/ 228140 w 431507"/>
              <a:gd name="connsiteY102" fmla="*/ 393035 h 608274"/>
              <a:gd name="connsiteX103" fmla="*/ 165222 w 431507"/>
              <a:gd name="connsiteY103" fmla="*/ 393035 h 608274"/>
              <a:gd name="connsiteX104" fmla="*/ 165222 w 431507"/>
              <a:gd name="connsiteY104" fmla="*/ 408743 h 608274"/>
              <a:gd name="connsiteX105" fmla="*/ 189926 w 431507"/>
              <a:gd name="connsiteY105" fmla="*/ 408743 h 608274"/>
              <a:gd name="connsiteX106" fmla="*/ 189926 w 431507"/>
              <a:gd name="connsiteY106" fmla="*/ 393035 h 608274"/>
              <a:gd name="connsiteX107" fmla="*/ 127008 w 431507"/>
              <a:gd name="connsiteY107" fmla="*/ 393035 h 608274"/>
              <a:gd name="connsiteX108" fmla="*/ 127008 w 431507"/>
              <a:gd name="connsiteY108" fmla="*/ 408743 h 608274"/>
              <a:gd name="connsiteX109" fmla="*/ 151812 w 431507"/>
              <a:gd name="connsiteY109" fmla="*/ 408743 h 608274"/>
              <a:gd name="connsiteX110" fmla="*/ 151812 w 431507"/>
              <a:gd name="connsiteY110" fmla="*/ 393035 h 608274"/>
              <a:gd name="connsiteX111" fmla="*/ 95750 w 431507"/>
              <a:gd name="connsiteY111" fmla="*/ 393035 h 608274"/>
              <a:gd name="connsiteX112" fmla="*/ 92725 w 431507"/>
              <a:gd name="connsiteY112" fmla="*/ 396056 h 608274"/>
              <a:gd name="connsiteX113" fmla="*/ 92725 w 431507"/>
              <a:gd name="connsiteY113" fmla="*/ 408743 h 608274"/>
              <a:gd name="connsiteX114" fmla="*/ 113597 w 431507"/>
              <a:gd name="connsiteY114" fmla="*/ 408743 h 608274"/>
              <a:gd name="connsiteX115" fmla="*/ 113597 w 431507"/>
              <a:gd name="connsiteY115" fmla="*/ 393035 h 608274"/>
              <a:gd name="connsiteX116" fmla="*/ 95750 w 431507"/>
              <a:gd name="connsiteY116" fmla="*/ 379642 h 608274"/>
              <a:gd name="connsiteX117" fmla="*/ 335726 w 431507"/>
              <a:gd name="connsiteY117" fmla="*/ 379642 h 608274"/>
              <a:gd name="connsiteX118" fmla="*/ 352262 w 431507"/>
              <a:gd name="connsiteY118" fmla="*/ 396056 h 608274"/>
              <a:gd name="connsiteX119" fmla="*/ 352262 w 431507"/>
              <a:gd name="connsiteY119" fmla="*/ 463825 h 608274"/>
              <a:gd name="connsiteX120" fmla="*/ 335726 w 431507"/>
              <a:gd name="connsiteY120" fmla="*/ 480339 h 608274"/>
              <a:gd name="connsiteX121" fmla="*/ 95750 w 431507"/>
              <a:gd name="connsiteY121" fmla="*/ 480339 h 608274"/>
              <a:gd name="connsiteX122" fmla="*/ 79315 w 431507"/>
              <a:gd name="connsiteY122" fmla="*/ 463825 h 608274"/>
              <a:gd name="connsiteX123" fmla="*/ 79315 w 431507"/>
              <a:gd name="connsiteY123" fmla="*/ 396056 h 608274"/>
              <a:gd name="connsiteX124" fmla="*/ 95750 w 431507"/>
              <a:gd name="connsiteY124" fmla="*/ 379642 h 608274"/>
              <a:gd name="connsiteX125" fmla="*/ 418098 w 431507"/>
              <a:gd name="connsiteY125" fmla="*/ 308869 h 608274"/>
              <a:gd name="connsiteX126" fmla="*/ 408722 w 431507"/>
              <a:gd name="connsiteY126" fmla="*/ 318231 h 608274"/>
              <a:gd name="connsiteX127" fmla="*/ 408722 w 431507"/>
              <a:gd name="connsiteY127" fmla="*/ 409442 h 608274"/>
              <a:gd name="connsiteX128" fmla="*/ 418098 w 431507"/>
              <a:gd name="connsiteY128" fmla="*/ 409442 h 608274"/>
              <a:gd name="connsiteX129" fmla="*/ 13510 w 431507"/>
              <a:gd name="connsiteY129" fmla="*/ 308869 h 608274"/>
              <a:gd name="connsiteX130" fmla="*/ 13510 w 431507"/>
              <a:gd name="connsiteY130" fmla="*/ 409442 h 608274"/>
              <a:gd name="connsiteX131" fmla="*/ 22886 w 431507"/>
              <a:gd name="connsiteY131" fmla="*/ 409442 h 608274"/>
              <a:gd name="connsiteX132" fmla="*/ 22886 w 431507"/>
              <a:gd name="connsiteY132" fmla="*/ 318231 h 608274"/>
              <a:gd name="connsiteX133" fmla="*/ 373738 w 431507"/>
              <a:gd name="connsiteY133" fmla="*/ 299305 h 608274"/>
              <a:gd name="connsiteX134" fmla="*/ 373738 w 431507"/>
              <a:gd name="connsiteY134" fmla="*/ 308768 h 608274"/>
              <a:gd name="connsiteX135" fmla="*/ 399144 w 431507"/>
              <a:gd name="connsiteY135" fmla="*/ 308768 h 608274"/>
              <a:gd name="connsiteX136" fmla="*/ 408621 w 431507"/>
              <a:gd name="connsiteY136" fmla="*/ 299305 h 608274"/>
              <a:gd name="connsiteX137" fmla="*/ 22987 w 431507"/>
              <a:gd name="connsiteY137" fmla="*/ 299305 h 608274"/>
              <a:gd name="connsiteX138" fmla="*/ 32363 w 431507"/>
              <a:gd name="connsiteY138" fmla="*/ 308768 h 608274"/>
              <a:gd name="connsiteX139" fmla="*/ 57870 w 431507"/>
              <a:gd name="connsiteY139" fmla="*/ 308768 h 608274"/>
              <a:gd name="connsiteX140" fmla="*/ 57870 w 431507"/>
              <a:gd name="connsiteY140" fmla="*/ 299305 h 608274"/>
              <a:gd name="connsiteX141" fmla="*/ 287636 w 431507"/>
              <a:gd name="connsiteY141" fmla="*/ 287249 h 608274"/>
              <a:gd name="connsiteX142" fmla="*/ 285015 w 431507"/>
              <a:gd name="connsiteY142" fmla="*/ 289866 h 608274"/>
              <a:gd name="connsiteX143" fmla="*/ 285015 w 431507"/>
              <a:gd name="connsiteY143" fmla="*/ 349950 h 608274"/>
              <a:gd name="connsiteX144" fmla="*/ 287636 w 431507"/>
              <a:gd name="connsiteY144" fmla="*/ 352567 h 608274"/>
              <a:gd name="connsiteX145" fmla="*/ 336131 w 431507"/>
              <a:gd name="connsiteY145" fmla="*/ 352567 h 608274"/>
              <a:gd name="connsiteX146" fmla="*/ 338752 w 431507"/>
              <a:gd name="connsiteY146" fmla="*/ 349950 h 608274"/>
              <a:gd name="connsiteX147" fmla="*/ 338752 w 431507"/>
              <a:gd name="connsiteY147" fmla="*/ 289866 h 608274"/>
              <a:gd name="connsiteX148" fmla="*/ 336131 w 431507"/>
              <a:gd name="connsiteY148" fmla="*/ 287249 h 608274"/>
              <a:gd name="connsiteX149" fmla="*/ 191455 w 431507"/>
              <a:gd name="connsiteY149" fmla="*/ 287249 h 608274"/>
              <a:gd name="connsiteX150" fmla="*/ 188935 w 431507"/>
              <a:gd name="connsiteY150" fmla="*/ 289866 h 608274"/>
              <a:gd name="connsiteX151" fmla="*/ 188935 w 431507"/>
              <a:gd name="connsiteY151" fmla="*/ 349950 h 608274"/>
              <a:gd name="connsiteX152" fmla="*/ 191455 w 431507"/>
              <a:gd name="connsiteY152" fmla="*/ 352567 h 608274"/>
              <a:gd name="connsiteX153" fmla="*/ 240051 w 431507"/>
              <a:gd name="connsiteY153" fmla="*/ 352567 h 608274"/>
              <a:gd name="connsiteX154" fmla="*/ 242672 w 431507"/>
              <a:gd name="connsiteY154" fmla="*/ 349950 h 608274"/>
              <a:gd name="connsiteX155" fmla="*/ 242672 w 431507"/>
              <a:gd name="connsiteY155" fmla="*/ 289866 h 608274"/>
              <a:gd name="connsiteX156" fmla="*/ 240051 w 431507"/>
              <a:gd name="connsiteY156" fmla="*/ 287249 h 608274"/>
              <a:gd name="connsiteX157" fmla="*/ 95345 w 431507"/>
              <a:gd name="connsiteY157" fmla="*/ 287249 h 608274"/>
              <a:gd name="connsiteX158" fmla="*/ 92724 w 431507"/>
              <a:gd name="connsiteY158" fmla="*/ 289866 h 608274"/>
              <a:gd name="connsiteX159" fmla="*/ 92724 w 431507"/>
              <a:gd name="connsiteY159" fmla="*/ 349950 h 608274"/>
              <a:gd name="connsiteX160" fmla="*/ 95345 w 431507"/>
              <a:gd name="connsiteY160" fmla="*/ 352567 h 608274"/>
              <a:gd name="connsiteX161" fmla="*/ 143941 w 431507"/>
              <a:gd name="connsiteY161" fmla="*/ 352567 h 608274"/>
              <a:gd name="connsiteX162" fmla="*/ 146562 w 431507"/>
              <a:gd name="connsiteY162" fmla="*/ 349950 h 608274"/>
              <a:gd name="connsiteX163" fmla="*/ 146562 w 431507"/>
              <a:gd name="connsiteY163" fmla="*/ 289866 h 608274"/>
              <a:gd name="connsiteX164" fmla="*/ 143941 w 431507"/>
              <a:gd name="connsiteY164" fmla="*/ 287249 h 608274"/>
              <a:gd name="connsiteX165" fmla="*/ 287636 w 431507"/>
              <a:gd name="connsiteY165" fmla="*/ 273864 h 608274"/>
              <a:gd name="connsiteX166" fmla="*/ 336131 w 431507"/>
              <a:gd name="connsiteY166" fmla="*/ 273864 h 608274"/>
              <a:gd name="connsiteX167" fmla="*/ 352262 w 431507"/>
              <a:gd name="connsiteY167" fmla="*/ 289866 h 608274"/>
              <a:gd name="connsiteX168" fmla="*/ 352262 w 431507"/>
              <a:gd name="connsiteY168" fmla="*/ 349950 h 608274"/>
              <a:gd name="connsiteX169" fmla="*/ 336131 w 431507"/>
              <a:gd name="connsiteY169" fmla="*/ 365952 h 608274"/>
              <a:gd name="connsiteX170" fmla="*/ 287636 w 431507"/>
              <a:gd name="connsiteY170" fmla="*/ 365952 h 608274"/>
              <a:gd name="connsiteX171" fmla="*/ 271606 w 431507"/>
              <a:gd name="connsiteY171" fmla="*/ 349950 h 608274"/>
              <a:gd name="connsiteX172" fmla="*/ 271606 w 431507"/>
              <a:gd name="connsiteY172" fmla="*/ 289866 h 608274"/>
              <a:gd name="connsiteX173" fmla="*/ 287636 w 431507"/>
              <a:gd name="connsiteY173" fmla="*/ 273864 h 608274"/>
              <a:gd name="connsiteX174" fmla="*/ 191455 w 431507"/>
              <a:gd name="connsiteY174" fmla="*/ 273864 h 608274"/>
              <a:gd name="connsiteX175" fmla="*/ 240051 w 431507"/>
              <a:gd name="connsiteY175" fmla="*/ 273864 h 608274"/>
              <a:gd name="connsiteX176" fmla="*/ 256081 w 431507"/>
              <a:gd name="connsiteY176" fmla="*/ 289866 h 608274"/>
              <a:gd name="connsiteX177" fmla="*/ 256081 w 431507"/>
              <a:gd name="connsiteY177" fmla="*/ 349950 h 608274"/>
              <a:gd name="connsiteX178" fmla="*/ 240051 w 431507"/>
              <a:gd name="connsiteY178" fmla="*/ 365952 h 608274"/>
              <a:gd name="connsiteX179" fmla="*/ 191455 w 431507"/>
              <a:gd name="connsiteY179" fmla="*/ 365952 h 608274"/>
              <a:gd name="connsiteX180" fmla="*/ 175425 w 431507"/>
              <a:gd name="connsiteY180" fmla="*/ 349950 h 608274"/>
              <a:gd name="connsiteX181" fmla="*/ 175425 w 431507"/>
              <a:gd name="connsiteY181" fmla="*/ 289866 h 608274"/>
              <a:gd name="connsiteX182" fmla="*/ 191455 w 431507"/>
              <a:gd name="connsiteY182" fmla="*/ 273864 h 608274"/>
              <a:gd name="connsiteX183" fmla="*/ 95345 w 431507"/>
              <a:gd name="connsiteY183" fmla="*/ 273864 h 608274"/>
              <a:gd name="connsiteX184" fmla="*/ 143941 w 431507"/>
              <a:gd name="connsiteY184" fmla="*/ 273864 h 608274"/>
              <a:gd name="connsiteX185" fmla="*/ 159971 w 431507"/>
              <a:gd name="connsiteY185" fmla="*/ 289866 h 608274"/>
              <a:gd name="connsiteX186" fmla="*/ 159971 w 431507"/>
              <a:gd name="connsiteY186" fmla="*/ 349950 h 608274"/>
              <a:gd name="connsiteX187" fmla="*/ 143941 w 431507"/>
              <a:gd name="connsiteY187" fmla="*/ 365952 h 608274"/>
              <a:gd name="connsiteX188" fmla="*/ 95345 w 431507"/>
              <a:gd name="connsiteY188" fmla="*/ 365952 h 608274"/>
              <a:gd name="connsiteX189" fmla="*/ 79315 w 431507"/>
              <a:gd name="connsiteY189" fmla="*/ 349950 h 608274"/>
              <a:gd name="connsiteX190" fmla="*/ 79315 w 431507"/>
              <a:gd name="connsiteY190" fmla="*/ 289866 h 608274"/>
              <a:gd name="connsiteX191" fmla="*/ 95345 w 431507"/>
              <a:gd name="connsiteY191" fmla="*/ 273864 h 608274"/>
              <a:gd name="connsiteX192" fmla="*/ 93661 w 431507"/>
              <a:gd name="connsiteY192" fmla="*/ 265780 h 608274"/>
              <a:gd name="connsiteX193" fmla="*/ 71279 w 431507"/>
              <a:gd name="connsiteY193" fmla="*/ 288130 h 608274"/>
              <a:gd name="connsiteX194" fmla="*/ 71279 w 431507"/>
              <a:gd name="connsiteY194" fmla="*/ 466323 h 608274"/>
              <a:gd name="connsiteX195" fmla="*/ 93661 w 431507"/>
              <a:gd name="connsiteY195" fmla="*/ 488572 h 608274"/>
              <a:gd name="connsiteX196" fmla="*/ 337947 w 431507"/>
              <a:gd name="connsiteY196" fmla="*/ 488572 h 608274"/>
              <a:gd name="connsiteX197" fmla="*/ 360328 w 431507"/>
              <a:gd name="connsiteY197" fmla="*/ 466323 h 608274"/>
              <a:gd name="connsiteX198" fmla="*/ 360328 w 431507"/>
              <a:gd name="connsiteY198" fmla="*/ 288130 h 608274"/>
              <a:gd name="connsiteX199" fmla="*/ 337947 w 431507"/>
              <a:gd name="connsiteY199" fmla="*/ 265780 h 608274"/>
              <a:gd name="connsiteX200" fmla="*/ 199622 w 431507"/>
              <a:gd name="connsiteY200" fmla="*/ 236283 h 608274"/>
              <a:gd name="connsiteX201" fmla="*/ 199622 w 431507"/>
              <a:gd name="connsiteY201" fmla="*/ 252390 h 608274"/>
              <a:gd name="connsiteX202" fmla="*/ 231885 w 431507"/>
              <a:gd name="connsiteY202" fmla="*/ 252390 h 608274"/>
              <a:gd name="connsiteX203" fmla="*/ 231885 w 431507"/>
              <a:gd name="connsiteY203" fmla="*/ 236283 h 608274"/>
              <a:gd name="connsiteX204" fmla="*/ 184926 w 431507"/>
              <a:gd name="connsiteY204" fmla="*/ 127088 h 608274"/>
              <a:gd name="connsiteX205" fmla="*/ 215754 w 431507"/>
              <a:gd name="connsiteY205" fmla="*/ 139841 h 608274"/>
              <a:gd name="connsiteX206" fmla="*/ 246682 w 431507"/>
              <a:gd name="connsiteY206" fmla="*/ 127088 h 608274"/>
              <a:gd name="connsiteX207" fmla="*/ 256152 w 431507"/>
              <a:gd name="connsiteY207" fmla="*/ 136527 h 608274"/>
              <a:gd name="connsiteX208" fmla="*/ 215754 w 431507"/>
              <a:gd name="connsiteY208" fmla="*/ 153197 h 608274"/>
              <a:gd name="connsiteX209" fmla="*/ 175355 w 431507"/>
              <a:gd name="connsiteY209" fmla="*/ 136527 h 608274"/>
              <a:gd name="connsiteX210" fmla="*/ 274217 w 431507"/>
              <a:gd name="connsiteY210" fmla="*/ 96675 h 608274"/>
              <a:gd name="connsiteX211" fmla="*/ 287766 w 431507"/>
              <a:gd name="connsiteY211" fmla="*/ 96675 h 608274"/>
              <a:gd name="connsiteX212" fmla="*/ 287766 w 431507"/>
              <a:gd name="connsiteY212" fmla="*/ 138238 h 608274"/>
              <a:gd name="connsiteX213" fmla="*/ 274217 w 431507"/>
              <a:gd name="connsiteY213" fmla="*/ 138238 h 608274"/>
              <a:gd name="connsiteX214" fmla="*/ 143883 w 431507"/>
              <a:gd name="connsiteY214" fmla="*/ 96675 h 608274"/>
              <a:gd name="connsiteX215" fmla="*/ 157290 w 431507"/>
              <a:gd name="connsiteY215" fmla="*/ 96675 h 608274"/>
              <a:gd name="connsiteX216" fmla="*/ 157290 w 431507"/>
              <a:gd name="connsiteY216" fmla="*/ 138238 h 608274"/>
              <a:gd name="connsiteX217" fmla="*/ 143883 w 431507"/>
              <a:gd name="connsiteY217" fmla="*/ 138238 h 608274"/>
              <a:gd name="connsiteX218" fmla="*/ 99498 w 431507"/>
              <a:gd name="connsiteY218" fmla="*/ 41613 h 608274"/>
              <a:gd name="connsiteX219" fmla="*/ 99498 w 431507"/>
              <a:gd name="connsiteY219" fmla="*/ 194609 h 608274"/>
              <a:gd name="connsiteX220" fmla="*/ 332080 w 431507"/>
              <a:gd name="connsiteY220" fmla="*/ 194609 h 608274"/>
              <a:gd name="connsiteX221" fmla="*/ 332080 w 431507"/>
              <a:gd name="connsiteY221" fmla="*/ 41613 h 608274"/>
              <a:gd name="connsiteX222" fmla="*/ 98389 w 431507"/>
              <a:gd name="connsiteY222" fmla="*/ 28226 h 608274"/>
              <a:gd name="connsiteX223" fmla="*/ 333088 w 431507"/>
              <a:gd name="connsiteY223" fmla="*/ 28226 h 608274"/>
              <a:gd name="connsiteX224" fmla="*/ 345488 w 431507"/>
              <a:gd name="connsiteY224" fmla="*/ 40607 h 608274"/>
              <a:gd name="connsiteX225" fmla="*/ 345488 w 431507"/>
              <a:gd name="connsiteY225" fmla="*/ 195716 h 608274"/>
              <a:gd name="connsiteX226" fmla="*/ 333088 w 431507"/>
              <a:gd name="connsiteY226" fmla="*/ 208097 h 608274"/>
              <a:gd name="connsiteX227" fmla="*/ 98389 w 431507"/>
              <a:gd name="connsiteY227" fmla="*/ 208097 h 608274"/>
              <a:gd name="connsiteX228" fmla="*/ 86090 w 431507"/>
              <a:gd name="connsiteY228" fmla="*/ 195716 h 608274"/>
              <a:gd name="connsiteX229" fmla="*/ 86090 w 431507"/>
              <a:gd name="connsiteY229" fmla="*/ 40607 h 608274"/>
              <a:gd name="connsiteX230" fmla="*/ 98389 w 431507"/>
              <a:gd name="connsiteY230" fmla="*/ 28226 h 608274"/>
              <a:gd name="connsiteX231" fmla="*/ 98400 w 431507"/>
              <a:gd name="connsiteY231" fmla="*/ 13390 h 608274"/>
              <a:gd name="connsiteX232" fmla="*/ 71279 w 431507"/>
              <a:gd name="connsiteY232" fmla="*/ 40572 h 608274"/>
              <a:gd name="connsiteX233" fmla="*/ 71279 w 431507"/>
              <a:gd name="connsiteY233" fmla="*/ 195711 h 608274"/>
              <a:gd name="connsiteX234" fmla="*/ 98400 w 431507"/>
              <a:gd name="connsiteY234" fmla="*/ 222792 h 608274"/>
              <a:gd name="connsiteX235" fmla="*/ 333107 w 431507"/>
              <a:gd name="connsiteY235" fmla="*/ 222792 h 608274"/>
              <a:gd name="connsiteX236" fmla="*/ 360328 w 431507"/>
              <a:gd name="connsiteY236" fmla="*/ 195711 h 608274"/>
              <a:gd name="connsiteX237" fmla="*/ 360328 w 431507"/>
              <a:gd name="connsiteY237" fmla="*/ 40572 h 608274"/>
              <a:gd name="connsiteX238" fmla="*/ 333107 w 431507"/>
              <a:gd name="connsiteY238" fmla="*/ 13390 h 608274"/>
              <a:gd name="connsiteX239" fmla="*/ 98400 w 431507"/>
              <a:gd name="connsiteY239" fmla="*/ 0 h 608274"/>
              <a:gd name="connsiteX240" fmla="*/ 333107 w 431507"/>
              <a:gd name="connsiteY240" fmla="*/ 0 h 608274"/>
              <a:gd name="connsiteX241" fmla="*/ 373738 w 431507"/>
              <a:gd name="connsiteY241" fmla="*/ 40572 h 608274"/>
              <a:gd name="connsiteX242" fmla="*/ 373738 w 431507"/>
              <a:gd name="connsiteY242" fmla="*/ 195711 h 608274"/>
              <a:gd name="connsiteX243" fmla="*/ 333107 w 431507"/>
              <a:gd name="connsiteY243" fmla="*/ 236283 h 608274"/>
              <a:gd name="connsiteX244" fmla="*/ 245394 w 431507"/>
              <a:gd name="connsiteY244" fmla="*/ 236283 h 608274"/>
              <a:gd name="connsiteX245" fmla="*/ 245394 w 431507"/>
              <a:gd name="connsiteY245" fmla="*/ 252390 h 608274"/>
              <a:gd name="connsiteX246" fmla="*/ 337947 w 431507"/>
              <a:gd name="connsiteY246" fmla="*/ 252390 h 608274"/>
              <a:gd name="connsiteX247" fmla="*/ 373637 w 431507"/>
              <a:gd name="connsiteY247" fmla="*/ 285915 h 608274"/>
              <a:gd name="connsiteX248" fmla="*/ 431507 w 431507"/>
              <a:gd name="connsiteY248" fmla="*/ 285915 h 608274"/>
              <a:gd name="connsiteX249" fmla="*/ 431507 w 431507"/>
              <a:gd name="connsiteY249" fmla="*/ 454343 h 608274"/>
              <a:gd name="connsiteX250" fmla="*/ 395212 w 431507"/>
              <a:gd name="connsiteY250" fmla="*/ 454343 h 608274"/>
              <a:gd name="connsiteX251" fmla="*/ 395212 w 431507"/>
              <a:gd name="connsiteY251" fmla="*/ 322158 h 608274"/>
              <a:gd name="connsiteX252" fmla="*/ 373738 w 431507"/>
              <a:gd name="connsiteY252" fmla="*/ 322158 h 608274"/>
              <a:gd name="connsiteX253" fmla="*/ 373738 w 431507"/>
              <a:gd name="connsiteY253" fmla="*/ 466323 h 608274"/>
              <a:gd name="connsiteX254" fmla="*/ 338047 w 431507"/>
              <a:gd name="connsiteY254" fmla="*/ 502063 h 608274"/>
              <a:gd name="connsiteX255" fmla="*/ 338047 w 431507"/>
              <a:gd name="connsiteY255" fmla="*/ 527533 h 608274"/>
              <a:gd name="connsiteX256" fmla="*/ 353775 w 431507"/>
              <a:gd name="connsiteY256" fmla="*/ 527533 h 608274"/>
              <a:gd name="connsiteX257" fmla="*/ 353775 w 431507"/>
              <a:gd name="connsiteY257" fmla="*/ 608274 h 608274"/>
              <a:gd name="connsiteX258" fmla="*/ 236321 w 431507"/>
              <a:gd name="connsiteY258" fmla="*/ 608274 h 608274"/>
              <a:gd name="connsiteX259" fmla="*/ 236321 w 431507"/>
              <a:gd name="connsiteY259" fmla="*/ 527533 h 608274"/>
              <a:gd name="connsiteX260" fmla="*/ 252149 w 431507"/>
              <a:gd name="connsiteY260" fmla="*/ 527533 h 608274"/>
              <a:gd name="connsiteX261" fmla="*/ 252149 w 431507"/>
              <a:gd name="connsiteY261" fmla="*/ 502063 h 608274"/>
              <a:gd name="connsiteX262" fmla="*/ 179358 w 431507"/>
              <a:gd name="connsiteY262" fmla="*/ 502063 h 608274"/>
              <a:gd name="connsiteX263" fmla="*/ 179358 w 431507"/>
              <a:gd name="connsiteY263" fmla="*/ 527533 h 608274"/>
              <a:gd name="connsiteX264" fmla="*/ 195186 w 431507"/>
              <a:gd name="connsiteY264" fmla="*/ 527533 h 608274"/>
              <a:gd name="connsiteX265" fmla="*/ 195186 w 431507"/>
              <a:gd name="connsiteY265" fmla="*/ 608274 h 608274"/>
              <a:gd name="connsiteX266" fmla="*/ 77732 w 431507"/>
              <a:gd name="connsiteY266" fmla="*/ 608274 h 608274"/>
              <a:gd name="connsiteX267" fmla="*/ 77732 w 431507"/>
              <a:gd name="connsiteY267" fmla="*/ 527533 h 608274"/>
              <a:gd name="connsiteX268" fmla="*/ 93560 w 431507"/>
              <a:gd name="connsiteY268" fmla="*/ 527533 h 608274"/>
              <a:gd name="connsiteX269" fmla="*/ 93560 w 431507"/>
              <a:gd name="connsiteY269" fmla="*/ 502063 h 608274"/>
              <a:gd name="connsiteX270" fmla="*/ 57870 w 431507"/>
              <a:gd name="connsiteY270" fmla="*/ 466323 h 608274"/>
              <a:gd name="connsiteX271" fmla="*/ 57870 w 431507"/>
              <a:gd name="connsiteY271" fmla="*/ 322158 h 608274"/>
              <a:gd name="connsiteX272" fmla="*/ 36295 w 431507"/>
              <a:gd name="connsiteY272" fmla="*/ 322158 h 608274"/>
              <a:gd name="connsiteX273" fmla="*/ 36295 w 431507"/>
              <a:gd name="connsiteY273" fmla="*/ 454343 h 608274"/>
              <a:gd name="connsiteX274" fmla="*/ 0 w 431507"/>
              <a:gd name="connsiteY274" fmla="*/ 454343 h 608274"/>
              <a:gd name="connsiteX275" fmla="*/ 0 w 431507"/>
              <a:gd name="connsiteY275" fmla="*/ 285915 h 608274"/>
              <a:gd name="connsiteX276" fmla="*/ 57870 w 431507"/>
              <a:gd name="connsiteY276" fmla="*/ 285915 h 608274"/>
              <a:gd name="connsiteX277" fmla="*/ 93661 w 431507"/>
              <a:gd name="connsiteY277" fmla="*/ 252390 h 608274"/>
              <a:gd name="connsiteX278" fmla="*/ 186213 w 431507"/>
              <a:gd name="connsiteY278" fmla="*/ 252390 h 608274"/>
              <a:gd name="connsiteX279" fmla="*/ 186213 w 431507"/>
              <a:gd name="connsiteY279" fmla="*/ 236283 h 608274"/>
              <a:gd name="connsiteX280" fmla="*/ 98400 w 431507"/>
              <a:gd name="connsiteY280" fmla="*/ 236283 h 608274"/>
              <a:gd name="connsiteX281" fmla="*/ 57870 w 431507"/>
              <a:gd name="connsiteY281" fmla="*/ 195711 h 608274"/>
              <a:gd name="connsiteX282" fmla="*/ 57870 w 431507"/>
              <a:gd name="connsiteY282" fmla="*/ 40572 h 608274"/>
              <a:gd name="connsiteX283" fmla="*/ 98400 w 431507"/>
              <a:gd name="connsiteY283"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Lst>
            <a:rect l="l" t="t" r="r" b="b"/>
            <a:pathLst>
              <a:path w="431507" h="608274">
                <a:moveTo>
                  <a:pt x="249830" y="561058"/>
                </a:moveTo>
                <a:lnTo>
                  <a:pt x="249830" y="594884"/>
                </a:lnTo>
                <a:lnTo>
                  <a:pt x="340366" y="594884"/>
                </a:lnTo>
                <a:lnTo>
                  <a:pt x="340366" y="561058"/>
                </a:lnTo>
                <a:close/>
                <a:moveTo>
                  <a:pt x="91141" y="561058"/>
                </a:moveTo>
                <a:lnTo>
                  <a:pt x="91141" y="594884"/>
                </a:lnTo>
                <a:lnTo>
                  <a:pt x="181777" y="594884"/>
                </a:lnTo>
                <a:lnTo>
                  <a:pt x="181777" y="561058"/>
                </a:lnTo>
                <a:close/>
                <a:moveTo>
                  <a:pt x="249830" y="540923"/>
                </a:moveTo>
                <a:lnTo>
                  <a:pt x="249830" y="547668"/>
                </a:lnTo>
                <a:lnTo>
                  <a:pt x="340366" y="547668"/>
                </a:lnTo>
                <a:lnTo>
                  <a:pt x="340366" y="540923"/>
                </a:lnTo>
                <a:close/>
                <a:moveTo>
                  <a:pt x="91141" y="540923"/>
                </a:moveTo>
                <a:lnTo>
                  <a:pt x="91141" y="547668"/>
                </a:lnTo>
                <a:lnTo>
                  <a:pt x="181777" y="547668"/>
                </a:lnTo>
                <a:lnTo>
                  <a:pt x="181777" y="540923"/>
                </a:lnTo>
                <a:close/>
                <a:moveTo>
                  <a:pt x="265558" y="502063"/>
                </a:moveTo>
                <a:lnTo>
                  <a:pt x="265558" y="527533"/>
                </a:lnTo>
                <a:lnTo>
                  <a:pt x="324538" y="527533"/>
                </a:lnTo>
                <a:lnTo>
                  <a:pt x="324538" y="502063"/>
                </a:lnTo>
                <a:close/>
                <a:moveTo>
                  <a:pt x="106969" y="502063"/>
                </a:moveTo>
                <a:lnTo>
                  <a:pt x="106969" y="527533"/>
                </a:lnTo>
                <a:lnTo>
                  <a:pt x="165949" y="527533"/>
                </a:lnTo>
                <a:lnTo>
                  <a:pt x="165949" y="502063"/>
                </a:lnTo>
                <a:close/>
                <a:moveTo>
                  <a:pt x="317980" y="451238"/>
                </a:moveTo>
                <a:lnTo>
                  <a:pt x="317980" y="466846"/>
                </a:lnTo>
                <a:lnTo>
                  <a:pt x="335726" y="466846"/>
                </a:lnTo>
                <a:cubicBezTo>
                  <a:pt x="337440" y="466846"/>
                  <a:pt x="338751" y="465537"/>
                  <a:pt x="338751" y="463825"/>
                </a:cubicBezTo>
                <a:lnTo>
                  <a:pt x="338751" y="451238"/>
                </a:lnTo>
                <a:close/>
                <a:moveTo>
                  <a:pt x="279765" y="451238"/>
                </a:moveTo>
                <a:lnTo>
                  <a:pt x="279765" y="466846"/>
                </a:lnTo>
                <a:lnTo>
                  <a:pt x="304469" y="466846"/>
                </a:lnTo>
                <a:lnTo>
                  <a:pt x="304469" y="451238"/>
                </a:lnTo>
                <a:close/>
                <a:moveTo>
                  <a:pt x="241551" y="451238"/>
                </a:moveTo>
                <a:lnTo>
                  <a:pt x="241551" y="466846"/>
                </a:lnTo>
                <a:lnTo>
                  <a:pt x="266355" y="466846"/>
                </a:lnTo>
                <a:lnTo>
                  <a:pt x="266355" y="451238"/>
                </a:lnTo>
                <a:close/>
                <a:moveTo>
                  <a:pt x="203437" y="451238"/>
                </a:moveTo>
                <a:lnTo>
                  <a:pt x="203437" y="466846"/>
                </a:lnTo>
                <a:lnTo>
                  <a:pt x="228140" y="466846"/>
                </a:lnTo>
                <a:lnTo>
                  <a:pt x="228140" y="451238"/>
                </a:lnTo>
                <a:close/>
                <a:moveTo>
                  <a:pt x="165222" y="451238"/>
                </a:moveTo>
                <a:lnTo>
                  <a:pt x="165222" y="466846"/>
                </a:lnTo>
                <a:lnTo>
                  <a:pt x="189926" y="466846"/>
                </a:lnTo>
                <a:lnTo>
                  <a:pt x="189926" y="451238"/>
                </a:lnTo>
                <a:close/>
                <a:moveTo>
                  <a:pt x="127008" y="451238"/>
                </a:moveTo>
                <a:lnTo>
                  <a:pt x="127008" y="466846"/>
                </a:lnTo>
                <a:lnTo>
                  <a:pt x="151812" y="466846"/>
                </a:lnTo>
                <a:lnTo>
                  <a:pt x="151812" y="451238"/>
                </a:lnTo>
                <a:close/>
                <a:moveTo>
                  <a:pt x="92725" y="451238"/>
                </a:moveTo>
                <a:lnTo>
                  <a:pt x="92725" y="463825"/>
                </a:lnTo>
                <a:cubicBezTo>
                  <a:pt x="92725" y="465537"/>
                  <a:pt x="94137" y="466846"/>
                  <a:pt x="95750" y="466846"/>
                </a:cubicBezTo>
                <a:lnTo>
                  <a:pt x="113597" y="466846"/>
                </a:lnTo>
                <a:lnTo>
                  <a:pt x="113597" y="451238"/>
                </a:lnTo>
                <a:close/>
                <a:moveTo>
                  <a:pt x="408722" y="422832"/>
                </a:moveTo>
                <a:lnTo>
                  <a:pt x="408722" y="440953"/>
                </a:lnTo>
                <a:lnTo>
                  <a:pt x="418098" y="440953"/>
                </a:lnTo>
                <a:lnTo>
                  <a:pt x="418098" y="422832"/>
                </a:lnTo>
                <a:close/>
                <a:moveTo>
                  <a:pt x="13510" y="422832"/>
                </a:moveTo>
                <a:lnTo>
                  <a:pt x="13510" y="440953"/>
                </a:lnTo>
                <a:lnTo>
                  <a:pt x="22886" y="440953"/>
                </a:lnTo>
                <a:lnTo>
                  <a:pt x="22886" y="422832"/>
                </a:lnTo>
                <a:close/>
                <a:moveTo>
                  <a:pt x="298822" y="422136"/>
                </a:moveTo>
                <a:lnTo>
                  <a:pt x="298822" y="437744"/>
                </a:lnTo>
                <a:lnTo>
                  <a:pt x="338751" y="437744"/>
                </a:lnTo>
                <a:lnTo>
                  <a:pt x="338751" y="422136"/>
                </a:lnTo>
                <a:close/>
                <a:moveTo>
                  <a:pt x="260708" y="422136"/>
                </a:moveTo>
                <a:lnTo>
                  <a:pt x="260708" y="437744"/>
                </a:lnTo>
                <a:lnTo>
                  <a:pt x="285412" y="437744"/>
                </a:lnTo>
                <a:lnTo>
                  <a:pt x="285412" y="422136"/>
                </a:lnTo>
                <a:close/>
                <a:moveTo>
                  <a:pt x="222494" y="422136"/>
                </a:moveTo>
                <a:lnTo>
                  <a:pt x="222494" y="437744"/>
                </a:lnTo>
                <a:lnTo>
                  <a:pt x="247197" y="437744"/>
                </a:lnTo>
                <a:lnTo>
                  <a:pt x="247197" y="422136"/>
                </a:lnTo>
                <a:close/>
                <a:moveTo>
                  <a:pt x="184279" y="422136"/>
                </a:moveTo>
                <a:lnTo>
                  <a:pt x="184279" y="437744"/>
                </a:lnTo>
                <a:lnTo>
                  <a:pt x="209083" y="437744"/>
                </a:lnTo>
                <a:lnTo>
                  <a:pt x="209083" y="422136"/>
                </a:lnTo>
                <a:close/>
                <a:moveTo>
                  <a:pt x="146165" y="422136"/>
                </a:moveTo>
                <a:lnTo>
                  <a:pt x="146165" y="437744"/>
                </a:lnTo>
                <a:lnTo>
                  <a:pt x="170869" y="437744"/>
                </a:lnTo>
                <a:lnTo>
                  <a:pt x="170869" y="422136"/>
                </a:lnTo>
                <a:close/>
                <a:moveTo>
                  <a:pt x="92725" y="422136"/>
                </a:moveTo>
                <a:lnTo>
                  <a:pt x="92725" y="437744"/>
                </a:lnTo>
                <a:lnTo>
                  <a:pt x="132654" y="437744"/>
                </a:lnTo>
                <a:lnTo>
                  <a:pt x="132654" y="422136"/>
                </a:lnTo>
                <a:close/>
                <a:moveTo>
                  <a:pt x="317980" y="393035"/>
                </a:moveTo>
                <a:lnTo>
                  <a:pt x="317980" y="408743"/>
                </a:lnTo>
                <a:lnTo>
                  <a:pt x="338751" y="408743"/>
                </a:lnTo>
                <a:lnTo>
                  <a:pt x="338751" y="396056"/>
                </a:lnTo>
                <a:cubicBezTo>
                  <a:pt x="338751" y="394344"/>
                  <a:pt x="337440" y="393035"/>
                  <a:pt x="335726" y="393035"/>
                </a:cubicBezTo>
                <a:close/>
                <a:moveTo>
                  <a:pt x="279765" y="393035"/>
                </a:moveTo>
                <a:lnTo>
                  <a:pt x="279765" y="408743"/>
                </a:lnTo>
                <a:lnTo>
                  <a:pt x="304469" y="408743"/>
                </a:lnTo>
                <a:lnTo>
                  <a:pt x="304469" y="393035"/>
                </a:lnTo>
                <a:close/>
                <a:moveTo>
                  <a:pt x="241551" y="393035"/>
                </a:moveTo>
                <a:lnTo>
                  <a:pt x="241551" y="408743"/>
                </a:lnTo>
                <a:lnTo>
                  <a:pt x="266355" y="408743"/>
                </a:lnTo>
                <a:lnTo>
                  <a:pt x="266355" y="393035"/>
                </a:lnTo>
                <a:close/>
                <a:moveTo>
                  <a:pt x="203437" y="393035"/>
                </a:moveTo>
                <a:lnTo>
                  <a:pt x="203437" y="408743"/>
                </a:lnTo>
                <a:lnTo>
                  <a:pt x="228140" y="408743"/>
                </a:lnTo>
                <a:lnTo>
                  <a:pt x="228140" y="393035"/>
                </a:lnTo>
                <a:close/>
                <a:moveTo>
                  <a:pt x="165222" y="393035"/>
                </a:moveTo>
                <a:lnTo>
                  <a:pt x="165222" y="408743"/>
                </a:lnTo>
                <a:lnTo>
                  <a:pt x="189926" y="408743"/>
                </a:lnTo>
                <a:lnTo>
                  <a:pt x="189926" y="393035"/>
                </a:lnTo>
                <a:close/>
                <a:moveTo>
                  <a:pt x="127008" y="393035"/>
                </a:moveTo>
                <a:lnTo>
                  <a:pt x="127008" y="408743"/>
                </a:lnTo>
                <a:lnTo>
                  <a:pt x="151812" y="408743"/>
                </a:lnTo>
                <a:lnTo>
                  <a:pt x="151812" y="393035"/>
                </a:lnTo>
                <a:close/>
                <a:moveTo>
                  <a:pt x="95750" y="393035"/>
                </a:moveTo>
                <a:cubicBezTo>
                  <a:pt x="94137" y="393035"/>
                  <a:pt x="92725" y="394344"/>
                  <a:pt x="92725" y="396056"/>
                </a:cubicBezTo>
                <a:lnTo>
                  <a:pt x="92725" y="408743"/>
                </a:lnTo>
                <a:lnTo>
                  <a:pt x="113597" y="408743"/>
                </a:lnTo>
                <a:lnTo>
                  <a:pt x="113597" y="393035"/>
                </a:lnTo>
                <a:close/>
                <a:moveTo>
                  <a:pt x="95750" y="379642"/>
                </a:moveTo>
                <a:lnTo>
                  <a:pt x="335726" y="379642"/>
                </a:lnTo>
                <a:cubicBezTo>
                  <a:pt x="344801" y="379642"/>
                  <a:pt x="352262" y="386993"/>
                  <a:pt x="352262" y="396056"/>
                </a:cubicBezTo>
                <a:lnTo>
                  <a:pt x="352262" y="463825"/>
                </a:lnTo>
                <a:cubicBezTo>
                  <a:pt x="352262" y="472887"/>
                  <a:pt x="344801" y="480339"/>
                  <a:pt x="335726" y="480339"/>
                </a:cubicBezTo>
                <a:lnTo>
                  <a:pt x="95750" y="480339"/>
                </a:lnTo>
                <a:cubicBezTo>
                  <a:pt x="86676" y="480339"/>
                  <a:pt x="79315" y="472887"/>
                  <a:pt x="79315" y="463825"/>
                </a:cubicBezTo>
                <a:lnTo>
                  <a:pt x="79315" y="396056"/>
                </a:lnTo>
                <a:cubicBezTo>
                  <a:pt x="79315" y="386993"/>
                  <a:pt x="86676" y="379642"/>
                  <a:pt x="95750" y="379642"/>
                </a:cubicBezTo>
                <a:close/>
                <a:moveTo>
                  <a:pt x="418098" y="308869"/>
                </a:moveTo>
                <a:lnTo>
                  <a:pt x="408722" y="318231"/>
                </a:lnTo>
                <a:lnTo>
                  <a:pt x="408722" y="409442"/>
                </a:lnTo>
                <a:lnTo>
                  <a:pt x="418098" y="409442"/>
                </a:lnTo>
                <a:close/>
                <a:moveTo>
                  <a:pt x="13510" y="308869"/>
                </a:moveTo>
                <a:lnTo>
                  <a:pt x="13510" y="409442"/>
                </a:lnTo>
                <a:lnTo>
                  <a:pt x="22886" y="409442"/>
                </a:lnTo>
                <a:lnTo>
                  <a:pt x="22886" y="318231"/>
                </a:lnTo>
                <a:close/>
                <a:moveTo>
                  <a:pt x="373738" y="299305"/>
                </a:moveTo>
                <a:lnTo>
                  <a:pt x="373738" y="308768"/>
                </a:lnTo>
                <a:lnTo>
                  <a:pt x="399144" y="308768"/>
                </a:lnTo>
                <a:lnTo>
                  <a:pt x="408621" y="299305"/>
                </a:lnTo>
                <a:close/>
                <a:moveTo>
                  <a:pt x="22987" y="299305"/>
                </a:moveTo>
                <a:lnTo>
                  <a:pt x="32363" y="308768"/>
                </a:lnTo>
                <a:lnTo>
                  <a:pt x="57870" y="308768"/>
                </a:lnTo>
                <a:lnTo>
                  <a:pt x="57870" y="299305"/>
                </a:lnTo>
                <a:close/>
                <a:moveTo>
                  <a:pt x="287636" y="287249"/>
                </a:moveTo>
                <a:cubicBezTo>
                  <a:pt x="286124" y="287249"/>
                  <a:pt x="285015" y="288457"/>
                  <a:pt x="285015" y="289866"/>
                </a:cubicBezTo>
                <a:lnTo>
                  <a:pt x="285015" y="349950"/>
                </a:lnTo>
                <a:cubicBezTo>
                  <a:pt x="285015" y="351359"/>
                  <a:pt x="286124" y="352567"/>
                  <a:pt x="287636" y="352567"/>
                </a:cubicBezTo>
                <a:lnTo>
                  <a:pt x="336131" y="352567"/>
                </a:lnTo>
                <a:cubicBezTo>
                  <a:pt x="337643" y="352567"/>
                  <a:pt x="338752" y="351359"/>
                  <a:pt x="338752" y="349950"/>
                </a:cubicBezTo>
                <a:lnTo>
                  <a:pt x="338752" y="289866"/>
                </a:lnTo>
                <a:cubicBezTo>
                  <a:pt x="338752" y="288457"/>
                  <a:pt x="337643" y="287249"/>
                  <a:pt x="336131" y="287249"/>
                </a:cubicBezTo>
                <a:close/>
                <a:moveTo>
                  <a:pt x="191455" y="287249"/>
                </a:moveTo>
                <a:cubicBezTo>
                  <a:pt x="190044" y="287249"/>
                  <a:pt x="188935" y="288457"/>
                  <a:pt x="188935" y="289866"/>
                </a:cubicBezTo>
                <a:lnTo>
                  <a:pt x="188935" y="349950"/>
                </a:lnTo>
                <a:cubicBezTo>
                  <a:pt x="188935" y="351359"/>
                  <a:pt x="190044" y="352567"/>
                  <a:pt x="191455" y="352567"/>
                </a:cubicBezTo>
                <a:lnTo>
                  <a:pt x="240051" y="352567"/>
                </a:lnTo>
                <a:cubicBezTo>
                  <a:pt x="241462" y="352567"/>
                  <a:pt x="242672" y="351359"/>
                  <a:pt x="242672" y="349950"/>
                </a:cubicBezTo>
                <a:lnTo>
                  <a:pt x="242672" y="289866"/>
                </a:lnTo>
                <a:cubicBezTo>
                  <a:pt x="242672" y="288457"/>
                  <a:pt x="241462" y="287249"/>
                  <a:pt x="240051" y="287249"/>
                </a:cubicBezTo>
                <a:close/>
                <a:moveTo>
                  <a:pt x="95345" y="287249"/>
                </a:moveTo>
                <a:cubicBezTo>
                  <a:pt x="93934" y="287249"/>
                  <a:pt x="92724" y="288457"/>
                  <a:pt x="92724" y="289866"/>
                </a:cubicBezTo>
                <a:lnTo>
                  <a:pt x="92724" y="349950"/>
                </a:lnTo>
                <a:cubicBezTo>
                  <a:pt x="92724" y="351359"/>
                  <a:pt x="93934" y="352567"/>
                  <a:pt x="95345" y="352567"/>
                </a:cubicBezTo>
                <a:lnTo>
                  <a:pt x="143941" y="352567"/>
                </a:lnTo>
                <a:cubicBezTo>
                  <a:pt x="145352" y="352567"/>
                  <a:pt x="146562" y="351359"/>
                  <a:pt x="146562" y="349950"/>
                </a:cubicBezTo>
                <a:lnTo>
                  <a:pt x="146562" y="289866"/>
                </a:lnTo>
                <a:cubicBezTo>
                  <a:pt x="146562" y="288457"/>
                  <a:pt x="145352" y="287249"/>
                  <a:pt x="143941" y="287249"/>
                </a:cubicBezTo>
                <a:close/>
                <a:moveTo>
                  <a:pt x="287636" y="273864"/>
                </a:moveTo>
                <a:lnTo>
                  <a:pt x="336131" y="273864"/>
                </a:lnTo>
                <a:cubicBezTo>
                  <a:pt x="345003" y="273864"/>
                  <a:pt x="352262" y="281010"/>
                  <a:pt x="352262" y="289866"/>
                </a:cubicBezTo>
                <a:lnTo>
                  <a:pt x="352262" y="349950"/>
                </a:lnTo>
                <a:cubicBezTo>
                  <a:pt x="352262" y="358806"/>
                  <a:pt x="345003" y="365952"/>
                  <a:pt x="336131" y="365952"/>
                </a:cubicBezTo>
                <a:lnTo>
                  <a:pt x="287636" y="365952"/>
                </a:lnTo>
                <a:cubicBezTo>
                  <a:pt x="278764" y="365952"/>
                  <a:pt x="271606" y="358806"/>
                  <a:pt x="271606" y="349950"/>
                </a:cubicBezTo>
                <a:lnTo>
                  <a:pt x="271606" y="289866"/>
                </a:lnTo>
                <a:cubicBezTo>
                  <a:pt x="271606" y="281010"/>
                  <a:pt x="278764" y="273864"/>
                  <a:pt x="287636" y="273864"/>
                </a:cubicBezTo>
                <a:close/>
                <a:moveTo>
                  <a:pt x="191455" y="273864"/>
                </a:moveTo>
                <a:lnTo>
                  <a:pt x="240051" y="273864"/>
                </a:lnTo>
                <a:cubicBezTo>
                  <a:pt x="248923" y="273864"/>
                  <a:pt x="256081" y="281010"/>
                  <a:pt x="256081" y="289866"/>
                </a:cubicBezTo>
                <a:lnTo>
                  <a:pt x="256081" y="349950"/>
                </a:lnTo>
                <a:cubicBezTo>
                  <a:pt x="256081" y="358806"/>
                  <a:pt x="248923" y="365952"/>
                  <a:pt x="240051" y="365952"/>
                </a:cubicBezTo>
                <a:lnTo>
                  <a:pt x="191455" y="365952"/>
                </a:lnTo>
                <a:cubicBezTo>
                  <a:pt x="182684" y="365952"/>
                  <a:pt x="175425" y="358806"/>
                  <a:pt x="175425" y="349950"/>
                </a:cubicBezTo>
                <a:lnTo>
                  <a:pt x="175425" y="289866"/>
                </a:lnTo>
                <a:cubicBezTo>
                  <a:pt x="175425" y="281010"/>
                  <a:pt x="182684" y="273864"/>
                  <a:pt x="191455" y="273864"/>
                </a:cubicBezTo>
                <a:close/>
                <a:moveTo>
                  <a:pt x="95345" y="273864"/>
                </a:moveTo>
                <a:lnTo>
                  <a:pt x="143941" y="273864"/>
                </a:lnTo>
                <a:cubicBezTo>
                  <a:pt x="152813" y="273864"/>
                  <a:pt x="159971" y="281010"/>
                  <a:pt x="159971" y="289866"/>
                </a:cubicBezTo>
                <a:lnTo>
                  <a:pt x="159971" y="349950"/>
                </a:lnTo>
                <a:cubicBezTo>
                  <a:pt x="159971" y="358806"/>
                  <a:pt x="152813" y="365952"/>
                  <a:pt x="143941" y="365952"/>
                </a:cubicBezTo>
                <a:lnTo>
                  <a:pt x="95345" y="365952"/>
                </a:lnTo>
                <a:cubicBezTo>
                  <a:pt x="86473" y="365952"/>
                  <a:pt x="79315" y="358806"/>
                  <a:pt x="79315" y="349950"/>
                </a:cubicBezTo>
                <a:lnTo>
                  <a:pt x="79315" y="289866"/>
                </a:lnTo>
                <a:cubicBezTo>
                  <a:pt x="79315" y="281010"/>
                  <a:pt x="86473" y="273864"/>
                  <a:pt x="95345" y="273864"/>
                </a:cubicBezTo>
                <a:close/>
                <a:moveTo>
                  <a:pt x="93661" y="265780"/>
                </a:moveTo>
                <a:cubicBezTo>
                  <a:pt x="81260" y="265780"/>
                  <a:pt x="71279" y="275747"/>
                  <a:pt x="71279" y="288130"/>
                </a:cubicBezTo>
                <a:lnTo>
                  <a:pt x="71279" y="466323"/>
                </a:lnTo>
                <a:cubicBezTo>
                  <a:pt x="71279" y="478606"/>
                  <a:pt x="81260" y="488572"/>
                  <a:pt x="93661" y="488572"/>
                </a:cubicBezTo>
                <a:lnTo>
                  <a:pt x="337947" y="488572"/>
                </a:lnTo>
                <a:cubicBezTo>
                  <a:pt x="350247" y="488572"/>
                  <a:pt x="360328" y="478606"/>
                  <a:pt x="360328" y="466323"/>
                </a:cubicBezTo>
                <a:lnTo>
                  <a:pt x="360328" y="288130"/>
                </a:lnTo>
                <a:cubicBezTo>
                  <a:pt x="360328" y="275747"/>
                  <a:pt x="350247" y="265780"/>
                  <a:pt x="337947" y="265780"/>
                </a:cubicBezTo>
                <a:close/>
                <a:moveTo>
                  <a:pt x="199622" y="236283"/>
                </a:moveTo>
                <a:lnTo>
                  <a:pt x="199622" y="252390"/>
                </a:lnTo>
                <a:lnTo>
                  <a:pt x="231885" y="252390"/>
                </a:lnTo>
                <a:lnTo>
                  <a:pt x="231885" y="236283"/>
                </a:lnTo>
                <a:close/>
                <a:moveTo>
                  <a:pt x="184926" y="127088"/>
                </a:moveTo>
                <a:cubicBezTo>
                  <a:pt x="193187" y="135322"/>
                  <a:pt x="204067" y="139841"/>
                  <a:pt x="215754" y="139841"/>
                </a:cubicBezTo>
                <a:cubicBezTo>
                  <a:pt x="227440" y="139841"/>
                  <a:pt x="238421" y="135322"/>
                  <a:pt x="246682" y="127088"/>
                </a:cubicBezTo>
                <a:lnTo>
                  <a:pt x="256152" y="136527"/>
                </a:lnTo>
                <a:cubicBezTo>
                  <a:pt x="245372" y="147272"/>
                  <a:pt x="231067" y="153197"/>
                  <a:pt x="215754" y="153197"/>
                </a:cubicBezTo>
                <a:cubicBezTo>
                  <a:pt x="200541" y="153197"/>
                  <a:pt x="186235" y="147272"/>
                  <a:pt x="175355" y="136527"/>
                </a:cubicBezTo>
                <a:close/>
                <a:moveTo>
                  <a:pt x="274217" y="96675"/>
                </a:moveTo>
                <a:lnTo>
                  <a:pt x="287766" y="96675"/>
                </a:lnTo>
                <a:lnTo>
                  <a:pt x="287766" y="138238"/>
                </a:lnTo>
                <a:lnTo>
                  <a:pt x="274217" y="138238"/>
                </a:lnTo>
                <a:close/>
                <a:moveTo>
                  <a:pt x="143883" y="96675"/>
                </a:moveTo>
                <a:lnTo>
                  <a:pt x="157290" y="96675"/>
                </a:lnTo>
                <a:lnTo>
                  <a:pt x="157290" y="138238"/>
                </a:lnTo>
                <a:lnTo>
                  <a:pt x="143883" y="138238"/>
                </a:lnTo>
                <a:close/>
                <a:moveTo>
                  <a:pt x="99498" y="41613"/>
                </a:moveTo>
                <a:lnTo>
                  <a:pt x="99498" y="194609"/>
                </a:lnTo>
                <a:lnTo>
                  <a:pt x="332080" y="194609"/>
                </a:lnTo>
                <a:lnTo>
                  <a:pt x="332080" y="41613"/>
                </a:lnTo>
                <a:close/>
                <a:moveTo>
                  <a:pt x="98389" y="28226"/>
                </a:moveTo>
                <a:lnTo>
                  <a:pt x="333088" y="28226"/>
                </a:lnTo>
                <a:cubicBezTo>
                  <a:pt x="339943" y="28226"/>
                  <a:pt x="345488" y="33762"/>
                  <a:pt x="345488" y="40607"/>
                </a:cubicBezTo>
                <a:lnTo>
                  <a:pt x="345488" y="195716"/>
                </a:lnTo>
                <a:cubicBezTo>
                  <a:pt x="345488" y="202561"/>
                  <a:pt x="339943" y="208097"/>
                  <a:pt x="333088" y="208097"/>
                </a:cubicBezTo>
                <a:lnTo>
                  <a:pt x="98389" y="208097"/>
                </a:lnTo>
                <a:cubicBezTo>
                  <a:pt x="91635" y="208097"/>
                  <a:pt x="86090" y="202561"/>
                  <a:pt x="86090" y="195716"/>
                </a:cubicBezTo>
                <a:lnTo>
                  <a:pt x="86090" y="40607"/>
                </a:lnTo>
                <a:cubicBezTo>
                  <a:pt x="86090" y="33762"/>
                  <a:pt x="91635" y="28226"/>
                  <a:pt x="98389" y="28226"/>
                </a:cubicBezTo>
                <a:close/>
                <a:moveTo>
                  <a:pt x="98400" y="13390"/>
                </a:moveTo>
                <a:cubicBezTo>
                  <a:pt x="83478" y="13390"/>
                  <a:pt x="71279" y="25571"/>
                  <a:pt x="71279" y="40572"/>
                </a:cubicBezTo>
                <a:lnTo>
                  <a:pt x="71279" y="195711"/>
                </a:lnTo>
                <a:cubicBezTo>
                  <a:pt x="71279" y="210611"/>
                  <a:pt x="83478" y="222792"/>
                  <a:pt x="98400" y="222792"/>
                </a:cubicBezTo>
                <a:lnTo>
                  <a:pt x="333107" y="222792"/>
                </a:lnTo>
                <a:cubicBezTo>
                  <a:pt x="348129" y="222792"/>
                  <a:pt x="360328" y="210611"/>
                  <a:pt x="360328" y="195711"/>
                </a:cubicBezTo>
                <a:lnTo>
                  <a:pt x="360328" y="40572"/>
                </a:lnTo>
                <a:cubicBezTo>
                  <a:pt x="360328" y="25571"/>
                  <a:pt x="348129" y="13390"/>
                  <a:pt x="333107" y="13390"/>
                </a:cubicBezTo>
                <a:close/>
                <a:moveTo>
                  <a:pt x="98400" y="0"/>
                </a:moveTo>
                <a:lnTo>
                  <a:pt x="333107" y="0"/>
                </a:lnTo>
                <a:cubicBezTo>
                  <a:pt x="355489" y="0"/>
                  <a:pt x="373738" y="18222"/>
                  <a:pt x="373738" y="40572"/>
                </a:cubicBezTo>
                <a:lnTo>
                  <a:pt x="373738" y="195711"/>
                </a:lnTo>
                <a:cubicBezTo>
                  <a:pt x="373738" y="218060"/>
                  <a:pt x="355489" y="236283"/>
                  <a:pt x="333107" y="236283"/>
                </a:cubicBezTo>
                <a:lnTo>
                  <a:pt x="245394" y="236283"/>
                </a:lnTo>
                <a:lnTo>
                  <a:pt x="245394" y="252390"/>
                </a:lnTo>
                <a:lnTo>
                  <a:pt x="337947" y="252390"/>
                </a:lnTo>
                <a:cubicBezTo>
                  <a:pt x="356901" y="252390"/>
                  <a:pt x="372528" y="267190"/>
                  <a:pt x="373637" y="285915"/>
                </a:cubicBezTo>
                <a:lnTo>
                  <a:pt x="431507" y="285915"/>
                </a:lnTo>
                <a:lnTo>
                  <a:pt x="431507" y="454343"/>
                </a:lnTo>
                <a:lnTo>
                  <a:pt x="395212" y="454343"/>
                </a:lnTo>
                <a:lnTo>
                  <a:pt x="395212" y="322158"/>
                </a:lnTo>
                <a:lnTo>
                  <a:pt x="373738" y="322158"/>
                </a:lnTo>
                <a:lnTo>
                  <a:pt x="373738" y="466323"/>
                </a:lnTo>
                <a:cubicBezTo>
                  <a:pt x="373738" y="485955"/>
                  <a:pt x="357707" y="501962"/>
                  <a:pt x="338047" y="502063"/>
                </a:cubicBezTo>
                <a:lnTo>
                  <a:pt x="338047" y="527533"/>
                </a:lnTo>
                <a:lnTo>
                  <a:pt x="353775" y="527533"/>
                </a:lnTo>
                <a:lnTo>
                  <a:pt x="353775" y="608274"/>
                </a:lnTo>
                <a:lnTo>
                  <a:pt x="236321" y="608274"/>
                </a:lnTo>
                <a:lnTo>
                  <a:pt x="236321" y="527533"/>
                </a:lnTo>
                <a:lnTo>
                  <a:pt x="252149" y="527533"/>
                </a:lnTo>
                <a:lnTo>
                  <a:pt x="252149" y="502063"/>
                </a:lnTo>
                <a:lnTo>
                  <a:pt x="179358" y="502063"/>
                </a:lnTo>
                <a:lnTo>
                  <a:pt x="179358" y="527533"/>
                </a:lnTo>
                <a:lnTo>
                  <a:pt x="195186" y="527533"/>
                </a:lnTo>
                <a:lnTo>
                  <a:pt x="195186" y="608274"/>
                </a:lnTo>
                <a:lnTo>
                  <a:pt x="77732" y="608274"/>
                </a:lnTo>
                <a:lnTo>
                  <a:pt x="77732" y="527533"/>
                </a:lnTo>
                <a:lnTo>
                  <a:pt x="93560" y="527533"/>
                </a:lnTo>
                <a:lnTo>
                  <a:pt x="93560" y="502063"/>
                </a:lnTo>
                <a:cubicBezTo>
                  <a:pt x="73800" y="501962"/>
                  <a:pt x="57870" y="485955"/>
                  <a:pt x="57870" y="466323"/>
                </a:cubicBezTo>
                <a:lnTo>
                  <a:pt x="57870" y="322158"/>
                </a:lnTo>
                <a:lnTo>
                  <a:pt x="36295" y="322158"/>
                </a:lnTo>
                <a:lnTo>
                  <a:pt x="36295" y="454343"/>
                </a:lnTo>
                <a:lnTo>
                  <a:pt x="0" y="454343"/>
                </a:lnTo>
                <a:lnTo>
                  <a:pt x="0" y="285915"/>
                </a:lnTo>
                <a:lnTo>
                  <a:pt x="57870" y="285915"/>
                </a:lnTo>
                <a:cubicBezTo>
                  <a:pt x="58979" y="267190"/>
                  <a:pt x="74606" y="252390"/>
                  <a:pt x="93661" y="252390"/>
                </a:cubicBezTo>
                <a:lnTo>
                  <a:pt x="186213" y="252390"/>
                </a:lnTo>
                <a:lnTo>
                  <a:pt x="186213" y="236283"/>
                </a:lnTo>
                <a:lnTo>
                  <a:pt x="98400" y="236283"/>
                </a:lnTo>
                <a:cubicBezTo>
                  <a:pt x="76018" y="236283"/>
                  <a:pt x="57870" y="218060"/>
                  <a:pt x="57870" y="195711"/>
                </a:cubicBezTo>
                <a:lnTo>
                  <a:pt x="57870" y="40572"/>
                </a:lnTo>
                <a:cubicBezTo>
                  <a:pt x="57870" y="18222"/>
                  <a:pt x="76018" y="0"/>
                  <a:pt x="98400" y="0"/>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p>
        </p:txBody>
      </p:sp>
      <p:sp>
        <p:nvSpPr>
          <p:cNvPr id="105" name="ïsḻîdé"/>
          <p:cNvSpPr/>
          <p:nvPr/>
        </p:nvSpPr>
        <p:spPr bwMode="auto">
          <a:xfrm>
            <a:off x="4861310" y="967006"/>
            <a:ext cx="429626" cy="408136"/>
          </a:xfrm>
          <a:custGeom>
            <a:avLst/>
            <a:gdLst>
              <a:gd name="T0" fmla="*/ 323122 h 606761"/>
              <a:gd name="T1" fmla="*/ 323122 h 606761"/>
              <a:gd name="T2" fmla="*/ 323122 h 606761"/>
              <a:gd name="T3" fmla="*/ 323122 h 606761"/>
              <a:gd name="T4" fmla="*/ 323122 h 606761"/>
              <a:gd name="T5" fmla="*/ 323122 h 606761"/>
              <a:gd name="T6" fmla="*/ 323122 h 606761"/>
              <a:gd name="T7" fmla="*/ 323122 h 606761"/>
              <a:gd name="T8" fmla="*/ 285195 h 606761"/>
              <a:gd name="T9" fmla="*/ 285195 h 606761"/>
              <a:gd name="T10" fmla="*/ 323122 h 606761"/>
              <a:gd name="T11" fmla="*/ 323122 h 606761"/>
              <a:gd name="T12" fmla="*/ 323122 h 606761"/>
              <a:gd name="T13" fmla="*/ 323122 h 606761"/>
              <a:gd name="T14" fmla="*/ 323122 h 606761"/>
              <a:gd name="T15" fmla="*/ 323122 h 606761"/>
              <a:gd name="T16" fmla="*/ 323122 h 606761"/>
              <a:gd name="T17" fmla="*/ 323122 h 606761"/>
              <a:gd name="T18" fmla="*/ 323122 h 606761"/>
              <a:gd name="T19" fmla="*/ 323122 h 606761"/>
              <a:gd name="T20" fmla="*/ 323122 h 606761"/>
              <a:gd name="T21" fmla="*/ 323122 h 606761"/>
              <a:gd name="T22" fmla="*/ 323122 h 606761"/>
              <a:gd name="T23" fmla="*/ 323122 h 606761"/>
              <a:gd name="T24" fmla="*/ 323122 h 606761"/>
              <a:gd name="T25" fmla="*/ 323122 h 606761"/>
              <a:gd name="T26" fmla="*/ 323122 h 606761"/>
              <a:gd name="T27" fmla="*/ 323122 h 606761"/>
              <a:gd name="T28" fmla="*/ 323122 h 606761"/>
              <a:gd name="T29" fmla="*/ 323122 h 606761"/>
              <a:gd name="T30" fmla="*/ 323122 h 606761"/>
              <a:gd name="T31" fmla="*/ 323122 h 606761"/>
              <a:gd name="T32" fmla="*/ 323122 h 606761"/>
              <a:gd name="T33" fmla="*/ 323122 h 606761"/>
              <a:gd name="T34" fmla="*/ 323122 h 606761"/>
              <a:gd name="T35" fmla="*/ 323122 h 606761"/>
              <a:gd name="T36" fmla="*/ 323122 h 606761"/>
              <a:gd name="T37" fmla="*/ 323122 h 606761"/>
              <a:gd name="T38" fmla="*/ 323122 h 606761"/>
              <a:gd name="T39" fmla="*/ 323122 h 606761"/>
              <a:gd name="T40" fmla="*/ 323122 h 606761"/>
              <a:gd name="T41" fmla="*/ 323122 h 606761"/>
              <a:gd name="T42" fmla="*/ 323122 h 606761"/>
              <a:gd name="T43" fmla="*/ 323122 h 606761"/>
              <a:gd name="T44" fmla="*/ 323122 h 606761"/>
              <a:gd name="T45" fmla="*/ 323122 h 606761"/>
              <a:gd name="T46" fmla="*/ 323122 h 606761"/>
              <a:gd name="T47" fmla="*/ 323122 h 606761"/>
              <a:gd name="T48" fmla="*/ 323122 h 606761"/>
              <a:gd name="T49" fmla="*/ 323122 h 606761"/>
              <a:gd name="T50" fmla="*/ 323122 h 606761"/>
              <a:gd name="T51" fmla="*/ 323122 h 606761"/>
              <a:gd name="T52" fmla="*/ 323122 h 606761"/>
              <a:gd name="T53" fmla="*/ 323122 h 606761"/>
              <a:gd name="T54" fmla="*/ 323122 h 606761"/>
              <a:gd name="T55" fmla="*/ 323122 h 606761"/>
              <a:gd name="T56" fmla="*/ 323122 h 606761"/>
              <a:gd name="T57" fmla="*/ 323122 h 606761"/>
              <a:gd name="T58" fmla="*/ 323122 h 606761"/>
              <a:gd name="T59" fmla="*/ 323122 h 606761"/>
              <a:gd name="T60" fmla="*/ 323122 h 606761"/>
              <a:gd name="T61" fmla="*/ 323122 h 606761"/>
              <a:gd name="T62" fmla="*/ 323122 h 606761"/>
              <a:gd name="T63" fmla="*/ 323122 h 606761"/>
              <a:gd name="T64" fmla="*/ 323122 h 606761"/>
              <a:gd name="T65" fmla="*/ 323122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60" h="8160">
                <a:moveTo>
                  <a:pt x="7595" y="0"/>
                </a:moveTo>
                <a:lnTo>
                  <a:pt x="565" y="0"/>
                </a:lnTo>
                <a:cubicBezTo>
                  <a:pt x="253" y="0"/>
                  <a:pt x="0" y="253"/>
                  <a:pt x="0" y="565"/>
                </a:cubicBezTo>
                <a:lnTo>
                  <a:pt x="0" y="7595"/>
                </a:lnTo>
                <a:cubicBezTo>
                  <a:pt x="0" y="7907"/>
                  <a:pt x="253" y="8160"/>
                  <a:pt x="565" y="8160"/>
                </a:cubicBezTo>
                <a:lnTo>
                  <a:pt x="7595" y="8160"/>
                </a:lnTo>
                <a:cubicBezTo>
                  <a:pt x="7907" y="8160"/>
                  <a:pt x="8160" y="7907"/>
                  <a:pt x="8160" y="7595"/>
                </a:cubicBezTo>
                <a:lnTo>
                  <a:pt x="8160" y="565"/>
                </a:lnTo>
                <a:cubicBezTo>
                  <a:pt x="8160" y="253"/>
                  <a:pt x="7907" y="0"/>
                  <a:pt x="7595" y="0"/>
                </a:cubicBezTo>
                <a:close/>
                <a:moveTo>
                  <a:pt x="7030" y="1130"/>
                </a:moveTo>
                <a:lnTo>
                  <a:pt x="7030" y="1856"/>
                </a:lnTo>
                <a:lnTo>
                  <a:pt x="4306" y="1856"/>
                </a:lnTo>
                <a:cubicBezTo>
                  <a:pt x="4227" y="1617"/>
                  <a:pt x="4004" y="1444"/>
                  <a:pt x="3739" y="1444"/>
                </a:cubicBezTo>
                <a:cubicBezTo>
                  <a:pt x="3473" y="1444"/>
                  <a:pt x="3251" y="1617"/>
                  <a:pt x="3171" y="1856"/>
                </a:cubicBezTo>
                <a:lnTo>
                  <a:pt x="2764" y="1856"/>
                </a:lnTo>
                <a:cubicBezTo>
                  <a:pt x="2685" y="1617"/>
                  <a:pt x="2462" y="1444"/>
                  <a:pt x="2197" y="1444"/>
                </a:cubicBezTo>
                <a:cubicBezTo>
                  <a:pt x="1931" y="1444"/>
                  <a:pt x="1709" y="1617"/>
                  <a:pt x="1630" y="1856"/>
                </a:cubicBezTo>
                <a:lnTo>
                  <a:pt x="1130" y="1856"/>
                </a:lnTo>
                <a:lnTo>
                  <a:pt x="1130" y="1130"/>
                </a:lnTo>
                <a:lnTo>
                  <a:pt x="7030" y="1130"/>
                </a:lnTo>
                <a:close/>
                <a:moveTo>
                  <a:pt x="6530" y="5928"/>
                </a:moveTo>
                <a:cubicBezTo>
                  <a:pt x="6451" y="5689"/>
                  <a:pt x="6228" y="5516"/>
                  <a:pt x="5963" y="5516"/>
                </a:cubicBezTo>
                <a:cubicBezTo>
                  <a:pt x="5697" y="5516"/>
                  <a:pt x="5475" y="5689"/>
                  <a:pt x="5396" y="5928"/>
                </a:cubicBezTo>
                <a:lnTo>
                  <a:pt x="4988" y="5928"/>
                </a:lnTo>
                <a:cubicBezTo>
                  <a:pt x="4909" y="5689"/>
                  <a:pt x="4687" y="5516"/>
                  <a:pt x="4421" y="5516"/>
                </a:cubicBezTo>
                <a:cubicBezTo>
                  <a:pt x="4156" y="5516"/>
                  <a:pt x="3933" y="5689"/>
                  <a:pt x="3854" y="5928"/>
                </a:cubicBezTo>
                <a:lnTo>
                  <a:pt x="1130" y="5928"/>
                </a:lnTo>
                <a:lnTo>
                  <a:pt x="1130" y="4269"/>
                </a:lnTo>
                <a:lnTo>
                  <a:pt x="3854" y="4269"/>
                </a:lnTo>
                <a:cubicBezTo>
                  <a:pt x="3934" y="4507"/>
                  <a:pt x="4156" y="4681"/>
                  <a:pt x="4421" y="4681"/>
                </a:cubicBezTo>
                <a:cubicBezTo>
                  <a:pt x="4687" y="4681"/>
                  <a:pt x="4909" y="4507"/>
                  <a:pt x="4989" y="4269"/>
                </a:cubicBezTo>
                <a:lnTo>
                  <a:pt x="5396" y="4269"/>
                </a:lnTo>
                <a:cubicBezTo>
                  <a:pt x="5475" y="4507"/>
                  <a:pt x="5698" y="4681"/>
                  <a:pt x="5963" y="4681"/>
                </a:cubicBezTo>
                <a:cubicBezTo>
                  <a:pt x="6229" y="4681"/>
                  <a:pt x="6451" y="4507"/>
                  <a:pt x="6530" y="4269"/>
                </a:cubicBezTo>
                <a:lnTo>
                  <a:pt x="7030" y="4269"/>
                </a:lnTo>
                <a:lnTo>
                  <a:pt x="7030" y="5928"/>
                </a:lnTo>
                <a:lnTo>
                  <a:pt x="6530" y="5928"/>
                </a:lnTo>
                <a:lnTo>
                  <a:pt x="6530" y="5928"/>
                </a:lnTo>
                <a:close/>
                <a:moveTo>
                  <a:pt x="6530" y="3892"/>
                </a:moveTo>
                <a:cubicBezTo>
                  <a:pt x="6451" y="3653"/>
                  <a:pt x="6228" y="3480"/>
                  <a:pt x="5963" y="3480"/>
                </a:cubicBezTo>
                <a:cubicBezTo>
                  <a:pt x="5697" y="3480"/>
                  <a:pt x="5475" y="3653"/>
                  <a:pt x="5396" y="3892"/>
                </a:cubicBezTo>
                <a:lnTo>
                  <a:pt x="4988" y="3892"/>
                </a:lnTo>
                <a:cubicBezTo>
                  <a:pt x="4909" y="3653"/>
                  <a:pt x="4687" y="3480"/>
                  <a:pt x="4421" y="3480"/>
                </a:cubicBezTo>
                <a:cubicBezTo>
                  <a:pt x="4156" y="3480"/>
                  <a:pt x="3933" y="3653"/>
                  <a:pt x="3854" y="3892"/>
                </a:cubicBezTo>
                <a:lnTo>
                  <a:pt x="1130" y="3892"/>
                </a:lnTo>
                <a:lnTo>
                  <a:pt x="1130" y="2232"/>
                </a:lnTo>
                <a:lnTo>
                  <a:pt x="1630" y="2232"/>
                </a:lnTo>
                <a:cubicBezTo>
                  <a:pt x="1709" y="2471"/>
                  <a:pt x="1931" y="2644"/>
                  <a:pt x="2197" y="2644"/>
                </a:cubicBezTo>
                <a:cubicBezTo>
                  <a:pt x="2462" y="2644"/>
                  <a:pt x="2685" y="2471"/>
                  <a:pt x="2764" y="2232"/>
                </a:cubicBezTo>
                <a:lnTo>
                  <a:pt x="3172" y="2232"/>
                </a:lnTo>
                <a:cubicBezTo>
                  <a:pt x="3251" y="2471"/>
                  <a:pt x="3473" y="2644"/>
                  <a:pt x="3739" y="2644"/>
                </a:cubicBezTo>
                <a:cubicBezTo>
                  <a:pt x="4004" y="2644"/>
                  <a:pt x="4227" y="2471"/>
                  <a:pt x="4306" y="2232"/>
                </a:cubicBezTo>
                <a:lnTo>
                  <a:pt x="7030" y="2232"/>
                </a:lnTo>
                <a:lnTo>
                  <a:pt x="7030" y="3892"/>
                </a:lnTo>
                <a:lnTo>
                  <a:pt x="6530" y="3892"/>
                </a:lnTo>
                <a:lnTo>
                  <a:pt x="6530" y="3892"/>
                </a:lnTo>
                <a:close/>
                <a:moveTo>
                  <a:pt x="1130" y="7030"/>
                </a:moveTo>
                <a:lnTo>
                  <a:pt x="1130" y="6304"/>
                </a:lnTo>
                <a:lnTo>
                  <a:pt x="3854" y="6304"/>
                </a:lnTo>
                <a:cubicBezTo>
                  <a:pt x="3934" y="6543"/>
                  <a:pt x="4156" y="6716"/>
                  <a:pt x="4421" y="6716"/>
                </a:cubicBezTo>
                <a:cubicBezTo>
                  <a:pt x="4687" y="6716"/>
                  <a:pt x="4909" y="6543"/>
                  <a:pt x="4989" y="6304"/>
                </a:cubicBezTo>
                <a:lnTo>
                  <a:pt x="5396" y="6304"/>
                </a:lnTo>
                <a:cubicBezTo>
                  <a:pt x="5475" y="6543"/>
                  <a:pt x="5698" y="6716"/>
                  <a:pt x="5963" y="6716"/>
                </a:cubicBezTo>
                <a:cubicBezTo>
                  <a:pt x="6229" y="6716"/>
                  <a:pt x="6451" y="6543"/>
                  <a:pt x="6530" y="6304"/>
                </a:cubicBezTo>
                <a:lnTo>
                  <a:pt x="7030" y="6304"/>
                </a:lnTo>
                <a:lnTo>
                  <a:pt x="7030" y="7030"/>
                </a:lnTo>
                <a:lnTo>
                  <a:pt x="1130" y="7030"/>
                </a:ln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latin typeface="微软雅黑" panose="020B0503020204020204" pitchFamily="34" charset="-122"/>
              <a:ea typeface="微软雅黑" panose="020B0503020204020204" pitchFamily="34" charset="-122"/>
            </a:endParaRPr>
          </a:p>
        </p:txBody>
      </p:sp>
      <p:sp>
        <p:nvSpPr>
          <p:cNvPr id="103" name="ïṧľîďe"/>
          <p:cNvSpPr/>
          <p:nvPr/>
        </p:nvSpPr>
        <p:spPr>
          <a:xfrm>
            <a:off x="6657354" y="934913"/>
            <a:ext cx="512789" cy="472323"/>
          </a:xfrm>
          <a:custGeom>
            <a:avLst/>
            <a:gdLst>
              <a:gd name="connsiteX0" fmla="*/ 222795 w 607639"/>
              <a:gd name="connsiteY0" fmla="*/ 404243 h 606554"/>
              <a:gd name="connsiteX1" fmla="*/ 256526 w 607639"/>
              <a:gd name="connsiteY1" fmla="*/ 422388 h 606554"/>
              <a:gd name="connsiteX2" fmla="*/ 303785 w 607639"/>
              <a:gd name="connsiteY2" fmla="*/ 404243 h 606554"/>
              <a:gd name="connsiteX3" fmla="*/ 351132 w 607639"/>
              <a:gd name="connsiteY3" fmla="*/ 422388 h 606554"/>
              <a:gd name="connsiteX4" fmla="*/ 384863 w 607639"/>
              <a:gd name="connsiteY4" fmla="*/ 404243 h 606554"/>
              <a:gd name="connsiteX5" fmla="*/ 420908 w 607639"/>
              <a:gd name="connsiteY5" fmla="*/ 426657 h 606554"/>
              <a:gd name="connsiteX6" fmla="*/ 435414 w 607639"/>
              <a:gd name="connsiteY6" fmla="*/ 424522 h 606554"/>
              <a:gd name="connsiteX7" fmla="*/ 486055 w 607639"/>
              <a:gd name="connsiteY7" fmla="*/ 475131 h 606554"/>
              <a:gd name="connsiteX8" fmla="*/ 475998 w 607639"/>
              <a:gd name="connsiteY8" fmla="*/ 485182 h 606554"/>
              <a:gd name="connsiteX9" fmla="*/ 465852 w 607639"/>
              <a:gd name="connsiteY9" fmla="*/ 475131 h 606554"/>
              <a:gd name="connsiteX10" fmla="*/ 435414 w 607639"/>
              <a:gd name="connsiteY10" fmla="*/ 444713 h 606554"/>
              <a:gd name="connsiteX11" fmla="*/ 419929 w 607639"/>
              <a:gd name="connsiteY11" fmla="*/ 449160 h 606554"/>
              <a:gd name="connsiteX12" fmla="*/ 410406 w 607639"/>
              <a:gd name="connsiteY12" fmla="*/ 449604 h 606554"/>
              <a:gd name="connsiteX13" fmla="*/ 404710 w 607639"/>
              <a:gd name="connsiteY13" fmla="*/ 441866 h 606554"/>
              <a:gd name="connsiteX14" fmla="*/ 384863 w 607639"/>
              <a:gd name="connsiteY14" fmla="*/ 424522 h 606554"/>
              <a:gd name="connsiteX15" fmla="*/ 364838 w 607639"/>
              <a:gd name="connsiteY15" fmla="*/ 442934 h 606554"/>
              <a:gd name="connsiteX16" fmla="*/ 357184 w 607639"/>
              <a:gd name="connsiteY16" fmla="*/ 451828 h 606554"/>
              <a:gd name="connsiteX17" fmla="*/ 346237 w 607639"/>
              <a:gd name="connsiteY17" fmla="*/ 447559 h 606554"/>
              <a:gd name="connsiteX18" fmla="*/ 303785 w 607639"/>
              <a:gd name="connsiteY18" fmla="*/ 424522 h 606554"/>
              <a:gd name="connsiteX19" fmla="*/ 261421 w 607639"/>
              <a:gd name="connsiteY19" fmla="*/ 447559 h 606554"/>
              <a:gd name="connsiteX20" fmla="*/ 250474 w 607639"/>
              <a:gd name="connsiteY20" fmla="*/ 451828 h 606554"/>
              <a:gd name="connsiteX21" fmla="*/ 242820 w 607639"/>
              <a:gd name="connsiteY21" fmla="*/ 442934 h 606554"/>
              <a:gd name="connsiteX22" fmla="*/ 222795 w 607639"/>
              <a:gd name="connsiteY22" fmla="*/ 424522 h 606554"/>
              <a:gd name="connsiteX23" fmla="*/ 202859 w 607639"/>
              <a:gd name="connsiteY23" fmla="*/ 441866 h 606554"/>
              <a:gd name="connsiteX24" fmla="*/ 197252 w 607639"/>
              <a:gd name="connsiteY24" fmla="*/ 449604 h 606554"/>
              <a:gd name="connsiteX25" fmla="*/ 187640 w 607639"/>
              <a:gd name="connsiteY25" fmla="*/ 449160 h 606554"/>
              <a:gd name="connsiteX26" fmla="*/ 172155 w 607639"/>
              <a:gd name="connsiteY26" fmla="*/ 444713 h 606554"/>
              <a:gd name="connsiteX27" fmla="*/ 141806 w 607639"/>
              <a:gd name="connsiteY27" fmla="*/ 475131 h 606554"/>
              <a:gd name="connsiteX28" fmla="*/ 131660 w 607639"/>
              <a:gd name="connsiteY28" fmla="*/ 485182 h 606554"/>
              <a:gd name="connsiteX29" fmla="*/ 121514 w 607639"/>
              <a:gd name="connsiteY29" fmla="*/ 475131 h 606554"/>
              <a:gd name="connsiteX30" fmla="*/ 172155 w 607639"/>
              <a:gd name="connsiteY30" fmla="*/ 424522 h 606554"/>
              <a:gd name="connsiteX31" fmla="*/ 186661 w 607639"/>
              <a:gd name="connsiteY31" fmla="*/ 426657 h 606554"/>
              <a:gd name="connsiteX32" fmla="*/ 222795 w 607639"/>
              <a:gd name="connsiteY32" fmla="*/ 404243 h 606554"/>
              <a:gd name="connsiteX33" fmla="*/ 303774 w 607639"/>
              <a:gd name="connsiteY33" fmla="*/ 282941 h 606554"/>
              <a:gd name="connsiteX34" fmla="*/ 313945 w 607639"/>
              <a:gd name="connsiteY34" fmla="*/ 293078 h 606554"/>
              <a:gd name="connsiteX35" fmla="*/ 313945 w 607639"/>
              <a:gd name="connsiteY35" fmla="*/ 373995 h 606554"/>
              <a:gd name="connsiteX36" fmla="*/ 303774 w 607639"/>
              <a:gd name="connsiteY36" fmla="*/ 384132 h 606554"/>
              <a:gd name="connsiteX37" fmla="*/ 293693 w 607639"/>
              <a:gd name="connsiteY37" fmla="*/ 373995 h 606554"/>
              <a:gd name="connsiteX38" fmla="*/ 293693 w 607639"/>
              <a:gd name="connsiteY38" fmla="*/ 293078 h 606554"/>
              <a:gd name="connsiteX39" fmla="*/ 303774 w 607639"/>
              <a:gd name="connsiteY39" fmla="*/ 282941 h 606554"/>
              <a:gd name="connsiteX40" fmla="*/ 101254 w 607639"/>
              <a:gd name="connsiteY40" fmla="*/ 202073 h 606554"/>
              <a:gd name="connsiteX41" fmla="*/ 192395 w 607639"/>
              <a:gd name="connsiteY41" fmla="*/ 202073 h 606554"/>
              <a:gd name="connsiteX42" fmla="*/ 202542 w 607639"/>
              <a:gd name="connsiteY42" fmla="*/ 212117 h 606554"/>
              <a:gd name="connsiteX43" fmla="*/ 192395 w 607639"/>
              <a:gd name="connsiteY43" fmla="*/ 222250 h 606554"/>
              <a:gd name="connsiteX44" fmla="*/ 101254 w 607639"/>
              <a:gd name="connsiteY44" fmla="*/ 222250 h 606554"/>
              <a:gd name="connsiteX45" fmla="*/ 80961 w 607639"/>
              <a:gd name="connsiteY45" fmla="*/ 232916 h 606554"/>
              <a:gd name="connsiteX46" fmla="*/ 80961 w 607639"/>
              <a:gd name="connsiteY46" fmla="*/ 505439 h 606554"/>
              <a:gd name="connsiteX47" fmla="*/ 526519 w 607639"/>
              <a:gd name="connsiteY47" fmla="*/ 505439 h 606554"/>
              <a:gd name="connsiteX48" fmla="*/ 526519 w 607639"/>
              <a:gd name="connsiteY48" fmla="*/ 232383 h 606554"/>
              <a:gd name="connsiteX49" fmla="*/ 516461 w 607639"/>
              <a:gd name="connsiteY49" fmla="*/ 222250 h 606554"/>
              <a:gd name="connsiteX50" fmla="*/ 415174 w 607639"/>
              <a:gd name="connsiteY50" fmla="*/ 222250 h 606554"/>
              <a:gd name="connsiteX51" fmla="*/ 405027 w 607639"/>
              <a:gd name="connsiteY51" fmla="*/ 212117 h 606554"/>
              <a:gd name="connsiteX52" fmla="*/ 415174 w 607639"/>
              <a:gd name="connsiteY52" fmla="*/ 202073 h 606554"/>
              <a:gd name="connsiteX53" fmla="*/ 516461 w 607639"/>
              <a:gd name="connsiteY53" fmla="*/ 202073 h 606554"/>
              <a:gd name="connsiteX54" fmla="*/ 546812 w 607639"/>
              <a:gd name="connsiteY54" fmla="*/ 232383 h 606554"/>
              <a:gd name="connsiteX55" fmla="*/ 546812 w 607639"/>
              <a:gd name="connsiteY55" fmla="*/ 515572 h 606554"/>
              <a:gd name="connsiteX56" fmla="*/ 536665 w 607639"/>
              <a:gd name="connsiteY56" fmla="*/ 525616 h 606554"/>
              <a:gd name="connsiteX57" fmla="*/ 70815 w 607639"/>
              <a:gd name="connsiteY57" fmla="*/ 525616 h 606554"/>
              <a:gd name="connsiteX58" fmla="*/ 60757 w 607639"/>
              <a:gd name="connsiteY58" fmla="*/ 515572 h 606554"/>
              <a:gd name="connsiteX59" fmla="*/ 60757 w 607639"/>
              <a:gd name="connsiteY59" fmla="*/ 232383 h 606554"/>
              <a:gd name="connsiteX60" fmla="*/ 101254 w 607639"/>
              <a:gd name="connsiteY60" fmla="*/ 202073 h 606554"/>
              <a:gd name="connsiteX61" fmla="*/ 415210 w 607639"/>
              <a:gd name="connsiteY61" fmla="*/ 161568 h 606554"/>
              <a:gd name="connsiteX62" fmla="*/ 536702 w 607639"/>
              <a:gd name="connsiteY62" fmla="*/ 161568 h 606554"/>
              <a:gd name="connsiteX63" fmla="*/ 587346 w 607639"/>
              <a:gd name="connsiteY63" fmla="*/ 212137 h 606554"/>
              <a:gd name="connsiteX64" fmla="*/ 587346 w 607639"/>
              <a:gd name="connsiteY64" fmla="*/ 505417 h 606554"/>
              <a:gd name="connsiteX65" fmla="*/ 597492 w 607639"/>
              <a:gd name="connsiteY65" fmla="*/ 505417 h 606554"/>
              <a:gd name="connsiteX66" fmla="*/ 607639 w 607639"/>
              <a:gd name="connsiteY66" fmla="*/ 515548 h 606554"/>
              <a:gd name="connsiteX67" fmla="*/ 607639 w 607639"/>
              <a:gd name="connsiteY67" fmla="*/ 555985 h 606554"/>
              <a:gd name="connsiteX68" fmla="*/ 556995 w 607639"/>
              <a:gd name="connsiteY68" fmla="*/ 606554 h 606554"/>
              <a:gd name="connsiteX69" fmla="*/ 50644 w 607639"/>
              <a:gd name="connsiteY69" fmla="*/ 606554 h 606554"/>
              <a:gd name="connsiteX70" fmla="*/ 0 w 607639"/>
              <a:gd name="connsiteY70" fmla="*/ 555985 h 606554"/>
              <a:gd name="connsiteX71" fmla="*/ 10147 w 607639"/>
              <a:gd name="connsiteY71" fmla="*/ 545854 h 606554"/>
              <a:gd name="connsiteX72" fmla="*/ 556995 w 607639"/>
              <a:gd name="connsiteY72" fmla="*/ 545854 h 606554"/>
              <a:gd name="connsiteX73" fmla="*/ 567142 w 607639"/>
              <a:gd name="connsiteY73" fmla="*/ 555985 h 606554"/>
              <a:gd name="connsiteX74" fmla="*/ 556995 w 607639"/>
              <a:gd name="connsiteY74" fmla="*/ 566117 h 606554"/>
              <a:gd name="connsiteX75" fmla="*/ 22518 w 607639"/>
              <a:gd name="connsiteY75" fmla="*/ 566117 h 606554"/>
              <a:gd name="connsiteX76" fmla="*/ 50644 w 607639"/>
              <a:gd name="connsiteY76" fmla="*/ 586291 h 606554"/>
              <a:gd name="connsiteX77" fmla="*/ 556995 w 607639"/>
              <a:gd name="connsiteY77" fmla="*/ 586291 h 606554"/>
              <a:gd name="connsiteX78" fmla="*/ 587346 w 607639"/>
              <a:gd name="connsiteY78" fmla="*/ 555985 h 606554"/>
              <a:gd name="connsiteX79" fmla="*/ 587346 w 607639"/>
              <a:gd name="connsiteY79" fmla="*/ 525591 h 606554"/>
              <a:gd name="connsiteX80" fmla="*/ 577199 w 607639"/>
              <a:gd name="connsiteY80" fmla="*/ 525591 h 606554"/>
              <a:gd name="connsiteX81" fmla="*/ 567142 w 607639"/>
              <a:gd name="connsiteY81" fmla="*/ 515548 h 606554"/>
              <a:gd name="connsiteX82" fmla="*/ 567142 w 607639"/>
              <a:gd name="connsiteY82" fmla="*/ 212137 h 606554"/>
              <a:gd name="connsiteX83" fmla="*/ 536702 w 607639"/>
              <a:gd name="connsiteY83" fmla="*/ 181831 h 606554"/>
              <a:gd name="connsiteX84" fmla="*/ 415210 w 607639"/>
              <a:gd name="connsiteY84" fmla="*/ 181831 h 606554"/>
              <a:gd name="connsiteX85" fmla="*/ 405063 w 607639"/>
              <a:gd name="connsiteY85" fmla="*/ 171699 h 606554"/>
              <a:gd name="connsiteX86" fmla="*/ 415210 w 607639"/>
              <a:gd name="connsiteY86" fmla="*/ 161568 h 606554"/>
              <a:gd name="connsiteX87" fmla="*/ 70875 w 607639"/>
              <a:gd name="connsiteY87" fmla="*/ 161568 h 606554"/>
              <a:gd name="connsiteX88" fmla="*/ 192448 w 607639"/>
              <a:gd name="connsiteY88" fmla="*/ 161568 h 606554"/>
              <a:gd name="connsiteX89" fmla="*/ 202594 w 607639"/>
              <a:gd name="connsiteY89" fmla="*/ 171700 h 606554"/>
              <a:gd name="connsiteX90" fmla="*/ 192448 w 607639"/>
              <a:gd name="connsiteY90" fmla="*/ 181832 h 606554"/>
              <a:gd name="connsiteX91" fmla="*/ 70875 w 607639"/>
              <a:gd name="connsiteY91" fmla="*/ 181832 h 606554"/>
              <a:gd name="connsiteX92" fmla="*/ 40526 w 607639"/>
              <a:gd name="connsiteY92" fmla="*/ 212140 h 606554"/>
              <a:gd name="connsiteX93" fmla="*/ 40526 w 607639"/>
              <a:gd name="connsiteY93" fmla="*/ 515572 h 606554"/>
              <a:gd name="connsiteX94" fmla="*/ 30380 w 607639"/>
              <a:gd name="connsiteY94" fmla="*/ 525615 h 606554"/>
              <a:gd name="connsiteX95" fmla="*/ 20323 w 607639"/>
              <a:gd name="connsiteY95" fmla="*/ 515572 h 606554"/>
              <a:gd name="connsiteX96" fmla="*/ 20323 w 607639"/>
              <a:gd name="connsiteY96" fmla="*/ 212140 h 606554"/>
              <a:gd name="connsiteX97" fmla="*/ 70875 w 607639"/>
              <a:gd name="connsiteY97" fmla="*/ 161568 h 606554"/>
              <a:gd name="connsiteX98" fmla="*/ 303785 w 607639"/>
              <a:gd name="connsiteY98" fmla="*/ 141391 h 606554"/>
              <a:gd name="connsiteX99" fmla="*/ 283577 w 607639"/>
              <a:gd name="connsiteY99" fmla="*/ 161559 h 606554"/>
              <a:gd name="connsiteX100" fmla="*/ 303785 w 607639"/>
              <a:gd name="connsiteY100" fmla="*/ 181816 h 606554"/>
              <a:gd name="connsiteX101" fmla="*/ 324081 w 607639"/>
              <a:gd name="connsiteY101" fmla="*/ 161559 h 606554"/>
              <a:gd name="connsiteX102" fmla="*/ 303785 w 607639"/>
              <a:gd name="connsiteY102" fmla="*/ 141391 h 606554"/>
              <a:gd name="connsiteX103" fmla="*/ 303785 w 607639"/>
              <a:gd name="connsiteY103" fmla="*/ 121134 h 606554"/>
              <a:gd name="connsiteX104" fmla="*/ 344289 w 607639"/>
              <a:gd name="connsiteY104" fmla="*/ 161559 h 606554"/>
              <a:gd name="connsiteX105" fmla="*/ 303785 w 607639"/>
              <a:gd name="connsiteY105" fmla="*/ 202073 h 606554"/>
              <a:gd name="connsiteX106" fmla="*/ 263280 w 607639"/>
              <a:gd name="connsiteY106" fmla="*/ 161559 h 606554"/>
              <a:gd name="connsiteX107" fmla="*/ 303785 w 607639"/>
              <a:gd name="connsiteY107" fmla="*/ 121134 h 606554"/>
              <a:gd name="connsiteX108" fmla="*/ 296031 w 607639"/>
              <a:gd name="connsiteY108" fmla="*/ 3466 h 606554"/>
              <a:gd name="connsiteX109" fmla="*/ 311609 w 607639"/>
              <a:gd name="connsiteY109" fmla="*/ 3466 h 606554"/>
              <a:gd name="connsiteX110" fmla="*/ 362258 w 607639"/>
              <a:gd name="connsiteY110" fmla="*/ 64170 h 606554"/>
              <a:gd name="connsiteX111" fmla="*/ 384867 w 607639"/>
              <a:gd name="connsiteY111" fmla="*/ 131273 h 606554"/>
              <a:gd name="connsiteX112" fmla="*/ 384867 w 607639"/>
              <a:gd name="connsiteY112" fmla="*/ 232417 h 606554"/>
              <a:gd name="connsiteX113" fmla="*/ 399733 w 607639"/>
              <a:gd name="connsiteY113" fmla="*/ 265213 h 606554"/>
              <a:gd name="connsiteX114" fmla="*/ 425369 w 607639"/>
              <a:gd name="connsiteY114" fmla="*/ 333560 h 606554"/>
              <a:gd name="connsiteX115" fmla="*/ 425369 w 607639"/>
              <a:gd name="connsiteY115" fmla="*/ 353736 h 606554"/>
              <a:gd name="connsiteX116" fmla="*/ 415221 w 607639"/>
              <a:gd name="connsiteY116" fmla="*/ 363868 h 606554"/>
              <a:gd name="connsiteX117" fmla="*/ 384867 w 607639"/>
              <a:gd name="connsiteY117" fmla="*/ 363868 h 606554"/>
              <a:gd name="connsiteX118" fmla="*/ 384867 w 607639"/>
              <a:gd name="connsiteY118" fmla="*/ 374000 h 606554"/>
              <a:gd name="connsiteX119" fmla="*/ 374720 w 607639"/>
              <a:gd name="connsiteY119" fmla="*/ 384132 h 606554"/>
              <a:gd name="connsiteX120" fmla="*/ 364572 w 607639"/>
              <a:gd name="connsiteY120" fmla="*/ 374000 h 606554"/>
              <a:gd name="connsiteX121" fmla="*/ 364572 w 607639"/>
              <a:gd name="connsiteY121" fmla="*/ 363868 h 606554"/>
              <a:gd name="connsiteX122" fmla="*/ 344277 w 607639"/>
              <a:gd name="connsiteY122" fmla="*/ 363868 h 606554"/>
              <a:gd name="connsiteX123" fmla="*/ 334218 w 607639"/>
              <a:gd name="connsiteY123" fmla="*/ 353736 h 606554"/>
              <a:gd name="connsiteX124" fmla="*/ 344277 w 607639"/>
              <a:gd name="connsiteY124" fmla="*/ 343603 h 606554"/>
              <a:gd name="connsiteX125" fmla="*/ 405074 w 607639"/>
              <a:gd name="connsiteY125" fmla="*/ 343603 h 606554"/>
              <a:gd name="connsiteX126" fmla="*/ 405074 w 607639"/>
              <a:gd name="connsiteY126" fmla="*/ 333560 h 606554"/>
              <a:gd name="connsiteX127" fmla="*/ 384066 w 607639"/>
              <a:gd name="connsiteY127" fmla="*/ 278011 h 606554"/>
              <a:gd name="connsiteX128" fmla="*/ 364572 w 607639"/>
              <a:gd name="connsiteY128" fmla="*/ 232417 h 606554"/>
              <a:gd name="connsiteX129" fmla="*/ 364572 w 607639"/>
              <a:gd name="connsiteY129" fmla="*/ 131273 h 606554"/>
              <a:gd name="connsiteX130" fmla="*/ 347214 w 607639"/>
              <a:gd name="connsiteY130" fmla="*/ 77679 h 606554"/>
              <a:gd name="connsiteX131" fmla="*/ 303775 w 607639"/>
              <a:gd name="connsiteY131" fmla="*/ 25685 h 606554"/>
              <a:gd name="connsiteX132" fmla="*/ 260960 w 607639"/>
              <a:gd name="connsiteY132" fmla="*/ 77057 h 606554"/>
              <a:gd name="connsiteX133" fmla="*/ 243068 w 607639"/>
              <a:gd name="connsiteY133" fmla="*/ 131273 h 606554"/>
              <a:gd name="connsiteX134" fmla="*/ 243068 w 607639"/>
              <a:gd name="connsiteY134" fmla="*/ 232417 h 606554"/>
              <a:gd name="connsiteX135" fmla="*/ 223574 w 607639"/>
              <a:gd name="connsiteY135" fmla="*/ 278011 h 606554"/>
              <a:gd name="connsiteX136" fmla="*/ 202566 w 607639"/>
              <a:gd name="connsiteY136" fmla="*/ 333560 h 606554"/>
              <a:gd name="connsiteX137" fmla="*/ 202566 w 607639"/>
              <a:gd name="connsiteY137" fmla="*/ 343603 h 606554"/>
              <a:gd name="connsiteX138" fmla="*/ 263274 w 607639"/>
              <a:gd name="connsiteY138" fmla="*/ 343603 h 606554"/>
              <a:gd name="connsiteX139" fmla="*/ 273422 w 607639"/>
              <a:gd name="connsiteY139" fmla="*/ 353736 h 606554"/>
              <a:gd name="connsiteX140" fmla="*/ 263274 w 607639"/>
              <a:gd name="connsiteY140" fmla="*/ 363868 h 606554"/>
              <a:gd name="connsiteX141" fmla="*/ 243068 w 607639"/>
              <a:gd name="connsiteY141" fmla="*/ 363868 h 606554"/>
              <a:gd name="connsiteX142" fmla="*/ 243068 w 607639"/>
              <a:gd name="connsiteY142" fmla="*/ 374000 h 606554"/>
              <a:gd name="connsiteX143" fmla="*/ 232920 w 607639"/>
              <a:gd name="connsiteY143" fmla="*/ 384132 h 606554"/>
              <a:gd name="connsiteX144" fmla="*/ 222772 w 607639"/>
              <a:gd name="connsiteY144" fmla="*/ 374000 h 606554"/>
              <a:gd name="connsiteX145" fmla="*/ 222772 w 607639"/>
              <a:gd name="connsiteY145" fmla="*/ 363868 h 606554"/>
              <a:gd name="connsiteX146" fmla="*/ 192419 w 607639"/>
              <a:gd name="connsiteY146" fmla="*/ 363868 h 606554"/>
              <a:gd name="connsiteX147" fmla="*/ 182271 w 607639"/>
              <a:gd name="connsiteY147" fmla="*/ 353736 h 606554"/>
              <a:gd name="connsiteX148" fmla="*/ 182271 w 607639"/>
              <a:gd name="connsiteY148" fmla="*/ 333560 h 606554"/>
              <a:gd name="connsiteX149" fmla="*/ 207907 w 607639"/>
              <a:gd name="connsiteY149" fmla="*/ 265213 h 606554"/>
              <a:gd name="connsiteX150" fmla="*/ 222772 w 607639"/>
              <a:gd name="connsiteY150" fmla="*/ 232417 h 606554"/>
              <a:gd name="connsiteX151" fmla="*/ 222772 w 607639"/>
              <a:gd name="connsiteY151" fmla="*/ 131273 h 606554"/>
              <a:gd name="connsiteX152" fmla="*/ 246005 w 607639"/>
              <a:gd name="connsiteY152" fmla="*/ 63459 h 60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7639" h="606554">
                <a:moveTo>
                  <a:pt x="222795" y="404243"/>
                </a:moveTo>
                <a:cubicBezTo>
                  <a:pt x="236857" y="404243"/>
                  <a:pt x="249317" y="411359"/>
                  <a:pt x="256526" y="422388"/>
                </a:cubicBezTo>
                <a:cubicBezTo>
                  <a:pt x="269342" y="410825"/>
                  <a:pt x="286074" y="404243"/>
                  <a:pt x="303785" y="404243"/>
                </a:cubicBezTo>
                <a:cubicBezTo>
                  <a:pt x="321584" y="404243"/>
                  <a:pt x="338316" y="410825"/>
                  <a:pt x="351132" y="422388"/>
                </a:cubicBezTo>
                <a:cubicBezTo>
                  <a:pt x="358341" y="411359"/>
                  <a:pt x="370712" y="404243"/>
                  <a:pt x="384863" y="404243"/>
                </a:cubicBezTo>
                <a:cubicBezTo>
                  <a:pt x="400349" y="404243"/>
                  <a:pt x="414233" y="413315"/>
                  <a:pt x="420908" y="426657"/>
                </a:cubicBezTo>
                <a:cubicBezTo>
                  <a:pt x="425625" y="425234"/>
                  <a:pt x="430519" y="424522"/>
                  <a:pt x="435414" y="424522"/>
                </a:cubicBezTo>
                <a:cubicBezTo>
                  <a:pt x="463360" y="424522"/>
                  <a:pt x="486055" y="447203"/>
                  <a:pt x="486055" y="475131"/>
                </a:cubicBezTo>
                <a:cubicBezTo>
                  <a:pt x="486055" y="480646"/>
                  <a:pt x="481516" y="485182"/>
                  <a:pt x="475998" y="485182"/>
                </a:cubicBezTo>
                <a:cubicBezTo>
                  <a:pt x="470391" y="485182"/>
                  <a:pt x="465852" y="480646"/>
                  <a:pt x="465852" y="475131"/>
                </a:cubicBezTo>
                <a:cubicBezTo>
                  <a:pt x="465852" y="458321"/>
                  <a:pt x="452235" y="444713"/>
                  <a:pt x="435414" y="444713"/>
                </a:cubicBezTo>
                <a:cubicBezTo>
                  <a:pt x="430074" y="444713"/>
                  <a:pt x="424913" y="446225"/>
                  <a:pt x="419929" y="449160"/>
                </a:cubicBezTo>
                <a:cubicBezTo>
                  <a:pt x="417081" y="450939"/>
                  <a:pt x="413432" y="451028"/>
                  <a:pt x="410406" y="449604"/>
                </a:cubicBezTo>
                <a:cubicBezTo>
                  <a:pt x="407380" y="448092"/>
                  <a:pt x="405244" y="445246"/>
                  <a:pt x="404710" y="441866"/>
                </a:cubicBezTo>
                <a:cubicBezTo>
                  <a:pt x="403375" y="431994"/>
                  <a:pt x="394742" y="424522"/>
                  <a:pt x="384863" y="424522"/>
                </a:cubicBezTo>
                <a:cubicBezTo>
                  <a:pt x="374361" y="424522"/>
                  <a:pt x="365728" y="432438"/>
                  <a:pt x="364838" y="442934"/>
                </a:cubicBezTo>
                <a:cubicBezTo>
                  <a:pt x="364393" y="447203"/>
                  <a:pt x="361367" y="450761"/>
                  <a:pt x="357184" y="451828"/>
                </a:cubicBezTo>
                <a:cubicBezTo>
                  <a:pt x="353001" y="452895"/>
                  <a:pt x="348551" y="451116"/>
                  <a:pt x="346237" y="447559"/>
                </a:cubicBezTo>
                <a:cubicBezTo>
                  <a:pt x="336803" y="433061"/>
                  <a:pt x="320961" y="424522"/>
                  <a:pt x="303785" y="424522"/>
                </a:cubicBezTo>
                <a:cubicBezTo>
                  <a:pt x="286697" y="424522"/>
                  <a:pt x="270766" y="433061"/>
                  <a:pt x="261421" y="447559"/>
                </a:cubicBezTo>
                <a:cubicBezTo>
                  <a:pt x="259018" y="451116"/>
                  <a:pt x="254657" y="452895"/>
                  <a:pt x="250474" y="451828"/>
                </a:cubicBezTo>
                <a:cubicBezTo>
                  <a:pt x="246291" y="450761"/>
                  <a:pt x="243176" y="447203"/>
                  <a:pt x="242820" y="442934"/>
                </a:cubicBezTo>
                <a:cubicBezTo>
                  <a:pt x="241841" y="432438"/>
                  <a:pt x="233297" y="424522"/>
                  <a:pt x="222795" y="424522"/>
                </a:cubicBezTo>
                <a:cubicBezTo>
                  <a:pt x="212827" y="424522"/>
                  <a:pt x="204283" y="431994"/>
                  <a:pt x="202859" y="441866"/>
                </a:cubicBezTo>
                <a:cubicBezTo>
                  <a:pt x="202414" y="445246"/>
                  <a:pt x="200278" y="448092"/>
                  <a:pt x="197252" y="449604"/>
                </a:cubicBezTo>
                <a:cubicBezTo>
                  <a:pt x="194137" y="451028"/>
                  <a:pt x="190577" y="450939"/>
                  <a:pt x="187640" y="449160"/>
                </a:cubicBezTo>
                <a:cubicBezTo>
                  <a:pt x="182745" y="446225"/>
                  <a:pt x="177584" y="444713"/>
                  <a:pt x="172155" y="444713"/>
                </a:cubicBezTo>
                <a:cubicBezTo>
                  <a:pt x="155423" y="444713"/>
                  <a:pt x="141806" y="458321"/>
                  <a:pt x="141806" y="475131"/>
                </a:cubicBezTo>
                <a:cubicBezTo>
                  <a:pt x="141806" y="480646"/>
                  <a:pt x="137267" y="485182"/>
                  <a:pt x="131660" y="485182"/>
                </a:cubicBezTo>
                <a:cubicBezTo>
                  <a:pt x="126053" y="485182"/>
                  <a:pt x="121514" y="480646"/>
                  <a:pt x="121514" y="475131"/>
                </a:cubicBezTo>
                <a:cubicBezTo>
                  <a:pt x="121514" y="447203"/>
                  <a:pt x="144298" y="424522"/>
                  <a:pt x="172155" y="424522"/>
                </a:cubicBezTo>
                <a:cubicBezTo>
                  <a:pt x="177050" y="424522"/>
                  <a:pt x="181945" y="425234"/>
                  <a:pt x="186661" y="426657"/>
                </a:cubicBezTo>
                <a:cubicBezTo>
                  <a:pt x="193425" y="413315"/>
                  <a:pt x="207220" y="404243"/>
                  <a:pt x="222795" y="404243"/>
                </a:cubicBezTo>
                <a:close/>
                <a:moveTo>
                  <a:pt x="303774" y="282941"/>
                </a:moveTo>
                <a:cubicBezTo>
                  <a:pt x="309395" y="282941"/>
                  <a:pt x="313945" y="287476"/>
                  <a:pt x="313945" y="293078"/>
                </a:cubicBezTo>
                <a:lnTo>
                  <a:pt x="313945" y="373995"/>
                </a:lnTo>
                <a:cubicBezTo>
                  <a:pt x="313945" y="379597"/>
                  <a:pt x="309395" y="384132"/>
                  <a:pt x="303774" y="384132"/>
                </a:cubicBezTo>
                <a:cubicBezTo>
                  <a:pt x="298243" y="384132"/>
                  <a:pt x="293693" y="379597"/>
                  <a:pt x="293693" y="373995"/>
                </a:cubicBezTo>
                <a:lnTo>
                  <a:pt x="293693" y="293078"/>
                </a:lnTo>
                <a:cubicBezTo>
                  <a:pt x="293693" y="287476"/>
                  <a:pt x="298243" y="282941"/>
                  <a:pt x="303774" y="282941"/>
                </a:cubicBezTo>
                <a:close/>
                <a:moveTo>
                  <a:pt x="101254" y="202073"/>
                </a:moveTo>
                <a:lnTo>
                  <a:pt x="192395" y="202073"/>
                </a:lnTo>
                <a:cubicBezTo>
                  <a:pt x="198002" y="202073"/>
                  <a:pt x="202542" y="206606"/>
                  <a:pt x="202542" y="212117"/>
                </a:cubicBezTo>
                <a:cubicBezTo>
                  <a:pt x="202542" y="217717"/>
                  <a:pt x="198002" y="222250"/>
                  <a:pt x="192395" y="222250"/>
                </a:cubicBezTo>
                <a:lnTo>
                  <a:pt x="101254" y="222250"/>
                </a:lnTo>
                <a:cubicBezTo>
                  <a:pt x="94757" y="222250"/>
                  <a:pt x="82207" y="229361"/>
                  <a:pt x="80961" y="232916"/>
                </a:cubicBezTo>
                <a:lnTo>
                  <a:pt x="80961" y="505439"/>
                </a:lnTo>
                <a:lnTo>
                  <a:pt x="526519" y="505439"/>
                </a:lnTo>
                <a:lnTo>
                  <a:pt x="526519" y="232383"/>
                </a:lnTo>
                <a:cubicBezTo>
                  <a:pt x="526519" y="227850"/>
                  <a:pt x="521001" y="222250"/>
                  <a:pt x="516461" y="222250"/>
                </a:cubicBezTo>
                <a:lnTo>
                  <a:pt x="415174" y="222250"/>
                </a:lnTo>
                <a:cubicBezTo>
                  <a:pt x="409567" y="222250"/>
                  <a:pt x="405027" y="217717"/>
                  <a:pt x="405027" y="212117"/>
                </a:cubicBezTo>
                <a:cubicBezTo>
                  <a:pt x="405027" y="206606"/>
                  <a:pt x="409567" y="202073"/>
                  <a:pt x="415174" y="202073"/>
                </a:cubicBezTo>
                <a:lnTo>
                  <a:pt x="516461" y="202073"/>
                </a:lnTo>
                <a:cubicBezTo>
                  <a:pt x="532037" y="202073"/>
                  <a:pt x="546812" y="216739"/>
                  <a:pt x="546812" y="232383"/>
                </a:cubicBezTo>
                <a:lnTo>
                  <a:pt x="546812" y="515572"/>
                </a:lnTo>
                <a:cubicBezTo>
                  <a:pt x="546812" y="521083"/>
                  <a:pt x="542273" y="525616"/>
                  <a:pt x="536665" y="525616"/>
                </a:cubicBezTo>
                <a:lnTo>
                  <a:pt x="70815" y="525616"/>
                </a:lnTo>
                <a:cubicBezTo>
                  <a:pt x="65296" y="525616"/>
                  <a:pt x="60757" y="521083"/>
                  <a:pt x="60757" y="515572"/>
                </a:cubicBezTo>
                <a:lnTo>
                  <a:pt x="60757" y="232383"/>
                </a:lnTo>
                <a:cubicBezTo>
                  <a:pt x="60757" y="214873"/>
                  <a:pt x="87369" y="202073"/>
                  <a:pt x="101254" y="202073"/>
                </a:cubicBezTo>
                <a:close/>
                <a:moveTo>
                  <a:pt x="415210" y="161568"/>
                </a:moveTo>
                <a:lnTo>
                  <a:pt x="536702" y="161568"/>
                </a:lnTo>
                <a:cubicBezTo>
                  <a:pt x="562780" y="161568"/>
                  <a:pt x="587346" y="186186"/>
                  <a:pt x="587346" y="212137"/>
                </a:cubicBezTo>
                <a:lnTo>
                  <a:pt x="587346" y="505417"/>
                </a:lnTo>
                <a:lnTo>
                  <a:pt x="597492" y="505417"/>
                </a:lnTo>
                <a:cubicBezTo>
                  <a:pt x="603100" y="505417"/>
                  <a:pt x="607639" y="509949"/>
                  <a:pt x="607639" y="515548"/>
                </a:cubicBezTo>
                <a:lnTo>
                  <a:pt x="607639" y="555985"/>
                </a:lnTo>
                <a:cubicBezTo>
                  <a:pt x="607639" y="581936"/>
                  <a:pt x="582985" y="606554"/>
                  <a:pt x="556995" y="606554"/>
                </a:cubicBezTo>
                <a:lnTo>
                  <a:pt x="50644" y="606554"/>
                </a:lnTo>
                <a:cubicBezTo>
                  <a:pt x="24565" y="606554"/>
                  <a:pt x="0" y="581936"/>
                  <a:pt x="0" y="555985"/>
                </a:cubicBezTo>
                <a:cubicBezTo>
                  <a:pt x="0" y="550386"/>
                  <a:pt x="4539" y="545854"/>
                  <a:pt x="10147" y="545854"/>
                </a:cubicBezTo>
                <a:lnTo>
                  <a:pt x="556995" y="545854"/>
                </a:lnTo>
                <a:cubicBezTo>
                  <a:pt x="562602" y="545854"/>
                  <a:pt x="567142" y="550386"/>
                  <a:pt x="567142" y="555985"/>
                </a:cubicBezTo>
                <a:cubicBezTo>
                  <a:pt x="567142" y="561584"/>
                  <a:pt x="562602" y="566117"/>
                  <a:pt x="556995" y="566117"/>
                </a:cubicBezTo>
                <a:lnTo>
                  <a:pt x="22518" y="566117"/>
                </a:lnTo>
                <a:cubicBezTo>
                  <a:pt x="27414" y="577048"/>
                  <a:pt x="39251" y="586291"/>
                  <a:pt x="50644" y="586291"/>
                </a:cubicBezTo>
                <a:lnTo>
                  <a:pt x="556995" y="586291"/>
                </a:lnTo>
                <a:cubicBezTo>
                  <a:pt x="571770" y="586291"/>
                  <a:pt x="587346" y="570738"/>
                  <a:pt x="587346" y="555985"/>
                </a:cubicBezTo>
                <a:lnTo>
                  <a:pt x="587346" y="525591"/>
                </a:lnTo>
                <a:lnTo>
                  <a:pt x="577199" y="525591"/>
                </a:lnTo>
                <a:cubicBezTo>
                  <a:pt x="571681" y="525591"/>
                  <a:pt x="567142" y="521058"/>
                  <a:pt x="567142" y="515548"/>
                </a:cubicBezTo>
                <a:lnTo>
                  <a:pt x="567142" y="212137"/>
                </a:lnTo>
                <a:cubicBezTo>
                  <a:pt x="567142" y="197384"/>
                  <a:pt x="551477" y="181831"/>
                  <a:pt x="536702" y="181831"/>
                </a:cubicBezTo>
                <a:lnTo>
                  <a:pt x="415210" y="181831"/>
                </a:lnTo>
                <a:cubicBezTo>
                  <a:pt x="409602" y="181831"/>
                  <a:pt x="405063" y="177298"/>
                  <a:pt x="405063" y="171699"/>
                </a:cubicBezTo>
                <a:cubicBezTo>
                  <a:pt x="405063" y="166101"/>
                  <a:pt x="409602" y="161568"/>
                  <a:pt x="415210" y="161568"/>
                </a:cubicBezTo>
                <a:close/>
                <a:moveTo>
                  <a:pt x="70875" y="161568"/>
                </a:moveTo>
                <a:lnTo>
                  <a:pt x="192448" y="161568"/>
                </a:lnTo>
                <a:cubicBezTo>
                  <a:pt x="198055" y="161568"/>
                  <a:pt x="202594" y="166101"/>
                  <a:pt x="202594" y="171700"/>
                </a:cubicBezTo>
                <a:cubicBezTo>
                  <a:pt x="202594" y="177300"/>
                  <a:pt x="198055" y="181832"/>
                  <a:pt x="192448" y="181832"/>
                </a:cubicBezTo>
                <a:lnTo>
                  <a:pt x="70875" y="181832"/>
                </a:lnTo>
                <a:cubicBezTo>
                  <a:pt x="56190" y="181832"/>
                  <a:pt x="40526" y="197386"/>
                  <a:pt x="40526" y="212140"/>
                </a:cubicBezTo>
                <a:lnTo>
                  <a:pt x="40526" y="515572"/>
                </a:lnTo>
                <a:cubicBezTo>
                  <a:pt x="40526" y="521082"/>
                  <a:pt x="35987" y="525615"/>
                  <a:pt x="30380" y="525615"/>
                </a:cubicBezTo>
                <a:cubicBezTo>
                  <a:pt x="24862" y="525615"/>
                  <a:pt x="20323" y="521082"/>
                  <a:pt x="20323" y="515572"/>
                </a:cubicBezTo>
                <a:lnTo>
                  <a:pt x="20323" y="212140"/>
                </a:lnTo>
                <a:cubicBezTo>
                  <a:pt x="20323" y="186187"/>
                  <a:pt x="44887" y="161568"/>
                  <a:pt x="70875" y="161568"/>
                </a:cubicBezTo>
                <a:close/>
                <a:moveTo>
                  <a:pt x="303785" y="141391"/>
                </a:moveTo>
                <a:cubicBezTo>
                  <a:pt x="292657" y="141391"/>
                  <a:pt x="283577" y="150453"/>
                  <a:pt x="283577" y="161559"/>
                </a:cubicBezTo>
                <a:cubicBezTo>
                  <a:pt x="283577" y="172754"/>
                  <a:pt x="292657" y="181816"/>
                  <a:pt x="303785" y="181816"/>
                </a:cubicBezTo>
                <a:cubicBezTo>
                  <a:pt x="315001" y="181816"/>
                  <a:pt x="324081" y="172754"/>
                  <a:pt x="324081" y="161559"/>
                </a:cubicBezTo>
                <a:cubicBezTo>
                  <a:pt x="324081" y="150453"/>
                  <a:pt x="315001" y="141391"/>
                  <a:pt x="303785" y="141391"/>
                </a:cubicBezTo>
                <a:close/>
                <a:moveTo>
                  <a:pt x="303785" y="121134"/>
                </a:moveTo>
                <a:cubicBezTo>
                  <a:pt x="326129" y="121134"/>
                  <a:pt x="344289" y="139259"/>
                  <a:pt x="344289" y="161559"/>
                </a:cubicBezTo>
                <a:cubicBezTo>
                  <a:pt x="344289" y="183860"/>
                  <a:pt x="326129" y="202073"/>
                  <a:pt x="303785" y="202073"/>
                </a:cubicBezTo>
                <a:cubicBezTo>
                  <a:pt x="281440" y="202073"/>
                  <a:pt x="263280" y="183860"/>
                  <a:pt x="263280" y="161559"/>
                </a:cubicBezTo>
                <a:cubicBezTo>
                  <a:pt x="263280" y="139259"/>
                  <a:pt x="281440" y="121134"/>
                  <a:pt x="303785" y="121134"/>
                </a:cubicBezTo>
                <a:close/>
                <a:moveTo>
                  <a:pt x="296031" y="3466"/>
                </a:moveTo>
                <a:cubicBezTo>
                  <a:pt x="299859" y="-1156"/>
                  <a:pt x="307692" y="-1156"/>
                  <a:pt x="311609" y="3466"/>
                </a:cubicBezTo>
                <a:lnTo>
                  <a:pt x="362258" y="64170"/>
                </a:lnTo>
                <a:cubicBezTo>
                  <a:pt x="362525" y="64436"/>
                  <a:pt x="384867" y="87189"/>
                  <a:pt x="384867" y="131273"/>
                </a:cubicBezTo>
                <a:lnTo>
                  <a:pt x="384867" y="232417"/>
                </a:lnTo>
                <a:cubicBezTo>
                  <a:pt x="384867" y="246993"/>
                  <a:pt x="391099" y="254636"/>
                  <a:pt x="399733" y="265213"/>
                </a:cubicBezTo>
                <a:cubicBezTo>
                  <a:pt x="411127" y="279167"/>
                  <a:pt x="425369" y="296498"/>
                  <a:pt x="425369" y="333560"/>
                </a:cubicBezTo>
                <a:lnTo>
                  <a:pt x="425369" y="353736"/>
                </a:lnTo>
                <a:cubicBezTo>
                  <a:pt x="425369" y="359335"/>
                  <a:pt x="420829" y="363868"/>
                  <a:pt x="415221" y="363868"/>
                </a:cubicBezTo>
                <a:lnTo>
                  <a:pt x="384867" y="363868"/>
                </a:lnTo>
                <a:lnTo>
                  <a:pt x="384867" y="374000"/>
                </a:lnTo>
                <a:cubicBezTo>
                  <a:pt x="384867" y="379599"/>
                  <a:pt x="380328" y="384132"/>
                  <a:pt x="374720" y="384132"/>
                </a:cubicBezTo>
                <a:cubicBezTo>
                  <a:pt x="369112" y="384132"/>
                  <a:pt x="364572" y="379599"/>
                  <a:pt x="364572" y="374000"/>
                </a:cubicBezTo>
                <a:lnTo>
                  <a:pt x="364572" y="363868"/>
                </a:lnTo>
                <a:lnTo>
                  <a:pt x="344277" y="363868"/>
                </a:lnTo>
                <a:cubicBezTo>
                  <a:pt x="338758" y="363868"/>
                  <a:pt x="334218" y="359335"/>
                  <a:pt x="334218" y="353736"/>
                </a:cubicBezTo>
                <a:cubicBezTo>
                  <a:pt x="334218" y="348136"/>
                  <a:pt x="338758" y="343603"/>
                  <a:pt x="344277" y="343603"/>
                </a:cubicBezTo>
                <a:lnTo>
                  <a:pt x="405074" y="343603"/>
                </a:lnTo>
                <a:lnTo>
                  <a:pt x="405074" y="333560"/>
                </a:lnTo>
                <a:cubicBezTo>
                  <a:pt x="405074" y="303697"/>
                  <a:pt x="394837" y="291254"/>
                  <a:pt x="384066" y="278011"/>
                </a:cubicBezTo>
                <a:cubicBezTo>
                  <a:pt x="374453" y="266279"/>
                  <a:pt x="364572" y="254192"/>
                  <a:pt x="364572" y="232417"/>
                </a:cubicBezTo>
                <a:lnTo>
                  <a:pt x="364572" y="131273"/>
                </a:lnTo>
                <a:cubicBezTo>
                  <a:pt x="364572" y="95988"/>
                  <a:pt x="347927" y="78390"/>
                  <a:pt x="347214" y="77679"/>
                </a:cubicBezTo>
                <a:lnTo>
                  <a:pt x="303775" y="25685"/>
                </a:lnTo>
                <a:lnTo>
                  <a:pt x="260960" y="77057"/>
                </a:lnTo>
                <a:cubicBezTo>
                  <a:pt x="259713" y="78479"/>
                  <a:pt x="243068" y="95988"/>
                  <a:pt x="243068" y="131273"/>
                </a:cubicBezTo>
                <a:lnTo>
                  <a:pt x="243068" y="232417"/>
                </a:lnTo>
                <a:cubicBezTo>
                  <a:pt x="243068" y="254192"/>
                  <a:pt x="233098" y="266279"/>
                  <a:pt x="223574" y="278011"/>
                </a:cubicBezTo>
                <a:cubicBezTo>
                  <a:pt x="212714" y="291254"/>
                  <a:pt x="202566" y="303697"/>
                  <a:pt x="202566" y="333560"/>
                </a:cubicBezTo>
                <a:lnTo>
                  <a:pt x="202566" y="343603"/>
                </a:lnTo>
                <a:lnTo>
                  <a:pt x="263274" y="343603"/>
                </a:lnTo>
                <a:cubicBezTo>
                  <a:pt x="268882" y="343603"/>
                  <a:pt x="273422" y="348136"/>
                  <a:pt x="273422" y="353736"/>
                </a:cubicBezTo>
                <a:cubicBezTo>
                  <a:pt x="273422" y="359335"/>
                  <a:pt x="268882" y="363868"/>
                  <a:pt x="263274" y="363868"/>
                </a:cubicBezTo>
                <a:lnTo>
                  <a:pt x="243068" y="363868"/>
                </a:lnTo>
                <a:lnTo>
                  <a:pt x="243068" y="374000"/>
                </a:lnTo>
                <a:cubicBezTo>
                  <a:pt x="243068" y="379599"/>
                  <a:pt x="238528" y="384132"/>
                  <a:pt x="232920" y="384132"/>
                </a:cubicBezTo>
                <a:cubicBezTo>
                  <a:pt x="227312" y="384132"/>
                  <a:pt x="222772" y="379599"/>
                  <a:pt x="222772" y="374000"/>
                </a:cubicBezTo>
                <a:lnTo>
                  <a:pt x="222772" y="363868"/>
                </a:lnTo>
                <a:lnTo>
                  <a:pt x="192419" y="363868"/>
                </a:lnTo>
                <a:cubicBezTo>
                  <a:pt x="186811" y="363868"/>
                  <a:pt x="182271" y="359335"/>
                  <a:pt x="182271" y="353736"/>
                </a:cubicBezTo>
                <a:lnTo>
                  <a:pt x="182271" y="333560"/>
                </a:lnTo>
                <a:cubicBezTo>
                  <a:pt x="182271" y="296498"/>
                  <a:pt x="196424" y="279167"/>
                  <a:pt x="207907" y="265213"/>
                </a:cubicBezTo>
                <a:cubicBezTo>
                  <a:pt x="216541" y="254636"/>
                  <a:pt x="222772" y="246993"/>
                  <a:pt x="222772" y="232417"/>
                </a:cubicBezTo>
                <a:lnTo>
                  <a:pt x="222772" y="131273"/>
                </a:lnTo>
                <a:cubicBezTo>
                  <a:pt x="222772" y="87189"/>
                  <a:pt x="245026" y="64436"/>
                  <a:pt x="246005" y="63459"/>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57" name="直接连接符 56"/>
          <p:cNvCxnSpPr/>
          <p:nvPr/>
        </p:nvCxnSpPr>
        <p:spPr>
          <a:xfrm>
            <a:off x="4164041"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00357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1" name="ïśľíḋê"/>
          <p:cNvSpPr/>
          <p:nvPr/>
        </p:nvSpPr>
        <p:spPr bwMode="auto">
          <a:xfrm>
            <a:off x="11376069" y="929285"/>
            <a:ext cx="398905" cy="397483"/>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5765" h="605987">
                <a:moveTo>
                  <a:pt x="25902" y="478577"/>
                </a:moveTo>
                <a:cubicBezTo>
                  <a:pt x="32673" y="476076"/>
                  <a:pt x="39351" y="479410"/>
                  <a:pt x="41763" y="486264"/>
                </a:cubicBezTo>
                <a:cubicBezTo>
                  <a:pt x="44174" y="492933"/>
                  <a:pt x="40742" y="499694"/>
                  <a:pt x="34528" y="502009"/>
                </a:cubicBezTo>
                <a:lnTo>
                  <a:pt x="16256" y="508214"/>
                </a:lnTo>
                <a:cubicBezTo>
                  <a:pt x="8373" y="510159"/>
                  <a:pt x="2900" y="505899"/>
                  <a:pt x="953" y="500527"/>
                </a:cubicBezTo>
                <a:cubicBezTo>
                  <a:pt x="-1552" y="493859"/>
                  <a:pt x="1880" y="487098"/>
                  <a:pt x="8094" y="484782"/>
                </a:cubicBezTo>
                <a:close/>
                <a:moveTo>
                  <a:pt x="122099" y="443964"/>
                </a:moveTo>
                <a:cubicBezTo>
                  <a:pt x="128879" y="441923"/>
                  <a:pt x="135567" y="445447"/>
                  <a:pt x="137424" y="451569"/>
                </a:cubicBezTo>
                <a:cubicBezTo>
                  <a:pt x="139932" y="458246"/>
                  <a:pt x="136496" y="465109"/>
                  <a:pt x="130273" y="467428"/>
                </a:cubicBezTo>
                <a:lnTo>
                  <a:pt x="111975" y="473641"/>
                </a:lnTo>
                <a:cubicBezTo>
                  <a:pt x="108353" y="474940"/>
                  <a:pt x="105752" y="474105"/>
                  <a:pt x="104730" y="473641"/>
                </a:cubicBezTo>
                <a:cubicBezTo>
                  <a:pt x="103244" y="475589"/>
                  <a:pt x="101294" y="476980"/>
                  <a:pt x="98972" y="477907"/>
                </a:cubicBezTo>
                <a:lnTo>
                  <a:pt x="59961" y="491912"/>
                </a:lnTo>
                <a:cubicBezTo>
                  <a:pt x="51788" y="493859"/>
                  <a:pt x="46587" y="489593"/>
                  <a:pt x="44543" y="484214"/>
                </a:cubicBezTo>
                <a:cubicBezTo>
                  <a:pt x="42128" y="477537"/>
                  <a:pt x="45565" y="470766"/>
                  <a:pt x="51788" y="468448"/>
                </a:cubicBezTo>
                <a:lnTo>
                  <a:pt x="90798" y="454444"/>
                </a:lnTo>
                <a:cubicBezTo>
                  <a:pt x="93120" y="453980"/>
                  <a:pt x="95628" y="453980"/>
                  <a:pt x="97950" y="454444"/>
                </a:cubicBezTo>
                <a:cubicBezTo>
                  <a:pt x="99436" y="452496"/>
                  <a:pt x="101387" y="451105"/>
                  <a:pt x="103801" y="450085"/>
                </a:cubicBezTo>
                <a:close/>
                <a:moveTo>
                  <a:pt x="107245" y="400218"/>
                </a:moveTo>
                <a:lnTo>
                  <a:pt x="126470" y="400218"/>
                </a:lnTo>
                <a:cubicBezTo>
                  <a:pt x="133249" y="400218"/>
                  <a:pt x="138450" y="405497"/>
                  <a:pt x="138450" y="412627"/>
                </a:cubicBezTo>
                <a:cubicBezTo>
                  <a:pt x="138450" y="419850"/>
                  <a:pt x="133156" y="425128"/>
                  <a:pt x="126470" y="425128"/>
                </a:cubicBezTo>
                <a:lnTo>
                  <a:pt x="107245" y="425128"/>
                </a:lnTo>
                <a:cubicBezTo>
                  <a:pt x="100558" y="425128"/>
                  <a:pt x="95264" y="419294"/>
                  <a:pt x="95264" y="412627"/>
                </a:cubicBezTo>
                <a:cubicBezTo>
                  <a:pt x="95264" y="405497"/>
                  <a:pt x="100558" y="400218"/>
                  <a:pt x="107245" y="400218"/>
                </a:cubicBezTo>
                <a:close/>
                <a:moveTo>
                  <a:pt x="12071" y="399866"/>
                </a:moveTo>
                <a:lnTo>
                  <a:pt x="31384" y="399866"/>
                </a:lnTo>
                <a:cubicBezTo>
                  <a:pt x="33706" y="399866"/>
                  <a:pt x="35563" y="400792"/>
                  <a:pt x="37513" y="401811"/>
                </a:cubicBezTo>
                <a:cubicBezTo>
                  <a:pt x="39370" y="400329"/>
                  <a:pt x="41412" y="399866"/>
                  <a:pt x="43734" y="399866"/>
                </a:cubicBezTo>
                <a:lnTo>
                  <a:pt x="81710" y="399866"/>
                </a:lnTo>
                <a:cubicBezTo>
                  <a:pt x="88396" y="399866"/>
                  <a:pt x="93781" y="405608"/>
                  <a:pt x="93781" y="412275"/>
                </a:cubicBezTo>
                <a:cubicBezTo>
                  <a:pt x="93781" y="418942"/>
                  <a:pt x="88396" y="424776"/>
                  <a:pt x="81618" y="424776"/>
                </a:cubicBezTo>
                <a:lnTo>
                  <a:pt x="43641" y="424776"/>
                </a:lnTo>
                <a:cubicBezTo>
                  <a:pt x="41227" y="424776"/>
                  <a:pt x="39370" y="423758"/>
                  <a:pt x="37420" y="422832"/>
                </a:cubicBezTo>
                <a:cubicBezTo>
                  <a:pt x="35563" y="424313"/>
                  <a:pt x="33613" y="424776"/>
                  <a:pt x="31199" y="424776"/>
                </a:cubicBezTo>
                <a:lnTo>
                  <a:pt x="12071" y="424776"/>
                </a:lnTo>
                <a:cubicBezTo>
                  <a:pt x="5386" y="424776"/>
                  <a:pt x="0" y="418942"/>
                  <a:pt x="0" y="412275"/>
                </a:cubicBezTo>
                <a:cubicBezTo>
                  <a:pt x="0" y="405145"/>
                  <a:pt x="5386" y="399866"/>
                  <a:pt x="12071" y="399866"/>
                </a:cubicBezTo>
                <a:close/>
                <a:moveTo>
                  <a:pt x="59961" y="331976"/>
                </a:moveTo>
                <a:lnTo>
                  <a:pt x="98972" y="345894"/>
                </a:lnTo>
                <a:cubicBezTo>
                  <a:pt x="101294" y="346914"/>
                  <a:pt x="103244" y="348306"/>
                  <a:pt x="104730" y="350254"/>
                </a:cubicBezTo>
                <a:cubicBezTo>
                  <a:pt x="105752" y="349790"/>
                  <a:pt x="108353" y="348863"/>
                  <a:pt x="111975" y="350254"/>
                </a:cubicBezTo>
                <a:lnTo>
                  <a:pt x="130273" y="356471"/>
                </a:lnTo>
                <a:cubicBezTo>
                  <a:pt x="136496" y="358790"/>
                  <a:pt x="139932" y="365564"/>
                  <a:pt x="137424" y="372244"/>
                </a:cubicBezTo>
                <a:cubicBezTo>
                  <a:pt x="135567" y="378461"/>
                  <a:pt x="128879" y="381801"/>
                  <a:pt x="122099" y="379945"/>
                </a:cubicBezTo>
                <a:lnTo>
                  <a:pt x="103801" y="373729"/>
                </a:lnTo>
                <a:cubicBezTo>
                  <a:pt x="101387" y="372801"/>
                  <a:pt x="99436" y="371409"/>
                  <a:pt x="97950" y="369461"/>
                </a:cubicBezTo>
                <a:cubicBezTo>
                  <a:pt x="95628" y="369924"/>
                  <a:pt x="93120" y="369924"/>
                  <a:pt x="90798" y="369461"/>
                </a:cubicBezTo>
                <a:lnTo>
                  <a:pt x="51788" y="355450"/>
                </a:lnTo>
                <a:cubicBezTo>
                  <a:pt x="45565" y="353131"/>
                  <a:pt x="42128" y="346265"/>
                  <a:pt x="44543" y="339584"/>
                </a:cubicBezTo>
                <a:cubicBezTo>
                  <a:pt x="46587" y="334296"/>
                  <a:pt x="51788" y="329935"/>
                  <a:pt x="59961" y="331976"/>
                </a:cubicBezTo>
                <a:close/>
                <a:moveTo>
                  <a:pt x="16346" y="316499"/>
                </a:moveTo>
                <a:lnTo>
                  <a:pt x="34730" y="322713"/>
                </a:lnTo>
                <a:cubicBezTo>
                  <a:pt x="40858" y="325031"/>
                  <a:pt x="44386" y="331801"/>
                  <a:pt x="41879" y="338478"/>
                </a:cubicBezTo>
                <a:cubicBezTo>
                  <a:pt x="39372" y="345155"/>
                  <a:pt x="32687" y="348494"/>
                  <a:pt x="25909" y="346175"/>
                </a:cubicBezTo>
                <a:lnTo>
                  <a:pt x="8175" y="339962"/>
                </a:lnTo>
                <a:cubicBezTo>
                  <a:pt x="2047" y="337643"/>
                  <a:pt x="-1481" y="330874"/>
                  <a:pt x="1026" y="324196"/>
                </a:cubicBezTo>
                <a:cubicBezTo>
                  <a:pt x="2976" y="318818"/>
                  <a:pt x="8454" y="314552"/>
                  <a:pt x="16346" y="316499"/>
                </a:cubicBezTo>
                <a:close/>
                <a:moveTo>
                  <a:pt x="417160" y="8"/>
                </a:moveTo>
                <a:cubicBezTo>
                  <a:pt x="438630" y="-166"/>
                  <a:pt x="459938" y="2384"/>
                  <a:pt x="480364" y="9382"/>
                </a:cubicBezTo>
                <a:cubicBezTo>
                  <a:pt x="544334" y="30981"/>
                  <a:pt x="591870" y="96240"/>
                  <a:pt x="603012" y="168267"/>
                </a:cubicBezTo>
                <a:cubicBezTo>
                  <a:pt x="614060" y="239829"/>
                  <a:pt x="591035" y="315286"/>
                  <a:pt x="548698" y="372110"/>
                </a:cubicBezTo>
                <a:cubicBezTo>
                  <a:pt x="538020" y="385551"/>
                  <a:pt x="526043" y="398065"/>
                  <a:pt x="518802" y="413917"/>
                </a:cubicBezTo>
                <a:cubicBezTo>
                  <a:pt x="499676" y="477879"/>
                  <a:pt x="500140" y="562326"/>
                  <a:pt x="507846" y="605987"/>
                </a:cubicBezTo>
                <a:lnTo>
                  <a:pt x="308230" y="605987"/>
                </a:lnTo>
                <a:cubicBezTo>
                  <a:pt x="310644" y="579012"/>
                  <a:pt x="309158" y="551666"/>
                  <a:pt x="302938" y="525711"/>
                </a:cubicBezTo>
                <a:cubicBezTo>
                  <a:pt x="299967" y="512733"/>
                  <a:pt x="295232" y="498828"/>
                  <a:pt x="285112" y="491134"/>
                </a:cubicBezTo>
                <a:cubicBezTo>
                  <a:pt x="269235" y="478620"/>
                  <a:pt x="247602" y="485943"/>
                  <a:pt x="228383" y="488817"/>
                </a:cubicBezTo>
                <a:cubicBezTo>
                  <a:pt x="209257" y="491598"/>
                  <a:pt x="183261" y="483440"/>
                  <a:pt x="182704" y="462305"/>
                </a:cubicBezTo>
                <a:cubicBezTo>
                  <a:pt x="181868" y="445527"/>
                  <a:pt x="198209" y="427265"/>
                  <a:pt x="188089" y="414751"/>
                </a:cubicBezTo>
                <a:cubicBezTo>
                  <a:pt x="184746" y="410394"/>
                  <a:pt x="178433" y="408540"/>
                  <a:pt x="176019" y="403257"/>
                </a:cubicBezTo>
                <a:cubicBezTo>
                  <a:pt x="170727" y="392132"/>
                  <a:pt x="185211" y="381658"/>
                  <a:pt x="187532" y="369143"/>
                </a:cubicBezTo>
                <a:cubicBezTo>
                  <a:pt x="192267" y="341241"/>
                  <a:pt x="139438" y="337348"/>
                  <a:pt x="139902" y="309538"/>
                </a:cubicBezTo>
                <a:cubicBezTo>
                  <a:pt x="139902" y="282285"/>
                  <a:pt x="199045" y="285344"/>
                  <a:pt x="199045" y="191441"/>
                </a:cubicBezTo>
                <a:cubicBezTo>
                  <a:pt x="201087" y="159275"/>
                  <a:pt x="200066" y="125626"/>
                  <a:pt x="212043" y="95869"/>
                </a:cubicBezTo>
                <a:cubicBezTo>
                  <a:pt x="235068" y="39602"/>
                  <a:pt x="297089" y="16613"/>
                  <a:pt x="352981" y="6972"/>
                </a:cubicBezTo>
                <a:cubicBezTo>
                  <a:pt x="374057" y="3079"/>
                  <a:pt x="395689" y="182"/>
                  <a:pt x="417160" y="8"/>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sz="2000" b="1" dirty="0"/>
          </a:p>
        </p:txBody>
      </p:sp>
      <p:sp>
        <p:nvSpPr>
          <p:cNvPr id="68" name="ïṧľîďe"/>
          <p:cNvSpPr/>
          <p:nvPr/>
        </p:nvSpPr>
        <p:spPr>
          <a:xfrm>
            <a:off x="8513550" y="998888"/>
            <a:ext cx="484634" cy="408348"/>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9473" h="553092">
                <a:moveTo>
                  <a:pt x="478028" y="401708"/>
                </a:moveTo>
                <a:cubicBezTo>
                  <a:pt x="474950" y="405277"/>
                  <a:pt x="471773" y="408747"/>
                  <a:pt x="468299" y="412117"/>
                </a:cubicBezTo>
                <a:cubicBezTo>
                  <a:pt x="464923" y="415587"/>
                  <a:pt x="461448" y="418760"/>
                  <a:pt x="457874" y="421833"/>
                </a:cubicBezTo>
                <a:lnTo>
                  <a:pt x="558543" y="522458"/>
                </a:lnTo>
                <a:cubicBezTo>
                  <a:pt x="561323" y="525135"/>
                  <a:pt x="564897" y="526622"/>
                  <a:pt x="568670" y="526622"/>
                </a:cubicBezTo>
                <a:cubicBezTo>
                  <a:pt x="572541" y="526622"/>
                  <a:pt x="576116" y="525135"/>
                  <a:pt x="578796" y="522458"/>
                </a:cubicBezTo>
                <a:cubicBezTo>
                  <a:pt x="584356" y="516907"/>
                  <a:pt x="584356" y="507885"/>
                  <a:pt x="578796" y="502234"/>
                </a:cubicBezTo>
                <a:close/>
                <a:moveTo>
                  <a:pt x="250450" y="339354"/>
                </a:moveTo>
                <a:cubicBezTo>
                  <a:pt x="254918" y="346988"/>
                  <a:pt x="260478" y="354225"/>
                  <a:pt x="267031" y="360768"/>
                </a:cubicBezTo>
                <a:cubicBezTo>
                  <a:pt x="287087" y="380795"/>
                  <a:pt x="313695" y="391799"/>
                  <a:pt x="341992" y="391799"/>
                </a:cubicBezTo>
                <a:cubicBezTo>
                  <a:pt x="370288" y="391799"/>
                  <a:pt x="396897" y="380795"/>
                  <a:pt x="416854" y="360768"/>
                </a:cubicBezTo>
                <a:cubicBezTo>
                  <a:pt x="423406" y="354225"/>
                  <a:pt x="428966" y="347087"/>
                  <a:pt x="433434" y="339354"/>
                </a:cubicBezTo>
                <a:close/>
                <a:moveTo>
                  <a:pt x="318542" y="209316"/>
                </a:moveTo>
                <a:cubicBezTo>
                  <a:pt x="321943" y="209316"/>
                  <a:pt x="325344" y="210605"/>
                  <a:pt x="327925" y="213182"/>
                </a:cubicBezTo>
                <a:lnTo>
                  <a:pt x="341925" y="227159"/>
                </a:lnTo>
                <a:lnTo>
                  <a:pt x="355925" y="213182"/>
                </a:lnTo>
                <a:cubicBezTo>
                  <a:pt x="361188" y="208027"/>
                  <a:pt x="369528" y="208027"/>
                  <a:pt x="374691" y="213182"/>
                </a:cubicBezTo>
                <a:cubicBezTo>
                  <a:pt x="379854" y="218337"/>
                  <a:pt x="379854" y="226763"/>
                  <a:pt x="374691" y="231917"/>
                </a:cubicBezTo>
                <a:lnTo>
                  <a:pt x="360691" y="245895"/>
                </a:lnTo>
                <a:lnTo>
                  <a:pt x="374691" y="259872"/>
                </a:lnTo>
                <a:cubicBezTo>
                  <a:pt x="379854" y="265027"/>
                  <a:pt x="379854" y="273453"/>
                  <a:pt x="374691" y="278608"/>
                </a:cubicBezTo>
                <a:cubicBezTo>
                  <a:pt x="372110" y="281185"/>
                  <a:pt x="368734" y="282474"/>
                  <a:pt x="365358" y="282474"/>
                </a:cubicBezTo>
                <a:cubicBezTo>
                  <a:pt x="361982" y="282474"/>
                  <a:pt x="358606" y="281185"/>
                  <a:pt x="355925" y="278608"/>
                </a:cubicBezTo>
                <a:lnTo>
                  <a:pt x="341925" y="264631"/>
                </a:lnTo>
                <a:lnTo>
                  <a:pt x="327925" y="278608"/>
                </a:lnTo>
                <a:cubicBezTo>
                  <a:pt x="325344" y="281185"/>
                  <a:pt x="321869" y="282474"/>
                  <a:pt x="318493" y="282474"/>
                </a:cubicBezTo>
                <a:cubicBezTo>
                  <a:pt x="315117" y="282474"/>
                  <a:pt x="311741" y="281185"/>
                  <a:pt x="309159" y="278608"/>
                </a:cubicBezTo>
                <a:cubicBezTo>
                  <a:pt x="303996" y="273453"/>
                  <a:pt x="303996" y="265027"/>
                  <a:pt x="309159" y="259872"/>
                </a:cubicBezTo>
                <a:lnTo>
                  <a:pt x="323159" y="245895"/>
                </a:lnTo>
                <a:lnTo>
                  <a:pt x="309159" y="231917"/>
                </a:lnTo>
                <a:cubicBezTo>
                  <a:pt x="303996" y="226763"/>
                  <a:pt x="303996" y="218337"/>
                  <a:pt x="309159" y="213182"/>
                </a:cubicBezTo>
                <a:cubicBezTo>
                  <a:pt x="311741" y="210605"/>
                  <a:pt x="315142" y="209316"/>
                  <a:pt x="318542" y="209316"/>
                </a:cubicBezTo>
                <a:close/>
                <a:moveTo>
                  <a:pt x="341992" y="180233"/>
                </a:moveTo>
                <a:cubicBezTo>
                  <a:pt x="313695" y="180233"/>
                  <a:pt x="287087" y="191237"/>
                  <a:pt x="267031" y="211165"/>
                </a:cubicBezTo>
                <a:cubicBezTo>
                  <a:pt x="239529" y="238726"/>
                  <a:pt x="230394" y="277688"/>
                  <a:pt x="239529" y="312883"/>
                </a:cubicBezTo>
                <a:lnTo>
                  <a:pt x="444455" y="312883"/>
                </a:lnTo>
                <a:cubicBezTo>
                  <a:pt x="446739" y="304159"/>
                  <a:pt x="447930" y="295137"/>
                  <a:pt x="447930" y="286016"/>
                </a:cubicBezTo>
                <a:cubicBezTo>
                  <a:pt x="447930" y="257761"/>
                  <a:pt x="436909" y="231191"/>
                  <a:pt x="416854" y="211165"/>
                </a:cubicBezTo>
                <a:cubicBezTo>
                  <a:pt x="396897" y="191237"/>
                  <a:pt x="370288" y="180233"/>
                  <a:pt x="341992" y="180233"/>
                </a:cubicBezTo>
                <a:close/>
                <a:moveTo>
                  <a:pt x="341992" y="153762"/>
                </a:moveTo>
                <a:cubicBezTo>
                  <a:pt x="377338" y="153762"/>
                  <a:pt x="410599" y="167543"/>
                  <a:pt x="435619" y="192526"/>
                </a:cubicBezTo>
                <a:cubicBezTo>
                  <a:pt x="460639" y="217411"/>
                  <a:pt x="474340" y="250623"/>
                  <a:pt x="474340" y="286016"/>
                </a:cubicBezTo>
                <a:cubicBezTo>
                  <a:pt x="474340" y="321310"/>
                  <a:pt x="460639" y="354522"/>
                  <a:pt x="435619" y="379506"/>
                </a:cubicBezTo>
                <a:cubicBezTo>
                  <a:pt x="410599" y="404490"/>
                  <a:pt x="377338" y="418171"/>
                  <a:pt x="341992" y="418171"/>
                </a:cubicBezTo>
                <a:cubicBezTo>
                  <a:pt x="306547" y="418171"/>
                  <a:pt x="273286" y="404490"/>
                  <a:pt x="248365" y="379506"/>
                </a:cubicBezTo>
                <a:cubicBezTo>
                  <a:pt x="196736" y="327953"/>
                  <a:pt x="196736" y="244079"/>
                  <a:pt x="248365" y="192526"/>
                </a:cubicBezTo>
                <a:cubicBezTo>
                  <a:pt x="273286" y="167543"/>
                  <a:pt x="306547" y="153762"/>
                  <a:pt x="341992" y="153762"/>
                </a:cubicBezTo>
                <a:close/>
                <a:moveTo>
                  <a:pt x="342016" y="134035"/>
                </a:moveTo>
                <a:cubicBezTo>
                  <a:pt x="302999" y="134035"/>
                  <a:pt x="263983" y="148806"/>
                  <a:pt x="234298" y="178449"/>
                </a:cubicBezTo>
                <a:cubicBezTo>
                  <a:pt x="175029" y="237733"/>
                  <a:pt x="175029" y="334195"/>
                  <a:pt x="234298" y="393479"/>
                </a:cubicBezTo>
                <a:cubicBezTo>
                  <a:pt x="293667" y="452764"/>
                  <a:pt x="390265" y="452764"/>
                  <a:pt x="449634" y="393479"/>
                </a:cubicBezTo>
                <a:cubicBezTo>
                  <a:pt x="509003" y="334195"/>
                  <a:pt x="509003" y="237733"/>
                  <a:pt x="449634" y="178449"/>
                </a:cubicBezTo>
                <a:cubicBezTo>
                  <a:pt x="419950" y="148806"/>
                  <a:pt x="380933" y="134035"/>
                  <a:pt x="342016" y="134035"/>
                </a:cubicBezTo>
                <a:close/>
                <a:moveTo>
                  <a:pt x="83415" y="60757"/>
                </a:moveTo>
                <a:lnTo>
                  <a:pt x="501615" y="60757"/>
                </a:lnTo>
                <a:cubicBezTo>
                  <a:pt x="508960" y="60757"/>
                  <a:pt x="514916" y="66719"/>
                  <a:pt x="514916" y="74073"/>
                </a:cubicBezTo>
                <a:cubicBezTo>
                  <a:pt x="514916" y="81328"/>
                  <a:pt x="508960" y="87290"/>
                  <a:pt x="501615" y="87290"/>
                </a:cubicBezTo>
                <a:lnTo>
                  <a:pt x="83415" y="87290"/>
                </a:lnTo>
                <a:cubicBezTo>
                  <a:pt x="76070" y="87290"/>
                  <a:pt x="70213" y="81328"/>
                  <a:pt x="70213" y="74073"/>
                </a:cubicBezTo>
                <a:cubicBezTo>
                  <a:pt x="70213" y="66719"/>
                  <a:pt x="76070" y="60757"/>
                  <a:pt x="83415" y="60757"/>
                </a:cubicBezTo>
                <a:close/>
                <a:moveTo>
                  <a:pt x="26507" y="26470"/>
                </a:moveTo>
                <a:lnTo>
                  <a:pt x="26507" y="245863"/>
                </a:lnTo>
                <a:lnTo>
                  <a:pt x="167881" y="245863"/>
                </a:lnTo>
                <a:cubicBezTo>
                  <a:pt x="175128" y="214337"/>
                  <a:pt x="191013" y="184298"/>
                  <a:pt x="215634" y="159811"/>
                </a:cubicBezTo>
                <a:cubicBezTo>
                  <a:pt x="285328" y="90216"/>
                  <a:pt x="398704" y="90216"/>
                  <a:pt x="468299" y="159811"/>
                </a:cubicBezTo>
                <a:cubicBezTo>
                  <a:pt x="492920" y="184298"/>
                  <a:pt x="508804" y="214337"/>
                  <a:pt x="516052" y="245863"/>
                </a:cubicBezTo>
                <a:lnTo>
                  <a:pt x="558642" y="245863"/>
                </a:lnTo>
                <a:lnTo>
                  <a:pt x="558642" y="26470"/>
                </a:lnTo>
                <a:close/>
                <a:moveTo>
                  <a:pt x="13204" y="0"/>
                </a:moveTo>
                <a:lnTo>
                  <a:pt x="571847" y="0"/>
                </a:lnTo>
                <a:cubicBezTo>
                  <a:pt x="579193" y="0"/>
                  <a:pt x="585051" y="5948"/>
                  <a:pt x="585051" y="13185"/>
                </a:cubicBezTo>
                <a:lnTo>
                  <a:pt x="585051" y="259048"/>
                </a:lnTo>
                <a:cubicBezTo>
                  <a:pt x="585051" y="266384"/>
                  <a:pt x="579193" y="272333"/>
                  <a:pt x="571847" y="272333"/>
                </a:cubicBezTo>
                <a:lnTo>
                  <a:pt x="520023" y="272333"/>
                </a:lnTo>
                <a:cubicBezTo>
                  <a:pt x="522902" y="309509"/>
                  <a:pt x="514166" y="347380"/>
                  <a:pt x="493813" y="380096"/>
                </a:cubicBezTo>
                <a:lnTo>
                  <a:pt x="597460" y="483596"/>
                </a:lnTo>
                <a:cubicBezTo>
                  <a:pt x="605204" y="491230"/>
                  <a:pt x="609473" y="501540"/>
                  <a:pt x="609473" y="512346"/>
                </a:cubicBezTo>
                <a:cubicBezTo>
                  <a:pt x="609473" y="523251"/>
                  <a:pt x="605204" y="533463"/>
                  <a:pt x="597460" y="541096"/>
                </a:cubicBezTo>
                <a:cubicBezTo>
                  <a:pt x="589816" y="548829"/>
                  <a:pt x="579590" y="553092"/>
                  <a:pt x="568670" y="553092"/>
                </a:cubicBezTo>
                <a:cubicBezTo>
                  <a:pt x="557848" y="553092"/>
                  <a:pt x="547523" y="548829"/>
                  <a:pt x="539879" y="541096"/>
                </a:cubicBezTo>
                <a:lnTo>
                  <a:pt x="436232" y="437596"/>
                </a:lnTo>
                <a:cubicBezTo>
                  <a:pt x="407441" y="455441"/>
                  <a:pt x="374679" y="464363"/>
                  <a:pt x="342016" y="464363"/>
                </a:cubicBezTo>
                <a:cubicBezTo>
                  <a:pt x="296248" y="464363"/>
                  <a:pt x="250481" y="446915"/>
                  <a:pt x="215634" y="412117"/>
                </a:cubicBezTo>
                <a:cubicBezTo>
                  <a:pt x="177312" y="373850"/>
                  <a:pt x="160038" y="322397"/>
                  <a:pt x="163910" y="272333"/>
                </a:cubicBezTo>
                <a:lnTo>
                  <a:pt x="13204" y="272333"/>
                </a:lnTo>
                <a:cubicBezTo>
                  <a:pt x="5956" y="272333"/>
                  <a:pt x="0" y="266384"/>
                  <a:pt x="0" y="259048"/>
                </a:cubicBezTo>
                <a:lnTo>
                  <a:pt x="0" y="13185"/>
                </a:lnTo>
                <a:cubicBezTo>
                  <a:pt x="0" y="5948"/>
                  <a:pt x="5956" y="0"/>
                  <a:pt x="13204" y="0"/>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3" name="直接连接符 62"/>
          <p:cNvCxnSpPr/>
          <p:nvPr/>
        </p:nvCxnSpPr>
        <p:spPr>
          <a:xfrm>
            <a:off x="784568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6" name="ïṧľîďe"/>
          <p:cNvSpPr/>
          <p:nvPr/>
        </p:nvSpPr>
        <p:spPr>
          <a:xfrm>
            <a:off x="10511110" y="972333"/>
            <a:ext cx="398904" cy="397482"/>
          </a:xfrm>
          <a:custGeom>
            <a:avLst/>
            <a:gdLst>
              <a:gd name="connsiteX0" fmla="*/ 236607 w 607780"/>
              <a:gd name="connsiteY0" fmla="*/ 449483 h 595271"/>
              <a:gd name="connsiteX1" fmla="*/ 371243 w 607780"/>
              <a:gd name="connsiteY1" fmla="*/ 449483 h 595271"/>
              <a:gd name="connsiteX2" fmla="*/ 405257 w 607780"/>
              <a:gd name="connsiteY2" fmla="*/ 483441 h 595271"/>
              <a:gd name="connsiteX3" fmla="*/ 405257 w 607780"/>
              <a:gd name="connsiteY3" fmla="*/ 584811 h 595271"/>
              <a:gd name="connsiteX4" fmla="*/ 394780 w 607780"/>
              <a:gd name="connsiteY4" fmla="*/ 595271 h 595271"/>
              <a:gd name="connsiteX5" fmla="*/ 213070 w 607780"/>
              <a:gd name="connsiteY5" fmla="*/ 595271 h 595271"/>
              <a:gd name="connsiteX6" fmla="*/ 202593 w 607780"/>
              <a:gd name="connsiteY6" fmla="*/ 584811 h 595271"/>
              <a:gd name="connsiteX7" fmla="*/ 202593 w 607780"/>
              <a:gd name="connsiteY7" fmla="*/ 483441 h 595271"/>
              <a:gd name="connsiteX8" fmla="*/ 236607 w 607780"/>
              <a:gd name="connsiteY8" fmla="*/ 449483 h 595271"/>
              <a:gd name="connsiteX9" fmla="*/ 541892 w 607780"/>
              <a:gd name="connsiteY9" fmla="*/ 348260 h 595271"/>
              <a:gd name="connsiteX10" fmla="*/ 551736 w 607780"/>
              <a:gd name="connsiteY10" fmla="*/ 349985 h 595271"/>
              <a:gd name="connsiteX11" fmla="*/ 566566 w 607780"/>
              <a:gd name="connsiteY11" fmla="*/ 359133 h 595271"/>
              <a:gd name="connsiteX12" fmla="*/ 570614 w 607780"/>
              <a:gd name="connsiteY12" fmla="*/ 378236 h 595271"/>
              <a:gd name="connsiteX13" fmla="*/ 514841 w 607780"/>
              <a:gd name="connsiteY13" fmla="*/ 439743 h 595271"/>
              <a:gd name="connsiteX14" fmla="*/ 523951 w 607780"/>
              <a:gd name="connsiteY14" fmla="*/ 455460 h 595271"/>
              <a:gd name="connsiteX15" fmla="*/ 515195 w 607780"/>
              <a:gd name="connsiteY15" fmla="*/ 470622 h 595271"/>
              <a:gd name="connsiteX16" fmla="*/ 435128 w 607780"/>
              <a:gd name="connsiteY16" fmla="*/ 470723 h 595271"/>
              <a:gd name="connsiteX17" fmla="*/ 426372 w 607780"/>
              <a:gd name="connsiteY17" fmla="*/ 455561 h 595271"/>
              <a:gd name="connsiteX18" fmla="*/ 466304 w 607780"/>
              <a:gd name="connsiteY18" fmla="*/ 386323 h 595271"/>
              <a:gd name="connsiteX19" fmla="*/ 483816 w 607780"/>
              <a:gd name="connsiteY19" fmla="*/ 386272 h 595271"/>
              <a:gd name="connsiteX20" fmla="*/ 492167 w 607780"/>
              <a:gd name="connsiteY20" fmla="*/ 400676 h 595271"/>
              <a:gd name="connsiteX21" fmla="*/ 533567 w 607780"/>
              <a:gd name="connsiteY21" fmla="*/ 353775 h 595271"/>
              <a:gd name="connsiteX22" fmla="*/ 541892 w 607780"/>
              <a:gd name="connsiteY22" fmla="*/ 348260 h 595271"/>
              <a:gd name="connsiteX23" fmla="*/ 64200 w 607780"/>
              <a:gd name="connsiteY23" fmla="*/ 336864 h 595271"/>
              <a:gd name="connsiteX24" fmla="*/ 74313 w 607780"/>
              <a:gd name="connsiteY24" fmla="*/ 336871 h 595271"/>
              <a:gd name="connsiteX25" fmla="*/ 143681 w 607780"/>
              <a:gd name="connsiteY25" fmla="*/ 376748 h 595271"/>
              <a:gd name="connsiteX26" fmla="*/ 143681 w 607780"/>
              <a:gd name="connsiteY26" fmla="*/ 394235 h 595271"/>
              <a:gd name="connsiteX27" fmla="*/ 129261 w 607780"/>
              <a:gd name="connsiteY27" fmla="*/ 402574 h 595271"/>
              <a:gd name="connsiteX28" fmla="*/ 176214 w 607780"/>
              <a:gd name="connsiteY28" fmla="*/ 443917 h 595271"/>
              <a:gd name="connsiteX29" fmla="*/ 180009 w 607780"/>
              <a:gd name="connsiteY29" fmla="*/ 462061 h 595271"/>
              <a:gd name="connsiteX30" fmla="*/ 170902 w 607780"/>
              <a:gd name="connsiteY30" fmla="*/ 476869 h 595271"/>
              <a:gd name="connsiteX31" fmla="*/ 151725 w 607780"/>
              <a:gd name="connsiteY31" fmla="*/ 480913 h 595271"/>
              <a:gd name="connsiteX32" fmla="*/ 90150 w 607780"/>
              <a:gd name="connsiteY32" fmla="*/ 425166 h 595271"/>
              <a:gd name="connsiteX33" fmla="*/ 74414 w 607780"/>
              <a:gd name="connsiteY33" fmla="*/ 434314 h 595271"/>
              <a:gd name="connsiteX34" fmla="*/ 59235 w 607780"/>
              <a:gd name="connsiteY34" fmla="*/ 425570 h 595271"/>
              <a:gd name="connsiteX35" fmla="*/ 59134 w 607780"/>
              <a:gd name="connsiteY35" fmla="*/ 345614 h 595271"/>
              <a:gd name="connsiteX36" fmla="*/ 64200 w 607780"/>
              <a:gd name="connsiteY36" fmla="*/ 336864 h 595271"/>
              <a:gd name="connsiteX37" fmla="*/ 349533 w 607780"/>
              <a:gd name="connsiteY37" fmla="*/ 289354 h 595271"/>
              <a:gd name="connsiteX38" fmla="*/ 365529 w 607780"/>
              <a:gd name="connsiteY38" fmla="*/ 302800 h 595271"/>
              <a:gd name="connsiteX39" fmla="*/ 365529 w 607780"/>
              <a:gd name="connsiteY39" fmla="*/ 368208 h 595271"/>
              <a:gd name="connsiteX40" fmla="*/ 303926 w 607780"/>
              <a:gd name="connsiteY40" fmla="*/ 429725 h 595271"/>
              <a:gd name="connsiteX41" fmla="*/ 242322 w 607780"/>
              <a:gd name="connsiteY41" fmla="*/ 368208 h 595271"/>
              <a:gd name="connsiteX42" fmla="*/ 242322 w 607780"/>
              <a:gd name="connsiteY42" fmla="*/ 339194 h 595271"/>
              <a:gd name="connsiteX43" fmla="*/ 270719 w 607780"/>
              <a:gd name="connsiteY43" fmla="*/ 304569 h 595271"/>
              <a:gd name="connsiteX44" fmla="*/ 349533 w 607780"/>
              <a:gd name="connsiteY44" fmla="*/ 289354 h 595271"/>
              <a:gd name="connsiteX45" fmla="*/ 439205 w 607780"/>
              <a:gd name="connsiteY45" fmla="*/ 160376 h 595271"/>
              <a:gd name="connsiteX46" fmla="*/ 573782 w 607780"/>
              <a:gd name="connsiteY46" fmla="*/ 160376 h 595271"/>
              <a:gd name="connsiteX47" fmla="*/ 607780 w 607780"/>
              <a:gd name="connsiteY47" fmla="*/ 194334 h 595271"/>
              <a:gd name="connsiteX48" fmla="*/ 607780 w 607780"/>
              <a:gd name="connsiteY48" fmla="*/ 295754 h 595271"/>
              <a:gd name="connsiteX49" fmla="*/ 597307 w 607780"/>
              <a:gd name="connsiteY49" fmla="*/ 306164 h 595271"/>
              <a:gd name="connsiteX50" fmla="*/ 415679 w 607780"/>
              <a:gd name="connsiteY50" fmla="*/ 306164 h 595271"/>
              <a:gd name="connsiteX51" fmla="*/ 405257 w 607780"/>
              <a:gd name="connsiteY51" fmla="*/ 295754 h 595271"/>
              <a:gd name="connsiteX52" fmla="*/ 405257 w 607780"/>
              <a:gd name="connsiteY52" fmla="*/ 194334 h 595271"/>
              <a:gd name="connsiteX53" fmla="*/ 439205 w 607780"/>
              <a:gd name="connsiteY53" fmla="*/ 160376 h 595271"/>
              <a:gd name="connsiteX54" fmla="*/ 34010 w 607780"/>
              <a:gd name="connsiteY54" fmla="*/ 160376 h 595271"/>
              <a:gd name="connsiteX55" fmla="*/ 168583 w 607780"/>
              <a:gd name="connsiteY55" fmla="*/ 160376 h 595271"/>
              <a:gd name="connsiteX56" fmla="*/ 202593 w 607780"/>
              <a:gd name="connsiteY56" fmla="*/ 194334 h 595271"/>
              <a:gd name="connsiteX57" fmla="*/ 202593 w 607780"/>
              <a:gd name="connsiteY57" fmla="*/ 295754 h 595271"/>
              <a:gd name="connsiteX58" fmla="*/ 192167 w 607780"/>
              <a:gd name="connsiteY58" fmla="*/ 306164 h 595271"/>
              <a:gd name="connsiteX59" fmla="*/ 10426 w 607780"/>
              <a:gd name="connsiteY59" fmla="*/ 306164 h 595271"/>
              <a:gd name="connsiteX60" fmla="*/ 0 w 607780"/>
              <a:gd name="connsiteY60" fmla="*/ 295754 h 595271"/>
              <a:gd name="connsiteX61" fmla="*/ 0 w 607780"/>
              <a:gd name="connsiteY61" fmla="*/ 194334 h 595271"/>
              <a:gd name="connsiteX62" fmla="*/ 34010 w 607780"/>
              <a:gd name="connsiteY62" fmla="*/ 160376 h 595271"/>
              <a:gd name="connsiteX63" fmla="*/ 330342 w 607780"/>
              <a:gd name="connsiteY63" fmla="*/ 21924 h 595271"/>
              <a:gd name="connsiteX64" fmla="*/ 340102 w 607780"/>
              <a:gd name="connsiteY64" fmla="*/ 24538 h 595271"/>
              <a:gd name="connsiteX65" fmla="*/ 396777 w 607780"/>
              <a:gd name="connsiteY65" fmla="*/ 80951 h 595271"/>
              <a:gd name="connsiteX66" fmla="*/ 392274 w 607780"/>
              <a:gd name="connsiteY66" fmla="*/ 97870 h 595271"/>
              <a:gd name="connsiteX67" fmla="*/ 314952 w 607780"/>
              <a:gd name="connsiteY67" fmla="*/ 118627 h 595271"/>
              <a:gd name="connsiteX68" fmla="*/ 302554 w 607780"/>
              <a:gd name="connsiteY68" fmla="*/ 106253 h 595271"/>
              <a:gd name="connsiteX69" fmla="*/ 306856 w 607780"/>
              <a:gd name="connsiteY69" fmla="*/ 90193 h 595271"/>
              <a:gd name="connsiteX70" fmla="*/ 244361 w 607780"/>
              <a:gd name="connsiteY70" fmla="*/ 94132 h 595271"/>
              <a:gd name="connsiteX71" fmla="*/ 228876 w 607780"/>
              <a:gd name="connsiteY71" fmla="*/ 83981 h 595271"/>
              <a:gd name="connsiteX72" fmla="*/ 224828 w 607780"/>
              <a:gd name="connsiteY72" fmla="*/ 67062 h 595271"/>
              <a:gd name="connsiteX73" fmla="*/ 235505 w 607780"/>
              <a:gd name="connsiteY73" fmla="*/ 50699 h 595271"/>
              <a:gd name="connsiteX74" fmla="*/ 318494 w 607780"/>
              <a:gd name="connsiteY74" fmla="*/ 46659 h 595271"/>
              <a:gd name="connsiteX75" fmla="*/ 323200 w 607780"/>
              <a:gd name="connsiteY75" fmla="*/ 29083 h 595271"/>
              <a:gd name="connsiteX76" fmla="*/ 330342 w 607780"/>
              <a:gd name="connsiteY76" fmla="*/ 21924 h 595271"/>
              <a:gd name="connsiteX77" fmla="*/ 552065 w 607780"/>
              <a:gd name="connsiteY77" fmla="*/ 196 h 595271"/>
              <a:gd name="connsiteX78" fmla="*/ 568052 w 607780"/>
              <a:gd name="connsiteY78" fmla="*/ 13690 h 595271"/>
              <a:gd name="connsiteX79" fmla="*/ 568052 w 607780"/>
              <a:gd name="connsiteY79" fmla="*/ 79039 h 595271"/>
              <a:gd name="connsiteX80" fmla="*/ 506484 w 607780"/>
              <a:gd name="connsiteY80" fmla="*/ 140547 h 595271"/>
              <a:gd name="connsiteX81" fmla="*/ 444915 w 607780"/>
              <a:gd name="connsiteY81" fmla="*/ 79039 h 595271"/>
              <a:gd name="connsiteX82" fmla="*/ 444915 w 607780"/>
              <a:gd name="connsiteY82" fmla="*/ 50080 h 595271"/>
              <a:gd name="connsiteX83" fmla="*/ 473296 w 607780"/>
              <a:gd name="connsiteY83" fmla="*/ 15459 h 595271"/>
              <a:gd name="connsiteX84" fmla="*/ 552065 w 607780"/>
              <a:gd name="connsiteY84" fmla="*/ 196 h 595271"/>
              <a:gd name="connsiteX85" fmla="*/ 146938 w 607780"/>
              <a:gd name="connsiteY85" fmla="*/ 196 h 595271"/>
              <a:gd name="connsiteX86" fmla="*/ 162936 w 607780"/>
              <a:gd name="connsiteY86" fmla="*/ 13690 h 595271"/>
              <a:gd name="connsiteX87" fmla="*/ 162936 w 607780"/>
              <a:gd name="connsiteY87" fmla="*/ 79039 h 595271"/>
              <a:gd name="connsiteX88" fmla="*/ 101322 w 607780"/>
              <a:gd name="connsiteY88" fmla="*/ 140547 h 595271"/>
              <a:gd name="connsiteX89" fmla="*/ 39658 w 607780"/>
              <a:gd name="connsiteY89" fmla="*/ 79039 h 595271"/>
              <a:gd name="connsiteX90" fmla="*/ 39658 w 607780"/>
              <a:gd name="connsiteY90" fmla="*/ 50080 h 595271"/>
              <a:gd name="connsiteX91" fmla="*/ 68060 w 607780"/>
              <a:gd name="connsiteY91" fmla="*/ 15459 h 595271"/>
              <a:gd name="connsiteX92" fmla="*/ 146938 w 607780"/>
              <a:gd name="connsiteY92" fmla="*/ 196 h 59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7780" h="595271">
                <a:moveTo>
                  <a:pt x="236607" y="449483"/>
                </a:moveTo>
                <a:lnTo>
                  <a:pt x="371243" y="449483"/>
                </a:lnTo>
                <a:cubicBezTo>
                  <a:pt x="390022" y="449483"/>
                  <a:pt x="405257" y="464643"/>
                  <a:pt x="405257" y="483441"/>
                </a:cubicBezTo>
                <a:lnTo>
                  <a:pt x="405257" y="584811"/>
                </a:lnTo>
                <a:cubicBezTo>
                  <a:pt x="405257" y="590571"/>
                  <a:pt x="400550" y="595271"/>
                  <a:pt x="394780" y="595271"/>
                </a:cubicBezTo>
                <a:lnTo>
                  <a:pt x="213070" y="595271"/>
                </a:lnTo>
                <a:cubicBezTo>
                  <a:pt x="207300" y="595271"/>
                  <a:pt x="202593" y="590571"/>
                  <a:pt x="202593" y="584811"/>
                </a:cubicBezTo>
                <a:lnTo>
                  <a:pt x="202593" y="483441"/>
                </a:lnTo>
                <a:cubicBezTo>
                  <a:pt x="202593" y="464643"/>
                  <a:pt x="217828" y="449483"/>
                  <a:pt x="236607" y="449483"/>
                </a:cubicBezTo>
                <a:close/>
                <a:moveTo>
                  <a:pt x="541892" y="348260"/>
                </a:moveTo>
                <a:cubicBezTo>
                  <a:pt x="545169" y="347584"/>
                  <a:pt x="548699" y="348115"/>
                  <a:pt x="551736" y="349985"/>
                </a:cubicBezTo>
                <a:lnTo>
                  <a:pt x="566566" y="359133"/>
                </a:lnTo>
                <a:cubicBezTo>
                  <a:pt x="573145" y="363176"/>
                  <a:pt x="574967" y="371868"/>
                  <a:pt x="570614" y="378236"/>
                </a:cubicBezTo>
                <a:cubicBezTo>
                  <a:pt x="554925" y="401232"/>
                  <a:pt x="536249" y="421852"/>
                  <a:pt x="514841" y="439743"/>
                </a:cubicBezTo>
                <a:lnTo>
                  <a:pt x="523951" y="455460"/>
                </a:lnTo>
                <a:cubicBezTo>
                  <a:pt x="527848" y="462182"/>
                  <a:pt x="522989" y="470622"/>
                  <a:pt x="515195" y="470622"/>
                </a:cubicBezTo>
                <a:lnTo>
                  <a:pt x="435128" y="470723"/>
                </a:lnTo>
                <a:cubicBezTo>
                  <a:pt x="427334" y="470723"/>
                  <a:pt x="422475" y="462334"/>
                  <a:pt x="426372" y="455561"/>
                </a:cubicBezTo>
                <a:lnTo>
                  <a:pt x="466304" y="386323"/>
                </a:lnTo>
                <a:cubicBezTo>
                  <a:pt x="470202" y="379550"/>
                  <a:pt x="479919" y="379550"/>
                  <a:pt x="483816" y="386272"/>
                </a:cubicBezTo>
                <a:lnTo>
                  <a:pt x="492167" y="400676"/>
                </a:lnTo>
                <a:cubicBezTo>
                  <a:pt x="507856" y="386777"/>
                  <a:pt x="521724" y="371060"/>
                  <a:pt x="533567" y="353775"/>
                </a:cubicBezTo>
                <a:cubicBezTo>
                  <a:pt x="535592" y="350819"/>
                  <a:pt x="538616" y="348936"/>
                  <a:pt x="541892" y="348260"/>
                </a:cubicBezTo>
                <a:close/>
                <a:moveTo>
                  <a:pt x="64200" y="336864"/>
                </a:moveTo>
                <a:cubicBezTo>
                  <a:pt x="67154" y="335165"/>
                  <a:pt x="70949" y="334925"/>
                  <a:pt x="74313" y="336871"/>
                </a:cubicBezTo>
                <a:lnTo>
                  <a:pt x="143681" y="376748"/>
                </a:lnTo>
                <a:cubicBezTo>
                  <a:pt x="150410" y="380639"/>
                  <a:pt x="150410" y="390343"/>
                  <a:pt x="143681" y="394235"/>
                </a:cubicBezTo>
                <a:lnTo>
                  <a:pt x="129261" y="402574"/>
                </a:lnTo>
                <a:cubicBezTo>
                  <a:pt x="143225" y="418242"/>
                  <a:pt x="158910" y="432090"/>
                  <a:pt x="176214" y="443917"/>
                </a:cubicBezTo>
                <a:cubicBezTo>
                  <a:pt x="182134" y="447960"/>
                  <a:pt x="183753" y="455945"/>
                  <a:pt x="180009" y="462061"/>
                </a:cubicBezTo>
                <a:lnTo>
                  <a:pt x="170902" y="476869"/>
                </a:lnTo>
                <a:cubicBezTo>
                  <a:pt x="166803" y="483440"/>
                  <a:pt x="158101" y="485259"/>
                  <a:pt x="151725" y="480913"/>
                </a:cubicBezTo>
                <a:cubicBezTo>
                  <a:pt x="128704" y="465245"/>
                  <a:pt x="108061" y="446545"/>
                  <a:pt x="90150" y="425166"/>
                </a:cubicBezTo>
                <a:lnTo>
                  <a:pt x="74414" y="434314"/>
                </a:lnTo>
                <a:cubicBezTo>
                  <a:pt x="67685" y="438205"/>
                  <a:pt x="59235" y="433353"/>
                  <a:pt x="59235" y="425570"/>
                </a:cubicBezTo>
                <a:lnTo>
                  <a:pt x="59134" y="345614"/>
                </a:lnTo>
                <a:cubicBezTo>
                  <a:pt x="59134" y="341723"/>
                  <a:pt x="61247" y="338564"/>
                  <a:pt x="64200" y="336864"/>
                </a:cubicBezTo>
                <a:close/>
                <a:moveTo>
                  <a:pt x="349533" y="289354"/>
                </a:moveTo>
                <a:cubicBezTo>
                  <a:pt x="357886" y="287888"/>
                  <a:pt x="365529" y="294308"/>
                  <a:pt x="365529" y="302800"/>
                </a:cubicBezTo>
                <a:lnTo>
                  <a:pt x="365529" y="368208"/>
                </a:lnTo>
                <a:cubicBezTo>
                  <a:pt x="365529" y="402177"/>
                  <a:pt x="337942" y="429725"/>
                  <a:pt x="303926" y="429725"/>
                </a:cubicBezTo>
                <a:cubicBezTo>
                  <a:pt x="269909" y="429725"/>
                  <a:pt x="242322" y="402177"/>
                  <a:pt x="242322" y="368208"/>
                </a:cubicBezTo>
                <a:lnTo>
                  <a:pt x="242322" y="339194"/>
                </a:lnTo>
                <a:cubicBezTo>
                  <a:pt x="242322" y="322412"/>
                  <a:pt x="254167" y="307905"/>
                  <a:pt x="270719" y="304569"/>
                </a:cubicBezTo>
                <a:cubicBezTo>
                  <a:pt x="296434" y="299413"/>
                  <a:pt x="332829" y="292185"/>
                  <a:pt x="349533" y="289354"/>
                </a:cubicBezTo>
                <a:close/>
                <a:moveTo>
                  <a:pt x="439205" y="160376"/>
                </a:moveTo>
                <a:lnTo>
                  <a:pt x="573782" y="160376"/>
                </a:lnTo>
                <a:cubicBezTo>
                  <a:pt x="592552" y="160376"/>
                  <a:pt x="607780" y="175587"/>
                  <a:pt x="607780" y="194334"/>
                </a:cubicBezTo>
                <a:lnTo>
                  <a:pt x="607780" y="295754"/>
                </a:lnTo>
                <a:cubicBezTo>
                  <a:pt x="607780" y="301515"/>
                  <a:pt x="603075" y="306164"/>
                  <a:pt x="597307" y="306164"/>
                </a:cubicBezTo>
                <a:lnTo>
                  <a:pt x="415679" y="306164"/>
                </a:lnTo>
                <a:cubicBezTo>
                  <a:pt x="409912" y="306164"/>
                  <a:pt x="405257" y="301515"/>
                  <a:pt x="405257" y="295754"/>
                </a:cubicBezTo>
                <a:lnTo>
                  <a:pt x="405257" y="194334"/>
                </a:lnTo>
                <a:cubicBezTo>
                  <a:pt x="405257" y="175587"/>
                  <a:pt x="420435" y="160376"/>
                  <a:pt x="439205" y="160376"/>
                </a:cubicBezTo>
                <a:close/>
                <a:moveTo>
                  <a:pt x="34010" y="160376"/>
                </a:moveTo>
                <a:lnTo>
                  <a:pt x="168583" y="160376"/>
                </a:lnTo>
                <a:cubicBezTo>
                  <a:pt x="187359" y="160376"/>
                  <a:pt x="202593" y="175587"/>
                  <a:pt x="202593" y="194334"/>
                </a:cubicBezTo>
                <a:lnTo>
                  <a:pt x="202593" y="295754"/>
                </a:lnTo>
                <a:cubicBezTo>
                  <a:pt x="202593" y="301515"/>
                  <a:pt x="197937" y="306164"/>
                  <a:pt x="192167" y="306164"/>
                </a:cubicBezTo>
                <a:lnTo>
                  <a:pt x="10426" y="306164"/>
                </a:lnTo>
                <a:cubicBezTo>
                  <a:pt x="4656" y="306164"/>
                  <a:pt x="0" y="301515"/>
                  <a:pt x="0" y="295754"/>
                </a:cubicBezTo>
                <a:lnTo>
                  <a:pt x="0" y="194334"/>
                </a:lnTo>
                <a:cubicBezTo>
                  <a:pt x="0" y="175587"/>
                  <a:pt x="15234" y="160376"/>
                  <a:pt x="34010" y="160376"/>
                </a:cubicBezTo>
                <a:close/>
                <a:moveTo>
                  <a:pt x="330342" y="21924"/>
                </a:moveTo>
                <a:cubicBezTo>
                  <a:pt x="333625" y="21041"/>
                  <a:pt x="337344" y="21786"/>
                  <a:pt x="340102" y="24538"/>
                </a:cubicBezTo>
                <a:lnTo>
                  <a:pt x="396777" y="80951"/>
                </a:lnTo>
                <a:cubicBezTo>
                  <a:pt x="402293" y="86456"/>
                  <a:pt x="399763" y="95850"/>
                  <a:pt x="392274" y="97870"/>
                </a:cubicBezTo>
                <a:lnTo>
                  <a:pt x="314952" y="118627"/>
                </a:lnTo>
                <a:cubicBezTo>
                  <a:pt x="307463" y="120647"/>
                  <a:pt x="300530" y="113779"/>
                  <a:pt x="302554" y="106253"/>
                </a:cubicBezTo>
                <a:lnTo>
                  <a:pt x="306856" y="90193"/>
                </a:lnTo>
                <a:cubicBezTo>
                  <a:pt x="285906" y="88981"/>
                  <a:pt x="265007" y="90294"/>
                  <a:pt x="244361" y="94132"/>
                </a:cubicBezTo>
                <a:cubicBezTo>
                  <a:pt x="237327" y="95446"/>
                  <a:pt x="230496" y="90951"/>
                  <a:pt x="228876" y="83981"/>
                </a:cubicBezTo>
                <a:lnTo>
                  <a:pt x="224828" y="67062"/>
                </a:lnTo>
                <a:cubicBezTo>
                  <a:pt x="223057" y="59588"/>
                  <a:pt x="227915" y="52164"/>
                  <a:pt x="235505" y="50699"/>
                </a:cubicBezTo>
                <a:cubicBezTo>
                  <a:pt x="262882" y="45548"/>
                  <a:pt x="290713" y="44184"/>
                  <a:pt x="318494" y="46659"/>
                </a:cubicBezTo>
                <a:lnTo>
                  <a:pt x="323200" y="29083"/>
                </a:lnTo>
                <a:cubicBezTo>
                  <a:pt x="324213" y="25321"/>
                  <a:pt x="327059" y="22808"/>
                  <a:pt x="330342" y="21924"/>
                </a:cubicBezTo>
                <a:close/>
                <a:moveTo>
                  <a:pt x="552065" y="196"/>
                </a:moveTo>
                <a:cubicBezTo>
                  <a:pt x="560413" y="-1219"/>
                  <a:pt x="568052" y="5200"/>
                  <a:pt x="568052" y="13690"/>
                </a:cubicBezTo>
                <a:lnTo>
                  <a:pt x="568052" y="79039"/>
                </a:lnTo>
                <a:cubicBezTo>
                  <a:pt x="568052" y="113053"/>
                  <a:pt x="540480" y="140547"/>
                  <a:pt x="506484" y="140547"/>
                </a:cubicBezTo>
                <a:cubicBezTo>
                  <a:pt x="472487" y="140547"/>
                  <a:pt x="444915" y="113053"/>
                  <a:pt x="444915" y="79039"/>
                </a:cubicBezTo>
                <a:lnTo>
                  <a:pt x="444915" y="50080"/>
                </a:lnTo>
                <a:cubicBezTo>
                  <a:pt x="444915" y="33250"/>
                  <a:pt x="456804" y="18744"/>
                  <a:pt x="473296" y="15459"/>
                </a:cubicBezTo>
                <a:cubicBezTo>
                  <a:pt x="498996" y="10254"/>
                  <a:pt x="535371" y="3077"/>
                  <a:pt x="552065" y="196"/>
                </a:cubicBezTo>
                <a:close/>
                <a:moveTo>
                  <a:pt x="146938" y="196"/>
                </a:moveTo>
                <a:cubicBezTo>
                  <a:pt x="155291" y="-1219"/>
                  <a:pt x="162936" y="5200"/>
                  <a:pt x="162936" y="13690"/>
                </a:cubicBezTo>
                <a:lnTo>
                  <a:pt x="162936" y="79039"/>
                </a:lnTo>
                <a:cubicBezTo>
                  <a:pt x="162936" y="113053"/>
                  <a:pt x="135344" y="140547"/>
                  <a:pt x="101322" y="140547"/>
                </a:cubicBezTo>
                <a:cubicBezTo>
                  <a:pt x="67250" y="140547"/>
                  <a:pt x="39658" y="113053"/>
                  <a:pt x="39658" y="79039"/>
                </a:cubicBezTo>
                <a:lnTo>
                  <a:pt x="39658" y="50080"/>
                </a:lnTo>
                <a:cubicBezTo>
                  <a:pt x="39658" y="33250"/>
                  <a:pt x="51555" y="18744"/>
                  <a:pt x="68060" y="15459"/>
                </a:cubicBezTo>
                <a:cubicBezTo>
                  <a:pt x="93829" y="10254"/>
                  <a:pt x="130231" y="3077"/>
                  <a:pt x="146938" y="196"/>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5" name="直接连接符 64"/>
          <p:cNvCxnSpPr/>
          <p:nvPr/>
        </p:nvCxnSpPr>
        <p:spPr>
          <a:xfrm>
            <a:off x="9646149"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15" name="ïṡḷiḍê"/>
          <p:cNvSpPr txBox="1"/>
          <p:nvPr/>
        </p:nvSpPr>
        <p:spPr bwMode="auto">
          <a:xfrm>
            <a:off x="566653" y="1999423"/>
            <a:ext cx="2196000" cy="828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panose="020B0503020204020204" pitchFamily="34" charset="-122"/>
                <a:ea typeface="微软雅黑" panose="020B0503020204020204" pitchFamily="34" charset="-122"/>
              </a:rPr>
              <a:t>自动化低</a:t>
            </a:r>
            <a:r>
              <a:rPr lang="zh-CN" altLang="en-US" dirty="0">
                <a:solidFill>
                  <a:schemeClr val="accent5"/>
                </a:solidFill>
                <a:latin typeface="微软雅黑" panose="020B0503020204020204" pitchFamily="34" charset="-122"/>
                <a:ea typeface="微软雅黑" panose="020B0503020204020204" pitchFamily="34" charset="-122"/>
              </a:rPr>
              <a:t>长</a:t>
            </a:r>
            <a:r>
              <a:rPr lang="en-US" altLang="zh-CN" dirty="0">
                <a:solidFill>
                  <a:schemeClr val="accent5"/>
                </a:solidFill>
                <a:latin typeface="微软雅黑" panose="020B0503020204020204" pitchFamily="34" charset="-122"/>
                <a:ea typeface="微软雅黑" panose="020B0503020204020204" pitchFamily="34" charset="-122"/>
              </a:rPr>
              <a:t> </a:t>
            </a:r>
            <a:r>
              <a:rPr lang="en-US" altLang="zh-CN" dirty="0">
                <a:solidFill>
                  <a:schemeClr val="bg1"/>
                </a:solidFill>
                <a:latin typeface="微软雅黑" panose="020B0503020204020204" pitchFamily="34" charset="-122"/>
                <a:ea typeface="微软雅黑" panose="020B0503020204020204" pitchFamily="34" charset="-122"/>
              </a:rPr>
              <a:t>| 10%</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16" name="i$ľïdé"/>
          <p:cNvSpPr txBox="1"/>
          <p:nvPr/>
        </p:nvSpPr>
        <p:spPr bwMode="auto">
          <a:xfrm>
            <a:off x="566653" y="2953486"/>
            <a:ext cx="2196000" cy="1548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panose="020B0503020204020204" pitchFamily="34" charset="-122"/>
                <a:ea typeface="微软雅黑" panose="020B0503020204020204" pitchFamily="34" charset="-122"/>
              </a:rPr>
              <a:t>数据质量差</a:t>
            </a:r>
            <a:r>
              <a:rPr lang="en-US" altLang="zh-CN" dirty="0">
                <a:solidFill>
                  <a:schemeClr val="bg1"/>
                </a:solidFill>
                <a:latin typeface="微软雅黑" panose="020B0503020204020204" pitchFamily="34" charset="-122"/>
                <a:ea typeface="微软雅黑" panose="020B0503020204020204" pitchFamily="34" charset="-122"/>
              </a:rPr>
              <a:t> | 50%</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17" name="iṧľîďé"/>
          <p:cNvSpPr txBox="1"/>
          <p:nvPr/>
        </p:nvSpPr>
        <p:spPr bwMode="auto">
          <a:xfrm>
            <a:off x="566653" y="4639082"/>
            <a:ext cx="2196000" cy="576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panose="020B0503020204020204" pitchFamily="34" charset="-122"/>
                <a:ea typeface="微软雅黑" panose="020B0503020204020204" pitchFamily="34" charset="-122"/>
              </a:rPr>
              <a:t>核价周期长</a:t>
            </a:r>
            <a:r>
              <a:rPr lang="en-US" altLang="zh-CN" dirty="0">
                <a:solidFill>
                  <a:schemeClr val="bg1"/>
                </a:solidFill>
                <a:latin typeface="微软雅黑" panose="020B0503020204020204" pitchFamily="34" charset="-122"/>
                <a:ea typeface="微软雅黑" panose="020B0503020204020204" pitchFamily="34" charset="-122"/>
              </a:rPr>
              <a:t>  | 5days</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18" name="iṧľîďé"/>
          <p:cNvSpPr txBox="1"/>
          <p:nvPr/>
        </p:nvSpPr>
        <p:spPr bwMode="auto">
          <a:xfrm>
            <a:off x="566653" y="5359924"/>
            <a:ext cx="2196000" cy="1296000"/>
          </a:xfrm>
          <a:prstGeom prst="rect">
            <a:avLst/>
          </a:prstGeom>
          <a:solidFill>
            <a:schemeClr val="accent5"/>
          </a:solidFill>
          <a:ln>
            <a:noFill/>
          </a:ln>
        </p:spPr>
        <p:txBody>
          <a:bodyPr wrap="non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solidFill>
                  <a:schemeClr val="bg1"/>
                </a:solidFill>
                <a:latin typeface="微软雅黑" panose="020B0503020204020204" pitchFamily="34" charset="-122"/>
                <a:ea typeface="微软雅黑" panose="020B0503020204020204" pitchFamily="34" charset="-122"/>
              </a:rPr>
              <a:t>分析效率低  </a:t>
            </a:r>
            <a:r>
              <a:rPr lang="en-US" altLang="zh-CN" dirty="0">
                <a:solidFill>
                  <a:schemeClr val="bg1"/>
                </a:solidFill>
                <a:latin typeface="微软雅黑" panose="020B0503020204020204" pitchFamily="34" charset="-122"/>
                <a:ea typeface="微软雅黑" panose="020B0503020204020204" pitchFamily="34" charset="-122"/>
              </a:rPr>
              <a:t>| 10%</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19" name="isḻíḓe"/>
          <p:cNvSpPr/>
          <p:nvPr/>
        </p:nvSpPr>
        <p:spPr bwMode="auto">
          <a:xfrm>
            <a:off x="2853866" y="1999423"/>
            <a:ext cx="6912000" cy="828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产品报价</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、替代规则未线上化，无法快速动态生成产品报价</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标准产品可选配置不清晰，个别标准产品长期未固化，使用手工</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核价效率低；</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产品单位材料成本、产品单位成本测算全部依赖线下底稿，效率低下。</a:t>
            </a:r>
            <a:endParaRPr lang="en-US" altLang="zh-CN" sz="1400" dirty="0">
              <a:latin typeface="微软雅黑" panose="020B0503020204020204" pitchFamily="34" charset="-122"/>
              <a:ea typeface="微软雅黑" panose="020B0503020204020204" pitchFamily="34" charset="-122"/>
            </a:endParaRPr>
          </a:p>
        </p:txBody>
      </p:sp>
      <p:sp>
        <p:nvSpPr>
          <p:cNvPr id="123" name="isḻíḓe"/>
          <p:cNvSpPr/>
          <p:nvPr/>
        </p:nvSpPr>
        <p:spPr bwMode="auto">
          <a:xfrm>
            <a:off x="2853866" y="2953486"/>
            <a:ext cx="6912000" cy="1548000"/>
          </a:xfrm>
          <a:prstGeom prst="rect">
            <a:avLst/>
          </a:prstGeom>
          <a:solidFill>
            <a:schemeClr val="accent5">
              <a:lumMod val="20000"/>
              <a:lumOff val="80000"/>
            </a:schemeClr>
          </a:solidFill>
          <a:ln>
            <a:noFill/>
          </a:ln>
        </p:spPr>
        <p:txBody>
          <a:bodyPr wrap="square" lIns="72000" tIns="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产品标准</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、损耗率、制费率的界定规则不清晰。制费率使用</a:t>
            </a:r>
            <a:r>
              <a:rPr lang="en-US" altLang="zh-CN" sz="1400" dirty="0">
                <a:latin typeface="微软雅黑" panose="020B0503020204020204" pitchFamily="34" charset="-122"/>
                <a:ea typeface="微软雅黑" panose="020B0503020204020204" pitchFamily="34" charset="-122"/>
              </a:rPr>
              <a:t>1.12/1.16</a:t>
            </a:r>
            <a:r>
              <a:rPr lang="zh-CN" altLang="en-US" sz="1400" dirty="0">
                <a:latin typeface="微软雅黑" panose="020B0503020204020204" pitchFamily="34" charset="-122"/>
                <a:ea typeface="微软雅黑" panose="020B0503020204020204" pitchFamily="34" charset="-122"/>
              </a:rPr>
              <a:t>这两个多年的公司的经验值，未及时跟财务制费率预估联动，无法最贴合各产品线实际制费率情况；损耗率包含哪些损耗（</a:t>
            </a:r>
            <a:r>
              <a:rPr lang="en-US" altLang="zh-CN" sz="1400" dirty="0">
                <a:latin typeface="微软雅黑" panose="020B0503020204020204" pitchFamily="34" charset="-122"/>
                <a:ea typeface="微软雅黑" panose="020B0503020204020204" pitchFamily="34" charset="-122"/>
              </a:rPr>
              <a:t> BOM</a:t>
            </a:r>
            <a:r>
              <a:rPr lang="zh-CN" altLang="en-US" sz="1400" dirty="0">
                <a:latin typeface="微软雅黑" panose="020B0503020204020204" pitchFamily="34" charset="-122"/>
                <a:ea typeface="微软雅黑" panose="020B0503020204020204" pitchFamily="34" charset="-122"/>
              </a:rPr>
              <a:t>、工单、订单（特殊工艺）的损耗？）不清晰，</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导致准确性无法保障。</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产品单位材料成本、产品单位成本测算全部依赖线下底稿，</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系统物料成本定期失效或过期导致准确性差，数据质量差。</a:t>
            </a:r>
            <a:endParaRPr lang="en-US" altLang="zh-CN" sz="1400" dirty="0">
              <a:latin typeface="微软雅黑" panose="020B0503020204020204" pitchFamily="34" charset="-122"/>
              <a:ea typeface="微软雅黑" panose="020B0503020204020204" pitchFamily="34" charset="-122"/>
            </a:endParaRPr>
          </a:p>
        </p:txBody>
      </p:sp>
      <p:sp>
        <p:nvSpPr>
          <p:cNvPr id="124" name="isḻíḓe"/>
          <p:cNvSpPr/>
          <p:nvPr/>
        </p:nvSpPr>
        <p:spPr bwMode="auto">
          <a:xfrm>
            <a:off x="2853866" y="4639082"/>
            <a:ext cx="6912000" cy="576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从客户角度看，报价周期长达</a:t>
            </a:r>
            <a:r>
              <a:rPr lang="en-US" altLang="zh-CN" sz="1400" dirty="0">
                <a:latin typeface="微软雅黑" panose="020B0503020204020204" pitchFamily="34" charset="-122"/>
                <a:ea typeface="微软雅黑" panose="020B0503020204020204" pitchFamily="34" charset="-122"/>
              </a:rPr>
              <a:t>2-5</a:t>
            </a:r>
            <a:r>
              <a:rPr lang="zh-CN" altLang="en-US" sz="1400" dirty="0">
                <a:latin typeface="微软雅黑" panose="020B0503020204020204" pitchFamily="34" charset="-122"/>
                <a:ea typeface="微软雅黑" panose="020B0503020204020204" pitchFamily="34" charset="-122"/>
              </a:rPr>
              <a:t>天，当前报价流程复杂，经过多人手工处理，系统信息流未有效贯穿，导致效率低下，无法满足公司高层和市场对产品快速报价的需求。</a:t>
            </a:r>
            <a:endParaRPr lang="en-US" altLang="zh-CN" sz="1400" dirty="0">
              <a:latin typeface="微软雅黑" panose="020B0503020204020204" pitchFamily="34" charset="-122"/>
              <a:ea typeface="微软雅黑" panose="020B0503020204020204" pitchFamily="34" charset="-122"/>
            </a:endParaRPr>
          </a:p>
        </p:txBody>
      </p:sp>
      <p:sp>
        <p:nvSpPr>
          <p:cNvPr id="125" name="isḻíḓe"/>
          <p:cNvSpPr/>
          <p:nvPr/>
        </p:nvSpPr>
        <p:spPr bwMode="auto">
          <a:xfrm>
            <a:off x="2853866" y="5359924"/>
            <a:ext cx="6912000" cy="1296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产品单位成本测算报价后未能有效跟踪，进行预测和实际的数据分析，有效跟踪报价环节的问题；</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产品报价后实际成本无法知悉（后台会根据交期时间可能会更换物料、或挪用更早期的库存产品）；</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低毛利项目需要成本优化时周期较长，无法快速响应。</a:t>
            </a:r>
            <a:endParaRPr lang="en-US" altLang="zh-CN" sz="1400" dirty="0">
              <a:latin typeface="微软雅黑" panose="020B0503020204020204" pitchFamily="34" charset="-122"/>
              <a:ea typeface="微软雅黑" panose="020B0503020204020204" pitchFamily="34" charset="-122"/>
            </a:endParaRPr>
          </a:p>
        </p:txBody>
      </p:sp>
      <p:grpSp>
        <p:nvGrpSpPr>
          <p:cNvPr id="38" name="í$1ïḋê"/>
          <p:cNvGrpSpPr/>
          <p:nvPr/>
        </p:nvGrpSpPr>
        <p:grpSpPr>
          <a:xfrm>
            <a:off x="9826322" y="2492897"/>
            <a:ext cx="2334921" cy="2533334"/>
            <a:chOff x="6817634" y="1924318"/>
            <a:chExt cx="3604981" cy="3415764"/>
          </a:xfrm>
        </p:grpSpPr>
        <p:grpSp>
          <p:nvGrpSpPr>
            <p:cNvPr id="39" name="íṩliḑê"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817634" y="1924318"/>
              <a:ext cx="3604981" cy="3415764"/>
              <a:chOff x="4293509" y="1924318"/>
              <a:chExt cx="3604981" cy="3415764"/>
            </a:xfrm>
          </p:grpSpPr>
          <p:sp>
            <p:nvSpPr>
              <p:cNvPr id="44" name="ïsľíḓé"/>
              <p:cNvSpPr/>
              <p:nvPr/>
            </p:nvSpPr>
            <p:spPr bwMode="auto">
              <a:xfrm>
                <a:off x="4965624" y="4326982"/>
                <a:ext cx="991419" cy="995361"/>
              </a:xfrm>
              <a:custGeom>
                <a:avLst/>
                <a:gdLst>
                  <a:gd name="T0" fmla="*/ 3263 w 3274"/>
                  <a:gd name="T1" fmla="*/ 283 h 3295"/>
                  <a:gd name="T2" fmla="*/ 3263 w 3274"/>
                  <a:gd name="T3" fmla="*/ 219 h 3295"/>
                  <a:gd name="T4" fmla="*/ 3274 w 3274"/>
                  <a:gd name="T5" fmla="*/ 0 h 3295"/>
                  <a:gd name="T6" fmla="*/ 2672 w 3274"/>
                  <a:gd name="T7" fmla="*/ 1156 h 3295"/>
                  <a:gd name="T8" fmla="*/ 2282 w 3274"/>
                  <a:gd name="T9" fmla="*/ 1442 h 3295"/>
                  <a:gd name="T10" fmla="*/ 818 w 3274"/>
                  <a:gd name="T11" fmla="*/ 1470 h 3295"/>
                  <a:gd name="T12" fmla="*/ 498 w 3274"/>
                  <a:gd name="T13" fmla="*/ 1527 h 3295"/>
                  <a:gd name="T14" fmla="*/ 0 w 3274"/>
                  <a:gd name="T15" fmla="*/ 1660 h 3295"/>
                  <a:gd name="T16" fmla="*/ 3204 w 3274"/>
                  <a:gd name="T17" fmla="*/ 3295 h 3295"/>
                  <a:gd name="T18" fmla="*/ 3216 w 3274"/>
                  <a:gd name="T19" fmla="*/ 1842 h 3295"/>
                  <a:gd name="T20" fmla="*/ 3263 w 3274"/>
                  <a:gd name="T21" fmla="*/ 283 h 3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4" h="3295">
                    <a:moveTo>
                      <a:pt x="3263" y="283"/>
                    </a:moveTo>
                    <a:cubicBezTo>
                      <a:pt x="3263" y="219"/>
                      <a:pt x="3263" y="219"/>
                      <a:pt x="3263" y="219"/>
                    </a:cubicBezTo>
                    <a:cubicBezTo>
                      <a:pt x="3267" y="151"/>
                      <a:pt x="3271" y="77"/>
                      <a:pt x="3274" y="0"/>
                    </a:cubicBezTo>
                    <a:cubicBezTo>
                      <a:pt x="2672" y="1156"/>
                      <a:pt x="2672" y="1156"/>
                      <a:pt x="2672" y="1156"/>
                    </a:cubicBezTo>
                    <a:cubicBezTo>
                      <a:pt x="2593" y="1307"/>
                      <a:pt x="2449" y="1412"/>
                      <a:pt x="2282" y="1442"/>
                    </a:cubicBezTo>
                    <a:cubicBezTo>
                      <a:pt x="818" y="1470"/>
                      <a:pt x="818" y="1470"/>
                      <a:pt x="818" y="1470"/>
                    </a:cubicBezTo>
                    <a:cubicBezTo>
                      <a:pt x="498" y="1527"/>
                      <a:pt x="498" y="1527"/>
                      <a:pt x="498" y="1527"/>
                    </a:cubicBezTo>
                    <a:cubicBezTo>
                      <a:pt x="0" y="1660"/>
                      <a:pt x="0" y="1660"/>
                      <a:pt x="0" y="1660"/>
                    </a:cubicBezTo>
                    <a:cubicBezTo>
                      <a:pt x="842" y="2519"/>
                      <a:pt x="1957" y="3110"/>
                      <a:pt x="3204" y="3295"/>
                    </a:cubicBezTo>
                    <a:cubicBezTo>
                      <a:pt x="3216" y="1842"/>
                      <a:pt x="3216" y="1842"/>
                      <a:pt x="3216" y="1842"/>
                    </a:cubicBezTo>
                    <a:lnTo>
                      <a:pt x="3263" y="283"/>
                    </a:lnTo>
                    <a:close/>
                  </a:path>
                </a:pathLst>
              </a:custGeom>
              <a:solidFill>
                <a:schemeClr val="accent1"/>
              </a:solidFill>
              <a:ln>
                <a:noFill/>
              </a:ln>
            </p:spPr>
            <p:txBody>
              <a:bodyPr anchor="ctr"/>
              <a:lstStyle/>
              <a:p>
                <a:pPr algn="ctr"/>
              </a:p>
            </p:txBody>
          </p:sp>
          <p:sp>
            <p:nvSpPr>
              <p:cNvPr id="45" name="îṧ1ïḋè"/>
              <p:cNvSpPr/>
              <p:nvPr/>
            </p:nvSpPr>
            <p:spPr bwMode="auto">
              <a:xfrm>
                <a:off x="4476813" y="1924318"/>
                <a:ext cx="3421677" cy="3094490"/>
              </a:xfrm>
              <a:custGeom>
                <a:avLst/>
                <a:gdLst>
                  <a:gd name="T0" fmla="*/ 11314 w 11314"/>
                  <a:gd name="T1" fmla="*/ 5657 h 10249"/>
                  <a:gd name="T2" fmla="*/ 5657 w 11314"/>
                  <a:gd name="T3" fmla="*/ 0 h 10249"/>
                  <a:gd name="T4" fmla="*/ 0 w 11314"/>
                  <a:gd name="T5" fmla="*/ 5657 h 10249"/>
                  <a:gd name="T6" fmla="*/ 367 w 11314"/>
                  <a:gd name="T7" fmla="*/ 7664 h 10249"/>
                  <a:gd name="T8" fmla="*/ 849 w 11314"/>
                  <a:gd name="T9" fmla="*/ 7090 h 10249"/>
                  <a:gd name="T10" fmla="*/ 948 w 11314"/>
                  <a:gd name="T11" fmla="*/ 7088 h 10249"/>
                  <a:gd name="T12" fmla="*/ 1328 w 11314"/>
                  <a:gd name="T13" fmla="*/ 7278 h 10249"/>
                  <a:gd name="T14" fmla="*/ 1481 w 11314"/>
                  <a:gd name="T15" fmla="*/ 7781 h 10249"/>
                  <a:gd name="T16" fmla="*/ 1588 w 11314"/>
                  <a:gd name="T17" fmla="*/ 8697 h 10249"/>
                  <a:gd name="T18" fmla="*/ 1868 w 11314"/>
                  <a:gd name="T19" fmla="*/ 8647 h 10249"/>
                  <a:gd name="T20" fmla="*/ 3445 w 11314"/>
                  <a:gd name="T21" fmla="*/ 8369 h 10249"/>
                  <a:gd name="T22" fmla="*/ 4261 w 11314"/>
                  <a:gd name="T23" fmla="*/ 6805 h 10249"/>
                  <a:gd name="T24" fmla="*/ 4242 w 11314"/>
                  <a:gd name="T25" fmla="*/ 6651 h 10249"/>
                  <a:gd name="T26" fmla="*/ 4893 w 11314"/>
                  <a:gd name="T27" fmla="*/ 6000 h 10249"/>
                  <a:gd name="T28" fmla="*/ 4904 w 11314"/>
                  <a:gd name="T29" fmla="*/ 6000 h 10249"/>
                  <a:gd name="T30" fmla="*/ 4903 w 11314"/>
                  <a:gd name="T31" fmla="*/ 5997 h 10249"/>
                  <a:gd name="T32" fmla="*/ 5452 w 11314"/>
                  <a:gd name="T33" fmla="*/ 5997 h 10249"/>
                  <a:gd name="T34" fmla="*/ 5452 w 11314"/>
                  <a:gd name="T35" fmla="*/ 5997 h 10249"/>
                  <a:gd name="T36" fmla="*/ 5888 w 11314"/>
                  <a:gd name="T37" fmla="*/ 5881 h 10249"/>
                  <a:gd name="T38" fmla="*/ 5891 w 11314"/>
                  <a:gd name="T39" fmla="*/ 5885 h 10249"/>
                  <a:gd name="T40" fmla="*/ 5826 w 11314"/>
                  <a:gd name="T41" fmla="*/ 5923 h 10249"/>
                  <a:gd name="T42" fmla="*/ 5566 w 11314"/>
                  <a:gd name="T43" fmla="*/ 6992 h 10249"/>
                  <a:gd name="T44" fmla="*/ 5923 w 11314"/>
                  <a:gd name="T45" fmla="*/ 7081 h 10249"/>
                  <a:gd name="T46" fmla="*/ 5685 w 11314"/>
                  <a:gd name="T47" fmla="*/ 7528 h 10249"/>
                  <a:gd name="T48" fmla="*/ 6685 w 11314"/>
                  <a:gd name="T49" fmla="*/ 9506 h 10249"/>
                  <a:gd name="T50" fmla="*/ 6871 w 11314"/>
                  <a:gd name="T51" fmla="*/ 9780 h 10249"/>
                  <a:gd name="T52" fmla="*/ 7107 w 11314"/>
                  <a:gd name="T53" fmla="*/ 10249 h 10249"/>
                  <a:gd name="T54" fmla="*/ 7108 w 11314"/>
                  <a:gd name="T55" fmla="*/ 10224 h 10249"/>
                  <a:gd name="T56" fmla="*/ 7212 w 11314"/>
                  <a:gd name="T57" fmla="*/ 9927 h 10249"/>
                  <a:gd name="T58" fmla="*/ 8425 w 11314"/>
                  <a:gd name="T59" fmla="*/ 7528 h 10249"/>
                  <a:gd name="T60" fmla="*/ 8186 w 11314"/>
                  <a:gd name="T61" fmla="*/ 7081 h 10249"/>
                  <a:gd name="T62" fmla="*/ 8544 w 11314"/>
                  <a:gd name="T63" fmla="*/ 6992 h 10249"/>
                  <a:gd name="T64" fmla="*/ 8283 w 11314"/>
                  <a:gd name="T65" fmla="*/ 5923 h 10249"/>
                  <a:gd name="T66" fmla="*/ 8219 w 11314"/>
                  <a:gd name="T67" fmla="*/ 5885 h 10249"/>
                  <a:gd name="T68" fmla="*/ 8221 w 11314"/>
                  <a:gd name="T69" fmla="*/ 5881 h 10249"/>
                  <a:gd name="T70" fmla="*/ 8658 w 11314"/>
                  <a:gd name="T71" fmla="*/ 5997 h 10249"/>
                  <a:gd name="T72" fmla="*/ 8658 w 11314"/>
                  <a:gd name="T73" fmla="*/ 5997 h 10249"/>
                  <a:gd name="T74" fmla="*/ 9277 w 11314"/>
                  <a:gd name="T75" fmla="*/ 5997 h 10249"/>
                  <a:gd name="T76" fmla="*/ 9696 w 11314"/>
                  <a:gd name="T77" fmla="*/ 6092 h 10249"/>
                  <a:gd name="T78" fmla="*/ 9285 w 11314"/>
                  <a:gd name="T79" fmla="*/ 7616 h 10249"/>
                  <a:gd name="T80" fmla="*/ 9284 w 11314"/>
                  <a:gd name="T81" fmla="*/ 7615 h 10249"/>
                  <a:gd name="T82" fmla="*/ 9284 w 11314"/>
                  <a:gd name="T83" fmla="*/ 7619 h 10249"/>
                  <a:gd name="T84" fmla="*/ 9283 w 11314"/>
                  <a:gd name="T85" fmla="*/ 7621 h 10249"/>
                  <a:gd name="T86" fmla="*/ 9284 w 11314"/>
                  <a:gd name="T87" fmla="*/ 7622 h 10249"/>
                  <a:gd name="T88" fmla="*/ 9333 w 11314"/>
                  <a:gd name="T89" fmla="*/ 9309 h 10249"/>
                  <a:gd name="T90" fmla="*/ 9321 w 11314"/>
                  <a:gd name="T91" fmla="*/ 9255 h 10249"/>
                  <a:gd name="T92" fmla="*/ 9331 w 11314"/>
                  <a:gd name="T93" fmla="*/ 9958 h 10249"/>
                  <a:gd name="T94" fmla="*/ 11314 w 11314"/>
                  <a:gd name="T95" fmla="*/ 5657 h 10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14" h="10249">
                    <a:moveTo>
                      <a:pt x="11314" y="5657"/>
                    </a:moveTo>
                    <a:cubicBezTo>
                      <a:pt x="11314" y="2533"/>
                      <a:pt x="8781" y="0"/>
                      <a:pt x="5657" y="0"/>
                    </a:cubicBezTo>
                    <a:cubicBezTo>
                      <a:pt x="2533" y="0"/>
                      <a:pt x="0" y="2533"/>
                      <a:pt x="0" y="5657"/>
                    </a:cubicBezTo>
                    <a:cubicBezTo>
                      <a:pt x="0" y="6364"/>
                      <a:pt x="130" y="7040"/>
                      <a:pt x="367" y="7664"/>
                    </a:cubicBezTo>
                    <a:cubicBezTo>
                      <a:pt x="351" y="7377"/>
                      <a:pt x="560" y="7124"/>
                      <a:pt x="849" y="7090"/>
                    </a:cubicBezTo>
                    <a:cubicBezTo>
                      <a:pt x="883" y="7086"/>
                      <a:pt x="916" y="7086"/>
                      <a:pt x="948" y="7088"/>
                    </a:cubicBezTo>
                    <a:cubicBezTo>
                      <a:pt x="1098" y="7097"/>
                      <a:pt x="1234" y="7168"/>
                      <a:pt x="1328" y="7278"/>
                    </a:cubicBezTo>
                    <a:cubicBezTo>
                      <a:pt x="1371" y="7448"/>
                      <a:pt x="1422" y="7616"/>
                      <a:pt x="1481" y="7781"/>
                    </a:cubicBezTo>
                    <a:cubicBezTo>
                      <a:pt x="1588" y="8697"/>
                      <a:pt x="1588" y="8697"/>
                      <a:pt x="1588" y="8697"/>
                    </a:cubicBezTo>
                    <a:cubicBezTo>
                      <a:pt x="1868" y="8647"/>
                      <a:pt x="1868" y="8647"/>
                      <a:pt x="1868" y="8647"/>
                    </a:cubicBezTo>
                    <a:cubicBezTo>
                      <a:pt x="3445" y="8369"/>
                      <a:pt x="3445" y="8369"/>
                      <a:pt x="3445" y="8369"/>
                    </a:cubicBezTo>
                    <a:cubicBezTo>
                      <a:pt x="4261" y="6805"/>
                      <a:pt x="4261" y="6805"/>
                      <a:pt x="4261" y="6805"/>
                    </a:cubicBezTo>
                    <a:cubicBezTo>
                      <a:pt x="4249" y="6755"/>
                      <a:pt x="4242" y="6704"/>
                      <a:pt x="4242" y="6651"/>
                    </a:cubicBezTo>
                    <a:cubicBezTo>
                      <a:pt x="4242" y="6291"/>
                      <a:pt x="4534" y="6000"/>
                      <a:pt x="4893" y="6000"/>
                    </a:cubicBezTo>
                    <a:cubicBezTo>
                      <a:pt x="4897" y="6000"/>
                      <a:pt x="4900" y="6000"/>
                      <a:pt x="4904" y="6000"/>
                    </a:cubicBezTo>
                    <a:cubicBezTo>
                      <a:pt x="4904" y="5999"/>
                      <a:pt x="4903" y="5998"/>
                      <a:pt x="4903" y="5997"/>
                    </a:cubicBezTo>
                    <a:cubicBezTo>
                      <a:pt x="5452" y="5997"/>
                      <a:pt x="5452" y="5997"/>
                      <a:pt x="5452" y="5997"/>
                    </a:cubicBezTo>
                    <a:cubicBezTo>
                      <a:pt x="5452" y="5997"/>
                      <a:pt x="5452" y="5997"/>
                      <a:pt x="5452" y="5997"/>
                    </a:cubicBezTo>
                    <a:cubicBezTo>
                      <a:pt x="5608" y="5989"/>
                      <a:pt x="5756" y="5948"/>
                      <a:pt x="5888" y="5881"/>
                    </a:cubicBezTo>
                    <a:cubicBezTo>
                      <a:pt x="5889" y="5883"/>
                      <a:pt x="5890" y="5884"/>
                      <a:pt x="5891" y="5885"/>
                    </a:cubicBezTo>
                    <a:cubicBezTo>
                      <a:pt x="5826" y="5923"/>
                      <a:pt x="5826" y="5923"/>
                      <a:pt x="5826" y="5923"/>
                    </a:cubicBezTo>
                    <a:cubicBezTo>
                      <a:pt x="5566" y="6992"/>
                      <a:pt x="5566" y="6992"/>
                      <a:pt x="5566" y="6992"/>
                    </a:cubicBezTo>
                    <a:cubicBezTo>
                      <a:pt x="5923" y="7081"/>
                      <a:pt x="5923" y="7081"/>
                      <a:pt x="5923" y="7081"/>
                    </a:cubicBezTo>
                    <a:cubicBezTo>
                      <a:pt x="5685" y="7528"/>
                      <a:pt x="5685" y="7528"/>
                      <a:pt x="5685" y="7528"/>
                    </a:cubicBezTo>
                    <a:cubicBezTo>
                      <a:pt x="6685" y="9506"/>
                      <a:pt x="6685" y="9506"/>
                      <a:pt x="6685" y="9506"/>
                    </a:cubicBezTo>
                    <a:cubicBezTo>
                      <a:pt x="6871" y="9780"/>
                      <a:pt x="6871" y="9780"/>
                      <a:pt x="6871" y="9780"/>
                    </a:cubicBezTo>
                    <a:cubicBezTo>
                      <a:pt x="7107" y="10249"/>
                      <a:pt x="7107" y="10249"/>
                      <a:pt x="7107" y="10249"/>
                    </a:cubicBezTo>
                    <a:cubicBezTo>
                      <a:pt x="7108" y="10224"/>
                      <a:pt x="7108" y="10224"/>
                      <a:pt x="7108" y="10224"/>
                    </a:cubicBezTo>
                    <a:cubicBezTo>
                      <a:pt x="7212" y="9927"/>
                      <a:pt x="7212" y="9927"/>
                      <a:pt x="7212" y="9927"/>
                    </a:cubicBezTo>
                    <a:cubicBezTo>
                      <a:pt x="8425" y="7528"/>
                      <a:pt x="8425" y="7528"/>
                      <a:pt x="8425" y="7528"/>
                    </a:cubicBezTo>
                    <a:cubicBezTo>
                      <a:pt x="8186" y="7081"/>
                      <a:pt x="8186" y="7081"/>
                      <a:pt x="8186" y="7081"/>
                    </a:cubicBezTo>
                    <a:cubicBezTo>
                      <a:pt x="8544" y="6992"/>
                      <a:pt x="8544" y="6992"/>
                      <a:pt x="8544" y="6992"/>
                    </a:cubicBezTo>
                    <a:cubicBezTo>
                      <a:pt x="8283" y="5923"/>
                      <a:pt x="8283" y="5923"/>
                      <a:pt x="8283" y="5923"/>
                    </a:cubicBezTo>
                    <a:cubicBezTo>
                      <a:pt x="8219" y="5885"/>
                      <a:pt x="8219" y="5885"/>
                      <a:pt x="8219" y="5885"/>
                    </a:cubicBezTo>
                    <a:cubicBezTo>
                      <a:pt x="8220" y="5884"/>
                      <a:pt x="8220" y="5883"/>
                      <a:pt x="8221" y="5881"/>
                    </a:cubicBezTo>
                    <a:cubicBezTo>
                      <a:pt x="8354" y="5948"/>
                      <a:pt x="8501" y="5989"/>
                      <a:pt x="8658" y="5997"/>
                    </a:cubicBezTo>
                    <a:cubicBezTo>
                      <a:pt x="8658" y="5997"/>
                      <a:pt x="8658" y="5997"/>
                      <a:pt x="8658" y="5997"/>
                    </a:cubicBezTo>
                    <a:cubicBezTo>
                      <a:pt x="9277" y="5997"/>
                      <a:pt x="9277" y="5997"/>
                      <a:pt x="9277" y="5997"/>
                    </a:cubicBezTo>
                    <a:cubicBezTo>
                      <a:pt x="9277" y="5997"/>
                      <a:pt x="9596" y="5991"/>
                      <a:pt x="9696" y="6092"/>
                    </a:cubicBezTo>
                    <a:cubicBezTo>
                      <a:pt x="9285" y="7616"/>
                      <a:pt x="9285" y="7616"/>
                      <a:pt x="9285" y="7616"/>
                    </a:cubicBezTo>
                    <a:cubicBezTo>
                      <a:pt x="9284" y="7615"/>
                      <a:pt x="9284" y="7615"/>
                      <a:pt x="9284" y="7615"/>
                    </a:cubicBezTo>
                    <a:cubicBezTo>
                      <a:pt x="9284" y="7617"/>
                      <a:pt x="9284" y="7618"/>
                      <a:pt x="9284" y="7619"/>
                    </a:cubicBezTo>
                    <a:cubicBezTo>
                      <a:pt x="9283" y="7621"/>
                      <a:pt x="9283" y="7621"/>
                      <a:pt x="9283" y="7621"/>
                    </a:cubicBezTo>
                    <a:cubicBezTo>
                      <a:pt x="9284" y="7622"/>
                      <a:pt x="9284" y="7622"/>
                      <a:pt x="9284" y="7622"/>
                    </a:cubicBezTo>
                    <a:cubicBezTo>
                      <a:pt x="9285" y="8137"/>
                      <a:pt x="9299" y="8712"/>
                      <a:pt x="9333" y="9309"/>
                    </a:cubicBezTo>
                    <a:cubicBezTo>
                      <a:pt x="9321" y="9255"/>
                      <a:pt x="9321" y="9255"/>
                      <a:pt x="9321" y="9255"/>
                    </a:cubicBezTo>
                    <a:cubicBezTo>
                      <a:pt x="9331" y="9958"/>
                      <a:pt x="9331" y="9958"/>
                      <a:pt x="9331" y="9958"/>
                    </a:cubicBezTo>
                    <a:cubicBezTo>
                      <a:pt x="10545" y="8921"/>
                      <a:pt x="11314" y="7379"/>
                      <a:pt x="11314" y="5657"/>
                    </a:cubicBezTo>
                    <a:close/>
                  </a:path>
                </a:pathLst>
              </a:custGeom>
              <a:solidFill>
                <a:schemeClr val="accent1"/>
              </a:solidFill>
              <a:ln>
                <a:noFill/>
              </a:ln>
            </p:spPr>
            <p:txBody>
              <a:bodyPr anchor="ctr"/>
              <a:lstStyle/>
              <a:p>
                <a:pPr algn="ctr"/>
              </a:p>
            </p:txBody>
          </p:sp>
          <p:sp>
            <p:nvSpPr>
              <p:cNvPr id="46" name="islîḑé"/>
              <p:cNvSpPr/>
              <p:nvPr/>
            </p:nvSpPr>
            <p:spPr bwMode="auto">
              <a:xfrm>
                <a:off x="6619304" y="3700200"/>
                <a:ext cx="790375" cy="1584694"/>
              </a:xfrm>
              <a:custGeom>
                <a:avLst/>
                <a:gdLst>
                  <a:gd name="T0" fmla="*/ 2248 w 2611"/>
                  <a:gd name="T1" fmla="*/ 3428 h 5251"/>
                  <a:gd name="T2" fmla="*/ 2199 w 2611"/>
                  <a:gd name="T3" fmla="*/ 1741 h 5251"/>
                  <a:gd name="T4" fmla="*/ 2198 w 2611"/>
                  <a:gd name="T5" fmla="*/ 1740 h 5251"/>
                  <a:gd name="T6" fmla="*/ 2199 w 2611"/>
                  <a:gd name="T7" fmla="*/ 1738 h 5251"/>
                  <a:gd name="T8" fmla="*/ 2199 w 2611"/>
                  <a:gd name="T9" fmla="*/ 1734 h 5251"/>
                  <a:gd name="T10" fmla="*/ 2200 w 2611"/>
                  <a:gd name="T11" fmla="*/ 1735 h 5251"/>
                  <a:gd name="T12" fmla="*/ 2611 w 2611"/>
                  <a:gd name="T13" fmla="*/ 211 h 5251"/>
                  <a:gd name="T14" fmla="*/ 2192 w 2611"/>
                  <a:gd name="T15" fmla="*/ 116 h 5251"/>
                  <a:gd name="T16" fmla="*/ 1573 w 2611"/>
                  <a:gd name="T17" fmla="*/ 116 h 5251"/>
                  <a:gd name="T18" fmla="*/ 1573 w 2611"/>
                  <a:gd name="T19" fmla="*/ 116 h 5251"/>
                  <a:gd name="T20" fmla="*/ 1136 w 2611"/>
                  <a:gd name="T21" fmla="*/ 0 h 5251"/>
                  <a:gd name="T22" fmla="*/ 1134 w 2611"/>
                  <a:gd name="T23" fmla="*/ 4 h 5251"/>
                  <a:gd name="T24" fmla="*/ 1198 w 2611"/>
                  <a:gd name="T25" fmla="*/ 42 h 5251"/>
                  <a:gd name="T26" fmla="*/ 1459 w 2611"/>
                  <a:gd name="T27" fmla="*/ 1111 h 5251"/>
                  <a:gd name="T28" fmla="*/ 1101 w 2611"/>
                  <a:gd name="T29" fmla="*/ 1200 h 5251"/>
                  <a:gd name="T30" fmla="*/ 1340 w 2611"/>
                  <a:gd name="T31" fmla="*/ 1647 h 5251"/>
                  <a:gd name="T32" fmla="*/ 127 w 2611"/>
                  <a:gd name="T33" fmla="*/ 4046 h 5251"/>
                  <a:gd name="T34" fmla="*/ 23 w 2611"/>
                  <a:gd name="T35" fmla="*/ 4343 h 5251"/>
                  <a:gd name="T36" fmla="*/ 22 w 2611"/>
                  <a:gd name="T37" fmla="*/ 4368 h 5251"/>
                  <a:gd name="T38" fmla="*/ 93 w 2611"/>
                  <a:gd name="T39" fmla="*/ 4509 h 5251"/>
                  <a:gd name="T40" fmla="*/ 0 w 2611"/>
                  <a:gd name="T41" fmla="*/ 5251 h 5251"/>
                  <a:gd name="T42" fmla="*/ 2246 w 2611"/>
                  <a:gd name="T43" fmla="*/ 4077 h 5251"/>
                  <a:gd name="T44" fmla="*/ 2236 w 2611"/>
                  <a:gd name="T45" fmla="*/ 3374 h 5251"/>
                  <a:gd name="T46" fmla="*/ 2248 w 2611"/>
                  <a:gd name="T47" fmla="*/ 3428 h 5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11" h="5251">
                    <a:moveTo>
                      <a:pt x="2248" y="3428"/>
                    </a:moveTo>
                    <a:cubicBezTo>
                      <a:pt x="2214" y="2831"/>
                      <a:pt x="2200" y="2256"/>
                      <a:pt x="2199" y="1741"/>
                    </a:cubicBezTo>
                    <a:cubicBezTo>
                      <a:pt x="2198" y="1740"/>
                      <a:pt x="2198" y="1740"/>
                      <a:pt x="2198" y="1740"/>
                    </a:cubicBezTo>
                    <a:cubicBezTo>
                      <a:pt x="2199" y="1738"/>
                      <a:pt x="2199" y="1738"/>
                      <a:pt x="2199" y="1738"/>
                    </a:cubicBezTo>
                    <a:cubicBezTo>
                      <a:pt x="2199" y="1737"/>
                      <a:pt x="2199" y="1736"/>
                      <a:pt x="2199" y="1734"/>
                    </a:cubicBezTo>
                    <a:cubicBezTo>
                      <a:pt x="2200" y="1735"/>
                      <a:pt x="2200" y="1735"/>
                      <a:pt x="2200" y="1735"/>
                    </a:cubicBezTo>
                    <a:cubicBezTo>
                      <a:pt x="2611" y="211"/>
                      <a:pt x="2611" y="211"/>
                      <a:pt x="2611" y="211"/>
                    </a:cubicBezTo>
                    <a:cubicBezTo>
                      <a:pt x="2511" y="110"/>
                      <a:pt x="2192" y="116"/>
                      <a:pt x="2192" y="116"/>
                    </a:cubicBezTo>
                    <a:cubicBezTo>
                      <a:pt x="1573" y="116"/>
                      <a:pt x="1573" y="116"/>
                      <a:pt x="1573" y="116"/>
                    </a:cubicBezTo>
                    <a:cubicBezTo>
                      <a:pt x="1573" y="116"/>
                      <a:pt x="1573" y="116"/>
                      <a:pt x="1573" y="116"/>
                    </a:cubicBezTo>
                    <a:cubicBezTo>
                      <a:pt x="1416" y="108"/>
                      <a:pt x="1269" y="67"/>
                      <a:pt x="1136" y="0"/>
                    </a:cubicBezTo>
                    <a:cubicBezTo>
                      <a:pt x="1135" y="2"/>
                      <a:pt x="1135" y="3"/>
                      <a:pt x="1134" y="4"/>
                    </a:cubicBezTo>
                    <a:cubicBezTo>
                      <a:pt x="1198" y="42"/>
                      <a:pt x="1198" y="42"/>
                      <a:pt x="1198" y="42"/>
                    </a:cubicBezTo>
                    <a:cubicBezTo>
                      <a:pt x="1459" y="1111"/>
                      <a:pt x="1459" y="1111"/>
                      <a:pt x="1459" y="1111"/>
                    </a:cubicBezTo>
                    <a:cubicBezTo>
                      <a:pt x="1101" y="1200"/>
                      <a:pt x="1101" y="1200"/>
                      <a:pt x="1101" y="1200"/>
                    </a:cubicBezTo>
                    <a:cubicBezTo>
                      <a:pt x="1340" y="1647"/>
                      <a:pt x="1340" y="1647"/>
                      <a:pt x="1340" y="1647"/>
                    </a:cubicBezTo>
                    <a:cubicBezTo>
                      <a:pt x="127" y="4046"/>
                      <a:pt x="127" y="4046"/>
                      <a:pt x="127" y="4046"/>
                    </a:cubicBezTo>
                    <a:cubicBezTo>
                      <a:pt x="23" y="4343"/>
                      <a:pt x="23" y="4343"/>
                      <a:pt x="23" y="4343"/>
                    </a:cubicBezTo>
                    <a:cubicBezTo>
                      <a:pt x="22" y="4368"/>
                      <a:pt x="22" y="4368"/>
                      <a:pt x="22" y="4368"/>
                    </a:cubicBezTo>
                    <a:cubicBezTo>
                      <a:pt x="93" y="4509"/>
                      <a:pt x="93" y="4509"/>
                      <a:pt x="93" y="4509"/>
                    </a:cubicBezTo>
                    <a:cubicBezTo>
                      <a:pt x="0" y="5251"/>
                      <a:pt x="0" y="5251"/>
                      <a:pt x="0" y="5251"/>
                    </a:cubicBezTo>
                    <a:cubicBezTo>
                      <a:pt x="841" y="5033"/>
                      <a:pt x="1605" y="4625"/>
                      <a:pt x="2246" y="4077"/>
                    </a:cubicBezTo>
                    <a:cubicBezTo>
                      <a:pt x="2236" y="3374"/>
                      <a:pt x="2236" y="3374"/>
                      <a:pt x="2236" y="3374"/>
                    </a:cubicBezTo>
                    <a:lnTo>
                      <a:pt x="2248" y="3428"/>
                    </a:ln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íṧ1îḍé"/>
              <p:cNvSpPr/>
              <p:nvPr/>
            </p:nvSpPr>
            <p:spPr bwMode="auto">
              <a:xfrm>
                <a:off x="4587189" y="4238287"/>
                <a:ext cx="378434" cy="658318"/>
              </a:xfrm>
              <a:custGeom>
                <a:avLst/>
                <a:gdLst>
                  <a:gd name="T0" fmla="*/ 2 w 1252"/>
                  <a:gd name="T1" fmla="*/ 33 h 2181"/>
                  <a:gd name="T2" fmla="*/ 201 w 1252"/>
                  <a:gd name="T3" fmla="*/ 1735 h 2181"/>
                  <a:gd name="T4" fmla="*/ 418 w 1252"/>
                  <a:gd name="T5" fmla="*/ 2111 h 2181"/>
                  <a:gd name="T6" fmla="*/ 767 w 1252"/>
                  <a:gd name="T7" fmla="*/ 2066 h 2181"/>
                  <a:gd name="T8" fmla="*/ 862 w 1252"/>
                  <a:gd name="T9" fmla="*/ 2057 h 2181"/>
                  <a:gd name="T10" fmla="*/ 1252 w 1252"/>
                  <a:gd name="T11" fmla="*/ 1954 h 2181"/>
                  <a:gd name="T12" fmla="*/ 0 w 1252"/>
                  <a:gd name="T13" fmla="*/ 0 h 2181"/>
                  <a:gd name="T14" fmla="*/ 2 w 1252"/>
                  <a:gd name="T15" fmla="*/ 33 h 21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2" h="2181">
                    <a:moveTo>
                      <a:pt x="2" y="33"/>
                    </a:moveTo>
                    <a:cubicBezTo>
                      <a:pt x="201" y="1735"/>
                      <a:pt x="201" y="1735"/>
                      <a:pt x="201" y="1735"/>
                    </a:cubicBezTo>
                    <a:cubicBezTo>
                      <a:pt x="219" y="1885"/>
                      <a:pt x="297" y="2021"/>
                      <a:pt x="418" y="2111"/>
                    </a:cubicBezTo>
                    <a:cubicBezTo>
                      <a:pt x="513" y="2181"/>
                      <a:pt x="651" y="2066"/>
                      <a:pt x="767" y="2066"/>
                    </a:cubicBezTo>
                    <a:cubicBezTo>
                      <a:pt x="799" y="2066"/>
                      <a:pt x="831" y="2063"/>
                      <a:pt x="862" y="2057"/>
                    </a:cubicBezTo>
                    <a:cubicBezTo>
                      <a:pt x="1252" y="1954"/>
                      <a:pt x="1252" y="1954"/>
                      <a:pt x="1252" y="1954"/>
                    </a:cubicBezTo>
                    <a:cubicBezTo>
                      <a:pt x="709" y="1401"/>
                      <a:pt x="280" y="737"/>
                      <a:pt x="0" y="0"/>
                    </a:cubicBezTo>
                    <a:cubicBezTo>
                      <a:pt x="0" y="11"/>
                      <a:pt x="1" y="22"/>
                      <a:pt x="2" y="33"/>
                    </a:cubicBez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ṥ1ïḑè"/>
              <p:cNvSpPr/>
              <p:nvPr/>
            </p:nvSpPr>
            <p:spPr bwMode="auto">
              <a:xfrm>
                <a:off x="4581277" y="3700200"/>
                <a:ext cx="2043939" cy="1639882"/>
              </a:xfrm>
              <a:custGeom>
                <a:avLst/>
                <a:gdLst>
                  <a:gd name="T0" fmla="*/ 6721 w 6756"/>
                  <a:gd name="T1" fmla="*/ 5255 h 5433"/>
                  <a:gd name="T2" fmla="*/ 6756 w 6756"/>
                  <a:gd name="T3" fmla="*/ 4368 h 5433"/>
                  <a:gd name="T4" fmla="*/ 6520 w 6756"/>
                  <a:gd name="T5" fmla="*/ 3899 h 5433"/>
                  <a:gd name="T6" fmla="*/ 6334 w 6756"/>
                  <a:gd name="T7" fmla="*/ 3625 h 5433"/>
                  <a:gd name="T8" fmla="*/ 5334 w 6756"/>
                  <a:gd name="T9" fmla="*/ 1647 h 5433"/>
                  <a:gd name="T10" fmla="*/ 5572 w 6756"/>
                  <a:gd name="T11" fmla="*/ 1200 h 5433"/>
                  <a:gd name="T12" fmla="*/ 5215 w 6756"/>
                  <a:gd name="T13" fmla="*/ 1111 h 5433"/>
                  <a:gd name="T14" fmla="*/ 5475 w 6756"/>
                  <a:gd name="T15" fmla="*/ 42 h 5433"/>
                  <a:gd name="T16" fmla="*/ 5540 w 6756"/>
                  <a:gd name="T17" fmla="*/ 4 h 5433"/>
                  <a:gd name="T18" fmla="*/ 5537 w 6756"/>
                  <a:gd name="T19" fmla="*/ 0 h 5433"/>
                  <a:gd name="T20" fmla="*/ 5101 w 6756"/>
                  <a:gd name="T21" fmla="*/ 116 h 5433"/>
                  <a:gd name="T22" fmla="*/ 5101 w 6756"/>
                  <a:gd name="T23" fmla="*/ 116 h 5433"/>
                  <a:gd name="T24" fmla="*/ 4552 w 6756"/>
                  <a:gd name="T25" fmla="*/ 116 h 5433"/>
                  <a:gd name="T26" fmla="*/ 4553 w 6756"/>
                  <a:gd name="T27" fmla="*/ 119 h 5433"/>
                  <a:gd name="T28" fmla="*/ 4542 w 6756"/>
                  <a:gd name="T29" fmla="*/ 119 h 5433"/>
                  <a:gd name="T30" fmla="*/ 3891 w 6756"/>
                  <a:gd name="T31" fmla="*/ 770 h 5433"/>
                  <a:gd name="T32" fmla="*/ 3910 w 6756"/>
                  <a:gd name="T33" fmla="*/ 924 h 5433"/>
                  <a:gd name="T34" fmla="*/ 3094 w 6756"/>
                  <a:gd name="T35" fmla="*/ 2488 h 5433"/>
                  <a:gd name="T36" fmla="*/ 1517 w 6756"/>
                  <a:gd name="T37" fmla="*/ 2766 h 5433"/>
                  <a:gd name="T38" fmla="*/ 1237 w 6756"/>
                  <a:gd name="T39" fmla="*/ 2816 h 5433"/>
                  <a:gd name="T40" fmla="*/ 1130 w 6756"/>
                  <a:gd name="T41" fmla="*/ 1900 h 5433"/>
                  <a:gd name="T42" fmla="*/ 977 w 6756"/>
                  <a:gd name="T43" fmla="*/ 1397 h 5433"/>
                  <a:gd name="T44" fmla="*/ 597 w 6756"/>
                  <a:gd name="T45" fmla="*/ 1207 h 5433"/>
                  <a:gd name="T46" fmla="*/ 498 w 6756"/>
                  <a:gd name="T47" fmla="*/ 1209 h 5433"/>
                  <a:gd name="T48" fmla="*/ 16 w 6756"/>
                  <a:gd name="T49" fmla="*/ 1783 h 5433"/>
                  <a:gd name="T50" fmla="*/ 1268 w 6756"/>
                  <a:gd name="T51" fmla="*/ 3737 h 5433"/>
                  <a:gd name="T52" fmla="*/ 1766 w 6756"/>
                  <a:gd name="T53" fmla="*/ 3604 h 5433"/>
                  <a:gd name="T54" fmla="*/ 2086 w 6756"/>
                  <a:gd name="T55" fmla="*/ 3547 h 5433"/>
                  <a:gd name="T56" fmla="*/ 3550 w 6756"/>
                  <a:gd name="T57" fmla="*/ 3519 h 5433"/>
                  <a:gd name="T58" fmla="*/ 3940 w 6756"/>
                  <a:gd name="T59" fmla="*/ 3233 h 5433"/>
                  <a:gd name="T60" fmla="*/ 4542 w 6756"/>
                  <a:gd name="T61" fmla="*/ 2077 h 5433"/>
                  <a:gd name="T62" fmla="*/ 4531 w 6756"/>
                  <a:gd name="T63" fmla="*/ 2296 h 5433"/>
                  <a:gd name="T64" fmla="*/ 4531 w 6756"/>
                  <a:gd name="T65" fmla="*/ 2360 h 5433"/>
                  <a:gd name="T66" fmla="*/ 4484 w 6756"/>
                  <a:gd name="T67" fmla="*/ 3919 h 5433"/>
                  <a:gd name="T68" fmla="*/ 4472 w 6756"/>
                  <a:gd name="T69" fmla="*/ 5372 h 5433"/>
                  <a:gd name="T70" fmla="*/ 5306 w 6756"/>
                  <a:gd name="T71" fmla="*/ 5433 h 5433"/>
                  <a:gd name="T72" fmla="*/ 6721 w 6756"/>
                  <a:gd name="T73" fmla="*/ 5255 h 5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756" h="5433">
                    <a:moveTo>
                      <a:pt x="6721" y="5255"/>
                    </a:moveTo>
                    <a:cubicBezTo>
                      <a:pt x="6756" y="4368"/>
                      <a:pt x="6756" y="4368"/>
                      <a:pt x="6756" y="4368"/>
                    </a:cubicBezTo>
                    <a:cubicBezTo>
                      <a:pt x="6520" y="3899"/>
                      <a:pt x="6520" y="3899"/>
                      <a:pt x="6520" y="3899"/>
                    </a:cubicBezTo>
                    <a:cubicBezTo>
                      <a:pt x="6334" y="3625"/>
                      <a:pt x="6334" y="3625"/>
                      <a:pt x="6334" y="3625"/>
                    </a:cubicBezTo>
                    <a:cubicBezTo>
                      <a:pt x="5334" y="1647"/>
                      <a:pt x="5334" y="1647"/>
                      <a:pt x="5334" y="1647"/>
                    </a:cubicBezTo>
                    <a:cubicBezTo>
                      <a:pt x="5572" y="1200"/>
                      <a:pt x="5572" y="1200"/>
                      <a:pt x="5572" y="1200"/>
                    </a:cubicBezTo>
                    <a:cubicBezTo>
                      <a:pt x="5215" y="1111"/>
                      <a:pt x="5215" y="1111"/>
                      <a:pt x="5215" y="1111"/>
                    </a:cubicBezTo>
                    <a:cubicBezTo>
                      <a:pt x="5475" y="42"/>
                      <a:pt x="5475" y="42"/>
                      <a:pt x="5475" y="42"/>
                    </a:cubicBezTo>
                    <a:cubicBezTo>
                      <a:pt x="5540" y="4"/>
                      <a:pt x="5540" y="4"/>
                      <a:pt x="5540" y="4"/>
                    </a:cubicBezTo>
                    <a:cubicBezTo>
                      <a:pt x="5539" y="3"/>
                      <a:pt x="5538" y="2"/>
                      <a:pt x="5537" y="0"/>
                    </a:cubicBezTo>
                    <a:cubicBezTo>
                      <a:pt x="5405" y="67"/>
                      <a:pt x="5257" y="108"/>
                      <a:pt x="5101" y="116"/>
                    </a:cubicBezTo>
                    <a:cubicBezTo>
                      <a:pt x="5101" y="116"/>
                      <a:pt x="5101" y="116"/>
                      <a:pt x="5101" y="116"/>
                    </a:cubicBezTo>
                    <a:cubicBezTo>
                      <a:pt x="4552" y="116"/>
                      <a:pt x="4552" y="116"/>
                      <a:pt x="4552" y="116"/>
                    </a:cubicBezTo>
                    <a:cubicBezTo>
                      <a:pt x="4552" y="117"/>
                      <a:pt x="4553" y="118"/>
                      <a:pt x="4553" y="119"/>
                    </a:cubicBezTo>
                    <a:cubicBezTo>
                      <a:pt x="4549" y="119"/>
                      <a:pt x="4546" y="119"/>
                      <a:pt x="4542" y="119"/>
                    </a:cubicBezTo>
                    <a:cubicBezTo>
                      <a:pt x="4183" y="119"/>
                      <a:pt x="3891" y="410"/>
                      <a:pt x="3891" y="770"/>
                    </a:cubicBezTo>
                    <a:cubicBezTo>
                      <a:pt x="3891" y="823"/>
                      <a:pt x="3898" y="874"/>
                      <a:pt x="3910" y="924"/>
                    </a:cubicBezTo>
                    <a:cubicBezTo>
                      <a:pt x="3094" y="2488"/>
                      <a:pt x="3094" y="2488"/>
                      <a:pt x="3094" y="2488"/>
                    </a:cubicBezTo>
                    <a:cubicBezTo>
                      <a:pt x="1517" y="2766"/>
                      <a:pt x="1517" y="2766"/>
                      <a:pt x="1517" y="2766"/>
                    </a:cubicBezTo>
                    <a:cubicBezTo>
                      <a:pt x="1237" y="2816"/>
                      <a:pt x="1237" y="2816"/>
                      <a:pt x="1237" y="2816"/>
                    </a:cubicBezTo>
                    <a:cubicBezTo>
                      <a:pt x="1130" y="1900"/>
                      <a:pt x="1130" y="1900"/>
                      <a:pt x="1130" y="1900"/>
                    </a:cubicBezTo>
                    <a:cubicBezTo>
                      <a:pt x="1071" y="1735"/>
                      <a:pt x="1020" y="1567"/>
                      <a:pt x="977" y="1397"/>
                    </a:cubicBezTo>
                    <a:cubicBezTo>
                      <a:pt x="883" y="1287"/>
                      <a:pt x="747" y="1216"/>
                      <a:pt x="597" y="1207"/>
                    </a:cubicBezTo>
                    <a:cubicBezTo>
                      <a:pt x="565" y="1205"/>
                      <a:pt x="532" y="1205"/>
                      <a:pt x="498" y="1209"/>
                    </a:cubicBezTo>
                    <a:cubicBezTo>
                      <a:pt x="209" y="1243"/>
                      <a:pt x="0" y="1496"/>
                      <a:pt x="16" y="1783"/>
                    </a:cubicBezTo>
                    <a:cubicBezTo>
                      <a:pt x="296" y="2520"/>
                      <a:pt x="725" y="3184"/>
                      <a:pt x="1268" y="3737"/>
                    </a:cubicBezTo>
                    <a:cubicBezTo>
                      <a:pt x="1766" y="3604"/>
                      <a:pt x="1766" y="3604"/>
                      <a:pt x="1766" y="3604"/>
                    </a:cubicBezTo>
                    <a:cubicBezTo>
                      <a:pt x="2086" y="3547"/>
                      <a:pt x="2086" y="3547"/>
                      <a:pt x="2086" y="3547"/>
                    </a:cubicBezTo>
                    <a:cubicBezTo>
                      <a:pt x="3550" y="3519"/>
                      <a:pt x="3550" y="3519"/>
                      <a:pt x="3550" y="3519"/>
                    </a:cubicBezTo>
                    <a:cubicBezTo>
                      <a:pt x="3717" y="3489"/>
                      <a:pt x="3861" y="3384"/>
                      <a:pt x="3940" y="3233"/>
                    </a:cubicBezTo>
                    <a:cubicBezTo>
                      <a:pt x="4542" y="2077"/>
                      <a:pt x="4542" y="2077"/>
                      <a:pt x="4542" y="2077"/>
                    </a:cubicBezTo>
                    <a:cubicBezTo>
                      <a:pt x="4539" y="2154"/>
                      <a:pt x="4535" y="2228"/>
                      <a:pt x="4531" y="2296"/>
                    </a:cubicBezTo>
                    <a:cubicBezTo>
                      <a:pt x="4531" y="2360"/>
                      <a:pt x="4531" y="2360"/>
                      <a:pt x="4531" y="2360"/>
                    </a:cubicBezTo>
                    <a:cubicBezTo>
                      <a:pt x="4484" y="3919"/>
                      <a:pt x="4484" y="3919"/>
                      <a:pt x="4484" y="3919"/>
                    </a:cubicBezTo>
                    <a:cubicBezTo>
                      <a:pt x="4472" y="5372"/>
                      <a:pt x="4472" y="5372"/>
                      <a:pt x="4472" y="5372"/>
                    </a:cubicBezTo>
                    <a:cubicBezTo>
                      <a:pt x="4744" y="5412"/>
                      <a:pt x="5023" y="5433"/>
                      <a:pt x="5306" y="5433"/>
                    </a:cubicBezTo>
                    <a:cubicBezTo>
                      <a:pt x="5795" y="5433"/>
                      <a:pt x="6269" y="5371"/>
                      <a:pt x="6721" y="5255"/>
                    </a:cubicBez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ŝḻiḓê"/>
              <p:cNvSpPr/>
              <p:nvPr/>
            </p:nvSpPr>
            <p:spPr bwMode="auto">
              <a:xfrm>
                <a:off x="6615362" y="5018808"/>
                <a:ext cx="31536" cy="268058"/>
              </a:xfrm>
              <a:custGeom>
                <a:avLst/>
                <a:gdLst>
                  <a:gd name="T0" fmla="*/ 13 w 106"/>
                  <a:gd name="T1" fmla="*/ 883 h 887"/>
                  <a:gd name="T2" fmla="*/ 106 w 106"/>
                  <a:gd name="T3" fmla="*/ 141 h 887"/>
                  <a:gd name="T4" fmla="*/ 35 w 106"/>
                  <a:gd name="T5" fmla="*/ 0 h 887"/>
                  <a:gd name="T6" fmla="*/ 0 w 106"/>
                  <a:gd name="T7" fmla="*/ 887 h 887"/>
                  <a:gd name="T8" fmla="*/ 13 w 106"/>
                  <a:gd name="T9" fmla="*/ 883 h 887"/>
                </a:gdLst>
                <a:ahLst/>
                <a:cxnLst>
                  <a:cxn ang="0">
                    <a:pos x="T0" y="T1"/>
                  </a:cxn>
                  <a:cxn ang="0">
                    <a:pos x="T2" y="T3"/>
                  </a:cxn>
                  <a:cxn ang="0">
                    <a:pos x="T4" y="T5"/>
                  </a:cxn>
                  <a:cxn ang="0">
                    <a:pos x="T6" y="T7"/>
                  </a:cxn>
                  <a:cxn ang="0">
                    <a:pos x="T8" y="T9"/>
                  </a:cxn>
                </a:cxnLst>
                <a:rect l="0" t="0" r="r" b="b"/>
                <a:pathLst>
                  <a:path w="106" h="887">
                    <a:moveTo>
                      <a:pt x="13" y="883"/>
                    </a:moveTo>
                    <a:cubicBezTo>
                      <a:pt x="106" y="141"/>
                      <a:pt x="106" y="141"/>
                      <a:pt x="106" y="141"/>
                    </a:cubicBezTo>
                    <a:cubicBezTo>
                      <a:pt x="35" y="0"/>
                      <a:pt x="35" y="0"/>
                      <a:pt x="35" y="0"/>
                    </a:cubicBezTo>
                    <a:cubicBezTo>
                      <a:pt x="0" y="887"/>
                      <a:pt x="0" y="887"/>
                      <a:pt x="0" y="887"/>
                    </a:cubicBezTo>
                    <a:cubicBezTo>
                      <a:pt x="4" y="885"/>
                      <a:pt x="9" y="884"/>
                      <a:pt x="13" y="883"/>
                    </a:cubicBez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iŝlíḑè"/>
              <p:cNvSpPr/>
              <p:nvPr/>
            </p:nvSpPr>
            <p:spPr bwMode="auto">
              <a:xfrm>
                <a:off x="6191593" y="3558287"/>
                <a:ext cx="829796" cy="163593"/>
              </a:xfrm>
              <a:custGeom>
                <a:avLst/>
                <a:gdLst>
                  <a:gd name="T0" fmla="*/ 2733 w 2739"/>
                  <a:gd name="T1" fmla="*/ 527 h 543"/>
                  <a:gd name="T2" fmla="*/ 1437 w 2739"/>
                  <a:gd name="T3" fmla="*/ 0 h 543"/>
                  <a:gd name="T4" fmla="*/ 0 w 2739"/>
                  <a:gd name="T5" fmla="*/ 543 h 543"/>
                  <a:gd name="T6" fmla="*/ 0 w 2739"/>
                  <a:gd name="T7" fmla="*/ 543 h 543"/>
                  <a:gd name="T8" fmla="*/ 282 w 2739"/>
                  <a:gd name="T9" fmla="*/ 427 h 543"/>
                  <a:gd name="T10" fmla="*/ 1437 w 2739"/>
                  <a:gd name="T11" fmla="*/ 122 h 543"/>
                  <a:gd name="T12" fmla="*/ 2461 w 2739"/>
                  <a:gd name="T13" fmla="*/ 415 h 543"/>
                  <a:gd name="T14" fmla="*/ 2739 w 2739"/>
                  <a:gd name="T15" fmla="*/ 536 h 543"/>
                  <a:gd name="T16" fmla="*/ 2733 w 2739"/>
                  <a:gd name="T17" fmla="*/ 527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39" h="543">
                    <a:moveTo>
                      <a:pt x="2733" y="527"/>
                    </a:moveTo>
                    <a:cubicBezTo>
                      <a:pt x="2479" y="178"/>
                      <a:pt x="2043" y="0"/>
                      <a:pt x="1437" y="0"/>
                    </a:cubicBezTo>
                    <a:cubicBezTo>
                      <a:pt x="751" y="0"/>
                      <a:pt x="267" y="183"/>
                      <a:pt x="0" y="543"/>
                    </a:cubicBezTo>
                    <a:cubicBezTo>
                      <a:pt x="0" y="543"/>
                      <a:pt x="0" y="543"/>
                      <a:pt x="0" y="543"/>
                    </a:cubicBezTo>
                    <a:cubicBezTo>
                      <a:pt x="52" y="529"/>
                      <a:pt x="155" y="495"/>
                      <a:pt x="282" y="427"/>
                    </a:cubicBezTo>
                    <a:cubicBezTo>
                      <a:pt x="543" y="224"/>
                      <a:pt x="929" y="122"/>
                      <a:pt x="1437" y="122"/>
                    </a:cubicBezTo>
                    <a:cubicBezTo>
                      <a:pt x="1879" y="122"/>
                      <a:pt x="2223" y="220"/>
                      <a:pt x="2461" y="415"/>
                    </a:cubicBezTo>
                    <a:cubicBezTo>
                      <a:pt x="2545" y="457"/>
                      <a:pt x="2670" y="508"/>
                      <a:pt x="2739" y="536"/>
                    </a:cubicBezTo>
                    <a:cubicBezTo>
                      <a:pt x="2737" y="533"/>
                      <a:pt x="2735" y="530"/>
                      <a:pt x="2733" y="527"/>
                    </a:cubicBez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šľïḍê"/>
              <p:cNvSpPr/>
              <p:nvPr/>
            </p:nvSpPr>
            <p:spPr bwMode="auto">
              <a:xfrm>
                <a:off x="6605506" y="508779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F264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şlíḓè"/>
              <p:cNvSpPr/>
              <p:nvPr/>
            </p:nvSpPr>
            <p:spPr bwMode="auto">
              <a:xfrm>
                <a:off x="4876929" y="4121996"/>
                <a:ext cx="47304" cy="151767"/>
              </a:xfrm>
              <a:custGeom>
                <a:avLst/>
                <a:gdLst>
                  <a:gd name="T0" fmla="*/ 128 w 153"/>
                  <a:gd name="T1" fmla="*/ 292 h 503"/>
                  <a:gd name="T2" fmla="*/ 0 w 153"/>
                  <a:gd name="T3" fmla="*/ 0 h 503"/>
                  <a:gd name="T4" fmla="*/ 153 w 153"/>
                  <a:gd name="T5" fmla="*/ 503 h 503"/>
                  <a:gd name="T6" fmla="*/ 128 w 153"/>
                  <a:gd name="T7" fmla="*/ 292 h 503"/>
                </a:gdLst>
                <a:ahLst/>
                <a:cxnLst>
                  <a:cxn ang="0">
                    <a:pos x="T0" y="T1"/>
                  </a:cxn>
                  <a:cxn ang="0">
                    <a:pos x="T2" y="T3"/>
                  </a:cxn>
                  <a:cxn ang="0">
                    <a:pos x="T4" y="T5"/>
                  </a:cxn>
                  <a:cxn ang="0">
                    <a:pos x="T6" y="T7"/>
                  </a:cxn>
                </a:cxnLst>
                <a:rect l="0" t="0" r="r" b="b"/>
                <a:pathLst>
                  <a:path w="153" h="503">
                    <a:moveTo>
                      <a:pt x="128" y="292"/>
                    </a:moveTo>
                    <a:cubicBezTo>
                      <a:pt x="115" y="180"/>
                      <a:pt x="68" y="79"/>
                      <a:pt x="0" y="0"/>
                    </a:cubicBezTo>
                    <a:cubicBezTo>
                      <a:pt x="43" y="170"/>
                      <a:pt x="94" y="338"/>
                      <a:pt x="153" y="503"/>
                    </a:cubicBezTo>
                    <a:lnTo>
                      <a:pt x="128" y="292"/>
                    </a:ln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ļïḓe"/>
              <p:cNvSpPr/>
              <p:nvPr/>
            </p:nvSpPr>
            <p:spPr bwMode="auto">
              <a:xfrm>
                <a:off x="6611420" y="5006982"/>
                <a:ext cx="15768" cy="25623"/>
              </a:xfrm>
              <a:custGeom>
                <a:avLst/>
                <a:gdLst>
                  <a:gd name="T0" fmla="*/ 8 w 8"/>
                  <a:gd name="T1" fmla="*/ 2 h 13"/>
                  <a:gd name="T2" fmla="*/ 8 w 8"/>
                  <a:gd name="T3" fmla="*/ 0 h 13"/>
                  <a:gd name="T4" fmla="*/ 0 w 8"/>
                  <a:gd name="T5" fmla="*/ 0 h 13"/>
                  <a:gd name="T6" fmla="*/ 0 w 8"/>
                  <a:gd name="T7" fmla="*/ 3 h 13"/>
                  <a:gd name="T8" fmla="*/ 4 w 8"/>
                  <a:gd name="T9" fmla="*/ 13 h 13"/>
                  <a:gd name="T10" fmla="*/ 8 w 8"/>
                  <a:gd name="T11" fmla="*/ 2 h 13"/>
                </a:gdLst>
                <a:ahLst/>
                <a:cxnLst>
                  <a:cxn ang="0">
                    <a:pos x="T0" y="T1"/>
                  </a:cxn>
                  <a:cxn ang="0">
                    <a:pos x="T2" y="T3"/>
                  </a:cxn>
                  <a:cxn ang="0">
                    <a:pos x="T4" y="T5"/>
                  </a:cxn>
                  <a:cxn ang="0">
                    <a:pos x="T6" y="T7"/>
                  </a:cxn>
                  <a:cxn ang="0">
                    <a:pos x="T8" y="T9"/>
                  </a:cxn>
                  <a:cxn ang="0">
                    <a:pos x="T10" y="T11"/>
                  </a:cxn>
                </a:cxnLst>
                <a:rect l="0" t="0" r="r" b="b"/>
                <a:pathLst>
                  <a:path w="8" h="13">
                    <a:moveTo>
                      <a:pt x="8" y="2"/>
                    </a:moveTo>
                    <a:lnTo>
                      <a:pt x="8" y="0"/>
                    </a:lnTo>
                    <a:lnTo>
                      <a:pt x="0" y="0"/>
                    </a:lnTo>
                    <a:lnTo>
                      <a:pt x="0" y="3"/>
                    </a:lnTo>
                    <a:lnTo>
                      <a:pt x="4" y="13"/>
                    </a:lnTo>
                    <a:lnTo>
                      <a:pt x="8" y="2"/>
                    </a:lnTo>
                    <a:close/>
                  </a:path>
                </a:pathLst>
              </a:cu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ŝlïdé"/>
              <p:cNvSpPr/>
              <p:nvPr/>
            </p:nvSpPr>
            <p:spPr bwMode="auto">
              <a:xfrm>
                <a:off x="6611420" y="5010924"/>
                <a:ext cx="15768" cy="21681"/>
              </a:xfrm>
              <a:custGeom>
                <a:avLst/>
                <a:gdLst>
                  <a:gd name="T0" fmla="*/ 26 w 50"/>
                  <a:gd name="T1" fmla="*/ 69 h 69"/>
                  <a:gd name="T2" fmla="*/ 0 w 50"/>
                  <a:gd name="T3" fmla="*/ 7 h 69"/>
                  <a:gd name="T4" fmla="*/ 0 w 50"/>
                  <a:gd name="T5" fmla="*/ 45 h 69"/>
                  <a:gd name="T6" fmla="*/ 10 w 50"/>
                  <a:gd name="T7" fmla="*/ 45 h 69"/>
                  <a:gd name="T8" fmla="*/ 50 w 50"/>
                  <a:gd name="T9" fmla="*/ 45 h 69"/>
                  <a:gd name="T10" fmla="*/ 50 w 50"/>
                  <a:gd name="T11" fmla="*/ 0 h 69"/>
                  <a:gd name="T12" fmla="*/ 26 w 50"/>
                  <a:gd name="T13" fmla="*/ 69 h 69"/>
                </a:gdLst>
                <a:ahLst/>
                <a:cxnLst>
                  <a:cxn ang="0">
                    <a:pos x="T0" y="T1"/>
                  </a:cxn>
                  <a:cxn ang="0">
                    <a:pos x="T2" y="T3"/>
                  </a:cxn>
                  <a:cxn ang="0">
                    <a:pos x="T4" y="T5"/>
                  </a:cxn>
                  <a:cxn ang="0">
                    <a:pos x="T6" y="T7"/>
                  </a:cxn>
                  <a:cxn ang="0">
                    <a:pos x="T8" y="T9"/>
                  </a:cxn>
                  <a:cxn ang="0">
                    <a:pos x="T10" y="T11"/>
                  </a:cxn>
                  <a:cxn ang="0">
                    <a:pos x="T12" y="T13"/>
                  </a:cxn>
                </a:cxnLst>
                <a:rect l="0" t="0" r="r" b="b"/>
                <a:pathLst>
                  <a:path w="50" h="69">
                    <a:moveTo>
                      <a:pt x="26" y="69"/>
                    </a:moveTo>
                    <a:cubicBezTo>
                      <a:pt x="0" y="7"/>
                      <a:pt x="0" y="7"/>
                      <a:pt x="0" y="7"/>
                    </a:cubicBezTo>
                    <a:cubicBezTo>
                      <a:pt x="0" y="45"/>
                      <a:pt x="0" y="45"/>
                      <a:pt x="0" y="45"/>
                    </a:cubicBezTo>
                    <a:cubicBezTo>
                      <a:pt x="3" y="45"/>
                      <a:pt x="6" y="45"/>
                      <a:pt x="10" y="45"/>
                    </a:cubicBezTo>
                    <a:cubicBezTo>
                      <a:pt x="23" y="45"/>
                      <a:pt x="36" y="45"/>
                      <a:pt x="50" y="45"/>
                    </a:cubicBezTo>
                    <a:cubicBezTo>
                      <a:pt x="50" y="0"/>
                      <a:pt x="50" y="0"/>
                      <a:pt x="50" y="0"/>
                    </a:cubicBezTo>
                    <a:lnTo>
                      <a:pt x="26" y="69"/>
                    </a:lnTo>
                    <a:close/>
                  </a:path>
                </a:pathLst>
              </a:cu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íSľíḍê"/>
              <p:cNvSpPr/>
              <p:nvPr/>
            </p:nvSpPr>
            <p:spPr bwMode="auto">
              <a:xfrm>
                <a:off x="7283534" y="4224489"/>
                <a:ext cx="0" cy="1970"/>
              </a:xfrm>
              <a:custGeom>
                <a:avLst/>
                <a:gdLst>
                  <a:gd name="T0" fmla="*/ 1 w 1"/>
                  <a:gd name="T1" fmla="*/ 3 h 3"/>
                  <a:gd name="T2" fmla="*/ 1 w 1"/>
                  <a:gd name="T3" fmla="*/ 0 h 3"/>
                  <a:gd name="T4" fmla="*/ 0 w 1"/>
                  <a:gd name="T5" fmla="*/ 2 h 3"/>
                  <a:gd name="T6" fmla="*/ 1 w 1"/>
                  <a:gd name="T7" fmla="*/ 3 h 3"/>
                </a:gdLst>
                <a:ahLst/>
                <a:cxnLst>
                  <a:cxn ang="0">
                    <a:pos x="T0" y="T1"/>
                  </a:cxn>
                  <a:cxn ang="0">
                    <a:pos x="T2" y="T3"/>
                  </a:cxn>
                  <a:cxn ang="0">
                    <a:pos x="T4" y="T5"/>
                  </a:cxn>
                  <a:cxn ang="0">
                    <a:pos x="T6" y="T7"/>
                  </a:cxn>
                </a:cxnLst>
                <a:rect l="0" t="0" r="r" b="b"/>
                <a:pathLst>
                  <a:path w="1" h="3">
                    <a:moveTo>
                      <a:pt x="1" y="3"/>
                    </a:moveTo>
                    <a:cubicBezTo>
                      <a:pt x="1" y="2"/>
                      <a:pt x="1" y="1"/>
                      <a:pt x="1" y="0"/>
                    </a:cubicBezTo>
                    <a:cubicBezTo>
                      <a:pt x="0" y="2"/>
                      <a:pt x="0" y="2"/>
                      <a:pt x="0" y="2"/>
                    </a:cubicBezTo>
                    <a:lnTo>
                      <a:pt x="1" y="3"/>
                    </a:lnTo>
                    <a:close/>
                  </a:path>
                </a:pathLst>
              </a:custGeom>
              <a:solidFill>
                <a:srgbClr val="0B4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s1îďé"/>
              <p:cNvSpPr/>
              <p:nvPr/>
            </p:nvSpPr>
            <p:spPr bwMode="auto">
              <a:xfrm>
                <a:off x="6605506" y="508779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4CC4D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iṣ1ídé"/>
              <p:cNvSpPr/>
              <p:nvPr/>
            </p:nvSpPr>
            <p:spPr bwMode="auto">
              <a:xfrm>
                <a:off x="6343362" y="3443968"/>
                <a:ext cx="478955" cy="226666"/>
              </a:xfrm>
              <a:custGeom>
                <a:avLst/>
                <a:gdLst>
                  <a:gd name="T0" fmla="*/ 1579 w 1579"/>
                  <a:gd name="T1" fmla="*/ 219 h 750"/>
                  <a:gd name="T2" fmla="*/ 1579 w 1579"/>
                  <a:gd name="T3" fmla="*/ 220 h 750"/>
                  <a:gd name="T4" fmla="*/ 1579 w 1579"/>
                  <a:gd name="T5" fmla="*/ 0 h 750"/>
                  <a:gd name="T6" fmla="*/ 237 w 1579"/>
                  <a:gd name="T7" fmla="*/ 0 h 750"/>
                  <a:gd name="T8" fmla="*/ 237 w 1579"/>
                  <a:gd name="T9" fmla="*/ 318 h 750"/>
                  <a:gd name="T10" fmla="*/ 232 w 1579"/>
                  <a:gd name="T11" fmla="*/ 318 h 750"/>
                  <a:gd name="T12" fmla="*/ 0 w 1579"/>
                  <a:gd name="T13" fmla="*/ 650 h 750"/>
                  <a:gd name="T14" fmla="*/ 1579 w 1579"/>
                  <a:gd name="T15" fmla="*/ 219 h 7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9" h="750">
                    <a:moveTo>
                      <a:pt x="1579" y="219"/>
                    </a:moveTo>
                    <a:cubicBezTo>
                      <a:pt x="1579" y="220"/>
                      <a:pt x="1579" y="220"/>
                      <a:pt x="1579" y="220"/>
                    </a:cubicBezTo>
                    <a:cubicBezTo>
                      <a:pt x="1579" y="0"/>
                      <a:pt x="1579" y="0"/>
                      <a:pt x="1579" y="0"/>
                    </a:cubicBezTo>
                    <a:cubicBezTo>
                      <a:pt x="237" y="0"/>
                      <a:pt x="237" y="0"/>
                      <a:pt x="237" y="0"/>
                    </a:cubicBezTo>
                    <a:cubicBezTo>
                      <a:pt x="237" y="318"/>
                      <a:pt x="237" y="318"/>
                      <a:pt x="237" y="318"/>
                    </a:cubicBezTo>
                    <a:cubicBezTo>
                      <a:pt x="232" y="318"/>
                      <a:pt x="232" y="318"/>
                      <a:pt x="232" y="318"/>
                    </a:cubicBezTo>
                    <a:cubicBezTo>
                      <a:pt x="176" y="443"/>
                      <a:pt x="96" y="555"/>
                      <a:pt x="0" y="650"/>
                    </a:cubicBezTo>
                    <a:cubicBezTo>
                      <a:pt x="1048" y="750"/>
                      <a:pt x="1579" y="219"/>
                      <a:pt x="1579" y="219"/>
                    </a:cubicBezTo>
                    <a:close/>
                  </a:path>
                </a:pathLst>
              </a:custGeom>
              <a:solidFill>
                <a:srgbClr val="D7AF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ṥ1îḍé"/>
              <p:cNvSpPr/>
              <p:nvPr/>
            </p:nvSpPr>
            <p:spPr bwMode="auto">
              <a:xfrm>
                <a:off x="6260579" y="3510982"/>
                <a:ext cx="701680" cy="419825"/>
              </a:xfrm>
              <a:custGeom>
                <a:avLst/>
                <a:gdLst>
                  <a:gd name="T0" fmla="*/ 1853 w 2315"/>
                  <a:gd name="T1" fmla="*/ 205 h 1390"/>
                  <a:gd name="T2" fmla="*/ 1853 w 2315"/>
                  <a:gd name="T3" fmla="*/ 1 h 1390"/>
                  <a:gd name="T4" fmla="*/ 1853 w 2315"/>
                  <a:gd name="T5" fmla="*/ 0 h 1390"/>
                  <a:gd name="T6" fmla="*/ 274 w 2315"/>
                  <a:gd name="T7" fmla="*/ 431 h 1390"/>
                  <a:gd name="T8" fmla="*/ 0 w 2315"/>
                  <a:gd name="T9" fmla="*/ 627 h 1390"/>
                  <a:gd name="T10" fmla="*/ 511 w 2315"/>
                  <a:gd name="T11" fmla="*/ 1074 h 1390"/>
                  <a:gd name="T12" fmla="*/ 511 w 2315"/>
                  <a:gd name="T13" fmla="*/ 1369 h 1390"/>
                  <a:gd name="T14" fmla="*/ 512 w 2315"/>
                  <a:gd name="T15" fmla="*/ 1369 h 1390"/>
                  <a:gd name="T16" fmla="*/ 512 w 2315"/>
                  <a:gd name="T17" fmla="*/ 1390 h 1390"/>
                  <a:gd name="T18" fmla="*/ 1788 w 2315"/>
                  <a:gd name="T19" fmla="*/ 1390 h 1390"/>
                  <a:gd name="T20" fmla="*/ 1788 w 2315"/>
                  <a:gd name="T21" fmla="*/ 1369 h 1390"/>
                  <a:gd name="T22" fmla="*/ 1853 w 2315"/>
                  <a:gd name="T23" fmla="*/ 1369 h 1390"/>
                  <a:gd name="T24" fmla="*/ 1853 w 2315"/>
                  <a:gd name="T25" fmla="*/ 1046 h 1390"/>
                  <a:gd name="T26" fmla="*/ 2315 w 2315"/>
                  <a:gd name="T27" fmla="*/ 623 h 1390"/>
                  <a:gd name="T28" fmla="*/ 1853 w 2315"/>
                  <a:gd name="T29" fmla="*/ 205 h 1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15" h="1390">
                    <a:moveTo>
                      <a:pt x="1853" y="205"/>
                    </a:moveTo>
                    <a:cubicBezTo>
                      <a:pt x="1853" y="1"/>
                      <a:pt x="1853" y="1"/>
                      <a:pt x="1853" y="1"/>
                    </a:cubicBezTo>
                    <a:cubicBezTo>
                      <a:pt x="1853" y="0"/>
                      <a:pt x="1853" y="0"/>
                      <a:pt x="1853" y="0"/>
                    </a:cubicBezTo>
                    <a:cubicBezTo>
                      <a:pt x="1853" y="0"/>
                      <a:pt x="1322" y="531"/>
                      <a:pt x="274" y="431"/>
                    </a:cubicBezTo>
                    <a:cubicBezTo>
                      <a:pt x="193" y="510"/>
                      <a:pt x="101" y="576"/>
                      <a:pt x="0" y="627"/>
                    </a:cubicBezTo>
                    <a:cubicBezTo>
                      <a:pt x="131" y="815"/>
                      <a:pt x="306" y="969"/>
                      <a:pt x="511" y="1074"/>
                    </a:cubicBezTo>
                    <a:cubicBezTo>
                      <a:pt x="511" y="1369"/>
                      <a:pt x="511" y="1369"/>
                      <a:pt x="511" y="1369"/>
                    </a:cubicBezTo>
                    <a:cubicBezTo>
                      <a:pt x="512" y="1369"/>
                      <a:pt x="512" y="1369"/>
                      <a:pt x="512" y="1369"/>
                    </a:cubicBezTo>
                    <a:cubicBezTo>
                      <a:pt x="512" y="1390"/>
                      <a:pt x="512" y="1390"/>
                      <a:pt x="512" y="1390"/>
                    </a:cubicBezTo>
                    <a:cubicBezTo>
                      <a:pt x="1788" y="1390"/>
                      <a:pt x="1788" y="1390"/>
                      <a:pt x="1788" y="1390"/>
                    </a:cubicBezTo>
                    <a:cubicBezTo>
                      <a:pt x="1788" y="1369"/>
                      <a:pt x="1788" y="1369"/>
                      <a:pt x="1788" y="1369"/>
                    </a:cubicBezTo>
                    <a:cubicBezTo>
                      <a:pt x="1853" y="1369"/>
                      <a:pt x="1853" y="1369"/>
                      <a:pt x="1853" y="1369"/>
                    </a:cubicBezTo>
                    <a:cubicBezTo>
                      <a:pt x="1853" y="1046"/>
                      <a:pt x="1853" y="1046"/>
                      <a:pt x="1853" y="1046"/>
                    </a:cubicBezTo>
                    <a:cubicBezTo>
                      <a:pt x="2037" y="941"/>
                      <a:pt x="2195" y="796"/>
                      <a:pt x="2315" y="623"/>
                    </a:cubicBezTo>
                    <a:cubicBezTo>
                      <a:pt x="2124" y="531"/>
                      <a:pt x="1963" y="386"/>
                      <a:pt x="1853" y="205"/>
                    </a:cubicBezTo>
                    <a:close/>
                  </a:path>
                </a:pathLst>
              </a:custGeom>
              <a:solidFill>
                <a:srgbClr val="F3C8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1ïḓê"/>
              <p:cNvSpPr/>
              <p:nvPr/>
            </p:nvSpPr>
            <p:spPr bwMode="auto">
              <a:xfrm>
                <a:off x="6335478" y="3767214"/>
                <a:ext cx="561738" cy="1265390"/>
              </a:xfrm>
              <a:custGeom>
                <a:avLst/>
                <a:gdLst>
                  <a:gd name="T0" fmla="*/ 1858 w 1858"/>
                  <a:gd name="T1" fmla="*/ 0 h 4188"/>
                  <a:gd name="T2" fmla="*/ 897 w 1858"/>
                  <a:gd name="T3" fmla="*/ 378 h 4188"/>
                  <a:gd name="T4" fmla="*/ 0 w 1858"/>
                  <a:gd name="T5" fmla="*/ 55 h 4188"/>
                  <a:gd name="T6" fmla="*/ 936 w 1858"/>
                  <a:gd name="T7" fmla="*/ 4188 h 4188"/>
                  <a:gd name="T8" fmla="*/ 1858 w 1858"/>
                  <a:gd name="T9" fmla="*/ 0 h 4188"/>
                </a:gdLst>
                <a:ahLst/>
                <a:cxnLst>
                  <a:cxn ang="0">
                    <a:pos x="T0" y="T1"/>
                  </a:cxn>
                  <a:cxn ang="0">
                    <a:pos x="T2" y="T3"/>
                  </a:cxn>
                  <a:cxn ang="0">
                    <a:pos x="T4" y="T5"/>
                  </a:cxn>
                  <a:cxn ang="0">
                    <a:pos x="T6" y="T7"/>
                  </a:cxn>
                  <a:cxn ang="0">
                    <a:pos x="T8" y="T9"/>
                  </a:cxn>
                </a:cxnLst>
                <a:rect l="0" t="0" r="r" b="b"/>
                <a:pathLst>
                  <a:path w="1858" h="4188">
                    <a:moveTo>
                      <a:pt x="1858" y="0"/>
                    </a:moveTo>
                    <a:cubicBezTo>
                      <a:pt x="1606" y="234"/>
                      <a:pt x="1269" y="378"/>
                      <a:pt x="897" y="378"/>
                    </a:cubicBezTo>
                    <a:cubicBezTo>
                      <a:pt x="556" y="378"/>
                      <a:pt x="244" y="257"/>
                      <a:pt x="0" y="55"/>
                    </a:cubicBezTo>
                    <a:cubicBezTo>
                      <a:pt x="936" y="4188"/>
                      <a:pt x="936" y="4188"/>
                      <a:pt x="936" y="4188"/>
                    </a:cubicBezTo>
                    <a:lnTo>
                      <a:pt x="1858" y="0"/>
                    </a:lnTo>
                    <a:close/>
                  </a:path>
                </a:pathLst>
              </a:custGeom>
              <a:solidFill>
                <a:srgbClr val="D1D4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šḷïḑè"/>
              <p:cNvSpPr/>
              <p:nvPr/>
            </p:nvSpPr>
            <p:spPr bwMode="auto">
              <a:xfrm>
                <a:off x="6475419" y="3942635"/>
                <a:ext cx="279884" cy="1087999"/>
              </a:xfrm>
              <a:custGeom>
                <a:avLst/>
                <a:gdLst>
                  <a:gd name="T0" fmla="*/ 110 w 142"/>
                  <a:gd name="T1" fmla="*/ 449 h 552"/>
                  <a:gd name="T2" fmla="*/ 142 w 142"/>
                  <a:gd name="T3" fmla="*/ 370 h 552"/>
                  <a:gd name="T4" fmla="*/ 103 w 142"/>
                  <a:gd name="T5" fmla="*/ 10 h 552"/>
                  <a:gd name="T6" fmla="*/ 73 w 142"/>
                  <a:gd name="T7" fmla="*/ 1 h 552"/>
                  <a:gd name="T8" fmla="*/ 73 w 142"/>
                  <a:gd name="T9" fmla="*/ 0 h 552"/>
                  <a:gd name="T10" fmla="*/ 72 w 142"/>
                  <a:gd name="T11" fmla="*/ 1 h 552"/>
                  <a:gd name="T12" fmla="*/ 72 w 142"/>
                  <a:gd name="T13" fmla="*/ 0 h 552"/>
                  <a:gd name="T14" fmla="*/ 72 w 142"/>
                  <a:gd name="T15" fmla="*/ 1 h 552"/>
                  <a:gd name="T16" fmla="*/ 41 w 142"/>
                  <a:gd name="T17" fmla="*/ 10 h 552"/>
                  <a:gd name="T18" fmla="*/ 0 w 142"/>
                  <a:gd name="T19" fmla="*/ 394 h 552"/>
                  <a:gd name="T20" fmla="*/ 49 w 142"/>
                  <a:gd name="T21" fmla="*/ 486 h 552"/>
                  <a:gd name="T22" fmla="*/ 72 w 142"/>
                  <a:gd name="T23" fmla="*/ 552 h 552"/>
                  <a:gd name="T24" fmla="*/ 80 w 142"/>
                  <a:gd name="T25" fmla="*/ 538 h 552"/>
                  <a:gd name="T26" fmla="*/ 99 w 142"/>
                  <a:gd name="T27" fmla="*/ 484 h 552"/>
                  <a:gd name="T28" fmla="*/ 110 w 142"/>
                  <a:gd name="T29" fmla="*/ 449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 h="552">
                    <a:moveTo>
                      <a:pt x="110" y="449"/>
                    </a:moveTo>
                    <a:lnTo>
                      <a:pt x="142" y="370"/>
                    </a:lnTo>
                    <a:lnTo>
                      <a:pt x="103" y="10"/>
                    </a:lnTo>
                    <a:lnTo>
                      <a:pt x="73" y="1"/>
                    </a:lnTo>
                    <a:lnTo>
                      <a:pt x="73" y="0"/>
                    </a:lnTo>
                    <a:lnTo>
                      <a:pt x="72" y="1"/>
                    </a:lnTo>
                    <a:lnTo>
                      <a:pt x="72" y="0"/>
                    </a:lnTo>
                    <a:lnTo>
                      <a:pt x="72" y="1"/>
                    </a:lnTo>
                    <a:lnTo>
                      <a:pt x="41" y="10"/>
                    </a:lnTo>
                    <a:lnTo>
                      <a:pt x="0" y="394"/>
                    </a:lnTo>
                    <a:lnTo>
                      <a:pt x="49" y="486"/>
                    </a:lnTo>
                    <a:lnTo>
                      <a:pt x="72" y="552"/>
                    </a:lnTo>
                    <a:lnTo>
                      <a:pt x="80" y="538"/>
                    </a:lnTo>
                    <a:lnTo>
                      <a:pt x="99" y="484"/>
                    </a:lnTo>
                    <a:lnTo>
                      <a:pt x="110" y="449"/>
                    </a:lnTo>
                    <a:close/>
                  </a:path>
                </a:pathLst>
              </a:custGeom>
              <a:solidFill>
                <a:srgbClr val="435C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íṥľíḓé"/>
              <p:cNvSpPr/>
              <p:nvPr/>
            </p:nvSpPr>
            <p:spPr bwMode="auto">
              <a:xfrm>
                <a:off x="6503013" y="3832258"/>
                <a:ext cx="224695" cy="137971"/>
              </a:xfrm>
              <a:custGeom>
                <a:avLst/>
                <a:gdLst>
                  <a:gd name="T0" fmla="*/ 105 w 114"/>
                  <a:gd name="T1" fmla="*/ 7 h 70"/>
                  <a:gd name="T2" fmla="*/ 57 w 114"/>
                  <a:gd name="T3" fmla="*/ 0 h 70"/>
                  <a:gd name="T4" fmla="*/ 9 w 114"/>
                  <a:gd name="T5" fmla="*/ 7 h 70"/>
                  <a:gd name="T6" fmla="*/ 0 w 114"/>
                  <a:gd name="T7" fmla="*/ 33 h 70"/>
                  <a:gd name="T8" fmla="*/ 23 w 114"/>
                  <a:gd name="T9" fmla="*/ 69 h 70"/>
                  <a:gd name="T10" fmla="*/ 57 w 114"/>
                  <a:gd name="T11" fmla="*/ 70 h 70"/>
                  <a:gd name="T12" fmla="*/ 92 w 114"/>
                  <a:gd name="T13" fmla="*/ 69 h 70"/>
                  <a:gd name="T14" fmla="*/ 114 w 114"/>
                  <a:gd name="T15" fmla="*/ 33 h 70"/>
                  <a:gd name="T16" fmla="*/ 105 w 114"/>
                  <a:gd name="T17" fmla="*/ 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70">
                    <a:moveTo>
                      <a:pt x="105" y="7"/>
                    </a:moveTo>
                    <a:lnTo>
                      <a:pt x="57" y="0"/>
                    </a:lnTo>
                    <a:lnTo>
                      <a:pt x="9" y="7"/>
                    </a:lnTo>
                    <a:lnTo>
                      <a:pt x="0" y="33"/>
                    </a:lnTo>
                    <a:lnTo>
                      <a:pt x="23" y="69"/>
                    </a:lnTo>
                    <a:lnTo>
                      <a:pt x="57" y="70"/>
                    </a:lnTo>
                    <a:lnTo>
                      <a:pt x="92" y="69"/>
                    </a:lnTo>
                    <a:lnTo>
                      <a:pt x="114" y="33"/>
                    </a:lnTo>
                    <a:lnTo>
                      <a:pt x="105" y="7"/>
                    </a:lnTo>
                    <a:close/>
                  </a:path>
                </a:pathLst>
              </a:custGeom>
              <a:solidFill>
                <a:srgbClr val="435C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liďe"/>
              <p:cNvSpPr/>
              <p:nvPr/>
            </p:nvSpPr>
            <p:spPr bwMode="auto">
              <a:xfrm>
                <a:off x="6238898" y="3670635"/>
                <a:ext cx="372521" cy="374492"/>
              </a:xfrm>
              <a:custGeom>
                <a:avLst/>
                <a:gdLst>
                  <a:gd name="T0" fmla="*/ 36 w 189"/>
                  <a:gd name="T1" fmla="*/ 0 h 190"/>
                  <a:gd name="T2" fmla="*/ 189 w 189"/>
                  <a:gd name="T3" fmla="*/ 82 h 190"/>
                  <a:gd name="T4" fmla="*/ 80 w 189"/>
                  <a:gd name="T5" fmla="*/ 190 h 190"/>
                  <a:gd name="T6" fmla="*/ 0 w 189"/>
                  <a:gd name="T7" fmla="*/ 21 h 190"/>
                  <a:gd name="T8" fmla="*/ 36 w 189"/>
                  <a:gd name="T9" fmla="*/ 0 h 190"/>
                </a:gdLst>
                <a:ahLst/>
                <a:cxnLst>
                  <a:cxn ang="0">
                    <a:pos x="T0" y="T1"/>
                  </a:cxn>
                  <a:cxn ang="0">
                    <a:pos x="T2" y="T3"/>
                  </a:cxn>
                  <a:cxn ang="0">
                    <a:pos x="T4" y="T5"/>
                  </a:cxn>
                  <a:cxn ang="0">
                    <a:pos x="T6" y="T7"/>
                  </a:cxn>
                  <a:cxn ang="0">
                    <a:pos x="T8" y="T9"/>
                  </a:cxn>
                </a:cxnLst>
                <a:rect l="0" t="0" r="r" b="b"/>
                <a:pathLst>
                  <a:path w="189" h="190">
                    <a:moveTo>
                      <a:pt x="36" y="0"/>
                    </a:moveTo>
                    <a:lnTo>
                      <a:pt x="189" y="82"/>
                    </a:lnTo>
                    <a:lnTo>
                      <a:pt x="80" y="190"/>
                    </a:lnTo>
                    <a:lnTo>
                      <a:pt x="0" y="21"/>
                    </a:lnTo>
                    <a:lnTo>
                      <a:pt x="36" y="0"/>
                    </a:lnTo>
                    <a:close/>
                  </a:path>
                </a:pathLst>
              </a:custGeom>
              <a:solidFill>
                <a:srgbClr val="BECA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i$ḷîḓé"/>
              <p:cNvSpPr/>
              <p:nvPr/>
            </p:nvSpPr>
            <p:spPr bwMode="auto">
              <a:xfrm>
                <a:off x="6611420" y="3670635"/>
                <a:ext cx="370550" cy="374492"/>
              </a:xfrm>
              <a:custGeom>
                <a:avLst/>
                <a:gdLst>
                  <a:gd name="T0" fmla="*/ 153 w 188"/>
                  <a:gd name="T1" fmla="*/ 0 h 190"/>
                  <a:gd name="T2" fmla="*/ 0 w 188"/>
                  <a:gd name="T3" fmla="*/ 82 h 190"/>
                  <a:gd name="T4" fmla="*/ 109 w 188"/>
                  <a:gd name="T5" fmla="*/ 190 h 190"/>
                  <a:gd name="T6" fmla="*/ 188 w 188"/>
                  <a:gd name="T7" fmla="*/ 23 h 190"/>
                  <a:gd name="T8" fmla="*/ 153 w 188"/>
                  <a:gd name="T9" fmla="*/ 0 h 190"/>
                </a:gdLst>
                <a:ahLst/>
                <a:cxnLst>
                  <a:cxn ang="0">
                    <a:pos x="T0" y="T1"/>
                  </a:cxn>
                  <a:cxn ang="0">
                    <a:pos x="T2" y="T3"/>
                  </a:cxn>
                  <a:cxn ang="0">
                    <a:pos x="T4" y="T5"/>
                  </a:cxn>
                  <a:cxn ang="0">
                    <a:pos x="T6" y="T7"/>
                  </a:cxn>
                  <a:cxn ang="0">
                    <a:pos x="T8" y="T9"/>
                  </a:cxn>
                </a:cxnLst>
                <a:rect l="0" t="0" r="r" b="b"/>
                <a:pathLst>
                  <a:path w="188" h="190">
                    <a:moveTo>
                      <a:pt x="153" y="0"/>
                    </a:moveTo>
                    <a:lnTo>
                      <a:pt x="0" y="82"/>
                    </a:lnTo>
                    <a:lnTo>
                      <a:pt x="109" y="190"/>
                    </a:lnTo>
                    <a:lnTo>
                      <a:pt x="188" y="23"/>
                    </a:lnTo>
                    <a:lnTo>
                      <a:pt x="153" y="0"/>
                    </a:lnTo>
                    <a:close/>
                  </a:path>
                </a:pathLst>
              </a:custGeom>
              <a:solidFill>
                <a:srgbClr val="BECA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ṧļïďe"/>
              <p:cNvSpPr/>
              <p:nvPr/>
            </p:nvSpPr>
            <p:spPr bwMode="auto">
              <a:xfrm>
                <a:off x="6619304" y="2324433"/>
                <a:ext cx="516405" cy="1253564"/>
              </a:xfrm>
              <a:custGeom>
                <a:avLst/>
                <a:gdLst>
                  <a:gd name="T0" fmla="*/ 1708 w 1708"/>
                  <a:gd name="T1" fmla="*/ 1591 h 4151"/>
                  <a:gd name="T2" fmla="*/ 35 w 1708"/>
                  <a:gd name="T3" fmla="*/ 0 h 4151"/>
                  <a:gd name="T4" fmla="*/ 0 w 1708"/>
                  <a:gd name="T5" fmla="*/ 0 h 4151"/>
                  <a:gd name="T6" fmla="*/ 0 w 1708"/>
                  <a:gd name="T7" fmla="*/ 4151 h 4151"/>
                  <a:gd name="T8" fmla="*/ 1708 w 1708"/>
                  <a:gd name="T9" fmla="*/ 1591 h 4151"/>
                </a:gdLst>
                <a:ahLst/>
                <a:cxnLst>
                  <a:cxn ang="0">
                    <a:pos x="T0" y="T1"/>
                  </a:cxn>
                  <a:cxn ang="0">
                    <a:pos x="T2" y="T3"/>
                  </a:cxn>
                  <a:cxn ang="0">
                    <a:pos x="T4" y="T5"/>
                  </a:cxn>
                  <a:cxn ang="0">
                    <a:pos x="T6" y="T7"/>
                  </a:cxn>
                  <a:cxn ang="0">
                    <a:pos x="T8" y="T9"/>
                  </a:cxn>
                </a:cxnLst>
                <a:rect l="0" t="0" r="r" b="b"/>
                <a:pathLst>
                  <a:path w="1708" h="4151">
                    <a:moveTo>
                      <a:pt x="1708" y="1591"/>
                    </a:moveTo>
                    <a:cubicBezTo>
                      <a:pt x="1708" y="381"/>
                      <a:pt x="981" y="0"/>
                      <a:pt x="35" y="0"/>
                    </a:cubicBezTo>
                    <a:cubicBezTo>
                      <a:pt x="24" y="0"/>
                      <a:pt x="12" y="0"/>
                      <a:pt x="0" y="0"/>
                    </a:cubicBezTo>
                    <a:cubicBezTo>
                      <a:pt x="0" y="4151"/>
                      <a:pt x="0" y="4151"/>
                      <a:pt x="0" y="4151"/>
                    </a:cubicBezTo>
                    <a:cubicBezTo>
                      <a:pt x="944" y="4148"/>
                      <a:pt x="1708" y="2799"/>
                      <a:pt x="1708" y="1591"/>
                    </a:cubicBezTo>
                    <a:close/>
                  </a:path>
                </a:pathLst>
              </a:custGeom>
              <a:solidFill>
                <a:srgbClr val="F3C8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ṩľiḋe"/>
              <p:cNvSpPr/>
              <p:nvPr/>
            </p:nvSpPr>
            <p:spPr bwMode="auto">
              <a:xfrm>
                <a:off x="6098956" y="2324433"/>
                <a:ext cx="520347" cy="1253564"/>
              </a:xfrm>
              <a:custGeom>
                <a:avLst/>
                <a:gdLst>
                  <a:gd name="T0" fmla="*/ 1672 w 1715"/>
                  <a:gd name="T1" fmla="*/ 1 h 4151"/>
                  <a:gd name="T2" fmla="*/ 0 w 1715"/>
                  <a:gd name="T3" fmla="*/ 1591 h 4151"/>
                  <a:gd name="T4" fmla="*/ 1672 w 1715"/>
                  <a:gd name="T5" fmla="*/ 4150 h 4151"/>
                  <a:gd name="T6" fmla="*/ 1711 w 1715"/>
                  <a:gd name="T7" fmla="*/ 4151 h 4151"/>
                  <a:gd name="T8" fmla="*/ 1715 w 1715"/>
                  <a:gd name="T9" fmla="*/ 4151 h 4151"/>
                  <a:gd name="T10" fmla="*/ 1715 w 1715"/>
                  <a:gd name="T11" fmla="*/ 0 h 4151"/>
                  <a:gd name="T12" fmla="*/ 1672 w 1715"/>
                  <a:gd name="T13" fmla="*/ 1 h 4151"/>
                </a:gdLst>
                <a:ahLst/>
                <a:cxnLst>
                  <a:cxn ang="0">
                    <a:pos x="T0" y="T1"/>
                  </a:cxn>
                  <a:cxn ang="0">
                    <a:pos x="T2" y="T3"/>
                  </a:cxn>
                  <a:cxn ang="0">
                    <a:pos x="T4" y="T5"/>
                  </a:cxn>
                  <a:cxn ang="0">
                    <a:pos x="T6" y="T7"/>
                  </a:cxn>
                  <a:cxn ang="0">
                    <a:pos x="T8" y="T9"/>
                  </a:cxn>
                  <a:cxn ang="0">
                    <a:pos x="T10" y="T11"/>
                  </a:cxn>
                  <a:cxn ang="0">
                    <a:pos x="T12" y="T13"/>
                  </a:cxn>
                </a:cxnLst>
                <a:rect l="0" t="0" r="r" b="b"/>
                <a:pathLst>
                  <a:path w="1715" h="4151">
                    <a:moveTo>
                      <a:pt x="1672" y="1"/>
                    </a:moveTo>
                    <a:cubicBezTo>
                      <a:pt x="761" y="31"/>
                      <a:pt x="0" y="414"/>
                      <a:pt x="0" y="1591"/>
                    </a:cubicBezTo>
                    <a:cubicBezTo>
                      <a:pt x="0" y="2784"/>
                      <a:pt x="745" y="4124"/>
                      <a:pt x="1672" y="4150"/>
                    </a:cubicBezTo>
                    <a:cubicBezTo>
                      <a:pt x="1685" y="4151"/>
                      <a:pt x="1698" y="4151"/>
                      <a:pt x="1711" y="4151"/>
                    </a:cubicBezTo>
                    <a:cubicBezTo>
                      <a:pt x="1713" y="4151"/>
                      <a:pt x="1714" y="4151"/>
                      <a:pt x="1715" y="4151"/>
                    </a:cubicBezTo>
                    <a:cubicBezTo>
                      <a:pt x="1715" y="0"/>
                      <a:pt x="1715" y="0"/>
                      <a:pt x="1715" y="0"/>
                    </a:cubicBezTo>
                    <a:cubicBezTo>
                      <a:pt x="1701" y="1"/>
                      <a:pt x="1687" y="1"/>
                      <a:pt x="1672" y="1"/>
                    </a:cubicBezTo>
                    <a:close/>
                  </a:path>
                </a:pathLst>
              </a:custGeom>
              <a:solidFill>
                <a:srgbClr val="F3C8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s1îďè"/>
              <p:cNvSpPr/>
              <p:nvPr/>
            </p:nvSpPr>
            <p:spPr bwMode="auto">
              <a:xfrm>
                <a:off x="6041796" y="2214056"/>
                <a:ext cx="1129389" cy="745043"/>
              </a:xfrm>
              <a:custGeom>
                <a:avLst/>
                <a:gdLst>
                  <a:gd name="T0" fmla="*/ 3728 w 3732"/>
                  <a:gd name="T1" fmla="*/ 1805 h 2470"/>
                  <a:gd name="T2" fmla="*/ 3466 w 3732"/>
                  <a:gd name="T3" fmla="*/ 872 h 2470"/>
                  <a:gd name="T4" fmla="*/ 2350 w 3732"/>
                  <a:gd name="T5" fmla="*/ 15 h 2470"/>
                  <a:gd name="T6" fmla="*/ 1040 w 3732"/>
                  <a:gd name="T7" fmla="*/ 158 h 2470"/>
                  <a:gd name="T8" fmla="*/ 731 w 3732"/>
                  <a:gd name="T9" fmla="*/ 205 h 2470"/>
                  <a:gd name="T10" fmla="*/ 572 w 3732"/>
                  <a:gd name="T11" fmla="*/ 204 h 2470"/>
                  <a:gd name="T12" fmla="*/ 605 w 3732"/>
                  <a:gd name="T13" fmla="*/ 286 h 2470"/>
                  <a:gd name="T14" fmla="*/ 634 w 3732"/>
                  <a:gd name="T15" fmla="*/ 350 h 2470"/>
                  <a:gd name="T16" fmla="*/ 547 w 3732"/>
                  <a:gd name="T17" fmla="*/ 329 h 2470"/>
                  <a:gd name="T18" fmla="*/ 204 w 3732"/>
                  <a:gd name="T19" fmla="*/ 166 h 2470"/>
                  <a:gd name="T20" fmla="*/ 271 w 3732"/>
                  <a:gd name="T21" fmla="*/ 613 h 2470"/>
                  <a:gd name="T22" fmla="*/ 373 w 3732"/>
                  <a:gd name="T23" fmla="*/ 796 h 2470"/>
                  <a:gd name="T24" fmla="*/ 227 w 3732"/>
                  <a:gd name="T25" fmla="*/ 757 h 2470"/>
                  <a:gd name="T26" fmla="*/ 288 w 3732"/>
                  <a:gd name="T27" fmla="*/ 972 h 2470"/>
                  <a:gd name="T28" fmla="*/ 0 w 3732"/>
                  <a:gd name="T29" fmla="*/ 2008 h 2470"/>
                  <a:gd name="T30" fmla="*/ 395 w 3732"/>
                  <a:gd name="T31" fmla="*/ 2470 h 2470"/>
                  <a:gd name="T32" fmla="*/ 532 w 3732"/>
                  <a:gd name="T33" fmla="*/ 2138 h 2470"/>
                  <a:gd name="T34" fmla="*/ 541 w 3732"/>
                  <a:gd name="T35" fmla="*/ 2139 h 2470"/>
                  <a:gd name="T36" fmla="*/ 718 w 3732"/>
                  <a:gd name="T37" fmla="*/ 1264 h 2470"/>
                  <a:gd name="T38" fmla="*/ 2866 w 3732"/>
                  <a:gd name="T39" fmla="*/ 1295 h 2470"/>
                  <a:gd name="T40" fmla="*/ 2913 w 3732"/>
                  <a:gd name="T41" fmla="*/ 1241 h 2470"/>
                  <a:gd name="T42" fmla="*/ 3420 w 3732"/>
                  <a:gd name="T43" fmla="*/ 2353 h 2470"/>
                  <a:gd name="T44" fmla="*/ 3730 w 3732"/>
                  <a:gd name="T45" fmla="*/ 1834 h 2470"/>
                  <a:gd name="T46" fmla="*/ 3732 w 3732"/>
                  <a:gd name="T47" fmla="*/ 1833 h 2470"/>
                  <a:gd name="T48" fmla="*/ 3728 w 3732"/>
                  <a:gd name="T49" fmla="*/ 1805 h 2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32" h="2470">
                    <a:moveTo>
                      <a:pt x="3728" y="1805"/>
                    </a:moveTo>
                    <a:cubicBezTo>
                      <a:pt x="3687" y="1264"/>
                      <a:pt x="3466" y="872"/>
                      <a:pt x="3466" y="872"/>
                    </a:cubicBezTo>
                    <a:cubicBezTo>
                      <a:pt x="3614" y="214"/>
                      <a:pt x="2999" y="31"/>
                      <a:pt x="2350" y="15"/>
                    </a:cubicBezTo>
                    <a:cubicBezTo>
                      <a:pt x="1750" y="0"/>
                      <a:pt x="1122" y="129"/>
                      <a:pt x="1040" y="158"/>
                    </a:cubicBezTo>
                    <a:cubicBezTo>
                      <a:pt x="953" y="190"/>
                      <a:pt x="829" y="201"/>
                      <a:pt x="731" y="205"/>
                    </a:cubicBezTo>
                    <a:cubicBezTo>
                      <a:pt x="641" y="208"/>
                      <a:pt x="572" y="204"/>
                      <a:pt x="572" y="204"/>
                    </a:cubicBezTo>
                    <a:cubicBezTo>
                      <a:pt x="576" y="219"/>
                      <a:pt x="590" y="254"/>
                      <a:pt x="605" y="286"/>
                    </a:cubicBezTo>
                    <a:cubicBezTo>
                      <a:pt x="619" y="320"/>
                      <a:pt x="634" y="350"/>
                      <a:pt x="634" y="350"/>
                    </a:cubicBezTo>
                    <a:cubicBezTo>
                      <a:pt x="616" y="352"/>
                      <a:pt x="585" y="343"/>
                      <a:pt x="547" y="329"/>
                    </a:cubicBezTo>
                    <a:cubicBezTo>
                      <a:pt x="416" y="281"/>
                      <a:pt x="204" y="166"/>
                      <a:pt x="204" y="166"/>
                    </a:cubicBezTo>
                    <a:cubicBezTo>
                      <a:pt x="181" y="343"/>
                      <a:pt x="223" y="500"/>
                      <a:pt x="271" y="613"/>
                    </a:cubicBezTo>
                    <a:cubicBezTo>
                      <a:pt x="319" y="727"/>
                      <a:pt x="373" y="796"/>
                      <a:pt x="373" y="796"/>
                    </a:cubicBezTo>
                    <a:cubicBezTo>
                      <a:pt x="334" y="803"/>
                      <a:pt x="227" y="757"/>
                      <a:pt x="227" y="757"/>
                    </a:cubicBezTo>
                    <a:cubicBezTo>
                      <a:pt x="258" y="903"/>
                      <a:pt x="288" y="972"/>
                      <a:pt x="288" y="972"/>
                    </a:cubicBezTo>
                    <a:cubicBezTo>
                      <a:pt x="57" y="1141"/>
                      <a:pt x="4" y="1627"/>
                      <a:pt x="0" y="2008"/>
                    </a:cubicBezTo>
                    <a:cubicBezTo>
                      <a:pt x="395" y="2470"/>
                      <a:pt x="395" y="2470"/>
                      <a:pt x="395" y="2470"/>
                    </a:cubicBezTo>
                    <a:cubicBezTo>
                      <a:pt x="532" y="2138"/>
                      <a:pt x="532" y="2138"/>
                      <a:pt x="532" y="2138"/>
                    </a:cubicBezTo>
                    <a:cubicBezTo>
                      <a:pt x="535" y="2139"/>
                      <a:pt x="538" y="2139"/>
                      <a:pt x="541" y="2139"/>
                    </a:cubicBezTo>
                    <a:cubicBezTo>
                      <a:pt x="638" y="1790"/>
                      <a:pt x="718" y="1264"/>
                      <a:pt x="718" y="1264"/>
                    </a:cubicBezTo>
                    <a:cubicBezTo>
                      <a:pt x="1751" y="1927"/>
                      <a:pt x="2701" y="1397"/>
                      <a:pt x="2866" y="1295"/>
                    </a:cubicBezTo>
                    <a:cubicBezTo>
                      <a:pt x="2897" y="1261"/>
                      <a:pt x="2913" y="1241"/>
                      <a:pt x="2913" y="1241"/>
                    </a:cubicBezTo>
                    <a:cubicBezTo>
                      <a:pt x="2972" y="1904"/>
                      <a:pt x="3420" y="2353"/>
                      <a:pt x="3420" y="2353"/>
                    </a:cubicBezTo>
                    <a:cubicBezTo>
                      <a:pt x="3383" y="2071"/>
                      <a:pt x="3706" y="1850"/>
                      <a:pt x="3730" y="1834"/>
                    </a:cubicBezTo>
                    <a:cubicBezTo>
                      <a:pt x="3731" y="1834"/>
                      <a:pt x="3732" y="1833"/>
                      <a:pt x="3732" y="1833"/>
                    </a:cubicBezTo>
                    <a:cubicBezTo>
                      <a:pt x="3731" y="1823"/>
                      <a:pt x="3730" y="1814"/>
                      <a:pt x="3728" y="1805"/>
                    </a:cubicBezTo>
                    <a:close/>
                  </a:path>
                </a:pathLst>
              </a:custGeom>
              <a:solidFill>
                <a:srgbClr val="3C261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iŝḷíḍe"/>
              <p:cNvSpPr/>
              <p:nvPr/>
            </p:nvSpPr>
            <p:spPr bwMode="auto">
              <a:xfrm>
                <a:off x="7047013" y="2761998"/>
                <a:ext cx="173449" cy="289738"/>
              </a:xfrm>
              <a:custGeom>
                <a:avLst/>
                <a:gdLst>
                  <a:gd name="T0" fmla="*/ 65 w 568"/>
                  <a:gd name="T1" fmla="*/ 421 h 958"/>
                  <a:gd name="T2" fmla="*/ 167 w 568"/>
                  <a:gd name="T3" fmla="*/ 926 h 958"/>
                  <a:gd name="T4" fmla="*/ 504 w 568"/>
                  <a:gd name="T5" fmla="*/ 537 h 958"/>
                  <a:gd name="T6" fmla="*/ 401 w 568"/>
                  <a:gd name="T7" fmla="*/ 32 h 958"/>
                  <a:gd name="T8" fmla="*/ 65 w 568"/>
                  <a:gd name="T9" fmla="*/ 421 h 958"/>
                </a:gdLst>
                <a:ahLst/>
                <a:cxnLst>
                  <a:cxn ang="0">
                    <a:pos x="T0" y="T1"/>
                  </a:cxn>
                  <a:cxn ang="0">
                    <a:pos x="T2" y="T3"/>
                  </a:cxn>
                  <a:cxn ang="0">
                    <a:pos x="T4" y="T5"/>
                  </a:cxn>
                  <a:cxn ang="0">
                    <a:pos x="T6" y="T7"/>
                  </a:cxn>
                  <a:cxn ang="0">
                    <a:pos x="T8" y="T9"/>
                  </a:cxn>
                </a:cxnLst>
                <a:rect l="0" t="0" r="r" b="b"/>
                <a:pathLst>
                  <a:path w="568" h="958">
                    <a:moveTo>
                      <a:pt x="65" y="421"/>
                    </a:moveTo>
                    <a:cubicBezTo>
                      <a:pt x="0" y="668"/>
                      <a:pt x="46" y="894"/>
                      <a:pt x="167" y="926"/>
                    </a:cubicBezTo>
                    <a:cubicBezTo>
                      <a:pt x="288" y="958"/>
                      <a:pt x="439" y="783"/>
                      <a:pt x="504" y="537"/>
                    </a:cubicBezTo>
                    <a:cubicBezTo>
                      <a:pt x="568" y="290"/>
                      <a:pt x="522" y="64"/>
                      <a:pt x="401" y="32"/>
                    </a:cubicBezTo>
                    <a:cubicBezTo>
                      <a:pt x="280" y="0"/>
                      <a:pt x="130" y="174"/>
                      <a:pt x="65" y="421"/>
                    </a:cubicBezTo>
                    <a:close/>
                  </a:path>
                </a:pathLst>
              </a:custGeom>
              <a:solidFill>
                <a:srgbClr val="F3C8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í$ľïďé"/>
              <p:cNvSpPr/>
              <p:nvPr/>
            </p:nvSpPr>
            <p:spPr bwMode="auto">
              <a:xfrm>
                <a:off x="6012232" y="2767911"/>
                <a:ext cx="161623" cy="281854"/>
              </a:xfrm>
              <a:custGeom>
                <a:avLst/>
                <a:gdLst>
                  <a:gd name="T0" fmla="*/ 465 w 533"/>
                  <a:gd name="T1" fmla="*/ 412 h 935"/>
                  <a:gd name="T2" fmla="*/ 387 w 533"/>
                  <a:gd name="T3" fmla="*/ 905 h 935"/>
                  <a:gd name="T4" fmla="*/ 67 w 533"/>
                  <a:gd name="T5" fmla="*/ 523 h 935"/>
                  <a:gd name="T6" fmla="*/ 145 w 533"/>
                  <a:gd name="T7" fmla="*/ 31 h 935"/>
                  <a:gd name="T8" fmla="*/ 465 w 533"/>
                  <a:gd name="T9" fmla="*/ 412 h 935"/>
                </a:gdLst>
                <a:ahLst/>
                <a:cxnLst>
                  <a:cxn ang="0">
                    <a:pos x="T0" y="T1"/>
                  </a:cxn>
                  <a:cxn ang="0">
                    <a:pos x="T2" y="T3"/>
                  </a:cxn>
                  <a:cxn ang="0">
                    <a:pos x="T4" y="T5"/>
                  </a:cxn>
                  <a:cxn ang="0">
                    <a:pos x="T6" y="T7"/>
                  </a:cxn>
                  <a:cxn ang="0">
                    <a:pos x="T8" y="T9"/>
                  </a:cxn>
                </a:cxnLst>
                <a:rect l="0" t="0" r="r" b="b"/>
                <a:pathLst>
                  <a:path w="533" h="935">
                    <a:moveTo>
                      <a:pt x="465" y="412"/>
                    </a:moveTo>
                    <a:cubicBezTo>
                      <a:pt x="533" y="654"/>
                      <a:pt x="497" y="874"/>
                      <a:pt x="387" y="905"/>
                    </a:cubicBezTo>
                    <a:cubicBezTo>
                      <a:pt x="277" y="935"/>
                      <a:pt x="134" y="765"/>
                      <a:pt x="67" y="523"/>
                    </a:cubicBezTo>
                    <a:cubicBezTo>
                      <a:pt x="0" y="282"/>
                      <a:pt x="35" y="62"/>
                      <a:pt x="145" y="31"/>
                    </a:cubicBezTo>
                    <a:cubicBezTo>
                      <a:pt x="255" y="0"/>
                      <a:pt x="399" y="171"/>
                      <a:pt x="465" y="412"/>
                    </a:cubicBez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íṧ1íḍé"/>
              <p:cNvSpPr/>
              <p:nvPr/>
            </p:nvSpPr>
            <p:spPr bwMode="auto">
              <a:xfrm>
                <a:off x="6160057" y="3670635"/>
                <a:ext cx="459245" cy="1361969"/>
              </a:xfrm>
              <a:custGeom>
                <a:avLst/>
                <a:gdLst>
                  <a:gd name="T0" fmla="*/ 233 w 233"/>
                  <a:gd name="T1" fmla="*/ 691 h 691"/>
                  <a:gd name="T2" fmla="*/ 89 w 233"/>
                  <a:gd name="T3" fmla="*/ 58 h 691"/>
                  <a:gd name="T4" fmla="*/ 76 w 233"/>
                  <a:gd name="T5" fmla="*/ 0 h 691"/>
                  <a:gd name="T6" fmla="*/ 50 w 233"/>
                  <a:gd name="T7" fmla="*/ 16 h 691"/>
                  <a:gd name="T8" fmla="*/ 40 w 233"/>
                  <a:gd name="T9" fmla="*/ 21 h 691"/>
                  <a:gd name="T10" fmla="*/ 0 w 233"/>
                  <a:gd name="T11" fmla="*/ 185 h 691"/>
                  <a:gd name="T12" fmla="*/ 55 w 233"/>
                  <a:gd name="T13" fmla="*/ 199 h 691"/>
                  <a:gd name="T14" fmla="*/ 18 w 233"/>
                  <a:gd name="T15" fmla="*/ 267 h 691"/>
                  <a:gd name="T16" fmla="*/ 233 w 233"/>
                  <a:gd name="T17" fmla="*/ 691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3" h="691">
                    <a:moveTo>
                      <a:pt x="233" y="691"/>
                    </a:moveTo>
                    <a:lnTo>
                      <a:pt x="89" y="58"/>
                    </a:lnTo>
                    <a:lnTo>
                      <a:pt x="76" y="0"/>
                    </a:lnTo>
                    <a:lnTo>
                      <a:pt x="50" y="16"/>
                    </a:lnTo>
                    <a:lnTo>
                      <a:pt x="40" y="21"/>
                    </a:lnTo>
                    <a:lnTo>
                      <a:pt x="0" y="185"/>
                    </a:lnTo>
                    <a:lnTo>
                      <a:pt x="55" y="199"/>
                    </a:lnTo>
                    <a:lnTo>
                      <a:pt x="18" y="267"/>
                    </a:lnTo>
                    <a:lnTo>
                      <a:pt x="233" y="691"/>
                    </a:lnTo>
                    <a:close/>
                  </a:path>
                </a:pathLst>
              </a:cu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ļíḍè"/>
              <p:cNvSpPr/>
              <p:nvPr/>
            </p:nvSpPr>
            <p:spPr bwMode="auto">
              <a:xfrm>
                <a:off x="6619304" y="3672605"/>
                <a:ext cx="449391" cy="1359999"/>
              </a:xfrm>
              <a:custGeom>
                <a:avLst/>
                <a:gdLst>
                  <a:gd name="T0" fmla="*/ 228 w 228"/>
                  <a:gd name="T1" fmla="*/ 184 h 690"/>
                  <a:gd name="T2" fmla="*/ 188 w 228"/>
                  <a:gd name="T3" fmla="*/ 20 h 690"/>
                  <a:gd name="T4" fmla="*/ 188 w 228"/>
                  <a:gd name="T5" fmla="*/ 20 h 690"/>
                  <a:gd name="T6" fmla="*/ 151 w 228"/>
                  <a:gd name="T7" fmla="*/ 0 h 690"/>
                  <a:gd name="T8" fmla="*/ 141 w 228"/>
                  <a:gd name="T9" fmla="*/ 48 h 690"/>
                  <a:gd name="T10" fmla="*/ 0 w 228"/>
                  <a:gd name="T11" fmla="*/ 690 h 690"/>
                  <a:gd name="T12" fmla="*/ 210 w 228"/>
                  <a:gd name="T13" fmla="*/ 266 h 690"/>
                  <a:gd name="T14" fmla="*/ 173 w 228"/>
                  <a:gd name="T15" fmla="*/ 198 h 690"/>
                  <a:gd name="T16" fmla="*/ 228 w 228"/>
                  <a:gd name="T17" fmla="*/ 184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690">
                    <a:moveTo>
                      <a:pt x="228" y="184"/>
                    </a:moveTo>
                    <a:lnTo>
                      <a:pt x="188" y="20"/>
                    </a:lnTo>
                    <a:lnTo>
                      <a:pt x="188" y="20"/>
                    </a:lnTo>
                    <a:lnTo>
                      <a:pt x="151" y="0"/>
                    </a:lnTo>
                    <a:lnTo>
                      <a:pt x="141" y="48"/>
                    </a:lnTo>
                    <a:lnTo>
                      <a:pt x="0" y="690"/>
                    </a:lnTo>
                    <a:lnTo>
                      <a:pt x="210" y="266"/>
                    </a:lnTo>
                    <a:lnTo>
                      <a:pt x="173" y="198"/>
                    </a:lnTo>
                    <a:lnTo>
                      <a:pt x="228" y="184"/>
                    </a:lnTo>
                    <a:close/>
                  </a:path>
                </a:pathLst>
              </a:cu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Sḻiḍé"/>
              <p:cNvSpPr/>
              <p:nvPr/>
            </p:nvSpPr>
            <p:spPr bwMode="auto">
              <a:xfrm>
                <a:off x="4338842" y="3002461"/>
                <a:ext cx="1635940" cy="1911882"/>
              </a:xfrm>
              <a:custGeom>
                <a:avLst/>
                <a:gdLst>
                  <a:gd name="T0" fmla="*/ 830 w 830"/>
                  <a:gd name="T1" fmla="*/ 836 h 970"/>
                  <a:gd name="T2" fmla="*/ 169 w 830"/>
                  <a:gd name="T3" fmla="*/ 970 h 970"/>
                  <a:gd name="T4" fmla="*/ 0 w 830"/>
                  <a:gd name="T5" fmla="*/ 133 h 970"/>
                  <a:gd name="T6" fmla="*/ 661 w 830"/>
                  <a:gd name="T7" fmla="*/ 0 h 970"/>
                  <a:gd name="T8" fmla="*/ 830 w 830"/>
                  <a:gd name="T9" fmla="*/ 836 h 970"/>
                </a:gdLst>
                <a:ahLst/>
                <a:cxnLst>
                  <a:cxn ang="0">
                    <a:pos x="T0" y="T1"/>
                  </a:cxn>
                  <a:cxn ang="0">
                    <a:pos x="T2" y="T3"/>
                  </a:cxn>
                  <a:cxn ang="0">
                    <a:pos x="T4" y="T5"/>
                  </a:cxn>
                  <a:cxn ang="0">
                    <a:pos x="T6" y="T7"/>
                  </a:cxn>
                  <a:cxn ang="0">
                    <a:pos x="T8" y="T9"/>
                  </a:cxn>
                </a:cxnLst>
                <a:rect l="0" t="0" r="r" b="b"/>
                <a:pathLst>
                  <a:path w="830" h="970">
                    <a:moveTo>
                      <a:pt x="830" y="836"/>
                    </a:moveTo>
                    <a:lnTo>
                      <a:pt x="169" y="970"/>
                    </a:lnTo>
                    <a:lnTo>
                      <a:pt x="0" y="133"/>
                    </a:lnTo>
                    <a:lnTo>
                      <a:pt x="661" y="0"/>
                    </a:lnTo>
                    <a:lnTo>
                      <a:pt x="830" y="836"/>
                    </a:lnTo>
                    <a:close/>
                  </a:path>
                </a:pathLst>
              </a:custGeom>
              <a:solidFill>
                <a:srgbClr val="1D626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ṩliḍe"/>
              <p:cNvSpPr/>
              <p:nvPr/>
            </p:nvSpPr>
            <p:spPr bwMode="auto">
              <a:xfrm>
                <a:off x="4423596" y="3102983"/>
                <a:ext cx="1464462" cy="1710839"/>
              </a:xfrm>
              <a:custGeom>
                <a:avLst/>
                <a:gdLst>
                  <a:gd name="T0" fmla="*/ 743 w 743"/>
                  <a:gd name="T1" fmla="*/ 748 h 868"/>
                  <a:gd name="T2" fmla="*/ 152 w 743"/>
                  <a:gd name="T3" fmla="*/ 868 h 868"/>
                  <a:gd name="T4" fmla="*/ 0 w 743"/>
                  <a:gd name="T5" fmla="*/ 120 h 868"/>
                  <a:gd name="T6" fmla="*/ 592 w 743"/>
                  <a:gd name="T7" fmla="*/ 0 h 868"/>
                  <a:gd name="T8" fmla="*/ 743 w 743"/>
                  <a:gd name="T9" fmla="*/ 748 h 868"/>
                </a:gdLst>
                <a:ahLst/>
                <a:cxnLst>
                  <a:cxn ang="0">
                    <a:pos x="T0" y="T1"/>
                  </a:cxn>
                  <a:cxn ang="0">
                    <a:pos x="T2" y="T3"/>
                  </a:cxn>
                  <a:cxn ang="0">
                    <a:pos x="T4" y="T5"/>
                  </a:cxn>
                  <a:cxn ang="0">
                    <a:pos x="T6" y="T7"/>
                  </a:cxn>
                  <a:cxn ang="0">
                    <a:pos x="T8" y="T9"/>
                  </a:cxn>
                </a:cxnLst>
                <a:rect l="0" t="0" r="r" b="b"/>
                <a:pathLst>
                  <a:path w="743" h="868">
                    <a:moveTo>
                      <a:pt x="743" y="748"/>
                    </a:moveTo>
                    <a:lnTo>
                      <a:pt x="152" y="868"/>
                    </a:lnTo>
                    <a:lnTo>
                      <a:pt x="0" y="120"/>
                    </a:lnTo>
                    <a:lnTo>
                      <a:pt x="592" y="0"/>
                    </a:lnTo>
                    <a:lnTo>
                      <a:pt x="743" y="74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ïSľíḑê"/>
              <p:cNvSpPr/>
              <p:nvPr/>
            </p:nvSpPr>
            <p:spPr bwMode="auto">
              <a:xfrm>
                <a:off x="4600987" y="3682461"/>
                <a:ext cx="102493" cy="104463"/>
              </a:xfrm>
              <a:custGeom>
                <a:avLst/>
                <a:gdLst>
                  <a:gd name="T0" fmla="*/ 52 w 52"/>
                  <a:gd name="T1" fmla="*/ 44 h 53"/>
                  <a:gd name="T2" fmla="*/ 8 w 52"/>
                  <a:gd name="T3" fmla="*/ 53 h 53"/>
                  <a:gd name="T4" fmla="*/ 0 w 52"/>
                  <a:gd name="T5" fmla="*/ 9 h 53"/>
                  <a:gd name="T6" fmla="*/ 44 w 52"/>
                  <a:gd name="T7" fmla="*/ 0 h 53"/>
                  <a:gd name="T8" fmla="*/ 52 w 52"/>
                  <a:gd name="T9" fmla="*/ 44 h 53"/>
                </a:gdLst>
                <a:ahLst/>
                <a:cxnLst>
                  <a:cxn ang="0">
                    <a:pos x="T0" y="T1"/>
                  </a:cxn>
                  <a:cxn ang="0">
                    <a:pos x="T2" y="T3"/>
                  </a:cxn>
                  <a:cxn ang="0">
                    <a:pos x="T4" y="T5"/>
                  </a:cxn>
                  <a:cxn ang="0">
                    <a:pos x="T6" y="T7"/>
                  </a:cxn>
                  <a:cxn ang="0">
                    <a:pos x="T8" y="T9"/>
                  </a:cxn>
                </a:cxnLst>
                <a:rect l="0" t="0" r="r" b="b"/>
                <a:pathLst>
                  <a:path w="52" h="53">
                    <a:moveTo>
                      <a:pt x="52" y="44"/>
                    </a:moveTo>
                    <a:lnTo>
                      <a:pt x="8" y="53"/>
                    </a:lnTo>
                    <a:lnTo>
                      <a:pt x="0" y="9"/>
                    </a:lnTo>
                    <a:lnTo>
                      <a:pt x="44" y="0"/>
                    </a:lnTo>
                    <a:lnTo>
                      <a:pt x="52"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îşļïďé"/>
              <p:cNvSpPr/>
              <p:nvPr/>
            </p:nvSpPr>
            <p:spPr bwMode="auto">
              <a:xfrm>
                <a:off x="4774436" y="3520838"/>
                <a:ext cx="739129" cy="230608"/>
              </a:xfrm>
              <a:custGeom>
                <a:avLst/>
                <a:gdLst>
                  <a:gd name="T0" fmla="*/ 375 w 375"/>
                  <a:gd name="T1" fmla="*/ 44 h 117"/>
                  <a:gd name="T2" fmla="*/ 9 w 375"/>
                  <a:gd name="T3" fmla="*/ 117 h 117"/>
                  <a:gd name="T4" fmla="*/ 0 w 375"/>
                  <a:gd name="T5" fmla="*/ 73 h 117"/>
                  <a:gd name="T6" fmla="*/ 366 w 375"/>
                  <a:gd name="T7" fmla="*/ 0 h 117"/>
                  <a:gd name="T8" fmla="*/ 375 w 375"/>
                  <a:gd name="T9" fmla="*/ 44 h 117"/>
                </a:gdLst>
                <a:ahLst/>
                <a:cxnLst>
                  <a:cxn ang="0">
                    <a:pos x="T0" y="T1"/>
                  </a:cxn>
                  <a:cxn ang="0">
                    <a:pos x="T2" y="T3"/>
                  </a:cxn>
                  <a:cxn ang="0">
                    <a:pos x="T4" y="T5"/>
                  </a:cxn>
                  <a:cxn ang="0">
                    <a:pos x="T6" y="T7"/>
                  </a:cxn>
                  <a:cxn ang="0">
                    <a:pos x="T8" y="T9"/>
                  </a:cxn>
                </a:cxnLst>
                <a:rect l="0" t="0" r="r" b="b"/>
                <a:pathLst>
                  <a:path w="375" h="117">
                    <a:moveTo>
                      <a:pt x="375" y="44"/>
                    </a:moveTo>
                    <a:lnTo>
                      <a:pt x="9" y="117"/>
                    </a:lnTo>
                    <a:lnTo>
                      <a:pt x="0" y="73"/>
                    </a:lnTo>
                    <a:lnTo>
                      <a:pt x="366" y="0"/>
                    </a:lnTo>
                    <a:lnTo>
                      <a:pt x="375"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ṩḷíďè"/>
              <p:cNvSpPr/>
              <p:nvPr/>
            </p:nvSpPr>
            <p:spPr bwMode="auto">
              <a:xfrm>
                <a:off x="4632523" y="3848026"/>
                <a:ext cx="104463" cy="104463"/>
              </a:xfrm>
              <a:custGeom>
                <a:avLst/>
                <a:gdLst>
                  <a:gd name="T0" fmla="*/ 53 w 53"/>
                  <a:gd name="T1" fmla="*/ 44 h 53"/>
                  <a:gd name="T2" fmla="*/ 9 w 53"/>
                  <a:gd name="T3" fmla="*/ 53 h 53"/>
                  <a:gd name="T4" fmla="*/ 0 w 53"/>
                  <a:gd name="T5" fmla="*/ 9 h 53"/>
                  <a:gd name="T6" fmla="*/ 44 w 53"/>
                  <a:gd name="T7" fmla="*/ 0 h 53"/>
                  <a:gd name="T8" fmla="*/ 53 w 53"/>
                  <a:gd name="T9" fmla="*/ 44 h 53"/>
                </a:gdLst>
                <a:ahLst/>
                <a:cxnLst>
                  <a:cxn ang="0">
                    <a:pos x="T0" y="T1"/>
                  </a:cxn>
                  <a:cxn ang="0">
                    <a:pos x="T2" y="T3"/>
                  </a:cxn>
                  <a:cxn ang="0">
                    <a:pos x="T4" y="T5"/>
                  </a:cxn>
                  <a:cxn ang="0">
                    <a:pos x="T6" y="T7"/>
                  </a:cxn>
                  <a:cxn ang="0">
                    <a:pos x="T8" y="T9"/>
                  </a:cxn>
                </a:cxnLst>
                <a:rect l="0" t="0" r="r" b="b"/>
                <a:pathLst>
                  <a:path w="53" h="53">
                    <a:moveTo>
                      <a:pt x="53" y="44"/>
                    </a:moveTo>
                    <a:lnTo>
                      <a:pt x="9" y="53"/>
                    </a:lnTo>
                    <a:lnTo>
                      <a:pt x="0" y="9"/>
                    </a:lnTo>
                    <a:lnTo>
                      <a:pt x="44" y="0"/>
                    </a:lnTo>
                    <a:lnTo>
                      <a:pt x="53"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šlíḋè"/>
              <p:cNvSpPr/>
              <p:nvPr/>
            </p:nvSpPr>
            <p:spPr bwMode="auto">
              <a:xfrm>
                <a:off x="4807943" y="3702171"/>
                <a:ext cx="646492" cy="214840"/>
              </a:xfrm>
              <a:custGeom>
                <a:avLst/>
                <a:gdLst>
                  <a:gd name="T0" fmla="*/ 328 w 328"/>
                  <a:gd name="T1" fmla="*/ 44 h 109"/>
                  <a:gd name="T2" fmla="*/ 8 w 328"/>
                  <a:gd name="T3" fmla="*/ 109 h 109"/>
                  <a:gd name="T4" fmla="*/ 0 w 328"/>
                  <a:gd name="T5" fmla="*/ 65 h 109"/>
                  <a:gd name="T6" fmla="*/ 319 w 328"/>
                  <a:gd name="T7" fmla="*/ 0 h 109"/>
                  <a:gd name="T8" fmla="*/ 328 w 328"/>
                  <a:gd name="T9" fmla="*/ 44 h 109"/>
                </a:gdLst>
                <a:ahLst/>
                <a:cxnLst>
                  <a:cxn ang="0">
                    <a:pos x="T0" y="T1"/>
                  </a:cxn>
                  <a:cxn ang="0">
                    <a:pos x="T2" y="T3"/>
                  </a:cxn>
                  <a:cxn ang="0">
                    <a:pos x="T4" y="T5"/>
                  </a:cxn>
                  <a:cxn ang="0">
                    <a:pos x="T6" y="T7"/>
                  </a:cxn>
                  <a:cxn ang="0">
                    <a:pos x="T8" y="T9"/>
                  </a:cxn>
                </a:cxnLst>
                <a:rect l="0" t="0" r="r" b="b"/>
                <a:pathLst>
                  <a:path w="328" h="109">
                    <a:moveTo>
                      <a:pt x="328" y="44"/>
                    </a:moveTo>
                    <a:lnTo>
                      <a:pt x="8" y="109"/>
                    </a:lnTo>
                    <a:lnTo>
                      <a:pt x="0" y="65"/>
                    </a:lnTo>
                    <a:lnTo>
                      <a:pt x="319" y="0"/>
                    </a:lnTo>
                    <a:lnTo>
                      <a:pt x="328"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ísḻïďè"/>
              <p:cNvSpPr/>
              <p:nvPr/>
            </p:nvSpPr>
            <p:spPr bwMode="auto">
              <a:xfrm>
                <a:off x="4666030" y="4011620"/>
                <a:ext cx="104463" cy="104463"/>
              </a:xfrm>
              <a:custGeom>
                <a:avLst/>
                <a:gdLst>
                  <a:gd name="T0" fmla="*/ 53 w 53"/>
                  <a:gd name="T1" fmla="*/ 44 h 53"/>
                  <a:gd name="T2" fmla="*/ 9 w 53"/>
                  <a:gd name="T3" fmla="*/ 53 h 53"/>
                  <a:gd name="T4" fmla="*/ 0 w 53"/>
                  <a:gd name="T5" fmla="*/ 9 h 53"/>
                  <a:gd name="T6" fmla="*/ 44 w 53"/>
                  <a:gd name="T7" fmla="*/ 0 h 53"/>
                  <a:gd name="T8" fmla="*/ 53 w 53"/>
                  <a:gd name="T9" fmla="*/ 44 h 53"/>
                </a:gdLst>
                <a:ahLst/>
                <a:cxnLst>
                  <a:cxn ang="0">
                    <a:pos x="T0" y="T1"/>
                  </a:cxn>
                  <a:cxn ang="0">
                    <a:pos x="T2" y="T3"/>
                  </a:cxn>
                  <a:cxn ang="0">
                    <a:pos x="T4" y="T5"/>
                  </a:cxn>
                  <a:cxn ang="0">
                    <a:pos x="T6" y="T7"/>
                  </a:cxn>
                  <a:cxn ang="0">
                    <a:pos x="T8" y="T9"/>
                  </a:cxn>
                </a:cxnLst>
                <a:rect l="0" t="0" r="r" b="b"/>
                <a:pathLst>
                  <a:path w="53" h="53">
                    <a:moveTo>
                      <a:pt x="53" y="44"/>
                    </a:moveTo>
                    <a:lnTo>
                      <a:pt x="9" y="53"/>
                    </a:lnTo>
                    <a:lnTo>
                      <a:pt x="0" y="9"/>
                    </a:lnTo>
                    <a:lnTo>
                      <a:pt x="44" y="0"/>
                    </a:lnTo>
                    <a:lnTo>
                      <a:pt x="53"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íSľïḍè"/>
              <p:cNvSpPr/>
              <p:nvPr/>
            </p:nvSpPr>
            <p:spPr bwMode="auto">
              <a:xfrm>
                <a:off x="4839479" y="3879562"/>
                <a:ext cx="589332" cy="203014"/>
              </a:xfrm>
              <a:custGeom>
                <a:avLst/>
                <a:gdLst>
                  <a:gd name="T0" fmla="*/ 299 w 299"/>
                  <a:gd name="T1" fmla="*/ 44 h 103"/>
                  <a:gd name="T2" fmla="*/ 9 w 299"/>
                  <a:gd name="T3" fmla="*/ 103 h 103"/>
                  <a:gd name="T4" fmla="*/ 0 w 299"/>
                  <a:gd name="T5" fmla="*/ 58 h 103"/>
                  <a:gd name="T6" fmla="*/ 290 w 299"/>
                  <a:gd name="T7" fmla="*/ 0 h 103"/>
                  <a:gd name="T8" fmla="*/ 299 w 299"/>
                  <a:gd name="T9" fmla="*/ 44 h 103"/>
                </a:gdLst>
                <a:ahLst/>
                <a:cxnLst>
                  <a:cxn ang="0">
                    <a:pos x="T0" y="T1"/>
                  </a:cxn>
                  <a:cxn ang="0">
                    <a:pos x="T2" y="T3"/>
                  </a:cxn>
                  <a:cxn ang="0">
                    <a:pos x="T4" y="T5"/>
                  </a:cxn>
                  <a:cxn ang="0">
                    <a:pos x="T6" y="T7"/>
                  </a:cxn>
                  <a:cxn ang="0">
                    <a:pos x="T8" y="T9"/>
                  </a:cxn>
                </a:cxnLst>
                <a:rect l="0" t="0" r="r" b="b"/>
                <a:pathLst>
                  <a:path w="299" h="103">
                    <a:moveTo>
                      <a:pt x="299" y="44"/>
                    </a:moveTo>
                    <a:lnTo>
                      <a:pt x="9" y="103"/>
                    </a:lnTo>
                    <a:lnTo>
                      <a:pt x="0" y="58"/>
                    </a:lnTo>
                    <a:lnTo>
                      <a:pt x="290" y="0"/>
                    </a:lnTo>
                    <a:lnTo>
                      <a:pt x="299"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íśḻïḓé"/>
              <p:cNvSpPr/>
              <p:nvPr/>
            </p:nvSpPr>
            <p:spPr bwMode="auto">
              <a:xfrm>
                <a:off x="4699538" y="4177185"/>
                <a:ext cx="104463" cy="104463"/>
              </a:xfrm>
              <a:custGeom>
                <a:avLst/>
                <a:gdLst>
                  <a:gd name="T0" fmla="*/ 53 w 53"/>
                  <a:gd name="T1" fmla="*/ 44 h 53"/>
                  <a:gd name="T2" fmla="*/ 9 w 53"/>
                  <a:gd name="T3" fmla="*/ 53 h 53"/>
                  <a:gd name="T4" fmla="*/ 0 w 53"/>
                  <a:gd name="T5" fmla="*/ 9 h 53"/>
                  <a:gd name="T6" fmla="*/ 44 w 53"/>
                  <a:gd name="T7" fmla="*/ 0 h 53"/>
                  <a:gd name="T8" fmla="*/ 53 w 53"/>
                  <a:gd name="T9" fmla="*/ 44 h 53"/>
                </a:gdLst>
                <a:ahLst/>
                <a:cxnLst>
                  <a:cxn ang="0">
                    <a:pos x="T0" y="T1"/>
                  </a:cxn>
                  <a:cxn ang="0">
                    <a:pos x="T2" y="T3"/>
                  </a:cxn>
                  <a:cxn ang="0">
                    <a:pos x="T4" y="T5"/>
                  </a:cxn>
                  <a:cxn ang="0">
                    <a:pos x="T6" y="T7"/>
                  </a:cxn>
                  <a:cxn ang="0">
                    <a:pos x="T8" y="T9"/>
                  </a:cxn>
                </a:cxnLst>
                <a:rect l="0" t="0" r="r" b="b"/>
                <a:pathLst>
                  <a:path w="53" h="53">
                    <a:moveTo>
                      <a:pt x="53" y="44"/>
                    </a:moveTo>
                    <a:lnTo>
                      <a:pt x="9" y="53"/>
                    </a:lnTo>
                    <a:lnTo>
                      <a:pt x="0" y="9"/>
                    </a:lnTo>
                    <a:lnTo>
                      <a:pt x="44" y="0"/>
                    </a:lnTo>
                    <a:lnTo>
                      <a:pt x="53"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ṩlídê"/>
              <p:cNvSpPr/>
              <p:nvPr/>
            </p:nvSpPr>
            <p:spPr bwMode="auto">
              <a:xfrm>
                <a:off x="4872987" y="4009649"/>
                <a:ext cx="758839" cy="236521"/>
              </a:xfrm>
              <a:custGeom>
                <a:avLst/>
                <a:gdLst>
                  <a:gd name="T0" fmla="*/ 385 w 385"/>
                  <a:gd name="T1" fmla="*/ 44 h 120"/>
                  <a:gd name="T2" fmla="*/ 9 w 385"/>
                  <a:gd name="T3" fmla="*/ 120 h 120"/>
                  <a:gd name="T4" fmla="*/ 0 w 385"/>
                  <a:gd name="T5" fmla="*/ 76 h 120"/>
                  <a:gd name="T6" fmla="*/ 376 w 385"/>
                  <a:gd name="T7" fmla="*/ 0 h 120"/>
                  <a:gd name="T8" fmla="*/ 385 w 385"/>
                  <a:gd name="T9" fmla="*/ 44 h 120"/>
                </a:gdLst>
                <a:ahLst/>
                <a:cxnLst>
                  <a:cxn ang="0">
                    <a:pos x="T0" y="T1"/>
                  </a:cxn>
                  <a:cxn ang="0">
                    <a:pos x="T2" y="T3"/>
                  </a:cxn>
                  <a:cxn ang="0">
                    <a:pos x="T4" y="T5"/>
                  </a:cxn>
                  <a:cxn ang="0">
                    <a:pos x="T6" y="T7"/>
                  </a:cxn>
                  <a:cxn ang="0">
                    <a:pos x="T8" y="T9"/>
                  </a:cxn>
                </a:cxnLst>
                <a:rect l="0" t="0" r="r" b="b"/>
                <a:pathLst>
                  <a:path w="385" h="120">
                    <a:moveTo>
                      <a:pt x="385" y="44"/>
                    </a:moveTo>
                    <a:lnTo>
                      <a:pt x="9" y="120"/>
                    </a:lnTo>
                    <a:lnTo>
                      <a:pt x="0" y="76"/>
                    </a:lnTo>
                    <a:lnTo>
                      <a:pt x="376" y="0"/>
                    </a:lnTo>
                    <a:lnTo>
                      <a:pt x="385"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ïṣļïḍè"/>
              <p:cNvSpPr/>
              <p:nvPr/>
            </p:nvSpPr>
            <p:spPr bwMode="auto">
              <a:xfrm>
                <a:off x="4733044" y="4342750"/>
                <a:ext cx="104463" cy="102493"/>
              </a:xfrm>
              <a:custGeom>
                <a:avLst/>
                <a:gdLst>
                  <a:gd name="T0" fmla="*/ 53 w 53"/>
                  <a:gd name="T1" fmla="*/ 44 h 52"/>
                  <a:gd name="T2" fmla="*/ 9 w 53"/>
                  <a:gd name="T3" fmla="*/ 52 h 52"/>
                  <a:gd name="T4" fmla="*/ 0 w 53"/>
                  <a:gd name="T5" fmla="*/ 8 h 52"/>
                  <a:gd name="T6" fmla="*/ 44 w 53"/>
                  <a:gd name="T7" fmla="*/ 0 h 52"/>
                  <a:gd name="T8" fmla="*/ 53 w 53"/>
                  <a:gd name="T9" fmla="*/ 44 h 52"/>
                </a:gdLst>
                <a:ahLst/>
                <a:cxnLst>
                  <a:cxn ang="0">
                    <a:pos x="T0" y="T1"/>
                  </a:cxn>
                  <a:cxn ang="0">
                    <a:pos x="T2" y="T3"/>
                  </a:cxn>
                  <a:cxn ang="0">
                    <a:pos x="T4" y="T5"/>
                  </a:cxn>
                  <a:cxn ang="0">
                    <a:pos x="T6" y="T7"/>
                  </a:cxn>
                  <a:cxn ang="0">
                    <a:pos x="T8" y="T9"/>
                  </a:cxn>
                </a:cxnLst>
                <a:rect l="0" t="0" r="r" b="b"/>
                <a:pathLst>
                  <a:path w="53" h="52">
                    <a:moveTo>
                      <a:pt x="53" y="44"/>
                    </a:moveTo>
                    <a:lnTo>
                      <a:pt x="9" y="52"/>
                    </a:lnTo>
                    <a:lnTo>
                      <a:pt x="0" y="8"/>
                    </a:lnTo>
                    <a:lnTo>
                      <a:pt x="44" y="0"/>
                    </a:lnTo>
                    <a:lnTo>
                      <a:pt x="53"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ïṩḷiḋé"/>
              <p:cNvSpPr/>
              <p:nvPr/>
            </p:nvSpPr>
            <p:spPr bwMode="auto">
              <a:xfrm>
                <a:off x="4906493" y="4175214"/>
                <a:ext cx="758839" cy="236521"/>
              </a:xfrm>
              <a:custGeom>
                <a:avLst/>
                <a:gdLst>
                  <a:gd name="T0" fmla="*/ 385 w 385"/>
                  <a:gd name="T1" fmla="*/ 44 h 120"/>
                  <a:gd name="T2" fmla="*/ 9 w 385"/>
                  <a:gd name="T3" fmla="*/ 120 h 120"/>
                  <a:gd name="T4" fmla="*/ 0 w 385"/>
                  <a:gd name="T5" fmla="*/ 76 h 120"/>
                  <a:gd name="T6" fmla="*/ 376 w 385"/>
                  <a:gd name="T7" fmla="*/ 0 h 120"/>
                  <a:gd name="T8" fmla="*/ 385 w 385"/>
                  <a:gd name="T9" fmla="*/ 44 h 120"/>
                </a:gdLst>
                <a:ahLst/>
                <a:cxnLst>
                  <a:cxn ang="0">
                    <a:pos x="T0" y="T1"/>
                  </a:cxn>
                  <a:cxn ang="0">
                    <a:pos x="T2" y="T3"/>
                  </a:cxn>
                  <a:cxn ang="0">
                    <a:pos x="T4" y="T5"/>
                  </a:cxn>
                  <a:cxn ang="0">
                    <a:pos x="T6" y="T7"/>
                  </a:cxn>
                  <a:cxn ang="0">
                    <a:pos x="T8" y="T9"/>
                  </a:cxn>
                </a:cxnLst>
                <a:rect l="0" t="0" r="r" b="b"/>
                <a:pathLst>
                  <a:path w="385" h="120">
                    <a:moveTo>
                      <a:pt x="385" y="44"/>
                    </a:moveTo>
                    <a:lnTo>
                      <a:pt x="9" y="120"/>
                    </a:lnTo>
                    <a:lnTo>
                      <a:pt x="0" y="76"/>
                    </a:lnTo>
                    <a:lnTo>
                      <a:pt x="376" y="0"/>
                    </a:lnTo>
                    <a:lnTo>
                      <a:pt x="385" y="44"/>
                    </a:ln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šḻíḍê"/>
              <p:cNvSpPr/>
              <p:nvPr/>
            </p:nvSpPr>
            <p:spPr bwMode="auto">
              <a:xfrm>
                <a:off x="4311247" y="3861823"/>
                <a:ext cx="337042" cy="169507"/>
              </a:xfrm>
              <a:custGeom>
                <a:avLst/>
                <a:gdLst>
                  <a:gd name="T0" fmla="*/ 242 w 1113"/>
                  <a:gd name="T1" fmla="*/ 559 h 559"/>
                  <a:gd name="T2" fmla="*/ 275 w 1113"/>
                  <a:gd name="T3" fmla="*/ 557 h 559"/>
                  <a:gd name="T4" fmla="*/ 903 w 1113"/>
                  <a:gd name="T5" fmla="*/ 467 h 559"/>
                  <a:gd name="T6" fmla="*/ 1096 w 1113"/>
                  <a:gd name="T7" fmla="*/ 210 h 559"/>
                  <a:gd name="T8" fmla="*/ 839 w 1113"/>
                  <a:gd name="T9" fmla="*/ 18 h 559"/>
                  <a:gd name="T10" fmla="*/ 211 w 1113"/>
                  <a:gd name="T11" fmla="*/ 107 h 559"/>
                  <a:gd name="T12" fmla="*/ 18 w 1113"/>
                  <a:gd name="T13" fmla="*/ 364 h 559"/>
                  <a:gd name="T14" fmla="*/ 242 w 1113"/>
                  <a:gd name="T15" fmla="*/ 559 h 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559">
                    <a:moveTo>
                      <a:pt x="242" y="559"/>
                    </a:moveTo>
                    <a:cubicBezTo>
                      <a:pt x="253" y="559"/>
                      <a:pt x="264" y="558"/>
                      <a:pt x="275" y="557"/>
                    </a:cubicBezTo>
                    <a:cubicBezTo>
                      <a:pt x="903" y="467"/>
                      <a:pt x="903" y="467"/>
                      <a:pt x="903" y="467"/>
                    </a:cubicBezTo>
                    <a:cubicBezTo>
                      <a:pt x="1027" y="449"/>
                      <a:pt x="1113" y="334"/>
                      <a:pt x="1096" y="210"/>
                    </a:cubicBezTo>
                    <a:cubicBezTo>
                      <a:pt x="1078" y="86"/>
                      <a:pt x="963" y="0"/>
                      <a:pt x="839" y="18"/>
                    </a:cubicBezTo>
                    <a:cubicBezTo>
                      <a:pt x="211" y="107"/>
                      <a:pt x="211" y="107"/>
                      <a:pt x="211" y="107"/>
                    </a:cubicBezTo>
                    <a:cubicBezTo>
                      <a:pt x="87" y="125"/>
                      <a:pt x="0" y="240"/>
                      <a:pt x="18" y="364"/>
                    </a:cubicBezTo>
                    <a:cubicBezTo>
                      <a:pt x="34" y="477"/>
                      <a:pt x="131" y="559"/>
                      <a:pt x="242" y="559"/>
                    </a:cubicBez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Sḻîdé"/>
              <p:cNvSpPr/>
              <p:nvPr/>
            </p:nvSpPr>
            <p:spPr bwMode="auto">
              <a:xfrm>
                <a:off x="4293509" y="4015562"/>
                <a:ext cx="331130" cy="163593"/>
              </a:xfrm>
              <a:custGeom>
                <a:avLst/>
                <a:gdLst>
                  <a:gd name="T0" fmla="*/ 269 w 1097"/>
                  <a:gd name="T1" fmla="*/ 543 h 544"/>
                  <a:gd name="T2" fmla="*/ 885 w 1097"/>
                  <a:gd name="T3" fmla="*/ 466 h 544"/>
                  <a:gd name="T4" fmla="*/ 1082 w 1097"/>
                  <a:gd name="T5" fmla="*/ 213 h 544"/>
                  <a:gd name="T6" fmla="*/ 829 w 1097"/>
                  <a:gd name="T7" fmla="*/ 16 h 544"/>
                  <a:gd name="T8" fmla="*/ 213 w 1097"/>
                  <a:gd name="T9" fmla="*/ 93 h 544"/>
                  <a:gd name="T10" fmla="*/ 16 w 1097"/>
                  <a:gd name="T11" fmla="*/ 346 h 544"/>
                  <a:gd name="T12" fmla="*/ 241 w 1097"/>
                  <a:gd name="T13" fmla="*/ 544 h 544"/>
                  <a:gd name="T14" fmla="*/ 269 w 1097"/>
                  <a:gd name="T15" fmla="*/ 543 h 5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7" h="544">
                    <a:moveTo>
                      <a:pt x="269" y="543"/>
                    </a:moveTo>
                    <a:cubicBezTo>
                      <a:pt x="885" y="466"/>
                      <a:pt x="885" y="466"/>
                      <a:pt x="885" y="466"/>
                    </a:cubicBezTo>
                    <a:cubicBezTo>
                      <a:pt x="1009" y="450"/>
                      <a:pt x="1097" y="337"/>
                      <a:pt x="1082" y="213"/>
                    </a:cubicBezTo>
                    <a:cubicBezTo>
                      <a:pt x="1066" y="88"/>
                      <a:pt x="953" y="0"/>
                      <a:pt x="829" y="16"/>
                    </a:cubicBezTo>
                    <a:cubicBezTo>
                      <a:pt x="213" y="93"/>
                      <a:pt x="213" y="93"/>
                      <a:pt x="213" y="93"/>
                    </a:cubicBezTo>
                    <a:cubicBezTo>
                      <a:pt x="89" y="108"/>
                      <a:pt x="0" y="221"/>
                      <a:pt x="16" y="346"/>
                    </a:cubicBezTo>
                    <a:cubicBezTo>
                      <a:pt x="30" y="461"/>
                      <a:pt x="128" y="544"/>
                      <a:pt x="241" y="544"/>
                    </a:cubicBezTo>
                    <a:cubicBezTo>
                      <a:pt x="250" y="544"/>
                      <a:pt x="260" y="544"/>
                      <a:pt x="269" y="543"/>
                    </a:cubicBez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íslîḑê"/>
              <p:cNvSpPr/>
              <p:nvPr/>
            </p:nvSpPr>
            <p:spPr bwMode="auto">
              <a:xfrm>
                <a:off x="4327016" y="4149590"/>
                <a:ext cx="335072" cy="177391"/>
              </a:xfrm>
              <a:custGeom>
                <a:avLst/>
                <a:gdLst>
                  <a:gd name="T0" fmla="*/ 903 w 1108"/>
                  <a:gd name="T1" fmla="*/ 469 h 588"/>
                  <a:gd name="T2" fmla="*/ 1084 w 1108"/>
                  <a:gd name="T3" fmla="*/ 204 h 588"/>
                  <a:gd name="T4" fmla="*/ 820 w 1108"/>
                  <a:gd name="T5" fmla="*/ 23 h 588"/>
                  <a:gd name="T6" fmla="*/ 204 w 1108"/>
                  <a:gd name="T7" fmla="*/ 139 h 588"/>
                  <a:gd name="T8" fmla="*/ 23 w 1108"/>
                  <a:gd name="T9" fmla="*/ 403 h 588"/>
                  <a:gd name="T10" fmla="*/ 245 w 1108"/>
                  <a:gd name="T11" fmla="*/ 588 h 588"/>
                  <a:gd name="T12" fmla="*/ 287 w 1108"/>
                  <a:gd name="T13" fmla="*/ 584 h 588"/>
                  <a:gd name="T14" fmla="*/ 903 w 1108"/>
                  <a:gd name="T15" fmla="*/ 469 h 5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8" h="588">
                    <a:moveTo>
                      <a:pt x="903" y="469"/>
                    </a:moveTo>
                    <a:cubicBezTo>
                      <a:pt x="1026" y="446"/>
                      <a:pt x="1108" y="327"/>
                      <a:pt x="1084" y="204"/>
                    </a:cubicBezTo>
                    <a:cubicBezTo>
                      <a:pt x="1061" y="81"/>
                      <a:pt x="943" y="0"/>
                      <a:pt x="820" y="23"/>
                    </a:cubicBezTo>
                    <a:cubicBezTo>
                      <a:pt x="204" y="139"/>
                      <a:pt x="204" y="139"/>
                      <a:pt x="204" y="139"/>
                    </a:cubicBezTo>
                    <a:cubicBezTo>
                      <a:pt x="81" y="162"/>
                      <a:pt x="0" y="280"/>
                      <a:pt x="23" y="403"/>
                    </a:cubicBezTo>
                    <a:cubicBezTo>
                      <a:pt x="43" y="512"/>
                      <a:pt x="138" y="588"/>
                      <a:pt x="245" y="588"/>
                    </a:cubicBezTo>
                    <a:cubicBezTo>
                      <a:pt x="259" y="588"/>
                      <a:pt x="273" y="587"/>
                      <a:pt x="287" y="584"/>
                    </a:cubicBezTo>
                    <a:lnTo>
                      <a:pt x="903" y="469"/>
                    </a:ln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išḻïďè"/>
              <p:cNvSpPr/>
              <p:nvPr/>
            </p:nvSpPr>
            <p:spPr bwMode="auto">
              <a:xfrm>
                <a:off x="4396002" y="4289533"/>
                <a:ext cx="299594" cy="155709"/>
              </a:xfrm>
              <a:custGeom>
                <a:avLst/>
                <a:gdLst>
                  <a:gd name="T0" fmla="*/ 971 w 990"/>
                  <a:gd name="T1" fmla="*/ 186 h 514"/>
                  <a:gd name="T2" fmla="*/ 737 w 990"/>
                  <a:gd name="T3" fmla="*/ 19 h 514"/>
                  <a:gd name="T4" fmla="*/ 186 w 990"/>
                  <a:gd name="T5" fmla="*/ 111 h 514"/>
                  <a:gd name="T6" fmla="*/ 19 w 990"/>
                  <a:gd name="T7" fmla="*/ 344 h 514"/>
                  <a:gd name="T8" fmla="*/ 219 w 990"/>
                  <a:gd name="T9" fmla="*/ 514 h 514"/>
                  <a:gd name="T10" fmla="*/ 253 w 990"/>
                  <a:gd name="T11" fmla="*/ 511 h 514"/>
                  <a:gd name="T12" fmla="*/ 804 w 990"/>
                  <a:gd name="T13" fmla="*/ 419 h 514"/>
                  <a:gd name="T14" fmla="*/ 971 w 990"/>
                  <a:gd name="T15" fmla="*/ 186 h 5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0" h="514">
                    <a:moveTo>
                      <a:pt x="971" y="186"/>
                    </a:moveTo>
                    <a:cubicBezTo>
                      <a:pt x="953" y="75"/>
                      <a:pt x="848" y="0"/>
                      <a:pt x="737" y="19"/>
                    </a:cubicBezTo>
                    <a:cubicBezTo>
                      <a:pt x="186" y="111"/>
                      <a:pt x="186" y="111"/>
                      <a:pt x="186" y="111"/>
                    </a:cubicBezTo>
                    <a:cubicBezTo>
                      <a:pt x="75" y="129"/>
                      <a:pt x="0" y="234"/>
                      <a:pt x="19" y="344"/>
                    </a:cubicBezTo>
                    <a:cubicBezTo>
                      <a:pt x="35" y="444"/>
                      <a:pt x="122" y="514"/>
                      <a:pt x="219" y="514"/>
                    </a:cubicBezTo>
                    <a:cubicBezTo>
                      <a:pt x="230" y="514"/>
                      <a:pt x="241" y="513"/>
                      <a:pt x="253" y="511"/>
                    </a:cubicBezTo>
                    <a:cubicBezTo>
                      <a:pt x="804" y="419"/>
                      <a:pt x="804" y="419"/>
                      <a:pt x="804" y="419"/>
                    </a:cubicBezTo>
                    <a:cubicBezTo>
                      <a:pt x="915" y="401"/>
                      <a:pt x="990" y="296"/>
                      <a:pt x="971" y="186"/>
                    </a:cubicBez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ïṡḷïde"/>
              <p:cNvSpPr/>
              <p:nvPr/>
            </p:nvSpPr>
            <p:spPr bwMode="auto">
              <a:xfrm>
                <a:off x="7149505" y="3710055"/>
                <a:ext cx="390260" cy="435593"/>
              </a:xfrm>
              <a:custGeom>
                <a:avLst/>
                <a:gdLst>
                  <a:gd name="T0" fmla="*/ 1136 w 1290"/>
                  <a:gd name="T1" fmla="*/ 488 h 1438"/>
                  <a:gd name="T2" fmla="*/ 924 w 1290"/>
                  <a:gd name="T3" fmla="*/ 1310 h 1438"/>
                  <a:gd name="T4" fmla="*/ 154 w 1290"/>
                  <a:gd name="T5" fmla="*/ 951 h 1438"/>
                  <a:gd name="T6" fmla="*/ 366 w 1290"/>
                  <a:gd name="T7" fmla="*/ 128 h 1438"/>
                  <a:gd name="T8" fmla="*/ 1136 w 1290"/>
                  <a:gd name="T9" fmla="*/ 488 h 1438"/>
                </a:gdLst>
                <a:ahLst/>
                <a:cxnLst>
                  <a:cxn ang="0">
                    <a:pos x="T0" y="T1"/>
                  </a:cxn>
                  <a:cxn ang="0">
                    <a:pos x="T2" y="T3"/>
                  </a:cxn>
                  <a:cxn ang="0">
                    <a:pos x="T4" y="T5"/>
                  </a:cxn>
                  <a:cxn ang="0">
                    <a:pos x="T6" y="T7"/>
                  </a:cxn>
                  <a:cxn ang="0">
                    <a:pos x="T8" y="T9"/>
                  </a:cxn>
                </a:cxnLst>
                <a:rect l="0" t="0" r="r" b="b"/>
                <a:pathLst>
                  <a:path w="1290" h="1438">
                    <a:moveTo>
                      <a:pt x="1136" y="488"/>
                    </a:moveTo>
                    <a:cubicBezTo>
                      <a:pt x="1290" y="814"/>
                      <a:pt x="1196" y="1182"/>
                      <a:pt x="924" y="1310"/>
                    </a:cubicBezTo>
                    <a:cubicBezTo>
                      <a:pt x="653" y="1438"/>
                      <a:pt x="309" y="1278"/>
                      <a:pt x="154" y="951"/>
                    </a:cubicBezTo>
                    <a:cubicBezTo>
                      <a:pt x="0" y="625"/>
                      <a:pt x="95" y="256"/>
                      <a:pt x="366" y="128"/>
                    </a:cubicBezTo>
                    <a:cubicBezTo>
                      <a:pt x="637" y="0"/>
                      <a:pt x="982" y="161"/>
                      <a:pt x="1136" y="488"/>
                    </a:cubicBez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íś1íďê"/>
              <p:cNvSpPr/>
              <p:nvPr/>
            </p:nvSpPr>
            <p:spPr bwMode="auto">
              <a:xfrm>
                <a:off x="6564115" y="4703446"/>
                <a:ext cx="47304" cy="45333"/>
              </a:xfrm>
              <a:prstGeom prst="ellipse">
                <a:avLst/>
              </a:prstGeom>
              <a:solidFill>
                <a:srgbClr val="34333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îṩḻíḋe"/>
              <p:cNvSpPr/>
              <p:nvPr/>
            </p:nvSpPr>
            <p:spPr bwMode="auto">
              <a:xfrm>
                <a:off x="6635072" y="4709358"/>
                <a:ext cx="45333" cy="45333"/>
              </a:xfrm>
              <a:prstGeom prst="ellipse">
                <a:avLst/>
              </a:prstGeom>
              <a:solidFill>
                <a:srgbClr val="34333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ṡļïḍe"/>
              <p:cNvSpPr/>
              <p:nvPr/>
            </p:nvSpPr>
            <p:spPr bwMode="auto">
              <a:xfrm>
                <a:off x="6717854" y="4650228"/>
                <a:ext cx="579478" cy="208927"/>
              </a:xfrm>
              <a:custGeom>
                <a:avLst/>
                <a:gdLst>
                  <a:gd name="T0" fmla="*/ 1889 w 1910"/>
                  <a:gd name="T1" fmla="*/ 372 h 690"/>
                  <a:gd name="T2" fmla="*/ 294 w 1910"/>
                  <a:gd name="T3" fmla="*/ 0 h 690"/>
                  <a:gd name="T4" fmla="*/ 0 w 1910"/>
                  <a:gd name="T5" fmla="*/ 600 h 690"/>
                  <a:gd name="T6" fmla="*/ 1910 w 1910"/>
                  <a:gd name="T7" fmla="*/ 690 h 690"/>
                  <a:gd name="T8" fmla="*/ 1889 w 1910"/>
                  <a:gd name="T9" fmla="*/ 372 h 690"/>
                </a:gdLst>
                <a:ahLst/>
                <a:cxnLst>
                  <a:cxn ang="0">
                    <a:pos x="T0" y="T1"/>
                  </a:cxn>
                  <a:cxn ang="0">
                    <a:pos x="T2" y="T3"/>
                  </a:cxn>
                  <a:cxn ang="0">
                    <a:pos x="T4" y="T5"/>
                  </a:cxn>
                  <a:cxn ang="0">
                    <a:pos x="T6" y="T7"/>
                  </a:cxn>
                  <a:cxn ang="0">
                    <a:pos x="T8" y="T9"/>
                  </a:cxn>
                </a:cxnLst>
                <a:rect l="0" t="0" r="r" b="b"/>
                <a:pathLst>
                  <a:path w="1910" h="690">
                    <a:moveTo>
                      <a:pt x="1889" y="372"/>
                    </a:moveTo>
                    <a:cubicBezTo>
                      <a:pt x="1565" y="146"/>
                      <a:pt x="898" y="32"/>
                      <a:pt x="294" y="0"/>
                    </a:cubicBezTo>
                    <a:cubicBezTo>
                      <a:pt x="0" y="600"/>
                      <a:pt x="0" y="600"/>
                      <a:pt x="0" y="600"/>
                    </a:cubicBezTo>
                    <a:cubicBezTo>
                      <a:pt x="1910" y="690"/>
                      <a:pt x="1910" y="690"/>
                      <a:pt x="1910" y="690"/>
                    </a:cubicBezTo>
                    <a:lnTo>
                      <a:pt x="1889" y="372"/>
                    </a:lnTo>
                    <a:close/>
                  </a:path>
                </a:pathLst>
              </a:cu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śḻïďè"/>
              <p:cNvSpPr/>
              <p:nvPr/>
            </p:nvSpPr>
            <p:spPr bwMode="auto">
              <a:xfrm>
                <a:off x="6118666" y="3686403"/>
                <a:ext cx="157681" cy="396173"/>
              </a:xfrm>
              <a:custGeom>
                <a:avLst/>
                <a:gdLst>
                  <a:gd name="T0" fmla="*/ 12 w 522"/>
                  <a:gd name="T1" fmla="*/ 905 h 1309"/>
                  <a:gd name="T2" fmla="*/ 68 w 522"/>
                  <a:gd name="T3" fmla="*/ 1309 h 1309"/>
                  <a:gd name="T4" fmla="*/ 184 w 522"/>
                  <a:gd name="T5" fmla="*/ 1274 h 1309"/>
                  <a:gd name="T6" fmla="*/ 338 w 522"/>
                  <a:gd name="T7" fmla="*/ 187 h 1309"/>
                  <a:gd name="T8" fmla="*/ 522 w 522"/>
                  <a:gd name="T9" fmla="*/ 0 h 1309"/>
                  <a:gd name="T10" fmla="*/ 240 w 522"/>
                  <a:gd name="T11" fmla="*/ 116 h 1309"/>
                  <a:gd name="T12" fmla="*/ 12 w 522"/>
                  <a:gd name="T13" fmla="*/ 905 h 1309"/>
                </a:gdLst>
                <a:ahLst/>
                <a:cxnLst>
                  <a:cxn ang="0">
                    <a:pos x="T0" y="T1"/>
                  </a:cxn>
                  <a:cxn ang="0">
                    <a:pos x="T2" y="T3"/>
                  </a:cxn>
                  <a:cxn ang="0">
                    <a:pos x="T4" y="T5"/>
                  </a:cxn>
                  <a:cxn ang="0">
                    <a:pos x="T6" y="T7"/>
                  </a:cxn>
                  <a:cxn ang="0">
                    <a:pos x="T8" y="T9"/>
                  </a:cxn>
                  <a:cxn ang="0">
                    <a:pos x="T10" y="T11"/>
                  </a:cxn>
                  <a:cxn ang="0">
                    <a:pos x="T12" y="T13"/>
                  </a:cxn>
                </a:cxnLst>
                <a:rect l="0" t="0" r="r" b="b"/>
                <a:pathLst>
                  <a:path w="522" h="1309">
                    <a:moveTo>
                      <a:pt x="12" y="905"/>
                    </a:moveTo>
                    <a:cubicBezTo>
                      <a:pt x="16" y="1135"/>
                      <a:pt x="66" y="1302"/>
                      <a:pt x="68" y="1309"/>
                    </a:cubicBezTo>
                    <a:cubicBezTo>
                      <a:pt x="184" y="1274"/>
                      <a:pt x="184" y="1274"/>
                      <a:pt x="184" y="1274"/>
                    </a:cubicBezTo>
                    <a:cubicBezTo>
                      <a:pt x="182" y="1267"/>
                      <a:pt x="0" y="642"/>
                      <a:pt x="338" y="187"/>
                    </a:cubicBezTo>
                    <a:cubicBezTo>
                      <a:pt x="390" y="118"/>
                      <a:pt x="452" y="55"/>
                      <a:pt x="522" y="0"/>
                    </a:cubicBezTo>
                    <a:cubicBezTo>
                      <a:pt x="395" y="68"/>
                      <a:pt x="292" y="102"/>
                      <a:pt x="240" y="116"/>
                    </a:cubicBezTo>
                    <a:cubicBezTo>
                      <a:pt x="85" y="326"/>
                      <a:pt x="6" y="599"/>
                      <a:pt x="12" y="905"/>
                    </a:cubicBez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îşḻîḑe"/>
              <p:cNvSpPr/>
              <p:nvPr/>
            </p:nvSpPr>
            <p:spPr bwMode="auto">
              <a:xfrm>
                <a:off x="7027303" y="4194924"/>
                <a:ext cx="17738" cy="5912"/>
              </a:xfrm>
              <a:custGeom>
                <a:avLst/>
                <a:gdLst>
                  <a:gd name="T0" fmla="*/ 0 w 9"/>
                  <a:gd name="T1" fmla="*/ 0 h 3"/>
                  <a:gd name="T2" fmla="*/ 9 w 9"/>
                  <a:gd name="T3" fmla="*/ 3 h 3"/>
                  <a:gd name="T4" fmla="*/ 0 w 9"/>
                  <a:gd name="T5" fmla="*/ 0 h 3"/>
                  <a:gd name="T6" fmla="*/ 0 w 9"/>
                  <a:gd name="T7" fmla="*/ 0 h 3"/>
                </a:gdLst>
                <a:ahLst/>
                <a:cxnLst>
                  <a:cxn ang="0">
                    <a:pos x="T0" y="T1"/>
                  </a:cxn>
                  <a:cxn ang="0">
                    <a:pos x="T2" y="T3"/>
                  </a:cxn>
                  <a:cxn ang="0">
                    <a:pos x="T4" y="T5"/>
                  </a:cxn>
                  <a:cxn ang="0">
                    <a:pos x="T6" y="T7"/>
                  </a:cxn>
                </a:cxnLst>
                <a:rect l="0" t="0" r="r" b="b"/>
                <a:pathLst>
                  <a:path w="9" h="3">
                    <a:moveTo>
                      <a:pt x="0" y="0"/>
                    </a:moveTo>
                    <a:lnTo>
                      <a:pt x="9" y="3"/>
                    </a:lnTo>
                    <a:lnTo>
                      <a:pt x="0" y="0"/>
                    </a:lnTo>
                    <a:lnTo>
                      <a:pt x="0" y="0"/>
                    </a:ln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s1ïdê"/>
              <p:cNvSpPr/>
              <p:nvPr/>
            </p:nvSpPr>
            <p:spPr bwMode="auto">
              <a:xfrm>
                <a:off x="6936636" y="3684432"/>
                <a:ext cx="165565" cy="522318"/>
              </a:xfrm>
              <a:custGeom>
                <a:avLst/>
                <a:gdLst>
                  <a:gd name="T0" fmla="*/ 278 w 547"/>
                  <a:gd name="T1" fmla="*/ 121 h 1732"/>
                  <a:gd name="T2" fmla="*/ 0 w 547"/>
                  <a:gd name="T3" fmla="*/ 0 h 1732"/>
                  <a:gd name="T4" fmla="*/ 173 w 547"/>
                  <a:gd name="T5" fmla="*/ 183 h 1732"/>
                  <a:gd name="T6" fmla="*/ 398 w 547"/>
                  <a:gd name="T7" fmla="*/ 1153 h 1732"/>
                  <a:gd name="T8" fmla="*/ 301 w 547"/>
                  <a:gd name="T9" fmla="*/ 1695 h 1732"/>
                  <a:gd name="T10" fmla="*/ 359 w 547"/>
                  <a:gd name="T11" fmla="*/ 1714 h 1732"/>
                  <a:gd name="T12" fmla="*/ 417 w 547"/>
                  <a:gd name="T13" fmla="*/ 1732 h 1732"/>
                  <a:gd name="T14" fmla="*/ 519 w 547"/>
                  <a:gd name="T15" fmla="*/ 1164 h 1732"/>
                  <a:gd name="T16" fmla="*/ 278 w 547"/>
                  <a:gd name="T17" fmla="*/ 121 h 1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32">
                    <a:moveTo>
                      <a:pt x="278" y="121"/>
                    </a:moveTo>
                    <a:cubicBezTo>
                      <a:pt x="209" y="93"/>
                      <a:pt x="84" y="42"/>
                      <a:pt x="0" y="0"/>
                    </a:cubicBezTo>
                    <a:cubicBezTo>
                      <a:pt x="66" y="54"/>
                      <a:pt x="124" y="115"/>
                      <a:pt x="173" y="183"/>
                    </a:cubicBezTo>
                    <a:cubicBezTo>
                      <a:pt x="392" y="484"/>
                      <a:pt x="416" y="877"/>
                      <a:pt x="398" y="1153"/>
                    </a:cubicBezTo>
                    <a:cubicBezTo>
                      <a:pt x="377" y="1457"/>
                      <a:pt x="302" y="1692"/>
                      <a:pt x="301" y="1695"/>
                    </a:cubicBezTo>
                    <a:cubicBezTo>
                      <a:pt x="359" y="1714"/>
                      <a:pt x="359" y="1714"/>
                      <a:pt x="359" y="1714"/>
                    </a:cubicBezTo>
                    <a:cubicBezTo>
                      <a:pt x="417" y="1732"/>
                      <a:pt x="417" y="1732"/>
                      <a:pt x="417" y="1732"/>
                    </a:cubicBezTo>
                    <a:cubicBezTo>
                      <a:pt x="420" y="1722"/>
                      <a:pt x="497" y="1483"/>
                      <a:pt x="519" y="1164"/>
                    </a:cubicBezTo>
                    <a:cubicBezTo>
                      <a:pt x="547" y="743"/>
                      <a:pt x="464" y="382"/>
                      <a:pt x="278" y="121"/>
                    </a:cubicBez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îslíde"/>
              <p:cNvSpPr/>
              <p:nvPr/>
            </p:nvSpPr>
            <p:spPr bwMode="auto">
              <a:xfrm>
                <a:off x="6936636" y="4088490"/>
                <a:ext cx="224695" cy="224695"/>
              </a:xfrm>
              <a:prstGeom prst="ellipse">
                <a:avLst/>
              </a:prstGeom>
              <a:solidFill>
                <a:srgbClr val="E6E6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ïṧļïdé"/>
              <p:cNvSpPr/>
              <p:nvPr/>
            </p:nvSpPr>
            <p:spPr bwMode="auto">
              <a:xfrm>
                <a:off x="6928752" y="4080606"/>
                <a:ext cx="240464" cy="240464"/>
              </a:xfrm>
              <a:custGeom>
                <a:avLst/>
                <a:gdLst>
                  <a:gd name="T0" fmla="*/ 397 w 794"/>
                  <a:gd name="T1" fmla="*/ 795 h 795"/>
                  <a:gd name="T2" fmla="*/ 0 w 794"/>
                  <a:gd name="T3" fmla="*/ 397 h 795"/>
                  <a:gd name="T4" fmla="*/ 397 w 794"/>
                  <a:gd name="T5" fmla="*/ 0 h 795"/>
                  <a:gd name="T6" fmla="*/ 794 w 794"/>
                  <a:gd name="T7" fmla="*/ 397 h 795"/>
                  <a:gd name="T8" fmla="*/ 397 w 794"/>
                  <a:gd name="T9" fmla="*/ 795 h 795"/>
                  <a:gd name="T10" fmla="*/ 397 w 794"/>
                  <a:gd name="T11" fmla="*/ 53 h 795"/>
                  <a:gd name="T12" fmla="*/ 53 w 794"/>
                  <a:gd name="T13" fmla="*/ 397 h 795"/>
                  <a:gd name="T14" fmla="*/ 397 w 794"/>
                  <a:gd name="T15" fmla="*/ 741 h 795"/>
                  <a:gd name="T16" fmla="*/ 741 w 794"/>
                  <a:gd name="T17" fmla="*/ 397 h 795"/>
                  <a:gd name="T18" fmla="*/ 397 w 794"/>
                  <a:gd name="T19" fmla="*/ 53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4" h="795">
                    <a:moveTo>
                      <a:pt x="397" y="795"/>
                    </a:moveTo>
                    <a:cubicBezTo>
                      <a:pt x="178" y="795"/>
                      <a:pt x="0" y="616"/>
                      <a:pt x="0" y="397"/>
                    </a:cubicBezTo>
                    <a:cubicBezTo>
                      <a:pt x="0" y="178"/>
                      <a:pt x="178" y="0"/>
                      <a:pt x="397" y="0"/>
                    </a:cubicBezTo>
                    <a:cubicBezTo>
                      <a:pt x="616" y="0"/>
                      <a:pt x="794" y="178"/>
                      <a:pt x="794" y="397"/>
                    </a:cubicBezTo>
                    <a:cubicBezTo>
                      <a:pt x="794" y="616"/>
                      <a:pt x="616" y="795"/>
                      <a:pt x="397" y="795"/>
                    </a:cubicBezTo>
                    <a:close/>
                    <a:moveTo>
                      <a:pt x="397" y="53"/>
                    </a:moveTo>
                    <a:cubicBezTo>
                      <a:pt x="208" y="53"/>
                      <a:pt x="53" y="208"/>
                      <a:pt x="53" y="397"/>
                    </a:cubicBezTo>
                    <a:cubicBezTo>
                      <a:pt x="53" y="587"/>
                      <a:pt x="208" y="741"/>
                      <a:pt x="397" y="741"/>
                    </a:cubicBezTo>
                    <a:cubicBezTo>
                      <a:pt x="587" y="741"/>
                      <a:pt x="741" y="587"/>
                      <a:pt x="741" y="397"/>
                    </a:cubicBezTo>
                    <a:cubicBezTo>
                      <a:pt x="741" y="208"/>
                      <a:pt x="587" y="53"/>
                      <a:pt x="397" y="53"/>
                    </a:cubicBez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ïṧḻíḑé"/>
              <p:cNvSpPr/>
              <p:nvPr/>
            </p:nvSpPr>
            <p:spPr bwMode="auto">
              <a:xfrm>
                <a:off x="6966202" y="4120026"/>
                <a:ext cx="163593" cy="161623"/>
              </a:xfrm>
              <a:prstGeom prst="ellipse">
                <a:avLst/>
              </a:prstGeom>
              <a:solidFill>
                <a:srgbClr val="B4B4B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iṥľîḓê"/>
              <p:cNvSpPr/>
              <p:nvPr/>
            </p:nvSpPr>
            <p:spPr bwMode="auto">
              <a:xfrm>
                <a:off x="6004348" y="4378228"/>
                <a:ext cx="161623" cy="427709"/>
              </a:xfrm>
              <a:custGeom>
                <a:avLst/>
                <a:gdLst>
                  <a:gd name="T0" fmla="*/ 530 w 535"/>
                  <a:gd name="T1" fmla="*/ 1415 h 1415"/>
                  <a:gd name="T2" fmla="*/ 198 w 535"/>
                  <a:gd name="T3" fmla="*/ 1201 h 1415"/>
                  <a:gd name="T4" fmla="*/ 0 w 535"/>
                  <a:gd name="T5" fmla="*/ 15 h 1415"/>
                  <a:gd name="T6" fmla="*/ 90 w 535"/>
                  <a:gd name="T7" fmla="*/ 0 h 1415"/>
                  <a:gd name="T8" fmla="*/ 288 w 535"/>
                  <a:gd name="T9" fmla="*/ 1186 h 1415"/>
                  <a:gd name="T10" fmla="*/ 535 w 535"/>
                  <a:gd name="T11" fmla="*/ 1324 h 1415"/>
                  <a:gd name="T12" fmla="*/ 530 w 535"/>
                  <a:gd name="T13" fmla="*/ 1415 h 1415"/>
                </a:gdLst>
                <a:ahLst/>
                <a:cxnLst>
                  <a:cxn ang="0">
                    <a:pos x="T0" y="T1"/>
                  </a:cxn>
                  <a:cxn ang="0">
                    <a:pos x="T2" y="T3"/>
                  </a:cxn>
                  <a:cxn ang="0">
                    <a:pos x="T4" y="T5"/>
                  </a:cxn>
                  <a:cxn ang="0">
                    <a:pos x="T6" y="T7"/>
                  </a:cxn>
                  <a:cxn ang="0">
                    <a:pos x="T8" y="T9"/>
                  </a:cxn>
                  <a:cxn ang="0">
                    <a:pos x="T10" y="T11"/>
                  </a:cxn>
                  <a:cxn ang="0">
                    <a:pos x="T12" y="T13"/>
                  </a:cxn>
                </a:cxnLst>
                <a:rect l="0" t="0" r="r" b="b"/>
                <a:pathLst>
                  <a:path w="535" h="1415">
                    <a:moveTo>
                      <a:pt x="530" y="1415"/>
                    </a:moveTo>
                    <a:cubicBezTo>
                      <a:pt x="234" y="1399"/>
                      <a:pt x="199" y="1209"/>
                      <a:pt x="198" y="1201"/>
                    </a:cubicBezTo>
                    <a:cubicBezTo>
                      <a:pt x="0" y="15"/>
                      <a:pt x="0" y="15"/>
                      <a:pt x="0" y="15"/>
                    </a:cubicBezTo>
                    <a:cubicBezTo>
                      <a:pt x="90" y="0"/>
                      <a:pt x="90" y="0"/>
                      <a:pt x="90" y="0"/>
                    </a:cubicBezTo>
                    <a:cubicBezTo>
                      <a:pt x="288" y="1186"/>
                      <a:pt x="288" y="1186"/>
                      <a:pt x="288" y="1186"/>
                    </a:cubicBezTo>
                    <a:cubicBezTo>
                      <a:pt x="289" y="1191"/>
                      <a:pt x="316" y="1312"/>
                      <a:pt x="535" y="1324"/>
                    </a:cubicBezTo>
                    <a:lnTo>
                      <a:pt x="530" y="1415"/>
                    </a:lnTo>
                    <a:close/>
                  </a:path>
                </a:pathLst>
              </a:custGeom>
              <a:solidFill>
                <a:srgbClr val="B4B4B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Sḻïḋe"/>
              <p:cNvSpPr/>
              <p:nvPr/>
            </p:nvSpPr>
            <p:spPr bwMode="auto">
              <a:xfrm>
                <a:off x="6357158" y="4301359"/>
                <a:ext cx="96579" cy="453333"/>
              </a:xfrm>
              <a:custGeom>
                <a:avLst/>
                <a:gdLst>
                  <a:gd name="T0" fmla="*/ 44 w 318"/>
                  <a:gd name="T1" fmla="*/ 1497 h 1497"/>
                  <a:gd name="T2" fmla="*/ 288 w 318"/>
                  <a:gd name="T3" fmla="*/ 1187 h 1497"/>
                  <a:gd name="T4" fmla="*/ 90 w 318"/>
                  <a:gd name="T5" fmla="*/ 0 h 1497"/>
                  <a:gd name="T6" fmla="*/ 0 w 318"/>
                  <a:gd name="T7" fmla="*/ 15 h 1497"/>
                  <a:gd name="T8" fmla="*/ 198 w 318"/>
                  <a:gd name="T9" fmla="*/ 1202 h 1497"/>
                  <a:gd name="T10" fmla="*/ 10 w 318"/>
                  <a:gd name="T11" fmla="*/ 1412 h 1497"/>
                  <a:gd name="T12" fmla="*/ 44 w 318"/>
                  <a:gd name="T13" fmla="*/ 1497 h 1497"/>
                </a:gdLst>
                <a:ahLst/>
                <a:cxnLst>
                  <a:cxn ang="0">
                    <a:pos x="T0" y="T1"/>
                  </a:cxn>
                  <a:cxn ang="0">
                    <a:pos x="T2" y="T3"/>
                  </a:cxn>
                  <a:cxn ang="0">
                    <a:pos x="T4" y="T5"/>
                  </a:cxn>
                  <a:cxn ang="0">
                    <a:pos x="T6" y="T7"/>
                  </a:cxn>
                  <a:cxn ang="0">
                    <a:pos x="T8" y="T9"/>
                  </a:cxn>
                  <a:cxn ang="0">
                    <a:pos x="T10" y="T11"/>
                  </a:cxn>
                  <a:cxn ang="0">
                    <a:pos x="T12" y="T13"/>
                  </a:cxn>
                </a:cxnLst>
                <a:rect l="0" t="0" r="r" b="b"/>
                <a:pathLst>
                  <a:path w="318" h="1497">
                    <a:moveTo>
                      <a:pt x="44" y="1497"/>
                    </a:moveTo>
                    <a:cubicBezTo>
                      <a:pt x="318" y="1386"/>
                      <a:pt x="290" y="1195"/>
                      <a:pt x="288" y="1187"/>
                    </a:cubicBezTo>
                    <a:cubicBezTo>
                      <a:pt x="90" y="0"/>
                      <a:pt x="90" y="0"/>
                      <a:pt x="90" y="0"/>
                    </a:cubicBezTo>
                    <a:cubicBezTo>
                      <a:pt x="0" y="15"/>
                      <a:pt x="0" y="15"/>
                      <a:pt x="0" y="15"/>
                    </a:cubicBezTo>
                    <a:cubicBezTo>
                      <a:pt x="198" y="1202"/>
                      <a:pt x="198" y="1202"/>
                      <a:pt x="198" y="1202"/>
                    </a:cubicBezTo>
                    <a:cubicBezTo>
                      <a:pt x="199" y="1206"/>
                      <a:pt x="213" y="1330"/>
                      <a:pt x="10" y="1412"/>
                    </a:cubicBezTo>
                    <a:lnTo>
                      <a:pt x="44" y="1497"/>
                    </a:lnTo>
                    <a:close/>
                  </a:path>
                </a:pathLst>
              </a:custGeom>
              <a:solidFill>
                <a:srgbClr val="B4B4B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işľîḍè"/>
              <p:cNvSpPr/>
              <p:nvPr/>
            </p:nvSpPr>
            <p:spPr bwMode="auto">
              <a:xfrm>
                <a:off x="6130493" y="4756662"/>
                <a:ext cx="102493" cy="72927"/>
              </a:xfrm>
              <a:custGeom>
                <a:avLst/>
                <a:gdLst>
                  <a:gd name="T0" fmla="*/ 188 w 336"/>
                  <a:gd name="T1" fmla="*/ 17 h 238"/>
                  <a:gd name="T2" fmla="*/ 325 w 336"/>
                  <a:gd name="T3" fmla="*/ 150 h 238"/>
                  <a:gd name="T4" fmla="*/ 148 w 336"/>
                  <a:gd name="T5" fmla="*/ 221 h 238"/>
                  <a:gd name="T6" fmla="*/ 11 w 336"/>
                  <a:gd name="T7" fmla="*/ 88 h 238"/>
                  <a:gd name="T8" fmla="*/ 188 w 336"/>
                  <a:gd name="T9" fmla="*/ 17 h 238"/>
                </a:gdLst>
                <a:ahLst/>
                <a:cxnLst>
                  <a:cxn ang="0">
                    <a:pos x="T0" y="T1"/>
                  </a:cxn>
                  <a:cxn ang="0">
                    <a:pos x="T2" y="T3"/>
                  </a:cxn>
                  <a:cxn ang="0">
                    <a:pos x="T4" y="T5"/>
                  </a:cxn>
                  <a:cxn ang="0">
                    <a:pos x="T6" y="T7"/>
                  </a:cxn>
                  <a:cxn ang="0">
                    <a:pos x="T8" y="T9"/>
                  </a:cxn>
                </a:cxnLst>
                <a:rect l="0" t="0" r="r" b="b"/>
                <a:pathLst>
                  <a:path w="336" h="238">
                    <a:moveTo>
                      <a:pt x="188" y="17"/>
                    </a:moveTo>
                    <a:cubicBezTo>
                      <a:pt x="275" y="34"/>
                      <a:pt x="336" y="94"/>
                      <a:pt x="325" y="150"/>
                    </a:cubicBezTo>
                    <a:cubicBezTo>
                      <a:pt x="314" y="206"/>
                      <a:pt x="235" y="238"/>
                      <a:pt x="148" y="221"/>
                    </a:cubicBezTo>
                    <a:cubicBezTo>
                      <a:pt x="61" y="203"/>
                      <a:pt x="0" y="144"/>
                      <a:pt x="11" y="88"/>
                    </a:cubicBezTo>
                    <a:cubicBezTo>
                      <a:pt x="22" y="32"/>
                      <a:pt x="102" y="0"/>
                      <a:pt x="188" y="17"/>
                    </a:cubicBezTo>
                    <a:close/>
                  </a:path>
                </a:pathLst>
              </a:custGeom>
              <a:solidFill>
                <a:srgbClr val="29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ïşlîde"/>
              <p:cNvSpPr/>
              <p:nvPr/>
            </p:nvSpPr>
            <p:spPr bwMode="auto">
              <a:xfrm>
                <a:off x="6300000" y="4725126"/>
                <a:ext cx="100521" cy="80811"/>
              </a:xfrm>
              <a:custGeom>
                <a:avLst/>
                <a:gdLst>
                  <a:gd name="T0" fmla="*/ 115 w 334"/>
                  <a:gd name="T1" fmla="*/ 44 h 268"/>
                  <a:gd name="T2" fmla="*/ 28 w 334"/>
                  <a:gd name="T3" fmla="*/ 214 h 268"/>
                  <a:gd name="T4" fmla="*/ 219 w 334"/>
                  <a:gd name="T5" fmla="*/ 223 h 268"/>
                  <a:gd name="T6" fmla="*/ 305 w 334"/>
                  <a:gd name="T7" fmla="*/ 53 h 268"/>
                  <a:gd name="T8" fmla="*/ 115 w 334"/>
                  <a:gd name="T9" fmla="*/ 44 h 268"/>
                </a:gdLst>
                <a:ahLst/>
                <a:cxnLst>
                  <a:cxn ang="0">
                    <a:pos x="T0" y="T1"/>
                  </a:cxn>
                  <a:cxn ang="0">
                    <a:pos x="T2" y="T3"/>
                  </a:cxn>
                  <a:cxn ang="0">
                    <a:pos x="T4" y="T5"/>
                  </a:cxn>
                  <a:cxn ang="0">
                    <a:pos x="T6" y="T7"/>
                  </a:cxn>
                  <a:cxn ang="0">
                    <a:pos x="T8" y="T9"/>
                  </a:cxn>
                </a:cxnLst>
                <a:rect l="0" t="0" r="r" b="b"/>
                <a:pathLst>
                  <a:path w="334" h="268">
                    <a:moveTo>
                      <a:pt x="115" y="44"/>
                    </a:moveTo>
                    <a:cubicBezTo>
                      <a:pt x="38" y="89"/>
                      <a:pt x="0" y="165"/>
                      <a:pt x="28" y="214"/>
                    </a:cubicBezTo>
                    <a:cubicBezTo>
                      <a:pt x="57" y="264"/>
                      <a:pt x="143" y="268"/>
                      <a:pt x="219" y="223"/>
                    </a:cubicBezTo>
                    <a:cubicBezTo>
                      <a:pt x="296" y="179"/>
                      <a:pt x="334" y="102"/>
                      <a:pt x="305" y="53"/>
                    </a:cubicBezTo>
                    <a:cubicBezTo>
                      <a:pt x="277" y="4"/>
                      <a:pt x="191" y="0"/>
                      <a:pt x="115" y="44"/>
                    </a:cubicBezTo>
                    <a:close/>
                  </a:path>
                </a:pathLst>
              </a:custGeom>
              <a:solidFill>
                <a:srgbClr val="29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ṧḻíḑé"/>
              <p:cNvSpPr/>
              <p:nvPr/>
            </p:nvSpPr>
            <p:spPr bwMode="auto">
              <a:xfrm>
                <a:off x="5982666" y="4007678"/>
                <a:ext cx="409971" cy="386318"/>
              </a:xfrm>
              <a:custGeom>
                <a:avLst/>
                <a:gdLst>
                  <a:gd name="T0" fmla="*/ 43 w 1356"/>
                  <a:gd name="T1" fmla="*/ 1277 h 1277"/>
                  <a:gd name="T2" fmla="*/ 33 w 1356"/>
                  <a:gd name="T3" fmla="*/ 750 h 1277"/>
                  <a:gd name="T4" fmla="*/ 523 w 1356"/>
                  <a:gd name="T5" fmla="*/ 109 h 1277"/>
                  <a:gd name="T6" fmla="*/ 1356 w 1356"/>
                  <a:gd name="T7" fmla="*/ 1050 h 1277"/>
                  <a:gd name="T8" fmla="*/ 1221 w 1356"/>
                  <a:gd name="T9" fmla="*/ 1072 h 1277"/>
                  <a:gd name="T10" fmla="*/ 546 w 1356"/>
                  <a:gd name="T11" fmla="*/ 244 h 1277"/>
                  <a:gd name="T12" fmla="*/ 169 w 1356"/>
                  <a:gd name="T13" fmla="*/ 766 h 1277"/>
                  <a:gd name="T14" fmla="*/ 178 w 1356"/>
                  <a:gd name="T15" fmla="*/ 1254 h 1277"/>
                  <a:gd name="T16" fmla="*/ 43 w 1356"/>
                  <a:gd name="T17" fmla="*/ 1277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6" h="1277">
                    <a:moveTo>
                      <a:pt x="43" y="1277"/>
                    </a:moveTo>
                    <a:cubicBezTo>
                      <a:pt x="41" y="1266"/>
                      <a:pt x="0" y="1016"/>
                      <a:pt x="33" y="750"/>
                    </a:cubicBezTo>
                    <a:cubicBezTo>
                      <a:pt x="80" y="376"/>
                      <a:pt x="249" y="155"/>
                      <a:pt x="523" y="109"/>
                    </a:cubicBezTo>
                    <a:cubicBezTo>
                      <a:pt x="1173" y="0"/>
                      <a:pt x="1349" y="1007"/>
                      <a:pt x="1356" y="1050"/>
                    </a:cubicBezTo>
                    <a:cubicBezTo>
                      <a:pt x="1221" y="1072"/>
                      <a:pt x="1221" y="1072"/>
                      <a:pt x="1221" y="1072"/>
                    </a:cubicBezTo>
                    <a:cubicBezTo>
                      <a:pt x="1220" y="1063"/>
                      <a:pt x="1061" y="158"/>
                      <a:pt x="546" y="244"/>
                    </a:cubicBezTo>
                    <a:cubicBezTo>
                      <a:pt x="335" y="280"/>
                      <a:pt x="208" y="455"/>
                      <a:pt x="169" y="766"/>
                    </a:cubicBezTo>
                    <a:cubicBezTo>
                      <a:pt x="139" y="1014"/>
                      <a:pt x="178" y="1252"/>
                      <a:pt x="178" y="1254"/>
                    </a:cubicBezTo>
                    <a:lnTo>
                      <a:pt x="43" y="1277"/>
                    </a:lnTo>
                    <a:close/>
                  </a:path>
                </a:pathLst>
              </a:custGeom>
              <a:solidFill>
                <a:srgbClr val="29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íṣľíḓé"/>
              <p:cNvSpPr/>
              <p:nvPr/>
            </p:nvSpPr>
            <p:spPr bwMode="auto">
              <a:xfrm>
                <a:off x="4886783" y="3309939"/>
                <a:ext cx="285796" cy="285796"/>
              </a:xfrm>
              <a:custGeom>
                <a:avLst/>
                <a:gdLst>
                  <a:gd name="T0" fmla="*/ 392 w 944"/>
                  <a:gd name="T1" fmla="*/ 45 h 945"/>
                  <a:gd name="T2" fmla="*/ 44 w 944"/>
                  <a:gd name="T3" fmla="*/ 553 h 945"/>
                  <a:gd name="T4" fmla="*/ 552 w 944"/>
                  <a:gd name="T5" fmla="*/ 901 h 945"/>
                  <a:gd name="T6" fmla="*/ 900 w 944"/>
                  <a:gd name="T7" fmla="*/ 392 h 945"/>
                  <a:gd name="T8" fmla="*/ 392 w 944"/>
                  <a:gd name="T9" fmla="*/ 45 h 945"/>
                  <a:gd name="T10" fmla="*/ 772 w 944"/>
                  <a:gd name="T11" fmla="*/ 505 h 945"/>
                  <a:gd name="T12" fmla="*/ 574 w 944"/>
                  <a:gd name="T13" fmla="*/ 543 h 945"/>
                  <a:gd name="T14" fmla="*/ 611 w 944"/>
                  <a:gd name="T15" fmla="*/ 741 h 945"/>
                  <a:gd name="T16" fmla="*/ 439 w 944"/>
                  <a:gd name="T17" fmla="*/ 773 h 945"/>
                  <a:gd name="T18" fmla="*/ 402 w 944"/>
                  <a:gd name="T19" fmla="*/ 575 h 945"/>
                  <a:gd name="T20" fmla="*/ 204 w 944"/>
                  <a:gd name="T21" fmla="*/ 612 h 945"/>
                  <a:gd name="T22" fmla="*/ 172 w 944"/>
                  <a:gd name="T23" fmla="*/ 440 h 945"/>
                  <a:gd name="T24" fmla="*/ 370 w 944"/>
                  <a:gd name="T25" fmla="*/ 403 h 945"/>
                  <a:gd name="T26" fmla="*/ 332 w 944"/>
                  <a:gd name="T27" fmla="*/ 205 h 945"/>
                  <a:gd name="T28" fmla="*/ 505 w 944"/>
                  <a:gd name="T29" fmla="*/ 172 h 945"/>
                  <a:gd name="T30" fmla="*/ 542 w 944"/>
                  <a:gd name="T31" fmla="*/ 370 h 945"/>
                  <a:gd name="T32" fmla="*/ 740 w 944"/>
                  <a:gd name="T33" fmla="*/ 333 h 945"/>
                  <a:gd name="T34" fmla="*/ 772 w 944"/>
                  <a:gd name="T35" fmla="*/ 505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4" h="945">
                    <a:moveTo>
                      <a:pt x="392" y="45"/>
                    </a:moveTo>
                    <a:cubicBezTo>
                      <a:pt x="155" y="89"/>
                      <a:pt x="0" y="317"/>
                      <a:pt x="44" y="553"/>
                    </a:cubicBezTo>
                    <a:cubicBezTo>
                      <a:pt x="88" y="789"/>
                      <a:pt x="316" y="945"/>
                      <a:pt x="552" y="901"/>
                    </a:cubicBezTo>
                    <a:cubicBezTo>
                      <a:pt x="789" y="856"/>
                      <a:pt x="944" y="629"/>
                      <a:pt x="900" y="392"/>
                    </a:cubicBezTo>
                    <a:cubicBezTo>
                      <a:pt x="856" y="156"/>
                      <a:pt x="628" y="0"/>
                      <a:pt x="392" y="45"/>
                    </a:cubicBezTo>
                    <a:close/>
                    <a:moveTo>
                      <a:pt x="772" y="505"/>
                    </a:moveTo>
                    <a:cubicBezTo>
                      <a:pt x="574" y="543"/>
                      <a:pt x="574" y="543"/>
                      <a:pt x="574" y="543"/>
                    </a:cubicBezTo>
                    <a:cubicBezTo>
                      <a:pt x="611" y="741"/>
                      <a:pt x="611" y="741"/>
                      <a:pt x="611" y="741"/>
                    </a:cubicBezTo>
                    <a:cubicBezTo>
                      <a:pt x="439" y="773"/>
                      <a:pt x="439" y="773"/>
                      <a:pt x="439" y="773"/>
                    </a:cubicBezTo>
                    <a:cubicBezTo>
                      <a:pt x="402" y="575"/>
                      <a:pt x="402" y="575"/>
                      <a:pt x="402" y="575"/>
                    </a:cubicBezTo>
                    <a:cubicBezTo>
                      <a:pt x="204" y="612"/>
                      <a:pt x="204" y="612"/>
                      <a:pt x="204" y="612"/>
                    </a:cubicBezTo>
                    <a:cubicBezTo>
                      <a:pt x="172" y="440"/>
                      <a:pt x="172" y="440"/>
                      <a:pt x="172" y="440"/>
                    </a:cubicBezTo>
                    <a:cubicBezTo>
                      <a:pt x="370" y="403"/>
                      <a:pt x="370" y="403"/>
                      <a:pt x="370" y="403"/>
                    </a:cubicBezTo>
                    <a:cubicBezTo>
                      <a:pt x="332" y="205"/>
                      <a:pt x="332" y="205"/>
                      <a:pt x="332" y="205"/>
                    </a:cubicBezTo>
                    <a:cubicBezTo>
                      <a:pt x="505" y="172"/>
                      <a:pt x="505" y="172"/>
                      <a:pt x="505" y="172"/>
                    </a:cubicBezTo>
                    <a:cubicBezTo>
                      <a:pt x="542" y="370"/>
                      <a:pt x="542" y="370"/>
                      <a:pt x="542" y="370"/>
                    </a:cubicBezTo>
                    <a:cubicBezTo>
                      <a:pt x="740" y="333"/>
                      <a:pt x="740" y="333"/>
                      <a:pt x="740" y="333"/>
                    </a:cubicBezTo>
                    <a:lnTo>
                      <a:pt x="772" y="505"/>
                    </a:lnTo>
                    <a:close/>
                  </a:path>
                </a:pathLst>
              </a:custGeom>
              <a:solidFill>
                <a:srgbClr val="DB47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íşlíḍê"/>
              <p:cNvSpPr/>
              <p:nvPr/>
            </p:nvSpPr>
            <p:spPr bwMode="auto">
              <a:xfrm>
                <a:off x="4742900" y="3041881"/>
                <a:ext cx="540057" cy="254260"/>
              </a:xfrm>
              <a:custGeom>
                <a:avLst/>
                <a:gdLst>
                  <a:gd name="T0" fmla="*/ 1580 w 1786"/>
                  <a:gd name="T1" fmla="*/ 0 h 837"/>
                  <a:gd name="T2" fmla="*/ 795 w 1786"/>
                  <a:gd name="T3" fmla="*/ 183 h 837"/>
                  <a:gd name="T4" fmla="*/ 0 w 1786"/>
                  <a:gd name="T5" fmla="*/ 319 h 837"/>
                  <a:gd name="T6" fmla="*/ 10 w 1786"/>
                  <a:gd name="T7" fmla="*/ 837 h 837"/>
                  <a:gd name="T8" fmla="*/ 860 w 1786"/>
                  <a:gd name="T9" fmla="*/ 666 h 837"/>
                  <a:gd name="T10" fmla="*/ 922 w 1786"/>
                  <a:gd name="T11" fmla="*/ 653 h 837"/>
                  <a:gd name="T12" fmla="*/ 1786 w 1786"/>
                  <a:gd name="T13" fmla="*/ 479 h 837"/>
                  <a:gd name="T14" fmla="*/ 1580 w 1786"/>
                  <a:gd name="T15" fmla="*/ 0 h 8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86" h="837">
                    <a:moveTo>
                      <a:pt x="1580" y="0"/>
                    </a:moveTo>
                    <a:cubicBezTo>
                      <a:pt x="795" y="183"/>
                      <a:pt x="795" y="183"/>
                      <a:pt x="795" y="183"/>
                    </a:cubicBezTo>
                    <a:cubicBezTo>
                      <a:pt x="0" y="319"/>
                      <a:pt x="0" y="319"/>
                      <a:pt x="0" y="319"/>
                    </a:cubicBezTo>
                    <a:cubicBezTo>
                      <a:pt x="0" y="319"/>
                      <a:pt x="91" y="570"/>
                      <a:pt x="10" y="837"/>
                    </a:cubicBezTo>
                    <a:cubicBezTo>
                      <a:pt x="860" y="666"/>
                      <a:pt x="860" y="666"/>
                      <a:pt x="860" y="666"/>
                    </a:cubicBezTo>
                    <a:cubicBezTo>
                      <a:pt x="922" y="653"/>
                      <a:pt x="922" y="653"/>
                      <a:pt x="922" y="653"/>
                    </a:cubicBezTo>
                    <a:cubicBezTo>
                      <a:pt x="1786" y="479"/>
                      <a:pt x="1786" y="479"/>
                      <a:pt x="1786" y="479"/>
                    </a:cubicBezTo>
                    <a:cubicBezTo>
                      <a:pt x="1608" y="264"/>
                      <a:pt x="1580" y="0"/>
                      <a:pt x="1580" y="0"/>
                    </a:cubicBezTo>
                    <a:close/>
                  </a:path>
                </a:pathLst>
              </a:custGeom>
              <a:solidFill>
                <a:srgbClr val="3050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iSļíḓe"/>
              <p:cNvSpPr/>
              <p:nvPr/>
            </p:nvSpPr>
            <p:spPr bwMode="auto">
              <a:xfrm>
                <a:off x="4733044" y="3156200"/>
                <a:ext cx="555825" cy="161623"/>
              </a:xfrm>
              <a:custGeom>
                <a:avLst/>
                <a:gdLst>
                  <a:gd name="T0" fmla="*/ 1829 w 1839"/>
                  <a:gd name="T1" fmla="*/ 84 h 535"/>
                  <a:gd name="T2" fmla="*/ 1755 w 1839"/>
                  <a:gd name="T3" fmla="*/ 195 h 535"/>
                  <a:gd name="T4" fmla="*/ 122 w 1839"/>
                  <a:gd name="T5" fmla="*/ 525 h 535"/>
                  <a:gd name="T6" fmla="*/ 11 w 1839"/>
                  <a:gd name="T7" fmla="*/ 451 h 535"/>
                  <a:gd name="T8" fmla="*/ 11 w 1839"/>
                  <a:gd name="T9" fmla="*/ 451 h 535"/>
                  <a:gd name="T10" fmla="*/ 84 w 1839"/>
                  <a:gd name="T11" fmla="*/ 340 h 535"/>
                  <a:gd name="T12" fmla="*/ 1718 w 1839"/>
                  <a:gd name="T13" fmla="*/ 10 h 535"/>
                  <a:gd name="T14" fmla="*/ 1829 w 1839"/>
                  <a:gd name="T15" fmla="*/ 84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9" h="535">
                    <a:moveTo>
                      <a:pt x="1829" y="84"/>
                    </a:moveTo>
                    <a:cubicBezTo>
                      <a:pt x="1839" y="135"/>
                      <a:pt x="1806" y="185"/>
                      <a:pt x="1755" y="195"/>
                    </a:cubicBezTo>
                    <a:cubicBezTo>
                      <a:pt x="122" y="525"/>
                      <a:pt x="122" y="525"/>
                      <a:pt x="122" y="525"/>
                    </a:cubicBezTo>
                    <a:cubicBezTo>
                      <a:pt x="71" y="535"/>
                      <a:pt x="21" y="502"/>
                      <a:pt x="11" y="451"/>
                    </a:cubicBezTo>
                    <a:cubicBezTo>
                      <a:pt x="11" y="451"/>
                      <a:pt x="11" y="451"/>
                      <a:pt x="11" y="451"/>
                    </a:cubicBezTo>
                    <a:cubicBezTo>
                      <a:pt x="0" y="400"/>
                      <a:pt x="33" y="350"/>
                      <a:pt x="84" y="340"/>
                    </a:cubicBezTo>
                    <a:cubicBezTo>
                      <a:pt x="1718" y="10"/>
                      <a:pt x="1718" y="10"/>
                      <a:pt x="1718" y="10"/>
                    </a:cubicBezTo>
                    <a:cubicBezTo>
                      <a:pt x="1769" y="0"/>
                      <a:pt x="1818" y="33"/>
                      <a:pt x="1829" y="84"/>
                    </a:cubicBez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sľíḑé"/>
              <p:cNvSpPr/>
              <p:nvPr/>
            </p:nvSpPr>
            <p:spPr bwMode="auto">
              <a:xfrm>
                <a:off x="4731074" y="3020201"/>
                <a:ext cx="502608" cy="145855"/>
              </a:xfrm>
              <a:custGeom>
                <a:avLst/>
                <a:gdLst>
                  <a:gd name="T0" fmla="*/ 1651 w 1660"/>
                  <a:gd name="T1" fmla="*/ 75 h 483"/>
                  <a:gd name="T2" fmla="*/ 1585 w 1660"/>
                  <a:gd name="T3" fmla="*/ 176 h 483"/>
                  <a:gd name="T4" fmla="*/ 109 w 1660"/>
                  <a:gd name="T5" fmla="*/ 473 h 483"/>
                  <a:gd name="T6" fmla="*/ 9 w 1660"/>
                  <a:gd name="T7" fmla="*/ 407 h 483"/>
                  <a:gd name="T8" fmla="*/ 9 w 1660"/>
                  <a:gd name="T9" fmla="*/ 407 h 483"/>
                  <a:gd name="T10" fmla="*/ 75 w 1660"/>
                  <a:gd name="T11" fmla="*/ 307 h 483"/>
                  <a:gd name="T12" fmla="*/ 1551 w 1660"/>
                  <a:gd name="T13" fmla="*/ 9 h 483"/>
                  <a:gd name="T14" fmla="*/ 1651 w 1660"/>
                  <a:gd name="T15" fmla="*/ 75 h 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0" h="483">
                    <a:moveTo>
                      <a:pt x="1651" y="75"/>
                    </a:moveTo>
                    <a:cubicBezTo>
                      <a:pt x="1660" y="121"/>
                      <a:pt x="1631" y="166"/>
                      <a:pt x="1585" y="176"/>
                    </a:cubicBezTo>
                    <a:cubicBezTo>
                      <a:pt x="109" y="473"/>
                      <a:pt x="109" y="473"/>
                      <a:pt x="109" y="473"/>
                    </a:cubicBezTo>
                    <a:cubicBezTo>
                      <a:pt x="63" y="483"/>
                      <a:pt x="18" y="453"/>
                      <a:pt x="9" y="407"/>
                    </a:cubicBezTo>
                    <a:cubicBezTo>
                      <a:pt x="9" y="407"/>
                      <a:pt x="9" y="407"/>
                      <a:pt x="9" y="407"/>
                    </a:cubicBezTo>
                    <a:cubicBezTo>
                      <a:pt x="0" y="361"/>
                      <a:pt x="29" y="316"/>
                      <a:pt x="75" y="307"/>
                    </a:cubicBezTo>
                    <a:cubicBezTo>
                      <a:pt x="1551" y="9"/>
                      <a:pt x="1551" y="9"/>
                      <a:pt x="1551" y="9"/>
                    </a:cubicBezTo>
                    <a:cubicBezTo>
                      <a:pt x="1597" y="0"/>
                      <a:pt x="1642" y="29"/>
                      <a:pt x="1651" y="75"/>
                    </a:cubicBez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íṩľíḓe"/>
              <p:cNvSpPr/>
              <p:nvPr/>
            </p:nvSpPr>
            <p:spPr bwMode="auto">
              <a:xfrm>
                <a:off x="4813856" y="2897998"/>
                <a:ext cx="311420" cy="230608"/>
              </a:xfrm>
              <a:custGeom>
                <a:avLst/>
                <a:gdLst>
                  <a:gd name="T0" fmla="*/ 1003 w 1032"/>
                  <a:gd name="T1" fmla="*/ 432 h 764"/>
                  <a:gd name="T2" fmla="*/ 432 w 1032"/>
                  <a:gd name="T3" fmla="*/ 53 h 764"/>
                  <a:gd name="T4" fmla="*/ 53 w 1032"/>
                  <a:gd name="T5" fmla="*/ 624 h 764"/>
                  <a:gd name="T6" fmla="*/ 82 w 1032"/>
                  <a:gd name="T7" fmla="*/ 764 h 764"/>
                  <a:gd name="T8" fmla="*/ 1032 w 1032"/>
                  <a:gd name="T9" fmla="*/ 572 h 764"/>
                  <a:gd name="T10" fmla="*/ 1003 w 1032"/>
                  <a:gd name="T11" fmla="*/ 432 h 764"/>
                  <a:gd name="T12" fmla="*/ 535 w 1032"/>
                  <a:gd name="T13" fmla="*/ 559 h 764"/>
                  <a:gd name="T14" fmla="*/ 313 w 1032"/>
                  <a:gd name="T15" fmla="*/ 411 h 764"/>
                  <a:gd name="T16" fmla="*/ 460 w 1032"/>
                  <a:gd name="T17" fmla="*/ 190 h 764"/>
                  <a:gd name="T18" fmla="*/ 682 w 1032"/>
                  <a:gd name="T19" fmla="*/ 337 h 764"/>
                  <a:gd name="T20" fmla="*/ 535 w 1032"/>
                  <a:gd name="T21" fmla="*/ 559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2" h="764">
                    <a:moveTo>
                      <a:pt x="1003" y="432"/>
                    </a:moveTo>
                    <a:cubicBezTo>
                      <a:pt x="950" y="170"/>
                      <a:pt x="695" y="0"/>
                      <a:pt x="432" y="53"/>
                    </a:cubicBezTo>
                    <a:cubicBezTo>
                      <a:pt x="170" y="106"/>
                      <a:pt x="0" y="362"/>
                      <a:pt x="53" y="624"/>
                    </a:cubicBezTo>
                    <a:cubicBezTo>
                      <a:pt x="82" y="764"/>
                      <a:pt x="82" y="764"/>
                      <a:pt x="82" y="764"/>
                    </a:cubicBezTo>
                    <a:cubicBezTo>
                      <a:pt x="1032" y="572"/>
                      <a:pt x="1032" y="572"/>
                      <a:pt x="1032" y="572"/>
                    </a:cubicBezTo>
                    <a:lnTo>
                      <a:pt x="1003" y="432"/>
                    </a:lnTo>
                    <a:close/>
                    <a:moveTo>
                      <a:pt x="535" y="559"/>
                    </a:moveTo>
                    <a:cubicBezTo>
                      <a:pt x="433" y="579"/>
                      <a:pt x="333" y="513"/>
                      <a:pt x="313" y="411"/>
                    </a:cubicBezTo>
                    <a:cubicBezTo>
                      <a:pt x="292" y="310"/>
                      <a:pt x="358" y="210"/>
                      <a:pt x="460" y="190"/>
                    </a:cubicBezTo>
                    <a:cubicBezTo>
                      <a:pt x="562" y="169"/>
                      <a:pt x="661" y="235"/>
                      <a:pt x="682" y="337"/>
                    </a:cubicBezTo>
                    <a:cubicBezTo>
                      <a:pt x="702" y="439"/>
                      <a:pt x="636" y="538"/>
                      <a:pt x="535" y="559"/>
                    </a:cubicBezTo>
                    <a:close/>
                  </a:path>
                </a:pathLst>
              </a:custGeom>
              <a:solidFill>
                <a:srgbClr val="2D4A5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iṥľíḑé"/>
              <p:cNvSpPr/>
              <p:nvPr/>
            </p:nvSpPr>
            <p:spPr bwMode="auto">
              <a:xfrm>
                <a:off x="6335478" y="4395968"/>
                <a:ext cx="118261" cy="356753"/>
              </a:xfrm>
              <a:custGeom>
                <a:avLst/>
                <a:gdLst>
                  <a:gd name="T0" fmla="*/ 134 w 387"/>
                  <a:gd name="T1" fmla="*/ 0 h 1183"/>
                  <a:gd name="T2" fmla="*/ 387 w 387"/>
                  <a:gd name="T3" fmla="*/ 126 h 1183"/>
                  <a:gd name="T4" fmla="*/ 331 w 387"/>
                  <a:gd name="T5" fmla="*/ 1142 h 1183"/>
                  <a:gd name="T6" fmla="*/ 0 w 387"/>
                  <a:gd name="T7" fmla="*/ 1183 h 1183"/>
                  <a:gd name="T8" fmla="*/ 134 w 387"/>
                  <a:gd name="T9" fmla="*/ 0 h 1183"/>
                </a:gdLst>
                <a:ahLst/>
                <a:cxnLst>
                  <a:cxn ang="0">
                    <a:pos x="T0" y="T1"/>
                  </a:cxn>
                  <a:cxn ang="0">
                    <a:pos x="T2" y="T3"/>
                  </a:cxn>
                  <a:cxn ang="0">
                    <a:pos x="T4" y="T5"/>
                  </a:cxn>
                  <a:cxn ang="0">
                    <a:pos x="T6" y="T7"/>
                  </a:cxn>
                  <a:cxn ang="0">
                    <a:pos x="T8" y="T9"/>
                  </a:cxn>
                </a:cxnLst>
                <a:rect l="0" t="0" r="r" b="b"/>
                <a:pathLst>
                  <a:path w="387" h="1183">
                    <a:moveTo>
                      <a:pt x="134" y="0"/>
                    </a:moveTo>
                    <a:cubicBezTo>
                      <a:pt x="134" y="0"/>
                      <a:pt x="202" y="76"/>
                      <a:pt x="387" y="126"/>
                    </a:cubicBezTo>
                    <a:cubicBezTo>
                      <a:pt x="331" y="1142"/>
                      <a:pt x="331" y="1142"/>
                      <a:pt x="331" y="1142"/>
                    </a:cubicBezTo>
                    <a:cubicBezTo>
                      <a:pt x="331" y="1142"/>
                      <a:pt x="163" y="1110"/>
                      <a:pt x="0" y="1183"/>
                    </a:cubicBezTo>
                    <a:lnTo>
                      <a:pt x="134" y="0"/>
                    </a:ln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ŝlïḍè"/>
              <p:cNvSpPr/>
              <p:nvPr/>
            </p:nvSpPr>
            <p:spPr bwMode="auto">
              <a:xfrm>
                <a:off x="6400521" y="4386112"/>
                <a:ext cx="195130" cy="378434"/>
              </a:xfrm>
              <a:custGeom>
                <a:avLst/>
                <a:gdLst>
                  <a:gd name="T0" fmla="*/ 549 w 646"/>
                  <a:gd name="T1" fmla="*/ 22 h 1255"/>
                  <a:gd name="T2" fmla="*/ 157 w 646"/>
                  <a:gd name="T3" fmla="*/ 3 h 1255"/>
                  <a:gd name="T4" fmla="*/ 53 w 646"/>
                  <a:gd name="T5" fmla="*/ 97 h 1255"/>
                  <a:gd name="T6" fmla="*/ 28 w 646"/>
                  <a:gd name="T7" fmla="*/ 613 h 1255"/>
                  <a:gd name="T8" fmla="*/ 3 w 646"/>
                  <a:gd name="T9" fmla="*/ 1130 h 1255"/>
                  <a:gd name="T10" fmla="*/ 97 w 646"/>
                  <a:gd name="T11" fmla="*/ 1233 h 1255"/>
                  <a:gd name="T12" fmla="*/ 490 w 646"/>
                  <a:gd name="T13" fmla="*/ 1252 h 1255"/>
                  <a:gd name="T14" fmla="*/ 593 w 646"/>
                  <a:gd name="T15" fmla="*/ 1158 h 1255"/>
                  <a:gd name="T16" fmla="*/ 618 w 646"/>
                  <a:gd name="T17" fmla="*/ 642 h 1255"/>
                  <a:gd name="T18" fmla="*/ 643 w 646"/>
                  <a:gd name="T19" fmla="*/ 125 h 1255"/>
                  <a:gd name="T20" fmla="*/ 549 w 646"/>
                  <a:gd name="T21" fmla="*/ 22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6" h="1255">
                    <a:moveTo>
                      <a:pt x="549" y="22"/>
                    </a:moveTo>
                    <a:cubicBezTo>
                      <a:pt x="157" y="3"/>
                      <a:pt x="157" y="3"/>
                      <a:pt x="157" y="3"/>
                    </a:cubicBezTo>
                    <a:cubicBezTo>
                      <a:pt x="102" y="0"/>
                      <a:pt x="56" y="42"/>
                      <a:pt x="53" y="97"/>
                    </a:cubicBezTo>
                    <a:cubicBezTo>
                      <a:pt x="28" y="613"/>
                      <a:pt x="28" y="613"/>
                      <a:pt x="28" y="613"/>
                    </a:cubicBezTo>
                    <a:cubicBezTo>
                      <a:pt x="3" y="1130"/>
                      <a:pt x="3" y="1130"/>
                      <a:pt x="3" y="1130"/>
                    </a:cubicBezTo>
                    <a:cubicBezTo>
                      <a:pt x="0" y="1184"/>
                      <a:pt x="42" y="1230"/>
                      <a:pt x="97" y="1233"/>
                    </a:cubicBezTo>
                    <a:cubicBezTo>
                      <a:pt x="490" y="1252"/>
                      <a:pt x="490" y="1252"/>
                      <a:pt x="490" y="1252"/>
                    </a:cubicBezTo>
                    <a:cubicBezTo>
                      <a:pt x="544" y="1255"/>
                      <a:pt x="590" y="1213"/>
                      <a:pt x="593" y="1158"/>
                    </a:cubicBezTo>
                    <a:cubicBezTo>
                      <a:pt x="618" y="642"/>
                      <a:pt x="618" y="642"/>
                      <a:pt x="618" y="642"/>
                    </a:cubicBezTo>
                    <a:cubicBezTo>
                      <a:pt x="643" y="125"/>
                      <a:pt x="643" y="125"/>
                      <a:pt x="643" y="125"/>
                    </a:cubicBezTo>
                    <a:cubicBezTo>
                      <a:pt x="646" y="71"/>
                      <a:pt x="604" y="25"/>
                      <a:pt x="549" y="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iṣļíḑe"/>
              <p:cNvSpPr/>
              <p:nvPr/>
            </p:nvSpPr>
            <p:spPr bwMode="auto">
              <a:xfrm>
                <a:off x="5708696" y="4220547"/>
                <a:ext cx="676057" cy="543999"/>
              </a:xfrm>
              <a:custGeom>
                <a:avLst/>
                <a:gdLst>
                  <a:gd name="T0" fmla="*/ 912 w 2233"/>
                  <a:gd name="T1" fmla="*/ 1590 h 1805"/>
                  <a:gd name="T2" fmla="*/ 1068 w 2233"/>
                  <a:gd name="T3" fmla="*/ 1440 h 1805"/>
                  <a:gd name="T4" fmla="*/ 1067 w 2233"/>
                  <a:gd name="T5" fmla="*/ 1438 h 1805"/>
                  <a:gd name="T6" fmla="*/ 919 w 2233"/>
                  <a:gd name="T7" fmla="*/ 1431 h 1805"/>
                  <a:gd name="T8" fmla="*/ 768 w 2233"/>
                  <a:gd name="T9" fmla="*/ 1264 h 1805"/>
                  <a:gd name="T10" fmla="*/ 935 w 2233"/>
                  <a:gd name="T11" fmla="*/ 1113 h 1805"/>
                  <a:gd name="T12" fmla="*/ 776 w 2233"/>
                  <a:gd name="T13" fmla="*/ 1105 h 1805"/>
                  <a:gd name="T14" fmla="*/ 624 w 2233"/>
                  <a:gd name="T15" fmla="*/ 939 h 1805"/>
                  <a:gd name="T16" fmla="*/ 791 w 2233"/>
                  <a:gd name="T17" fmla="*/ 787 h 1805"/>
                  <a:gd name="T18" fmla="*/ 155 w 2233"/>
                  <a:gd name="T19" fmla="*/ 757 h 1805"/>
                  <a:gd name="T20" fmla="*/ 4 w 2233"/>
                  <a:gd name="T21" fmla="*/ 590 h 1805"/>
                  <a:gd name="T22" fmla="*/ 171 w 2233"/>
                  <a:gd name="T23" fmla="*/ 439 h 1805"/>
                  <a:gd name="T24" fmla="*/ 272 w 2233"/>
                  <a:gd name="T25" fmla="*/ 444 h 1805"/>
                  <a:gd name="T26" fmla="*/ 1125 w 2233"/>
                  <a:gd name="T27" fmla="*/ 485 h 1805"/>
                  <a:gd name="T28" fmla="*/ 1239 w 2233"/>
                  <a:gd name="T29" fmla="*/ 491 h 1805"/>
                  <a:gd name="T30" fmla="*/ 1283 w 2233"/>
                  <a:gd name="T31" fmla="*/ 456 h 1805"/>
                  <a:gd name="T32" fmla="*/ 1268 w 2233"/>
                  <a:gd name="T33" fmla="*/ 404 h 1805"/>
                  <a:gd name="T34" fmla="*/ 978 w 2233"/>
                  <a:gd name="T35" fmla="*/ 111 h 1805"/>
                  <a:gd name="T36" fmla="*/ 1037 w 2233"/>
                  <a:gd name="T37" fmla="*/ 18 h 1805"/>
                  <a:gd name="T38" fmla="*/ 1147 w 2233"/>
                  <a:gd name="T39" fmla="*/ 22 h 1805"/>
                  <a:gd name="T40" fmla="*/ 2195 w 2233"/>
                  <a:gd name="T41" fmla="*/ 572 h 1805"/>
                  <a:gd name="T42" fmla="*/ 2232 w 2233"/>
                  <a:gd name="T43" fmla="*/ 644 h 1805"/>
                  <a:gd name="T44" fmla="*/ 2187 w 2233"/>
                  <a:gd name="T45" fmla="*/ 1572 h 1805"/>
                  <a:gd name="T46" fmla="*/ 1937 w 2233"/>
                  <a:gd name="T47" fmla="*/ 1799 h 1805"/>
                  <a:gd name="T48" fmla="*/ 1063 w 2233"/>
                  <a:gd name="T49" fmla="*/ 1757 h 1805"/>
                  <a:gd name="T50" fmla="*/ 912 w 2233"/>
                  <a:gd name="T51" fmla="*/ 1590 h 1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33" h="1805">
                    <a:moveTo>
                      <a:pt x="912" y="1590"/>
                    </a:moveTo>
                    <a:cubicBezTo>
                      <a:pt x="916" y="1506"/>
                      <a:pt x="985" y="1442"/>
                      <a:pt x="1068" y="1440"/>
                    </a:cubicBezTo>
                    <a:cubicBezTo>
                      <a:pt x="1068" y="1439"/>
                      <a:pt x="1067" y="1439"/>
                      <a:pt x="1067" y="1438"/>
                    </a:cubicBezTo>
                    <a:cubicBezTo>
                      <a:pt x="919" y="1431"/>
                      <a:pt x="919" y="1431"/>
                      <a:pt x="919" y="1431"/>
                    </a:cubicBezTo>
                    <a:cubicBezTo>
                      <a:pt x="832" y="1427"/>
                      <a:pt x="764" y="1352"/>
                      <a:pt x="768" y="1264"/>
                    </a:cubicBezTo>
                    <a:cubicBezTo>
                      <a:pt x="772" y="1177"/>
                      <a:pt x="847" y="1109"/>
                      <a:pt x="935" y="1113"/>
                    </a:cubicBezTo>
                    <a:cubicBezTo>
                      <a:pt x="776" y="1105"/>
                      <a:pt x="776" y="1105"/>
                      <a:pt x="776" y="1105"/>
                    </a:cubicBezTo>
                    <a:cubicBezTo>
                      <a:pt x="688" y="1101"/>
                      <a:pt x="620" y="1026"/>
                      <a:pt x="624" y="939"/>
                    </a:cubicBezTo>
                    <a:cubicBezTo>
                      <a:pt x="629" y="851"/>
                      <a:pt x="704" y="783"/>
                      <a:pt x="791" y="787"/>
                    </a:cubicBezTo>
                    <a:cubicBezTo>
                      <a:pt x="155" y="757"/>
                      <a:pt x="155" y="757"/>
                      <a:pt x="155" y="757"/>
                    </a:cubicBezTo>
                    <a:cubicBezTo>
                      <a:pt x="68" y="752"/>
                      <a:pt x="0" y="677"/>
                      <a:pt x="4" y="590"/>
                    </a:cubicBezTo>
                    <a:cubicBezTo>
                      <a:pt x="8" y="503"/>
                      <a:pt x="83" y="434"/>
                      <a:pt x="171" y="439"/>
                    </a:cubicBezTo>
                    <a:cubicBezTo>
                      <a:pt x="272" y="444"/>
                      <a:pt x="272" y="444"/>
                      <a:pt x="272" y="444"/>
                    </a:cubicBezTo>
                    <a:cubicBezTo>
                      <a:pt x="1125" y="485"/>
                      <a:pt x="1125" y="485"/>
                      <a:pt x="1125" y="485"/>
                    </a:cubicBezTo>
                    <a:cubicBezTo>
                      <a:pt x="1239" y="491"/>
                      <a:pt x="1239" y="491"/>
                      <a:pt x="1239" y="491"/>
                    </a:cubicBezTo>
                    <a:cubicBezTo>
                      <a:pt x="1259" y="492"/>
                      <a:pt x="1277" y="475"/>
                      <a:pt x="1283" y="456"/>
                    </a:cubicBezTo>
                    <a:cubicBezTo>
                      <a:pt x="1290" y="438"/>
                      <a:pt x="1284" y="415"/>
                      <a:pt x="1268" y="404"/>
                    </a:cubicBezTo>
                    <a:cubicBezTo>
                      <a:pt x="1121" y="279"/>
                      <a:pt x="970" y="279"/>
                      <a:pt x="978" y="111"/>
                    </a:cubicBezTo>
                    <a:cubicBezTo>
                      <a:pt x="980" y="72"/>
                      <a:pt x="1003" y="36"/>
                      <a:pt x="1037" y="18"/>
                    </a:cubicBezTo>
                    <a:cubicBezTo>
                      <a:pt x="1072" y="0"/>
                      <a:pt x="1114" y="1"/>
                      <a:pt x="1147" y="22"/>
                    </a:cubicBezTo>
                    <a:cubicBezTo>
                      <a:pt x="2195" y="572"/>
                      <a:pt x="2195" y="572"/>
                      <a:pt x="2195" y="572"/>
                    </a:cubicBezTo>
                    <a:cubicBezTo>
                      <a:pt x="2219" y="587"/>
                      <a:pt x="2233" y="615"/>
                      <a:pt x="2232" y="644"/>
                    </a:cubicBezTo>
                    <a:cubicBezTo>
                      <a:pt x="2225" y="783"/>
                      <a:pt x="2201" y="1273"/>
                      <a:pt x="2187" y="1572"/>
                    </a:cubicBezTo>
                    <a:cubicBezTo>
                      <a:pt x="2181" y="1704"/>
                      <a:pt x="2069" y="1805"/>
                      <a:pt x="1937" y="1799"/>
                    </a:cubicBezTo>
                    <a:cubicBezTo>
                      <a:pt x="1511" y="1778"/>
                      <a:pt x="1063" y="1757"/>
                      <a:pt x="1063" y="1757"/>
                    </a:cubicBezTo>
                    <a:cubicBezTo>
                      <a:pt x="975" y="1752"/>
                      <a:pt x="907" y="1677"/>
                      <a:pt x="912" y="1590"/>
                    </a:cubicBezTo>
                    <a:close/>
                  </a:path>
                </a:pathLst>
              </a:custGeom>
              <a:solidFill>
                <a:srgbClr val="E3B9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îṥḻïdé"/>
              <p:cNvSpPr/>
              <p:nvPr/>
            </p:nvSpPr>
            <p:spPr bwMode="auto">
              <a:xfrm>
                <a:off x="6457681" y="3875620"/>
                <a:ext cx="1348172" cy="963824"/>
              </a:xfrm>
              <a:custGeom>
                <a:avLst/>
                <a:gdLst>
                  <a:gd name="T0" fmla="*/ 3732 w 4458"/>
                  <a:gd name="T1" fmla="*/ 3197 h 3197"/>
                  <a:gd name="T2" fmla="*/ 3704 w 4458"/>
                  <a:gd name="T3" fmla="*/ 3196 h 3197"/>
                  <a:gd name="T4" fmla="*/ 0 w 4458"/>
                  <a:gd name="T5" fmla="*/ 3042 h 3197"/>
                  <a:gd name="T6" fmla="*/ 58 w 4458"/>
                  <a:gd name="T7" fmla="*/ 1664 h 3197"/>
                  <a:gd name="T8" fmla="*/ 2873 w 4458"/>
                  <a:gd name="T9" fmla="*/ 1886 h 3197"/>
                  <a:gd name="T10" fmla="*/ 2267 w 4458"/>
                  <a:gd name="T11" fmla="*/ 451 h 3197"/>
                  <a:gd name="T12" fmla="*/ 3450 w 4458"/>
                  <a:gd name="T13" fmla="*/ 0 h 3197"/>
                  <a:gd name="T14" fmla="*/ 4345 w 4458"/>
                  <a:gd name="T15" fmla="*/ 2191 h 3197"/>
                  <a:gd name="T16" fmla="*/ 4314 w 4458"/>
                  <a:gd name="T17" fmla="*/ 2878 h 3197"/>
                  <a:gd name="T18" fmla="*/ 3732 w 4458"/>
                  <a:gd name="T19" fmla="*/ 3197 h 3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58" h="3197">
                    <a:moveTo>
                      <a:pt x="3732" y="3197"/>
                    </a:moveTo>
                    <a:cubicBezTo>
                      <a:pt x="3723" y="3197"/>
                      <a:pt x="3713" y="3197"/>
                      <a:pt x="3704" y="3196"/>
                    </a:cubicBezTo>
                    <a:cubicBezTo>
                      <a:pt x="0" y="3042"/>
                      <a:pt x="0" y="3042"/>
                      <a:pt x="0" y="3042"/>
                    </a:cubicBezTo>
                    <a:cubicBezTo>
                      <a:pt x="58" y="1664"/>
                      <a:pt x="58" y="1664"/>
                      <a:pt x="58" y="1664"/>
                    </a:cubicBezTo>
                    <a:cubicBezTo>
                      <a:pt x="2873" y="1886"/>
                      <a:pt x="2873" y="1886"/>
                      <a:pt x="2873" y="1886"/>
                    </a:cubicBezTo>
                    <a:cubicBezTo>
                      <a:pt x="2267" y="451"/>
                      <a:pt x="2267" y="451"/>
                      <a:pt x="2267" y="451"/>
                    </a:cubicBezTo>
                    <a:cubicBezTo>
                      <a:pt x="3450" y="0"/>
                      <a:pt x="3450" y="0"/>
                      <a:pt x="3450" y="0"/>
                    </a:cubicBezTo>
                    <a:cubicBezTo>
                      <a:pt x="4345" y="2191"/>
                      <a:pt x="4345" y="2191"/>
                      <a:pt x="4345" y="2191"/>
                    </a:cubicBezTo>
                    <a:cubicBezTo>
                      <a:pt x="4458" y="2409"/>
                      <a:pt x="4446" y="2671"/>
                      <a:pt x="4314" y="2878"/>
                    </a:cubicBezTo>
                    <a:cubicBezTo>
                      <a:pt x="4187" y="3077"/>
                      <a:pt x="3967" y="3197"/>
                      <a:pt x="3732" y="3197"/>
                    </a:cubicBezTo>
                    <a:close/>
                  </a:path>
                </a:pathLst>
              </a:custGeom>
              <a:solidFill>
                <a:srgbClr val="F9F9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isļiḋe"/>
            <p:cNvGrpSpPr/>
            <p:nvPr/>
          </p:nvGrpSpPr>
          <p:grpSpPr>
            <a:xfrm>
              <a:off x="8695626" y="2949862"/>
              <a:ext cx="926659" cy="617241"/>
              <a:chOff x="1570830" y="2392409"/>
              <a:chExt cx="1758896" cy="1062043"/>
            </a:xfrm>
          </p:grpSpPr>
          <p:sp>
            <p:nvSpPr>
              <p:cNvPr id="41" name="iṧ1ïďè"/>
              <p:cNvSpPr/>
              <p:nvPr/>
            </p:nvSpPr>
            <p:spPr bwMode="auto">
              <a:xfrm>
                <a:off x="1796255" y="2575544"/>
                <a:ext cx="1271588" cy="878908"/>
              </a:xfrm>
              <a:custGeom>
                <a:avLst/>
                <a:gdLst>
                  <a:gd name="T0" fmla="*/ 4 w 113"/>
                  <a:gd name="T1" fmla="*/ 59 h 94"/>
                  <a:gd name="T2" fmla="*/ 106 w 113"/>
                  <a:gd name="T3" fmla="*/ 59 h 94"/>
                  <a:gd name="T4" fmla="*/ 113 w 113"/>
                  <a:gd name="T5" fmla="*/ 11 h 94"/>
                  <a:gd name="T6" fmla="*/ 0 w 113"/>
                  <a:gd name="T7" fmla="*/ 11 h 94"/>
                  <a:gd name="T8" fmla="*/ 4 w 113"/>
                  <a:gd name="T9" fmla="*/ 59 h 94"/>
                  <a:gd name="connsiteX0" fmla="*/ 354 w 10000"/>
                  <a:gd name="connsiteY0" fmla="*/ 5985 h 8338"/>
                  <a:gd name="connsiteX1" fmla="*/ 4849 w 10000"/>
                  <a:gd name="connsiteY1" fmla="*/ 8338 h 8338"/>
                  <a:gd name="connsiteX2" fmla="*/ 9381 w 10000"/>
                  <a:gd name="connsiteY2" fmla="*/ 5985 h 8338"/>
                  <a:gd name="connsiteX3" fmla="*/ 10000 w 10000"/>
                  <a:gd name="connsiteY3" fmla="*/ 878 h 8338"/>
                  <a:gd name="connsiteX4" fmla="*/ 0 w 10000"/>
                  <a:gd name="connsiteY4" fmla="*/ 878 h 8338"/>
                  <a:gd name="connsiteX5" fmla="*/ 354 w 10000"/>
                  <a:gd name="connsiteY5" fmla="*/ 5985 h 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8338">
                    <a:moveTo>
                      <a:pt x="354" y="5985"/>
                    </a:moveTo>
                    <a:cubicBezTo>
                      <a:pt x="1162" y="7176"/>
                      <a:pt x="3345" y="8338"/>
                      <a:pt x="4849" y="8338"/>
                    </a:cubicBezTo>
                    <a:cubicBezTo>
                      <a:pt x="6353" y="8338"/>
                      <a:pt x="8523" y="7176"/>
                      <a:pt x="9381" y="5985"/>
                    </a:cubicBezTo>
                    <a:cubicBezTo>
                      <a:pt x="8407" y="4602"/>
                      <a:pt x="8850" y="2793"/>
                      <a:pt x="10000" y="878"/>
                    </a:cubicBezTo>
                    <a:cubicBezTo>
                      <a:pt x="7168" y="-292"/>
                      <a:pt x="2832" y="-292"/>
                      <a:pt x="0" y="878"/>
                    </a:cubicBezTo>
                    <a:cubicBezTo>
                      <a:pt x="1150" y="2687"/>
                      <a:pt x="1593" y="4495"/>
                      <a:pt x="354" y="598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lnSpc>
                    <a:spcPct val="130000"/>
                  </a:lnSpc>
                </a:pPr>
                <a:endParaRPr sz="1100" dirty="0"/>
              </a:p>
            </p:txBody>
          </p:sp>
          <p:sp>
            <p:nvSpPr>
              <p:cNvPr id="42" name="iSlíḋê"/>
              <p:cNvSpPr/>
              <p:nvPr/>
            </p:nvSpPr>
            <p:spPr bwMode="auto">
              <a:xfrm>
                <a:off x="1570830" y="2409825"/>
                <a:ext cx="269875" cy="269875"/>
              </a:xfrm>
              <a:custGeom>
                <a:avLst/>
                <a:gdLst>
                  <a:gd name="T0" fmla="*/ 24 w 24"/>
                  <a:gd name="T1" fmla="*/ 24 h 24"/>
                  <a:gd name="T2" fmla="*/ 0 w 24"/>
                  <a:gd name="T3" fmla="*/ 0 h 24"/>
                </a:gdLst>
                <a:ahLst/>
                <a:cxnLst>
                  <a:cxn ang="0">
                    <a:pos x="T0" y="T1"/>
                  </a:cxn>
                  <a:cxn ang="0">
                    <a:pos x="T2" y="T3"/>
                  </a:cxn>
                </a:cxnLst>
                <a:rect l="0" t="0" r="r" b="b"/>
                <a:pathLst>
                  <a:path w="24" h="24">
                    <a:moveTo>
                      <a:pt x="24" y="24"/>
                    </a:moveTo>
                    <a:cubicBezTo>
                      <a:pt x="13" y="18"/>
                      <a:pt x="6" y="9"/>
                      <a:pt x="0" y="0"/>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îšļïḑe"/>
              <p:cNvSpPr/>
              <p:nvPr/>
            </p:nvSpPr>
            <p:spPr bwMode="auto">
              <a:xfrm>
                <a:off x="3001168" y="2392409"/>
                <a:ext cx="328558" cy="309515"/>
              </a:xfrm>
              <a:custGeom>
                <a:avLst/>
                <a:gdLst>
                  <a:gd name="T0" fmla="*/ 0 w 21"/>
                  <a:gd name="T1" fmla="*/ 26 h 26"/>
                  <a:gd name="T2" fmla="*/ 21 w 21"/>
                  <a:gd name="T3" fmla="*/ 0 h 26"/>
                </a:gdLst>
                <a:ahLst/>
                <a:cxnLst>
                  <a:cxn ang="0">
                    <a:pos x="T0" y="T1"/>
                  </a:cxn>
                  <a:cxn ang="0">
                    <a:pos x="T2" y="T3"/>
                  </a:cxn>
                </a:cxnLst>
                <a:rect l="0" t="0" r="r" b="b"/>
                <a:pathLst>
                  <a:path w="21" h="26">
                    <a:moveTo>
                      <a:pt x="0" y="26"/>
                    </a:moveTo>
                    <a:cubicBezTo>
                      <a:pt x="9" y="19"/>
                      <a:pt x="15" y="10"/>
                      <a:pt x="21" y="0"/>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grpSp>
        <p:nvGrpSpPr>
          <p:cNvPr id="164" name="îsḻïḋê"/>
          <p:cNvGrpSpPr/>
          <p:nvPr/>
        </p:nvGrpSpPr>
        <p:grpSpPr>
          <a:xfrm>
            <a:off x="616587" y="883730"/>
            <a:ext cx="398905" cy="397482"/>
            <a:chOff x="7258511" y="1916834"/>
            <a:chExt cx="3670965" cy="3395592"/>
          </a:xfrm>
        </p:grpSpPr>
        <p:sp>
          <p:nvSpPr>
            <p:cNvPr id="165" name="ïṡḻíḑé"/>
            <p:cNvSpPr/>
            <p:nvPr/>
          </p:nvSpPr>
          <p:spPr bwMode="auto">
            <a:xfrm>
              <a:off x="7377468" y="2399195"/>
              <a:ext cx="3552008" cy="2913231"/>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chemeClr val="accent1">
                <a:lumMod val="50000"/>
              </a:schemeClr>
            </a:solidFill>
            <a:ln>
              <a:noFill/>
            </a:ln>
          </p:spPr>
          <p:txBody>
            <a:bodyPr wrap="square" lIns="91440" tIns="45720" rIns="91440" bIns="45720" anchor="ctr">
              <a:normAutofit lnSpcReduction="10000"/>
            </a:bodyPr>
            <a:lstStyle/>
            <a:p>
              <a:pPr algn="ctr"/>
            </a:p>
          </p:txBody>
        </p:sp>
        <p:sp>
          <p:nvSpPr>
            <p:cNvPr id="166" name="îšľíḍé"/>
            <p:cNvSpPr/>
            <p:nvPr/>
          </p:nvSpPr>
          <p:spPr bwMode="auto">
            <a:xfrm>
              <a:off x="7340899" y="2353676"/>
              <a:ext cx="3552008" cy="2913231"/>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167" name="íşḷîḓè"/>
            <p:cNvSpPr/>
            <p:nvPr/>
          </p:nvSpPr>
          <p:spPr bwMode="auto">
            <a:xfrm>
              <a:off x="7294577" y="2295964"/>
              <a:ext cx="3552008" cy="291323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5"/>
            </a:solidFill>
            <a:ln>
              <a:noFill/>
            </a:ln>
          </p:spPr>
          <p:txBody>
            <a:bodyPr wrap="square" lIns="91440" tIns="45720" rIns="91440" bIns="45720" anchor="ctr">
              <a:normAutofit lnSpcReduction="10000"/>
            </a:bodyPr>
            <a:lstStyle/>
            <a:p>
              <a:pPr algn="ctr"/>
            </a:p>
          </p:txBody>
        </p:sp>
        <p:sp>
          <p:nvSpPr>
            <p:cNvPr id="168" name="íSľíḍè"/>
            <p:cNvSpPr/>
            <p:nvPr/>
          </p:nvSpPr>
          <p:spPr bwMode="auto">
            <a:xfrm>
              <a:off x="7631008" y="2572331"/>
              <a:ext cx="2879151" cy="2361310"/>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chemeClr val="accent5">
                <a:lumMod val="20000"/>
                <a:lumOff val="80000"/>
              </a:schemeClr>
            </a:solidFill>
            <a:ln>
              <a:noFill/>
            </a:ln>
          </p:spPr>
          <p:txBody>
            <a:bodyPr wrap="square" lIns="91440" tIns="45720" rIns="91440" bIns="45720" anchor="ctr">
              <a:normAutofit fontScale="77500" lnSpcReduction="20000"/>
            </a:bodyPr>
            <a:lstStyle/>
            <a:p>
              <a:pPr algn="ctr"/>
            </a:p>
          </p:txBody>
        </p:sp>
        <p:sp>
          <p:nvSpPr>
            <p:cNvPr id="169" name="ïšļîďe"/>
            <p:cNvSpPr/>
            <p:nvPr/>
          </p:nvSpPr>
          <p:spPr bwMode="auto">
            <a:xfrm>
              <a:off x="7834558" y="2673323"/>
              <a:ext cx="2502091" cy="2050803"/>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chemeClr val="accent3">
                <a:lumMod val="40000"/>
                <a:lumOff val="60000"/>
              </a:schemeClr>
            </a:solidFill>
            <a:ln>
              <a:noFill/>
            </a:ln>
          </p:spPr>
          <p:txBody>
            <a:bodyPr wrap="square" lIns="91440" tIns="45720" rIns="91440" bIns="45720" anchor="ctr">
              <a:normAutofit fontScale="62500" lnSpcReduction="20000"/>
            </a:bodyPr>
            <a:lstStyle/>
            <a:p>
              <a:pPr algn="ctr"/>
            </a:p>
          </p:txBody>
        </p:sp>
        <p:sp>
          <p:nvSpPr>
            <p:cNvPr id="170" name="îṡlîde"/>
            <p:cNvSpPr/>
            <p:nvPr/>
          </p:nvSpPr>
          <p:spPr bwMode="auto">
            <a:xfrm>
              <a:off x="8078764" y="2936485"/>
              <a:ext cx="1982818" cy="1631376"/>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chemeClr val="accent5">
                <a:lumMod val="20000"/>
                <a:lumOff val="80000"/>
              </a:schemeClr>
            </a:solidFill>
            <a:ln>
              <a:noFill/>
            </a:ln>
          </p:spPr>
          <p:txBody>
            <a:bodyPr wrap="square" lIns="91440" tIns="45720" rIns="91440" bIns="45720" anchor="ctr">
              <a:normAutofit fontScale="40000" lnSpcReduction="20000"/>
            </a:bodyPr>
            <a:lstStyle/>
            <a:p>
              <a:pPr algn="ctr"/>
            </a:p>
          </p:txBody>
        </p:sp>
        <p:sp>
          <p:nvSpPr>
            <p:cNvPr id="171" name="ïṣliḋé"/>
            <p:cNvSpPr/>
            <p:nvPr/>
          </p:nvSpPr>
          <p:spPr bwMode="auto">
            <a:xfrm>
              <a:off x="8292486" y="3107995"/>
              <a:ext cx="1556187" cy="1289170"/>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chemeClr val="accent4">
                <a:lumMod val="40000"/>
                <a:lumOff val="60000"/>
              </a:schemeClr>
            </a:solidFill>
            <a:ln>
              <a:noFill/>
            </a:ln>
          </p:spPr>
          <p:txBody>
            <a:bodyPr wrap="square" lIns="91440" tIns="45720" rIns="91440" bIns="45720" anchor="ctr">
              <a:normAutofit fontScale="25000" lnSpcReduction="20000"/>
            </a:bodyPr>
            <a:lstStyle/>
            <a:p>
              <a:pPr algn="ctr"/>
            </a:p>
          </p:txBody>
        </p:sp>
        <p:sp>
          <p:nvSpPr>
            <p:cNvPr id="172" name="íśľiḋê"/>
            <p:cNvSpPr/>
            <p:nvPr/>
          </p:nvSpPr>
          <p:spPr bwMode="auto">
            <a:xfrm>
              <a:off x="8502144" y="3275440"/>
              <a:ext cx="1136869" cy="954278"/>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chemeClr val="accent5">
                <a:lumMod val="20000"/>
                <a:lumOff val="80000"/>
              </a:schemeClr>
            </a:solidFill>
            <a:ln>
              <a:noFill/>
            </a:ln>
          </p:spPr>
          <p:txBody>
            <a:bodyPr wrap="square" lIns="91440" tIns="45720" rIns="91440" bIns="45720" anchor="ctr">
              <a:normAutofit fontScale="25000" lnSpcReduction="20000"/>
            </a:bodyPr>
            <a:lstStyle/>
            <a:p>
              <a:pPr algn="ctr"/>
            </a:p>
          </p:txBody>
        </p:sp>
        <p:sp>
          <p:nvSpPr>
            <p:cNvPr id="173" name="ïšḷídè"/>
            <p:cNvSpPr/>
            <p:nvPr/>
          </p:nvSpPr>
          <p:spPr bwMode="auto">
            <a:xfrm>
              <a:off x="8797942" y="3529048"/>
              <a:ext cx="546900" cy="44869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chemeClr val="accent1"/>
            </a:solidFill>
            <a:ln>
              <a:noFill/>
            </a:ln>
          </p:spPr>
          <p:txBody>
            <a:bodyPr wrap="square" lIns="91440" tIns="45720" rIns="91440" bIns="45720" anchor="ctr">
              <a:normAutofit fontScale="25000" lnSpcReduction="20000"/>
            </a:bodyPr>
            <a:lstStyle/>
            <a:p>
              <a:pPr algn="ctr"/>
            </a:p>
          </p:txBody>
        </p:sp>
        <p:sp>
          <p:nvSpPr>
            <p:cNvPr id="174" name="íṩḻíḑé"/>
            <p:cNvSpPr/>
            <p:nvPr/>
          </p:nvSpPr>
          <p:spPr bwMode="auto">
            <a:xfrm>
              <a:off x="8732259" y="3420605"/>
              <a:ext cx="166759" cy="17273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75" name="isḻíḓê"/>
            <p:cNvSpPr/>
            <p:nvPr/>
          </p:nvSpPr>
          <p:spPr bwMode="auto">
            <a:xfrm>
              <a:off x="8353029" y="3010794"/>
              <a:ext cx="417322" cy="481783"/>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76" name="íŝḷîḑe"/>
            <p:cNvSpPr/>
            <p:nvPr/>
          </p:nvSpPr>
          <p:spPr bwMode="auto">
            <a:xfrm>
              <a:off x="8344564" y="3003173"/>
              <a:ext cx="116816" cy="18627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77" name="íśḷïḋe"/>
            <p:cNvSpPr/>
            <p:nvPr/>
          </p:nvSpPr>
          <p:spPr bwMode="auto">
            <a:xfrm>
              <a:off x="7258511" y="2278383"/>
              <a:ext cx="402086" cy="34546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78" name="iṣļîḑe"/>
            <p:cNvSpPr/>
            <p:nvPr/>
          </p:nvSpPr>
          <p:spPr bwMode="auto">
            <a:xfrm>
              <a:off x="7555631" y="1960863"/>
              <a:ext cx="148983" cy="38949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79" name="íślïdé"/>
            <p:cNvSpPr/>
            <p:nvPr/>
          </p:nvSpPr>
          <p:spPr bwMode="auto">
            <a:xfrm>
              <a:off x="7372789" y="2322412"/>
              <a:ext cx="428326" cy="51988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80" name="iṥ1íde"/>
            <p:cNvSpPr/>
            <p:nvPr/>
          </p:nvSpPr>
          <p:spPr bwMode="auto">
            <a:xfrm>
              <a:off x="7592032" y="1916834"/>
              <a:ext cx="407164" cy="56814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81" name="îšļíďé"/>
            <p:cNvSpPr/>
            <p:nvPr/>
          </p:nvSpPr>
          <p:spPr bwMode="auto">
            <a:xfrm>
              <a:off x="7658058" y="2350353"/>
              <a:ext cx="766926" cy="78744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182" name="iṩlîdê"/>
            <p:cNvSpPr/>
            <p:nvPr/>
          </p:nvSpPr>
          <p:spPr bwMode="auto">
            <a:xfrm>
              <a:off x="9725576" y="3684364"/>
              <a:ext cx="160589" cy="16633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83" name="îṥlïḍê"/>
            <p:cNvSpPr/>
            <p:nvPr/>
          </p:nvSpPr>
          <p:spPr bwMode="auto">
            <a:xfrm>
              <a:off x="9360379" y="3289717"/>
              <a:ext cx="401879" cy="463955"/>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84" name="iṡļïdè"/>
            <p:cNvSpPr/>
            <p:nvPr/>
          </p:nvSpPr>
          <p:spPr bwMode="auto">
            <a:xfrm>
              <a:off x="9352226" y="3282379"/>
              <a:ext cx="112494" cy="179386"/>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85" name="îṡļiḋe"/>
            <p:cNvSpPr/>
            <p:nvPr/>
          </p:nvSpPr>
          <p:spPr bwMode="auto">
            <a:xfrm>
              <a:off x="8306363" y="2584410"/>
              <a:ext cx="387207" cy="332677"/>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186" name="ïṧlîḋè"/>
            <p:cNvSpPr/>
            <p:nvPr/>
          </p:nvSpPr>
          <p:spPr bwMode="auto">
            <a:xfrm>
              <a:off x="8592488" y="2278640"/>
              <a:ext cx="143470" cy="375078"/>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4"/>
            </a:solidFill>
            <a:ln>
              <a:noFill/>
            </a:ln>
            <a:effectLst/>
          </p:spPr>
          <p:txBody>
            <a:bodyPr wrap="square" lIns="91440" tIns="45720" rIns="91440" bIns="45720" anchor="ctr">
              <a:normAutofit fontScale="25000" lnSpcReduction="20000"/>
            </a:bodyPr>
            <a:lstStyle/>
            <a:p>
              <a:pPr algn="ctr"/>
            </a:p>
          </p:txBody>
        </p:sp>
        <p:sp>
          <p:nvSpPr>
            <p:cNvPr id="187" name="íṣḷiḑe"/>
            <p:cNvSpPr/>
            <p:nvPr/>
          </p:nvSpPr>
          <p:spPr bwMode="auto">
            <a:xfrm>
              <a:off x="8416411" y="2626809"/>
              <a:ext cx="412476" cy="500647"/>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88" name="îŝ1îḋé"/>
            <p:cNvSpPr/>
            <p:nvPr/>
          </p:nvSpPr>
          <p:spPr bwMode="auto">
            <a:xfrm>
              <a:off x="8627540" y="2236237"/>
              <a:ext cx="392097" cy="547123"/>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89" name="íṡliḍé"/>
            <p:cNvSpPr/>
            <p:nvPr/>
          </p:nvSpPr>
          <p:spPr bwMode="auto">
            <a:xfrm>
              <a:off x="8691126" y="2653714"/>
              <a:ext cx="738545" cy="75830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90" name="îŝḷiḓé"/>
            <p:cNvSpPr/>
            <p:nvPr/>
          </p:nvSpPr>
          <p:spPr bwMode="auto">
            <a:xfrm>
              <a:off x="8960093" y="4104624"/>
              <a:ext cx="158920" cy="16460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91" name="ïšlíḓè"/>
            <p:cNvSpPr/>
            <p:nvPr/>
          </p:nvSpPr>
          <p:spPr bwMode="auto">
            <a:xfrm>
              <a:off x="8598694" y="3714079"/>
              <a:ext cx="397701" cy="459131"/>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92" name="îşliḍê"/>
            <p:cNvSpPr/>
            <p:nvPr/>
          </p:nvSpPr>
          <p:spPr bwMode="auto">
            <a:xfrm>
              <a:off x="8590628" y="3706817"/>
              <a:ext cx="111324" cy="17752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93" name="işḷîḋè"/>
            <p:cNvSpPr/>
            <p:nvPr/>
          </p:nvSpPr>
          <p:spPr bwMode="auto">
            <a:xfrm>
              <a:off x="7555640" y="3016104"/>
              <a:ext cx="383180" cy="32922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94" name="í$1ïḓê"/>
            <p:cNvSpPr/>
            <p:nvPr/>
          </p:nvSpPr>
          <p:spPr bwMode="auto">
            <a:xfrm>
              <a:off x="7838789" y="2713513"/>
              <a:ext cx="141979" cy="37117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95" name="ïŝľîdé"/>
            <p:cNvSpPr/>
            <p:nvPr/>
          </p:nvSpPr>
          <p:spPr bwMode="auto">
            <a:xfrm>
              <a:off x="7664541" y="3047772"/>
              <a:ext cx="408189" cy="495442"/>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96" name="íśḻiḋé"/>
            <p:cNvSpPr/>
            <p:nvPr/>
          </p:nvSpPr>
          <p:spPr bwMode="auto">
            <a:xfrm>
              <a:off x="7868333" y="2676702"/>
              <a:ext cx="388022" cy="54143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97" name="ïṡ1ïďè"/>
            <p:cNvSpPr/>
            <p:nvPr/>
          </p:nvSpPr>
          <p:spPr bwMode="auto">
            <a:xfrm>
              <a:off x="7936404" y="3084690"/>
              <a:ext cx="730867" cy="75042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产品基准价测算目标：守住成本底线，支撑产品定价和报价</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2" name="îślíḋe"/>
          <p:cNvSpPr/>
          <p:nvPr/>
        </p:nvSpPr>
        <p:spPr bwMode="auto">
          <a:xfrm>
            <a:off x="566653" y="821767"/>
            <a:ext cx="11285378" cy="1010003"/>
          </a:xfrm>
          <a:prstGeom prst="roundRect">
            <a:avLst>
              <a:gd name="adj" fmla="val 13529"/>
            </a:avLst>
          </a:prstGeom>
          <a:solidFill>
            <a:schemeClr val="accent5">
              <a:lumMod val="20000"/>
              <a:lumOff val="80000"/>
            </a:schemeClr>
          </a:solidFill>
          <a:ln w="38100" algn="ctr">
            <a:noFill/>
            <a:prstDash val="sysDot"/>
            <a:round/>
          </a:ln>
        </p:spPr>
        <p:txBody>
          <a:bodyPr wrap="none" lIns="432000" tIns="108000" bIns="0" anchor="ctr" anchorCtr="0"/>
          <a:lstStyle/>
          <a:p>
            <a:pPr>
              <a:defRPr/>
            </a:pPr>
            <a:r>
              <a:rPr lang="zh-CN" altLang="en-US" sz="2400" b="1" dirty="0">
                <a:solidFill>
                  <a:schemeClr val="accent1"/>
                </a:solidFill>
                <a:latin typeface="微软雅黑" panose="020B0503020204020204" pitchFamily="34" charset="-122"/>
                <a:ea typeface="微软雅黑" panose="020B0503020204020204" pitchFamily="34" charset="-122"/>
              </a:rPr>
              <a:t>核心诉求</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4">
              <a:defRPr/>
            </a:pPr>
            <a:r>
              <a:rPr lang="zh-CN" altLang="en-US" sz="2000" b="1" dirty="0">
                <a:solidFill>
                  <a:schemeClr val="accent1"/>
                </a:solidFill>
                <a:latin typeface="微软雅黑" panose="020B0503020204020204" pitchFamily="34" charset="-122"/>
                <a:ea typeface="微软雅黑" panose="020B0503020204020204" pitchFamily="34" charset="-122"/>
              </a:rPr>
              <a:t>自动化</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准确性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及时性</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可跟踪</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流程规范</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07" name="ïśľíḋê"/>
          <p:cNvSpPr/>
          <p:nvPr/>
        </p:nvSpPr>
        <p:spPr bwMode="auto">
          <a:xfrm>
            <a:off x="3044858" y="931861"/>
            <a:ext cx="326866" cy="478426"/>
          </a:xfrm>
          <a:custGeom>
            <a:avLst/>
            <a:gdLst>
              <a:gd name="connsiteX0" fmla="*/ 249830 w 431507"/>
              <a:gd name="connsiteY0" fmla="*/ 561058 h 608274"/>
              <a:gd name="connsiteX1" fmla="*/ 249830 w 431507"/>
              <a:gd name="connsiteY1" fmla="*/ 594884 h 608274"/>
              <a:gd name="connsiteX2" fmla="*/ 340366 w 431507"/>
              <a:gd name="connsiteY2" fmla="*/ 594884 h 608274"/>
              <a:gd name="connsiteX3" fmla="*/ 340366 w 431507"/>
              <a:gd name="connsiteY3" fmla="*/ 561058 h 608274"/>
              <a:gd name="connsiteX4" fmla="*/ 91141 w 431507"/>
              <a:gd name="connsiteY4" fmla="*/ 561058 h 608274"/>
              <a:gd name="connsiteX5" fmla="*/ 91141 w 431507"/>
              <a:gd name="connsiteY5" fmla="*/ 594884 h 608274"/>
              <a:gd name="connsiteX6" fmla="*/ 181777 w 431507"/>
              <a:gd name="connsiteY6" fmla="*/ 594884 h 608274"/>
              <a:gd name="connsiteX7" fmla="*/ 181777 w 431507"/>
              <a:gd name="connsiteY7" fmla="*/ 561058 h 608274"/>
              <a:gd name="connsiteX8" fmla="*/ 249830 w 431507"/>
              <a:gd name="connsiteY8" fmla="*/ 540923 h 608274"/>
              <a:gd name="connsiteX9" fmla="*/ 249830 w 431507"/>
              <a:gd name="connsiteY9" fmla="*/ 547668 h 608274"/>
              <a:gd name="connsiteX10" fmla="*/ 340366 w 431507"/>
              <a:gd name="connsiteY10" fmla="*/ 547668 h 608274"/>
              <a:gd name="connsiteX11" fmla="*/ 340366 w 431507"/>
              <a:gd name="connsiteY11" fmla="*/ 540923 h 608274"/>
              <a:gd name="connsiteX12" fmla="*/ 91141 w 431507"/>
              <a:gd name="connsiteY12" fmla="*/ 540923 h 608274"/>
              <a:gd name="connsiteX13" fmla="*/ 91141 w 431507"/>
              <a:gd name="connsiteY13" fmla="*/ 547668 h 608274"/>
              <a:gd name="connsiteX14" fmla="*/ 181777 w 431507"/>
              <a:gd name="connsiteY14" fmla="*/ 547668 h 608274"/>
              <a:gd name="connsiteX15" fmla="*/ 181777 w 431507"/>
              <a:gd name="connsiteY15" fmla="*/ 540923 h 608274"/>
              <a:gd name="connsiteX16" fmla="*/ 265558 w 431507"/>
              <a:gd name="connsiteY16" fmla="*/ 502063 h 608274"/>
              <a:gd name="connsiteX17" fmla="*/ 265558 w 431507"/>
              <a:gd name="connsiteY17" fmla="*/ 527533 h 608274"/>
              <a:gd name="connsiteX18" fmla="*/ 324538 w 431507"/>
              <a:gd name="connsiteY18" fmla="*/ 527533 h 608274"/>
              <a:gd name="connsiteX19" fmla="*/ 324538 w 431507"/>
              <a:gd name="connsiteY19" fmla="*/ 502063 h 608274"/>
              <a:gd name="connsiteX20" fmla="*/ 106969 w 431507"/>
              <a:gd name="connsiteY20" fmla="*/ 502063 h 608274"/>
              <a:gd name="connsiteX21" fmla="*/ 106969 w 431507"/>
              <a:gd name="connsiteY21" fmla="*/ 527533 h 608274"/>
              <a:gd name="connsiteX22" fmla="*/ 165949 w 431507"/>
              <a:gd name="connsiteY22" fmla="*/ 527533 h 608274"/>
              <a:gd name="connsiteX23" fmla="*/ 165949 w 431507"/>
              <a:gd name="connsiteY23" fmla="*/ 502063 h 608274"/>
              <a:gd name="connsiteX24" fmla="*/ 317980 w 431507"/>
              <a:gd name="connsiteY24" fmla="*/ 451238 h 608274"/>
              <a:gd name="connsiteX25" fmla="*/ 317980 w 431507"/>
              <a:gd name="connsiteY25" fmla="*/ 466846 h 608274"/>
              <a:gd name="connsiteX26" fmla="*/ 335726 w 431507"/>
              <a:gd name="connsiteY26" fmla="*/ 466846 h 608274"/>
              <a:gd name="connsiteX27" fmla="*/ 338751 w 431507"/>
              <a:gd name="connsiteY27" fmla="*/ 463825 h 608274"/>
              <a:gd name="connsiteX28" fmla="*/ 338751 w 431507"/>
              <a:gd name="connsiteY28" fmla="*/ 451238 h 608274"/>
              <a:gd name="connsiteX29" fmla="*/ 279765 w 431507"/>
              <a:gd name="connsiteY29" fmla="*/ 451238 h 608274"/>
              <a:gd name="connsiteX30" fmla="*/ 279765 w 431507"/>
              <a:gd name="connsiteY30" fmla="*/ 466846 h 608274"/>
              <a:gd name="connsiteX31" fmla="*/ 304469 w 431507"/>
              <a:gd name="connsiteY31" fmla="*/ 466846 h 608274"/>
              <a:gd name="connsiteX32" fmla="*/ 304469 w 431507"/>
              <a:gd name="connsiteY32" fmla="*/ 451238 h 608274"/>
              <a:gd name="connsiteX33" fmla="*/ 241551 w 431507"/>
              <a:gd name="connsiteY33" fmla="*/ 451238 h 608274"/>
              <a:gd name="connsiteX34" fmla="*/ 241551 w 431507"/>
              <a:gd name="connsiteY34" fmla="*/ 466846 h 608274"/>
              <a:gd name="connsiteX35" fmla="*/ 266355 w 431507"/>
              <a:gd name="connsiteY35" fmla="*/ 466846 h 608274"/>
              <a:gd name="connsiteX36" fmla="*/ 266355 w 431507"/>
              <a:gd name="connsiteY36" fmla="*/ 451238 h 608274"/>
              <a:gd name="connsiteX37" fmla="*/ 203437 w 431507"/>
              <a:gd name="connsiteY37" fmla="*/ 451238 h 608274"/>
              <a:gd name="connsiteX38" fmla="*/ 203437 w 431507"/>
              <a:gd name="connsiteY38" fmla="*/ 466846 h 608274"/>
              <a:gd name="connsiteX39" fmla="*/ 228140 w 431507"/>
              <a:gd name="connsiteY39" fmla="*/ 466846 h 608274"/>
              <a:gd name="connsiteX40" fmla="*/ 228140 w 431507"/>
              <a:gd name="connsiteY40" fmla="*/ 451238 h 608274"/>
              <a:gd name="connsiteX41" fmla="*/ 165222 w 431507"/>
              <a:gd name="connsiteY41" fmla="*/ 451238 h 608274"/>
              <a:gd name="connsiteX42" fmla="*/ 165222 w 431507"/>
              <a:gd name="connsiteY42" fmla="*/ 466846 h 608274"/>
              <a:gd name="connsiteX43" fmla="*/ 189926 w 431507"/>
              <a:gd name="connsiteY43" fmla="*/ 466846 h 608274"/>
              <a:gd name="connsiteX44" fmla="*/ 189926 w 431507"/>
              <a:gd name="connsiteY44" fmla="*/ 451238 h 608274"/>
              <a:gd name="connsiteX45" fmla="*/ 127008 w 431507"/>
              <a:gd name="connsiteY45" fmla="*/ 451238 h 608274"/>
              <a:gd name="connsiteX46" fmla="*/ 127008 w 431507"/>
              <a:gd name="connsiteY46" fmla="*/ 466846 h 608274"/>
              <a:gd name="connsiteX47" fmla="*/ 151812 w 431507"/>
              <a:gd name="connsiteY47" fmla="*/ 466846 h 608274"/>
              <a:gd name="connsiteX48" fmla="*/ 151812 w 431507"/>
              <a:gd name="connsiteY48" fmla="*/ 451238 h 608274"/>
              <a:gd name="connsiteX49" fmla="*/ 92725 w 431507"/>
              <a:gd name="connsiteY49" fmla="*/ 451238 h 608274"/>
              <a:gd name="connsiteX50" fmla="*/ 92725 w 431507"/>
              <a:gd name="connsiteY50" fmla="*/ 463825 h 608274"/>
              <a:gd name="connsiteX51" fmla="*/ 95750 w 431507"/>
              <a:gd name="connsiteY51" fmla="*/ 466846 h 608274"/>
              <a:gd name="connsiteX52" fmla="*/ 113597 w 431507"/>
              <a:gd name="connsiteY52" fmla="*/ 466846 h 608274"/>
              <a:gd name="connsiteX53" fmla="*/ 113597 w 431507"/>
              <a:gd name="connsiteY53" fmla="*/ 451238 h 608274"/>
              <a:gd name="connsiteX54" fmla="*/ 408722 w 431507"/>
              <a:gd name="connsiteY54" fmla="*/ 422832 h 608274"/>
              <a:gd name="connsiteX55" fmla="*/ 408722 w 431507"/>
              <a:gd name="connsiteY55" fmla="*/ 440953 h 608274"/>
              <a:gd name="connsiteX56" fmla="*/ 418098 w 431507"/>
              <a:gd name="connsiteY56" fmla="*/ 440953 h 608274"/>
              <a:gd name="connsiteX57" fmla="*/ 418098 w 431507"/>
              <a:gd name="connsiteY57" fmla="*/ 422832 h 608274"/>
              <a:gd name="connsiteX58" fmla="*/ 13510 w 431507"/>
              <a:gd name="connsiteY58" fmla="*/ 422832 h 608274"/>
              <a:gd name="connsiteX59" fmla="*/ 13510 w 431507"/>
              <a:gd name="connsiteY59" fmla="*/ 440953 h 608274"/>
              <a:gd name="connsiteX60" fmla="*/ 22886 w 431507"/>
              <a:gd name="connsiteY60" fmla="*/ 440953 h 608274"/>
              <a:gd name="connsiteX61" fmla="*/ 22886 w 431507"/>
              <a:gd name="connsiteY61" fmla="*/ 422832 h 608274"/>
              <a:gd name="connsiteX62" fmla="*/ 298822 w 431507"/>
              <a:gd name="connsiteY62" fmla="*/ 422136 h 608274"/>
              <a:gd name="connsiteX63" fmla="*/ 298822 w 431507"/>
              <a:gd name="connsiteY63" fmla="*/ 437744 h 608274"/>
              <a:gd name="connsiteX64" fmla="*/ 338751 w 431507"/>
              <a:gd name="connsiteY64" fmla="*/ 437744 h 608274"/>
              <a:gd name="connsiteX65" fmla="*/ 338751 w 431507"/>
              <a:gd name="connsiteY65" fmla="*/ 422136 h 608274"/>
              <a:gd name="connsiteX66" fmla="*/ 260708 w 431507"/>
              <a:gd name="connsiteY66" fmla="*/ 422136 h 608274"/>
              <a:gd name="connsiteX67" fmla="*/ 260708 w 431507"/>
              <a:gd name="connsiteY67" fmla="*/ 437744 h 608274"/>
              <a:gd name="connsiteX68" fmla="*/ 285412 w 431507"/>
              <a:gd name="connsiteY68" fmla="*/ 437744 h 608274"/>
              <a:gd name="connsiteX69" fmla="*/ 285412 w 431507"/>
              <a:gd name="connsiteY69" fmla="*/ 422136 h 608274"/>
              <a:gd name="connsiteX70" fmla="*/ 222494 w 431507"/>
              <a:gd name="connsiteY70" fmla="*/ 422136 h 608274"/>
              <a:gd name="connsiteX71" fmla="*/ 222494 w 431507"/>
              <a:gd name="connsiteY71" fmla="*/ 437744 h 608274"/>
              <a:gd name="connsiteX72" fmla="*/ 247197 w 431507"/>
              <a:gd name="connsiteY72" fmla="*/ 437744 h 608274"/>
              <a:gd name="connsiteX73" fmla="*/ 247197 w 431507"/>
              <a:gd name="connsiteY73" fmla="*/ 422136 h 608274"/>
              <a:gd name="connsiteX74" fmla="*/ 184279 w 431507"/>
              <a:gd name="connsiteY74" fmla="*/ 422136 h 608274"/>
              <a:gd name="connsiteX75" fmla="*/ 184279 w 431507"/>
              <a:gd name="connsiteY75" fmla="*/ 437744 h 608274"/>
              <a:gd name="connsiteX76" fmla="*/ 209083 w 431507"/>
              <a:gd name="connsiteY76" fmla="*/ 437744 h 608274"/>
              <a:gd name="connsiteX77" fmla="*/ 209083 w 431507"/>
              <a:gd name="connsiteY77" fmla="*/ 422136 h 608274"/>
              <a:gd name="connsiteX78" fmla="*/ 146165 w 431507"/>
              <a:gd name="connsiteY78" fmla="*/ 422136 h 608274"/>
              <a:gd name="connsiteX79" fmla="*/ 146165 w 431507"/>
              <a:gd name="connsiteY79" fmla="*/ 437744 h 608274"/>
              <a:gd name="connsiteX80" fmla="*/ 170869 w 431507"/>
              <a:gd name="connsiteY80" fmla="*/ 437744 h 608274"/>
              <a:gd name="connsiteX81" fmla="*/ 170869 w 431507"/>
              <a:gd name="connsiteY81" fmla="*/ 422136 h 608274"/>
              <a:gd name="connsiteX82" fmla="*/ 92725 w 431507"/>
              <a:gd name="connsiteY82" fmla="*/ 422136 h 608274"/>
              <a:gd name="connsiteX83" fmla="*/ 92725 w 431507"/>
              <a:gd name="connsiteY83" fmla="*/ 437744 h 608274"/>
              <a:gd name="connsiteX84" fmla="*/ 132654 w 431507"/>
              <a:gd name="connsiteY84" fmla="*/ 437744 h 608274"/>
              <a:gd name="connsiteX85" fmla="*/ 132654 w 431507"/>
              <a:gd name="connsiteY85" fmla="*/ 422136 h 608274"/>
              <a:gd name="connsiteX86" fmla="*/ 317980 w 431507"/>
              <a:gd name="connsiteY86" fmla="*/ 393035 h 608274"/>
              <a:gd name="connsiteX87" fmla="*/ 317980 w 431507"/>
              <a:gd name="connsiteY87" fmla="*/ 408743 h 608274"/>
              <a:gd name="connsiteX88" fmla="*/ 338751 w 431507"/>
              <a:gd name="connsiteY88" fmla="*/ 408743 h 608274"/>
              <a:gd name="connsiteX89" fmla="*/ 338751 w 431507"/>
              <a:gd name="connsiteY89" fmla="*/ 396056 h 608274"/>
              <a:gd name="connsiteX90" fmla="*/ 335726 w 431507"/>
              <a:gd name="connsiteY90" fmla="*/ 393035 h 608274"/>
              <a:gd name="connsiteX91" fmla="*/ 279765 w 431507"/>
              <a:gd name="connsiteY91" fmla="*/ 393035 h 608274"/>
              <a:gd name="connsiteX92" fmla="*/ 279765 w 431507"/>
              <a:gd name="connsiteY92" fmla="*/ 408743 h 608274"/>
              <a:gd name="connsiteX93" fmla="*/ 304469 w 431507"/>
              <a:gd name="connsiteY93" fmla="*/ 408743 h 608274"/>
              <a:gd name="connsiteX94" fmla="*/ 304469 w 431507"/>
              <a:gd name="connsiteY94" fmla="*/ 393035 h 608274"/>
              <a:gd name="connsiteX95" fmla="*/ 241551 w 431507"/>
              <a:gd name="connsiteY95" fmla="*/ 393035 h 608274"/>
              <a:gd name="connsiteX96" fmla="*/ 241551 w 431507"/>
              <a:gd name="connsiteY96" fmla="*/ 408743 h 608274"/>
              <a:gd name="connsiteX97" fmla="*/ 266355 w 431507"/>
              <a:gd name="connsiteY97" fmla="*/ 408743 h 608274"/>
              <a:gd name="connsiteX98" fmla="*/ 266355 w 431507"/>
              <a:gd name="connsiteY98" fmla="*/ 393035 h 608274"/>
              <a:gd name="connsiteX99" fmla="*/ 203437 w 431507"/>
              <a:gd name="connsiteY99" fmla="*/ 393035 h 608274"/>
              <a:gd name="connsiteX100" fmla="*/ 203437 w 431507"/>
              <a:gd name="connsiteY100" fmla="*/ 408743 h 608274"/>
              <a:gd name="connsiteX101" fmla="*/ 228140 w 431507"/>
              <a:gd name="connsiteY101" fmla="*/ 408743 h 608274"/>
              <a:gd name="connsiteX102" fmla="*/ 228140 w 431507"/>
              <a:gd name="connsiteY102" fmla="*/ 393035 h 608274"/>
              <a:gd name="connsiteX103" fmla="*/ 165222 w 431507"/>
              <a:gd name="connsiteY103" fmla="*/ 393035 h 608274"/>
              <a:gd name="connsiteX104" fmla="*/ 165222 w 431507"/>
              <a:gd name="connsiteY104" fmla="*/ 408743 h 608274"/>
              <a:gd name="connsiteX105" fmla="*/ 189926 w 431507"/>
              <a:gd name="connsiteY105" fmla="*/ 408743 h 608274"/>
              <a:gd name="connsiteX106" fmla="*/ 189926 w 431507"/>
              <a:gd name="connsiteY106" fmla="*/ 393035 h 608274"/>
              <a:gd name="connsiteX107" fmla="*/ 127008 w 431507"/>
              <a:gd name="connsiteY107" fmla="*/ 393035 h 608274"/>
              <a:gd name="connsiteX108" fmla="*/ 127008 w 431507"/>
              <a:gd name="connsiteY108" fmla="*/ 408743 h 608274"/>
              <a:gd name="connsiteX109" fmla="*/ 151812 w 431507"/>
              <a:gd name="connsiteY109" fmla="*/ 408743 h 608274"/>
              <a:gd name="connsiteX110" fmla="*/ 151812 w 431507"/>
              <a:gd name="connsiteY110" fmla="*/ 393035 h 608274"/>
              <a:gd name="connsiteX111" fmla="*/ 95750 w 431507"/>
              <a:gd name="connsiteY111" fmla="*/ 393035 h 608274"/>
              <a:gd name="connsiteX112" fmla="*/ 92725 w 431507"/>
              <a:gd name="connsiteY112" fmla="*/ 396056 h 608274"/>
              <a:gd name="connsiteX113" fmla="*/ 92725 w 431507"/>
              <a:gd name="connsiteY113" fmla="*/ 408743 h 608274"/>
              <a:gd name="connsiteX114" fmla="*/ 113597 w 431507"/>
              <a:gd name="connsiteY114" fmla="*/ 408743 h 608274"/>
              <a:gd name="connsiteX115" fmla="*/ 113597 w 431507"/>
              <a:gd name="connsiteY115" fmla="*/ 393035 h 608274"/>
              <a:gd name="connsiteX116" fmla="*/ 95750 w 431507"/>
              <a:gd name="connsiteY116" fmla="*/ 379642 h 608274"/>
              <a:gd name="connsiteX117" fmla="*/ 335726 w 431507"/>
              <a:gd name="connsiteY117" fmla="*/ 379642 h 608274"/>
              <a:gd name="connsiteX118" fmla="*/ 352262 w 431507"/>
              <a:gd name="connsiteY118" fmla="*/ 396056 h 608274"/>
              <a:gd name="connsiteX119" fmla="*/ 352262 w 431507"/>
              <a:gd name="connsiteY119" fmla="*/ 463825 h 608274"/>
              <a:gd name="connsiteX120" fmla="*/ 335726 w 431507"/>
              <a:gd name="connsiteY120" fmla="*/ 480339 h 608274"/>
              <a:gd name="connsiteX121" fmla="*/ 95750 w 431507"/>
              <a:gd name="connsiteY121" fmla="*/ 480339 h 608274"/>
              <a:gd name="connsiteX122" fmla="*/ 79315 w 431507"/>
              <a:gd name="connsiteY122" fmla="*/ 463825 h 608274"/>
              <a:gd name="connsiteX123" fmla="*/ 79315 w 431507"/>
              <a:gd name="connsiteY123" fmla="*/ 396056 h 608274"/>
              <a:gd name="connsiteX124" fmla="*/ 95750 w 431507"/>
              <a:gd name="connsiteY124" fmla="*/ 379642 h 608274"/>
              <a:gd name="connsiteX125" fmla="*/ 418098 w 431507"/>
              <a:gd name="connsiteY125" fmla="*/ 308869 h 608274"/>
              <a:gd name="connsiteX126" fmla="*/ 408722 w 431507"/>
              <a:gd name="connsiteY126" fmla="*/ 318231 h 608274"/>
              <a:gd name="connsiteX127" fmla="*/ 408722 w 431507"/>
              <a:gd name="connsiteY127" fmla="*/ 409442 h 608274"/>
              <a:gd name="connsiteX128" fmla="*/ 418098 w 431507"/>
              <a:gd name="connsiteY128" fmla="*/ 409442 h 608274"/>
              <a:gd name="connsiteX129" fmla="*/ 13510 w 431507"/>
              <a:gd name="connsiteY129" fmla="*/ 308869 h 608274"/>
              <a:gd name="connsiteX130" fmla="*/ 13510 w 431507"/>
              <a:gd name="connsiteY130" fmla="*/ 409442 h 608274"/>
              <a:gd name="connsiteX131" fmla="*/ 22886 w 431507"/>
              <a:gd name="connsiteY131" fmla="*/ 409442 h 608274"/>
              <a:gd name="connsiteX132" fmla="*/ 22886 w 431507"/>
              <a:gd name="connsiteY132" fmla="*/ 318231 h 608274"/>
              <a:gd name="connsiteX133" fmla="*/ 373738 w 431507"/>
              <a:gd name="connsiteY133" fmla="*/ 299305 h 608274"/>
              <a:gd name="connsiteX134" fmla="*/ 373738 w 431507"/>
              <a:gd name="connsiteY134" fmla="*/ 308768 h 608274"/>
              <a:gd name="connsiteX135" fmla="*/ 399144 w 431507"/>
              <a:gd name="connsiteY135" fmla="*/ 308768 h 608274"/>
              <a:gd name="connsiteX136" fmla="*/ 408621 w 431507"/>
              <a:gd name="connsiteY136" fmla="*/ 299305 h 608274"/>
              <a:gd name="connsiteX137" fmla="*/ 22987 w 431507"/>
              <a:gd name="connsiteY137" fmla="*/ 299305 h 608274"/>
              <a:gd name="connsiteX138" fmla="*/ 32363 w 431507"/>
              <a:gd name="connsiteY138" fmla="*/ 308768 h 608274"/>
              <a:gd name="connsiteX139" fmla="*/ 57870 w 431507"/>
              <a:gd name="connsiteY139" fmla="*/ 308768 h 608274"/>
              <a:gd name="connsiteX140" fmla="*/ 57870 w 431507"/>
              <a:gd name="connsiteY140" fmla="*/ 299305 h 608274"/>
              <a:gd name="connsiteX141" fmla="*/ 287636 w 431507"/>
              <a:gd name="connsiteY141" fmla="*/ 287249 h 608274"/>
              <a:gd name="connsiteX142" fmla="*/ 285015 w 431507"/>
              <a:gd name="connsiteY142" fmla="*/ 289866 h 608274"/>
              <a:gd name="connsiteX143" fmla="*/ 285015 w 431507"/>
              <a:gd name="connsiteY143" fmla="*/ 349950 h 608274"/>
              <a:gd name="connsiteX144" fmla="*/ 287636 w 431507"/>
              <a:gd name="connsiteY144" fmla="*/ 352567 h 608274"/>
              <a:gd name="connsiteX145" fmla="*/ 336131 w 431507"/>
              <a:gd name="connsiteY145" fmla="*/ 352567 h 608274"/>
              <a:gd name="connsiteX146" fmla="*/ 338752 w 431507"/>
              <a:gd name="connsiteY146" fmla="*/ 349950 h 608274"/>
              <a:gd name="connsiteX147" fmla="*/ 338752 w 431507"/>
              <a:gd name="connsiteY147" fmla="*/ 289866 h 608274"/>
              <a:gd name="connsiteX148" fmla="*/ 336131 w 431507"/>
              <a:gd name="connsiteY148" fmla="*/ 287249 h 608274"/>
              <a:gd name="connsiteX149" fmla="*/ 191455 w 431507"/>
              <a:gd name="connsiteY149" fmla="*/ 287249 h 608274"/>
              <a:gd name="connsiteX150" fmla="*/ 188935 w 431507"/>
              <a:gd name="connsiteY150" fmla="*/ 289866 h 608274"/>
              <a:gd name="connsiteX151" fmla="*/ 188935 w 431507"/>
              <a:gd name="connsiteY151" fmla="*/ 349950 h 608274"/>
              <a:gd name="connsiteX152" fmla="*/ 191455 w 431507"/>
              <a:gd name="connsiteY152" fmla="*/ 352567 h 608274"/>
              <a:gd name="connsiteX153" fmla="*/ 240051 w 431507"/>
              <a:gd name="connsiteY153" fmla="*/ 352567 h 608274"/>
              <a:gd name="connsiteX154" fmla="*/ 242672 w 431507"/>
              <a:gd name="connsiteY154" fmla="*/ 349950 h 608274"/>
              <a:gd name="connsiteX155" fmla="*/ 242672 w 431507"/>
              <a:gd name="connsiteY155" fmla="*/ 289866 h 608274"/>
              <a:gd name="connsiteX156" fmla="*/ 240051 w 431507"/>
              <a:gd name="connsiteY156" fmla="*/ 287249 h 608274"/>
              <a:gd name="connsiteX157" fmla="*/ 95345 w 431507"/>
              <a:gd name="connsiteY157" fmla="*/ 287249 h 608274"/>
              <a:gd name="connsiteX158" fmla="*/ 92724 w 431507"/>
              <a:gd name="connsiteY158" fmla="*/ 289866 h 608274"/>
              <a:gd name="connsiteX159" fmla="*/ 92724 w 431507"/>
              <a:gd name="connsiteY159" fmla="*/ 349950 h 608274"/>
              <a:gd name="connsiteX160" fmla="*/ 95345 w 431507"/>
              <a:gd name="connsiteY160" fmla="*/ 352567 h 608274"/>
              <a:gd name="connsiteX161" fmla="*/ 143941 w 431507"/>
              <a:gd name="connsiteY161" fmla="*/ 352567 h 608274"/>
              <a:gd name="connsiteX162" fmla="*/ 146562 w 431507"/>
              <a:gd name="connsiteY162" fmla="*/ 349950 h 608274"/>
              <a:gd name="connsiteX163" fmla="*/ 146562 w 431507"/>
              <a:gd name="connsiteY163" fmla="*/ 289866 h 608274"/>
              <a:gd name="connsiteX164" fmla="*/ 143941 w 431507"/>
              <a:gd name="connsiteY164" fmla="*/ 287249 h 608274"/>
              <a:gd name="connsiteX165" fmla="*/ 287636 w 431507"/>
              <a:gd name="connsiteY165" fmla="*/ 273864 h 608274"/>
              <a:gd name="connsiteX166" fmla="*/ 336131 w 431507"/>
              <a:gd name="connsiteY166" fmla="*/ 273864 h 608274"/>
              <a:gd name="connsiteX167" fmla="*/ 352262 w 431507"/>
              <a:gd name="connsiteY167" fmla="*/ 289866 h 608274"/>
              <a:gd name="connsiteX168" fmla="*/ 352262 w 431507"/>
              <a:gd name="connsiteY168" fmla="*/ 349950 h 608274"/>
              <a:gd name="connsiteX169" fmla="*/ 336131 w 431507"/>
              <a:gd name="connsiteY169" fmla="*/ 365952 h 608274"/>
              <a:gd name="connsiteX170" fmla="*/ 287636 w 431507"/>
              <a:gd name="connsiteY170" fmla="*/ 365952 h 608274"/>
              <a:gd name="connsiteX171" fmla="*/ 271606 w 431507"/>
              <a:gd name="connsiteY171" fmla="*/ 349950 h 608274"/>
              <a:gd name="connsiteX172" fmla="*/ 271606 w 431507"/>
              <a:gd name="connsiteY172" fmla="*/ 289866 h 608274"/>
              <a:gd name="connsiteX173" fmla="*/ 287636 w 431507"/>
              <a:gd name="connsiteY173" fmla="*/ 273864 h 608274"/>
              <a:gd name="connsiteX174" fmla="*/ 191455 w 431507"/>
              <a:gd name="connsiteY174" fmla="*/ 273864 h 608274"/>
              <a:gd name="connsiteX175" fmla="*/ 240051 w 431507"/>
              <a:gd name="connsiteY175" fmla="*/ 273864 h 608274"/>
              <a:gd name="connsiteX176" fmla="*/ 256081 w 431507"/>
              <a:gd name="connsiteY176" fmla="*/ 289866 h 608274"/>
              <a:gd name="connsiteX177" fmla="*/ 256081 w 431507"/>
              <a:gd name="connsiteY177" fmla="*/ 349950 h 608274"/>
              <a:gd name="connsiteX178" fmla="*/ 240051 w 431507"/>
              <a:gd name="connsiteY178" fmla="*/ 365952 h 608274"/>
              <a:gd name="connsiteX179" fmla="*/ 191455 w 431507"/>
              <a:gd name="connsiteY179" fmla="*/ 365952 h 608274"/>
              <a:gd name="connsiteX180" fmla="*/ 175425 w 431507"/>
              <a:gd name="connsiteY180" fmla="*/ 349950 h 608274"/>
              <a:gd name="connsiteX181" fmla="*/ 175425 w 431507"/>
              <a:gd name="connsiteY181" fmla="*/ 289866 h 608274"/>
              <a:gd name="connsiteX182" fmla="*/ 191455 w 431507"/>
              <a:gd name="connsiteY182" fmla="*/ 273864 h 608274"/>
              <a:gd name="connsiteX183" fmla="*/ 95345 w 431507"/>
              <a:gd name="connsiteY183" fmla="*/ 273864 h 608274"/>
              <a:gd name="connsiteX184" fmla="*/ 143941 w 431507"/>
              <a:gd name="connsiteY184" fmla="*/ 273864 h 608274"/>
              <a:gd name="connsiteX185" fmla="*/ 159971 w 431507"/>
              <a:gd name="connsiteY185" fmla="*/ 289866 h 608274"/>
              <a:gd name="connsiteX186" fmla="*/ 159971 w 431507"/>
              <a:gd name="connsiteY186" fmla="*/ 349950 h 608274"/>
              <a:gd name="connsiteX187" fmla="*/ 143941 w 431507"/>
              <a:gd name="connsiteY187" fmla="*/ 365952 h 608274"/>
              <a:gd name="connsiteX188" fmla="*/ 95345 w 431507"/>
              <a:gd name="connsiteY188" fmla="*/ 365952 h 608274"/>
              <a:gd name="connsiteX189" fmla="*/ 79315 w 431507"/>
              <a:gd name="connsiteY189" fmla="*/ 349950 h 608274"/>
              <a:gd name="connsiteX190" fmla="*/ 79315 w 431507"/>
              <a:gd name="connsiteY190" fmla="*/ 289866 h 608274"/>
              <a:gd name="connsiteX191" fmla="*/ 95345 w 431507"/>
              <a:gd name="connsiteY191" fmla="*/ 273864 h 608274"/>
              <a:gd name="connsiteX192" fmla="*/ 93661 w 431507"/>
              <a:gd name="connsiteY192" fmla="*/ 265780 h 608274"/>
              <a:gd name="connsiteX193" fmla="*/ 71279 w 431507"/>
              <a:gd name="connsiteY193" fmla="*/ 288130 h 608274"/>
              <a:gd name="connsiteX194" fmla="*/ 71279 w 431507"/>
              <a:gd name="connsiteY194" fmla="*/ 466323 h 608274"/>
              <a:gd name="connsiteX195" fmla="*/ 93661 w 431507"/>
              <a:gd name="connsiteY195" fmla="*/ 488572 h 608274"/>
              <a:gd name="connsiteX196" fmla="*/ 337947 w 431507"/>
              <a:gd name="connsiteY196" fmla="*/ 488572 h 608274"/>
              <a:gd name="connsiteX197" fmla="*/ 360328 w 431507"/>
              <a:gd name="connsiteY197" fmla="*/ 466323 h 608274"/>
              <a:gd name="connsiteX198" fmla="*/ 360328 w 431507"/>
              <a:gd name="connsiteY198" fmla="*/ 288130 h 608274"/>
              <a:gd name="connsiteX199" fmla="*/ 337947 w 431507"/>
              <a:gd name="connsiteY199" fmla="*/ 265780 h 608274"/>
              <a:gd name="connsiteX200" fmla="*/ 199622 w 431507"/>
              <a:gd name="connsiteY200" fmla="*/ 236283 h 608274"/>
              <a:gd name="connsiteX201" fmla="*/ 199622 w 431507"/>
              <a:gd name="connsiteY201" fmla="*/ 252390 h 608274"/>
              <a:gd name="connsiteX202" fmla="*/ 231885 w 431507"/>
              <a:gd name="connsiteY202" fmla="*/ 252390 h 608274"/>
              <a:gd name="connsiteX203" fmla="*/ 231885 w 431507"/>
              <a:gd name="connsiteY203" fmla="*/ 236283 h 608274"/>
              <a:gd name="connsiteX204" fmla="*/ 184926 w 431507"/>
              <a:gd name="connsiteY204" fmla="*/ 127088 h 608274"/>
              <a:gd name="connsiteX205" fmla="*/ 215754 w 431507"/>
              <a:gd name="connsiteY205" fmla="*/ 139841 h 608274"/>
              <a:gd name="connsiteX206" fmla="*/ 246682 w 431507"/>
              <a:gd name="connsiteY206" fmla="*/ 127088 h 608274"/>
              <a:gd name="connsiteX207" fmla="*/ 256152 w 431507"/>
              <a:gd name="connsiteY207" fmla="*/ 136527 h 608274"/>
              <a:gd name="connsiteX208" fmla="*/ 215754 w 431507"/>
              <a:gd name="connsiteY208" fmla="*/ 153197 h 608274"/>
              <a:gd name="connsiteX209" fmla="*/ 175355 w 431507"/>
              <a:gd name="connsiteY209" fmla="*/ 136527 h 608274"/>
              <a:gd name="connsiteX210" fmla="*/ 274217 w 431507"/>
              <a:gd name="connsiteY210" fmla="*/ 96675 h 608274"/>
              <a:gd name="connsiteX211" fmla="*/ 287766 w 431507"/>
              <a:gd name="connsiteY211" fmla="*/ 96675 h 608274"/>
              <a:gd name="connsiteX212" fmla="*/ 287766 w 431507"/>
              <a:gd name="connsiteY212" fmla="*/ 138238 h 608274"/>
              <a:gd name="connsiteX213" fmla="*/ 274217 w 431507"/>
              <a:gd name="connsiteY213" fmla="*/ 138238 h 608274"/>
              <a:gd name="connsiteX214" fmla="*/ 143883 w 431507"/>
              <a:gd name="connsiteY214" fmla="*/ 96675 h 608274"/>
              <a:gd name="connsiteX215" fmla="*/ 157290 w 431507"/>
              <a:gd name="connsiteY215" fmla="*/ 96675 h 608274"/>
              <a:gd name="connsiteX216" fmla="*/ 157290 w 431507"/>
              <a:gd name="connsiteY216" fmla="*/ 138238 h 608274"/>
              <a:gd name="connsiteX217" fmla="*/ 143883 w 431507"/>
              <a:gd name="connsiteY217" fmla="*/ 138238 h 608274"/>
              <a:gd name="connsiteX218" fmla="*/ 99498 w 431507"/>
              <a:gd name="connsiteY218" fmla="*/ 41613 h 608274"/>
              <a:gd name="connsiteX219" fmla="*/ 99498 w 431507"/>
              <a:gd name="connsiteY219" fmla="*/ 194609 h 608274"/>
              <a:gd name="connsiteX220" fmla="*/ 332080 w 431507"/>
              <a:gd name="connsiteY220" fmla="*/ 194609 h 608274"/>
              <a:gd name="connsiteX221" fmla="*/ 332080 w 431507"/>
              <a:gd name="connsiteY221" fmla="*/ 41613 h 608274"/>
              <a:gd name="connsiteX222" fmla="*/ 98389 w 431507"/>
              <a:gd name="connsiteY222" fmla="*/ 28226 h 608274"/>
              <a:gd name="connsiteX223" fmla="*/ 333088 w 431507"/>
              <a:gd name="connsiteY223" fmla="*/ 28226 h 608274"/>
              <a:gd name="connsiteX224" fmla="*/ 345488 w 431507"/>
              <a:gd name="connsiteY224" fmla="*/ 40607 h 608274"/>
              <a:gd name="connsiteX225" fmla="*/ 345488 w 431507"/>
              <a:gd name="connsiteY225" fmla="*/ 195716 h 608274"/>
              <a:gd name="connsiteX226" fmla="*/ 333088 w 431507"/>
              <a:gd name="connsiteY226" fmla="*/ 208097 h 608274"/>
              <a:gd name="connsiteX227" fmla="*/ 98389 w 431507"/>
              <a:gd name="connsiteY227" fmla="*/ 208097 h 608274"/>
              <a:gd name="connsiteX228" fmla="*/ 86090 w 431507"/>
              <a:gd name="connsiteY228" fmla="*/ 195716 h 608274"/>
              <a:gd name="connsiteX229" fmla="*/ 86090 w 431507"/>
              <a:gd name="connsiteY229" fmla="*/ 40607 h 608274"/>
              <a:gd name="connsiteX230" fmla="*/ 98389 w 431507"/>
              <a:gd name="connsiteY230" fmla="*/ 28226 h 608274"/>
              <a:gd name="connsiteX231" fmla="*/ 98400 w 431507"/>
              <a:gd name="connsiteY231" fmla="*/ 13390 h 608274"/>
              <a:gd name="connsiteX232" fmla="*/ 71279 w 431507"/>
              <a:gd name="connsiteY232" fmla="*/ 40572 h 608274"/>
              <a:gd name="connsiteX233" fmla="*/ 71279 w 431507"/>
              <a:gd name="connsiteY233" fmla="*/ 195711 h 608274"/>
              <a:gd name="connsiteX234" fmla="*/ 98400 w 431507"/>
              <a:gd name="connsiteY234" fmla="*/ 222792 h 608274"/>
              <a:gd name="connsiteX235" fmla="*/ 333107 w 431507"/>
              <a:gd name="connsiteY235" fmla="*/ 222792 h 608274"/>
              <a:gd name="connsiteX236" fmla="*/ 360328 w 431507"/>
              <a:gd name="connsiteY236" fmla="*/ 195711 h 608274"/>
              <a:gd name="connsiteX237" fmla="*/ 360328 w 431507"/>
              <a:gd name="connsiteY237" fmla="*/ 40572 h 608274"/>
              <a:gd name="connsiteX238" fmla="*/ 333107 w 431507"/>
              <a:gd name="connsiteY238" fmla="*/ 13390 h 608274"/>
              <a:gd name="connsiteX239" fmla="*/ 98400 w 431507"/>
              <a:gd name="connsiteY239" fmla="*/ 0 h 608274"/>
              <a:gd name="connsiteX240" fmla="*/ 333107 w 431507"/>
              <a:gd name="connsiteY240" fmla="*/ 0 h 608274"/>
              <a:gd name="connsiteX241" fmla="*/ 373738 w 431507"/>
              <a:gd name="connsiteY241" fmla="*/ 40572 h 608274"/>
              <a:gd name="connsiteX242" fmla="*/ 373738 w 431507"/>
              <a:gd name="connsiteY242" fmla="*/ 195711 h 608274"/>
              <a:gd name="connsiteX243" fmla="*/ 333107 w 431507"/>
              <a:gd name="connsiteY243" fmla="*/ 236283 h 608274"/>
              <a:gd name="connsiteX244" fmla="*/ 245394 w 431507"/>
              <a:gd name="connsiteY244" fmla="*/ 236283 h 608274"/>
              <a:gd name="connsiteX245" fmla="*/ 245394 w 431507"/>
              <a:gd name="connsiteY245" fmla="*/ 252390 h 608274"/>
              <a:gd name="connsiteX246" fmla="*/ 337947 w 431507"/>
              <a:gd name="connsiteY246" fmla="*/ 252390 h 608274"/>
              <a:gd name="connsiteX247" fmla="*/ 373637 w 431507"/>
              <a:gd name="connsiteY247" fmla="*/ 285915 h 608274"/>
              <a:gd name="connsiteX248" fmla="*/ 431507 w 431507"/>
              <a:gd name="connsiteY248" fmla="*/ 285915 h 608274"/>
              <a:gd name="connsiteX249" fmla="*/ 431507 w 431507"/>
              <a:gd name="connsiteY249" fmla="*/ 454343 h 608274"/>
              <a:gd name="connsiteX250" fmla="*/ 395212 w 431507"/>
              <a:gd name="connsiteY250" fmla="*/ 454343 h 608274"/>
              <a:gd name="connsiteX251" fmla="*/ 395212 w 431507"/>
              <a:gd name="connsiteY251" fmla="*/ 322158 h 608274"/>
              <a:gd name="connsiteX252" fmla="*/ 373738 w 431507"/>
              <a:gd name="connsiteY252" fmla="*/ 322158 h 608274"/>
              <a:gd name="connsiteX253" fmla="*/ 373738 w 431507"/>
              <a:gd name="connsiteY253" fmla="*/ 466323 h 608274"/>
              <a:gd name="connsiteX254" fmla="*/ 338047 w 431507"/>
              <a:gd name="connsiteY254" fmla="*/ 502063 h 608274"/>
              <a:gd name="connsiteX255" fmla="*/ 338047 w 431507"/>
              <a:gd name="connsiteY255" fmla="*/ 527533 h 608274"/>
              <a:gd name="connsiteX256" fmla="*/ 353775 w 431507"/>
              <a:gd name="connsiteY256" fmla="*/ 527533 h 608274"/>
              <a:gd name="connsiteX257" fmla="*/ 353775 w 431507"/>
              <a:gd name="connsiteY257" fmla="*/ 608274 h 608274"/>
              <a:gd name="connsiteX258" fmla="*/ 236321 w 431507"/>
              <a:gd name="connsiteY258" fmla="*/ 608274 h 608274"/>
              <a:gd name="connsiteX259" fmla="*/ 236321 w 431507"/>
              <a:gd name="connsiteY259" fmla="*/ 527533 h 608274"/>
              <a:gd name="connsiteX260" fmla="*/ 252149 w 431507"/>
              <a:gd name="connsiteY260" fmla="*/ 527533 h 608274"/>
              <a:gd name="connsiteX261" fmla="*/ 252149 w 431507"/>
              <a:gd name="connsiteY261" fmla="*/ 502063 h 608274"/>
              <a:gd name="connsiteX262" fmla="*/ 179358 w 431507"/>
              <a:gd name="connsiteY262" fmla="*/ 502063 h 608274"/>
              <a:gd name="connsiteX263" fmla="*/ 179358 w 431507"/>
              <a:gd name="connsiteY263" fmla="*/ 527533 h 608274"/>
              <a:gd name="connsiteX264" fmla="*/ 195186 w 431507"/>
              <a:gd name="connsiteY264" fmla="*/ 527533 h 608274"/>
              <a:gd name="connsiteX265" fmla="*/ 195186 w 431507"/>
              <a:gd name="connsiteY265" fmla="*/ 608274 h 608274"/>
              <a:gd name="connsiteX266" fmla="*/ 77732 w 431507"/>
              <a:gd name="connsiteY266" fmla="*/ 608274 h 608274"/>
              <a:gd name="connsiteX267" fmla="*/ 77732 w 431507"/>
              <a:gd name="connsiteY267" fmla="*/ 527533 h 608274"/>
              <a:gd name="connsiteX268" fmla="*/ 93560 w 431507"/>
              <a:gd name="connsiteY268" fmla="*/ 527533 h 608274"/>
              <a:gd name="connsiteX269" fmla="*/ 93560 w 431507"/>
              <a:gd name="connsiteY269" fmla="*/ 502063 h 608274"/>
              <a:gd name="connsiteX270" fmla="*/ 57870 w 431507"/>
              <a:gd name="connsiteY270" fmla="*/ 466323 h 608274"/>
              <a:gd name="connsiteX271" fmla="*/ 57870 w 431507"/>
              <a:gd name="connsiteY271" fmla="*/ 322158 h 608274"/>
              <a:gd name="connsiteX272" fmla="*/ 36295 w 431507"/>
              <a:gd name="connsiteY272" fmla="*/ 322158 h 608274"/>
              <a:gd name="connsiteX273" fmla="*/ 36295 w 431507"/>
              <a:gd name="connsiteY273" fmla="*/ 454343 h 608274"/>
              <a:gd name="connsiteX274" fmla="*/ 0 w 431507"/>
              <a:gd name="connsiteY274" fmla="*/ 454343 h 608274"/>
              <a:gd name="connsiteX275" fmla="*/ 0 w 431507"/>
              <a:gd name="connsiteY275" fmla="*/ 285915 h 608274"/>
              <a:gd name="connsiteX276" fmla="*/ 57870 w 431507"/>
              <a:gd name="connsiteY276" fmla="*/ 285915 h 608274"/>
              <a:gd name="connsiteX277" fmla="*/ 93661 w 431507"/>
              <a:gd name="connsiteY277" fmla="*/ 252390 h 608274"/>
              <a:gd name="connsiteX278" fmla="*/ 186213 w 431507"/>
              <a:gd name="connsiteY278" fmla="*/ 252390 h 608274"/>
              <a:gd name="connsiteX279" fmla="*/ 186213 w 431507"/>
              <a:gd name="connsiteY279" fmla="*/ 236283 h 608274"/>
              <a:gd name="connsiteX280" fmla="*/ 98400 w 431507"/>
              <a:gd name="connsiteY280" fmla="*/ 236283 h 608274"/>
              <a:gd name="connsiteX281" fmla="*/ 57870 w 431507"/>
              <a:gd name="connsiteY281" fmla="*/ 195711 h 608274"/>
              <a:gd name="connsiteX282" fmla="*/ 57870 w 431507"/>
              <a:gd name="connsiteY282" fmla="*/ 40572 h 608274"/>
              <a:gd name="connsiteX283" fmla="*/ 98400 w 431507"/>
              <a:gd name="connsiteY283"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Lst>
            <a:rect l="l" t="t" r="r" b="b"/>
            <a:pathLst>
              <a:path w="431507" h="608274">
                <a:moveTo>
                  <a:pt x="249830" y="561058"/>
                </a:moveTo>
                <a:lnTo>
                  <a:pt x="249830" y="594884"/>
                </a:lnTo>
                <a:lnTo>
                  <a:pt x="340366" y="594884"/>
                </a:lnTo>
                <a:lnTo>
                  <a:pt x="340366" y="561058"/>
                </a:lnTo>
                <a:close/>
                <a:moveTo>
                  <a:pt x="91141" y="561058"/>
                </a:moveTo>
                <a:lnTo>
                  <a:pt x="91141" y="594884"/>
                </a:lnTo>
                <a:lnTo>
                  <a:pt x="181777" y="594884"/>
                </a:lnTo>
                <a:lnTo>
                  <a:pt x="181777" y="561058"/>
                </a:lnTo>
                <a:close/>
                <a:moveTo>
                  <a:pt x="249830" y="540923"/>
                </a:moveTo>
                <a:lnTo>
                  <a:pt x="249830" y="547668"/>
                </a:lnTo>
                <a:lnTo>
                  <a:pt x="340366" y="547668"/>
                </a:lnTo>
                <a:lnTo>
                  <a:pt x="340366" y="540923"/>
                </a:lnTo>
                <a:close/>
                <a:moveTo>
                  <a:pt x="91141" y="540923"/>
                </a:moveTo>
                <a:lnTo>
                  <a:pt x="91141" y="547668"/>
                </a:lnTo>
                <a:lnTo>
                  <a:pt x="181777" y="547668"/>
                </a:lnTo>
                <a:lnTo>
                  <a:pt x="181777" y="540923"/>
                </a:lnTo>
                <a:close/>
                <a:moveTo>
                  <a:pt x="265558" y="502063"/>
                </a:moveTo>
                <a:lnTo>
                  <a:pt x="265558" y="527533"/>
                </a:lnTo>
                <a:lnTo>
                  <a:pt x="324538" y="527533"/>
                </a:lnTo>
                <a:lnTo>
                  <a:pt x="324538" y="502063"/>
                </a:lnTo>
                <a:close/>
                <a:moveTo>
                  <a:pt x="106969" y="502063"/>
                </a:moveTo>
                <a:lnTo>
                  <a:pt x="106969" y="527533"/>
                </a:lnTo>
                <a:lnTo>
                  <a:pt x="165949" y="527533"/>
                </a:lnTo>
                <a:lnTo>
                  <a:pt x="165949" y="502063"/>
                </a:lnTo>
                <a:close/>
                <a:moveTo>
                  <a:pt x="317980" y="451238"/>
                </a:moveTo>
                <a:lnTo>
                  <a:pt x="317980" y="466846"/>
                </a:lnTo>
                <a:lnTo>
                  <a:pt x="335726" y="466846"/>
                </a:lnTo>
                <a:cubicBezTo>
                  <a:pt x="337440" y="466846"/>
                  <a:pt x="338751" y="465537"/>
                  <a:pt x="338751" y="463825"/>
                </a:cubicBezTo>
                <a:lnTo>
                  <a:pt x="338751" y="451238"/>
                </a:lnTo>
                <a:close/>
                <a:moveTo>
                  <a:pt x="279765" y="451238"/>
                </a:moveTo>
                <a:lnTo>
                  <a:pt x="279765" y="466846"/>
                </a:lnTo>
                <a:lnTo>
                  <a:pt x="304469" y="466846"/>
                </a:lnTo>
                <a:lnTo>
                  <a:pt x="304469" y="451238"/>
                </a:lnTo>
                <a:close/>
                <a:moveTo>
                  <a:pt x="241551" y="451238"/>
                </a:moveTo>
                <a:lnTo>
                  <a:pt x="241551" y="466846"/>
                </a:lnTo>
                <a:lnTo>
                  <a:pt x="266355" y="466846"/>
                </a:lnTo>
                <a:lnTo>
                  <a:pt x="266355" y="451238"/>
                </a:lnTo>
                <a:close/>
                <a:moveTo>
                  <a:pt x="203437" y="451238"/>
                </a:moveTo>
                <a:lnTo>
                  <a:pt x="203437" y="466846"/>
                </a:lnTo>
                <a:lnTo>
                  <a:pt x="228140" y="466846"/>
                </a:lnTo>
                <a:lnTo>
                  <a:pt x="228140" y="451238"/>
                </a:lnTo>
                <a:close/>
                <a:moveTo>
                  <a:pt x="165222" y="451238"/>
                </a:moveTo>
                <a:lnTo>
                  <a:pt x="165222" y="466846"/>
                </a:lnTo>
                <a:lnTo>
                  <a:pt x="189926" y="466846"/>
                </a:lnTo>
                <a:lnTo>
                  <a:pt x="189926" y="451238"/>
                </a:lnTo>
                <a:close/>
                <a:moveTo>
                  <a:pt x="127008" y="451238"/>
                </a:moveTo>
                <a:lnTo>
                  <a:pt x="127008" y="466846"/>
                </a:lnTo>
                <a:lnTo>
                  <a:pt x="151812" y="466846"/>
                </a:lnTo>
                <a:lnTo>
                  <a:pt x="151812" y="451238"/>
                </a:lnTo>
                <a:close/>
                <a:moveTo>
                  <a:pt x="92725" y="451238"/>
                </a:moveTo>
                <a:lnTo>
                  <a:pt x="92725" y="463825"/>
                </a:lnTo>
                <a:cubicBezTo>
                  <a:pt x="92725" y="465537"/>
                  <a:pt x="94137" y="466846"/>
                  <a:pt x="95750" y="466846"/>
                </a:cubicBezTo>
                <a:lnTo>
                  <a:pt x="113597" y="466846"/>
                </a:lnTo>
                <a:lnTo>
                  <a:pt x="113597" y="451238"/>
                </a:lnTo>
                <a:close/>
                <a:moveTo>
                  <a:pt x="408722" y="422832"/>
                </a:moveTo>
                <a:lnTo>
                  <a:pt x="408722" y="440953"/>
                </a:lnTo>
                <a:lnTo>
                  <a:pt x="418098" y="440953"/>
                </a:lnTo>
                <a:lnTo>
                  <a:pt x="418098" y="422832"/>
                </a:lnTo>
                <a:close/>
                <a:moveTo>
                  <a:pt x="13510" y="422832"/>
                </a:moveTo>
                <a:lnTo>
                  <a:pt x="13510" y="440953"/>
                </a:lnTo>
                <a:lnTo>
                  <a:pt x="22886" y="440953"/>
                </a:lnTo>
                <a:lnTo>
                  <a:pt x="22886" y="422832"/>
                </a:lnTo>
                <a:close/>
                <a:moveTo>
                  <a:pt x="298822" y="422136"/>
                </a:moveTo>
                <a:lnTo>
                  <a:pt x="298822" y="437744"/>
                </a:lnTo>
                <a:lnTo>
                  <a:pt x="338751" y="437744"/>
                </a:lnTo>
                <a:lnTo>
                  <a:pt x="338751" y="422136"/>
                </a:lnTo>
                <a:close/>
                <a:moveTo>
                  <a:pt x="260708" y="422136"/>
                </a:moveTo>
                <a:lnTo>
                  <a:pt x="260708" y="437744"/>
                </a:lnTo>
                <a:lnTo>
                  <a:pt x="285412" y="437744"/>
                </a:lnTo>
                <a:lnTo>
                  <a:pt x="285412" y="422136"/>
                </a:lnTo>
                <a:close/>
                <a:moveTo>
                  <a:pt x="222494" y="422136"/>
                </a:moveTo>
                <a:lnTo>
                  <a:pt x="222494" y="437744"/>
                </a:lnTo>
                <a:lnTo>
                  <a:pt x="247197" y="437744"/>
                </a:lnTo>
                <a:lnTo>
                  <a:pt x="247197" y="422136"/>
                </a:lnTo>
                <a:close/>
                <a:moveTo>
                  <a:pt x="184279" y="422136"/>
                </a:moveTo>
                <a:lnTo>
                  <a:pt x="184279" y="437744"/>
                </a:lnTo>
                <a:lnTo>
                  <a:pt x="209083" y="437744"/>
                </a:lnTo>
                <a:lnTo>
                  <a:pt x="209083" y="422136"/>
                </a:lnTo>
                <a:close/>
                <a:moveTo>
                  <a:pt x="146165" y="422136"/>
                </a:moveTo>
                <a:lnTo>
                  <a:pt x="146165" y="437744"/>
                </a:lnTo>
                <a:lnTo>
                  <a:pt x="170869" y="437744"/>
                </a:lnTo>
                <a:lnTo>
                  <a:pt x="170869" y="422136"/>
                </a:lnTo>
                <a:close/>
                <a:moveTo>
                  <a:pt x="92725" y="422136"/>
                </a:moveTo>
                <a:lnTo>
                  <a:pt x="92725" y="437744"/>
                </a:lnTo>
                <a:lnTo>
                  <a:pt x="132654" y="437744"/>
                </a:lnTo>
                <a:lnTo>
                  <a:pt x="132654" y="422136"/>
                </a:lnTo>
                <a:close/>
                <a:moveTo>
                  <a:pt x="317980" y="393035"/>
                </a:moveTo>
                <a:lnTo>
                  <a:pt x="317980" y="408743"/>
                </a:lnTo>
                <a:lnTo>
                  <a:pt x="338751" y="408743"/>
                </a:lnTo>
                <a:lnTo>
                  <a:pt x="338751" y="396056"/>
                </a:lnTo>
                <a:cubicBezTo>
                  <a:pt x="338751" y="394344"/>
                  <a:pt x="337440" y="393035"/>
                  <a:pt x="335726" y="393035"/>
                </a:cubicBezTo>
                <a:close/>
                <a:moveTo>
                  <a:pt x="279765" y="393035"/>
                </a:moveTo>
                <a:lnTo>
                  <a:pt x="279765" y="408743"/>
                </a:lnTo>
                <a:lnTo>
                  <a:pt x="304469" y="408743"/>
                </a:lnTo>
                <a:lnTo>
                  <a:pt x="304469" y="393035"/>
                </a:lnTo>
                <a:close/>
                <a:moveTo>
                  <a:pt x="241551" y="393035"/>
                </a:moveTo>
                <a:lnTo>
                  <a:pt x="241551" y="408743"/>
                </a:lnTo>
                <a:lnTo>
                  <a:pt x="266355" y="408743"/>
                </a:lnTo>
                <a:lnTo>
                  <a:pt x="266355" y="393035"/>
                </a:lnTo>
                <a:close/>
                <a:moveTo>
                  <a:pt x="203437" y="393035"/>
                </a:moveTo>
                <a:lnTo>
                  <a:pt x="203437" y="408743"/>
                </a:lnTo>
                <a:lnTo>
                  <a:pt x="228140" y="408743"/>
                </a:lnTo>
                <a:lnTo>
                  <a:pt x="228140" y="393035"/>
                </a:lnTo>
                <a:close/>
                <a:moveTo>
                  <a:pt x="165222" y="393035"/>
                </a:moveTo>
                <a:lnTo>
                  <a:pt x="165222" y="408743"/>
                </a:lnTo>
                <a:lnTo>
                  <a:pt x="189926" y="408743"/>
                </a:lnTo>
                <a:lnTo>
                  <a:pt x="189926" y="393035"/>
                </a:lnTo>
                <a:close/>
                <a:moveTo>
                  <a:pt x="127008" y="393035"/>
                </a:moveTo>
                <a:lnTo>
                  <a:pt x="127008" y="408743"/>
                </a:lnTo>
                <a:lnTo>
                  <a:pt x="151812" y="408743"/>
                </a:lnTo>
                <a:lnTo>
                  <a:pt x="151812" y="393035"/>
                </a:lnTo>
                <a:close/>
                <a:moveTo>
                  <a:pt x="95750" y="393035"/>
                </a:moveTo>
                <a:cubicBezTo>
                  <a:pt x="94137" y="393035"/>
                  <a:pt x="92725" y="394344"/>
                  <a:pt x="92725" y="396056"/>
                </a:cubicBezTo>
                <a:lnTo>
                  <a:pt x="92725" y="408743"/>
                </a:lnTo>
                <a:lnTo>
                  <a:pt x="113597" y="408743"/>
                </a:lnTo>
                <a:lnTo>
                  <a:pt x="113597" y="393035"/>
                </a:lnTo>
                <a:close/>
                <a:moveTo>
                  <a:pt x="95750" y="379642"/>
                </a:moveTo>
                <a:lnTo>
                  <a:pt x="335726" y="379642"/>
                </a:lnTo>
                <a:cubicBezTo>
                  <a:pt x="344801" y="379642"/>
                  <a:pt x="352262" y="386993"/>
                  <a:pt x="352262" y="396056"/>
                </a:cubicBezTo>
                <a:lnTo>
                  <a:pt x="352262" y="463825"/>
                </a:lnTo>
                <a:cubicBezTo>
                  <a:pt x="352262" y="472887"/>
                  <a:pt x="344801" y="480339"/>
                  <a:pt x="335726" y="480339"/>
                </a:cubicBezTo>
                <a:lnTo>
                  <a:pt x="95750" y="480339"/>
                </a:lnTo>
                <a:cubicBezTo>
                  <a:pt x="86676" y="480339"/>
                  <a:pt x="79315" y="472887"/>
                  <a:pt x="79315" y="463825"/>
                </a:cubicBezTo>
                <a:lnTo>
                  <a:pt x="79315" y="396056"/>
                </a:lnTo>
                <a:cubicBezTo>
                  <a:pt x="79315" y="386993"/>
                  <a:pt x="86676" y="379642"/>
                  <a:pt x="95750" y="379642"/>
                </a:cubicBezTo>
                <a:close/>
                <a:moveTo>
                  <a:pt x="418098" y="308869"/>
                </a:moveTo>
                <a:lnTo>
                  <a:pt x="408722" y="318231"/>
                </a:lnTo>
                <a:lnTo>
                  <a:pt x="408722" y="409442"/>
                </a:lnTo>
                <a:lnTo>
                  <a:pt x="418098" y="409442"/>
                </a:lnTo>
                <a:close/>
                <a:moveTo>
                  <a:pt x="13510" y="308869"/>
                </a:moveTo>
                <a:lnTo>
                  <a:pt x="13510" y="409442"/>
                </a:lnTo>
                <a:lnTo>
                  <a:pt x="22886" y="409442"/>
                </a:lnTo>
                <a:lnTo>
                  <a:pt x="22886" y="318231"/>
                </a:lnTo>
                <a:close/>
                <a:moveTo>
                  <a:pt x="373738" y="299305"/>
                </a:moveTo>
                <a:lnTo>
                  <a:pt x="373738" y="308768"/>
                </a:lnTo>
                <a:lnTo>
                  <a:pt x="399144" y="308768"/>
                </a:lnTo>
                <a:lnTo>
                  <a:pt x="408621" y="299305"/>
                </a:lnTo>
                <a:close/>
                <a:moveTo>
                  <a:pt x="22987" y="299305"/>
                </a:moveTo>
                <a:lnTo>
                  <a:pt x="32363" y="308768"/>
                </a:lnTo>
                <a:lnTo>
                  <a:pt x="57870" y="308768"/>
                </a:lnTo>
                <a:lnTo>
                  <a:pt x="57870" y="299305"/>
                </a:lnTo>
                <a:close/>
                <a:moveTo>
                  <a:pt x="287636" y="287249"/>
                </a:moveTo>
                <a:cubicBezTo>
                  <a:pt x="286124" y="287249"/>
                  <a:pt x="285015" y="288457"/>
                  <a:pt x="285015" y="289866"/>
                </a:cubicBezTo>
                <a:lnTo>
                  <a:pt x="285015" y="349950"/>
                </a:lnTo>
                <a:cubicBezTo>
                  <a:pt x="285015" y="351359"/>
                  <a:pt x="286124" y="352567"/>
                  <a:pt x="287636" y="352567"/>
                </a:cubicBezTo>
                <a:lnTo>
                  <a:pt x="336131" y="352567"/>
                </a:lnTo>
                <a:cubicBezTo>
                  <a:pt x="337643" y="352567"/>
                  <a:pt x="338752" y="351359"/>
                  <a:pt x="338752" y="349950"/>
                </a:cubicBezTo>
                <a:lnTo>
                  <a:pt x="338752" y="289866"/>
                </a:lnTo>
                <a:cubicBezTo>
                  <a:pt x="338752" y="288457"/>
                  <a:pt x="337643" y="287249"/>
                  <a:pt x="336131" y="287249"/>
                </a:cubicBezTo>
                <a:close/>
                <a:moveTo>
                  <a:pt x="191455" y="287249"/>
                </a:moveTo>
                <a:cubicBezTo>
                  <a:pt x="190044" y="287249"/>
                  <a:pt x="188935" y="288457"/>
                  <a:pt x="188935" y="289866"/>
                </a:cubicBezTo>
                <a:lnTo>
                  <a:pt x="188935" y="349950"/>
                </a:lnTo>
                <a:cubicBezTo>
                  <a:pt x="188935" y="351359"/>
                  <a:pt x="190044" y="352567"/>
                  <a:pt x="191455" y="352567"/>
                </a:cubicBezTo>
                <a:lnTo>
                  <a:pt x="240051" y="352567"/>
                </a:lnTo>
                <a:cubicBezTo>
                  <a:pt x="241462" y="352567"/>
                  <a:pt x="242672" y="351359"/>
                  <a:pt x="242672" y="349950"/>
                </a:cubicBezTo>
                <a:lnTo>
                  <a:pt x="242672" y="289866"/>
                </a:lnTo>
                <a:cubicBezTo>
                  <a:pt x="242672" y="288457"/>
                  <a:pt x="241462" y="287249"/>
                  <a:pt x="240051" y="287249"/>
                </a:cubicBezTo>
                <a:close/>
                <a:moveTo>
                  <a:pt x="95345" y="287249"/>
                </a:moveTo>
                <a:cubicBezTo>
                  <a:pt x="93934" y="287249"/>
                  <a:pt x="92724" y="288457"/>
                  <a:pt x="92724" y="289866"/>
                </a:cubicBezTo>
                <a:lnTo>
                  <a:pt x="92724" y="349950"/>
                </a:lnTo>
                <a:cubicBezTo>
                  <a:pt x="92724" y="351359"/>
                  <a:pt x="93934" y="352567"/>
                  <a:pt x="95345" y="352567"/>
                </a:cubicBezTo>
                <a:lnTo>
                  <a:pt x="143941" y="352567"/>
                </a:lnTo>
                <a:cubicBezTo>
                  <a:pt x="145352" y="352567"/>
                  <a:pt x="146562" y="351359"/>
                  <a:pt x="146562" y="349950"/>
                </a:cubicBezTo>
                <a:lnTo>
                  <a:pt x="146562" y="289866"/>
                </a:lnTo>
                <a:cubicBezTo>
                  <a:pt x="146562" y="288457"/>
                  <a:pt x="145352" y="287249"/>
                  <a:pt x="143941" y="287249"/>
                </a:cubicBezTo>
                <a:close/>
                <a:moveTo>
                  <a:pt x="287636" y="273864"/>
                </a:moveTo>
                <a:lnTo>
                  <a:pt x="336131" y="273864"/>
                </a:lnTo>
                <a:cubicBezTo>
                  <a:pt x="345003" y="273864"/>
                  <a:pt x="352262" y="281010"/>
                  <a:pt x="352262" y="289866"/>
                </a:cubicBezTo>
                <a:lnTo>
                  <a:pt x="352262" y="349950"/>
                </a:lnTo>
                <a:cubicBezTo>
                  <a:pt x="352262" y="358806"/>
                  <a:pt x="345003" y="365952"/>
                  <a:pt x="336131" y="365952"/>
                </a:cubicBezTo>
                <a:lnTo>
                  <a:pt x="287636" y="365952"/>
                </a:lnTo>
                <a:cubicBezTo>
                  <a:pt x="278764" y="365952"/>
                  <a:pt x="271606" y="358806"/>
                  <a:pt x="271606" y="349950"/>
                </a:cubicBezTo>
                <a:lnTo>
                  <a:pt x="271606" y="289866"/>
                </a:lnTo>
                <a:cubicBezTo>
                  <a:pt x="271606" y="281010"/>
                  <a:pt x="278764" y="273864"/>
                  <a:pt x="287636" y="273864"/>
                </a:cubicBezTo>
                <a:close/>
                <a:moveTo>
                  <a:pt x="191455" y="273864"/>
                </a:moveTo>
                <a:lnTo>
                  <a:pt x="240051" y="273864"/>
                </a:lnTo>
                <a:cubicBezTo>
                  <a:pt x="248923" y="273864"/>
                  <a:pt x="256081" y="281010"/>
                  <a:pt x="256081" y="289866"/>
                </a:cubicBezTo>
                <a:lnTo>
                  <a:pt x="256081" y="349950"/>
                </a:lnTo>
                <a:cubicBezTo>
                  <a:pt x="256081" y="358806"/>
                  <a:pt x="248923" y="365952"/>
                  <a:pt x="240051" y="365952"/>
                </a:cubicBezTo>
                <a:lnTo>
                  <a:pt x="191455" y="365952"/>
                </a:lnTo>
                <a:cubicBezTo>
                  <a:pt x="182684" y="365952"/>
                  <a:pt x="175425" y="358806"/>
                  <a:pt x="175425" y="349950"/>
                </a:cubicBezTo>
                <a:lnTo>
                  <a:pt x="175425" y="289866"/>
                </a:lnTo>
                <a:cubicBezTo>
                  <a:pt x="175425" y="281010"/>
                  <a:pt x="182684" y="273864"/>
                  <a:pt x="191455" y="273864"/>
                </a:cubicBezTo>
                <a:close/>
                <a:moveTo>
                  <a:pt x="95345" y="273864"/>
                </a:moveTo>
                <a:lnTo>
                  <a:pt x="143941" y="273864"/>
                </a:lnTo>
                <a:cubicBezTo>
                  <a:pt x="152813" y="273864"/>
                  <a:pt x="159971" y="281010"/>
                  <a:pt x="159971" y="289866"/>
                </a:cubicBezTo>
                <a:lnTo>
                  <a:pt x="159971" y="349950"/>
                </a:lnTo>
                <a:cubicBezTo>
                  <a:pt x="159971" y="358806"/>
                  <a:pt x="152813" y="365952"/>
                  <a:pt x="143941" y="365952"/>
                </a:cubicBezTo>
                <a:lnTo>
                  <a:pt x="95345" y="365952"/>
                </a:lnTo>
                <a:cubicBezTo>
                  <a:pt x="86473" y="365952"/>
                  <a:pt x="79315" y="358806"/>
                  <a:pt x="79315" y="349950"/>
                </a:cubicBezTo>
                <a:lnTo>
                  <a:pt x="79315" y="289866"/>
                </a:lnTo>
                <a:cubicBezTo>
                  <a:pt x="79315" y="281010"/>
                  <a:pt x="86473" y="273864"/>
                  <a:pt x="95345" y="273864"/>
                </a:cubicBezTo>
                <a:close/>
                <a:moveTo>
                  <a:pt x="93661" y="265780"/>
                </a:moveTo>
                <a:cubicBezTo>
                  <a:pt x="81260" y="265780"/>
                  <a:pt x="71279" y="275747"/>
                  <a:pt x="71279" y="288130"/>
                </a:cubicBezTo>
                <a:lnTo>
                  <a:pt x="71279" y="466323"/>
                </a:lnTo>
                <a:cubicBezTo>
                  <a:pt x="71279" y="478606"/>
                  <a:pt x="81260" y="488572"/>
                  <a:pt x="93661" y="488572"/>
                </a:cubicBezTo>
                <a:lnTo>
                  <a:pt x="337947" y="488572"/>
                </a:lnTo>
                <a:cubicBezTo>
                  <a:pt x="350247" y="488572"/>
                  <a:pt x="360328" y="478606"/>
                  <a:pt x="360328" y="466323"/>
                </a:cubicBezTo>
                <a:lnTo>
                  <a:pt x="360328" y="288130"/>
                </a:lnTo>
                <a:cubicBezTo>
                  <a:pt x="360328" y="275747"/>
                  <a:pt x="350247" y="265780"/>
                  <a:pt x="337947" y="265780"/>
                </a:cubicBezTo>
                <a:close/>
                <a:moveTo>
                  <a:pt x="199622" y="236283"/>
                </a:moveTo>
                <a:lnTo>
                  <a:pt x="199622" y="252390"/>
                </a:lnTo>
                <a:lnTo>
                  <a:pt x="231885" y="252390"/>
                </a:lnTo>
                <a:lnTo>
                  <a:pt x="231885" y="236283"/>
                </a:lnTo>
                <a:close/>
                <a:moveTo>
                  <a:pt x="184926" y="127088"/>
                </a:moveTo>
                <a:cubicBezTo>
                  <a:pt x="193187" y="135322"/>
                  <a:pt x="204067" y="139841"/>
                  <a:pt x="215754" y="139841"/>
                </a:cubicBezTo>
                <a:cubicBezTo>
                  <a:pt x="227440" y="139841"/>
                  <a:pt x="238421" y="135322"/>
                  <a:pt x="246682" y="127088"/>
                </a:cubicBezTo>
                <a:lnTo>
                  <a:pt x="256152" y="136527"/>
                </a:lnTo>
                <a:cubicBezTo>
                  <a:pt x="245372" y="147272"/>
                  <a:pt x="231067" y="153197"/>
                  <a:pt x="215754" y="153197"/>
                </a:cubicBezTo>
                <a:cubicBezTo>
                  <a:pt x="200541" y="153197"/>
                  <a:pt x="186235" y="147272"/>
                  <a:pt x="175355" y="136527"/>
                </a:cubicBezTo>
                <a:close/>
                <a:moveTo>
                  <a:pt x="274217" y="96675"/>
                </a:moveTo>
                <a:lnTo>
                  <a:pt x="287766" y="96675"/>
                </a:lnTo>
                <a:lnTo>
                  <a:pt x="287766" y="138238"/>
                </a:lnTo>
                <a:lnTo>
                  <a:pt x="274217" y="138238"/>
                </a:lnTo>
                <a:close/>
                <a:moveTo>
                  <a:pt x="143883" y="96675"/>
                </a:moveTo>
                <a:lnTo>
                  <a:pt x="157290" y="96675"/>
                </a:lnTo>
                <a:lnTo>
                  <a:pt x="157290" y="138238"/>
                </a:lnTo>
                <a:lnTo>
                  <a:pt x="143883" y="138238"/>
                </a:lnTo>
                <a:close/>
                <a:moveTo>
                  <a:pt x="99498" y="41613"/>
                </a:moveTo>
                <a:lnTo>
                  <a:pt x="99498" y="194609"/>
                </a:lnTo>
                <a:lnTo>
                  <a:pt x="332080" y="194609"/>
                </a:lnTo>
                <a:lnTo>
                  <a:pt x="332080" y="41613"/>
                </a:lnTo>
                <a:close/>
                <a:moveTo>
                  <a:pt x="98389" y="28226"/>
                </a:moveTo>
                <a:lnTo>
                  <a:pt x="333088" y="28226"/>
                </a:lnTo>
                <a:cubicBezTo>
                  <a:pt x="339943" y="28226"/>
                  <a:pt x="345488" y="33762"/>
                  <a:pt x="345488" y="40607"/>
                </a:cubicBezTo>
                <a:lnTo>
                  <a:pt x="345488" y="195716"/>
                </a:lnTo>
                <a:cubicBezTo>
                  <a:pt x="345488" y="202561"/>
                  <a:pt x="339943" y="208097"/>
                  <a:pt x="333088" y="208097"/>
                </a:cubicBezTo>
                <a:lnTo>
                  <a:pt x="98389" y="208097"/>
                </a:lnTo>
                <a:cubicBezTo>
                  <a:pt x="91635" y="208097"/>
                  <a:pt x="86090" y="202561"/>
                  <a:pt x="86090" y="195716"/>
                </a:cubicBezTo>
                <a:lnTo>
                  <a:pt x="86090" y="40607"/>
                </a:lnTo>
                <a:cubicBezTo>
                  <a:pt x="86090" y="33762"/>
                  <a:pt x="91635" y="28226"/>
                  <a:pt x="98389" y="28226"/>
                </a:cubicBezTo>
                <a:close/>
                <a:moveTo>
                  <a:pt x="98400" y="13390"/>
                </a:moveTo>
                <a:cubicBezTo>
                  <a:pt x="83478" y="13390"/>
                  <a:pt x="71279" y="25571"/>
                  <a:pt x="71279" y="40572"/>
                </a:cubicBezTo>
                <a:lnTo>
                  <a:pt x="71279" y="195711"/>
                </a:lnTo>
                <a:cubicBezTo>
                  <a:pt x="71279" y="210611"/>
                  <a:pt x="83478" y="222792"/>
                  <a:pt x="98400" y="222792"/>
                </a:cubicBezTo>
                <a:lnTo>
                  <a:pt x="333107" y="222792"/>
                </a:lnTo>
                <a:cubicBezTo>
                  <a:pt x="348129" y="222792"/>
                  <a:pt x="360328" y="210611"/>
                  <a:pt x="360328" y="195711"/>
                </a:cubicBezTo>
                <a:lnTo>
                  <a:pt x="360328" y="40572"/>
                </a:lnTo>
                <a:cubicBezTo>
                  <a:pt x="360328" y="25571"/>
                  <a:pt x="348129" y="13390"/>
                  <a:pt x="333107" y="13390"/>
                </a:cubicBezTo>
                <a:close/>
                <a:moveTo>
                  <a:pt x="98400" y="0"/>
                </a:moveTo>
                <a:lnTo>
                  <a:pt x="333107" y="0"/>
                </a:lnTo>
                <a:cubicBezTo>
                  <a:pt x="355489" y="0"/>
                  <a:pt x="373738" y="18222"/>
                  <a:pt x="373738" y="40572"/>
                </a:cubicBezTo>
                <a:lnTo>
                  <a:pt x="373738" y="195711"/>
                </a:lnTo>
                <a:cubicBezTo>
                  <a:pt x="373738" y="218060"/>
                  <a:pt x="355489" y="236283"/>
                  <a:pt x="333107" y="236283"/>
                </a:cubicBezTo>
                <a:lnTo>
                  <a:pt x="245394" y="236283"/>
                </a:lnTo>
                <a:lnTo>
                  <a:pt x="245394" y="252390"/>
                </a:lnTo>
                <a:lnTo>
                  <a:pt x="337947" y="252390"/>
                </a:lnTo>
                <a:cubicBezTo>
                  <a:pt x="356901" y="252390"/>
                  <a:pt x="372528" y="267190"/>
                  <a:pt x="373637" y="285915"/>
                </a:cubicBezTo>
                <a:lnTo>
                  <a:pt x="431507" y="285915"/>
                </a:lnTo>
                <a:lnTo>
                  <a:pt x="431507" y="454343"/>
                </a:lnTo>
                <a:lnTo>
                  <a:pt x="395212" y="454343"/>
                </a:lnTo>
                <a:lnTo>
                  <a:pt x="395212" y="322158"/>
                </a:lnTo>
                <a:lnTo>
                  <a:pt x="373738" y="322158"/>
                </a:lnTo>
                <a:lnTo>
                  <a:pt x="373738" y="466323"/>
                </a:lnTo>
                <a:cubicBezTo>
                  <a:pt x="373738" y="485955"/>
                  <a:pt x="357707" y="501962"/>
                  <a:pt x="338047" y="502063"/>
                </a:cubicBezTo>
                <a:lnTo>
                  <a:pt x="338047" y="527533"/>
                </a:lnTo>
                <a:lnTo>
                  <a:pt x="353775" y="527533"/>
                </a:lnTo>
                <a:lnTo>
                  <a:pt x="353775" y="608274"/>
                </a:lnTo>
                <a:lnTo>
                  <a:pt x="236321" y="608274"/>
                </a:lnTo>
                <a:lnTo>
                  <a:pt x="236321" y="527533"/>
                </a:lnTo>
                <a:lnTo>
                  <a:pt x="252149" y="527533"/>
                </a:lnTo>
                <a:lnTo>
                  <a:pt x="252149" y="502063"/>
                </a:lnTo>
                <a:lnTo>
                  <a:pt x="179358" y="502063"/>
                </a:lnTo>
                <a:lnTo>
                  <a:pt x="179358" y="527533"/>
                </a:lnTo>
                <a:lnTo>
                  <a:pt x="195186" y="527533"/>
                </a:lnTo>
                <a:lnTo>
                  <a:pt x="195186" y="608274"/>
                </a:lnTo>
                <a:lnTo>
                  <a:pt x="77732" y="608274"/>
                </a:lnTo>
                <a:lnTo>
                  <a:pt x="77732" y="527533"/>
                </a:lnTo>
                <a:lnTo>
                  <a:pt x="93560" y="527533"/>
                </a:lnTo>
                <a:lnTo>
                  <a:pt x="93560" y="502063"/>
                </a:lnTo>
                <a:cubicBezTo>
                  <a:pt x="73800" y="501962"/>
                  <a:pt x="57870" y="485955"/>
                  <a:pt x="57870" y="466323"/>
                </a:cubicBezTo>
                <a:lnTo>
                  <a:pt x="57870" y="322158"/>
                </a:lnTo>
                <a:lnTo>
                  <a:pt x="36295" y="322158"/>
                </a:lnTo>
                <a:lnTo>
                  <a:pt x="36295" y="454343"/>
                </a:lnTo>
                <a:lnTo>
                  <a:pt x="0" y="454343"/>
                </a:lnTo>
                <a:lnTo>
                  <a:pt x="0" y="285915"/>
                </a:lnTo>
                <a:lnTo>
                  <a:pt x="57870" y="285915"/>
                </a:lnTo>
                <a:cubicBezTo>
                  <a:pt x="58979" y="267190"/>
                  <a:pt x="74606" y="252390"/>
                  <a:pt x="93661" y="252390"/>
                </a:cubicBezTo>
                <a:lnTo>
                  <a:pt x="186213" y="252390"/>
                </a:lnTo>
                <a:lnTo>
                  <a:pt x="186213" y="236283"/>
                </a:lnTo>
                <a:lnTo>
                  <a:pt x="98400" y="236283"/>
                </a:lnTo>
                <a:cubicBezTo>
                  <a:pt x="76018" y="236283"/>
                  <a:pt x="57870" y="218060"/>
                  <a:pt x="57870" y="195711"/>
                </a:cubicBezTo>
                <a:lnTo>
                  <a:pt x="57870" y="40572"/>
                </a:lnTo>
                <a:cubicBezTo>
                  <a:pt x="57870" y="18222"/>
                  <a:pt x="76018" y="0"/>
                  <a:pt x="98400" y="0"/>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p>
        </p:txBody>
      </p:sp>
      <p:sp>
        <p:nvSpPr>
          <p:cNvPr id="105" name="ïsḻîdé"/>
          <p:cNvSpPr/>
          <p:nvPr/>
        </p:nvSpPr>
        <p:spPr bwMode="auto">
          <a:xfrm>
            <a:off x="4861310" y="967006"/>
            <a:ext cx="429626" cy="408136"/>
          </a:xfrm>
          <a:custGeom>
            <a:avLst/>
            <a:gdLst>
              <a:gd name="T0" fmla="*/ 323122 h 606761"/>
              <a:gd name="T1" fmla="*/ 323122 h 606761"/>
              <a:gd name="T2" fmla="*/ 323122 h 606761"/>
              <a:gd name="T3" fmla="*/ 323122 h 606761"/>
              <a:gd name="T4" fmla="*/ 323122 h 606761"/>
              <a:gd name="T5" fmla="*/ 323122 h 606761"/>
              <a:gd name="T6" fmla="*/ 323122 h 606761"/>
              <a:gd name="T7" fmla="*/ 323122 h 606761"/>
              <a:gd name="T8" fmla="*/ 285195 h 606761"/>
              <a:gd name="T9" fmla="*/ 285195 h 606761"/>
              <a:gd name="T10" fmla="*/ 323122 h 606761"/>
              <a:gd name="T11" fmla="*/ 323122 h 606761"/>
              <a:gd name="T12" fmla="*/ 323122 h 606761"/>
              <a:gd name="T13" fmla="*/ 323122 h 606761"/>
              <a:gd name="T14" fmla="*/ 323122 h 606761"/>
              <a:gd name="T15" fmla="*/ 323122 h 606761"/>
              <a:gd name="T16" fmla="*/ 323122 h 606761"/>
              <a:gd name="T17" fmla="*/ 323122 h 606761"/>
              <a:gd name="T18" fmla="*/ 323122 h 606761"/>
              <a:gd name="T19" fmla="*/ 323122 h 606761"/>
              <a:gd name="T20" fmla="*/ 323122 h 606761"/>
              <a:gd name="T21" fmla="*/ 323122 h 606761"/>
              <a:gd name="T22" fmla="*/ 323122 h 606761"/>
              <a:gd name="T23" fmla="*/ 323122 h 606761"/>
              <a:gd name="T24" fmla="*/ 323122 h 606761"/>
              <a:gd name="T25" fmla="*/ 323122 h 606761"/>
              <a:gd name="T26" fmla="*/ 323122 h 606761"/>
              <a:gd name="T27" fmla="*/ 323122 h 606761"/>
              <a:gd name="T28" fmla="*/ 323122 h 606761"/>
              <a:gd name="T29" fmla="*/ 323122 h 606761"/>
              <a:gd name="T30" fmla="*/ 323122 h 606761"/>
              <a:gd name="T31" fmla="*/ 323122 h 606761"/>
              <a:gd name="T32" fmla="*/ 323122 h 606761"/>
              <a:gd name="T33" fmla="*/ 323122 h 606761"/>
              <a:gd name="T34" fmla="*/ 323122 h 606761"/>
              <a:gd name="T35" fmla="*/ 323122 h 606761"/>
              <a:gd name="T36" fmla="*/ 323122 h 606761"/>
              <a:gd name="T37" fmla="*/ 323122 h 606761"/>
              <a:gd name="T38" fmla="*/ 323122 h 606761"/>
              <a:gd name="T39" fmla="*/ 323122 h 606761"/>
              <a:gd name="T40" fmla="*/ 323122 h 606761"/>
              <a:gd name="T41" fmla="*/ 323122 h 606761"/>
              <a:gd name="T42" fmla="*/ 323122 h 606761"/>
              <a:gd name="T43" fmla="*/ 323122 h 606761"/>
              <a:gd name="T44" fmla="*/ 323122 h 606761"/>
              <a:gd name="T45" fmla="*/ 323122 h 606761"/>
              <a:gd name="T46" fmla="*/ 323122 h 606761"/>
              <a:gd name="T47" fmla="*/ 323122 h 606761"/>
              <a:gd name="T48" fmla="*/ 323122 h 606761"/>
              <a:gd name="T49" fmla="*/ 323122 h 606761"/>
              <a:gd name="T50" fmla="*/ 323122 h 606761"/>
              <a:gd name="T51" fmla="*/ 323122 h 606761"/>
              <a:gd name="T52" fmla="*/ 323122 h 606761"/>
              <a:gd name="T53" fmla="*/ 323122 h 606761"/>
              <a:gd name="T54" fmla="*/ 323122 h 606761"/>
              <a:gd name="T55" fmla="*/ 323122 h 606761"/>
              <a:gd name="T56" fmla="*/ 323122 h 606761"/>
              <a:gd name="T57" fmla="*/ 323122 h 606761"/>
              <a:gd name="T58" fmla="*/ 323122 h 606761"/>
              <a:gd name="T59" fmla="*/ 323122 h 606761"/>
              <a:gd name="T60" fmla="*/ 323122 h 606761"/>
              <a:gd name="T61" fmla="*/ 323122 h 606761"/>
              <a:gd name="T62" fmla="*/ 323122 h 606761"/>
              <a:gd name="T63" fmla="*/ 323122 h 606761"/>
              <a:gd name="T64" fmla="*/ 323122 h 606761"/>
              <a:gd name="T65" fmla="*/ 323122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60" h="8160">
                <a:moveTo>
                  <a:pt x="7595" y="0"/>
                </a:moveTo>
                <a:lnTo>
                  <a:pt x="565" y="0"/>
                </a:lnTo>
                <a:cubicBezTo>
                  <a:pt x="253" y="0"/>
                  <a:pt x="0" y="253"/>
                  <a:pt x="0" y="565"/>
                </a:cubicBezTo>
                <a:lnTo>
                  <a:pt x="0" y="7595"/>
                </a:lnTo>
                <a:cubicBezTo>
                  <a:pt x="0" y="7907"/>
                  <a:pt x="253" y="8160"/>
                  <a:pt x="565" y="8160"/>
                </a:cubicBezTo>
                <a:lnTo>
                  <a:pt x="7595" y="8160"/>
                </a:lnTo>
                <a:cubicBezTo>
                  <a:pt x="7907" y="8160"/>
                  <a:pt x="8160" y="7907"/>
                  <a:pt x="8160" y="7595"/>
                </a:cubicBezTo>
                <a:lnTo>
                  <a:pt x="8160" y="565"/>
                </a:lnTo>
                <a:cubicBezTo>
                  <a:pt x="8160" y="253"/>
                  <a:pt x="7907" y="0"/>
                  <a:pt x="7595" y="0"/>
                </a:cubicBezTo>
                <a:close/>
                <a:moveTo>
                  <a:pt x="7030" y="1130"/>
                </a:moveTo>
                <a:lnTo>
                  <a:pt x="7030" y="1856"/>
                </a:lnTo>
                <a:lnTo>
                  <a:pt x="4306" y="1856"/>
                </a:lnTo>
                <a:cubicBezTo>
                  <a:pt x="4227" y="1617"/>
                  <a:pt x="4004" y="1444"/>
                  <a:pt x="3739" y="1444"/>
                </a:cubicBezTo>
                <a:cubicBezTo>
                  <a:pt x="3473" y="1444"/>
                  <a:pt x="3251" y="1617"/>
                  <a:pt x="3171" y="1856"/>
                </a:cubicBezTo>
                <a:lnTo>
                  <a:pt x="2764" y="1856"/>
                </a:lnTo>
                <a:cubicBezTo>
                  <a:pt x="2685" y="1617"/>
                  <a:pt x="2462" y="1444"/>
                  <a:pt x="2197" y="1444"/>
                </a:cubicBezTo>
                <a:cubicBezTo>
                  <a:pt x="1931" y="1444"/>
                  <a:pt x="1709" y="1617"/>
                  <a:pt x="1630" y="1856"/>
                </a:cubicBezTo>
                <a:lnTo>
                  <a:pt x="1130" y="1856"/>
                </a:lnTo>
                <a:lnTo>
                  <a:pt x="1130" y="1130"/>
                </a:lnTo>
                <a:lnTo>
                  <a:pt x="7030" y="1130"/>
                </a:lnTo>
                <a:close/>
                <a:moveTo>
                  <a:pt x="6530" y="5928"/>
                </a:moveTo>
                <a:cubicBezTo>
                  <a:pt x="6451" y="5689"/>
                  <a:pt x="6228" y="5516"/>
                  <a:pt x="5963" y="5516"/>
                </a:cubicBezTo>
                <a:cubicBezTo>
                  <a:pt x="5697" y="5516"/>
                  <a:pt x="5475" y="5689"/>
                  <a:pt x="5396" y="5928"/>
                </a:cubicBezTo>
                <a:lnTo>
                  <a:pt x="4988" y="5928"/>
                </a:lnTo>
                <a:cubicBezTo>
                  <a:pt x="4909" y="5689"/>
                  <a:pt x="4687" y="5516"/>
                  <a:pt x="4421" y="5516"/>
                </a:cubicBezTo>
                <a:cubicBezTo>
                  <a:pt x="4156" y="5516"/>
                  <a:pt x="3933" y="5689"/>
                  <a:pt x="3854" y="5928"/>
                </a:cubicBezTo>
                <a:lnTo>
                  <a:pt x="1130" y="5928"/>
                </a:lnTo>
                <a:lnTo>
                  <a:pt x="1130" y="4269"/>
                </a:lnTo>
                <a:lnTo>
                  <a:pt x="3854" y="4269"/>
                </a:lnTo>
                <a:cubicBezTo>
                  <a:pt x="3934" y="4507"/>
                  <a:pt x="4156" y="4681"/>
                  <a:pt x="4421" y="4681"/>
                </a:cubicBezTo>
                <a:cubicBezTo>
                  <a:pt x="4687" y="4681"/>
                  <a:pt x="4909" y="4507"/>
                  <a:pt x="4989" y="4269"/>
                </a:cubicBezTo>
                <a:lnTo>
                  <a:pt x="5396" y="4269"/>
                </a:lnTo>
                <a:cubicBezTo>
                  <a:pt x="5475" y="4507"/>
                  <a:pt x="5698" y="4681"/>
                  <a:pt x="5963" y="4681"/>
                </a:cubicBezTo>
                <a:cubicBezTo>
                  <a:pt x="6229" y="4681"/>
                  <a:pt x="6451" y="4507"/>
                  <a:pt x="6530" y="4269"/>
                </a:cubicBezTo>
                <a:lnTo>
                  <a:pt x="7030" y="4269"/>
                </a:lnTo>
                <a:lnTo>
                  <a:pt x="7030" y="5928"/>
                </a:lnTo>
                <a:lnTo>
                  <a:pt x="6530" y="5928"/>
                </a:lnTo>
                <a:lnTo>
                  <a:pt x="6530" y="5928"/>
                </a:lnTo>
                <a:close/>
                <a:moveTo>
                  <a:pt x="6530" y="3892"/>
                </a:moveTo>
                <a:cubicBezTo>
                  <a:pt x="6451" y="3653"/>
                  <a:pt x="6228" y="3480"/>
                  <a:pt x="5963" y="3480"/>
                </a:cubicBezTo>
                <a:cubicBezTo>
                  <a:pt x="5697" y="3480"/>
                  <a:pt x="5475" y="3653"/>
                  <a:pt x="5396" y="3892"/>
                </a:cubicBezTo>
                <a:lnTo>
                  <a:pt x="4988" y="3892"/>
                </a:lnTo>
                <a:cubicBezTo>
                  <a:pt x="4909" y="3653"/>
                  <a:pt x="4687" y="3480"/>
                  <a:pt x="4421" y="3480"/>
                </a:cubicBezTo>
                <a:cubicBezTo>
                  <a:pt x="4156" y="3480"/>
                  <a:pt x="3933" y="3653"/>
                  <a:pt x="3854" y="3892"/>
                </a:cubicBezTo>
                <a:lnTo>
                  <a:pt x="1130" y="3892"/>
                </a:lnTo>
                <a:lnTo>
                  <a:pt x="1130" y="2232"/>
                </a:lnTo>
                <a:lnTo>
                  <a:pt x="1630" y="2232"/>
                </a:lnTo>
                <a:cubicBezTo>
                  <a:pt x="1709" y="2471"/>
                  <a:pt x="1931" y="2644"/>
                  <a:pt x="2197" y="2644"/>
                </a:cubicBezTo>
                <a:cubicBezTo>
                  <a:pt x="2462" y="2644"/>
                  <a:pt x="2685" y="2471"/>
                  <a:pt x="2764" y="2232"/>
                </a:cubicBezTo>
                <a:lnTo>
                  <a:pt x="3172" y="2232"/>
                </a:lnTo>
                <a:cubicBezTo>
                  <a:pt x="3251" y="2471"/>
                  <a:pt x="3473" y="2644"/>
                  <a:pt x="3739" y="2644"/>
                </a:cubicBezTo>
                <a:cubicBezTo>
                  <a:pt x="4004" y="2644"/>
                  <a:pt x="4227" y="2471"/>
                  <a:pt x="4306" y="2232"/>
                </a:cubicBezTo>
                <a:lnTo>
                  <a:pt x="7030" y="2232"/>
                </a:lnTo>
                <a:lnTo>
                  <a:pt x="7030" y="3892"/>
                </a:lnTo>
                <a:lnTo>
                  <a:pt x="6530" y="3892"/>
                </a:lnTo>
                <a:lnTo>
                  <a:pt x="6530" y="3892"/>
                </a:lnTo>
                <a:close/>
                <a:moveTo>
                  <a:pt x="1130" y="7030"/>
                </a:moveTo>
                <a:lnTo>
                  <a:pt x="1130" y="6304"/>
                </a:lnTo>
                <a:lnTo>
                  <a:pt x="3854" y="6304"/>
                </a:lnTo>
                <a:cubicBezTo>
                  <a:pt x="3934" y="6543"/>
                  <a:pt x="4156" y="6716"/>
                  <a:pt x="4421" y="6716"/>
                </a:cubicBezTo>
                <a:cubicBezTo>
                  <a:pt x="4687" y="6716"/>
                  <a:pt x="4909" y="6543"/>
                  <a:pt x="4989" y="6304"/>
                </a:cubicBezTo>
                <a:lnTo>
                  <a:pt x="5396" y="6304"/>
                </a:lnTo>
                <a:cubicBezTo>
                  <a:pt x="5475" y="6543"/>
                  <a:pt x="5698" y="6716"/>
                  <a:pt x="5963" y="6716"/>
                </a:cubicBezTo>
                <a:cubicBezTo>
                  <a:pt x="6229" y="6716"/>
                  <a:pt x="6451" y="6543"/>
                  <a:pt x="6530" y="6304"/>
                </a:cubicBezTo>
                <a:lnTo>
                  <a:pt x="7030" y="6304"/>
                </a:lnTo>
                <a:lnTo>
                  <a:pt x="7030" y="7030"/>
                </a:lnTo>
                <a:lnTo>
                  <a:pt x="1130" y="7030"/>
                </a:ln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latin typeface="微软雅黑" panose="020B0503020204020204" pitchFamily="34" charset="-122"/>
              <a:ea typeface="微软雅黑" panose="020B0503020204020204" pitchFamily="34" charset="-122"/>
            </a:endParaRPr>
          </a:p>
        </p:txBody>
      </p:sp>
      <p:sp>
        <p:nvSpPr>
          <p:cNvPr id="103" name="ïṧľîďe"/>
          <p:cNvSpPr/>
          <p:nvPr/>
        </p:nvSpPr>
        <p:spPr>
          <a:xfrm>
            <a:off x="6657354" y="934913"/>
            <a:ext cx="512789" cy="472323"/>
          </a:xfrm>
          <a:custGeom>
            <a:avLst/>
            <a:gdLst>
              <a:gd name="connsiteX0" fmla="*/ 222795 w 607639"/>
              <a:gd name="connsiteY0" fmla="*/ 404243 h 606554"/>
              <a:gd name="connsiteX1" fmla="*/ 256526 w 607639"/>
              <a:gd name="connsiteY1" fmla="*/ 422388 h 606554"/>
              <a:gd name="connsiteX2" fmla="*/ 303785 w 607639"/>
              <a:gd name="connsiteY2" fmla="*/ 404243 h 606554"/>
              <a:gd name="connsiteX3" fmla="*/ 351132 w 607639"/>
              <a:gd name="connsiteY3" fmla="*/ 422388 h 606554"/>
              <a:gd name="connsiteX4" fmla="*/ 384863 w 607639"/>
              <a:gd name="connsiteY4" fmla="*/ 404243 h 606554"/>
              <a:gd name="connsiteX5" fmla="*/ 420908 w 607639"/>
              <a:gd name="connsiteY5" fmla="*/ 426657 h 606554"/>
              <a:gd name="connsiteX6" fmla="*/ 435414 w 607639"/>
              <a:gd name="connsiteY6" fmla="*/ 424522 h 606554"/>
              <a:gd name="connsiteX7" fmla="*/ 486055 w 607639"/>
              <a:gd name="connsiteY7" fmla="*/ 475131 h 606554"/>
              <a:gd name="connsiteX8" fmla="*/ 475998 w 607639"/>
              <a:gd name="connsiteY8" fmla="*/ 485182 h 606554"/>
              <a:gd name="connsiteX9" fmla="*/ 465852 w 607639"/>
              <a:gd name="connsiteY9" fmla="*/ 475131 h 606554"/>
              <a:gd name="connsiteX10" fmla="*/ 435414 w 607639"/>
              <a:gd name="connsiteY10" fmla="*/ 444713 h 606554"/>
              <a:gd name="connsiteX11" fmla="*/ 419929 w 607639"/>
              <a:gd name="connsiteY11" fmla="*/ 449160 h 606554"/>
              <a:gd name="connsiteX12" fmla="*/ 410406 w 607639"/>
              <a:gd name="connsiteY12" fmla="*/ 449604 h 606554"/>
              <a:gd name="connsiteX13" fmla="*/ 404710 w 607639"/>
              <a:gd name="connsiteY13" fmla="*/ 441866 h 606554"/>
              <a:gd name="connsiteX14" fmla="*/ 384863 w 607639"/>
              <a:gd name="connsiteY14" fmla="*/ 424522 h 606554"/>
              <a:gd name="connsiteX15" fmla="*/ 364838 w 607639"/>
              <a:gd name="connsiteY15" fmla="*/ 442934 h 606554"/>
              <a:gd name="connsiteX16" fmla="*/ 357184 w 607639"/>
              <a:gd name="connsiteY16" fmla="*/ 451828 h 606554"/>
              <a:gd name="connsiteX17" fmla="*/ 346237 w 607639"/>
              <a:gd name="connsiteY17" fmla="*/ 447559 h 606554"/>
              <a:gd name="connsiteX18" fmla="*/ 303785 w 607639"/>
              <a:gd name="connsiteY18" fmla="*/ 424522 h 606554"/>
              <a:gd name="connsiteX19" fmla="*/ 261421 w 607639"/>
              <a:gd name="connsiteY19" fmla="*/ 447559 h 606554"/>
              <a:gd name="connsiteX20" fmla="*/ 250474 w 607639"/>
              <a:gd name="connsiteY20" fmla="*/ 451828 h 606554"/>
              <a:gd name="connsiteX21" fmla="*/ 242820 w 607639"/>
              <a:gd name="connsiteY21" fmla="*/ 442934 h 606554"/>
              <a:gd name="connsiteX22" fmla="*/ 222795 w 607639"/>
              <a:gd name="connsiteY22" fmla="*/ 424522 h 606554"/>
              <a:gd name="connsiteX23" fmla="*/ 202859 w 607639"/>
              <a:gd name="connsiteY23" fmla="*/ 441866 h 606554"/>
              <a:gd name="connsiteX24" fmla="*/ 197252 w 607639"/>
              <a:gd name="connsiteY24" fmla="*/ 449604 h 606554"/>
              <a:gd name="connsiteX25" fmla="*/ 187640 w 607639"/>
              <a:gd name="connsiteY25" fmla="*/ 449160 h 606554"/>
              <a:gd name="connsiteX26" fmla="*/ 172155 w 607639"/>
              <a:gd name="connsiteY26" fmla="*/ 444713 h 606554"/>
              <a:gd name="connsiteX27" fmla="*/ 141806 w 607639"/>
              <a:gd name="connsiteY27" fmla="*/ 475131 h 606554"/>
              <a:gd name="connsiteX28" fmla="*/ 131660 w 607639"/>
              <a:gd name="connsiteY28" fmla="*/ 485182 h 606554"/>
              <a:gd name="connsiteX29" fmla="*/ 121514 w 607639"/>
              <a:gd name="connsiteY29" fmla="*/ 475131 h 606554"/>
              <a:gd name="connsiteX30" fmla="*/ 172155 w 607639"/>
              <a:gd name="connsiteY30" fmla="*/ 424522 h 606554"/>
              <a:gd name="connsiteX31" fmla="*/ 186661 w 607639"/>
              <a:gd name="connsiteY31" fmla="*/ 426657 h 606554"/>
              <a:gd name="connsiteX32" fmla="*/ 222795 w 607639"/>
              <a:gd name="connsiteY32" fmla="*/ 404243 h 606554"/>
              <a:gd name="connsiteX33" fmla="*/ 303774 w 607639"/>
              <a:gd name="connsiteY33" fmla="*/ 282941 h 606554"/>
              <a:gd name="connsiteX34" fmla="*/ 313945 w 607639"/>
              <a:gd name="connsiteY34" fmla="*/ 293078 h 606554"/>
              <a:gd name="connsiteX35" fmla="*/ 313945 w 607639"/>
              <a:gd name="connsiteY35" fmla="*/ 373995 h 606554"/>
              <a:gd name="connsiteX36" fmla="*/ 303774 w 607639"/>
              <a:gd name="connsiteY36" fmla="*/ 384132 h 606554"/>
              <a:gd name="connsiteX37" fmla="*/ 293693 w 607639"/>
              <a:gd name="connsiteY37" fmla="*/ 373995 h 606554"/>
              <a:gd name="connsiteX38" fmla="*/ 293693 w 607639"/>
              <a:gd name="connsiteY38" fmla="*/ 293078 h 606554"/>
              <a:gd name="connsiteX39" fmla="*/ 303774 w 607639"/>
              <a:gd name="connsiteY39" fmla="*/ 282941 h 606554"/>
              <a:gd name="connsiteX40" fmla="*/ 101254 w 607639"/>
              <a:gd name="connsiteY40" fmla="*/ 202073 h 606554"/>
              <a:gd name="connsiteX41" fmla="*/ 192395 w 607639"/>
              <a:gd name="connsiteY41" fmla="*/ 202073 h 606554"/>
              <a:gd name="connsiteX42" fmla="*/ 202542 w 607639"/>
              <a:gd name="connsiteY42" fmla="*/ 212117 h 606554"/>
              <a:gd name="connsiteX43" fmla="*/ 192395 w 607639"/>
              <a:gd name="connsiteY43" fmla="*/ 222250 h 606554"/>
              <a:gd name="connsiteX44" fmla="*/ 101254 w 607639"/>
              <a:gd name="connsiteY44" fmla="*/ 222250 h 606554"/>
              <a:gd name="connsiteX45" fmla="*/ 80961 w 607639"/>
              <a:gd name="connsiteY45" fmla="*/ 232916 h 606554"/>
              <a:gd name="connsiteX46" fmla="*/ 80961 w 607639"/>
              <a:gd name="connsiteY46" fmla="*/ 505439 h 606554"/>
              <a:gd name="connsiteX47" fmla="*/ 526519 w 607639"/>
              <a:gd name="connsiteY47" fmla="*/ 505439 h 606554"/>
              <a:gd name="connsiteX48" fmla="*/ 526519 w 607639"/>
              <a:gd name="connsiteY48" fmla="*/ 232383 h 606554"/>
              <a:gd name="connsiteX49" fmla="*/ 516461 w 607639"/>
              <a:gd name="connsiteY49" fmla="*/ 222250 h 606554"/>
              <a:gd name="connsiteX50" fmla="*/ 415174 w 607639"/>
              <a:gd name="connsiteY50" fmla="*/ 222250 h 606554"/>
              <a:gd name="connsiteX51" fmla="*/ 405027 w 607639"/>
              <a:gd name="connsiteY51" fmla="*/ 212117 h 606554"/>
              <a:gd name="connsiteX52" fmla="*/ 415174 w 607639"/>
              <a:gd name="connsiteY52" fmla="*/ 202073 h 606554"/>
              <a:gd name="connsiteX53" fmla="*/ 516461 w 607639"/>
              <a:gd name="connsiteY53" fmla="*/ 202073 h 606554"/>
              <a:gd name="connsiteX54" fmla="*/ 546812 w 607639"/>
              <a:gd name="connsiteY54" fmla="*/ 232383 h 606554"/>
              <a:gd name="connsiteX55" fmla="*/ 546812 w 607639"/>
              <a:gd name="connsiteY55" fmla="*/ 515572 h 606554"/>
              <a:gd name="connsiteX56" fmla="*/ 536665 w 607639"/>
              <a:gd name="connsiteY56" fmla="*/ 525616 h 606554"/>
              <a:gd name="connsiteX57" fmla="*/ 70815 w 607639"/>
              <a:gd name="connsiteY57" fmla="*/ 525616 h 606554"/>
              <a:gd name="connsiteX58" fmla="*/ 60757 w 607639"/>
              <a:gd name="connsiteY58" fmla="*/ 515572 h 606554"/>
              <a:gd name="connsiteX59" fmla="*/ 60757 w 607639"/>
              <a:gd name="connsiteY59" fmla="*/ 232383 h 606554"/>
              <a:gd name="connsiteX60" fmla="*/ 101254 w 607639"/>
              <a:gd name="connsiteY60" fmla="*/ 202073 h 606554"/>
              <a:gd name="connsiteX61" fmla="*/ 415210 w 607639"/>
              <a:gd name="connsiteY61" fmla="*/ 161568 h 606554"/>
              <a:gd name="connsiteX62" fmla="*/ 536702 w 607639"/>
              <a:gd name="connsiteY62" fmla="*/ 161568 h 606554"/>
              <a:gd name="connsiteX63" fmla="*/ 587346 w 607639"/>
              <a:gd name="connsiteY63" fmla="*/ 212137 h 606554"/>
              <a:gd name="connsiteX64" fmla="*/ 587346 w 607639"/>
              <a:gd name="connsiteY64" fmla="*/ 505417 h 606554"/>
              <a:gd name="connsiteX65" fmla="*/ 597492 w 607639"/>
              <a:gd name="connsiteY65" fmla="*/ 505417 h 606554"/>
              <a:gd name="connsiteX66" fmla="*/ 607639 w 607639"/>
              <a:gd name="connsiteY66" fmla="*/ 515548 h 606554"/>
              <a:gd name="connsiteX67" fmla="*/ 607639 w 607639"/>
              <a:gd name="connsiteY67" fmla="*/ 555985 h 606554"/>
              <a:gd name="connsiteX68" fmla="*/ 556995 w 607639"/>
              <a:gd name="connsiteY68" fmla="*/ 606554 h 606554"/>
              <a:gd name="connsiteX69" fmla="*/ 50644 w 607639"/>
              <a:gd name="connsiteY69" fmla="*/ 606554 h 606554"/>
              <a:gd name="connsiteX70" fmla="*/ 0 w 607639"/>
              <a:gd name="connsiteY70" fmla="*/ 555985 h 606554"/>
              <a:gd name="connsiteX71" fmla="*/ 10147 w 607639"/>
              <a:gd name="connsiteY71" fmla="*/ 545854 h 606554"/>
              <a:gd name="connsiteX72" fmla="*/ 556995 w 607639"/>
              <a:gd name="connsiteY72" fmla="*/ 545854 h 606554"/>
              <a:gd name="connsiteX73" fmla="*/ 567142 w 607639"/>
              <a:gd name="connsiteY73" fmla="*/ 555985 h 606554"/>
              <a:gd name="connsiteX74" fmla="*/ 556995 w 607639"/>
              <a:gd name="connsiteY74" fmla="*/ 566117 h 606554"/>
              <a:gd name="connsiteX75" fmla="*/ 22518 w 607639"/>
              <a:gd name="connsiteY75" fmla="*/ 566117 h 606554"/>
              <a:gd name="connsiteX76" fmla="*/ 50644 w 607639"/>
              <a:gd name="connsiteY76" fmla="*/ 586291 h 606554"/>
              <a:gd name="connsiteX77" fmla="*/ 556995 w 607639"/>
              <a:gd name="connsiteY77" fmla="*/ 586291 h 606554"/>
              <a:gd name="connsiteX78" fmla="*/ 587346 w 607639"/>
              <a:gd name="connsiteY78" fmla="*/ 555985 h 606554"/>
              <a:gd name="connsiteX79" fmla="*/ 587346 w 607639"/>
              <a:gd name="connsiteY79" fmla="*/ 525591 h 606554"/>
              <a:gd name="connsiteX80" fmla="*/ 577199 w 607639"/>
              <a:gd name="connsiteY80" fmla="*/ 525591 h 606554"/>
              <a:gd name="connsiteX81" fmla="*/ 567142 w 607639"/>
              <a:gd name="connsiteY81" fmla="*/ 515548 h 606554"/>
              <a:gd name="connsiteX82" fmla="*/ 567142 w 607639"/>
              <a:gd name="connsiteY82" fmla="*/ 212137 h 606554"/>
              <a:gd name="connsiteX83" fmla="*/ 536702 w 607639"/>
              <a:gd name="connsiteY83" fmla="*/ 181831 h 606554"/>
              <a:gd name="connsiteX84" fmla="*/ 415210 w 607639"/>
              <a:gd name="connsiteY84" fmla="*/ 181831 h 606554"/>
              <a:gd name="connsiteX85" fmla="*/ 405063 w 607639"/>
              <a:gd name="connsiteY85" fmla="*/ 171699 h 606554"/>
              <a:gd name="connsiteX86" fmla="*/ 415210 w 607639"/>
              <a:gd name="connsiteY86" fmla="*/ 161568 h 606554"/>
              <a:gd name="connsiteX87" fmla="*/ 70875 w 607639"/>
              <a:gd name="connsiteY87" fmla="*/ 161568 h 606554"/>
              <a:gd name="connsiteX88" fmla="*/ 192448 w 607639"/>
              <a:gd name="connsiteY88" fmla="*/ 161568 h 606554"/>
              <a:gd name="connsiteX89" fmla="*/ 202594 w 607639"/>
              <a:gd name="connsiteY89" fmla="*/ 171700 h 606554"/>
              <a:gd name="connsiteX90" fmla="*/ 192448 w 607639"/>
              <a:gd name="connsiteY90" fmla="*/ 181832 h 606554"/>
              <a:gd name="connsiteX91" fmla="*/ 70875 w 607639"/>
              <a:gd name="connsiteY91" fmla="*/ 181832 h 606554"/>
              <a:gd name="connsiteX92" fmla="*/ 40526 w 607639"/>
              <a:gd name="connsiteY92" fmla="*/ 212140 h 606554"/>
              <a:gd name="connsiteX93" fmla="*/ 40526 w 607639"/>
              <a:gd name="connsiteY93" fmla="*/ 515572 h 606554"/>
              <a:gd name="connsiteX94" fmla="*/ 30380 w 607639"/>
              <a:gd name="connsiteY94" fmla="*/ 525615 h 606554"/>
              <a:gd name="connsiteX95" fmla="*/ 20323 w 607639"/>
              <a:gd name="connsiteY95" fmla="*/ 515572 h 606554"/>
              <a:gd name="connsiteX96" fmla="*/ 20323 w 607639"/>
              <a:gd name="connsiteY96" fmla="*/ 212140 h 606554"/>
              <a:gd name="connsiteX97" fmla="*/ 70875 w 607639"/>
              <a:gd name="connsiteY97" fmla="*/ 161568 h 606554"/>
              <a:gd name="connsiteX98" fmla="*/ 303785 w 607639"/>
              <a:gd name="connsiteY98" fmla="*/ 141391 h 606554"/>
              <a:gd name="connsiteX99" fmla="*/ 283577 w 607639"/>
              <a:gd name="connsiteY99" fmla="*/ 161559 h 606554"/>
              <a:gd name="connsiteX100" fmla="*/ 303785 w 607639"/>
              <a:gd name="connsiteY100" fmla="*/ 181816 h 606554"/>
              <a:gd name="connsiteX101" fmla="*/ 324081 w 607639"/>
              <a:gd name="connsiteY101" fmla="*/ 161559 h 606554"/>
              <a:gd name="connsiteX102" fmla="*/ 303785 w 607639"/>
              <a:gd name="connsiteY102" fmla="*/ 141391 h 606554"/>
              <a:gd name="connsiteX103" fmla="*/ 303785 w 607639"/>
              <a:gd name="connsiteY103" fmla="*/ 121134 h 606554"/>
              <a:gd name="connsiteX104" fmla="*/ 344289 w 607639"/>
              <a:gd name="connsiteY104" fmla="*/ 161559 h 606554"/>
              <a:gd name="connsiteX105" fmla="*/ 303785 w 607639"/>
              <a:gd name="connsiteY105" fmla="*/ 202073 h 606554"/>
              <a:gd name="connsiteX106" fmla="*/ 263280 w 607639"/>
              <a:gd name="connsiteY106" fmla="*/ 161559 h 606554"/>
              <a:gd name="connsiteX107" fmla="*/ 303785 w 607639"/>
              <a:gd name="connsiteY107" fmla="*/ 121134 h 606554"/>
              <a:gd name="connsiteX108" fmla="*/ 296031 w 607639"/>
              <a:gd name="connsiteY108" fmla="*/ 3466 h 606554"/>
              <a:gd name="connsiteX109" fmla="*/ 311609 w 607639"/>
              <a:gd name="connsiteY109" fmla="*/ 3466 h 606554"/>
              <a:gd name="connsiteX110" fmla="*/ 362258 w 607639"/>
              <a:gd name="connsiteY110" fmla="*/ 64170 h 606554"/>
              <a:gd name="connsiteX111" fmla="*/ 384867 w 607639"/>
              <a:gd name="connsiteY111" fmla="*/ 131273 h 606554"/>
              <a:gd name="connsiteX112" fmla="*/ 384867 w 607639"/>
              <a:gd name="connsiteY112" fmla="*/ 232417 h 606554"/>
              <a:gd name="connsiteX113" fmla="*/ 399733 w 607639"/>
              <a:gd name="connsiteY113" fmla="*/ 265213 h 606554"/>
              <a:gd name="connsiteX114" fmla="*/ 425369 w 607639"/>
              <a:gd name="connsiteY114" fmla="*/ 333560 h 606554"/>
              <a:gd name="connsiteX115" fmla="*/ 425369 w 607639"/>
              <a:gd name="connsiteY115" fmla="*/ 353736 h 606554"/>
              <a:gd name="connsiteX116" fmla="*/ 415221 w 607639"/>
              <a:gd name="connsiteY116" fmla="*/ 363868 h 606554"/>
              <a:gd name="connsiteX117" fmla="*/ 384867 w 607639"/>
              <a:gd name="connsiteY117" fmla="*/ 363868 h 606554"/>
              <a:gd name="connsiteX118" fmla="*/ 384867 w 607639"/>
              <a:gd name="connsiteY118" fmla="*/ 374000 h 606554"/>
              <a:gd name="connsiteX119" fmla="*/ 374720 w 607639"/>
              <a:gd name="connsiteY119" fmla="*/ 384132 h 606554"/>
              <a:gd name="connsiteX120" fmla="*/ 364572 w 607639"/>
              <a:gd name="connsiteY120" fmla="*/ 374000 h 606554"/>
              <a:gd name="connsiteX121" fmla="*/ 364572 w 607639"/>
              <a:gd name="connsiteY121" fmla="*/ 363868 h 606554"/>
              <a:gd name="connsiteX122" fmla="*/ 344277 w 607639"/>
              <a:gd name="connsiteY122" fmla="*/ 363868 h 606554"/>
              <a:gd name="connsiteX123" fmla="*/ 334218 w 607639"/>
              <a:gd name="connsiteY123" fmla="*/ 353736 h 606554"/>
              <a:gd name="connsiteX124" fmla="*/ 344277 w 607639"/>
              <a:gd name="connsiteY124" fmla="*/ 343603 h 606554"/>
              <a:gd name="connsiteX125" fmla="*/ 405074 w 607639"/>
              <a:gd name="connsiteY125" fmla="*/ 343603 h 606554"/>
              <a:gd name="connsiteX126" fmla="*/ 405074 w 607639"/>
              <a:gd name="connsiteY126" fmla="*/ 333560 h 606554"/>
              <a:gd name="connsiteX127" fmla="*/ 384066 w 607639"/>
              <a:gd name="connsiteY127" fmla="*/ 278011 h 606554"/>
              <a:gd name="connsiteX128" fmla="*/ 364572 w 607639"/>
              <a:gd name="connsiteY128" fmla="*/ 232417 h 606554"/>
              <a:gd name="connsiteX129" fmla="*/ 364572 w 607639"/>
              <a:gd name="connsiteY129" fmla="*/ 131273 h 606554"/>
              <a:gd name="connsiteX130" fmla="*/ 347214 w 607639"/>
              <a:gd name="connsiteY130" fmla="*/ 77679 h 606554"/>
              <a:gd name="connsiteX131" fmla="*/ 303775 w 607639"/>
              <a:gd name="connsiteY131" fmla="*/ 25685 h 606554"/>
              <a:gd name="connsiteX132" fmla="*/ 260960 w 607639"/>
              <a:gd name="connsiteY132" fmla="*/ 77057 h 606554"/>
              <a:gd name="connsiteX133" fmla="*/ 243068 w 607639"/>
              <a:gd name="connsiteY133" fmla="*/ 131273 h 606554"/>
              <a:gd name="connsiteX134" fmla="*/ 243068 w 607639"/>
              <a:gd name="connsiteY134" fmla="*/ 232417 h 606554"/>
              <a:gd name="connsiteX135" fmla="*/ 223574 w 607639"/>
              <a:gd name="connsiteY135" fmla="*/ 278011 h 606554"/>
              <a:gd name="connsiteX136" fmla="*/ 202566 w 607639"/>
              <a:gd name="connsiteY136" fmla="*/ 333560 h 606554"/>
              <a:gd name="connsiteX137" fmla="*/ 202566 w 607639"/>
              <a:gd name="connsiteY137" fmla="*/ 343603 h 606554"/>
              <a:gd name="connsiteX138" fmla="*/ 263274 w 607639"/>
              <a:gd name="connsiteY138" fmla="*/ 343603 h 606554"/>
              <a:gd name="connsiteX139" fmla="*/ 273422 w 607639"/>
              <a:gd name="connsiteY139" fmla="*/ 353736 h 606554"/>
              <a:gd name="connsiteX140" fmla="*/ 263274 w 607639"/>
              <a:gd name="connsiteY140" fmla="*/ 363868 h 606554"/>
              <a:gd name="connsiteX141" fmla="*/ 243068 w 607639"/>
              <a:gd name="connsiteY141" fmla="*/ 363868 h 606554"/>
              <a:gd name="connsiteX142" fmla="*/ 243068 w 607639"/>
              <a:gd name="connsiteY142" fmla="*/ 374000 h 606554"/>
              <a:gd name="connsiteX143" fmla="*/ 232920 w 607639"/>
              <a:gd name="connsiteY143" fmla="*/ 384132 h 606554"/>
              <a:gd name="connsiteX144" fmla="*/ 222772 w 607639"/>
              <a:gd name="connsiteY144" fmla="*/ 374000 h 606554"/>
              <a:gd name="connsiteX145" fmla="*/ 222772 w 607639"/>
              <a:gd name="connsiteY145" fmla="*/ 363868 h 606554"/>
              <a:gd name="connsiteX146" fmla="*/ 192419 w 607639"/>
              <a:gd name="connsiteY146" fmla="*/ 363868 h 606554"/>
              <a:gd name="connsiteX147" fmla="*/ 182271 w 607639"/>
              <a:gd name="connsiteY147" fmla="*/ 353736 h 606554"/>
              <a:gd name="connsiteX148" fmla="*/ 182271 w 607639"/>
              <a:gd name="connsiteY148" fmla="*/ 333560 h 606554"/>
              <a:gd name="connsiteX149" fmla="*/ 207907 w 607639"/>
              <a:gd name="connsiteY149" fmla="*/ 265213 h 606554"/>
              <a:gd name="connsiteX150" fmla="*/ 222772 w 607639"/>
              <a:gd name="connsiteY150" fmla="*/ 232417 h 606554"/>
              <a:gd name="connsiteX151" fmla="*/ 222772 w 607639"/>
              <a:gd name="connsiteY151" fmla="*/ 131273 h 606554"/>
              <a:gd name="connsiteX152" fmla="*/ 246005 w 607639"/>
              <a:gd name="connsiteY152" fmla="*/ 63459 h 60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7639" h="606554">
                <a:moveTo>
                  <a:pt x="222795" y="404243"/>
                </a:moveTo>
                <a:cubicBezTo>
                  <a:pt x="236857" y="404243"/>
                  <a:pt x="249317" y="411359"/>
                  <a:pt x="256526" y="422388"/>
                </a:cubicBezTo>
                <a:cubicBezTo>
                  <a:pt x="269342" y="410825"/>
                  <a:pt x="286074" y="404243"/>
                  <a:pt x="303785" y="404243"/>
                </a:cubicBezTo>
                <a:cubicBezTo>
                  <a:pt x="321584" y="404243"/>
                  <a:pt x="338316" y="410825"/>
                  <a:pt x="351132" y="422388"/>
                </a:cubicBezTo>
                <a:cubicBezTo>
                  <a:pt x="358341" y="411359"/>
                  <a:pt x="370712" y="404243"/>
                  <a:pt x="384863" y="404243"/>
                </a:cubicBezTo>
                <a:cubicBezTo>
                  <a:pt x="400349" y="404243"/>
                  <a:pt x="414233" y="413315"/>
                  <a:pt x="420908" y="426657"/>
                </a:cubicBezTo>
                <a:cubicBezTo>
                  <a:pt x="425625" y="425234"/>
                  <a:pt x="430519" y="424522"/>
                  <a:pt x="435414" y="424522"/>
                </a:cubicBezTo>
                <a:cubicBezTo>
                  <a:pt x="463360" y="424522"/>
                  <a:pt x="486055" y="447203"/>
                  <a:pt x="486055" y="475131"/>
                </a:cubicBezTo>
                <a:cubicBezTo>
                  <a:pt x="486055" y="480646"/>
                  <a:pt x="481516" y="485182"/>
                  <a:pt x="475998" y="485182"/>
                </a:cubicBezTo>
                <a:cubicBezTo>
                  <a:pt x="470391" y="485182"/>
                  <a:pt x="465852" y="480646"/>
                  <a:pt x="465852" y="475131"/>
                </a:cubicBezTo>
                <a:cubicBezTo>
                  <a:pt x="465852" y="458321"/>
                  <a:pt x="452235" y="444713"/>
                  <a:pt x="435414" y="444713"/>
                </a:cubicBezTo>
                <a:cubicBezTo>
                  <a:pt x="430074" y="444713"/>
                  <a:pt x="424913" y="446225"/>
                  <a:pt x="419929" y="449160"/>
                </a:cubicBezTo>
                <a:cubicBezTo>
                  <a:pt x="417081" y="450939"/>
                  <a:pt x="413432" y="451028"/>
                  <a:pt x="410406" y="449604"/>
                </a:cubicBezTo>
                <a:cubicBezTo>
                  <a:pt x="407380" y="448092"/>
                  <a:pt x="405244" y="445246"/>
                  <a:pt x="404710" y="441866"/>
                </a:cubicBezTo>
                <a:cubicBezTo>
                  <a:pt x="403375" y="431994"/>
                  <a:pt x="394742" y="424522"/>
                  <a:pt x="384863" y="424522"/>
                </a:cubicBezTo>
                <a:cubicBezTo>
                  <a:pt x="374361" y="424522"/>
                  <a:pt x="365728" y="432438"/>
                  <a:pt x="364838" y="442934"/>
                </a:cubicBezTo>
                <a:cubicBezTo>
                  <a:pt x="364393" y="447203"/>
                  <a:pt x="361367" y="450761"/>
                  <a:pt x="357184" y="451828"/>
                </a:cubicBezTo>
                <a:cubicBezTo>
                  <a:pt x="353001" y="452895"/>
                  <a:pt x="348551" y="451116"/>
                  <a:pt x="346237" y="447559"/>
                </a:cubicBezTo>
                <a:cubicBezTo>
                  <a:pt x="336803" y="433061"/>
                  <a:pt x="320961" y="424522"/>
                  <a:pt x="303785" y="424522"/>
                </a:cubicBezTo>
                <a:cubicBezTo>
                  <a:pt x="286697" y="424522"/>
                  <a:pt x="270766" y="433061"/>
                  <a:pt x="261421" y="447559"/>
                </a:cubicBezTo>
                <a:cubicBezTo>
                  <a:pt x="259018" y="451116"/>
                  <a:pt x="254657" y="452895"/>
                  <a:pt x="250474" y="451828"/>
                </a:cubicBezTo>
                <a:cubicBezTo>
                  <a:pt x="246291" y="450761"/>
                  <a:pt x="243176" y="447203"/>
                  <a:pt x="242820" y="442934"/>
                </a:cubicBezTo>
                <a:cubicBezTo>
                  <a:pt x="241841" y="432438"/>
                  <a:pt x="233297" y="424522"/>
                  <a:pt x="222795" y="424522"/>
                </a:cubicBezTo>
                <a:cubicBezTo>
                  <a:pt x="212827" y="424522"/>
                  <a:pt x="204283" y="431994"/>
                  <a:pt x="202859" y="441866"/>
                </a:cubicBezTo>
                <a:cubicBezTo>
                  <a:pt x="202414" y="445246"/>
                  <a:pt x="200278" y="448092"/>
                  <a:pt x="197252" y="449604"/>
                </a:cubicBezTo>
                <a:cubicBezTo>
                  <a:pt x="194137" y="451028"/>
                  <a:pt x="190577" y="450939"/>
                  <a:pt x="187640" y="449160"/>
                </a:cubicBezTo>
                <a:cubicBezTo>
                  <a:pt x="182745" y="446225"/>
                  <a:pt x="177584" y="444713"/>
                  <a:pt x="172155" y="444713"/>
                </a:cubicBezTo>
                <a:cubicBezTo>
                  <a:pt x="155423" y="444713"/>
                  <a:pt x="141806" y="458321"/>
                  <a:pt x="141806" y="475131"/>
                </a:cubicBezTo>
                <a:cubicBezTo>
                  <a:pt x="141806" y="480646"/>
                  <a:pt x="137267" y="485182"/>
                  <a:pt x="131660" y="485182"/>
                </a:cubicBezTo>
                <a:cubicBezTo>
                  <a:pt x="126053" y="485182"/>
                  <a:pt x="121514" y="480646"/>
                  <a:pt x="121514" y="475131"/>
                </a:cubicBezTo>
                <a:cubicBezTo>
                  <a:pt x="121514" y="447203"/>
                  <a:pt x="144298" y="424522"/>
                  <a:pt x="172155" y="424522"/>
                </a:cubicBezTo>
                <a:cubicBezTo>
                  <a:pt x="177050" y="424522"/>
                  <a:pt x="181945" y="425234"/>
                  <a:pt x="186661" y="426657"/>
                </a:cubicBezTo>
                <a:cubicBezTo>
                  <a:pt x="193425" y="413315"/>
                  <a:pt x="207220" y="404243"/>
                  <a:pt x="222795" y="404243"/>
                </a:cubicBezTo>
                <a:close/>
                <a:moveTo>
                  <a:pt x="303774" y="282941"/>
                </a:moveTo>
                <a:cubicBezTo>
                  <a:pt x="309395" y="282941"/>
                  <a:pt x="313945" y="287476"/>
                  <a:pt x="313945" y="293078"/>
                </a:cubicBezTo>
                <a:lnTo>
                  <a:pt x="313945" y="373995"/>
                </a:lnTo>
                <a:cubicBezTo>
                  <a:pt x="313945" y="379597"/>
                  <a:pt x="309395" y="384132"/>
                  <a:pt x="303774" y="384132"/>
                </a:cubicBezTo>
                <a:cubicBezTo>
                  <a:pt x="298243" y="384132"/>
                  <a:pt x="293693" y="379597"/>
                  <a:pt x="293693" y="373995"/>
                </a:cubicBezTo>
                <a:lnTo>
                  <a:pt x="293693" y="293078"/>
                </a:lnTo>
                <a:cubicBezTo>
                  <a:pt x="293693" y="287476"/>
                  <a:pt x="298243" y="282941"/>
                  <a:pt x="303774" y="282941"/>
                </a:cubicBezTo>
                <a:close/>
                <a:moveTo>
                  <a:pt x="101254" y="202073"/>
                </a:moveTo>
                <a:lnTo>
                  <a:pt x="192395" y="202073"/>
                </a:lnTo>
                <a:cubicBezTo>
                  <a:pt x="198002" y="202073"/>
                  <a:pt x="202542" y="206606"/>
                  <a:pt x="202542" y="212117"/>
                </a:cubicBezTo>
                <a:cubicBezTo>
                  <a:pt x="202542" y="217717"/>
                  <a:pt x="198002" y="222250"/>
                  <a:pt x="192395" y="222250"/>
                </a:cubicBezTo>
                <a:lnTo>
                  <a:pt x="101254" y="222250"/>
                </a:lnTo>
                <a:cubicBezTo>
                  <a:pt x="94757" y="222250"/>
                  <a:pt x="82207" y="229361"/>
                  <a:pt x="80961" y="232916"/>
                </a:cubicBezTo>
                <a:lnTo>
                  <a:pt x="80961" y="505439"/>
                </a:lnTo>
                <a:lnTo>
                  <a:pt x="526519" y="505439"/>
                </a:lnTo>
                <a:lnTo>
                  <a:pt x="526519" y="232383"/>
                </a:lnTo>
                <a:cubicBezTo>
                  <a:pt x="526519" y="227850"/>
                  <a:pt x="521001" y="222250"/>
                  <a:pt x="516461" y="222250"/>
                </a:cubicBezTo>
                <a:lnTo>
                  <a:pt x="415174" y="222250"/>
                </a:lnTo>
                <a:cubicBezTo>
                  <a:pt x="409567" y="222250"/>
                  <a:pt x="405027" y="217717"/>
                  <a:pt x="405027" y="212117"/>
                </a:cubicBezTo>
                <a:cubicBezTo>
                  <a:pt x="405027" y="206606"/>
                  <a:pt x="409567" y="202073"/>
                  <a:pt x="415174" y="202073"/>
                </a:cubicBezTo>
                <a:lnTo>
                  <a:pt x="516461" y="202073"/>
                </a:lnTo>
                <a:cubicBezTo>
                  <a:pt x="532037" y="202073"/>
                  <a:pt x="546812" y="216739"/>
                  <a:pt x="546812" y="232383"/>
                </a:cubicBezTo>
                <a:lnTo>
                  <a:pt x="546812" y="515572"/>
                </a:lnTo>
                <a:cubicBezTo>
                  <a:pt x="546812" y="521083"/>
                  <a:pt x="542273" y="525616"/>
                  <a:pt x="536665" y="525616"/>
                </a:cubicBezTo>
                <a:lnTo>
                  <a:pt x="70815" y="525616"/>
                </a:lnTo>
                <a:cubicBezTo>
                  <a:pt x="65296" y="525616"/>
                  <a:pt x="60757" y="521083"/>
                  <a:pt x="60757" y="515572"/>
                </a:cubicBezTo>
                <a:lnTo>
                  <a:pt x="60757" y="232383"/>
                </a:lnTo>
                <a:cubicBezTo>
                  <a:pt x="60757" y="214873"/>
                  <a:pt x="87369" y="202073"/>
                  <a:pt x="101254" y="202073"/>
                </a:cubicBezTo>
                <a:close/>
                <a:moveTo>
                  <a:pt x="415210" y="161568"/>
                </a:moveTo>
                <a:lnTo>
                  <a:pt x="536702" y="161568"/>
                </a:lnTo>
                <a:cubicBezTo>
                  <a:pt x="562780" y="161568"/>
                  <a:pt x="587346" y="186186"/>
                  <a:pt x="587346" y="212137"/>
                </a:cubicBezTo>
                <a:lnTo>
                  <a:pt x="587346" y="505417"/>
                </a:lnTo>
                <a:lnTo>
                  <a:pt x="597492" y="505417"/>
                </a:lnTo>
                <a:cubicBezTo>
                  <a:pt x="603100" y="505417"/>
                  <a:pt x="607639" y="509949"/>
                  <a:pt x="607639" y="515548"/>
                </a:cubicBezTo>
                <a:lnTo>
                  <a:pt x="607639" y="555985"/>
                </a:lnTo>
                <a:cubicBezTo>
                  <a:pt x="607639" y="581936"/>
                  <a:pt x="582985" y="606554"/>
                  <a:pt x="556995" y="606554"/>
                </a:cubicBezTo>
                <a:lnTo>
                  <a:pt x="50644" y="606554"/>
                </a:lnTo>
                <a:cubicBezTo>
                  <a:pt x="24565" y="606554"/>
                  <a:pt x="0" y="581936"/>
                  <a:pt x="0" y="555985"/>
                </a:cubicBezTo>
                <a:cubicBezTo>
                  <a:pt x="0" y="550386"/>
                  <a:pt x="4539" y="545854"/>
                  <a:pt x="10147" y="545854"/>
                </a:cubicBezTo>
                <a:lnTo>
                  <a:pt x="556995" y="545854"/>
                </a:lnTo>
                <a:cubicBezTo>
                  <a:pt x="562602" y="545854"/>
                  <a:pt x="567142" y="550386"/>
                  <a:pt x="567142" y="555985"/>
                </a:cubicBezTo>
                <a:cubicBezTo>
                  <a:pt x="567142" y="561584"/>
                  <a:pt x="562602" y="566117"/>
                  <a:pt x="556995" y="566117"/>
                </a:cubicBezTo>
                <a:lnTo>
                  <a:pt x="22518" y="566117"/>
                </a:lnTo>
                <a:cubicBezTo>
                  <a:pt x="27414" y="577048"/>
                  <a:pt x="39251" y="586291"/>
                  <a:pt x="50644" y="586291"/>
                </a:cubicBezTo>
                <a:lnTo>
                  <a:pt x="556995" y="586291"/>
                </a:lnTo>
                <a:cubicBezTo>
                  <a:pt x="571770" y="586291"/>
                  <a:pt x="587346" y="570738"/>
                  <a:pt x="587346" y="555985"/>
                </a:cubicBezTo>
                <a:lnTo>
                  <a:pt x="587346" y="525591"/>
                </a:lnTo>
                <a:lnTo>
                  <a:pt x="577199" y="525591"/>
                </a:lnTo>
                <a:cubicBezTo>
                  <a:pt x="571681" y="525591"/>
                  <a:pt x="567142" y="521058"/>
                  <a:pt x="567142" y="515548"/>
                </a:cubicBezTo>
                <a:lnTo>
                  <a:pt x="567142" y="212137"/>
                </a:lnTo>
                <a:cubicBezTo>
                  <a:pt x="567142" y="197384"/>
                  <a:pt x="551477" y="181831"/>
                  <a:pt x="536702" y="181831"/>
                </a:cubicBezTo>
                <a:lnTo>
                  <a:pt x="415210" y="181831"/>
                </a:lnTo>
                <a:cubicBezTo>
                  <a:pt x="409602" y="181831"/>
                  <a:pt x="405063" y="177298"/>
                  <a:pt x="405063" y="171699"/>
                </a:cubicBezTo>
                <a:cubicBezTo>
                  <a:pt x="405063" y="166101"/>
                  <a:pt x="409602" y="161568"/>
                  <a:pt x="415210" y="161568"/>
                </a:cubicBezTo>
                <a:close/>
                <a:moveTo>
                  <a:pt x="70875" y="161568"/>
                </a:moveTo>
                <a:lnTo>
                  <a:pt x="192448" y="161568"/>
                </a:lnTo>
                <a:cubicBezTo>
                  <a:pt x="198055" y="161568"/>
                  <a:pt x="202594" y="166101"/>
                  <a:pt x="202594" y="171700"/>
                </a:cubicBezTo>
                <a:cubicBezTo>
                  <a:pt x="202594" y="177300"/>
                  <a:pt x="198055" y="181832"/>
                  <a:pt x="192448" y="181832"/>
                </a:cubicBezTo>
                <a:lnTo>
                  <a:pt x="70875" y="181832"/>
                </a:lnTo>
                <a:cubicBezTo>
                  <a:pt x="56190" y="181832"/>
                  <a:pt x="40526" y="197386"/>
                  <a:pt x="40526" y="212140"/>
                </a:cubicBezTo>
                <a:lnTo>
                  <a:pt x="40526" y="515572"/>
                </a:lnTo>
                <a:cubicBezTo>
                  <a:pt x="40526" y="521082"/>
                  <a:pt x="35987" y="525615"/>
                  <a:pt x="30380" y="525615"/>
                </a:cubicBezTo>
                <a:cubicBezTo>
                  <a:pt x="24862" y="525615"/>
                  <a:pt x="20323" y="521082"/>
                  <a:pt x="20323" y="515572"/>
                </a:cubicBezTo>
                <a:lnTo>
                  <a:pt x="20323" y="212140"/>
                </a:lnTo>
                <a:cubicBezTo>
                  <a:pt x="20323" y="186187"/>
                  <a:pt x="44887" y="161568"/>
                  <a:pt x="70875" y="161568"/>
                </a:cubicBezTo>
                <a:close/>
                <a:moveTo>
                  <a:pt x="303785" y="141391"/>
                </a:moveTo>
                <a:cubicBezTo>
                  <a:pt x="292657" y="141391"/>
                  <a:pt x="283577" y="150453"/>
                  <a:pt x="283577" y="161559"/>
                </a:cubicBezTo>
                <a:cubicBezTo>
                  <a:pt x="283577" y="172754"/>
                  <a:pt x="292657" y="181816"/>
                  <a:pt x="303785" y="181816"/>
                </a:cubicBezTo>
                <a:cubicBezTo>
                  <a:pt x="315001" y="181816"/>
                  <a:pt x="324081" y="172754"/>
                  <a:pt x="324081" y="161559"/>
                </a:cubicBezTo>
                <a:cubicBezTo>
                  <a:pt x="324081" y="150453"/>
                  <a:pt x="315001" y="141391"/>
                  <a:pt x="303785" y="141391"/>
                </a:cubicBezTo>
                <a:close/>
                <a:moveTo>
                  <a:pt x="303785" y="121134"/>
                </a:moveTo>
                <a:cubicBezTo>
                  <a:pt x="326129" y="121134"/>
                  <a:pt x="344289" y="139259"/>
                  <a:pt x="344289" y="161559"/>
                </a:cubicBezTo>
                <a:cubicBezTo>
                  <a:pt x="344289" y="183860"/>
                  <a:pt x="326129" y="202073"/>
                  <a:pt x="303785" y="202073"/>
                </a:cubicBezTo>
                <a:cubicBezTo>
                  <a:pt x="281440" y="202073"/>
                  <a:pt x="263280" y="183860"/>
                  <a:pt x="263280" y="161559"/>
                </a:cubicBezTo>
                <a:cubicBezTo>
                  <a:pt x="263280" y="139259"/>
                  <a:pt x="281440" y="121134"/>
                  <a:pt x="303785" y="121134"/>
                </a:cubicBezTo>
                <a:close/>
                <a:moveTo>
                  <a:pt x="296031" y="3466"/>
                </a:moveTo>
                <a:cubicBezTo>
                  <a:pt x="299859" y="-1156"/>
                  <a:pt x="307692" y="-1156"/>
                  <a:pt x="311609" y="3466"/>
                </a:cubicBezTo>
                <a:lnTo>
                  <a:pt x="362258" y="64170"/>
                </a:lnTo>
                <a:cubicBezTo>
                  <a:pt x="362525" y="64436"/>
                  <a:pt x="384867" y="87189"/>
                  <a:pt x="384867" y="131273"/>
                </a:cubicBezTo>
                <a:lnTo>
                  <a:pt x="384867" y="232417"/>
                </a:lnTo>
                <a:cubicBezTo>
                  <a:pt x="384867" y="246993"/>
                  <a:pt x="391099" y="254636"/>
                  <a:pt x="399733" y="265213"/>
                </a:cubicBezTo>
                <a:cubicBezTo>
                  <a:pt x="411127" y="279167"/>
                  <a:pt x="425369" y="296498"/>
                  <a:pt x="425369" y="333560"/>
                </a:cubicBezTo>
                <a:lnTo>
                  <a:pt x="425369" y="353736"/>
                </a:lnTo>
                <a:cubicBezTo>
                  <a:pt x="425369" y="359335"/>
                  <a:pt x="420829" y="363868"/>
                  <a:pt x="415221" y="363868"/>
                </a:cubicBezTo>
                <a:lnTo>
                  <a:pt x="384867" y="363868"/>
                </a:lnTo>
                <a:lnTo>
                  <a:pt x="384867" y="374000"/>
                </a:lnTo>
                <a:cubicBezTo>
                  <a:pt x="384867" y="379599"/>
                  <a:pt x="380328" y="384132"/>
                  <a:pt x="374720" y="384132"/>
                </a:cubicBezTo>
                <a:cubicBezTo>
                  <a:pt x="369112" y="384132"/>
                  <a:pt x="364572" y="379599"/>
                  <a:pt x="364572" y="374000"/>
                </a:cubicBezTo>
                <a:lnTo>
                  <a:pt x="364572" y="363868"/>
                </a:lnTo>
                <a:lnTo>
                  <a:pt x="344277" y="363868"/>
                </a:lnTo>
                <a:cubicBezTo>
                  <a:pt x="338758" y="363868"/>
                  <a:pt x="334218" y="359335"/>
                  <a:pt x="334218" y="353736"/>
                </a:cubicBezTo>
                <a:cubicBezTo>
                  <a:pt x="334218" y="348136"/>
                  <a:pt x="338758" y="343603"/>
                  <a:pt x="344277" y="343603"/>
                </a:cubicBezTo>
                <a:lnTo>
                  <a:pt x="405074" y="343603"/>
                </a:lnTo>
                <a:lnTo>
                  <a:pt x="405074" y="333560"/>
                </a:lnTo>
                <a:cubicBezTo>
                  <a:pt x="405074" y="303697"/>
                  <a:pt x="394837" y="291254"/>
                  <a:pt x="384066" y="278011"/>
                </a:cubicBezTo>
                <a:cubicBezTo>
                  <a:pt x="374453" y="266279"/>
                  <a:pt x="364572" y="254192"/>
                  <a:pt x="364572" y="232417"/>
                </a:cubicBezTo>
                <a:lnTo>
                  <a:pt x="364572" y="131273"/>
                </a:lnTo>
                <a:cubicBezTo>
                  <a:pt x="364572" y="95988"/>
                  <a:pt x="347927" y="78390"/>
                  <a:pt x="347214" y="77679"/>
                </a:cubicBezTo>
                <a:lnTo>
                  <a:pt x="303775" y="25685"/>
                </a:lnTo>
                <a:lnTo>
                  <a:pt x="260960" y="77057"/>
                </a:lnTo>
                <a:cubicBezTo>
                  <a:pt x="259713" y="78479"/>
                  <a:pt x="243068" y="95988"/>
                  <a:pt x="243068" y="131273"/>
                </a:cubicBezTo>
                <a:lnTo>
                  <a:pt x="243068" y="232417"/>
                </a:lnTo>
                <a:cubicBezTo>
                  <a:pt x="243068" y="254192"/>
                  <a:pt x="233098" y="266279"/>
                  <a:pt x="223574" y="278011"/>
                </a:cubicBezTo>
                <a:cubicBezTo>
                  <a:pt x="212714" y="291254"/>
                  <a:pt x="202566" y="303697"/>
                  <a:pt x="202566" y="333560"/>
                </a:cubicBezTo>
                <a:lnTo>
                  <a:pt x="202566" y="343603"/>
                </a:lnTo>
                <a:lnTo>
                  <a:pt x="263274" y="343603"/>
                </a:lnTo>
                <a:cubicBezTo>
                  <a:pt x="268882" y="343603"/>
                  <a:pt x="273422" y="348136"/>
                  <a:pt x="273422" y="353736"/>
                </a:cubicBezTo>
                <a:cubicBezTo>
                  <a:pt x="273422" y="359335"/>
                  <a:pt x="268882" y="363868"/>
                  <a:pt x="263274" y="363868"/>
                </a:cubicBezTo>
                <a:lnTo>
                  <a:pt x="243068" y="363868"/>
                </a:lnTo>
                <a:lnTo>
                  <a:pt x="243068" y="374000"/>
                </a:lnTo>
                <a:cubicBezTo>
                  <a:pt x="243068" y="379599"/>
                  <a:pt x="238528" y="384132"/>
                  <a:pt x="232920" y="384132"/>
                </a:cubicBezTo>
                <a:cubicBezTo>
                  <a:pt x="227312" y="384132"/>
                  <a:pt x="222772" y="379599"/>
                  <a:pt x="222772" y="374000"/>
                </a:cubicBezTo>
                <a:lnTo>
                  <a:pt x="222772" y="363868"/>
                </a:lnTo>
                <a:lnTo>
                  <a:pt x="192419" y="363868"/>
                </a:lnTo>
                <a:cubicBezTo>
                  <a:pt x="186811" y="363868"/>
                  <a:pt x="182271" y="359335"/>
                  <a:pt x="182271" y="353736"/>
                </a:cubicBezTo>
                <a:lnTo>
                  <a:pt x="182271" y="333560"/>
                </a:lnTo>
                <a:cubicBezTo>
                  <a:pt x="182271" y="296498"/>
                  <a:pt x="196424" y="279167"/>
                  <a:pt x="207907" y="265213"/>
                </a:cubicBezTo>
                <a:cubicBezTo>
                  <a:pt x="216541" y="254636"/>
                  <a:pt x="222772" y="246993"/>
                  <a:pt x="222772" y="232417"/>
                </a:cubicBezTo>
                <a:lnTo>
                  <a:pt x="222772" y="131273"/>
                </a:lnTo>
                <a:cubicBezTo>
                  <a:pt x="222772" y="87189"/>
                  <a:pt x="245026" y="64436"/>
                  <a:pt x="246005" y="63459"/>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57" name="直接连接符 56"/>
          <p:cNvCxnSpPr/>
          <p:nvPr/>
        </p:nvCxnSpPr>
        <p:spPr>
          <a:xfrm>
            <a:off x="4164041"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00357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1" name="ïśľíḋê"/>
          <p:cNvSpPr/>
          <p:nvPr/>
        </p:nvSpPr>
        <p:spPr bwMode="auto">
          <a:xfrm>
            <a:off x="11376069" y="929285"/>
            <a:ext cx="398905" cy="397483"/>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5765" h="605987">
                <a:moveTo>
                  <a:pt x="25902" y="478577"/>
                </a:moveTo>
                <a:cubicBezTo>
                  <a:pt x="32673" y="476076"/>
                  <a:pt x="39351" y="479410"/>
                  <a:pt x="41763" y="486264"/>
                </a:cubicBezTo>
                <a:cubicBezTo>
                  <a:pt x="44174" y="492933"/>
                  <a:pt x="40742" y="499694"/>
                  <a:pt x="34528" y="502009"/>
                </a:cubicBezTo>
                <a:lnTo>
                  <a:pt x="16256" y="508214"/>
                </a:lnTo>
                <a:cubicBezTo>
                  <a:pt x="8373" y="510159"/>
                  <a:pt x="2900" y="505899"/>
                  <a:pt x="953" y="500527"/>
                </a:cubicBezTo>
                <a:cubicBezTo>
                  <a:pt x="-1552" y="493859"/>
                  <a:pt x="1880" y="487098"/>
                  <a:pt x="8094" y="484782"/>
                </a:cubicBezTo>
                <a:close/>
                <a:moveTo>
                  <a:pt x="122099" y="443964"/>
                </a:moveTo>
                <a:cubicBezTo>
                  <a:pt x="128879" y="441923"/>
                  <a:pt x="135567" y="445447"/>
                  <a:pt x="137424" y="451569"/>
                </a:cubicBezTo>
                <a:cubicBezTo>
                  <a:pt x="139932" y="458246"/>
                  <a:pt x="136496" y="465109"/>
                  <a:pt x="130273" y="467428"/>
                </a:cubicBezTo>
                <a:lnTo>
                  <a:pt x="111975" y="473641"/>
                </a:lnTo>
                <a:cubicBezTo>
                  <a:pt x="108353" y="474940"/>
                  <a:pt x="105752" y="474105"/>
                  <a:pt x="104730" y="473641"/>
                </a:cubicBezTo>
                <a:cubicBezTo>
                  <a:pt x="103244" y="475589"/>
                  <a:pt x="101294" y="476980"/>
                  <a:pt x="98972" y="477907"/>
                </a:cubicBezTo>
                <a:lnTo>
                  <a:pt x="59961" y="491912"/>
                </a:lnTo>
                <a:cubicBezTo>
                  <a:pt x="51788" y="493859"/>
                  <a:pt x="46587" y="489593"/>
                  <a:pt x="44543" y="484214"/>
                </a:cubicBezTo>
                <a:cubicBezTo>
                  <a:pt x="42128" y="477537"/>
                  <a:pt x="45565" y="470766"/>
                  <a:pt x="51788" y="468448"/>
                </a:cubicBezTo>
                <a:lnTo>
                  <a:pt x="90798" y="454444"/>
                </a:lnTo>
                <a:cubicBezTo>
                  <a:pt x="93120" y="453980"/>
                  <a:pt x="95628" y="453980"/>
                  <a:pt x="97950" y="454444"/>
                </a:cubicBezTo>
                <a:cubicBezTo>
                  <a:pt x="99436" y="452496"/>
                  <a:pt x="101387" y="451105"/>
                  <a:pt x="103801" y="450085"/>
                </a:cubicBezTo>
                <a:close/>
                <a:moveTo>
                  <a:pt x="107245" y="400218"/>
                </a:moveTo>
                <a:lnTo>
                  <a:pt x="126470" y="400218"/>
                </a:lnTo>
                <a:cubicBezTo>
                  <a:pt x="133249" y="400218"/>
                  <a:pt x="138450" y="405497"/>
                  <a:pt x="138450" y="412627"/>
                </a:cubicBezTo>
                <a:cubicBezTo>
                  <a:pt x="138450" y="419850"/>
                  <a:pt x="133156" y="425128"/>
                  <a:pt x="126470" y="425128"/>
                </a:cubicBezTo>
                <a:lnTo>
                  <a:pt x="107245" y="425128"/>
                </a:lnTo>
                <a:cubicBezTo>
                  <a:pt x="100558" y="425128"/>
                  <a:pt x="95264" y="419294"/>
                  <a:pt x="95264" y="412627"/>
                </a:cubicBezTo>
                <a:cubicBezTo>
                  <a:pt x="95264" y="405497"/>
                  <a:pt x="100558" y="400218"/>
                  <a:pt x="107245" y="400218"/>
                </a:cubicBezTo>
                <a:close/>
                <a:moveTo>
                  <a:pt x="12071" y="399866"/>
                </a:moveTo>
                <a:lnTo>
                  <a:pt x="31384" y="399866"/>
                </a:lnTo>
                <a:cubicBezTo>
                  <a:pt x="33706" y="399866"/>
                  <a:pt x="35563" y="400792"/>
                  <a:pt x="37513" y="401811"/>
                </a:cubicBezTo>
                <a:cubicBezTo>
                  <a:pt x="39370" y="400329"/>
                  <a:pt x="41412" y="399866"/>
                  <a:pt x="43734" y="399866"/>
                </a:cubicBezTo>
                <a:lnTo>
                  <a:pt x="81710" y="399866"/>
                </a:lnTo>
                <a:cubicBezTo>
                  <a:pt x="88396" y="399866"/>
                  <a:pt x="93781" y="405608"/>
                  <a:pt x="93781" y="412275"/>
                </a:cubicBezTo>
                <a:cubicBezTo>
                  <a:pt x="93781" y="418942"/>
                  <a:pt x="88396" y="424776"/>
                  <a:pt x="81618" y="424776"/>
                </a:cubicBezTo>
                <a:lnTo>
                  <a:pt x="43641" y="424776"/>
                </a:lnTo>
                <a:cubicBezTo>
                  <a:pt x="41227" y="424776"/>
                  <a:pt x="39370" y="423758"/>
                  <a:pt x="37420" y="422832"/>
                </a:cubicBezTo>
                <a:cubicBezTo>
                  <a:pt x="35563" y="424313"/>
                  <a:pt x="33613" y="424776"/>
                  <a:pt x="31199" y="424776"/>
                </a:cubicBezTo>
                <a:lnTo>
                  <a:pt x="12071" y="424776"/>
                </a:lnTo>
                <a:cubicBezTo>
                  <a:pt x="5386" y="424776"/>
                  <a:pt x="0" y="418942"/>
                  <a:pt x="0" y="412275"/>
                </a:cubicBezTo>
                <a:cubicBezTo>
                  <a:pt x="0" y="405145"/>
                  <a:pt x="5386" y="399866"/>
                  <a:pt x="12071" y="399866"/>
                </a:cubicBezTo>
                <a:close/>
                <a:moveTo>
                  <a:pt x="59961" y="331976"/>
                </a:moveTo>
                <a:lnTo>
                  <a:pt x="98972" y="345894"/>
                </a:lnTo>
                <a:cubicBezTo>
                  <a:pt x="101294" y="346914"/>
                  <a:pt x="103244" y="348306"/>
                  <a:pt x="104730" y="350254"/>
                </a:cubicBezTo>
                <a:cubicBezTo>
                  <a:pt x="105752" y="349790"/>
                  <a:pt x="108353" y="348863"/>
                  <a:pt x="111975" y="350254"/>
                </a:cubicBezTo>
                <a:lnTo>
                  <a:pt x="130273" y="356471"/>
                </a:lnTo>
                <a:cubicBezTo>
                  <a:pt x="136496" y="358790"/>
                  <a:pt x="139932" y="365564"/>
                  <a:pt x="137424" y="372244"/>
                </a:cubicBezTo>
                <a:cubicBezTo>
                  <a:pt x="135567" y="378461"/>
                  <a:pt x="128879" y="381801"/>
                  <a:pt x="122099" y="379945"/>
                </a:cubicBezTo>
                <a:lnTo>
                  <a:pt x="103801" y="373729"/>
                </a:lnTo>
                <a:cubicBezTo>
                  <a:pt x="101387" y="372801"/>
                  <a:pt x="99436" y="371409"/>
                  <a:pt x="97950" y="369461"/>
                </a:cubicBezTo>
                <a:cubicBezTo>
                  <a:pt x="95628" y="369924"/>
                  <a:pt x="93120" y="369924"/>
                  <a:pt x="90798" y="369461"/>
                </a:cubicBezTo>
                <a:lnTo>
                  <a:pt x="51788" y="355450"/>
                </a:lnTo>
                <a:cubicBezTo>
                  <a:pt x="45565" y="353131"/>
                  <a:pt x="42128" y="346265"/>
                  <a:pt x="44543" y="339584"/>
                </a:cubicBezTo>
                <a:cubicBezTo>
                  <a:pt x="46587" y="334296"/>
                  <a:pt x="51788" y="329935"/>
                  <a:pt x="59961" y="331976"/>
                </a:cubicBezTo>
                <a:close/>
                <a:moveTo>
                  <a:pt x="16346" y="316499"/>
                </a:moveTo>
                <a:lnTo>
                  <a:pt x="34730" y="322713"/>
                </a:lnTo>
                <a:cubicBezTo>
                  <a:pt x="40858" y="325031"/>
                  <a:pt x="44386" y="331801"/>
                  <a:pt x="41879" y="338478"/>
                </a:cubicBezTo>
                <a:cubicBezTo>
                  <a:pt x="39372" y="345155"/>
                  <a:pt x="32687" y="348494"/>
                  <a:pt x="25909" y="346175"/>
                </a:cubicBezTo>
                <a:lnTo>
                  <a:pt x="8175" y="339962"/>
                </a:lnTo>
                <a:cubicBezTo>
                  <a:pt x="2047" y="337643"/>
                  <a:pt x="-1481" y="330874"/>
                  <a:pt x="1026" y="324196"/>
                </a:cubicBezTo>
                <a:cubicBezTo>
                  <a:pt x="2976" y="318818"/>
                  <a:pt x="8454" y="314552"/>
                  <a:pt x="16346" y="316499"/>
                </a:cubicBezTo>
                <a:close/>
                <a:moveTo>
                  <a:pt x="417160" y="8"/>
                </a:moveTo>
                <a:cubicBezTo>
                  <a:pt x="438630" y="-166"/>
                  <a:pt x="459938" y="2384"/>
                  <a:pt x="480364" y="9382"/>
                </a:cubicBezTo>
                <a:cubicBezTo>
                  <a:pt x="544334" y="30981"/>
                  <a:pt x="591870" y="96240"/>
                  <a:pt x="603012" y="168267"/>
                </a:cubicBezTo>
                <a:cubicBezTo>
                  <a:pt x="614060" y="239829"/>
                  <a:pt x="591035" y="315286"/>
                  <a:pt x="548698" y="372110"/>
                </a:cubicBezTo>
                <a:cubicBezTo>
                  <a:pt x="538020" y="385551"/>
                  <a:pt x="526043" y="398065"/>
                  <a:pt x="518802" y="413917"/>
                </a:cubicBezTo>
                <a:cubicBezTo>
                  <a:pt x="499676" y="477879"/>
                  <a:pt x="500140" y="562326"/>
                  <a:pt x="507846" y="605987"/>
                </a:cubicBezTo>
                <a:lnTo>
                  <a:pt x="308230" y="605987"/>
                </a:lnTo>
                <a:cubicBezTo>
                  <a:pt x="310644" y="579012"/>
                  <a:pt x="309158" y="551666"/>
                  <a:pt x="302938" y="525711"/>
                </a:cubicBezTo>
                <a:cubicBezTo>
                  <a:pt x="299967" y="512733"/>
                  <a:pt x="295232" y="498828"/>
                  <a:pt x="285112" y="491134"/>
                </a:cubicBezTo>
                <a:cubicBezTo>
                  <a:pt x="269235" y="478620"/>
                  <a:pt x="247602" y="485943"/>
                  <a:pt x="228383" y="488817"/>
                </a:cubicBezTo>
                <a:cubicBezTo>
                  <a:pt x="209257" y="491598"/>
                  <a:pt x="183261" y="483440"/>
                  <a:pt x="182704" y="462305"/>
                </a:cubicBezTo>
                <a:cubicBezTo>
                  <a:pt x="181868" y="445527"/>
                  <a:pt x="198209" y="427265"/>
                  <a:pt x="188089" y="414751"/>
                </a:cubicBezTo>
                <a:cubicBezTo>
                  <a:pt x="184746" y="410394"/>
                  <a:pt x="178433" y="408540"/>
                  <a:pt x="176019" y="403257"/>
                </a:cubicBezTo>
                <a:cubicBezTo>
                  <a:pt x="170727" y="392132"/>
                  <a:pt x="185211" y="381658"/>
                  <a:pt x="187532" y="369143"/>
                </a:cubicBezTo>
                <a:cubicBezTo>
                  <a:pt x="192267" y="341241"/>
                  <a:pt x="139438" y="337348"/>
                  <a:pt x="139902" y="309538"/>
                </a:cubicBezTo>
                <a:cubicBezTo>
                  <a:pt x="139902" y="282285"/>
                  <a:pt x="199045" y="285344"/>
                  <a:pt x="199045" y="191441"/>
                </a:cubicBezTo>
                <a:cubicBezTo>
                  <a:pt x="201087" y="159275"/>
                  <a:pt x="200066" y="125626"/>
                  <a:pt x="212043" y="95869"/>
                </a:cubicBezTo>
                <a:cubicBezTo>
                  <a:pt x="235068" y="39602"/>
                  <a:pt x="297089" y="16613"/>
                  <a:pt x="352981" y="6972"/>
                </a:cubicBezTo>
                <a:cubicBezTo>
                  <a:pt x="374057" y="3079"/>
                  <a:pt x="395689" y="182"/>
                  <a:pt x="417160" y="8"/>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sz="2000" b="1" dirty="0"/>
          </a:p>
        </p:txBody>
      </p:sp>
      <p:sp>
        <p:nvSpPr>
          <p:cNvPr id="68" name="ïṧľîďe"/>
          <p:cNvSpPr/>
          <p:nvPr/>
        </p:nvSpPr>
        <p:spPr>
          <a:xfrm>
            <a:off x="8513550" y="998888"/>
            <a:ext cx="484634" cy="408348"/>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9473" h="553092">
                <a:moveTo>
                  <a:pt x="478028" y="401708"/>
                </a:moveTo>
                <a:cubicBezTo>
                  <a:pt x="474950" y="405277"/>
                  <a:pt x="471773" y="408747"/>
                  <a:pt x="468299" y="412117"/>
                </a:cubicBezTo>
                <a:cubicBezTo>
                  <a:pt x="464923" y="415587"/>
                  <a:pt x="461448" y="418760"/>
                  <a:pt x="457874" y="421833"/>
                </a:cubicBezTo>
                <a:lnTo>
                  <a:pt x="558543" y="522458"/>
                </a:lnTo>
                <a:cubicBezTo>
                  <a:pt x="561323" y="525135"/>
                  <a:pt x="564897" y="526622"/>
                  <a:pt x="568670" y="526622"/>
                </a:cubicBezTo>
                <a:cubicBezTo>
                  <a:pt x="572541" y="526622"/>
                  <a:pt x="576116" y="525135"/>
                  <a:pt x="578796" y="522458"/>
                </a:cubicBezTo>
                <a:cubicBezTo>
                  <a:pt x="584356" y="516907"/>
                  <a:pt x="584356" y="507885"/>
                  <a:pt x="578796" y="502234"/>
                </a:cubicBezTo>
                <a:close/>
                <a:moveTo>
                  <a:pt x="250450" y="339354"/>
                </a:moveTo>
                <a:cubicBezTo>
                  <a:pt x="254918" y="346988"/>
                  <a:pt x="260478" y="354225"/>
                  <a:pt x="267031" y="360768"/>
                </a:cubicBezTo>
                <a:cubicBezTo>
                  <a:pt x="287087" y="380795"/>
                  <a:pt x="313695" y="391799"/>
                  <a:pt x="341992" y="391799"/>
                </a:cubicBezTo>
                <a:cubicBezTo>
                  <a:pt x="370288" y="391799"/>
                  <a:pt x="396897" y="380795"/>
                  <a:pt x="416854" y="360768"/>
                </a:cubicBezTo>
                <a:cubicBezTo>
                  <a:pt x="423406" y="354225"/>
                  <a:pt x="428966" y="347087"/>
                  <a:pt x="433434" y="339354"/>
                </a:cubicBezTo>
                <a:close/>
                <a:moveTo>
                  <a:pt x="318542" y="209316"/>
                </a:moveTo>
                <a:cubicBezTo>
                  <a:pt x="321943" y="209316"/>
                  <a:pt x="325344" y="210605"/>
                  <a:pt x="327925" y="213182"/>
                </a:cubicBezTo>
                <a:lnTo>
                  <a:pt x="341925" y="227159"/>
                </a:lnTo>
                <a:lnTo>
                  <a:pt x="355925" y="213182"/>
                </a:lnTo>
                <a:cubicBezTo>
                  <a:pt x="361188" y="208027"/>
                  <a:pt x="369528" y="208027"/>
                  <a:pt x="374691" y="213182"/>
                </a:cubicBezTo>
                <a:cubicBezTo>
                  <a:pt x="379854" y="218337"/>
                  <a:pt x="379854" y="226763"/>
                  <a:pt x="374691" y="231917"/>
                </a:cubicBezTo>
                <a:lnTo>
                  <a:pt x="360691" y="245895"/>
                </a:lnTo>
                <a:lnTo>
                  <a:pt x="374691" y="259872"/>
                </a:lnTo>
                <a:cubicBezTo>
                  <a:pt x="379854" y="265027"/>
                  <a:pt x="379854" y="273453"/>
                  <a:pt x="374691" y="278608"/>
                </a:cubicBezTo>
                <a:cubicBezTo>
                  <a:pt x="372110" y="281185"/>
                  <a:pt x="368734" y="282474"/>
                  <a:pt x="365358" y="282474"/>
                </a:cubicBezTo>
                <a:cubicBezTo>
                  <a:pt x="361982" y="282474"/>
                  <a:pt x="358606" y="281185"/>
                  <a:pt x="355925" y="278608"/>
                </a:cubicBezTo>
                <a:lnTo>
                  <a:pt x="341925" y="264631"/>
                </a:lnTo>
                <a:lnTo>
                  <a:pt x="327925" y="278608"/>
                </a:lnTo>
                <a:cubicBezTo>
                  <a:pt x="325344" y="281185"/>
                  <a:pt x="321869" y="282474"/>
                  <a:pt x="318493" y="282474"/>
                </a:cubicBezTo>
                <a:cubicBezTo>
                  <a:pt x="315117" y="282474"/>
                  <a:pt x="311741" y="281185"/>
                  <a:pt x="309159" y="278608"/>
                </a:cubicBezTo>
                <a:cubicBezTo>
                  <a:pt x="303996" y="273453"/>
                  <a:pt x="303996" y="265027"/>
                  <a:pt x="309159" y="259872"/>
                </a:cubicBezTo>
                <a:lnTo>
                  <a:pt x="323159" y="245895"/>
                </a:lnTo>
                <a:lnTo>
                  <a:pt x="309159" y="231917"/>
                </a:lnTo>
                <a:cubicBezTo>
                  <a:pt x="303996" y="226763"/>
                  <a:pt x="303996" y="218337"/>
                  <a:pt x="309159" y="213182"/>
                </a:cubicBezTo>
                <a:cubicBezTo>
                  <a:pt x="311741" y="210605"/>
                  <a:pt x="315142" y="209316"/>
                  <a:pt x="318542" y="209316"/>
                </a:cubicBezTo>
                <a:close/>
                <a:moveTo>
                  <a:pt x="341992" y="180233"/>
                </a:moveTo>
                <a:cubicBezTo>
                  <a:pt x="313695" y="180233"/>
                  <a:pt x="287087" y="191237"/>
                  <a:pt x="267031" y="211165"/>
                </a:cubicBezTo>
                <a:cubicBezTo>
                  <a:pt x="239529" y="238726"/>
                  <a:pt x="230394" y="277688"/>
                  <a:pt x="239529" y="312883"/>
                </a:cubicBezTo>
                <a:lnTo>
                  <a:pt x="444455" y="312883"/>
                </a:lnTo>
                <a:cubicBezTo>
                  <a:pt x="446739" y="304159"/>
                  <a:pt x="447930" y="295137"/>
                  <a:pt x="447930" y="286016"/>
                </a:cubicBezTo>
                <a:cubicBezTo>
                  <a:pt x="447930" y="257761"/>
                  <a:pt x="436909" y="231191"/>
                  <a:pt x="416854" y="211165"/>
                </a:cubicBezTo>
                <a:cubicBezTo>
                  <a:pt x="396897" y="191237"/>
                  <a:pt x="370288" y="180233"/>
                  <a:pt x="341992" y="180233"/>
                </a:cubicBezTo>
                <a:close/>
                <a:moveTo>
                  <a:pt x="341992" y="153762"/>
                </a:moveTo>
                <a:cubicBezTo>
                  <a:pt x="377338" y="153762"/>
                  <a:pt x="410599" y="167543"/>
                  <a:pt x="435619" y="192526"/>
                </a:cubicBezTo>
                <a:cubicBezTo>
                  <a:pt x="460639" y="217411"/>
                  <a:pt x="474340" y="250623"/>
                  <a:pt x="474340" y="286016"/>
                </a:cubicBezTo>
                <a:cubicBezTo>
                  <a:pt x="474340" y="321310"/>
                  <a:pt x="460639" y="354522"/>
                  <a:pt x="435619" y="379506"/>
                </a:cubicBezTo>
                <a:cubicBezTo>
                  <a:pt x="410599" y="404490"/>
                  <a:pt x="377338" y="418171"/>
                  <a:pt x="341992" y="418171"/>
                </a:cubicBezTo>
                <a:cubicBezTo>
                  <a:pt x="306547" y="418171"/>
                  <a:pt x="273286" y="404490"/>
                  <a:pt x="248365" y="379506"/>
                </a:cubicBezTo>
                <a:cubicBezTo>
                  <a:pt x="196736" y="327953"/>
                  <a:pt x="196736" y="244079"/>
                  <a:pt x="248365" y="192526"/>
                </a:cubicBezTo>
                <a:cubicBezTo>
                  <a:pt x="273286" y="167543"/>
                  <a:pt x="306547" y="153762"/>
                  <a:pt x="341992" y="153762"/>
                </a:cubicBezTo>
                <a:close/>
                <a:moveTo>
                  <a:pt x="342016" y="134035"/>
                </a:moveTo>
                <a:cubicBezTo>
                  <a:pt x="302999" y="134035"/>
                  <a:pt x="263983" y="148806"/>
                  <a:pt x="234298" y="178449"/>
                </a:cubicBezTo>
                <a:cubicBezTo>
                  <a:pt x="175029" y="237733"/>
                  <a:pt x="175029" y="334195"/>
                  <a:pt x="234298" y="393479"/>
                </a:cubicBezTo>
                <a:cubicBezTo>
                  <a:pt x="293667" y="452764"/>
                  <a:pt x="390265" y="452764"/>
                  <a:pt x="449634" y="393479"/>
                </a:cubicBezTo>
                <a:cubicBezTo>
                  <a:pt x="509003" y="334195"/>
                  <a:pt x="509003" y="237733"/>
                  <a:pt x="449634" y="178449"/>
                </a:cubicBezTo>
                <a:cubicBezTo>
                  <a:pt x="419950" y="148806"/>
                  <a:pt x="380933" y="134035"/>
                  <a:pt x="342016" y="134035"/>
                </a:cubicBezTo>
                <a:close/>
                <a:moveTo>
                  <a:pt x="83415" y="60757"/>
                </a:moveTo>
                <a:lnTo>
                  <a:pt x="501615" y="60757"/>
                </a:lnTo>
                <a:cubicBezTo>
                  <a:pt x="508960" y="60757"/>
                  <a:pt x="514916" y="66719"/>
                  <a:pt x="514916" y="74073"/>
                </a:cubicBezTo>
                <a:cubicBezTo>
                  <a:pt x="514916" y="81328"/>
                  <a:pt x="508960" y="87290"/>
                  <a:pt x="501615" y="87290"/>
                </a:cubicBezTo>
                <a:lnTo>
                  <a:pt x="83415" y="87290"/>
                </a:lnTo>
                <a:cubicBezTo>
                  <a:pt x="76070" y="87290"/>
                  <a:pt x="70213" y="81328"/>
                  <a:pt x="70213" y="74073"/>
                </a:cubicBezTo>
                <a:cubicBezTo>
                  <a:pt x="70213" y="66719"/>
                  <a:pt x="76070" y="60757"/>
                  <a:pt x="83415" y="60757"/>
                </a:cubicBezTo>
                <a:close/>
                <a:moveTo>
                  <a:pt x="26507" y="26470"/>
                </a:moveTo>
                <a:lnTo>
                  <a:pt x="26507" y="245863"/>
                </a:lnTo>
                <a:lnTo>
                  <a:pt x="167881" y="245863"/>
                </a:lnTo>
                <a:cubicBezTo>
                  <a:pt x="175128" y="214337"/>
                  <a:pt x="191013" y="184298"/>
                  <a:pt x="215634" y="159811"/>
                </a:cubicBezTo>
                <a:cubicBezTo>
                  <a:pt x="285328" y="90216"/>
                  <a:pt x="398704" y="90216"/>
                  <a:pt x="468299" y="159811"/>
                </a:cubicBezTo>
                <a:cubicBezTo>
                  <a:pt x="492920" y="184298"/>
                  <a:pt x="508804" y="214337"/>
                  <a:pt x="516052" y="245863"/>
                </a:cubicBezTo>
                <a:lnTo>
                  <a:pt x="558642" y="245863"/>
                </a:lnTo>
                <a:lnTo>
                  <a:pt x="558642" y="26470"/>
                </a:lnTo>
                <a:close/>
                <a:moveTo>
                  <a:pt x="13204" y="0"/>
                </a:moveTo>
                <a:lnTo>
                  <a:pt x="571847" y="0"/>
                </a:lnTo>
                <a:cubicBezTo>
                  <a:pt x="579193" y="0"/>
                  <a:pt x="585051" y="5948"/>
                  <a:pt x="585051" y="13185"/>
                </a:cubicBezTo>
                <a:lnTo>
                  <a:pt x="585051" y="259048"/>
                </a:lnTo>
                <a:cubicBezTo>
                  <a:pt x="585051" y="266384"/>
                  <a:pt x="579193" y="272333"/>
                  <a:pt x="571847" y="272333"/>
                </a:cubicBezTo>
                <a:lnTo>
                  <a:pt x="520023" y="272333"/>
                </a:lnTo>
                <a:cubicBezTo>
                  <a:pt x="522902" y="309509"/>
                  <a:pt x="514166" y="347380"/>
                  <a:pt x="493813" y="380096"/>
                </a:cubicBezTo>
                <a:lnTo>
                  <a:pt x="597460" y="483596"/>
                </a:lnTo>
                <a:cubicBezTo>
                  <a:pt x="605204" y="491230"/>
                  <a:pt x="609473" y="501540"/>
                  <a:pt x="609473" y="512346"/>
                </a:cubicBezTo>
                <a:cubicBezTo>
                  <a:pt x="609473" y="523251"/>
                  <a:pt x="605204" y="533463"/>
                  <a:pt x="597460" y="541096"/>
                </a:cubicBezTo>
                <a:cubicBezTo>
                  <a:pt x="589816" y="548829"/>
                  <a:pt x="579590" y="553092"/>
                  <a:pt x="568670" y="553092"/>
                </a:cubicBezTo>
                <a:cubicBezTo>
                  <a:pt x="557848" y="553092"/>
                  <a:pt x="547523" y="548829"/>
                  <a:pt x="539879" y="541096"/>
                </a:cubicBezTo>
                <a:lnTo>
                  <a:pt x="436232" y="437596"/>
                </a:lnTo>
                <a:cubicBezTo>
                  <a:pt x="407441" y="455441"/>
                  <a:pt x="374679" y="464363"/>
                  <a:pt x="342016" y="464363"/>
                </a:cubicBezTo>
                <a:cubicBezTo>
                  <a:pt x="296248" y="464363"/>
                  <a:pt x="250481" y="446915"/>
                  <a:pt x="215634" y="412117"/>
                </a:cubicBezTo>
                <a:cubicBezTo>
                  <a:pt x="177312" y="373850"/>
                  <a:pt x="160038" y="322397"/>
                  <a:pt x="163910" y="272333"/>
                </a:cubicBezTo>
                <a:lnTo>
                  <a:pt x="13204" y="272333"/>
                </a:lnTo>
                <a:cubicBezTo>
                  <a:pt x="5956" y="272333"/>
                  <a:pt x="0" y="266384"/>
                  <a:pt x="0" y="259048"/>
                </a:cubicBezTo>
                <a:lnTo>
                  <a:pt x="0" y="13185"/>
                </a:lnTo>
                <a:cubicBezTo>
                  <a:pt x="0" y="5948"/>
                  <a:pt x="5956" y="0"/>
                  <a:pt x="13204" y="0"/>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3" name="直接连接符 62"/>
          <p:cNvCxnSpPr/>
          <p:nvPr/>
        </p:nvCxnSpPr>
        <p:spPr>
          <a:xfrm>
            <a:off x="784568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6" name="ïṧľîďe"/>
          <p:cNvSpPr/>
          <p:nvPr/>
        </p:nvSpPr>
        <p:spPr>
          <a:xfrm>
            <a:off x="10511110" y="972333"/>
            <a:ext cx="398904" cy="397482"/>
          </a:xfrm>
          <a:custGeom>
            <a:avLst/>
            <a:gdLst>
              <a:gd name="connsiteX0" fmla="*/ 236607 w 607780"/>
              <a:gd name="connsiteY0" fmla="*/ 449483 h 595271"/>
              <a:gd name="connsiteX1" fmla="*/ 371243 w 607780"/>
              <a:gd name="connsiteY1" fmla="*/ 449483 h 595271"/>
              <a:gd name="connsiteX2" fmla="*/ 405257 w 607780"/>
              <a:gd name="connsiteY2" fmla="*/ 483441 h 595271"/>
              <a:gd name="connsiteX3" fmla="*/ 405257 w 607780"/>
              <a:gd name="connsiteY3" fmla="*/ 584811 h 595271"/>
              <a:gd name="connsiteX4" fmla="*/ 394780 w 607780"/>
              <a:gd name="connsiteY4" fmla="*/ 595271 h 595271"/>
              <a:gd name="connsiteX5" fmla="*/ 213070 w 607780"/>
              <a:gd name="connsiteY5" fmla="*/ 595271 h 595271"/>
              <a:gd name="connsiteX6" fmla="*/ 202593 w 607780"/>
              <a:gd name="connsiteY6" fmla="*/ 584811 h 595271"/>
              <a:gd name="connsiteX7" fmla="*/ 202593 w 607780"/>
              <a:gd name="connsiteY7" fmla="*/ 483441 h 595271"/>
              <a:gd name="connsiteX8" fmla="*/ 236607 w 607780"/>
              <a:gd name="connsiteY8" fmla="*/ 449483 h 595271"/>
              <a:gd name="connsiteX9" fmla="*/ 541892 w 607780"/>
              <a:gd name="connsiteY9" fmla="*/ 348260 h 595271"/>
              <a:gd name="connsiteX10" fmla="*/ 551736 w 607780"/>
              <a:gd name="connsiteY10" fmla="*/ 349985 h 595271"/>
              <a:gd name="connsiteX11" fmla="*/ 566566 w 607780"/>
              <a:gd name="connsiteY11" fmla="*/ 359133 h 595271"/>
              <a:gd name="connsiteX12" fmla="*/ 570614 w 607780"/>
              <a:gd name="connsiteY12" fmla="*/ 378236 h 595271"/>
              <a:gd name="connsiteX13" fmla="*/ 514841 w 607780"/>
              <a:gd name="connsiteY13" fmla="*/ 439743 h 595271"/>
              <a:gd name="connsiteX14" fmla="*/ 523951 w 607780"/>
              <a:gd name="connsiteY14" fmla="*/ 455460 h 595271"/>
              <a:gd name="connsiteX15" fmla="*/ 515195 w 607780"/>
              <a:gd name="connsiteY15" fmla="*/ 470622 h 595271"/>
              <a:gd name="connsiteX16" fmla="*/ 435128 w 607780"/>
              <a:gd name="connsiteY16" fmla="*/ 470723 h 595271"/>
              <a:gd name="connsiteX17" fmla="*/ 426372 w 607780"/>
              <a:gd name="connsiteY17" fmla="*/ 455561 h 595271"/>
              <a:gd name="connsiteX18" fmla="*/ 466304 w 607780"/>
              <a:gd name="connsiteY18" fmla="*/ 386323 h 595271"/>
              <a:gd name="connsiteX19" fmla="*/ 483816 w 607780"/>
              <a:gd name="connsiteY19" fmla="*/ 386272 h 595271"/>
              <a:gd name="connsiteX20" fmla="*/ 492167 w 607780"/>
              <a:gd name="connsiteY20" fmla="*/ 400676 h 595271"/>
              <a:gd name="connsiteX21" fmla="*/ 533567 w 607780"/>
              <a:gd name="connsiteY21" fmla="*/ 353775 h 595271"/>
              <a:gd name="connsiteX22" fmla="*/ 541892 w 607780"/>
              <a:gd name="connsiteY22" fmla="*/ 348260 h 595271"/>
              <a:gd name="connsiteX23" fmla="*/ 64200 w 607780"/>
              <a:gd name="connsiteY23" fmla="*/ 336864 h 595271"/>
              <a:gd name="connsiteX24" fmla="*/ 74313 w 607780"/>
              <a:gd name="connsiteY24" fmla="*/ 336871 h 595271"/>
              <a:gd name="connsiteX25" fmla="*/ 143681 w 607780"/>
              <a:gd name="connsiteY25" fmla="*/ 376748 h 595271"/>
              <a:gd name="connsiteX26" fmla="*/ 143681 w 607780"/>
              <a:gd name="connsiteY26" fmla="*/ 394235 h 595271"/>
              <a:gd name="connsiteX27" fmla="*/ 129261 w 607780"/>
              <a:gd name="connsiteY27" fmla="*/ 402574 h 595271"/>
              <a:gd name="connsiteX28" fmla="*/ 176214 w 607780"/>
              <a:gd name="connsiteY28" fmla="*/ 443917 h 595271"/>
              <a:gd name="connsiteX29" fmla="*/ 180009 w 607780"/>
              <a:gd name="connsiteY29" fmla="*/ 462061 h 595271"/>
              <a:gd name="connsiteX30" fmla="*/ 170902 w 607780"/>
              <a:gd name="connsiteY30" fmla="*/ 476869 h 595271"/>
              <a:gd name="connsiteX31" fmla="*/ 151725 w 607780"/>
              <a:gd name="connsiteY31" fmla="*/ 480913 h 595271"/>
              <a:gd name="connsiteX32" fmla="*/ 90150 w 607780"/>
              <a:gd name="connsiteY32" fmla="*/ 425166 h 595271"/>
              <a:gd name="connsiteX33" fmla="*/ 74414 w 607780"/>
              <a:gd name="connsiteY33" fmla="*/ 434314 h 595271"/>
              <a:gd name="connsiteX34" fmla="*/ 59235 w 607780"/>
              <a:gd name="connsiteY34" fmla="*/ 425570 h 595271"/>
              <a:gd name="connsiteX35" fmla="*/ 59134 w 607780"/>
              <a:gd name="connsiteY35" fmla="*/ 345614 h 595271"/>
              <a:gd name="connsiteX36" fmla="*/ 64200 w 607780"/>
              <a:gd name="connsiteY36" fmla="*/ 336864 h 595271"/>
              <a:gd name="connsiteX37" fmla="*/ 349533 w 607780"/>
              <a:gd name="connsiteY37" fmla="*/ 289354 h 595271"/>
              <a:gd name="connsiteX38" fmla="*/ 365529 w 607780"/>
              <a:gd name="connsiteY38" fmla="*/ 302800 h 595271"/>
              <a:gd name="connsiteX39" fmla="*/ 365529 w 607780"/>
              <a:gd name="connsiteY39" fmla="*/ 368208 h 595271"/>
              <a:gd name="connsiteX40" fmla="*/ 303926 w 607780"/>
              <a:gd name="connsiteY40" fmla="*/ 429725 h 595271"/>
              <a:gd name="connsiteX41" fmla="*/ 242322 w 607780"/>
              <a:gd name="connsiteY41" fmla="*/ 368208 h 595271"/>
              <a:gd name="connsiteX42" fmla="*/ 242322 w 607780"/>
              <a:gd name="connsiteY42" fmla="*/ 339194 h 595271"/>
              <a:gd name="connsiteX43" fmla="*/ 270719 w 607780"/>
              <a:gd name="connsiteY43" fmla="*/ 304569 h 595271"/>
              <a:gd name="connsiteX44" fmla="*/ 349533 w 607780"/>
              <a:gd name="connsiteY44" fmla="*/ 289354 h 595271"/>
              <a:gd name="connsiteX45" fmla="*/ 439205 w 607780"/>
              <a:gd name="connsiteY45" fmla="*/ 160376 h 595271"/>
              <a:gd name="connsiteX46" fmla="*/ 573782 w 607780"/>
              <a:gd name="connsiteY46" fmla="*/ 160376 h 595271"/>
              <a:gd name="connsiteX47" fmla="*/ 607780 w 607780"/>
              <a:gd name="connsiteY47" fmla="*/ 194334 h 595271"/>
              <a:gd name="connsiteX48" fmla="*/ 607780 w 607780"/>
              <a:gd name="connsiteY48" fmla="*/ 295754 h 595271"/>
              <a:gd name="connsiteX49" fmla="*/ 597307 w 607780"/>
              <a:gd name="connsiteY49" fmla="*/ 306164 h 595271"/>
              <a:gd name="connsiteX50" fmla="*/ 415679 w 607780"/>
              <a:gd name="connsiteY50" fmla="*/ 306164 h 595271"/>
              <a:gd name="connsiteX51" fmla="*/ 405257 w 607780"/>
              <a:gd name="connsiteY51" fmla="*/ 295754 h 595271"/>
              <a:gd name="connsiteX52" fmla="*/ 405257 w 607780"/>
              <a:gd name="connsiteY52" fmla="*/ 194334 h 595271"/>
              <a:gd name="connsiteX53" fmla="*/ 439205 w 607780"/>
              <a:gd name="connsiteY53" fmla="*/ 160376 h 595271"/>
              <a:gd name="connsiteX54" fmla="*/ 34010 w 607780"/>
              <a:gd name="connsiteY54" fmla="*/ 160376 h 595271"/>
              <a:gd name="connsiteX55" fmla="*/ 168583 w 607780"/>
              <a:gd name="connsiteY55" fmla="*/ 160376 h 595271"/>
              <a:gd name="connsiteX56" fmla="*/ 202593 w 607780"/>
              <a:gd name="connsiteY56" fmla="*/ 194334 h 595271"/>
              <a:gd name="connsiteX57" fmla="*/ 202593 w 607780"/>
              <a:gd name="connsiteY57" fmla="*/ 295754 h 595271"/>
              <a:gd name="connsiteX58" fmla="*/ 192167 w 607780"/>
              <a:gd name="connsiteY58" fmla="*/ 306164 h 595271"/>
              <a:gd name="connsiteX59" fmla="*/ 10426 w 607780"/>
              <a:gd name="connsiteY59" fmla="*/ 306164 h 595271"/>
              <a:gd name="connsiteX60" fmla="*/ 0 w 607780"/>
              <a:gd name="connsiteY60" fmla="*/ 295754 h 595271"/>
              <a:gd name="connsiteX61" fmla="*/ 0 w 607780"/>
              <a:gd name="connsiteY61" fmla="*/ 194334 h 595271"/>
              <a:gd name="connsiteX62" fmla="*/ 34010 w 607780"/>
              <a:gd name="connsiteY62" fmla="*/ 160376 h 595271"/>
              <a:gd name="connsiteX63" fmla="*/ 330342 w 607780"/>
              <a:gd name="connsiteY63" fmla="*/ 21924 h 595271"/>
              <a:gd name="connsiteX64" fmla="*/ 340102 w 607780"/>
              <a:gd name="connsiteY64" fmla="*/ 24538 h 595271"/>
              <a:gd name="connsiteX65" fmla="*/ 396777 w 607780"/>
              <a:gd name="connsiteY65" fmla="*/ 80951 h 595271"/>
              <a:gd name="connsiteX66" fmla="*/ 392274 w 607780"/>
              <a:gd name="connsiteY66" fmla="*/ 97870 h 595271"/>
              <a:gd name="connsiteX67" fmla="*/ 314952 w 607780"/>
              <a:gd name="connsiteY67" fmla="*/ 118627 h 595271"/>
              <a:gd name="connsiteX68" fmla="*/ 302554 w 607780"/>
              <a:gd name="connsiteY68" fmla="*/ 106253 h 595271"/>
              <a:gd name="connsiteX69" fmla="*/ 306856 w 607780"/>
              <a:gd name="connsiteY69" fmla="*/ 90193 h 595271"/>
              <a:gd name="connsiteX70" fmla="*/ 244361 w 607780"/>
              <a:gd name="connsiteY70" fmla="*/ 94132 h 595271"/>
              <a:gd name="connsiteX71" fmla="*/ 228876 w 607780"/>
              <a:gd name="connsiteY71" fmla="*/ 83981 h 595271"/>
              <a:gd name="connsiteX72" fmla="*/ 224828 w 607780"/>
              <a:gd name="connsiteY72" fmla="*/ 67062 h 595271"/>
              <a:gd name="connsiteX73" fmla="*/ 235505 w 607780"/>
              <a:gd name="connsiteY73" fmla="*/ 50699 h 595271"/>
              <a:gd name="connsiteX74" fmla="*/ 318494 w 607780"/>
              <a:gd name="connsiteY74" fmla="*/ 46659 h 595271"/>
              <a:gd name="connsiteX75" fmla="*/ 323200 w 607780"/>
              <a:gd name="connsiteY75" fmla="*/ 29083 h 595271"/>
              <a:gd name="connsiteX76" fmla="*/ 330342 w 607780"/>
              <a:gd name="connsiteY76" fmla="*/ 21924 h 595271"/>
              <a:gd name="connsiteX77" fmla="*/ 552065 w 607780"/>
              <a:gd name="connsiteY77" fmla="*/ 196 h 595271"/>
              <a:gd name="connsiteX78" fmla="*/ 568052 w 607780"/>
              <a:gd name="connsiteY78" fmla="*/ 13690 h 595271"/>
              <a:gd name="connsiteX79" fmla="*/ 568052 w 607780"/>
              <a:gd name="connsiteY79" fmla="*/ 79039 h 595271"/>
              <a:gd name="connsiteX80" fmla="*/ 506484 w 607780"/>
              <a:gd name="connsiteY80" fmla="*/ 140547 h 595271"/>
              <a:gd name="connsiteX81" fmla="*/ 444915 w 607780"/>
              <a:gd name="connsiteY81" fmla="*/ 79039 h 595271"/>
              <a:gd name="connsiteX82" fmla="*/ 444915 w 607780"/>
              <a:gd name="connsiteY82" fmla="*/ 50080 h 595271"/>
              <a:gd name="connsiteX83" fmla="*/ 473296 w 607780"/>
              <a:gd name="connsiteY83" fmla="*/ 15459 h 595271"/>
              <a:gd name="connsiteX84" fmla="*/ 552065 w 607780"/>
              <a:gd name="connsiteY84" fmla="*/ 196 h 595271"/>
              <a:gd name="connsiteX85" fmla="*/ 146938 w 607780"/>
              <a:gd name="connsiteY85" fmla="*/ 196 h 595271"/>
              <a:gd name="connsiteX86" fmla="*/ 162936 w 607780"/>
              <a:gd name="connsiteY86" fmla="*/ 13690 h 595271"/>
              <a:gd name="connsiteX87" fmla="*/ 162936 w 607780"/>
              <a:gd name="connsiteY87" fmla="*/ 79039 h 595271"/>
              <a:gd name="connsiteX88" fmla="*/ 101322 w 607780"/>
              <a:gd name="connsiteY88" fmla="*/ 140547 h 595271"/>
              <a:gd name="connsiteX89" fmla="*/ 39658 w 607780"/>
              <a:gd name="connsiteY89" fmla="*/ 79039 h 595271"/>
              <a:gd name="connsiteX90" fmla="*/ 39658 w 607780"/>
              <a:gd name="connsiteY90" fmla="*/ 50080 h 595271"/>
              <a:gd name="connsiteX91" fmla="*/ 68060 w 607780"/>
              <a:gd name="connsiteY91" fmla="*/ 15459 h 595271"/>
              <a:gd name="connsiteX92" fmla="*/ 146938 w 607780"/>
              <a:gd name="connsiteY92" fmla="*/ 196 h 59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7780" h="595271">
                <a:moveTo>
                  <a:pt x="236607" y="449483"/>
                </a:moveTo>
                <a:lnTo>
                  <a:pt x="371243" y="449483"/>
                </a:lnTo>
                <a:cubicBezTo>
                  <a:pt x="390022" y="449483"/>
                  <a:pt x="405257" y="464643"/>
                  <a:pt x="405257" y="483441"/>
                </a:cubicBezTo>
                <a:lnTo>
                  <a:pt x="405257" y="584811"/>
                </a:lnTo>
                <a:cubicBezTo>
                  <a:pt x="405257" y="590571"/>
                  <a:pt x="400550" y="595271"/>
                  <a:pt x="394780" y="595271"/>
                </a:cubicBezTo>
                <a:lnTo>
                  <a:pt x="213070" y="595271"/>
                </a:lnTo>
                <a:cubicBezTo>
                  <a:pt x="207300" y="595271"/>
                  <a:pt x="202593" y="590571"/>
                  <a:pt x="202593" y="584811"/>
                </a:cubicBezTo>
                <a:lnTo>
                  <a:pt x="202593" y="483441"/>
                </a:lnTo>
                <a:cubicBezTo>
                  <a:pt x="202593" y="464643"/>
                  <a:pt x="217828" y="449483"/>
                  <a:pt x="236607" y="449483"/>
                </a:cubicBezTo>
                <a:close/>
                <a:moveTo>
                  <a:pt x="541892" y="348260"/>
                </a:moveTo>
                <a:cubicBezTo>
                  <a:pt x="545169" y="347584"/>
                  <a:pt x="548699" y="348115"/>
                  <a:pt x="551736" y="349985"/>
                </a:cubicBezTo>
                <a:lnTo>
                  <a:pt x="566566" y="359133"/>
                </a:lnTo>
                <a:cubicBezTo>
                  <a:pt x="573145" y="363176"/>
                  <a:pt x="574967" y="371868"/>
                  <a:pt x="570614" y="378236"/>
                </a:cubicBezTo>
                <a:cubicBezTo>
                  <a:pt x="554925" y="401232"/>
                  <a:pt x="536249" y="421852"/>
                  <a:pt x="514841" y="439743"/>
                </a:cubicBezTo>
                <a:lnTo>
                  <a:pt x="523951" y="455460"/>
                </a:lnTo>
                <a:cubicBezTo>
                  <a:pt x="527848" y="462182"/>
                  <a:pt x="522989" y="470622"/>
                  <a:pt x="515195" y="470622"/>
                </a:cubicBezTo>
                <a:lnTo>
                  <a:pt x="435128" y="470723"/>
                </a:lnTo>
                <a:cubicBezTo>
                  <a:pt x="427334" y="470723"/>
                  <a:pt x="422475" y="462334"/>
                  <a:pt x="426372" y="455561"/>
                </a:cubicBezTo>
                <a:lnTo>
                  <a:pt x="466304" y="386323"/>
                </a:lnTo>
                <a:cubicBezTo>
                  <a:pt x="470202" y="379550"/>
                  <a:pt x="479919" y="379550"/>
                  <a:pt x="483816" y="386272"/>
                </a:cubicBezTo>
                <a:lnTo>
                  <a:pt x="492167" y="400676"/>
                </a:lnTo>
                <a:cubicBezTo>
                  <a:pt x="507856" y="386777"/>
                  <a:pt x="521724" y="371060"/>
                  <a:pt x="533567" y="353775"/>
                </a:cubicBezTo>
                <a:cubicBezTo>
                  <a:pt x="535592" y="350819"/>
                  <a:pt x="538616" y="348936"/>
                  <a:pt x="541892" y="348260"/>
                </a:cubicBezTo>
                <a:close/>
                <a:moveTo>
                  <a:pt x="64200" y="336864"/>
                </a:moveTo>
                <a:cubicBezTo>
                  <a:pt x="67154" y="335165"/>
                  <a:pt x="70949" y="334925"/>
                  <a:pt x="74313" y="336871"/>
                </a:cubicBezTo>
                <a:lnTo>
                  <a:pt x="143681" y="376748"/>
                </a:lnTo>
                <a:cubicBezTo>
                  <a:pt x="150410" y="380639"/>
                  <a:pt x="150410" y="390343"/>
                  <a:pt x="143681" y="394235"/>
                </a:cubicBezTo>
                <a:lnTo>
                  <a:pt x="129261" y="402574"/>
                </a:lnTo>
                <a:cubicBezTo>
                  <a:pt x="143225" y="418242"/>
                  <a:pt x="158910" y="432090"/>
                  <a:pt x="176214" y="443917"/>
                </a:cubicBezTo>
                <a:cubicBezTo>
                  <a:pt x="182134" y="447960"/>
                  <a:pt x="183753" y="455945"/>
                  <a:pt x="180009" y="462061"/>
                </a:cubicBezTo>
                <a:lnTo>
                  <a:pt x="170902" y="476869"/>
                </a:lnTo>
                <a:cubicBezTo>
                  <a:pt x="166803" y="483440"/>
                  <a:pt x="158101" y="485259"/>
                  <a:pt x="151725" y="480913"/>
                </a:cubicBezTo>
                <a:cubicBezTo>
                  <a:pt x="128704" y="465245"/>
                  <a:pt x="108061" y="446545"/>
                  <a:pt x="90150" y="425166"/>
                </a:cubicBezTo>
                <a:lnTo>
                  <a:pt x="74414" y="434314"/>
                </a:lnTo>
                <a:cubicBezTo>
                  <a:pt x="67685" y="438205"/>
                  <a:pt x="59235" y="433353"/>
                  <a:pt x="59235" y="425570"/>
                </a:cubicBezTo>
                <a:lnTo>
                  <a:pt x="59134" y="345614"/>
                </a:lnTo>
                <a:cubicBezTo>
                  <a:pt x="59134" y="341723"/>
                  <a:pt x="61247" y="338564"/>
                  <a:pt x="64200" y="336864"/>
                </a:cubicBezTo>
                <a:close/>
                <a:moveTo>
                  <a:pt x="349533" y="289354"/>
                </a:moveTo>
                <a:cubicBezTo>
                  <a:pt x="357886" y="287888"/>
                  <a:pt x="365529" y="294308"/>
                  <a:pt x="365529" y="302800"/>
                </a:cubicBezTo>
                <a:lnTo>
                  <a:pt x="365529" y="368208"/>
                </a:lnTo>
                <a:cubicBezTo>
                  <a:pt x="365529" y="402177"/>
                  <a:pt x="337942" y="429725"/>
                  <a:pt x="303926" y="429725"/>
                </a:cubicBezTo>
                <a:cubicBezTo>
                  <a:pt x="269909" y="429725"/>
                  <a:pt x="242322" y="402177"/>
                  <a:pt x="242322" y="368208"/>
                </a:cubicBezTo>
                <a:lnTo>
                  <a:pt x="242322" y="339194"/>
                </a:lnTo>
                <a:cubicBezTo>
                  <a:pt x="242322" y="322412"/>
                  <a:pt x="254167" y="307905"/>
                  <a:pt x="270719" y="304569"/>
                </a:cubicBezTo>
                <a:cubicBezTo>
                  <a:pt x="296434" y="299413"/>
                  <a:pt x="332829" y="292185"/>
                  <a:pt x="349533" y="289354"/>
                </a:cubicBezTo>
                <a:close/>
                <a:moveTo>
                  <a:pt x="439205" y="160376"/>
                </a:moveTo>
                <a:lnTo>
                  <a:pt x="573782" y="160376"/>
                </a:lnTo>
                <a:cubicBezTo>
                  <a:pt x="592552" y="160376"/>
                  <a:pt x="607780" y="175587"/>
                  <a:pt x="607780" y="194334"/>
                </a:cubicBezTo>
                <a:lnTo>
                  <a:pt x="607780" y="295754"/>
                </a:lnTo>
                <a:cubicBezTo>
                  <a:pt x="607780" y="301515"/>
                  <a:pt x="603075" y="306164"/>
                  <a:pt x="597307" y="306164"/>
                </a:cubicBezTo>
                <a:lnTo>
                  <a:pt x="415679" y="306164"/>
                </a:lnTo>
                <a:cubicBezTo>
                  <a:pt x="409912" y="306164"/>
                  <a:pt x="405257" y="301515"/>
                  <a:pt x="405257" y="295754"/>
                </a:cubicBezTo>
                <a:lnTo>
                  <a:pt x="405257" y="194334"/>
                </a:lnTo>
                <a:cubicBezTo>
                  <a:pt x="405257" y="175587"/>
                  <a:pt x="420435" y="160376"/>
                  <a:pt x="439205" y="160376"/>
                </a:cubicBezTo>
                <a:close/>
                <a:moveTo>
                  <a:pt x="34010" y="160376"/>
                </a:moveTo>
                <a:lnTo>
                  <a:pt x="168583" y="160376"/>
                </a:lnTo>
                <a:cubicBezTo>
                  <a:pt x="187359" y="160376"/>
                  <a:pt x="202593" y="175587"/>
                  <a:pt x="202593" y="194334"/>
                </a:cubicBezTo>
                <a:lnTo>
                  <a:pt x="202593" y="295754"/>
                </a:lnTo>
                <a:cubicBezTo>
                  <a:pt x="202593" y="301515"/>
                  <a:pt x="197937" y="306164"/>
                  <a:pt x="192167" y="306164"/>
                </a:cubicBezTo>
                <a:lnTo>
                  <a:pt x="10426" y="306164"/>
                </a:lnTo>
                <a:cubicBezTo>
                  <a:pt x="4656" y="306164"/>
                  <a:pt x="0" y="301515"/>
                  <a:pt x="0" y="295754"/>
                </a:cubicBezTo>
                <a:lnTo>
                  <a:pt x="0" y="194334"/>
                </a:lnTo>
                <a:cubicBezTo>
                  <a:pt x="0" y="175587"/>
                  <a:pt x="15234" y="160376"/>
                  <a:pt x="34010" y="160376"/>
                </a:cubicBezTo>
                <a:close/>
                <a:moveTo>
                  <a:pt x="330342" y="21924"/>
                </a:moveTo>
                <a:cubicBezTo>
                  <a:pt x="333625" y="21041"/>
                  <a:pt x="337344" y="21786"/>
                  <a:pt x="340102" y="24538"/>
                </a:cubicBezTo>
                <a:lnTo>
                  <a:pt x="396777" y="80951"/>
                </a:lnTo>
                <a:cubicBezTo>
                  <a:pt x="402293" y="86456"/>
                  <a:pt x="399763" y="95850"/>
                  <a:pt x="392274" y="97870"/>
                </a:cubicBezTo>
                <a:lnTo>
                  <a:pt x="314952" y="118627"/>
                </a:lnTo>
                <a:cubicBezTo>
                  <a:pt x="307463" y="120647"/>
                  <a:pt x="300530" y="113779"/>
                  <a:pt x="302554" y="106253"/>
                </a:cubicBezTo>
                <a:lnTo>
                  <a:pt x="306856" y="90193"/>
                </a:lnTo>
                <a:cubicBezTo>
                  <a:pt x="285906" y="88981"/>
                  <a:pt x="265007" y="90294"/>
                  <a:pt x="244361" y="94132"/>
                </a:cubicBezTo>
                <a:cubicBezTo>
                  <a:pt x="237327" y="95446"/>
                  <a:pt x="230496" y="90951"/>
                  <a:pt x="228876" y="83981"/>
                </a:cubicBezTo>
                <a:lnTo>
                  <a:pt x="224828" y="67062"/>
                </a:lnTo>
                <a:cubicBezTo>
                  <a:pt x="223057" y="59588"/>
                  <a:pt x="227915" y="52164"/>
                  <a:pt x="235505" y="50699"/>
                </a:cubicBezTo>
                <a:cubicBezTo>
                  <a:pt x="262882" y="45548"/>
                  <a:pt x="290713" y="44184"/>
                  <a:pt x="318494" y="46659"/>
                </a:cubicBezTo>
                <a:lnTo>
                  <a:pt x="323200" y="29083"/>
                </a:lnTo>
                <a:cubicBezTo>
                  <a:pt x="324213" y="25321"/>
                  <a:pt x="327059" y="22808"/>
                  <a:pt x="330342" y="21924"/>
                </a:cubicBezTo>
                <a:close/>
                <a:moveTo>
                  <a:pt x="552065" y="196"/>
                </a:moveTo>
                <a:cubicBezTo>
                  <a:pt x="560413" y="-1219"/>
                  <a:pt x="568052" y="5200"/>
                  <a:pt x="568052" y="13690"/>
                </a:cubicBezTo>
                <a:lnTo>
                  <a:pt x="568052" y="79039"/>
                </a:lnTo>
                <a:cubicBezTo>
                  <a:pt x="568052" y="113053"/>
                  <a:pt x="540480" y="140547"/>
                  <a:pt x="506484" y="140547"/>
                </a:cubicBezTo>
                <a:cubicBezTo>
                  <a:pt x="472487" y="140547"/>
                  <a:pt x="444915" y="113053"/>
                  <a:pt x="444915" y="79039"/>
                </a:cubicBezTo>
                <a:lnTo>
                  <a:pt x="444915" y="50080"/>
                </a:lnTo>
                <a:cubicBezTo>
                  <a:pt x="444915" y="33250"/>
                  <a:pt x="456804" y="18744"/>
                  <a:pt x="473296" y="15459"/>
                </a:cubicBezTo>
                <a:cubicBezTo>
                  <a:pt x="498996" y="10254"/>
                  <a:pt x="535371" y="3077"/>
                  <a:pt x="552065" y="196"/>
                </a:cubicBezTo>
                <a:close/>
                <a:moveTo>
                  <a:pt x="146938" y="196"/>
                </a:moveTo>
                <a:cubicBezTo>
                  <a:pt x="155291" y="-1219"/>
                  <a:pt x="162936" y="5200"/>
                  <a:pt x="162936" y="13690"/>
                </a:cubicBezTo>
                <a:lnTo>
                  <a:pt x="162936" y="79039"/>
                </a:lnTo>
                <a:cubicBezTo>
                  <a:pt x="162936" y="113053"/>
                  <a:pt x="135344" y="140547"/>
                  <a:pt x="101322" y="140547"/>
                </a:cubicBezTo>
                <a:cubicBezTo>
                  <a:pt x="67250" y="140547"/>
                  <a:pt x="39658" y="113053"/>
                  <a:pt x="39658" y="79039"/>
                </a:cubicBezTo>
                <a:lnTo>
                  <a:pt x="39658" y="50080"/>
                </a:lnTo>
                <a:cubicBezTo>
                  <a:pt x="39658" y="33250"/>
                  <a:pt x="51555" y="18744"/>
                  <a:pt x="68060" y="15459"/>
                </a:cubicBezTo>
                <a:cubicBezTo>
                  <a:pt x="93829" y="10254"/>
                  <a:pt x="130231" y="3077"/>
                  <a:pt x="146938" y="196"/>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5" name="直接连接符 64"/>
          <p:cNvCxnSpPr/>
          <p:nvPr/>
        </p:nvCxnSpPr>
        <p:spPr>
          <a:xfrm>
            <a:off x="9646149"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19" name="isḻíḓe"/>
          <p:cNvSpPr/>
          <p:nvPr/>
        </p:nvSpPr>
        <p:spPr bwMode="auto">
          <a:xfrm>
            <a:off x="1942341" y="2037619"/>
            <a:ext cx="7776000" cy="1260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实现产品基准价测算线上化，减少重复工作，提高自动化率</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产品报价</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，基于自动从</a:t>
            </a:r>
            <a:r>
              <a:rPr lang="en-US" altLang="zh-CN" sz="1400" dirty="0">
                <a:latin typeface="微软雅黑" panose="020B0503020204020204" pitchFamily="34" charset="-122"/>
                <a:ea typeface="微软雅黑" panose="020B0503020204020204" pitchFamily="34" charset="-122"/>
              </a:rPr>
              <a:t>PBI</a:t>
            </a:r>
            <a:r>
              <a:rPr lang="zh-CN" altLang="en-US" sz="1400" dirty="0">
                <a:latin typeface="微软雅黑" panose="020B0503020204020204" pitchFamily="34" charset="-122"/>
                <a:ea typeface="微软雅黑" panose="020B0503020204020204" pitchFamily="34" charset="-122"/>
              </a:rPr>
              <a:t>同步的产品目录树、从</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同步的产品标准</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、从</a:t>
            </a:r>
            <a:r>
              <a:rPr lang="en-US" altLang="zh-CN" sz="1400" dirty="0">
                <a:latin typeface="微软雅黑" panose="020B0503020204020204" pitchFamily="34" charset="-122"/>
                <a:ea typeface="微软雅黑" panose="020B0503020204020204" pitchFamily="34" charset="-122"/>
              </a:rPr>
              <a:t>APS</a:t>
            </a:r>
            <a:r>
              <a:rPr lang="zh-CN" altLang="en-US" sz="1400" dirty="0">
                <a:latin typeface="微软雅黑" panose="020B0503020204020204" pitchFamily="34" charset="-122"/>
                <a:ea typeface="微软雅黑" panose="020B0503020204020204" pitchFamily="34" charset="-122"/>
              </a:rPr>
              <a:t>同步的替代规则，快速动态生成；</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材料采购价格自动从</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的</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竞价表和物料主数据同步，支撑产品单位材料成本测算。</a:t>
            </a:r>
            <a:endParaRPr lang="en-US" altLang="zh-CN" sz="1400" dirty="0">
              <a:latin typeface="微软雅黑" panose="020B0503020204020204" pitchFamily="34" charset="-122"/>
              <a:ea typeface="微软雅黑" panose="020B0503020204020204" pitchFamily="34" charset="-122"/>
            </a:endParaRPr>
          </a:p>
        </p:txBody>
      </p:sp>
      <p:grpSp>
        <p:nvGrpSpPr>
          <p:cNvPr id="4" name="îsḻïḋê"/>
          <p:cNvGrpSpPr/>
          <p:nvPr/>
        </p:nvGrpSpPr>
        <p:grpSpPr>
          <a:xfrm>
            <a:off x="9822138" y="2508968"/>
            <a:ext cx="2420836" cy="2576503"/>
            <a:chOff x="7258511" y="1916834"/>
            <a:chExt cx="3670965" cy="3395592"/>
          </a:xfrm>
        </p:grpSpPr>
        <p:sp>
          <p:nvSpPr>
            <p:cNvPr id="5" name="ïṡḻíḑé"/>
            <p:cNvSpPr/>
            <p:nvPr/>
          </p:nvSpPr>
          <p:spPr bwMode="auto">
            <a:xfrm>
              <a:off x="7377468" y="2399195"/>
              <a:ext cx="3552008" cy="2913231"/>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chemeClr val="accent1">
                <a:lumMod val="50000"/>
              </a:schemeClr>
            </a:solidFill>
            <a:ln>
              <a:noFill/>
            </a:ln>
          </p:spPr>
          <p:txBody>
            <a:bodyPr wrap="square" lIns="91440" tIns="45720" rIns="91440" bIns="45720" anchor="ctr">
              <a:normAutofit/>
            </a:bodyPr>
            <a:lstStyle/>
            <a:p>
              <a:pPr algn="ctr"/>
            </a:p>
          </p:txBody>
        </p:sp>
        <p:sp>
          <p:nvSpPr>
            <p:cNvPr id="6" name="îšľíḍé"/>
            <p:cNvSpPr/>
            <p:nvPr/>
          </p:nvSpPr>
          <p:spPr bwMode="auto">
            <a:xfrm>
              <a:off x="7340899" y="2353676"/>
              <a:ext cx="3552008" cy="2913231"/>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1"/>
            </a:solidFill>
            <a:ln>
              <a:noFill/>
            </a:ln>
          </p:spPr>
          <p:txBody>
            <a:bodyPr wrap="square" lIns="91440" tIns="45720" rIns="91440" bIns="45720" anchor="ctr">
              <a:normAutofit/>
            </a:bodyPr>
            <a:lstStyle/>
            <a:p>
              <a:pPr algn="ctr"/>
            </a:p>
          </p:txBody>
        </p:sp>
        <p:sp>
          <p:nvSpPr>
            <p:cNvPr id="7" name="íşḷîḓè"/>
            <p:cNvSpPr/>
            <p:nvPr/>
          </p:nvSpPr>
          <p:spPr bwMode="auto">
            <a:xfrm>
              <a:off x="7294577" y="2295964"/>
              <a:ext cx="3552008" cy="291323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5"/>
            </a:solidFill>
            <a:ln>
              <a:noFill/>
            </a:ln>
          </p:spPr>
          <p:txBody>
            <a:bodyPr wrap="square" lIns="91440" tIns="45720" rIns="91440" bIns="45720" anchor="ctr">
              <a:normAutofit/>
            </a:bodyPr>
            <a:lstStyle/>
            <a:p>
              <a:pPr algn="ctr"/>
            </a:p>
          </p:txBody>
        </p:sp>
        <p:sp>
          <p:nvSpPr>
            <p:cNvPr id="8" name="íSľíḍè"/>
            <p:cNvSpPr/>
            <p:nvPr/>
          </p:nvSpPr>
          <p:spPr bwMode="auto">
            <a:xfrm>
              <a:off x="7631008" y="2572331"/>
              <a:ext cx="2879151" cy="2361310"/>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chemeClr val="accent5">
                <a:lumMod val="20000"/>
                <a:lumOff val="80000"/>
              </a:schemeClr>
            </a:solidFill>
            <a:ln>
              <a:noFill/>
            </a:ln>
          </p:spPr>
          <p:txBody>
            <a:bodyPr wrap="square" lIns="91440" tIns="45720" rIns="91440" bIns="45720" anchor="ctr">
              <a:normAutofit/>
            </a:bodyPr>
            <a:lstStyle/>
            <a:p>
              <a:pPr algn="ctr"/>
            </a:p>
          </p:txBody>
        </p:sp>
        <p:sp>
          <p:nvSpPr>
            <p:cNvPr id="9" name="ïšļîďe"/>
            <p:cNvSpPr/>
            <p:nvPr/>
          </p:nvSpPr>
          <p:spPr bwMode="auto">
            <a:xfrm>
              <a:off x="7834558" y="2673323"/>
              <a:ext cx="2502091" cy="2050803"/>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chemeClr val="accent3">
                <a:lumMod val="40000"/>
                <a:lumOff val="60000"/>
              </a:schemeClr>
            </a:solidFill>
            <a:ln>
              <a:noFill/>
            </a:ln>
          </p:spPr>
          <p:txBody>
            <a:bodyPr wrap="square" lIns="91440" tIns="45720" rIns="91440" bIns="45720" anchor="ctr">
              <a:normAutofit/>
            </a:bodyPr>
            <a:lstStyle/>
            <a:p>
              <a:pPr algn="ctr"/>
            </a:p>
          </p:txBody>
        </p:sp>
        <p:sp>
          <p:nvSpPr>
            <p:cNvPr id="10" name="îṡlîde"/>
            <p:cNvSpPr/>
            <p:nvPr/>
          </p:nvSpPr>
          <p:spPr bwMode="auto">
            <a:xfrm>
              <a:off x="8078764" y="2936485"/>
              <a:ext cx="1982818" cy="1631376"/>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chemeClr val="accent5">
                <a:lumMod val="20000"/>
                <a:lumOff val="80000"/>
              </a:schemeClr>
            </a:solidFill>
            <a:ln>
              <a:noFill/>
            </a:ln>
          </p:spPr>
          <p:txBody>
            <a:bodyPr wrap="square" lIns="91440" tIns="45720" rIns="91440" bIns="45720" anchor="ctr">
              <a:normAutofit/>
            </a:bodyPr>
            <a:lstStyle/>
            <a:p>
              <a:pPr algn="ctr"/>
            </a:p>
          </p:txBody>
        </p:sp>
        <p:sp>
          <p:nvSpPr>
            <p:cNvPr id="11" name="ïṣliḋé"/>
            <p:cNvSpPr/>
            <p:nvPr/>
          </p:nvSpPr>
          <p:spPr bwMode="auto">
            <a:xfrm>
              <a:off x="8292486" y="3107995"/>
              <a:ext cx="1556187" cy="1289170"/>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chemeClr val="accent4">
                <a:lumMod val="40000"/>
                <a:lumOff val="60000"/>
              </a:schemeClr>
            </a:solidFill>
            <a:ln>
              <a:noFill/>
            </a:ln>
          </p:spPr>
          <p:txBody>
            <a:bodyPr wrap="square" lIns="91440" tIns="45720" rIns="91440" bIns="45720" anchor="ctr">
              <a:normAutofit/>
            </a:bodyPr>
            <a:lstStyle/>
            <a:p>
              <a:pPr algn="ctr"/>
            </a:p>
          </p:txBody>
        </p:sp>
        <p:sp>
          <p:nvSpPr>
            <p:cNvPr id="12" name="íśľiḋê"/>
            <p:cNvSpPr/>
            <p:nvPr/>
          </p:nvSpPr>
          <p:spPr bwMode="auto">
            <a:xfrm>
              <a:off x="8502144" y="3275440"/>
              <a:ext cx="1136869" cy="954278"/>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chemeClr val="accent5">
                <a:lumMod val="20000"/>
                <a:lumOff val="80000"/>
              </a:schemeClr>
            </a:solidFill>
            <a:ln>
              <a:noFill/>
            </a:ln>
          </p:spPr>
          <p:txBody>
            <a:bodyPr wrap="square" lIns="91440" tIns="45720" rIns="91440" bIns="45720" anchor="ctr">
              <a:normAutofit/>
            </a:bodyPr>
            <a:lstStyle/>
            <a:p>
              <a:pPr algn="ctr"/>
            </a:p>
          </p:txBody>
        </p:sp>
        <p:sp>
          <p:nvSpPr>
            <p:cNvPr id="13" name="ïšḷídè"/>
            <p:cNvSpPr/>
            <p:nvPr/>
          </p:nvSpPr>
          <p:spPr bwMode="auto">
            <a:xfrm>
              <a:off x="8797942" y="3529048"/>
              <a:ext cx="546900" cy="44869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14" name="íṩḻíḑé"/>
            <p:cNvSpPr/>
            <p:nvPr/>
          </p:nvSpPr>
          <p:spPr bwMode="auto">
            <a:xfrm>
              <a:off x="8732259" y="3420605"/>
              <a:ext cx="166759" cy="17273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5" name="isḻíḓê"/>
            <p:cNvSpPr/>
            <p:nvPr/>
          </p:nvSpPr>
          <p:spPr bwMode="auto">
            <a:xfrm>
              <a:off x="8353029" y="3010794"/>
              <a:ext cx="417322" cy="481783"/>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lnSpcReduction="10000"/>
            </a:bodyPr>
            <a:lstStyle/>
            <a:p>
              <a:pPr algn="ctr"/>
            </a:p>
          </p:txBody>
        </p:sp>
        <p:sp>
          <p:nvSpPr>
            <p:cNvPr id="16" name="íŝḷîḑe"/>
            <p:cNvSpPr/>
            <p:nvPr/>
          </p:nvSpPr>
          <p:spPr bwMode="auto">
            <a:xfrm>
              <a:off x="8344564" y="3003173"/>
              <a:ext cx="116816" cy="18627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7" name="íśḷïḋe"/>
            <p:cNvSpPr/>
            <p:nvPr/>
          </p:nvSpPr>
          <p:spPr bwMode="auto">
            <a:xfrm>
              <a:off x="7258511" y="2278383"/>
              <a:ext cx="402086" cy="34546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50000"/>
              </a:schemeClr>
            </a:solidFill>
            <a:ln>
              <a:noFill/>
            </a:ln>
            <a:effectLst/>
          </p:spPr>
          <p:txBody>
            <a:bodyPr wrap="square" lIns="91440" tIns="45720" rIns="91440" bIns="45720" anchor="ctr">
              <a:normAutofit fontScale="70000" lnSpcReduction="20000"/>
            </a:bodyPr>
            <a:lstStyle/>
            <a:p>
              <a:pPr algn="ctr"/>
            </a:p>
          </p:txBody>
        </p:sp>
        <p:sp>
          <p:nvSpPr>
            <p:cNvPr id="18" name="iṣļîḑe"/>
            <p:cNvSpPr/>
            <p:nvPr/>
          </p:nvSpPr>
          <p:spPr bwMode="auto">
            <a:xfrm>
              <a:off x="7555631" y="1960863"/>
              <a:ext cx="148983" cy="38949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solidFill>
            <a:ln>
              <a:noFill/>
            </a:ln>
            <a:effectLst/>
          </p:spPr>
          <p:txBody>
            <a:bodyPr wrap="square" lIns="91440" tIns="45720" rIns="91440" bIns="45720" anchor="ctr">
              <a:normAutofit fontScale="85000" lnSpcReduction="20000"/>
            </a:bodyPr>
            <a:lstStyle/>
            <a:p>
              <a:pPr algn="ctr"/>
            </a:p>
          </p:txBody>
        </p:sp>
        <p:sp>
          <p:nvSpPr>
            <p:cNvPr id="19" name="íślïdé"/>
            <p:cNvSpPr/>
            <p:nvPr/>
          </p:nvSpPr>
          <p:spPr bwMode="auto">
            <a:xfrm>
              <a:off x="7372789" y="2322412"/>
              <a:ext cx="428326" cy="51988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a:bodyPr>
            <a:lstStyle/>
            <a:p>
              <a:pPr algn="ctr"/>
            </a:p>
          </p:txBody>
        </p:sp>
        <p:sp>
          <p:nvSpPr>
            <p:cNvPr id="20" name="iṥ1íde"/>
            <p:cNvSpPr/>
            <p:nvPr/>
          </p:nvSpPr>
          <p:spPr bwMode="auto">
            <a:xfrm>
              <a:off x="7592032" y="1916834"/>
              <a:ext cx="407164" cy="56814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a:bodyPr>
            <a:lstStyle/>
            <a:p>
              <a:pPr algn="ctr"/>
            </a:p>
          </p:txBody>
        </p:sp>
        <p:sp>
          <p:nvSpPr>
            <p:cNvPr id="21" name="îšļíďé"/>
            <p:cNvSpPr/>
            <p:nvPr/>
          </p:nvSpPr>
          <p:spPr bwMode="auto">
            <a:xfrm>
              <a:off x="7658058" y="2350353"/>
              <a:ext cx="766926" cy="78744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chemeClr val="accent3"/>
            </a:solidFill>
            <a:ln>
              <a:noFill/>
            </a:ln>
            <a:effectLst/>
          </p:spPr>
          <p:txBody>
            <a:bodyPr wrap="square" lIns="91440" tIns="45720" rIns="91440" bIns="45720" anchor="ctr">
              <a:normAutofit/>
            </a:bodyPr>
            <a:lstStyle/>
            <a:p>
              <a:pPr algn="ctr"/>
            </a:p>
          </p:txBody>
        </p:sp>
        <p:sp>
          <p:nvSpPr>
            <p:cNvPr id="22" name="iṩlîdê"/>
            <p:cNvSpPr/>
            <p:nvPr/>
          </p:nvSpPr>
          <p:spPr bwMode="auto">
            <a:xfrm>
              <a:off x="9725576" y="3684364"/>
              <a:ext cx="160589" cy="16633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23" name="îṥlïḍê"/>
            <p:cNvSpPr/>
            <p:nvPr/>
          </p:nvSpPr>
          <p:spPr bwMode="auto">
            <a:xfrm>
              <a:off x="9360379" y="3289717"/>
              <a:ext cx="401879" cy="463955"/>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lnSpcReduction="10000"/>
            </a:bodyPr>
            <a:lstStyle/>
            <a:p>
              <a:pPr algn="ctr"/>
            </a:p>
          </p:txBody>
        </p:sp>
        <p:sp>
          <p:nvSpPr>
            <p:cNvPr id="24" name="iṡļïdè"/>
            <p:cNvSpPr/>
            <p:nvPr/>
          </p:nvSpPr>
          <p:spPr bwMode="auto">
            <a:xfrm>
              <a:off x="9352226" y="3282379"/>
              <a:ext cx="112494" cy="179386"/>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25" name="îṡļiḋe"/>
            <p:cNvSpPr/>
            <p:nvPr/>
          </p:nvSpPr>
          <p:spPr bwMode="auto">
            <a:xfrm>
              <a:off x="8306363" y="2584410"/>
              <a:ext cx="387207" cy="332677"/>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3"/>
            </a:solidFill>
            <a:ln>
              <a:noFill/>
            </a:ln>
            <a:effectLst/>
          </p:spPr>
          <p:txBody>
            <a:bodyPr wrap="square" lIns="91440" tIns="45720" rIns="91440" bIns="45720" anchor="ctr">
              <a:normAutofit fontScale="62500" lnSpcReduction="20000"/>
            </a:bodyPr>
            <a:lstStyle/>
            <a:p>
              <a:pPr algn="ctr"/>
            </a:p>
          </p:txBody>
        </p:sp>
        <p:sp>
          <p:nvSpPr>
            <p:cNvPr id="26" name="ïṧlîḋè"/>
            <p:cNvSpPr/>
            <p:nvPr/>
          </p:nvSpPr>
          <p:spPr bwMode="auto">
            <a:xfrm>
              <a:off x="8592488" y="2278640"/>
              <a:ext cx="143470" cy="375078"/>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4"/>
            </a:solidFill>
            <a:ln>
              <a:noFill/>
            </a:ln>
            <a:effectLst/>
          </p:spPr>
          <p:txBody>
            <a:bodyPr wrap="square" lIns="91440" tIns="45720" rIns="91440" bIns="45720" anchor="ctr">
              <a:normAutofit fontScale="85000" lnSpcReduction="20000"/>
            </a:bodyPr>
            <a:lstStyle/>
            <a:p>
              <a:pPr algn="ctr"/>
            </a:p>
          </p:txBody>
        </p:sp>
        <p:sp>
          <p:nvSpPr>
            <p:cNvPr id="27" name="íṣḷiḑe"/>
            <p:cNvSpPr/>
            <p:nvPr/>
          </p:nvSpPr>
          <p:spPr bwMode="auto">
            <a:xfrm>
              <a:off x="8416411" y="2626809"/>
              <a:ext cx="412476" cy="500647"/>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a:bodyPr>
            <a:lstStyle/>
            <a:p>
              <a:pPr algn="ctr"/>
            </a:p>
          </p:txBody>
        </p:sp>
        <p:sp>
          <p:nvSpPr>
            <p:cNvPr id="28" name="îŝ1îḋé"/>
            <p:cNvSpPr/>
            <p:nvPr/>
          </p:nvSpPr>
          <p:spPr bwMode="auto">
            <a:xfrm>
              <a:off x="8627540" y="2236237"/>
              <a:ext cx="392097" cy="547123"/>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a:bodyPr>
            <a:lstStyle/>
            <a:p>
              <a:pPr algn="ctr"/>
            </a:p>
          </p:txBody>
        </p:sp>
        <p:sp>
          <p:nvSpPr>
            <p:cNvPr id="29" name="íṡliḍé"/>
            <p:cNvSpPr/>
            <p:nvPr/>
          </p:nvSpPr>
          <p:spPr bwMode="auto">
            <a:xfrm>
              <a:off x="8691126" y="2653714"/>
              <a:ext cx="738545" cy="75830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a:bodyPr>
            <a:lstStyle/>
            <a:p>
              <a:pPr algn="ctr"/>
            </a:p>
          </p:txBody>
        </p:sp>
        <p:sp>
          <p:nvSpPr>
            <p:cNvPr id="30" name="îŝḷiḓé"/>
            <p:cNvSpPr/>
            <p:nvPr/>
          </p:nvSpPr>
          <p:spPr bwMode="auto">
            <a:xfrm>
              <a:off x="8960093" y="4104624"/>
              <a:ext cx="158920" cy="16460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31" name="ïšlíḓè"/>
            <p:cNvSpPr/>
            <p:nvPr/>
          </p:nvSpPr>
          <p:spPr bwMode="auto">
            <a:xfrm>
              <a:off x="8598694" y="3714079"/>
              <a:ext cx="397701" cy="459131"/>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lnSpcReduction="10000"/>
            </a:bodyPr>
            <a:lstStyle/>
            <a:p>
              <a:pPr algn="ctr"/>
            </a:p>
          </p:txBody>
        </p:sp>
        <p:sp>
          <p:nvSpPr>
            <p:cNvPr id="32" name="îşliḍê"/>
            <p:cNvSpPr/>
            <p:nvPr/>
          </p:nvSpPr>
          <p:spPr bwMode="auto">
            <a:xfrm>
              <a:off x="8590628" y="3706817"/>
              <a:ext cx="111324" cy="17752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33" name="işḷîḋè"/>
            <p:cNvSpPr/>
            <p:nvPr/>
          </p:nvSpPr>
          <p:spPr bwMode="auto">
            <a:xfrm>
              <a:off x="7555640" y="3016104"/>
              <a:ext cx="383180" cy="32922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75000"/>
              </a:schemeClr>
            </a:solidFill>
            <a:ln>
              <a:noFill/>
            </a:ln>
            <a:effectLst/>
          </p:spPr>
          <p:txBody>
            <a:bodyPr wrap="square" lIns="91440" tIns="45720" rIns="91440" bIns="45720" anchor="ctr">
              <a:normAutofit fontScale="62500" lnSpcReduction="20000"/>
            </a:bodyPr>
            <a:lstStyle/>
            <a:p>
              <a:pPr algn="ctr"/>
            </a:p>
          </p:txBody>
        </p:sp>
        <p:sp>
          <p:nvSpPr>
            <p:cNvPr id="34" name="í$1ïḓê"/>
            <p:cNvSpPr/>
            <p:nvPr/>
          </p:nvSpPr>
          <p:spPr bwMode="auto">
            <a:xfrm>
              <a:off x="7838789" y="2713513"/>
              <a:ext cx="141979" cy="37117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lumMod val="75000"/>
              </a:schemeClr>
            </a:solidFill>
            <a:ln>
              <a:noFill/>
            </a:ln>
            <a:effectLst/>
          </p:spPr>
          <p:txBody>
            <a:bodyPr wrap="square" lIns="91440" tIns="45720" rIns="91440" bIns="45720" anchor="ctr">
              <a:normAutofit fontScale="85000" lnSpcReduction="20000"/>
            </a:bodyPr>
            <a:lstStyle/>
            <a:p>
              <a:pPr algn="ctr"/>
            </a:p>
          </p:txBody>
        </p:sp>
        <p:sp>
          <p:nvSpPr>
            <p:cNvPr id="35" name="ïŝľîdé"/>
            <p:cNvSpPr/>
            <p:nvPr/>
          </p:nvSpPr>
          <p:spPr bwMode="auto">
            <a:xfrm>
              <a:off x="7664541" y="3047772"/>
              <a:ext cx="408189" cy="495442"/>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1"/>
            </a:solidFill>
            <a:ln>
              <a:noFill/>
            </a:ln>
            <a:effectLst/>
          </p:spPr>
          <p:txBody>
            <a:bodyPr wrap="square" lIns="91440" tIns="45720" rIns="91440" bIns="45720" anchor="ctr">
              <a:normAutofit/>
            </a:bodyPr>
            <a:lstStyle/>
            <a:p>
              <a:pPr algn="ctr"/>
            </a:p>
          </p:txBody>
        </p:sp>
        <p:sp>
          <p:nvSpPr>
            <p:cNvPr id="36" name="íśḻiḋé"/>
            <p:cNvSpPr/>
            <p:nvPr/>
          </p:nvSpPr>
          <p:spPr bwMode="auto">
            <a:xfrm>
              <a:off x="7868333" y="2676702"/>
              <a:ext cx="388022" cy="54143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1"/>
            </a:solidFill>
            <a:ln>
              <a:noFill/>
            </a:ln>
            <a:effectLst/>
          </p:spPr>
          <p:txBody>
            <a:bodyPr wrap="square" lIns="91440" tIns="45720" rIns="91440" bIns="45720" anchor="ctr">
              <a:normAutofit/>
            </a:bodyPr>
            <a:lstStyle/>
            <a:p>
              <a:pPr algn="ctr"/>
            </a:p>
          </p:txBody>
        </p:sp>
        <p:sp>
          <p:nvSpPr>
            <p:cNvPr id="37" name="ïṡ1ïďè"/>
            <p:cNvSpPr/>
            <p:nvPr/>
          </p:nvSpPr>
          <p:spPr bwMode="auto">
            <a:xfrm>
              <a:off x="7936404" y="3084690"/>
              <a:ext cx="730867" cy="75042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a:bodyPr>
            <a:lstStyle/>
            <a:p>
              <a:pPr algn="ctr"/>
            </a:p>
          </p:txBody>
        </p:sp>
      </p:grpSp>
      <p:grpSp>
        <p:nvGrpSpPr>
          <p:cNvPr id="38" name="îsḻïḋê"/>
          <p:cNvGrpSpPr/>
          <p:nvPr/>
        </p:nvGrpSpPr>
        <p:grpSpPr>
          <a:xfrm>
            <a:off x="616587" y="883730"/>
            <a:ext cx="398905" cy="397482"/>
            <a:chOff x="7258511" y="1916834"/>
            <a:chExt cx="3670965" cy="3395592"/>
          </a:xfrm>
        </p:grpSpPr>
        <p:sp>
          <p:nvSpPr>
            <p:cNvPr id="39" name="ïṡḻíḑé"/>
            <p:cNvSpPr/>
            <p:nvPr/>
          </p:nvSpPr>
          <p:spPr bwMode="auto">
            <a:xfrm>
              <a:off x="7377468" y="2399195"/>
              <a:ext cx="3552008" cy="2913231"/>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chemeClr val="accent1">
                <a:lumMod val="50000"/>
              </a:schemeClr>
            </a:solidFill>
            <a:ln>
              <a:noFill/>
            </a:ln>
          </p:spPr>
          <p:txBody>
            <a:bodyPr wrap="square" lIns="91440" tIns="45720" rIns="91440" bIns="45720" anchor="ctr">
              <a:normAutofit lnSpcReduction="10000"/>
            </a:bodyPr>
            <a:lstStyle/>
            <a:p>
              <a:pPr algn="ctr"/>
            </a:p>
          </p:txBody>
        </p:sp>
        <p:sp>
          <p:nvSpPr>
            <p:cNvPr id="40" name="îšľíḍé"/>
            <p:cNvSpPr/>
            <p:nvPr/>
          </p:nvSpPr>
          <p:spPr bwMode="auto">
            <a:xfrm>
              <a:off x="7340899" y="2353676"/>
              <a:ext cx="3552008" cy="2913231"/>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41" name="íşḷîḓè"/>
            <p:cNvSpPr/>
            <p:nvPr/>
          </p:nvSpPr>
          <p:spPr bwMode="auto">
            <a:xfrm>
              <a:off x="7294577" y="2295964"/>
              <a:ext cx="3552008" cy="291323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5"/>
            </a:solidFill>
            <a:ln>
              <a:noFill/>
            </a:ln>
          </p:spPr>
          <p:txBody>
            <a:bodyPr wrap="square" lIns="91440" tIns="45720" rIns="91440" bIns="45720" anchor="ctr">
              <a:normAutofit lnSpcReduction="10000"/>
            </a:bodyPr>
            <a:lstStyle/>
            <a:p>
              <a:pPr algn="ctr"/>
            </a:p>
          </p:txBody>
        </p:sp>
        <p:sp>
          <p:nvSpPr>
            <p:cNvPr id="42" name="íSľíḍè"/>
            <p:cNvSpPr/>
            <p:nvPr/>
          </p:nvSpPr>
          <p:spPr bwMode="auto">
            <a:xfrm>
              <a:off x="7631008" y="2572331"/>
              <a:ext cx="2879151" cy="2361310"/>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chemeClr val="accent5">
                <a:lumMod val="20000"/>
                <a:lumOff val="80000"/>
              </a:schemeClr>
            </a:solidFill>
            <a:ln>
              <a:noFill/>
            </a:ln>
          </p:spPr>
          <p:txBody>
            <a:bodyPr wrap="square" lIns="91440" tIns="45720" rIns="91440" bIns="45720" anchor="ctr">
              <a:normAutofit fontScale="77500" lnSpcReduction="20000"/>
            </a:bodyPr>
            <a:lstStyle/>
            <a:p>
              <a:pPr algn="ctr"/>
            </a:p>
          </p:txBody>
        </p:sp>
        <p:sp>
          <p:nvSpPr>
            <p:cNvPr id="43" name="ïšļîďe"/>
            <p:cNvSpPr/>
            <p:nvPr/>
          </p:nvSpPr>
          <p:spPr bwMode="auto">
            <a:xfrm>
              <a:off x="7834558" y="2673323"/>
              <a:ext cx="2502091" cy="2050803"/>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chemeClr val="accent3">
                <a:lumMod val="40000"/>
                <a:lumOff val="60000"/>
              </a:schemeClr>
            </a:solidFill>
            <a:ln>
              <a:noFill/>
            </a:ln>
          </p:spPr>
          <p:txBody>
            <a:bodyPr wrap="square" lIns="91440" tIns="45720" rIns="91440" bIns="45720" anchor="ctr">
              <a:normAutofit fontScale="62500" lnSpcReduction="20000"/>
            </a:bodyPr>
            <a:lstStyle/>
            <a:p>
              <a:pPr algn="ctr"/>
            </a:p>
          </p:txBody>
        </p:sp>
        <p:sp>
          <p:nvSpPr>
            <p:cNvPr id="44" name="îṡlîde"/>
            <p:cNvSpPr/>
            <p:nvPr/>
          </p:nvSpPr>
          <p:spPr bwMode="auto">
            <a:xfrm>
              <a:off x="8078764" y="2936485"/>
              <a:ext cx="1982818" cy="1631376"/>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chemeClr val="accent5">
                <a:lumMod val="20000"/>
                <a:lumOff val="80000"/>
              </a:schemeClr>
            </a:solidFill>
            <a:ln>
              <a:noFill/>
            </a:ln>
          </p:spPr>
          <p:txBody>
            <a:bodyPr wrap="square" lIns="91440" tIns="45720" rIns="91440" bIns="45720" anchor="ctr">
              <a:normAutofit fontScale="40000" lnSpcReduction="20000"/>
            </a:bodyPr>
            <a:lstStyle/>
            <a:p>
              <a:pPr algn="ctr"/>
            </a:p>
          </p:txBody>
        </p:sp>
        <p:sp>
          <p:nvSpPr>
            <p:cNvPr id="45" name="ïṣliḋé"/>
            <p:cNvSpPr/>
            <p:nvPr/>
          </p:nvSpPr>
          <p:spPr bwMode="auto">
            <a:xfrm>
              <a:off x="8292486" y="3107995"/>
              <a:ext cx="1556187" cy="1289170"/>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chemeClr val="accent4">
                <a:lumMod val="40000"/>
                <a:lumOff val="60000"/>
              </a:schemeClr>
            </a:solidFill>
            <a:ln>
              <a:noFill/>
            </a:ln>
          </p:spPr>
          <p:txBody>
            <a:bodyPr wrap="square" lIns="91440" tIns="45720" rIns="91440" bIns="45720" anchor="ctr">
              <a:normAutofit fontScale="25000" lnSpcReduction="20000"/>
            </a:bodyPr>
            <a:lstStyle/>
            <a:p>
              <a:pPr algn="ctr"/>
            </a:p>
          </p:txBody>
        </p:sp>
        <p:sp>
          <p:nvSpPr>
            <p:cNvPr id="46" name="íśľiḋê"/>
            <p:cNvSpPr/>
            <p:nvPr/>
          </p:nvSpPr>
          <p:spPr bwMode="auto">
            <a:xfrm>
              <a:off x="8502144" y="3275440"/>
              <a:ext cx="1136869" cy="954278"/>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chemeClr val="accent5">
                <a:lumMod val="20000"/>
                <a:lumOff val="80000"/>
              </a:schemeClr>
            </a:solidFill>
            <a:ln>
              <a:noFill/>
            </a:ln>
          </p:spPr>
          <p:txBody>
            <a:bodyPr wrap="square" lIns="91440" tIns="45720" rIns="91440" bIns="45720" anchor="ctr">
              <a:normAutofit fontScale="25000" lnSpcReduction="20000"/>
            </a:bodyPr>
            <a:lstStyle/>
            <a:p>
              <a:pPr algn="ctr"/>
            </a:p>
          </p:txBody>
        </p:sp>
        <p:sp>
          <p:nvSpPr>
            <p:cNvPr id="47" name="ïšḷídè"/>
            <p:cNvSpPr/>
            <p:nvPr/>
          </p:nvSpPr>
          <p:spPr bwMode="auto">
            <a:xfrm>
              <a:off x="8797942" y="3529048"/>
              <a:ext cx="546900" cy="44869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chemeClr val="accent1"/>
            </a:solidFill>
            <a:ln>
              <a:noFill/>
            </a:ln>
          </p:spPr>
          <p:txBody>
            <a:bodyPr wrap="square" lIns="91440" tIns="45720" rIns="91440" bIns="45720" anchor="ctr">
              <a:normAutofit fontScale="25000" lnSpcReduction="20000"/>
            </a:bodyPr>
            <a:lstStyle/>
            <a:p>
              <a:pPr algn="ctr"/>
            </a:p>
          </p:txBody>
        </p:sp>
        <p:sp>
          <p:nvSpPr>
            <p:cNvPr id="48" name="íṩḻíḑé"/>
            <p:cNvSpPr/>
            <p:nvPr/>
          </p:nvSpPr>
          <p:spPr bwMode="auto">
            <a:xfrm>
              <a:off x="8732259" y="3420605"/>
              <a:ext cx="166759" cy="17273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49" name="isḻíḓê"/>
            <p:cNvSpPr/>
            <p:nvPr/>
          </p:nvSpPr>
          <p:spPr bwMode="auto">
            <a:xfrm>
              <a:off x="8353029" y="3010794"/>
              <a:ext cx="417322" cy="481783"/>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0" name="íŝḷîḑe"/>
            <p:cNvSpPr/>
            <p:nvPr/>
          </p:nvSpPr>
          <p:spPr bwMode="auto">
            <a:xfrm>
              <a:off x="8344564" y="3003173"/>
              <a:ext cx="116816" cy="18627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51" name="íśḷïḋe"/>
            <p:cNvSpPr/>
            <p:nvPr/>
          </p:nvSpPr>
          <p:spPr bwMode="auto">
            <a:xfrm>
              <a:off x="7258511" y="2278383"/>
              <a:ext cx="402086" cy="34546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3" name="iṣļîḑe"/>
            <p:cNvSpPr/>
            <p:nvPr/>
          </p:nvSpPr>
          <p:spPr bwMode="auto">
            <a:xfrm>
              <a:off x="7555631" y="1960863"/>
              <a:ext cx="148983" cy="38949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54" name="íślïdé"/>
            <p:cNvSpPr/>
            <p:nvPr/>
          </p:nvSpPr>
          <p:spPr bwMode="auto">
            <a:xfrm>
              <a:off x="7372789" y="2322412"/>
              <a:ext cx="428326" cy="51988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5" name="iṥ1íde"/>
            <p:cNvSpPr/>
            <p:nvPr/>
          </p:nvSpPr>
          <p:spPr bwMode="auto">
            <a:xfrm>
              <a:off x="7592032" y="1916834"/>
              <a:ext cx="407164" cy="56814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6" name="îšļíďé"/>
            <p:cNvSpPr/>
            <p:nvPr/>
          </p:nvSpPr>
          <p:spPr bwMode="auto">
            <a:xfrm>
              <a:off x="7658058" y="2350353"/>
              <a:ext cx="766926" cy="78744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0" name="iṩlîdê"/>
            <p:cNvSpPr/>
            <p:nvPr/>
          </p:nvSpPr>
          <p:spPr bwMode="auto">
            <a:xfrm>
              <a:off x="9725576" y="3684364"/>
              <a:ext cx="160589" cy="16633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62" name="îṥlïḍê"/>
            <p:cNvSpPr/>
            <p:nvPr/>
          </p:nvSpPr>
          <p:spPr bwMode="auto">
            <a:xfrm>
              <a:off x="9360379" y="3289717"/>
              <a:ext cx="401879" cy="463955"/>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64" name="iṡļïdè"/>
            <p:cNvSpPr/>
            <p:nvPr/>
          </p:nvSpPr>
          <p:spPr bwMode="auto">
            <a:xfrm>
              <a:off x="9352226" y="3282379"/>
              <a:ext cx="112494" cy="179386"/>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67" name="îṡļiḋe"/>
            <p:cNvSpPr/>
            <p:nvPr/>
          </p:nvSpPr>
          <p:spPr bwMode="auto">
            <a:xfrm>
              <a:off x="8306363" y="2584410"/>
              <a:ext cx="387207" cy="332677"/>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9" name="ïṧlîḋè"/>
            <p:cNvSpPr/>
            <p:nvPr/>
          </p:nvSpPr>
          <p:spPr bwMode="auto">
            <a:xfrm>
              <a:off x="8592488" y="2278640"/>
              <a:ext cx="143470" cy="375078"/>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4"/>
            </a:solidFill>
            <a:ln>
              <a:noFill/>
            </a:ln>
            <a:effectLst/>
          </p:spPr>
          <p:txBody>
            <a:bodyPr wrap="square" lIns="91440" tIns="45720" rIns="91440" bIns="45720" anchor="ctr">
              <a:normAutofit fontScale="25000" lnSpcReduction="20000"/>
            </a:bodyPr>
            <a:lstStyle/>
            <a:p>
              <a:pPr algn="ctr"/>
            </a:p>
          </p:txBody>
        </p:sp>
        <p:sp>
          <p:nvSpPr>
            <p:cNvPr id="104" name="íṣḷiḑe"/>
            <p:cNvSpPr/>
            <p:nvPr/>
          </p:nvSpPr>
          <p:spPr bwMode="auto">
            <a:xfrm>
              <a:off x="8416411" y="2626809"/>
              <a:ext cx="412476" cy="500647"/>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6" name="îŝ1îḋé"/>
            <p:cNvSpPr/>
            <p:nvPr/>
          </p:nvSpPr>
          <p:spPr bwMode="auto">
            <a:xfrm>
              <a:off x="8627540" y="2236237"/>
              <a:ext cx="392097" cy="547123"/>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8" name="íṡliḍé"/>
            <p:cNvSpPr/>
            <p:nvPr/>
          </p:nvSpPr>
          <p:spPr bwMode="auto">
            <a:xfrm>
              <a:off x="8691126" y="2653714"/>
              <a:ext cx="738545" cy="75830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09" name="îŝḷiḓé"/>
            <p:cNvSpPr/>
            <p:nvPr/>
          </p:nvSpPr>
          <p:spPr bwMode="auto">
            <a:xfrm>
              <a:off x="8960093" y="4104624"/>
              <a:ext cx="158920" cy="16460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10" name="ïšlíḓè"/>
            <p:cNvSpPr/>
            <p:nvPr/>
          </p:nvSpPr>
          <p:spPr bwMode="auto">
            <a:xfrm>
              <a:off x="8598694" y="3714079"/>
              <a:ext cx="397701" cy="459131"/>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11" name="îşliḍê"/>
            <p:cNvSpPr/>
            <p:nvPr/>
          </p:nvSpPr>
          <p:spPr bwMode="auto">
            <a:xfrm>
              <a:off x="8590628" y="3706817"/>
              <a:ext cx="111324" cy="17752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12" name="işḷîḋè"/>
            <p:cNvSpPr/>
            <p:nvPr/>
          </p:nvSpPr>
          <p:spPr bwMode="auto">
            <a:xfrm>
              <a:off x="7555640" y="3016104"/>
              <a:ext cx="383180" cy="32922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3" name="í$1ïḓê"/>
            <p:cNvSpPr/>
            <p:nvPr/>
          </p:nvSpPr>
          <p:spPr bwMode="auto">
            <a:xfrm>
              <a:off x="7838789" y="2713513"/>
              <a:ext cx="141979" cy="37117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4" name="ïŝľîdé"/>
            <p:cNvSpPr/>
            <p:nvPr/>
          </p:nvSpPr>
          <p:spPr bwMode="auto">
            <a:xfrm>
              <a:off x="7664541" y="3047772"/>
              <a:ext cx="408189" cy="495442"/>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0" name="íśḻiḋé"/>
            <p:cNvSpPr/>
            <p:nvPr/>
          </p:nvSpPr>
          <p:spPr bwMode="auto">
            <a:xfrm>
              <a:off x="7868333" y="2676702"/>
              <a:ext cx="388022" cy="54143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1" name="ïṡ1ïďè"/>
            <p:cNvSpPr/>
            <p:nvPr/>
          </p:nvSpPr>
          <p:spPr bwMode="auto">
            <a:xfrm>
              <a:off x="7936404" y="3084690"/>
              <a:ext cx="730867" cy="75042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grpSp>
      <p:sp>
        <p:nvSpPr>
          <p:cNvPr id="122" name="íṡḻíďè"/>
          <p:cNvSpPr/>
          <p:nvPr/>
        </p:nvSpPr>
        <p:spPr>
          <a:xfrm>
            <a:off x="566651" y="3643979"/>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99" name="íş1íḍê"/>
          <p:cNvSpPr/>
          <p:nvPr/>
        </p:nvSpPr>
        <p:spPr>
          <a:xfrm>
            <a:off x="566651" y="5215462"/>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00" name="ïSḻîḑe"/>
          <p:cNvSpPr/>
          <p:nvPr/>
        </p:nvSpPr>
        <p:spPr bwMode="auto">
          <a:xfrm>
            <a:off x="800651" y="5449462"/>
            <a:ext cx="792000" cy="792000"/>
          </a:xfrm>
          <a:custGeom>
            <a:avLst/>
            <a:gdLst/>
            <a:ahLst/>
            <a:cxnLst>
              <a:cxn ang="0">
                <a:pos x="19" y="108"/>
              </a:cxn>
              <a:cxn ang="0">
                <a:pos x="17" y="104"/>
              </a:cxn>
              <a:cxn ang="0">
                <a:pos x="58" y="102"/>
              </a:cxn>
              <a:cxn ang="0">
                <a:pos x="60" y="106"/>
              </a:cxn>
              <a:cxn ang="0">
                <a:pos x="62" y="90"/>
              </a:cxn>
              <a:cxn ang="0">
                <a:pos x="17" y="87"/>
              </a:cxn>
              <a:cxn ang="0">
                <a:pos x="19" y="83"/>
              </a:cxn>
              <a:cxn ang="0">
                <a:pos x="65" y="85"/>
              </a:cxn>
              <a:cxn ang="0">
                <a:pos x="62" y="90"/>
              </a:cxn>
              <a:cxn ang="0">
                <a:pos x="19" y="54"/>
              </a:cxn>
              <a:cxn ang="0">
                <a:pos x="17" y="50"/>
              </a:cxn>
              <a:cxn ang="0">
                <a:pos x="73" y="48"/>
              </a:cxn>
              <a:cxn ang="0">
                <a:pos x="75" y="52"/>
              </a:cxn>
              <a:cxn ang="0">
                <a:pos x="73" y="73"/>
              </a:cxn>
              <a:cxn ang="0">
                <a:pos x="17" y="71"/>
              </a:cxn>
              <a:cxn ang="0">
                <a:pos x="19" y="67"/>
              </a:cxn>
              <a:cxn ang="0">
                <a:pos x="75" y="69"/>
              </a:cxn>
              <a:cxn ang="0">
                <a:pos x="73" y="73"/>
              </a:cxn>
              <a:cxn ang="0">
                <a:pos x="93" y="132"/>
              </a:cxn>
              <a:cxn ang="0">
                <a:pos x="87" y="132"/>
              </a:cxn>
              <a:cxn ang="0">
                <a:pos x="76" y="118"/>
              </a:cxn>
              <a:cxn ang="0">
                <a:pos x="89" y="123"/>
              </a:cxn>
              <a:cxn ang="0">
                <a:pos x="109" y="107"/>
              </a:cxn>
              <a:cxn ang="0">
                <a:pos x="92" y="92"/>
              </a:cxn>
              <a:cxn ang="0">
                <a:pos x="92" y="146"/>
              </a:cxn>
              <a:cxn ang="0">
                <a:pos x="92" y="92"/>
              </a:cxn>
              <a:cxn ang="0">
                <a:pos x="8" y="131"/>
              </a:cxn>
              <a:cxn ang="0">
                <a:pos x="0" y="23"/>
              </a:cxn>
              <a:cxn ang="0">
                <a:pos x="23" y="15"/>
              </a:cxn>
              <a:cxn ang="0">
                <a:pos x="33" y="27"/>
              </a:cxn>
              <a:cxn ang="0">
                <a:pos x="71" y="17"/>
              </a:cxn>
              <a:cxn ang="0">
                <a:pos x="83" y="15"/>
              </a:cxn>
              <a:cxn ang="0">
                <a:pos x="94" y="86"/>
              </a:cxn>
              <a:cxn ang="0">
                <a:pos x="83" y="87"/>
              </a:cxn>
              <a:cxn ang="0">
                <a:pos x="11" y="38"/>
              </a:cxn>
              <a:cxn ang="0">
                <a:pos x="58" y="121"/>
              </a:cxn>
              <a:cxn ang="0">
                <a:pos x="47" y="11"/>
              </a:cxn>
              <a:cxn ang="0">
                <a:pos x="47" y="4"/>
              </a:cxn>
              <a:cxn ang="0">
                <a:pos x="47" y="11"/>
              </a:cxn>
              <a:cxn ang="0">
                <a:pos x="57" y="11"/>
              </a:cxn>
              <a:cxn ang="0">
                <a:pos x="54" y="7"/>
              </a:cxn>
              <a:cxn ang="0">
                <a:pos x="47" y="0"/>
              </a:cxn>
              <a:cxn ang="0">
                <a:pos x="40" y="7"/>
              </a:cxn>
              <a:cxn ang="0">
                <a:pos x="33" y="11"/>
              </a:cxn>
              <a:cxn ang="0">
                <a:pos x="27" y="17"/>
              </a:cxn>
              <a:cxn ang="0">
                <a:pos x="60" y="23"/>
              </a:cxn>
              <a:cxn ang="0">
                <a:pos x="67" y="17"/>
              </a:cxn>
            </a:cxnLst>
            <a:rect l="0" t="0" r="r" b="b"/>
            <a:pathLst>
              <a:path w="119" h="146">
                <a:moveTo>
                  <a:pt x="58" y="108"/>
                </a:moveTo>
                <a:cubicBezTo>
                  <a:pt x="19" y="108"/>
                  <a:pt x="19" y="108"/>
                  <a:pt x="19" y="108"/>
                </a:cubicBezTo>
                <a:cubicBezTo>
                  <a:pt x="18" y="108"/>
                  <a:pt x="17" y="107"/>
                  <a:pt x="17" y="106"/>
                </a:cubicBezTo>
                <a:cubicBezTo>
                  <a:pt x="17" y="104"/>
                  <a:pt x="17" y="104"/>
                  <a:pt x="17" y="104"/>
                </a:cubicBezTo>
                <a:cubicBezTo>
                  <a:pt x="17" y="103"/>
                  <a:pt x="18" y="102"/>
                  <a:pt x="19" y="102"/>
                </a:cubicBezTo>
                <a:cubicBezTo>
                  <a:pt x="58" y="102"/>
                  <a:pt x="58" y="102"/>
                  <a:pt x="58" y="102"/>
                </a:cubicBezTo>
                <a:cubicBezTo>
                  <a:pt x="59" y="102"/>
                  <a:pt x="60" y="103"/>
                  <a:pt x="60" y="104"/>
                </a:cubicBezTo>
                <a:cubicBezTo>
                  <a:pt x="60" y="106"/>
                  <a:pt x="60" y="106"/>
                  <a:pt x="60" y="106"/>
                </a:cubicBezTo>
                <a:cubicBezTo>
                  <a:pt x="60" y="107"/>
                  <a:pt x="59" y="108"/>
                  <a:pt x="58" y="108"/>
                </a:cubicBezTo>
                <a:moveTo>
                  <a:pt x="62" y="90"/>
                </a:moveTo>
                <a:cubicBezTo>
                  <a:pt x="19" y="90"/>
                  <a:pt x="19" y="90"/>
                  <a:pt x="19" y="90"/>
                </a:cubicBezTo>
                <a:cubicBezTo>
                  <a:pt x="18" y="90"/>
                  <a:pt x="17" y="89"/>
                  <a:pt x="17" y="87"/>
                </a:cubicBezTo>
                <a:cubicBezTo>
                  <a:pt x="17" y="85"/>
                  <a:pt x="17" y="85"/>
                  <a:pt x="17" y="85"/>
                </a:cubicBezTo>
                <a:cubicBezTo>
                  <a:pt x="17" y="84"/>
                  <a:pt x="18" y="83"/>
                  <a:pt x="19" y="83"/>
                </a:cubicBezTo>
                <a:cubicBezTo>
                  <a:pt x="62" y="83"/>
                  <a:pt x="62" y="83"/>
                  <a:pt x="62" y="83"/>
                </a:cubicBezTo>
                <a:cubicBezTo>
                  <a:pt x="64" y="83"/>
                  <a:pt x="65" y="84"/>
                  <a:pt x="65" y="85"/>
                </a:cubicBezTo>
                <a:cubicBezTo>
                  <a:pt x="65" y="87"/>
                  <a:pt x="65" y="87"/>
                  <a:pt x="65" y="87"/>
                </a:cubicBezTo>
                <a:cubicBezTo>
                  <a:pt x="65" y="89"/>
                  <a:pt x="64" y="90"/>
                  <a:pt x="62" y="90"/>
                </a:cubicBezTo>
                <a:moveTo>
                  <a:pt x="73" y="54"/>
                </a:moveTo>
                <a:cubicBezTo>
                  <a:pt x="19" y="54"/>
                  <a:pt x="19" y="54"/>
                  <a:pt x="19" y="54"/>
                </a:cubicBezTo>
                <a:cubicBezTo>
                  <a:pt x="18" y="54"/>
                  <a:pt x="17" y="53"/>
                  <a:pt x="17" y="52"/>
                </a:cubicBezTo>
                <a:cubicBezTo>
                  <a:pt x="17" y="50"/>
                  <a:pt x="17" y="50"/>
                  <a:pt x="17" y="50"/>
                </a:cubicBezTo>
                <a:cubicBezTo>
                  <a:pt x="17" y="49"/>
                  <a:pt x="18" y="48"/>
                  <a:pt x="19" y="48"/>
                </a:cubicBezTo>
                <a:cubicBezTo>
                  <a:pt x="73" y="48"/>
                  <a:pt x="73" y="48"/>
                  <a:pt x="73" y="48"/>
                </a:cubicBezTo>
                <a:cubicBezTo>
                  <a:pt x="74" y="48"/>
                  <a:pt x="75" y="49"/>
                  <a:pt x="75" y="50"/>
                </a:cubicBezTo>
                <a:cubicBezTo>
                  <a:pt x="75" y="52"/>
                  <a:pt x="75" y="52"/>
                  <a:pt x="75" y="52"/>
                </a:cubicBezTo>
                <a:cubicBezTo>
                  <a:pt x="75" y="53"/>
                  <a:pt x="74" y="54"/>
                  <a:pt x="73" y="54"/>
                </a:cubicBezTo>
                <a:moveTo>
                  <a:pt x="73" y="73"/>
                </a:moveTo>
                <a:cubicBezTo>
                  <a:pt x="19" y="73"/>
                  <a:pt x="19" y="73"/>
                  <a:pt x="19" y="73"/>
                </a:cubicBezTo>
                <a:cubicBezTo>
                  <a:pt x="18" y="73"/>
                  <a:pt x="17" y="72"/>
                  <a:pt x="17" y="71"/>
                </a:cubicBezTo>
                <a:cubicBezTo>
                  <a:pt x="17" y="69"/>
                  <a:pt x="17" y="69"/>
                  <a:pt x="17" y="69"/>
                </a:cubicBezTo>
                <a:cubicBezTo>
                  <a:pt x="17" y="68"/>
                  <a:pt x="18" y="67"/>
                  <a:pt x="19" y="67"/>
                </a:cubicBezTo>
                <a:cubicBezTo>
                  <a:pt x="73" y="67"/>
                  <a:pt x="73" y="67"/>
                  <a:pt x="73" y="67"/>
                </a:cubicBezTo>
                <a:cubicBezTo>
                  <a:pt x="74" y="67"/>
                  <a:pt x="75" y="68"/>
                  <a:pt x="75" y="69"/>
                </a:cubicBezTo>
                <a:cubicBezTo>
                  <a:pt x="75" y="71"/>
                  <a:pt x="75" y="71"/>
                  <a:pt x="75" y="71"/>
                </a:cubicBezTo>
                <a:cubicBezTo>
                  <a:pt x="75" y="72"/>
                  <a:pt x="74" y="73"/>
                  <a:pt x="73" y="73"/>
                </a:cubicBezTo>
                <a:moveTo>
                  <a:pt x="109" y="113"/>
                </a:moveTo>
                <a:cubicBezTo>
                  <a:pt x="93" y="132"/>
                  <a:pt x="93" y="132"/>
                  <a:pt x="93" y="132"/>
                </a:cubicBezTo>
                <a:cubicBezTo>
                  <a:pt x="92" y="133"/>
                  <a:pt x="91" y="133"/>
                  <a:pt x="89" y="133"/>
                </a:cubicBezTo>
                <a:cubicBezTo>
                  <a:pt x="89" y="133"/>
                  <a:pt x="88" y="133"/>
                  <a:pt x="87" y="132"/>
                </a:cubicBezTo>
                <a:cubicBezTo>
                  <a:pt x="76" y="124"/>
                  <a:pt x="76" y="124"/>
                  <a:pt x="76" y="124"/>
                </a:cubicBezTo>
                <a:cubicBezTo>
                  <a:pt x="75" y="123"/>
                  <a:pt x="74" y="120"/>
                  <a:pt x="76" y="118"/>
                </a:cubicBezTo>
                <a:cubicBezTo>
                  <a:pt x="77" y="116"/>
                  <a:pt x="80" y="116"/>
                  <a:pt x="82" y="118"/>
                </a:cubicBezTo>
                <a:cubicBezTo>
                  <a:pt x="89" y="123"/>
                  <a:pt x="89" y="123"/>
                  <a:pt x="89" y="123"/>
                </a:cubicBezTo>
                <a:cubicBezTo>
                  <a:pt x="103" y="108"/>
                  <a:pt x="103" y="108"/>
                  <a:pt x="103" y="108"/>
                </a:cubicBezTo>
                <a:cubicBezTo>
                  <a:pt x="105" y="106"/>
                  <a:pt x="107" y="106"/>
                  <a:pt x="109" y="107"/>
                </a:cubicBezTo>
                <a:cubicBezTo>
                  <a:pt x="111" y="109"/>
                  <a:pt x="111" y="111"/>
                  <a:pt x="109" y="113"/>
                </a:cubicBezTo>
                <a:moveTo>
                  <a:pt x="92" y="92"/>
                </a:moveTo>
                <a:cubicBezTo>
                  <a:pt x="77" y="92"/>
                  <a:pt x="65" y="104"/>
                  <a:pt x="65" y="119"/>
                </a:cubicBezTo>
                <a:cubicBezTo>
                  <a:pt x="65" y="134"/>
                  <a:pt x="77" y="146"/>
                  <a:pt x="92" y="146"/>
                </a:cubicBezTo>
                <a:cubicBezTo>
                  <a:pt x="106" y="146"/>
                  <a:pt x="119" y="134"/>
                  <a:pt x="119" y="119"/>
                </a:cubicBezTo>
                <a:cubicBezTo>
                  <a:pt x="119" y="104"/>
                  <a:pt x="106" y="92"/>
                  <a:pt x="92" y="92"/>
                </a:cubicBezTo>
                <a:moveTo>
                  <a:pt x="61" y="131"/>
                </a:moveTo>
                <a:cubicBezTo>
                  <a:pt x="8" y="131"/>
                  <a:pt x="8" y="131"/>
                  <a:pt x="8" y="131"/>
                </a:cubicBezTo>
                <a:cubicBezTo>
                  <a:pt x="4" y="131"/>
                  <a:pt x="0" y="127"/>
                  <a:pt x="0" y="123"/>
                </a:cubicBezTo>
                <a:cubicBezTo>
                  <a:pt x="0" y="23"/>
                  <a:pt x="0" y="23"/>
                  <a:pt x="0" y="23"/>
                </a:cubicBezTo>
                <a:cubicBezTo>
                  <a:pt x="0" y="18"/>
                  <a:pt x="4" y="15"/>
                  <a:pt x="6" y="15"/>
                </a:cubicBezTo>
                <a:cubicBezTo>
                  <a:pt x="23" y="15"/>
                  <a:pt x="23" y="15"/>
                  <a:pt x="23" y="15"/>
                </a:cubicBezTo>
                <a:cubicBezTo>
                  <a:pt x="23" y="15"/>
                  <a:pt x="23" y="16"/>
                  <a:pt x="23" y="17"/>
                </a:cubicBezTo>
                <a:cubicBezTo>
                  <a:pt x="23" y="23"/>
                  <a:pt x="28" y="27"/>
                  <a:pt x="33" y="27"/>
                </a:cubicBezTo>
                <a:cubicBezTo>
                  <a:pt x="60" y="27"/>
                  <a:pt x="60" y="27"/>
                  <a:pt x="60" y="27"/>
                </a:cubicBezTo>
                <a:cubicBezTo>
                  <a:pt x="66" y="27"/>
                  <a:pt x="71" y="23"/>
                  <a:pt x="71" y="17"/>
                </a:cubicBezTo>
                <a:cubicBezTo>
                  <a:pt x="71" y="16"/>
                  <a:pt x="71" y="15"/>
                  <a:pt x="71" y="15"/>
                </a:cubicBezTo>
                <a:cubicBezTo>
                  <a:pt x="83" y="15"/>
                  <a:pt x="83" y="15"/>
                  <a:pt x="83" y="15"/>
                </a:cubicBezTo>
                <a:cubicBezTo>
                  <a:pt x="90" y="15"/>
                  <a:pt x="94" y="18"/>
                  <a:pt x="94" y="23"/>
                </a:cubicBezTo>
                <a:cubicBezTo>
                  <a:pt x="94" y="86"/>
                  <a:pt x="94" y="86"/>
                  <a:pt x="94" y="86"/>
                </a:cubicBezTo>
                <a:cubicBezTo>
                  <a:pt x="93" y="85"/>
                  <a:pt x="92" y="85"/>
                  <a:pt x="92" y="85"/>
                </a:cubicBezTo>
                <a:cubicBezTo>
                  <a:pt x="89" y="85"/>
                  <a:pt x="86" y="86"/>
                  <a:pt x="83" y="87"/>
                </a:cubicBezTo>
                <a:cubicBezTo>
                  <a:pt x="83" y="38"/>
                  <a:pt x="83" y="38"/>
                  <a:pt x="83" y="38"/>
                </a:cubicBezTo>
                <a:cubicBezTo>
                  <a:pt x="11" y="38"/>
                  <a:pt x="11" y="38"/>
                  <a:pt x="11" y="38"/>
                </a:cubicBezTo>
                <a:cubicBezTo>
                  <a:pt x="11" y="121"/>
                  <a:pt x="11" y="121"/>
                  <a:pt x="11" y="121"/>
                </a:cubicBezTo>
                <a:cubicBezTo>
                  <a:pt x="58" y="121"/>
                  <a:pt x="58" y="121"/>
                  <a:pt x="58" y="121"/>
                </a:cubicBezTo>
                <a:cubicBezTo>
                  <a:pt x="59" y="124"/>
                  <a:pt x="59" y="128"/>
                  <a:pt x="61" y="131"/>
                </a:cubicBezTo>
                <a:moveTo>
                  <a:pt x="47" y="11"/>
                </a:moveTo>
                <a:cubicBezTo>
                  <a:pt x="45" y="11"/>
                  <a:pt x="44" y="9"/>
                  <a:pt x="44" y="7"/>
                </a:cubicBezTo>
                <a:cubicBezTo>
                  <a:pt x="44" y="6"/>
                  <a:pt x="45" y="4"/>
                  <a:pt x="47" y="4"/>
                </a:cubicBezTo>
                <a:cubicBezTo>
                  <a:pt x="49" y="4"/>
                  <a:pt x="50" y="6"/>
                  <a:pt x="50" y="7"/>
                </a:cubicBezTo>
                <a:cubicBezTo>
                  <a:pt x="50" y="9"/>
                  <a:pt x="49" y="11"/>
                  <a:pt x="47" y="11"/>
                </a:cubicBezTo>
                <a:moveTo>
                  <a:pt x="60" y="11"/>
                </a:moveTo>
                <a:cubicBezTo>
                  <a:pt x="57" y="11"/>
                  <a:pt x="57" y="11"/>
                  <a:pt x="57" y="11"/>
                </a:cubicBezTo>
                <a:cubicBezTo>
                  <a:pt x="56" y="11"/>
                  <a:pt x="54" y="9"/>
                  <a:pt x="54" y="7"/>
                </a:cubicBezTo>
                <a:cubicBezTo>
                  <a:pt x="54" y="7"/>
                  <a:pt x="54" y="7"/>
                  <a:pt x="54" y="7"/>
                </a:cubicBezTo>
                <a:cubicBezTo>
                  <a:pt x="54" y="3"/>
                  <a:pt x="51" y="0"/>
                  <a:pt x="47" y="0"/>
                </a:cubicBezTo>
                <a:cubicBezTo>
                  <a:pt x="47" y="0"/>
                  <a:pt x="47" y="0"/>
                  <a:pt x="47" y="0"/>
                </a:cubicBezTo>
                <a:cubicBezTo>
                  <a:pt x="43" y="0"/>
                  <a:pt x="40" y="3"/>
                  <a:pt x="40" y="7"/>
                </a:cubicBezTo>
                <a:cubicBezTo>
                  <a:pt x="40" y="7"/>
                  <a:pt x="40" y="7"/>
                  <a:pt x="40" y="7"/>
                </a:cubicBezTo>
                <a:cubicBezTo>
                  <a:pt x="40" y="9"/>
                  <a:pt x="38" y="11"/>
                  <a:pt x="37" y="11"/>
                </a:cubicBezTo>
                <a:cubicBezTo>
                  <a:pt x="33" y="11"/>
                  <a:pt x="33" y="11"/>
                  <a:pt x="33" y="11"/>
                </a:cubicBezTo>
                <a:cubicBezTo>
                  <a:pt x="30" y="11"/>
                  <a:pt x="27" y="13"/>
                  <a:pt x="27" y="17"/>
                </a:cubicBezTo>
                <a:cubicBezTo>
                  <a:pt x="27" y="17"/>
                  <a:pt x="27" y="17"/>
                  <a:pt x="27" y="17"/>
                </a:cubicBezTo>
                <a:cubicBezTo>
                  <a:pt x="27" y="20"/>
                  <a:pt x="30" y="23"/>
                  <a:pt x="33" y="23"/>
                </a:cubicBezTo>
                <a:cubicBezTo>
                  <a:pt x="60" y="23"/>
                  <a:pt x="60" y="23"/>
                  <a:pt x="60" y="23"/>
                </a:cubicBezTo>
                <a:cubicBezTo>
                  <a:pt x="64" y="23"/>
                  <a:pt x="67" y="20"/>
                  <a:pt x="67" y="17"/>
                </a:cubicBezTo>
                <a:cubicBezTo>
                  <a:pt x="67" y="17"/>
                  <a:pt x="67" y="17"/>
                  <a:pt x="67" y="17"/>
                </a:cubicBezTo>
                <a:cubicBezTo>
                  <a:pt x="67" y="13"/>
                  <a:pt x="64" y="11"/>
                  <a:pt x="60" y="11"/>
                </a:cubicBezTo>
              </a:path>
            </a:pathLst>
          </a:custGeom>
          <a:solidFill>
            <a:schemeClr val="bg1"/>
          </a:solidFill>
          <a:ln w="9525">
            <a:noFill/>
            <a:round/>
          </a:ln>
        </p:spPr>
        <p:txBody>
          <a:bodyPr wrap="square" lIns="91440" tIns="45720" rIns="91440" bIns="45720" anchor="ctr">
            <a:normAutofit/>
          </a:bodyPr>
          <a:lstStyle/>
          <a:p>
            <a:pPr algn="ctr"/>
          </a:p>
        </p:txBody>
      </p:sp>
      <p:sp>
        <p:nvSpPr>
          <p:cNvPr id="201" name="ïSḷiḓê"/>
          <p:cNvSpPr/>
          <p:nvPr/>
        </p:nvSpPr>
        <p:spPr>
          <a:xfrm>
            <a:off x="566651" y="2037619"/>
            <a:ext cx="1260000" cy="126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grpSp>
        <p:nvGrpSpPr>
          <p:cNvPr id="202" name="î$ḻïďê"/>
          <p:cNvGrpSpPr/>
          <p:nvPr/>
        </p:nvGrpSpPr>
        <p:grpSpPr>
          <a:xfrm>
            <a:off x="800651" y="3877979"/>
            <a:ext cx="792000" cy="792000"/>
            <a:chOff x="2700338" y="2965449"/>
            <a:chExt cx="271462" cy="219075"/>
          </a:xfrm>
          <a:solidFill>
            <a:schemeClr val="bg1"/>
          </a:solidFill>
        </p:grpSpPr>
        <p:sp>
          <p:nvSpPr>
            <p:cNvPr id="203" name="íṩlîḑè"/>
            <p:cNvSpPr/>
            <p:nvPr/>
          </p:nvSpPr>
          <p:spPr bwMode="auto">
            <a:xfrm>
              <a:off x="2754313" y="2987674"/>
              <a:ext cx="82550" cy="174625"/>
            </a:xfrm>
            <a:custGeom>
              <a:avLst/>
              <a:gdLst/>
              <a:ahLst/>
              <a:cxnLst>
                <a:cxn ang="0">
                  <a:pos x="36" y="72"/>
                </a:cxn>
                <a:cxn ang="0">
                  <a:pos x="32" y="75"/>
                </a:cxn>
                <a:cxn ang="0">
                  <a:pos x="5" y="61"/>
                </a:cxn>
                <a:cxn ang="0">
                  <a:pos x="0" y="53"/>
                </a:cxn>
                <a:cxn ang="0">
                  <a:pos x="0" y="23"/>
                </a:cxn>
                <a:cxn ang="0">
                  <a:pos x="5" y="15"/>
                </a:cxn>
                <a:cxn ang="0">
                  <a:pos x="32" y="2"/>
                </a:cxn>
                <a:cxn ang="0">
                  <a:pos x="36" y="4"/>
                </a:cxn>
                <a:cxn ang="0">
                  <a:pos x="36" y="72"/>
                </a:cxn>
              </a:cxnLst>
              <a:rect l="0" t="0" r="r" b="b"/>
              <a:pathLst>
                <a:path w="36" h="76">
                  <a:moveTo>
                    <a:pt x="36" y="72"/>
                  </a:moveTo>
                  <a:cubicBezTo>
                    <a:pt x="36" y="75"/>
                    <a:pt x="35" y="76"/>
                    <a:pt x="32" y="75"/>
                  </a:cubicBezTo>
                  <a:cubicBezTo>
                    <a:pt x="5" y="61"/>
                    <a:pt x="5" y="61"/>
                    <a:pt x="5" y="61"/>
                  </a:cubicBezTo>
                  <a:cubicBezTo>
                    <a:pt x="2" y="60"/>
                    <a:pt x="0" y="56"/>
                    <a:pt x="0" y="53"/>
                  </a:cubicBezTo>
                  <a:cubicBezTo>
                    <a:pt x="0" y="23"/>
                    <a:pt x="0" y="23"/>
                    <a:pt x="0" y="23"/>
                  </a:cubicBezTo>
                  <a:cubicBezTo>
                    <a:pt x="0" y="20"/>
                    <a:pt x="2" y="17"/>
                    <a:pt x="5" y="15"/>
                  </a:cubicBezTo>
                  <a:cubicBezTo>
                    <a:pt x="32" y="2"/>
                    <a:pt x="32" y="2"/>
                    <a:pt x="32" y="2"/>
                  </a:cubicBezTo>
                  <a:cubicBezTo>
                    <a:pt x="35" y="0"/>
                    <a:pt x="36" y="1"/>
                    <a:pt x="36" y="4"/>
                  </a:cubicBezTo>
                  <a:lnTo>
                    <a:pt x="36" y="72"/>
                  </a:lnTo>
                  <a:close/>
                </a:path>
              </a:pathLst>
            </a:custGeom>
            <a:grpFill/>
            <a:ln w="9525">
              <a:noFill/>
              <a:round/>
            </a:ln>
          </p:spPr>
          <p:txBody>
            <a:bodyPr wrap="square" lIns="91440" tIns="45720" rIns="91440" bIns="45720" anchor="ctr">
              <a:normAutofit/>
            </a:bodyPr>
            <a:lstStyle/>
            <a:p>
              <a:pPr algn="ctr"/>
            </a:p>
          </p:txBody>
        </p:sp>
        <p:sp>
          <p:nvSpPr>
            <p:cNvPr id="204" name="ïṩḷïḓê"/>
            <p:cNvSpPr/>
            <p:nvPr/>
          </p:nvSpPr>
          <p:spPr bwMode="auto">
            <a:xfrm>
              <a:off x="2700338" y="3028949"/>
              <a:ext cx="39687" cy="93663"/>
            </a:xfrm>
            <a:custGeom>
              <a:avLst/>
              <a:gdLst/>
              <a:ahLst/>
              <a:cxnLst>
                <a:cxn ang="0">
                  <a:pos x="17" y="35"/>
                </a:cxn>
                <a:cxn ang="0">
                  <a:pos x="12" y="41"/>
                </a:cxn>
                <a:cxn ang="0">
                  <a:pos x="5" y="41"/>
                </a:cxn>
                <a:cxn ang="0">
                  <a:pos x="0" y="35"/>
                </a:cxn>
                <a:cxn ang="0">
                  <a:pos x="0" y="5"/>
                </a:cxn>
                <a:cxn ang="0">
                  <a:pos x="5" y="0"/>
                </a:cxn>
                <a:cxn ang="0">
                  <a:pos x="12" y="0"/>
                </a:cxn>
                <a:cxn ang="0">
                  <a:pos x="17" y="5"/>
                </a:cxn>
                <a:cxn ang="0">
                  <a:pos x="17" y="35"/>
                </a:cxn>
              </a:cxnLst>
              <a:rect l="0" t="0" r="r" b="b"/>
              <a:pathLst>
                <a:path w="17" h="41">
                  <a:moveTo>
                    <a:pt x="17" y="35"/>
                  </a:moveTo>
                  <a:cubicBezTo>
                    <a:pt x="17" y="38"/>
                    <a:pt x="14" y="41"/>
                    <a:pt x="12" y="41"/>
                  </a:cubicBezTo>
                  <a:cubicBezTo>
                    <a:pt x="5" y="41"/>
                    <a:pt x="5" y="41"/>
                    <a:pt x="5" y="41"/>
                  </a:cubicBezTo>
                  <a:cubicBezTo>
                    <a:pt x="2" y="41"/>
                    <a:pt x="0" y="38"/>
                    <a:pt x="0" y="35"/>
                  </a:cubicBezTo>
                  <a:cubicBezTo>
                    <a:pt x="0" y="5"/>
                    <a:pt x="0" y="5"/>
                    <a:pt x="0" y="5"/>
                  </a:cubicBezTo>
                  <a:cubicBezTo>
                    <a:pt x="0" y="2"/>
                    <a:pt x="2" y="0"/>
                    <a:pt x="5" y="0"/>
                  </a:cubicBezTo>
                  <a:cubicBezTo>
                    <a:pt x="12" y="0"/>
                    <a:pt x="12" y="0"/>
                    <a:pt x="12" y="0"/>
                  </a:cubicBezTo>
                  <a:cubicBezTo>
                    <a:pt x="14" y="0"/>
                    <a:pt x="17" y="2"/>
                    <a:pt x="17" y="5"/>
                  </a:cubicBezTo>
                  <a:lnTo>
                    <a:pt x="17" y="35"/>
                  </a:lnTo>
                  <a:close/>
                </a:path>
              </a:pathLst>
            </a:custGeom>
            <a:grpFill/>
            <a:ln w="9525">
              <a:noFill/>
              <a:round/>
            </a:ln>
          </p:spPr>
          <p:txBody>
            <a:bodyPr wrap="square" lIns="91440" tIns="45720" rIns="91440" bIns="45720" anchor="ctr">
              <a:normAutofit fontScale="92500" lnSpcReduction="10000"/>
            </a:bodyPr>
            <a:lstStyle/>
            <a:p>
              <a:pPr algn="ctr"/>
            </a:p>
          </p:txBody>
        </p:sp>
        <p:sp>
          <p:nvSpPr>
            <p:cNvPr id="205" name="ïşľíḓè"/>
            <p:cNvSpPr/>
            <p:nvPr/>
          </p:nvSpPr>
          <p:spPr bwMode="auto">
            <a:xfrm>
              <a:off x="2865438" y="3006724"/>
              <a:ext cx="46037" cy="136525"/>
            </a:xfrm>
            <a:custGeom>
              <a:avLst/>
              <a:gdLst/>
              <a:ahLst/>
              <a:cxnLst>
                <a:cxn ang="0">
                  <a:pos x="10" y="58"/>
                </a:cxn>
                <a:cxn ang="0">
                  <a:pos x="20" y="31"/>
                </a:cxn>
                <a:cxn ang="0">
                  <a:pos x="10" y="3"/>
                </a:cxn>
                <a:cxn ang="0">
                  <a:pos x="10" y="2"/>
                </a:cxn>
                <a:cxn ang="0">
                  <a:pos x="5" y="2"/>
                </a:cxn>
                <a:cxn ang="0">
                  <a:pos x="2" y="5"/>
                </a:cxn>
                <a:cxn ang="0">
                  <a:pos x="2" y="10"/>
                </a:cxn>
                <a:cxn ang="0">
                  <a:pos x="2" y="10"/>
                </a:cxn>
                <a:cxn ang="0">
                  <a:pos x="2" y="51"/>
                </a:cxn>
                <a:cxn ang="0">
                  <a:pos x="2" y="51"/>
                </a:cxn>
                <a:cxn ang="0">
                  <a:pos x="2" y="55"/>
                </a:cxn>
                <a:cxn ang="0">
                  <a:pos x="5" y="59"/>
                </a:cxn>
                <a:cxn ang="0">
                  <a:pos x="7" y="60"/>
                </a:cxn>
                <a:cxn ang="0">
                  <a:pos x="9" y="58"/>
                </a:cxn>
                <a:cxn ang="0">
                  <a:pos x="10" y="58"/>
                </a:cxn>
              </a:cxnLst>
              <a:rect l="0" t="0" r="r" b="b"/>
              <a:pathLst>
                <a:path w="20" h="60">
                  <a:moveTo>
                    <a:pt x="10" y="58"/>
                  </a:moveTo>
                  <a:cubicBezTo>
                    <a:pt x="16" y="50"/>
                    <a:pt x="20" y="41"/>
                    <a:pt x="20" y="31"/>
                  </a:cubicBezTo>
                  <a:cubicBezTo>
                    <a:pt x="20" y="20"/>
                    <a:pt x="17" y="11"/>
                    <a:pt x="10" y="3"/>
                  </a:cubicBezTo>
                  <a:cubicBezTo>
                    <a:pt x="10" y="3"/>
                    <a:pt x="10" y="2"/>
                    <a:pt x="10" y="2"/>
                  </a:cubicBezTo>
                  <a:cubicBezTo>
                    <a:pt x="8" y="1"/>
                    <a:pt x="7" y="0"/>
                    <a:pt x="5" y="2"/>
                  </a:cubicBezTo>
                  <a:cubicBezTo>
                    <a:pt x="2" y="5"/>
                    <a:pt x="2" y="5"/>
                    <a:pt x="2" y="5"/>
                  </a:cubicBezTo>
                  <a:cubicBezTo>
                    <a:pt x="0" y="7"/>
                    <a:pt x="1" y="9"/>
                    <a:pt x="2" y="10"/>
                  </a:cubicBezTo>
                  <a:cubicBezTo>
                    <a:pt x="2" y="10"/>
                    <a:pt x="2" y="10"/>
                    <a:pt x="2" y="10"/>
                  </a:cubicBezTo>
                  <a:cubicBezTo>
                    <a:pt x="12" y="22"/>
                    <a:pt x="12" y="39"/>
                    <a:pt x="2" y="51"/>
                  </a:cubicBezTo>
                  <a:cubicBezTo>
                    <a:pt x="2" y="51"/>
                    <a:pt x="2" y="51"/>
                    <a:pt x="2" y="51"/>
                  </a:cubicBezTo>
                  <a:cubicBezTo>
                    <a:pt x="1" y="51"/>
                    <a:pt x="0" y="53"/>
                    <a:pt x="2" y="55"/>
                  </a:cubicBezTo>
                  <a:cubicBezTo>
                    <a:pt x="5" y="59"/>
                    <a:pt x="5" y="59"/>
                    <a:pt x="5" y="59"/>
                  </a:cubicBezTo>
                  <a:cubicBezTo>
                    <a:pt x="6" y="59"/>
                    <a:pt x="7" y="60"/>
                    <a:pt x="7" y="60"/>
                  </a:cubicBezTo>
                  <a:cubicBezTo>
                    <a:pt x="8" y="59"/>
                    <a:pt x="9" y="59"/>
                    <a:pt x="9" y="58"/>
                  </a:cubicBezTo>
                  <a:cubicBezTo>
                    <a:pt x="10" y="58"/>
                    <a:pt x="10" y="58"/>
                    <a:pt x="10" y="58"/>
                  </a:cubicBezTo>
                </a:path>
              </a:pathLst>
            </a:custGeom>
            <a:grpFill/>
            <a:ln w="9525">
              <a:noFill/>
              <a:round/>
            </a:ln>
          </p:spPr>
          <p:txBody>
            <a:bodyPr wrap="square" lIns="91440" tIns="45720" rIns="91440" bIns="45720" anchor="ctr">
              <a:normAutofit/>
            </a:bodyPr>
            <a:lstStyle/>
            <a:p>
              <a:pPr algn="ctr"/>
            </a:p>
          </p:txBody>
        </p:sp>
        <p:sp>
          <p:nvSpPr>
            <p:cNvPr id="206" name="îṥḻiďê"/>
            <p:cNvSpPr/>
            <p:nvPr/>
          </p:nvSpPr>
          <p:spPr bwMode="auto">
            <a:xfrm>
              <a:off x="2906713" y="2965449"/>
              <a:ext cx="65087" cy="219075"/>
            </a:xfrm>
            <a:custGeom>
              <a:avLst/>
              <a:gdLst/>
              <a:ahLst/>
              <a:cxnLst>
                <a:cxn ang="0">
                  <a:pos x="28" y="49"/>
                </a:cxn>
                <a:cxn ang="0">
                  <a:pos x="11" y="3"/>
                </a:cxn>
                <a:cxn ang="0">
                  <a:pos x="11" y="3"/>
                </a:cxn>
                <a:cxn ang="0">
                  <a:pos x="10" y="2"/>
                </a:cxn>
                <a:cxn ang="0">
                  <a:pos x="6" y="1"/>
                </a:cxn>
                <a:cxn ang="0">
                  <a:pos x="2" y="5"/>
                </a:cxn>
                <a:cxn ang="0">
                  <a:pos x="3" y="10"/>
                </a:cxn>
                <a:cxn ang="0">
                  <a:pos x="3" y="10"/>
                </a:cxn>
                <a:cxn ang="0">
                  <a:pos x="2" y="87"/>
                </a:cxn>
                <a:cxn ang="0">
                  <a:pos x="2" y="91"/>
                </a:cxn>
                <a:cxn ang="0">
                  <a:pos x="6" y="95"/>
                </a:cxn>
                <a:cxn ang="0">
                  <a:pos x="8" y="96"/>
                </a:cxn>
                <a:cxn ang="0">
                  <a:pos x="10" y="95"/>
                </a:cxn>
                <a:cxn ang="0">
                  <a:pos x="28" y="49"/>
                </a:cxn>
              </a:cxnLst>
              <a:rect l="0" t="0" r="r" b="b"/>
              <a:pathLst>
                <a:path w="28" h="96">
                  <a:moveTo>
                    <a:pt x="28" y="49"/>
                  </a:moveTo>
                  <a:cubicBezTo>
                    <a:pt x="28" y="32"/>
                    <a:pt x="22" y="15"/>
                    <a:pt x="11" y="3"/>
                  </a:cubicBezTo>
                  <a:cubicBezTo>
                    <a:pt x="11" y="3"/>
                    <a:pt x="11" y="3"/>
                    <a:pt x="11" y="3"/>
                  </a:cubicBezTo>
                  <a:cubicBezTo>
                    <a:pt x="11" y="2"/>
                    <a:pt x="10" y="2"/>
                    <a:pt x="10" y="2"/>
                  </a:cubicBezTo>
                  <a:cubicBezTo>
                    <a:pt x="8" y="0"/>
                    <a:pt x="7" y="0"/>
                    <a:pt x="6" y="1"/>
                  </a:cubicBezTo>
                  <a:cubicBezTo>
                    <a:pt x="2" y="5"/>
                    <a:pt x="2" y="5"/>
                    <a:pt x="2" y="5"/>
                  </a:cubicBezTo>
                  <a:cubicBezTo>
                    <a:pt x="0" y="7"/>
                    <a:pt x="2" y="9"/>
                    <a:pt x="3" y="10"/>
                  </a:cubicBezTo>
                  <a:cubicBezTo>
                    <a:pt x="3" y="10"/>
                    <a:pt x="3" y="10"/>
                    <a:pt x="3" y="10"/>
                  </a:cubicBezTo>
                  <a:cubicBezTo>
                    <a:pt x="22" y="33"/>
                    <a:pt x="22" y="65"/>
                    <a:pt x="2" y="87"/>
                  </a:cubicBezTo>
                  <a:cubicBezTo>
                    <a:pt x="2" y="88"/>
                    <a:pt x="0" y="89"/>
                    <a:pt x="2" y="91"/>
                  </a:cubicBezTo>
                  <a:cubicBezTo>
                    <a:pt x="6" y="95"/>
                    <a:pt x="6" y="95"/>
                    <a:pt x="6" y="95"/>
                  </a:cubicBezTo>
                  <a:cubicBezTo>
                    <a:pt x="7" y="96"/>
                    <a:pt x="7" y="96"/>
                    <a:pt x="8" y="96"/>
                  </a:cubicBezTo>
                  <a:cubicBezTo>
                    <a:pt x="9" y="96"/>
                    <a:pt x="9" y="95"/>
                    <a:pt x="10" y="95"/>
                  </a:cubicBezTo>
                  <a:cubicBezTo>
                    <a:pt x="22" y="82"/>
                    <a:pt x="28" y="66"/>
                    <a:pt x="28" y="49"/>
                  </a:cubicBezTo>
                </a:path>
              </a:pathLst>
            </a:custGeom>
            <a:grpFill/>
            <a:ln w="9525">
              <a:noFill/>
              <a:round/>
            </a:ln>
          </p:spPr>
          <p:txBody>
            <a:bodyPr wrap="square" lIns="91440" tIns="45720" rIns="91440" bIns="45720" anchor="ctr">
              <a:normAutofit/>
            </a:bodyPr>
            <a:lstStyle/>
            <a:p>
              <a:pPr algn="ctr"/>
            </a:p>
          </p:txBody>
        </p:sp>
      </p:grpSp>
      <p:sp>
        <p:nvSpPr>
          <p:cNvPr id="207" name="ïSļíďé"/>
          <p:cNvSpPr/>
          <p:nvPr/>
        </p:nvSpPr>
        <p:spPr bwMode="auto">
          <a:xfrm>
            <a:off x="800651" y="2271619"/>
            <a:ext cx="792000" cy="792000"/>
          </a:xfrm>
          <a:custGeom>
            <a:avLst/>
            <a:gdLst/>
            <a:ahLst/>
            <a:cxnLst>
              <a:cxn ang="0">
                <a:pos x="86" y="58"/>
              </a:cxn>
              <a:cxn ang="0">
                <a:pos x="76" y="55"/>
              </a:cxn>
              <a:cxn ang="0">
                <a:pos x="76" y="54"/>
              </a:cxn>
              <a:cxn ang="0">
                <a:pos x="71" y="47"/>
              </a:cxn>
              <a:cxn ang="0">
                <a:pos x="76" y="68"/>
              </a:cxn>
              <a:cxn ang="0">
                <a:pos x="76" y="59"/>
              </a:cxn>
              <a:cxn ang="0">
                <a:pos x="81" y="59"/>
              </a:cxn>
              <a:cxn ang="0">
                <a:pos x="86" y="68"/>
              </a:cxn>
              <a:cxn ang="0">
                <a:pos x="65" y="59"/>
              </a:cxn>
              <a:cxn ang="0">
                <a:pos x="58" y="47"/>
              </a:cxn>
              <a:cxn ang="0">
                <a:pos x="50" y="63"/>
              </a:cxn>
              <a:cxn ang="0">
                <a:pos x="60" y="68"/>
              </a:cxn>
              <a:cxn ang="0">
                <a:pos x="65" y="63"/>
              </a:cxn>
              <a:cxn ang="0">
                <a:pos x="67" y="59"/>
              </a:cxn>
              <a:cxn ang="0">
                <a:pos x="39" y="64"/>
              </a:cxn>
              <a:cxn ang="0">
                <a:pos x="40" y="46"/>
              </a:cxn>
              <a:cxn ang="0">
                <a:pos x="37" y="54"/>
              </a:cxn>
              <a:cxn ang="0">
                <a:pos x="42" y="54"/>
              </a:cxn>
              <a:cxn ang="0">
                <a:pos x="33" y="68"/>
              </a:cxn>
              <a:cxn ang="0">
                <a:pos x="48" y="64"/>
              </a:cxn>
              <a:cxn ang="0">
                <a:pos x="60" y="89"/>
              </a:cxn>
              <a:cxn ang="0">
                <a:pos x="60" y="27"/>
              </a:cxn>
              <a:cxn ang="0">
                <a:pos x="59" y="54"/>
              </a:cxn>
              <a:cxn ang="0">
                <a:pos x="55" y="59"/>
              </a:cxn>
              <a:cxn ang="0">
                <a:pos x="60" y="54"/>
              </a:cxn>
              <a:cxn ang="0">
                <a:pos x="60" y="52"/>
              </a:cxn>
              <a:cxn ang="0">
                <a:pos x="109" y="28"/>
              </a:cxn>
              <a:cxn ang="0">
                <a:pos x="5" y="40"/>
              </a:cxn>
              <a:cxn ang="0">
                <a:pos x="6" y="46"/>
              </a:cxn>
              <a:cxn ang="0">
                <a:pos x="60" y="12"/>
              </a:cxn>
              <a:cxn ang="0">
                <a:pos x="90" y="33"/>
              </a:cxn>
              <a:cxn ang="0">
                <a:pos x="104" y="50"/>
              </a:cxn>
              <a:cxn ang="0">
                <a:pos x="112" y="55"/>
              </a:cxn>
              <a:cxn ang="0">
                <a:pos x="119" y="28"/>
              </a:cxn>
              <a:cxn ang="0">
                <a:pos x="109" y="28"/>
              </a:cxn>
              <a:cxn ang="0">
                <a:pos x="114" y="76"/>
              </a:cxn>
              <a:cxn ang="0">
                <a:pos x="11" y="89"/>
              </a:cxn>
              <a:cxn ang="0">
                <a:pos x="3" y="90"/>
              </a:cxn>
              <a:cxn ang="0">
                <a:pos x="6" y="66"/>
              </a:cxn>
              <a:cxn ang="0">
                <a:pos x="10" y="60"/>
              </a:cxn>
              <a:cxn ang="0">
                <a:pos x="30" y="79"/>
              </a:cxn>
              <a:cxn ang="0">
                <a:pos x="22" y="85"/>
              </a:cxn>
              <a:cxn ang="0">
                <a:pos x="103" y="72"/>
              </a:cxn>
            </a:cxnLst>
            <a:rect l="0" t="0" r="r" b="b"/>
            <a:pathLst>
              <a:path w="119" h="115">
                <a:moveTo>
                  <a:pt x="86" y="68"/>
                </a:moveTo>
                <a:cubicBezTo>
                  <a:pt x="86" y="58"/>
                  <a:pt x="86" y="58"/>
                  <a:pt x="86" y="58"/>
                </a:cubicBezTo>
                <a:cubicBezTo>
                  <a:pt x="86" y="54"/>
                  <a:pt x="83" y="52"/>
                  <a:pt x="80" y="52"/>
                </a:cubicBezTo>
                <a:cubicBezTo>
                  <a:pt x="78" y="52"/>
                  <a:pt x="77" y="53"/>
                  <a:pt x="76" y="55"/>
                </a:cubicBezTo>
                <a:cubicBezTo>
                  <a:pt x="76" y="55"/>
                  <a:pt x="76" y="55"/>
                  <a:pt x="76" y="55"/>
                </a:cubicBezTo>
                <a:cubicBezTo>
                  <a:pt x="76" y="55"/>
                  <a:pt x="76" y="54"/>
                  <a:pt x="76" y="54"/>
                </a:cubicBezTo>
                <a:cubicBezTo>
                  <a:pt x="76" y="47"/>
                  <a:pt x="76" y="47"/>
                  <a:pt x="76" y="47"/>
                </a:cubicBezTo>
                <a:cubicBezTo>
                  <a:pt x="71" y="47"/>
                  <a:pt x="71" y="47"/>
                  <a:pt x="71" y="47"/>
                </a:cubicBezTo>
                <a:cubicBezTo>
                  <a:pt x="71" y="68"/>
                  <a:pt x="71" y="68"/>
                  <a:pt x="71" y="68"/>
                </a:cubicBezTo>
                <a:cubicBezTo>
                  <a:pt x="76" y="68"/>
                  <a:pt x="76" y="68"/>
                  <a:pt x="76" y="68"/>
                </a:cubicBezTo>
                <a:cubicBezTo>
                  <a:pt x="76" y="61"/>
                  <a:pt x="76" y="61"/>
                  <a:pt x="76" y="61"/>
                </a:cubicBezTo>
                <a:cubicBezTo>
                  <a:pt x="76" y="61"/>
                  <a:pt x="76" y="60"/>
                  <a:pt x="76" y="59"/>
                </a:cubicBezTo>
                <a:cubicBezTo>
                  <a:pt x="76" y="58"/>
                  <a:pt x="77" y="57"/>
                  <a:pt x="79" y="57"/>
                </a:cubicBezTo>
                <a:cubicBezTo>
                  <a:pt x="80" y="57"/>
                  <a:pt x="81" y="58"/>
                  <a:pt x="81" y="59"/>
                </a:cubicBezTo>
                <a:cubicBezTo>
                  <a:pt x="81" y="68"/>
                  <a:pt x="81" y="68"/>
                  <a:pt x="81" y="68"/>
                </a:cubicBezTo>
                <a:lnTo>
                  <a:pt x="86" y="68"/>
                </a:lnTo>
                <a:close/>
                <a:moveTo>
                  <a:pt x="67" y="59"/>
                </a:moveTo>
                <a:cubicBezTo>
                  <a:pt x="65" y="59"/>
                  <a:pt x="65" y="59"/>
                  <a:pt x="65" y="59"/>
                </a:cubicBezTo>
                <a:cubicBezTo>
                  <a:pt x="65" y="47"/>
                  <a:pt x="65" y="47"/>
                  <a:pt x="65" y="47"/>
                </a:cubicBezTo>
                <a:cubicBezTo>
                  <a:pt x="58" y="47"/>
                  <a:pt x="58" y="47"/>
                  <a:pt x="58" y="47"/>
                </a:cubicBezTo>
                <a:cubicBezTo>
                  <a:pt x="50" y="60"/>
                  <a:pt x="50" y="60"/>
                  <a:pt x="50" y="60"/>
                </a:cubicBezTo>
                <a:cubicBezTo>
                  <a:pt x="50" y="63"/>
                  <a:pt x="50" y="63"/>
                  <a:pt x="50" y="63"/>
                </a:cubicBezTo>
                <a:cubicBezTo>
                  <a:pt x="60" y="63"/>
                  <a:pt x="60" y="63"/>
                  <a:pt x="60" y="63"/>
                </a:cubicBezTo>
                <a:cubicBezTo>
                  <a:pt x="60" y="68"/>
                  <a:pt x="60" y="68"/>
                  <a:pt x="60" y="68"/>
                </a:cubicBezTo>
                <a:cubicBezTo>
                  <a:pt x="65" y="68"/>
                  <a:pt x="65" y="68"/>
                  <a:pt x="65" y="68"/>
                </a:cubicBezTo>
                <a:cubicBezTo>
                  <a:pt x="65" y="63"/>
                  <a:pt x="65" y="63"/>
                  <a:pt x="65" y="63"/>
                </a:cubicBezTo>
                <a:cubicBezTo>
                  <a:pt x="67" y="63"/>
                  <a:pt x="67" y="63"/>
                  <a:pt x="67" y="63"/>
                </a:cubicBezTo>
                <a:lnTo>
                  <a:pt x="67" y="59"/>
                </a:lnTo>
                <a:close/>
                <a:moveTo>
                  <a:pt x="48" y="64"/>
                </a:moveTo>
                <a:cubicBezTo>
                  <a:pt x="39" y="64"/>
                  <a:pt x="39" y="64"/>
                  <a:pt x="39" y="64"/>
                </a:cubicBezTo>
                <a:cubicBezTo>
                  <a:pt x="39" y="61"/>
                  <a:pt x="48" y="60"/>
                  <a:pt x="48" y="53"/>
                </a:cubicBezTo>
                <a:cubicBezTo>
                  <a:pt x="48" y="48"/>
                  <a:pt x="44" y="46"/>
                  <a:pt x="40" y="46"/>
                </a:cubicBezTo>
                <a:cubicBezTo>
                  <a:pt x="35" y="46"/>
                  <a:pt x="33" y="51"/>
                  <a:pt x="33" y="51"/>
                </a:cubicBezTo>
                <a:cubicBezTo>
                  <a:pt x="37" y="54"/>
                  <a:pt x="37" y="54"/>
                  <a:pt x="37" y="54"/>
                </a:cubicBezTo>
                <a:cubicBezTo>
                  <a:pt x="37" y="54"/>
                  <a:pt x="38" y="51"/>
                  <a:pt x="40" y="51"/>
                </a:cubicBezTo>
                <a:cubicBezTo>
                  <a:pt x="41" y="51"/>
                  <a:pt x="42" y="52"/>
                  <a:pt x="42" y="54"/>
                </a:cubicBezTo>
                <a:cubicBezTo>
                  <a:pt x="42" y="57"/>
                  <a:pt x="33" y="58"/>
                  <a:pt x="33" y="66"/>
                </a:cubicBezTo>
                <a:cubicBezTo>
                  <a:pt x="33" y="67"/>
                  <a:pt x="33" y="67"/>
                  <a:pt x="33" y="68"/>
                </a:cubicBezTo>
                <a:cubicBezTo>
                  <a:pt x="48" y="68"/>
                  <a:pt x="48" y="68"/>
                  <a:pt x="48" y="68"/>
                </a:cubicBezTo>
                <a:lnTo>
                  <a:pt x="48" y="64"/>
                </a:lnTo>
                <a:close/>
                <a:moveTo>
                  <a:pt x="90" y="58"/>
                </a:moveTo>
                <a:cubicBezTo>
                  <a:pt x="90" y="75"/>
                  <a:pt x="77" y="89"/>
                  <a:pt x="60" y="89"/>
                </a:cubicBezTo>
                <a:cubicBezTo>
                  <a:pt x="43" y="89"/>
                  <a:pt x="29" y="75"/>
                  <a:pt x="29" y="58"/>
                </a:cubicBezTo>
                <a:cubicBezTo>
                  <a:pt x="29" y="41"/>
                  <a:pt x="43" y="27"/>
                  <a:pt x="60" y="27"/>
                </a:cubicBezTo>
                <a:cubicBezTo>
                  <a:pt x="77" y="27"/>
                  <a:pt x="90" y="41"/>
                  <a:pt x="90" y="58"/>
                </a:cubicBezTo>
                <a:moveTo>
                  <a:pt x="59" y="54"/>
                </a:moveTo>
                <a:cubicBezTo>
                  <a:pt x="55" y="59"/>
                  <a:pt x="55" y="59"/>
                  <a:pt x="55" y="59"/>
                </a:cubicBezTo>
                <a:cubicBezTo>
                  <a:pt x="55" y="59"/>
                  <a:pt x="55" y="59"/>
                  <a:pt x="55" y="59"/>
                </a:cubicBezTo>
                <a:cubicBezTo>
                  <a:pt x="60" y="59"/>
                  <a:pt x="60" y="59"/>
                  <a:pt x="60" y="59"/>
                </a:cubicBezTo>
                <a:cubicBezTo>
                  <a:pt x="60" y="54"/>
                  <a:pt x="60" y="54"/>
                  <a:pt x="60" y="54"/>
                </a:cubicBezTo>
                <a:cubicBezTo>
                  <a:pt x="60" y="53"/>
                  <a:pt x="60" y="52"/>
                  <a:pt x="60" y="52"/>
                </a:cubicBezTo>
                <a:cubicBezTo>
                  <a:pt x="60" y="52"/>
                  <a:pt x="60" y="52"/>
                  <a:pt x="60" y="52"/>
                </a:cubicBezTo>
                <a:cubicBezTo>
                  <a:pt x="60" y="52"/>
                  <a:pt x="59" y="53"/>
                  <a:pt x="59" y="54"/>
                </a:cubicBezTo>
                <a:moveTo>
                  <a:pt x="109" y="28"/>
                </a:moveTo>
                <a:cubicBezTo>
                  <a:pt x="98" y="11"/>
                  <a:pt x="80" y="0"/>
                  <a:pt x="60" y="0"/>
                </a:cubicBezTo>
                <a:cubicBezTo>
                  <a:pt x="34" y="0"/>
                  <a:pt x="12" y="17"/>
                  <a:pt x="5" y="40"/>
                </a:cubicBezTo>
                <a:cubicBezTo>
                  <a:pt x="4" y="42"/>
                  <a:pt x="5" y="44"/>
                  <a:pt x="6" y="46"/>
                </a:cubicBezTo>
                <a:cubicBezTo>
                  <a:pt x="6" y="46"/>
                  <a:pt x="6" y="46"/>
                  <a:pt x="6" y="46"/>
                </a:cubicBezTo>
                <a:cubicBezTo>
                  <a:pt x="9" y="49"/>
                  <a:pt x="14" y="48"/>
                  <a:pt x="16" y="44"/>
                </a:cubicBezTo>
                <a:cubicBezTo>
                  <a:pt x="22" y="25"/>
                  <a:pt x="39" y="12"/>
                  <a:pt x="60" y="12"/>
                </a:cubicBezTo>
                <a:cubicBezTo>
                  <a:pt x="75" y="12"/>
                  <a:pt x="89" y="19"/>
                  <a:pt x="97" y="31"/>
                </a:cubicBezTo>
                <a:cubicBezTo>
                  <a:pt x="90" y="33"/>
                  <a:pt x="90" y="33"/>
                  <a:pt x="90" y="33"/>
                </a:cubicBezTo>
                <a:cubicBezTo>
                  <a:pt x="89" y="34"/>
                  <a:pt x="88" y="35"/>
                  <a:pt x="89" y="37"/>
                </a:cubicBezTo>
                <a:cubicBezTo>
                  <a:pt x="104" y="50"/>
                  <a:pt x="104" y="50"/>
                  <a:pt x="104" y="50"/>
                </a:cubicBezTo>
                <a:cubicBezTo>
                  <a:pt x="109" y="56"/>
                  <a:pt x="109" y="56"/>
                  <a:pt x="109" y="56"/>
                </a:cubicBezTo>
                <a:cubicBezTo>
                  <a:pt x="110" y="57"/>
                  <a:pt x="112" y="56"/>
                  <a:pt x="112" y="55"/>
                </a:cubicBezTo>
                <a:cubicBezTo>
                  <a:pt x="113" y="50"/>
                  <a:pt x="113" y="50"/>
                  <a:pt x="113" y="50"/>
                </a:cubicBezTo>
                <a:cubicBezTo>
                  <a:pt x="119" y="28"/>
                  <a:pt x="119" y="28"/>
                  <a:pt x="119" y="28"/>
                </a:cubicBezTo>
                <a:cubicBezTo>
                  <a:pt x="119" y="27"/>
                  <a:pt x="118" y="25"/>
                  <a:pt x="116" y="26"/>
                </a:cubicBezTo>
                <a:lnTo>
                  <a:pt x="109" y="28"/>
                </a:lnTo>
                <a:close/>
                <a:moveTo>
                  <a:pt x="113" y="70"/>
                </a:moveTo>
                <a:cubicBezTo>
                  <a:pt x="114" y="71"/>
                  <a:pt x="115" y="74"/>
                  <a:pt x="114" y="76"/>
                </a:cubicBezTo>
                <a:cubicBezTo>
                  <a:pt x="107" y="99"/>
                  <a:pt x="85" y="115"/>
                  <a:pt x="60" y="115"/>
                </a:cubicBezTo>
                <a:cubicBezTo>
                  <a:pt x="40" y="115"/>
                  <a:pt x="22" y="105"/>
                  <a:pt x="11" y="89"/>
                </a:cubicBezTo>
                <a:cubicBezTo>
                  <a:pt x="11" y="88"/>
                  <a:pt x="10" y="88"/>
                  <a:pt x="9" y="88"/>
                </a:cubicBezTo>
                <a:cubicBezTo>
                  <a:pt x="3" y="90"/>
                  <a:pt x="3" y="90"/>
                  <a:pt x="3" y="90"/>
                </a:cubicBezTo>
                <a:cubicBezTo>
                  <a:pt x="1" y="90"/>
                  <a:pt x="0" y="89"/>
                  <a:pt x="0" y="88"/>
                </a:cubicBezTo>
                <a:cubicBezTo>
                  <a:pt x="6" y="66"/>
                  <a:pt x="6" y="66"/>
                  <a:pt x="6" y="66"/>
                </a:cubicBezTo>
                <a:cubicBezTo>
                  <a:pt x="7" y="61"/>
                  <a:pt x="7" y="61"/>
                  <a:pt x="7" y="61"/>
                </a:cubicBezTo>
                <a:cubicBezTo>
                  <a:pt x="7" y="60"/>
                  <a:pt x="9" y="59"/>
                  <a:pt x="10" y="60"/>
                </a:cubicBezTo>
                <a:cubicBezTo>
                  <a:pt x="16" y="66"/>
                  <a:pt x="16" y="66"/>
                  <a:pt x="16" y="66"/>
                </a:cubicBezTo>
                <a:cubicBezTo>
                  <a:pt x="30" y="79"/>
                  <a:pt x="30" y="79"/>
                  <a:pt x="30" y="79"/>
                </a:cubicBezTo>
                <a:cubicBezTo>
                  <a:pt x="31" y="80"/>
                  <a:pt x="30" y="82"/>
                  <a:pt x="29" y="83"/>
                </a:cubicBezTo>
                <a:cubicBezTo>
                  <a:pt x="22" y="85"/>
                  <a:pt x="22" y="85"/>
                  <a:pt x="22" y="85"/>
                </a:cubicBezTo>
                <a:cubicBezTo>
                  <a:pt x="31" y="97"/>
                  <a:pt x="44" y="104"/>
                  <a:pt x="60" y="104"/>
                </a:cubicBezTo>
                <a:cubicBezTo>
                  <a:pt x="80" y="104"/>
                  <a:pt x="97" y="91"/>
                  <a:pt x="103" y="72"/>
                </a:cubicBezTo>
                <a:cubicBezTo>
                  <a:pt x="105" y="68"/>
                  <a:pt x="110" y="67"/>
                  <a:pt x="113" y="70"/>
                </a:cubicBezTo>
                <a:close/>
              </a:path>
            </a:pathLst>
          </a:custGeom>
          <a:solidFill>
            <a:schemeClr val="bg1"/>
          </a:solidFill>
          <a:ln w="9525">
            <a:noFill/>
            <a:round/>
          </a:ln>
        </p:spPr>
        <p:txBody>
          <a:bodyPr wrap="square" lIns="91440" tIns="45720" rIns="91440" bIns="45720" anchor="ctr">
            <a:normAutofit/>
          </a:bodyPr>
          <a:lstStyle/>
          <a:p>
            <a:pPr algn="ctr"/>
          </a:p>
        </p:txBody>
      </p:sp>
      <p:sp>
        <p:nvSpPr>
          <p:cNvPr id="208" name="isḻíḓe"/>
          <p:cNvSpPr/>
          <p:nvPr/>
        </p:nvSpPr>
        <p:spPr bwMode="auto">
          <a:xfrm>
            <a:off x="1942341" y="3440948"/>
            <a:ext cx="7776000" cy="1620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推进前端业务系统改造和流程规范，提高数据准确性和报价及时性</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产品标准</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、制费率、损耗率清晰界定规则，确保不重复计算；</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制费率下沉至各产品线，由财务按季度提供预估数据；</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损耗率下沉至产品，由成本工程师按季度提供预估数据，如果未填写默认不考虑工单损耗；</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基于</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五个不同的材料采购价格进行产品单位成本测算，测算完成后，经由严格的发布流程，发布至</a:t>
            </a:r>
            <a:r>
              <a:rPr lang="en-US" altLang="zh-CN" sz="1400" dirty="0">
                <a:latin typeface="微软雅黑" panose="020B0503020204020204" pitchFamily="34" charset="-122"/>
                <a:ea typeface="微软雅黑" panose="020B0503020204020204" pitchFamily="34" charset="-122"/>
              </a:rPr>
              <a:t>CPQ</a:t>
            </a:r>
            <a:r>
              <a:rPr lang="zh-CN" altLang="en-US" sz="1400" dirty="0">
                <a:latin typeface="微软雅黑" panose="020B0503020204020204" pitchFamily="34" charset="-122"/>
                <a:ea typeface="微软雅黑" panose="020B0503020204020204" pitchFamily="34" charset="-122"/>
              </a:rPr>
              <a:t>，支撑</a:t>
            </a:r>
            <a:r>
              <a:rPr lang="en-US" altLang="zh-CN" sz="1400" dirty="0">
                <a:latin typeface="微软雅黑" panose="020B0503020204020204" pitchFamily="34" charset="-122"/>
                <a:ea typeface="微软雅黑" panose="020B0503020204020204" pitchFamily="34" charset="-122"/>
              </a:rPr>
              <a:t>CPQ</a:t>
            </a:r>
            <a:r>
              <a:rPr lang="zh-CN" altLang="en-US" sz="1400" dirty="0">
                <a:latin typeface="微软雅黑" panose="020B0503020204020204" pitchFamily="34" charset="-122"/>
                <a:ea typeface="微软雅黑" panose="020B0503020204020204" pitchFamily="34" charset="-122"/>
              </a:rPr>
              <a:t>的订单定价和报价。</a:t>
            </a:r>
            <a:endParaRPr lang="en-US" altLang="zh-CN" sz="1400" dirty="0">
              <a:latin typeface="微软雅黑" panose="020B0503020204020204" pitchFamily="34" charset="-122"/>
              <a:ea typeface="微软雅黑" panose="020B0503020204020204" pitchFamily="34" charset="-122"/>
            </a:endParaRPr>
          </a:p>
        </p:txBody>
      </p:sp>
      <p:sp>
        <p:nvSpPr>
          <p:cNvPr id="209" name="isḻíḓe"/>
          <p:cNvSpPr/>
          <p:nvPr/>
        </p:nvSpPr>
        <p:spPr bwMode="auto">
          <a:xfrm>
            <a:off x="1942341" y="5215462"/>
            <a:ext cx="7776000" cy="1260000"/>
          </a:xfrm>
          <a:prstGeom prst="rect">
            <a:avLst/>
          </a:prstGeom>
          <a:solidFill>
            <a:schemeClr val="accent5">
              <a:lumMod val="20000"/>
              <a:lumOff val="80000"/>
            </a:schemeClr>
          </a:solidFill>
          <a:ln>
            <a:noFill/>
          </a:ln>
        </p:spPr>
        <p:txBody>
          <a:bodyPr wrap="square" lIns="72000" tIns="36000" rIns="72000" bIns="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数据统一集成和处理，支持报价跟踪和分析</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从</a:t>
            </a:r>
            <a:r>
              <a:rPr lang="en-US" altLang="zh-CN" sz="1400" dirty="0">
                <a:latin typeface="微软雅黑" panose="020B0503020204020204" pitchFamily="34" charset="-122"/>
                <a:ea typeface="微软雅黑" panose="020B0503020204020204" pitchFamily="34" charset="-122"/>
              </a:rPr>
              <a:t>CPQ</a:t>
            </a:r>
            <a:r>
              <a:rPr lang="zh-CN" altLang="en-US" sz="1400" dirty="0">
                <a:latin typeface="微软雅黑" panose="020B0503020204020204" pitchFamily="34" charset="-122"/>
                <a:ea typeface="微软雅黑" panose="020B0503020204020204" pitchFamily="34" charset="-122"/>
              </a:rPr>
              <a:t>同步产品的最终报价单，并同步该订单后续每次客户变更的版本，支撑后续数据分析；</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从</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同步产品的实际销售价格、销售数量、销售金额，支撑订单的报价和实际的对比分析</a:t>
            </a:r>
            <a:endParaRPr lang="en-US" altLang="zh-CN" sz="1400" dirty="0">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从</a:t>
            </a:r>
            <a:r>
              <a:rPr lang="en-US" altLang="zh-CN" sz="1400" dirty="0">
                <a:latin typeface="微软雅黑" panose="020B0503020204020204" pitchFamily="34" charset="-122"/>
                <a:ea typeface="微软雅黑" panose="020B0503020204020204" pitchFamily="34" charset="-122"/>
              </a:rPr>
              <a:t>SAP</a:t>
            </a:r>
            <a:r>
              <a:rPr lang="zh-CN" altLang="en-US" sz="1400" dirty="0">
                <a:latin typeface="微软雅黑" panose="020B0503020204020204" pitchFamily="34" charset="-122"/>
                <a:ea typeface="微软雅黑" panose="020B0503020204020204" pitchFamily="34" charset="-122"/>
              </a:rPr>
              <a:t>同步产品的实际成本，支撑产品的报价</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跟实际</a:t>
            </a:r>
            <a:r>
              <a:rPr lang="en-US" altLang="zh-CN" sz="1400" dirty="0">
                <a:latin typeface="微软雅黑" panose="020B0503020204020204" pitchFamily="34" charset="-122"/>
                <a:ea typeface="微软雅黑" panose="020B0503020204020204" pitchFamily="34" charset="-122"/>
              </a:rPr>
              <a:t>BOM</a:t>
            </a:r>
            <a:r>
              <a:rPr lang="zh-CN" altLang="en-US" sz="1400" dirty="0">
                <a:latin typeface="微软雅黑" panose="020B0503020204020204" pitchFamily="34" charset="-122"/>
                <a:ea typeface="微软雅黑" panose="020B0503020204020204" pitchFamily="34" charset="-122"/>
              </a:rPr>
              <a:t>的对比分析。</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4979" y="466317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5525" y="466344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10" name="文本占位符 17"/>
          <p:cNvSpPr txBox="1"/>
          <p:nvPr>
            <p:custDataLst>
              <p:tags r:id="rId13"/>
            </p:custDataLst>
          </p:nvPr>
        </p:nvSpPr>
        <p:spPr>
          <a:xfrm>
            <a:off x="5055870" y="379984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现状及主要诉求</a:t>
            </a:r>
            <a:endParaRPr lang="zh-CN" altLang="en-US" sz="1200" dirty="0">
              <a:sym typeface="+mn-ea"/>
            </a:endParaRPr>
          </a:p>
        </p:txBody>
      </p:sp>
      <p:sp>
        <p:nvSpPr>
          <p:cNvPr id="11" name="文本占位符 17"/>
          <p:cNvSpPr txBox="1"/>
          <p:nvPr>
            <p:custDataLst>
              <p:tags r:id="rId14"/>
            </p:custDataLst>
          </p:nvPr>
        </p:nvSpPr>
        <p:spPr>
          <a:xfrm>
            <a:off x="4471670" y="379984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4</a:t>
            </a:r>
            <a:r>
              <a:rPr lang="zh-CN" altLang="en-US" sz="1200" dirty="0">
                <a:sym typeface="+mn-ea"/>
              </a:rPr>
              <a:t>.1</a:t>
            </a:r>
            <a:endParaRPr lang="zh-CN" altLang="en-US" sz="1200" dirty="0">
              <a:sym typeface="+mn-ea"/>
            </a:endParaRPr>
          </a:p>
        </p:txBody>
      </p:sp>
      <p:sp>
        <p:nvSpPr>
          <p:cNvPr id="24" name="文本占位符 17"/>
          <p:cNvSpPr txBox="1"/>
          <p:nvPr>
            <p:custDataLst>
              <p:tags r:id="rId15"/>
            </p:custDataLst>
          </p:nvPr>
        </p:nvSpPr>
        <p:spPr>
          <a:xfrm>
            <a:off x="5055870" y="420052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详细</a:t>
            </a:r>
            <a:r>
              <a:rPr lang="zh-CN" altLang="en-US" sz="1200" dirty="0">
                <a:sym typeface="+mn-ea"/>
              </a:rPr>
              <a:t>方案</a:t>
            </a:r>
            <a:endParaRPr lang="zh-CN" altLang="en-US" sz="1200" dirty="0">
              <a:sym typeface="+mn-ea"/>
            </a:endParaRPr>
          </a:p>
        </p:txBody>
      </p:sp>
      <p:sp>
        <p:nvSpPr>
          <p:cNvPr id="25" name="文本占位符 17"/>
          <p:cNvSpPr txBox="1"/>
          <p:nvPr>
            <p:custDataLst>
              <p:tags r:id="rId16"/>
            </p:custDataLst>
          </p:nvPr>
        </p:nvSpPr>
        <p:spPr>
          <a:xfrm>
            <a:off x="4471670" y="420052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4</a:t>
            </a:r>
            <a:r>
              <a:rPr lang="zh-CN" altLang="en-US" sz="1200" dirty="0">
                <a:sym typeface="+mn-ea"/>
              </a:rPr>
              <a:t>.</a:t>
            </a:r>
            <a:r>
              <a:rPr lang="zh-CN" altLang="en-US" sz="1200" dirty="0">
                <a:sym typeface="+mn-ea"/>
              </a:rPr>
              <a:t>3</a:t>
            </a:r>
            <a:endParaRPr lang="zh-CN" altLang="en-US" sz="1200" dirty="0">
              <a:sym typeface="+mn-ea"/>
            </a:endParaRPr>
          </a:p>
        </p:txBody>
      </p:sp>
      <p:sp>
        <p:nvSpPr>
          <p:cNvPr id="29" name="文本占位符 17"/>
          <p:cNvSpPr txBox="1"/>
          <p:nvPr>
            <p:custDataLst>
              <p:tags r:id="rId17"/>
            </p:custDataLst>
          </p:nvPr>
        </p:nvSpPr>
        <p:spPr>
          <a:xfrm>
            <a:off x="8376285" y="379984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总体</a:t>
            </a:r>
            <a:r>
              <a:rPr lang="zh-CN" altLang="en-US" sz="1200" dirty="0">
                <a:sym typeface="+mn-ea"/>
              </a:rPr>
              <a:t>方案</a:t>
            </a:r>
            <a:endParaRPr lang="zh-CN" altLang="en-US" sz="1200" dirty="0">
              <a:sym typeface="+mn-ea"/>
            </a:endParaRPr>
          </a:p>
        </p:txBody>
      </p:sp>
      <p:sp>
        <p:nvSpPr>
          <p:cNvPr id="30" name="文本占位符 17"/>
          <p:cNvSpPr txBox="1"/>
          <p:nvPr>
            <p:custDataLst>
              <p:tags r:id="rId18"/>
            </p:custDataLst>
          </p:nvPr>
        </p:nvSpPr>
        <p:spPr>
          <a:xfrm>
            <a:off x="7792085" y="3799840"/>
            <a:ext cx="506730"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4</a:t>
            </a:r>
            <a:r>
              <a:rPr lang="zh-CN" altLang="en-US" sz="1200" dirty="0">
                <a:sym typeface="+mn-ea"/>
              </a:rPr>
              <a:t>.</a:t>
            </a:r>
            <a:r>
              <a:rPr lang="zh-CN" altLang="en-US" sz="1200" dirty="0">
                <a:sym typeface="+mn-ea"/>
              </a:rPr>
              <a:t>2</a:t>
            </a:r>
            <a:endParaRPr lang="zh-CN" altLang="en-US" sz="1200" dirty="0">
              <a:sym typeface="+mn-ea"/>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2169650" y="4720455"/>
            <a:ext cx="6827277" cy="91633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72000" tIns="0" rIns="0" bIns="0" rtlCol="0" anchor="b" anchorCtr="0"/>
          <a:lstStyle/>
          <a:p>
            <a:pPr algn="ctr"/>
            <a:r>
              <a:rPr kumimoji="1" lang="en-US" altLang="zh-CN" b="1" dirty="0" err="1">
                <a:solidFill>
                  <a:schemeClr val="accent1"/>
                </a:solidFill>
                <a:latin typeface="微软雅黑" panose="020B0503020204020204" pitchFamily="34" charset="-122"/>
                <a:ea typeface="微软雅黑" panose="020B0503020204020204" pitchFamily="34" charset="-122"/>
              </a:rPr>
              <a:t>S_Parts</a:t>
            </a:r>
            <a:endParaRPr kumimoji="1"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产品基准价测算方案</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4" name="矩形 3"/>
          <p:cNvSpPr/>
          <p:nvPr/>
        </p:nvSpPr>
        <p:spPr>
          <a:xfrm>
            <a:off x="566653"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标准</a:t>
            </a:r>
            <a:r>
              <a:rPr kumimoji="1" lang="en-US" altLang="zh-CN" sz="1400" b="1" dirty="0">
                <a:latin typeface="微软雅黑" panose="020B0503020204020204" pitchFamily="34" charset="-122"/>
                <a:ea typeface="微软雅黑" panose="020B0503020204020204" pitchFamily="34" charset="-122"/>
              </a:rPr>
              <a:t>BOM</a:t>
            </a:r>
            <a:endParaRPr kumimoji="1" lang="zh-CN" altLang="en-US" sz="1400" b="1" dirty="0">
              <a:latin typeface="微软雅黑" panose="020B0503020204020204" pitchFamily="34" charset="-122"/>
              <a:ea typeface="微软雅黑" panose="020B0503020204020204" pitchFamily="34" charset="-122"/>
            </a:endParaRPr>
          </a:p>
        </p:txBody>
      </p:sp>
      <p:sp>
        <p:nvSpPr>
          <p:cNvPr id="5" name="矩形 4"/>
          <p:cNvSpPr/>
          <p:nvPr/>
        </p:nvSpPr>
        <p:spPr>
          <a:xfrm>
            <a:off x="558265" y="1986493"/>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替代规则</a:t>
            </a:r>
            <a:endParaRPr kumimoji="1"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566653" y="2802157"/>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材料采购价格</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（最高价、最低价、移动加权平均价）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7" name="矩形 6"/>
          <p:cNvSpPr/>
          <p:nvPr/>
        </p:nvSpPr>
        <p:spPr>
          <a:xfrm>
            <a:off x="2065261" y="1183951"/>
            <a:ext cx="900000" cy="226620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产品报价</a:t>
            </a:r>
            <a:r>
              <a:rPr kumimoji="1" lang="en-US" altLang="zh-CN" sz="1400" b="1" dirty="0">
                <a:latin typeface="微软雅黑" panose="020B0503020204020204" pitchFamily="34" charset="-122"/>
                <a:ea typeface="微软雅黑" panose="020B0503020204020204" pitchFamily="34" charset="-122"/>
              </a:rPr>
              <a:t>BOM</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（标准</a:t>
            </a:r>
            <a:r>
              <a:rPr kumimoji="1" lang="en-US" altLang="zh-CN" sz="1100" b="1" dirty="0">
                <a:solidFill>
                  <a:srgbClr val="FFFF00"/>
                </a:solidFill>
                <a:latin typeface="微软雅黑" panose="020B0503020204020204" pitchFamily="34" charset="-122"/>
                <a:ea typeface="微软雅黑" panose="020B0503020204020204" pitchFamily="34" charset="-122"/>
              </a:rPr>
              <a:t>BOM+</a:t>
            </a:r>
            <a:r>
              <a:rPr kumimoji="1" lang="zh-CN" altLang="en-US" sz="1100" b="1" dirty="0">
                <a:solidFill>
                  <a:srgbClr val="FFFF00"/>
                </a:solidFill>
                <a:latin typeface="微软雅黑" panose="020B0503020204020204" pitchFamily="34" charset="-122"/>
                <a:ea typeface="微软雅黑" panose="020B0503020204020204" pitchFamily="34" charset="-122"/>
              </a:rPr>
              <a:t>替代）</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8" name="矩形 7"/>
          <p:cNvSpPr/>
          <p:nvPr/>
        </p:nvSpPr>
        <p:spPr>
          <a:xfrm>
            <a:off x="2630237" y="4795240"/>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配套</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（线材、安装件、外设等）</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1" name="矩形 10"/>
          <p:cNvSpPr/>
          <p:nvPr/>
        </p:nvSpPr>
        <p:spPr>
          <a:xfrm>
            <a:off x="4214413" y="4795240"/>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备品备件</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（模组、披萨盒？）</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2" name="矩形 11"/>
          <p:cNvSpPr/>
          <p:nvPr/>
        </p:nvSpPr>
        <p:spPr>
          <a:xfrm>
            <a:off x="5799370" y="4795240"/>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包装包材</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（打包袋、合格证？）</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4" name="矩形 13"/>
          <p:cNvSpPr/>
          <p:nvPr/>
        </p:nvSpPr>
        <p:spPr>
          <a:xfrm>
            <a:off x="2630237" y="5201932"/>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标准质保</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（两年质保、三年？）</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7" name="矩形 16"/>
          <p:cNvSpPr/>
          <p:nvPr/>
        </p:nvSpPr>
        <p:spPr>
          <a:xfrm>
            <a:off x="4214413" y="5201932"/>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工程安装</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（按平米收费？）</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9" name="矩形 8"/>
          <p:cNvSpPr/>
          <p:nvPr/>
        </p:nvSpPr>
        <p:spPr>
          <a:xfrm>
            <a:off x="5799370" y="5201932"/>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运输售价</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FOB</a:t>
            </a:r>
            <a:r>
              <a:rPr kumimoji="1" lang="zh-CN" altLang="en-US" sz="1100" b="1" dirty="0">
                <a:solidFill>
                  <a:srgbClr val="FFFF00"/>
                </a:solidFill>
                <a:latin typeface="微软雅黑" panose="020B0503020204020204" pitchFamily="34" charset="-122"/>
                <a:ea typeface="微软雅黑" panose="020B0503020204020204" pitchFamily="34" charset="-122"/>
              </a:rPr>
              <a:t>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5" name="矩形 14"/>
          <p:cNvSpPr/>
          <p:nvPr/>
        </p:nvSpPr>
        <p:spPr>
          <a:xfrm>
            <a:off x="3278430"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单耗</a:t>
            </a:r>
            <a:endParaRPr kumimoji="1" lang="en-US" altLang="zh-CN" sz="1400" b="1" dirty="0">
              <a:latin typeface="微软雅黑" panose="020B0503020204020204" pitchFamily="34" charset="-122"/>
              <a:ea typeface="微软雅黑" panose="020B0503020204020204" pitchFamily="34" charset="-122"/>
            </a:endParaRPr>
          </a:p>
        </p:txBody>
      </p:sp>
      <p:sp>
        <p:nvSpPr>
          <p:cNvPr id="18" name="矩形 17"/>
          <p:cNvSpPr/>
          <p:nvPr/>
        </p:nvSpPr>
        <p:spPr>
          <a:xfrm>
            <a:off x="3278430" y="1986493"/>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材料价格</a:t>
            </a:r>
            <a:endParaRPr kumimoji="1" lang="en-US" altLang="zh-CN" sz="1400" b="1" dirty="0">
              <a:latin typeface="微软雅黑" panose="020B0503020204020204" pitchFamily="34" charset="-122"/>
              <a:ea typeface="微软雅黑" panose="020B0503020204020204" pitchFamily="34" charset="-122"/>
            </a:endParaRPr>
          </a:p>
        </p:txBody>
      </p:sp>
      <p:sp>
        <p:nvSpPr>
          <p:cNvPr id="19" name="矩形 18"/>
          <p:cNvSpPr/>
          <p:nvPr/>
        </p:nvSpPr>
        <p:spPr>
          <a:xfrm>
            <a:off x="3278430" y="2802157"/>
            <a:ext cx="1188000" cy="648000"/>
          </a:xfrm>
          <a:prstGeom prst="rect">
            <a:avLst/>
          </a:prstGeom>
          <a:solidFill>
            <a:srgbClr val="1E929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工单损耗率</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900" b="1" dirty="0">
                <a:solidFill>
                  <a:srgbClr val="FFFF00"/>
                </a:solidFill>
                <a:latin typeface="微软雅黑" panose="020B0503020204020204" pitchFamily="34" charset="-122"/>
                <a:ea typeface="微软雅黑" panose="020B0503020204020204" pitchFamily="34" charset="-122"/>
              </a:rPr>
              <a:t>（</a:t>
            </a:r>
            <a:r>
              <a:rPr kumimoji="1" lang="en-US" altLang="zh-CN" sz="900" b="1" dirty="0">
                <a:solidFill>
                  <a:srgbClr val="FFFF00"/>
                </a:solidFill>
                <a:latin typeface="微软雅黑" panose="020B0503020204020204" pitchFamily="34" charset="-122"/>
                <a:ea typeface="微软雅黑" panose="020B0503020204020204" pitchFamily="34" charset="-122"/>
              </a:rPr>
              <a:t>BY </a:t>
            </a:r>
            <a:r>
              <a:rPr kumimoji="1" lang="zh-CN" altLang="en-US" sz="900" b="1" dirty="0">
                <a:solidFill>
                  <a:srgbClr val="FFFF00"/>
                </a:solidFill>
                <a:latin typeface="微软雅黑" panose="020B0503020204020204" pitchFamily="34" charset="-122"/>
                <a:ea typeface="微软雅黑" panose="020B0503020204020204" pitchFamily="34" charset="-122"/>
              </a:rPr>
              <a:t>产品，需要咨询</a:t>
            </a:r>
            <a:r>
              <a:rPr kumimoji="1" lang="en-US" altLang="zh-CN" sz="900" b="1" dirty="0">
                <a:solidFill>
                  <a:srgbClr val="FFFF00"/>
                </a:solidFill>
                <a:latin typeface="微软雅黑" panose="020B0503020204020204" pitchFamily="34" charset="-122"/>
                <a:ea typeface="微软雅黑" panose="020B0503020204020204" pitchFamily="34" charset="-122"/>
              </a:rPr>
              <a:t>PMC</a:t>
            </a:r>
            <a:r>
              <a:rPr kumimoji="1" lang="zh-CN" altLang="en-US" sz="900" b="1" dirty="0">
                <a:solidFill>
                  <a:srgbClr val="FFFF00"/>
                </a:solidFill>
                <a:latin typeface="微软雅黑" panose="020B0503020204020204" pitchFamily="34" charset="-122"/>
                <a:ea typeface="微软雅黑" panose="020B0503020204020204" pitchFamily="34" charset="-122"/>
              </a:rPr>
              <a:t>，成本工程师录入</a:t>
            </a:r>
            <a:r>
              <a:rPr kumimoji="1" lang="zh-CN" altLang="en-US" sz="1100" b="1" dirty="0">
                <a:solidFill>
                  <a:srgbClr val="FFFF00"/>
                </a:solidFill>
                <a:latin typeface="微软雅黑" panose="020B0503020204020204" pitchFamily="34" charset="-122"/>
                <a:ea typeface="微软雅黑" panose="020B0503020204020204" pitchFamily="34" charset="-122"/>
              </a:rPr>
              <a:t>）</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20" name="矩形 19"/>
          <p:cNvSpPr/>
          <p:nvPr/>
        </p:nvSpPr>
        <p:spPr>
          <a:xfrm>
            <a:off x="4779965"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p:txBody>
      </p:sp>
      <p:sp>
        <p:nvSpPr>
          <p:cNvPr id="21" name="矩形 20"/>
          <p:cNvSpPr/>
          <p:nvPr/>
        </p:nvSpPr>
        <p:spPr>
          <a:xfrm>
            <a:off x="4779965" y="1986493"/>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a:t>
            </a:r>
            <a:endParaRPr kumimoji="1" lang="en-US" altLang="zh-CN" sz="1400" b="1" dirty="0">
              <a:latin typeface="微软雅黑" panose="020B0503020204020204" pitchFamily="34" charset="-122"/>
              <a:ea typeface="微软雅黑" panose="020B0503020204020204" pitchFamily="34" charset="-122"/>
            </a:endParaRPr>
          </a:p>
        </p:txBody>
      </p:sp>
      <p:sp>
        <p:nvSpPr>
          <p:cNvPr id="22" name="矩形 21"/>
          <p:cNvSpPr/>
          <p:nvPr/>
        </p:nvSpPr>
        <p:spPr>
          <a:xfrm>
            <a:off x="4779965" y="2802157"/>
            <a:ext cx="1188000" cy="64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制费率</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900" b="1" dirty="0">
                <a:solidFill>
                  <a:srgbClr val="FFFF00"/>
                </a:solidFill>
                <a:latin typeface="微软雅黑" panose="020B0503020204020204" pitchFamily="34" charset="-122"/>
                <a:ea typeface="微软雅黑" panose="020B0503020204020204" pitchFamily="34" charset="-122"/>
              </a:rPr>
              <a:t>（</a:t>
            </a:r>
            <a:r>
              <a:rPr kumimoji="1" lang="en-US" altLang="zh-CN" sz="900" b="1" dirty="0">
                <a:solidFill>
                  <a:srgbClr val="FFFF00"/>
                </a:solidFill>
                <a:latin typeface="微软雅黑" panose="020B0503020204020204" pitchFamily="34" charset="-122"/>
                <a:ea typeface="微软雅黑" panose="020B0503020204020204" pitchFamily="34" charset="-122"/>
              </a:rPr>
              <a:t>BY </a:t>
            </a:r>
            <a:r>
              <a:rPr kumimoji="1" lang="zh-CN" altLang="en-US" sz="900" b="1" dirty="0">
                <a:solidFill>
                  <a:srgbClr val="FFFF00"/>
                </a:solidFill>
                <a:latin typeface="微软雅黑" panose="020B0503020204020204" pitchFamily="34" charset="-122"/>
                <a:ea typeface="微软雅黑" panose="020B0503020204020204" pitchFamily="34" charset="-122"/>
              </a:rPr>
              <a:t>产品系列</a:t>
            </a:r>
            <a:r>
              <a:rPr kumimoji="1" lang="en-US" altLang="zh-CN" sz="900" b="1" dirty="0">
                <a:solidFill>
                  <a:srgbClr val="FFFF00"/>
                </a:solidFill>
                <a:latin typeface="微软雅黑" panose="020B0503020204020204" pitchFamily="34" charset="-122"/>
                <a:ea typeface="微软雅黑" panose="020B0503020204020204" pitchFamily="34" charset="-122"/>
              </a:rPr>
              <a:t>/</a:t>
            </a:r>
            <a:r>
              <a:rPr kumimoji="1" lang="zh-CN" altLang="en-US" sz="900" b="1" dirty="0">
                <a:solidFill>
                  <a:srgbClr val="FFFF00"/>
                </a:solidFill>
                <a:latin typeface="微软雅黑" panose="020B0503020204020204" pitchFamily="34" charset="-122"/>
                <a:ea typeface="微软雅黑" panose="020B0503020204020204" pitchFamily="34" charset="-122"/>
              </a:rPr>
              <a:t>产品，成本工程师录入）</a:t>
            </a:r>
            <a:endParaRPr kumimoji="1" lang="en-US" altLang="zh-CN" sz="900" b="1" dirty="0">
              <a:solidFill>
                <a:srgbClr val="FFFF00"/>
              </a:solidFill>
              <a:latin typeface="微软雅黑" panose="020B0503020204020204" pitchFamily="34" charset="-122"/>
              <a:ea typeface="微软雅黑" panose="020B0503020204020204" pitchFamily="34" charset="-122"/>
            </a:endParaRPr>
          </a:p>
        </p:txBody>
      </p:sp>
      <p:sp>
        <p:nvSpPr>
          <p:cNvPr id="28" name="矩形 27"/>
          <p:cNvSpPr/>
          <p:nvPr/>
        </p:nvSpPr>
        <p:spPr>
          <a:xfrm>
            <a:off x="6277610"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p:txBody>
      </p:sp>
      <p:sp>
        <p:nvSpPr>
          <p:cNvPr id="29" name="矩形 28"/>
          <p:cNvSpPr/>
          <p:nvPr/>
        </p:nvSpPr>
        <p:spPr>
          <a:xfrm>
            <a:off x="6277610" y="1986493"/>
            <a:ext cx="1188000" cy="64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调整值</a:t>
            </a:r>
            <a:endParaRPr kumimoji="1" lang="en-US" altLang="zh-CN" sz="1400" b="1" dirty="0">
              <a:latin typeface="微软雅黑" panose="020B0503020204020204" pitchFamily="34" charset="-122"/>
              <a:ea typeface="微软雅黑" panose="020B0503020204020204" pitchFamily="34" charset="-122"/>
            </a:endParaRPr>
          </a:p>
        </p:txBody>
      </p:sp>
      <p:sp>
        <p:nvSpPr>
          <p:cNvPr id="30" name="矩形 29"/>
          <p:cNvSpPr/>
          <p:nvPr/>
        </p:nvSpPr>
        <p:spPr>
          <a:xfrm>
            <a:off x="6277609" y="2802157"/>
            <a:ext cx="4216889"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600" b="1" dirty="0">
                <a:latin typeface="微软雅黑" panose="020B0503020204020204" pitchFamily="34" charset="-122"/>
                <a:ea typeface="微软雅黑" panose="020B0503020204020204" pitchFamily="34" charset="-122"/>
              </a:rPr>
              <a:t>产品基准价</a:t>
            </a:r>
            <a:endParaRPr kumimoji="1" lang="en-US" altLang="zh-CN" sz="16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（从</a:t>
            </a:r>
            <a:r>
              <a:rPr kumimoji="1" lang="en-US" altLang="zh-CN" sz="1100" b="1" dirty="0">
                <a:solidFill>
                  <a:srgbClr val="FFFF00"/>
                </a:solidFill>
                <a:latin typeface="微软雅黑" panose="020B0503020204020204" pitchFamily="34" charset="-122"/>
                <a:ea typeface="微软雅黑" panose="020B0503020204020204" pitchFamily="34" charset="-122"/>
              </a:rPr>
              <a:t>5</a:t>
            </a:r>
            <a:r>
              <a:rPr kumimoji="1" lang="zh-CN" altLang="en-US" sz="1100" b="1" dirty="0">
                <a:solidFill>
                  <a:srgbClr val="FFFF00"/>
                </a:solidFill>
                <a:latin typeface="微软雅黑" panose="020B0503020204020204" pitchFamily="34" charset="-122"/>
                <a:ea typeface="微软雅黑" panose="020B0503020204020204" pitchFamily="34" charset="-122"/>
              </a:rPr>
              <a:t>个产品单位成本中选到</a:t>
            </a:r>
            <a:r>
              <a:rPr kumimoji="1" lang="en-US" altLang="zh-CN" sz="1100" b="1" dirty="0">
                <a:solidFill>
                  <a:srgbClr val="FFFF00"/>
                </a:solidFill>
                <a:latin typeface="微软雅黑" panose="020B0503020204020204" pitchFamily="34" charset="-122"/>
                <a:ea typeface="微软雅黑" panose="020B0503020204020204" pitchFamily="34" charset="-122"/>
              </a:rPr>
              <a:t>CPQ</a:t>
            </a:r>
            <a:r>
              <a:rPr kumimoji="1" lang="zh-CN" altLang="en-US" sz="1100" b="1" dirty="0">
                <a:solidFill>
                  <a:srgbClr val="FFFF00"/>
                </a:solidFill>
                <a:latin typeface="微软雅黑" panose="020B0503020204020204" pitchFamily="34" charset="-122"/>
                <a:ea typeface="微软雅黑" panose="020B0503020204020204" pitchFamily="34" charset="-122"/>
              </a:rPr>
              <a:t>版本，给</a:t>
            </a:r>
            <a:r>
              <a:rPr kumimoji="1" lang="en-US" altLang="zh-CN" sz="1100" b="1" dirty="0">
                <a:solidFill>
                  <a:srgbClr val="FFFF00"/>
                </a:solidFill>
                <a:latin typeface="微软雅黑" panose="020B0503020204020204" pitchFamily="34" charset="-122"/>
                <a:ea typeface="微软雅黑" panose="020B0503020204020204" pitchFamily="34" charset="-122"/>
              </a:rPr>
              <a:t>CPQ</a:t>
            </a:r>
            <a:r>
              <a:rPr kumimoji="1" lang="zh-CN" altLang="en-US" sz="1100" b="1" dirty="0">
                <a:solidFill>
                  <a:srgbClr val="FFFF00"/>
                </a:solidFill>
                <a:latin typeface="微软雅黑" panose="020B0503020204020204" pitchFamily="34" charset="-122"/>
                <a:ea typeface="微软雅黑" panose="020B0503020204020204" pitchFamily="34" charset="-122"/>
              </a:rPr>
              <a:t>调用）</a:t>
            </a:r>
            <a:endParaRPr kumimoji="1" lang="en-US" altLang="zh-CN" sz="1200" b="1" dirty="0">
              <a:solidFill>
                <a:srgbClr val="FFFF00"/>
              </a:solidFill>
              <a:latin typeface="微软雅黑" panose="020B0503020204020204" pitchFamily="34" charset="-122"/>
              <a:ea typeface="微软雅黑" panose="020B0503020204020204" pitchFamily="34" charset="-122"/>
            </a:endParaRPr>
          </a:p>
        </p:txBody>
      </p:sp>
      <p:sp>
        <p:nvSpPr>
          <p:cNvPr id="10" name="矩形 9"/>
          <p:cNvSpPr/>
          <p:nvPr/>
        </p:nvSpPr>
        <p:spPr>
          <a:xfrm>
            <a:off x="9239872" y="4720456"/>
            <a:ext cx="1188000" cy="91633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err="1">
                <a:solidFill>
                  <a:schemeClr val="bg1"/>
                </a:solidFill>
                <a:latin typeface="微软雅黑" panose="020B0503020204020204" pitchFamily="34" charset="-122"/>
                <a:ea typeface="微软雅黑" panose="020B0503020204020204" pitchFamily="34" charset="-122"/>
              </a:rPr>
              <a:t>S_parts</a:t>
            </a:r>
            <a:r>
              <a:rPr kumimoji="1" lang="zh-CN" altLang="en-US" sz="1400" b="1" dirty="0">
                <a:solidFill>
                  <a:schemeClr val="bg1"/>
                </a:solidFill>
                <a:latin typeface="微软雅黑" panose="020B0503020204020204" pitchFamily="34" charset="-122"/>
                <a:ea typeface="微软雅黑" panose="020B0503020204020204" pitchFamily="34" charset="-122"/>
              </a:rPr>
              <a:t>目录价</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37" name="右箭头 232"/>
          <p:cNvSpPr/>
          <p:nvPr/>
        </p:nvSpPr>
        <p:spPr>
          <a:xfrm>
            <a:off x="7489717" y="1254482"/>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a:xfrm>
            <a:off x="9239872" y="3891693"/>
            <a:ext cx="118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产品基准价</a:t>
            </a:r>
            <a:endParaRPr kumimoji="1" lang="en-US" altLang="zh-CN" sz="1400" b="1" dirty="0">
              <a:latin typeface="微软雅黑" panose="020B0503020204020204" pitchFamily="34" charset="-122"/>
              <a:ea typeface="微软雅黑" panose="020B0503020204020204" pitchFamily="34" charset="-122"/>
            </a:endParaRPr>
          </a:p>
        </p:txBody>
      </p:sp>
      <p:sp>
        <p:nvSpPr>
          <p:cNvPr id="42" name="矩形 41"/>
          <p:cNvSpPr/>
          <p:nvPr/>
        </p:nvSpPr>
        <p:spPr>
          <a:xfrm>
            <a:off x="9239872" y="4309314"/>
            <a:ext cx="118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产品目录价</a:t>
            </a:r>
            <a:endParaRPr kumimoji="1" lang="en-US" altLang="zh-CN" sz="1400" b="1" dirty="0">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566653" y="3629525"/>
            <a:ext cx="11402656"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2169522" y="3885342"/>
            <a:ext cx="6827406" cy="77765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屏体选择</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（根据替代规则可指定物料）</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54" name="箭头: 圆角右 53"/>
          <p:cNvSpPr/>
          <p:nvPr/>
        </p:nvSpPr>
        <p:spPr>
          <a:xfrm rot="5400000" flipH="1" flipV="1">
            <a:off x="585214" y="3868400"/>
            <a:ext cx="747066" cy="784187"/>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a:solidFill>
                <a:schemeClr val="tx1"/>
              </a:solidFill>
              <a:latin typeface="微软雅黑" panose="020B0503020204020204" pitchFamily="34" charset="-122"/>
              <a:ea typeface="微软雅黑" panose="020B0503020204020204" pitchFamily="34" charset="-122"/>
            </a:endParaRPr>
          </a:p>
        </p:txBody>
      </p:sp>
      <p:sp>
        <p:nvSpPr>
          <p:cNvPr id="55" name="箭头: 圆角右 54"/>
          <p:cNvSpPr/>
          <p:nvPr/>
        </p:nvSpPr>
        <p:spPr>
          <a:xfrm rot="16200000" flipH="1" flipV="1">
            <a:off x="988898" y="3869792"/>
            <a:ext cx="747066" cy="784187"/>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a:solidFill>
                <a:schemeClr val="tx1"/>
              </a:solidFill>
              <a:latin typeface="微软雅黑" panose="020B0503020204020204" pitchFamily="34" charset="-122"/>
              <a:ea typeface="微软雅黑" panose="020B0503020204020204" pitchFamily="34" charset="-122"/>
            </a:endParaRPr>
          </a:p>
        </p:txBody>
      </p:sp>
      <p:sp>
        <p:nvSpPr>
          <p:cNvPr id="56" name="矩形 55"/>
          <p:cNvSpPr/>
          <p:nvPr/>
        </p:nvSpPr>
        <p:spPr>
          <a:xfrm>
            <a:off x="10910737" y="1180239"/>
            <a:ext cx="1058572" cy="226991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600" b="1" dirty="0">
                <a:latin typeface="微软雅黑" panose="020B0503020204020204" pitchFamily="34" charset="-122"/>
                <a:ea typeface="微软雅黑" panose="020B0503020204020204" pitchFamily="34" charset="-122"/>
              </a:rPr>
              <a:t>数据中台</a:t>
            </a:r>
            <a:endParaRPr kumimoji="1" lang="zh-CN" altLang="en-US" sz="1600" b="1" dirty="0">
              <a:latin typeface="微软雅黑" panose="020B0503020204020204" pitchFamily="34" charset="-122"/>
              <a:ea typeface="微软雅黑" panose="020B0503020204020204" pitchFamily="34" charset="-122"/>
            </a:endParaRPr>
          </a:p>
        </p:txBody>
      </p:sp>
      <p:sp>
        <p:nvSpPr>
          <p:cNvPr id="57" name="矩形 56"/>
          <p:cNvSpPr/>
          <p:nvPr/>
        </p:nvSpPr>
        <p:spPr>
          <a:xfrm>
            <a:off x="10909495" y="3885342"/>
            <a:ext cx="1058572" cy="269404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600" b="1" dirty="0">
                <a:latin typeface="微软雅黑" panose="020B0503020204020204" pitchFamily="34" charset="-122"/>
                <a:ea typeface="微软雅黑" panose="020B0503020204020204" pitchFamily="34" charset="-122"/>
              </a:rPr>
              <a:t>CRM</a:t>
            </a:r>
            <a:endParaRPr kumimoji="1" lang="en-US" altLang="zh-CN" sz="1600" b="1" dirty="0">
              <a:latin typeface="微软雅黑" panose="020B0503020204020204" pitchFamily="34" charset="-122"/>
              <a:ea typeface="微软雅黑" panose="020B0503020204020204" pitchFamily="34" charset="-122"/>
            </a:endParaRPr>
          </a:p>
          <a:p>
            <a:pPr algn="ctr"/>
            <a:r>
              <a:rPr kumimoji="1" lang="zh-CN" altLang="en-US" sz="1600" b="1" dirty="0">
                <a:latin typeface="微软雅黑" panose="020B0503020204020204" pitchFamily="34" charset="-122"/>
                <a:ea typeface="微软雅黑" panose="020B0503020204020204" pitchFamily="34" charset="-122"/>
              </a:rPr>
              <a:t>（</a:t>
            </a:r>
            <a:r>
              <a:rPr kumimoji="1" lang="en-US" altLang="zh-CN" sz="1600" b="1" dirty="0">
                <a:latin typeface="微软雅黑" panose="020B0503020204020204" pitchFamily="34" charset="-122"/>
                <a:ea typeface="微软雅黑" panose="020B0503020204020204" pitchFamily="34" charset="-122"/>
              </a:rPr>
              <a:t>CPQ+</a:t>
            </a:r>
            <a:r>
              <a:rPr kumimoji="1" lang="zh-CN" altLang="en-US" sz="1600" b="1" dirty="0">
                <a:latin typeface="微软雅黑" panose="020B0503020204020204" pitchFamily="34" charset="-122"/>
                <a:ea typeface="微软雅黑" panose="020B0503020204020204" pitchFamily="34" charset="-122"/>
              </a:rPr>
              <a:t>定价</a:t>
            </a:r>
            <a:r>
              <a:rPr kumimoji="1" lang="en-US" altLang="zh-CN" sz="1600" b="1" dirty="0">
                <a:latin typeface="微软雅黑" panose="020B0503020204020204" pitchFamily="34" charset="-122"/>
                <a:ea typeface="微软雅黑" panose="020B0503020204020204" pitchFamily="34" charset="-122"/>
              </a:rPr>
              <a:t>+</a:t>
            </a:r>
            <a:r>
              <a:rPr kumimoji="1" lang="zh-CN" altLang="en-US" sz="1600" b="1" dirty="0">
                <a:latin typeface="微软雅黑" panose="020B0503020204020204" pitchFamily="34" charset="-122"/>
                <a:ea typeface="微软雅黑" panose="020B0503020204020204" pitchFamily="34" charset="-122"/>
              </a:rPr>
              <a:t>报价）</a:t>
            </a:r>
            <a:endParaRPr kumimoji="1" lang="zh-CN" altLang="en-US" sz="1600" b="1" dirty="0">
              <a:latin typeface="微软雅黑" panose="020B0503020204020204" pitchFamily="34" charset="-122"/>
              <a:ea typeface="微软雅黑" panose="020B0503020204020204" pitchFamily="34" charset="-122"/>
            </a:endParaRPr>
          </a:p>
        </p:txBody>
      </p:sp>
      <p:sp>
        <p:nvSpPr>
          <p:cNvPr id="58" name="矩形 57"/>
          <p:cNvSpPr/>
          <p:nvPr/>
        </p:nvSpPr>
        <p:spPr>
          <a:xfrm>
            <a:off x="9239872" y="5786943"/>
            <a:ext cx="118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订单附加费</a:t>
            </a:r>
            <a:endParaRPr kumimoji="1" lang="en-US" altLang="zh-CN" sz="1400" b="1" dirty="0">
              <a:latin typeface="微软雅黑" panose="020B0503020204020204" pitchFamily="34" charset="-122"/>
              <a:ea typeface="微软雅黑" panose="020B0503020204020204" pitchFamily="34" charset="-122"/>
            </a:endParaRPr>
          </a:p>
          <a:p>
            <a:pPr algn="ctr"/>
            <a:r>
              <a:rPr kumimoji="1" lang="en-US" altLang="zh-CN" sz="1100" b="1" dirty="0">
                <a:solidFill>
                  <a:srgbClr val="FFFF00"/>
                </a:solidFill>
                <a:latin typeface="微软雅黑" panose="020B0503020204020204" pitchFamily="34" charset="-122"/>
                <a:ea typeface="微软雅黑" panose="020B0503020204020204" pitchFamily="34" charset="-122"/>
              </a:rPr>
              <a:t>(</a:t>
            </a:r>
            <a:r>
              <a:rPr kumimoji="1" lang="zh-CN" altLang="en-US" sz="1100" b="1" dirty="0">
                <a:solidFill>
                  <a:srgbClr val="FFFF00"/>
                </a:solidFill>
                <a:latin typeface="微软雅黑" panose="020B0503020204020204" pitchFamily="34" charset="-122"/>
                <a:ea typeface="微软雅黑" panose="020B0503020204020204" pitchFamily="34" charset="-122"/>
              </a:rPr>
              <a:t>与合同有关</a:t>
            </a:r>
            <a:r>
              <a:rPr kumimoji="1" lang="en-US" altLang="zh-CN" sz="1100" b="1" dirty="0">
                <a:solidFill>
                  <a:srgbClr val="FFFF00"/>
                </a:solidFill>
                <a:latin typeface="微软雅黑" panose="020B0503020204020204" pitchFamily="34" charset="-122"/>
                <a:ea typeface="微软雅黑" panose="020B0503020204020204" pitchFamily="34" charset="-122"/>
              </a:rPr>
              <a:t>)</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59" name="矩形 58"/>
          <p:cNvSpPr/>
          <p:nvPr/>
        </p:nvSpPr>
        <p:spPr>
          <a:xfrm>
            <a:off x="9239872" y="6219384"/>
            <a:ext cx="118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订单毛利</a:t>
            </a:r>
            <a:endParaRPr kumimoji="1" lang="zh-CN" altLang="en-US" sz="1400" b="1" dirty="0">
              <a:latin typeface="微软雅黑" panose="020B0503020204020204" pitchFamily="34" charset="-122"/>
              <a:ea typeface="微软雅黑" panose="020B0503020204020204" pitchFamily="34" charset="-122"/>
            </a:endParaRPr>
          </a:p>
        </p:txBody>
      </p:sp>
      <p:sp>
        <p:nvSpPr>
          <p:cNvPr id="72" name="矩形 71"/>
          <p:cNvSpPr/>
          <p:nvPr/>
        </p:nvSpPr>
        <p:spPr>
          <a:xfrm>
            <a:off x="2065261" y="5786943"/>
            <a:ext cx="6931666" cy="79244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50000"/>
              </a:lnSpc>
            </a:pPr>
            <a:r>
              <a:rPr kumimoji="1" lang="zh-CN" altLang="en-US" sz="1600" b="1" dirty="0">
                <a:latin typeface="微软雅黑" panose="020B0503020204020204" pitchFamily="34" charset="-122"/>
                <a:ea typeface="微软雅黑" panose="020B0503020204020204" pitchFamily="34" charset="-122"/>
              </a:rPr>
              <a:t>不同价权行使</a:t>
            </a:r>
            <a:endParaRPr kumimoji="1" lang="en-US" altLang="zh-CN" sz="1600" b="1" dirty="0">
              <a:latin typeface="微软雅黑" panose="020B0503020204020204" pitchFamily="34" charset="-122"/>
              <a:ea typeface="微软雅黑" panose="020B0503020204020204" pitchFamily="34" charset="-122"/>
            </a:endParaRPr>
          </a:p>
          <a:p>
            <a:pPr algn="ctr">
              <a:lnSpc>
                <a:spcPct val="150000"/>
              </a:lnSpc>
            </a:pPr>
            <a:r>
              <a:rPr kumimoji="1" lang="zh-CN" altLang="en-US" sz="1600" b="1" dirty="0">
                <a:solidFill>
                  <a:srgbClr val="FFFF00"/>
                </a:solidFill>
                <a:latin typeface="微软雅黑" panose="020B0503020204020204" pitchFamily="34" charset="-122"/>
                <a:ea typeface="微软雅黑" panose="020B0503020204020204" pitchFamily="34" charset="-122"/>
              </a:rPr>
              <a:t>订单毛利预估</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73" name="矩形 72"/>
          <p:cNvSpPr/>
          <p:nvPr/>
        </p:nvSpPr>
        <p:spPr>
          <a:xfrm>
            <a:off x="2065261" y="3821876"/>
            <a:ext cx="8429237" cy="1882399"/>
          </a:xfrm>
          <a:prstGeom prst="rect">
            <a:avLst/>
          </a:prstGeom>
          <a:noFill/>
          <a:ln w="3492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右箭头 232"/>
          <p:cNvSpPr/>
          <p:nvPr/>
        </p:nvSpPr>
        <p:spPr>
          <a:xfrm>
            <a:off x="5996787" y="1254482"/>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75" name="右箭头 232"/>
          <p:cNvSpPr/>
          <p:nvPr/>
        </p:nvSpPr>
        <p:spPr>
          <a:xfrm>
            <a:off x="4497737" y="1761080"/>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77" name="右箭头 232"/>
          <p:cNvSpPr/>
          <p:nvPr/>
        </p:nvSpPr>
        <p:spPr>
          <a:xfrm>
            <a:off x="1781007" y="1761080"/>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78" name="矩形 77"/>
          <p:cNvSpPr/>
          <p:nvPr/>
        </p:nvSpPr>
        <p:spPr>
          <a:xfrm>
            <a:off x="566653" y="4720455"/>
            <a:ext cx="1188000" cy="185892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实际价格</a:t>
            </a:r>
            <a:endParaRPr kumimoji="1" lang="zh-CN" altLang="en-US" sz="1400" b="1" dirty="0">
              <a:latin typeface="微软雅黑" panose="020B0503020204020204" pitchFamily="34" charset="-122"/>
              <a:ea typeface="微软雅黑" panose="020B0503020204020204" pitchFamily="34" charset="-122"/>
            </a:endParaRPr>
          </a:p>
        </p:txBody>
      </p:sp>
      <p:sp>
        <p:nvSpPr>
          <p:cNvPr id="79" name="Content Placeholder 29"/>
          <p:cNvSpPr txBox="1"/>
          <p:nvPr/>
        </p:nvSpPr>
        <p:spPr>
          <a:xfrm>
            <a:off x="534549" y="698860"/>
            <a:ext cx="11483799" cy="327015"/>
          </a:xfrm>
          <a:prstGeom prst="rect">
            <a:avLst/>
          </a:prstGeom>
        </p:spPr>
        <p:txBody>
          <a:bodyPr lIns="38097" tIns="0" rIns="38097" bIns="0" anchor="ctr" anchorCtr="0"/>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lvl="0" algn="l">
              <a:spcBef>
                <a:spcPts val="1000"/>
              </a:spcBef>
              <a:defRPr sz="1600">
                <a:solidFill>
                  <a:prstClr val="black"/>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1695" dirty="0">
                <a:sym typeface="Arial" panose="020B0604020202020204" pitchFamily="34" charset="0"/>
              </a:rPr>
              <a:t>产品基准价测算，综合考虑影响产品成本的多方因素，守住集团实际成本底线，并且争取更多的利润。</a:t>
            </a:r>
            <a:endParaRPr lang="zh-CN" altLang="en-US" sz="1695" dirty="0">
              <a:sym typeface="Arial" panose="020B0604020202020204" pitchFamily="34" charset="0"/>
            </a:endParaRPr>
          </a:p>
        </p:txBody>
      </p:sp>
      <p:sp>
        <p:nvSpPr>
          <p:cNvPr id="13" name="右箭头 232"/>
          <p:cNvSpPr/>
          <p:nvPr/>
        </p:nvSpPr>
        <p:spPr>
          <a:xfrm rot="5400000">
            <a:off x="9633972" y="3127878"/>
            <a:ext cx="399800" cy="10800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24" name="右箭头 232"/>
          <p:cNvSpPr/>
          <p:nvPr/>
        </p:nvSpPr>
        <p:spPr>
          <a:xfrm>
            <a:off x="3000777" y="1761080"/>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7759927"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（产品线+含交付体系的管研分摊）</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26" name="矩形 25"/>
          <p:cNvSpPr/>
          <p:nvPr/>
        </p:nvSpPr>
        <p:spPr>
          <a:xfrm>
            <a:off x="9239872" y="1180152"/>
            <a:ext cx="1188000" cy="64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（含非交付体系的销管分摊）</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27" name="右箭头 232"/>
          <p:cNvSpPr/>
          <p:nvPr/>
        </p:nvSpPr>
        <p:spPr>
          <a:xfrm>
            <a:off x="8970849" y="1254482"/>
            <a:ext cx="252000" cy="108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31" name="思想气泡: 云 30"/>
          <p:cNvSpPr/>
          <p:nvPr/>
        </p:nvSpPr>
        <p:spPr>
          <a:xfrm>
            <a:off x="10270530" y="4037362"/>
            <a:ext cx="559038" cy="399800"/>
          </a:xfrm>
          <a:prstGeom prst="cloudCallout">
            <a:avLst>
              <a:gd name="adj1" fmla="val -78873"/>
              <a:gd name="adj2" fmla="val 3523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b="1" dirty="0">
                <a:latin typeface="微软雅黑" panose="020B0503020204020204" pitchFamily="34" charset="-122"/>
                <a:ea typeface="微软雅黑" panose="020B0503020204020204" pitchFamily="34" charset="-122"/>
              </a:rPr>
              <a:t>毛利平衡</a:t>
            </a:r>
            <a:endParaRPr lang="zh-CN" altLang="en-US" sz="1000" b="1" dirty="0">
              <a:latin typeface="微软雅黑" panose="020B0503020204020204" pitchFamily="34" charset="-122"/>
              <a:ea typeface="微软雅黑" panose="020B0503020204020204" pitchFamily="34" charset="-122"/>
            </a:endParaRPr>
          </a:p>
        </p:txBody>
      </p:sp>
      <p:sp>
        <p:nvSpPr>
          <p:cNvPr id="32" name="矩形 31"/>
          <p:cNvSpPr/>
          <p:nvPr/>
        </p:nvSpPr>
        <p:spPr>
          <a:xfrm>
            <a:off x="7387416" y="4795240"/>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特殊工艺</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（制定的特殊工艺？）</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33" name="矩形 32"/>
          <p:cNvSpPr/>
          <p:nvPr/>
        </p:nvSpPr>
        <p:spPr>
          <a:xfrm>
            <a:off x="7387416" y="5201932"/>
            <a:ext cx="1548000" cy="36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34" name="矩形 33"/>
          <p:cNvSpPr/>
          <p:nvPr/>
        </p:nvSpPr>
        <p:spPr>
          <a:xfrm>
            <a:off x="7759927" y="1986493"/>
            <a:ext cx="1188000" cy="64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分摊比例</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（产品线内部）</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35" name="矩形 34"/>
          <p:cNvSpPr/>
          <p:nvPr/>
        </p:nvSpPr>
        <p:spPr>
          <a:xfrm>
            <a:off x="9239872" y="1986493"/>
            <a:ext cx="1188000" cy="64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分摊比例</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（吃水线）</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16" name="矩形 15"/>
          <p:cNvSpPr/>
          <p:nvPr/>
        </p:nvSpPr>
        <p:spPr>
          <a:xfrm>
            <a:off x="7569536" y="1103952"/>
            <a:ext cx="2924962" cy="1597370"/>
          </a:xfrm>
          <a:prstGeom prst="rect">
            <a:avLst/>
          </a:prstGeom>
          <a:noFill/>
          <a:ln w="3492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32"/>
          <p:cNvSpPr/>
          <p:nvPr/>
        </p:nvSpPr>
        <p:spPr>
          <a:xfrm rot="5400000">
            <a:off x="6671710" y="2353348"/>
            <a:ext cx="399800" cy="10800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4979" y="466317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5525" y="466344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10" name="文本占位符 17"/>
          <p:cNvSpPr txBox="1"/>
          <p:nvPr>
            <p:custDataLst>
              <p:tags r:id="rId13"/>
            </p:custDataLst>
          </p:nvPr>
        </p:nvSpPr>
        <p:spPr>
          <a:xfrm>
            <a:off x="5055870" y="379984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现状及主要诉求</a:t>
            </a:r>
            <a:endParaRPr lang="zh-CN" altLang="en-US" sz="1200" dirty="0">
              <a:sym typeface="+mn-ea"/>
            </a:endParaRPr>
          </a:p>
        </p:txBody>
      </p:sp>
      <p:sp>
        <p:nvSpPr>
          <p:cNvPr id="11" name="文本占位符 17"/>
          <p:cNvSpPr txBox="1"/>
          <p:nvPr>
            <p:custDataLst>
              <p:tags r:id="rId14"/>
            </p:custDataLst>
          </p:nvPr>
        </p:nvSpPr>
        <p:spPr>
          <a:xfrm>
            <a:off x="4471670" y="379984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4</a:t>
            </a:r>
            <a:r>
              <a:rPr lang="zh-CN" altLang="en-US" sz="1200" dirty="0">
                <a:sym typeface="+mn-ea"/>
              </a:rPr>
              <a:t>.1</a:t>
            </a:r>
            <a:endParaRPr lang="zh-CN" altLang="en-US" sz="1200" dirty="0">
              <a:sym typeface="+mn-ea"/>
            </a:endParaRPr>
          </a:p>
        </p:txBody>
      </p:sp>
      <p:sp>
        <p:nvSpPr>
          <p:cNvPr id="24" name="文本占位符 17"/>
          <p:cNvSpPr txBox="1"/>
          <p:nvPr>
            <p:custDataLst>
              <p:tags r:id="rId15"/>
            </p:custDataLst>
          </p:nvPr>
        </p:nvSpPr>
        <p:spPr>
          <a:xfrm>
            <a:off x="5055870" y="4200525"/>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详细</a:t>
            </a:r>
            <a:r>
              <a:rPr lang="zh-CN" altLang="en-US" sz="1200" dirty="0">
                <a:sym typeface="+mn-ea"/>
              </a:rPr>
              <a:t>方案</a:t>
            </a:r>
            <a:endParaRPr lang="zh-CN" altLang="en-US" sz="1200" dirty="0">
              <a:sym typeface="+mn-ea"/>
            </a:endParaRPr>
          </a:p>
        </p:txBody>
      </p:sp>
      <p:sp>
        <p:nvSpPr>
          <p:cNvPr id="25" name="文本占位符 17"/>
          <p:cNvSpPr txBox="1"/>
          <p:nvPr>
            <p:custDataLst>
              <p:tags r:id="rId16"/>
            </p:custDataLst>
          </p:nvPr>
        </p:nvSpPr>
        <p:spPr>
          <a:xfrm>
            <a:off x="4471670" y="4200525"/>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4</a:t>
            </a:r>
            <a:r>
              <a:rPr lang="zh-CN" altLang="en-US" sz="1200" dirty="0">
                <a:sym typeface="+mn-ea"/>
              </a:rPr>
              <a:t>.</a:t>
            </a:r>
            <a:r>
              <a:rPr lang="zh-CN" altLang="en-US" sz="1200" dirty="0">
                <a:sym typeface="+mn-ea"/>
              </a:rPr>
              <a:t>3</a:t>
            </a:r>
            <a:endParaRPr lang="zh-CN" altLang="en-US" sz="1200" dirty="0">
              <a:sym typeface="+mn-ea"/>
            </a:endParaRPr>
          </a:p>
        </p:txBody>
      </p:sp>
      <p:sp>
        <p:nvSpPr>
          <p:cNvPr id="29" name="文本占位符 17"/>
          <p:cNvSpPr txBox="1"/>
          <p:nvPr>
            <p:custDataLst>
              <p:tags r:id="rId17"/>
            </p:custDataLst>
          </p:nvPr>
        </p:nvSpPr>
        <p:spPr>
          <a:xfrm>
            <a:off x="8376285" y="379984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总体</a:t>
            </a:r>
            <a:r>
              <a:rPr lang="zh-CN" altLang="en-US" sz="1200" dirty="0">
                <a:sym typeface="+mn-ea"/>
              </a:rPr>
              <a:t>方案</a:t>
            </a:r>
            <a:endParaRPr lang="zh-CN" altLang="en-US" sz="1200" dirty="0">
              <a:sym typeface="+mn-ea"/>
            </a:endParaRPr>
          </a:p>
        </p:txBody>
      </p:sp>
      <p:sp>
        <p:nvSpPr>
          <p:cNvPr id="30" name="文本占位符 17"/>
          <p:cNvSpPr txBox="1"/>
          <p:nvPr>
            <p:custDataLst>
              <p:tags r:id="rId18"/>
            </p:custDataLst>
          </p:nvPr>
        </p:nvSpPr>
        <p:spPr>
          <a:xfrm>
            <a:off x="7792085" y="3799840"/>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4</a:t>
            </a:r>
            <a:r>
              <a:rPr lang="zh-CN" altLang="en-US" sz="1200" dirty="0">
                <a:sym typeface="+mn-ea"/>
              </a:rPr>
              <a:t>.</a:t>
            </a:r>
            <a:r>
              <a:rPr lang="zh-CN" altLang="en-US" sz="1200" dirty="0">
                <a:sym typeface="+mn-ea"/>
              </a:rPr>
              <a:t>2</a:t>
            </a:r>
            <a:endParaRPr lang="zh-CN" altLang="en-US" sz="1200" dirty="0">
              <a:sym typeface="+mn-ea"/>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产品基准价测算详细方案：自动生成报价</a:t>
            </a:r>
            <a:r>
              <a:rPr lang="en-US" altLang="zh-CN" dirty="0">
                <a:sym typeface="+mn-ea"/>
              </a:rPr>
              <a:t>BOM</a:t>
            </a:r>
            <a:endParaRPr lang="zh-CN" altLang="en-US" dirty="0"/>
          </a:p>
        </p:txBody>
      </p:sp>
      <p:graphicFrame>
        <p:nvGraphicFramePr>
          <p:cNvPr id="6" name="表格 5"/>
          <p:cNvGraphicFramePr>
            <a:graphicFrameLocks noGrp="1"/>
          </p:cNvGraphicFramePr>
          <p:nvPr/>
        </p:nvGraphicFramePr>
        <p:xfrm>
          <a:off x="566653" y="698818"/>
          <a:ext cx="11184015" cy="1402078"/>
        </p:xfrm>
        <a:graphic>
          <a:graphicData uri="http://schemas.openxmlformats.org/drawingml/2006/table">
            <a:tbl>
              <a:tblPr firstRow="1" bandRow="1">
                <a:tableStyleId>{5A111915-BE36-4E01-A7E5-04B1672EAD32}</a:tableStyleId>
              </a:tblPr>
              <a:tblGrid>
                <a:gridCol w="655513"/>
                <a:gridCol w="10528502"/>
              </a:tblGrid>
              <a:tr h="1366152">
                <a:tc>
                  <a:txBody>
                    <a:bodyPr/>
                    <a:lstStyle/>
                    <a:p>
                      <a:r>
                        <a:rPr lang="zh-CN" altLang="en-US" sz="1700" dirty="0">
                          <a:latin typeface="微软雅黑" panose="020B0503020204020204" pitchFamily="34" charset="-122"/>
                          <a:ea typeface="微软雅黑" panose="020B0503020204020204" pitchFamily="34" charset="-122"/>
                        </a:rPr>
                        <a:t>方案</a:t>
                      </a:r>
                      <a:endParaRPr lang="en-US" altLang="zh-CN" sz="1700" dirty="0">
                        <a:latin typeface="微软雅黑" panose="020B0503020204020204" pitchFamily="34" charset="-122"/>
                        <a:ea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rPr>
                        <a:t>说明</a:t>
                      </a:r>
                      <a:endParaRPr lang="zh-CN" altLang="en-US" sz="1700" dirty="0">
                        <a:latin typeface="微软雅黑" panose="020B0503020204020204" pitchFamily="34" charset="-122"/>
                        <a:ea typeface="微软雅黑" panose="020B0503020204020204" pitchFamily="34" charset="-122"/>
                      </a:endParaRPr>
                    </a:p>
                  </a:txBody>
                  <a:tcPr marL="91438" marR="91438" marT="45719" marB="45719" anchor="ctr"/>
                </a:tc>
                <a:tc>
                  <a:txBody>
                    <a:bodyPr/>
                    <a:lstStyle/>
                    <a:p>
                      <a:pPr marL="285750" indent="-285750" algn="l" fontAlgn="auto">
                        <a:lnSpc>
                          <a:spcPct val="100000"/>
                        </a:lnSpc>
                        <a:buClr>
                          <a:schemeClr val="tx1"/>
                        </a:buClr>
                        <a:buSzTx/>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sym typeface="+mn-ea"/>
                        </a:rPr>
                        <a:t>PBI</a:t>
                      </a:r>
                      <a:r>
                        <a:rPr lang="zh-CN" altLang="en-US" sz="1400" dirty="0">
                          <a:solidFill>
                            <a:schemeClr val="tx1"/>
                          </a:solidFill>
                          <a:latin typeface="微软雅黑" panose="020B0503020204020204" pitchFamily="34" charset="-122"/>
                          <a:ea typeface="微软雅黑" panose="020B0503020204020204" pitchFamily="34" charset="-122"/>
                          <a:sym typeface="+mn-ea"/>
                        </a:rPr>
                        <a:t>提供的</a:t>
                      </a:r>
                      <a:r>
                        <a:rPr lang="en-US" altLang="zh-CN" sz="1400" dirty="0">
                          <a:solidFill>
                            <a:schemeClr val="tx1"/>
                          </a:solidFill>
                          <a:latin typeface="微软雅黑" panose="020B0503020204020204" pitchFamily="34" charset="-122"/>
                          <a:ea typeface="微软雅黑" panose="020B0503020204020204" pitchFamily="34" charset="-122"/>
                          <a:sym typeface="+mn-ea"/>
                        </a:rPr>
                        <a:t>PCI</a:t>
                      </a:r>
                      <a:r>
                        <a:rPr lang="zh-CN" altLang="en-US" sz="1400" dirty="0">
                          <a:solidFill>
                            <a:schemeClr val="tx1"/>
                          </a:solidFill>
                          <a:latin typeface="微软雅黑" panose="020B0503020204020204" pitchFamily="34" charset="-122"/>
                          <a:ea typeface="微软雅黑" panose="020B0503020204020204" pitchFamily="34" charset="-122"/>
                          <a:sym typeface="+mn-ea"/>
                        </a:rPr>
                        <a:t>编码需要与</a:t>
                      </a:r>
                      <a:r>
                        <a:rPr lang="en-US" altLang="zh-CN" sz="1400" dirty="0">
                          <a:solidFill>
                            <a:schemeClr val="tx1"/>
                          </a:solidFill>
                          <a:latin typeface="微软雅黑" panose="020B0503020204020204" pitchFamily="34" charset="-122"/>
                          <a:ea typeface="微软雅黑" panose="020B0503020204020204" pitchFamily="34" charset="-122"/>
                          <a:sym typeface="+mn-ea"/>
                        </a:rPr>
                        <a:t>SAP</a:t>
                      </a:r>
                      <a:r>
                        <a:rPr lang="zh-CN" altLang="en-US" sz="1400" dirty="0">
                          <a:solidFill>
                            <a:schemeClr val="tx1"/>
                          </a:solidFill>
                          <a:latin typeface="微软雅黑" panose="020B0503020204020204" pitchFamily="34" charset="-122"/>
                          <a:ea typeface="微软雅黑" panose="020B0503020204020204" pitchFamily="34" charset="-122"/>
                          <a:sym typeface="+mn-ea"/>
                        </a:rPr>
                        <a:t>中的物料编码对应，目录树中需要</a:t>
                      </a:r>
                      <a:r>
                        <a:rPr lang="zh-CN" altLang="en-US" sz="1400" dirty="0">
                          <a:solidFill>
                            <a:srgbClr val="FF0000"/>
                          </a:solidFill>
                          <a:latin typeface="微软雅黑" panose="020B0503020204020204" pitchFamily="34" charset="-122"/>
                          <a:ea typeface="微软雅黑" panose="020B0503020204020204" pitchFamily="34" charset="-122"/>
                          <a:sym typeface="+mn-ea"/>
                        </a:rPr>
                        <a:t>补充产品上市日期</a:t>
                      </a:r>
                      <a:endParaRPr lang="zh-CN" altLang="en-US" sz="1400" dirty="0">
                        <a:solidFill>
                          <a:schemeClr val="tx1"/>
                        </a:solidFill>
                        <a:latin typeface="微软雅黑" panose="020B0503020204020204" pitchFamily="34" charset="-122"/>
                        <a:ea typeface="微软雅黑" panose="020B0503020204020204" pitchFamily="34" charset="-122"/>
                        <a:sym typeface="+mn-ea"/>
                      </a:endParaRPr>
                    </a:p>
                    <a:p>
                      <a:pPr marL="285750" indent="-285750" fontAlgn="auto">
                        <a:lnSpc>
                          <a:spcPct val="10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产品报价</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的生成必须以</a:t>
                      </a:r>
                      <a:r>
                        <a:rPr lang="en-US" altLang="zh-CN" sz="1400" dirty="0">
                          <a:solidFill>
                            <a:schemeClr val="tx1"/>
                          </a:solidFill>
                          <a:latin typeface="微软雅黑" panose="020B0503020204020204" pitchFamily="34" charset="-122"/>
                          <a:ea typeface="微软雅黑" panose="020B0503020204020204" pitchFamily="34" charset="-122"/>
                        </a:rPr>
                        <a:t>PLM</a:t>
                      </a:r>
                      <a:r>
                        <a:rPr lang="zh-CN" altLang="en-US" sz="1400" dirty="0">
                          <a:solidFill>
                            <a:schemeClr val="tx1"/>
                          </a:solidFill>
                          <a:latin typeface="微软雅黑" panose="020B0503020204020204" pitchFamily="34" charset="-122"/>
                          <a:ea typeface="微软雅黑" panose="020B0503020204020204" pitchFamily="34" charset="-122"/>
                        </a:rPr>
                        <a:t>系统中维护的、经过认证的</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标准</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作为唯一数据源头和基准，确保技术基础的准确性。</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0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在</a:t>
                      </a:r>
                      <a:r>
                        <a:rPr lang="en-US" altLang="zh-CN" sz="1400" dirty="0">
                          <a:solidFill>
                            <a:schemeClr val="tx1"/>
                          </a:solidFill>
                          <a:latin typeface="微软雅黑" panose="020B0503020204020204" pitchFamily="34" charset="-122"/>
                          <a:ea typeface="微软雅黑" panose="020B0503020204020204" pitchFamily="34" charset="-122"/>
                        </a:rPr>
                        <a:t>APS</a:t>
                      </a:r>
                      <a:r>
                        <a:rPr lang="zh-CN" altLang="en-US" sz="1400" dirty="0">
                          <a:solidFill>
                            <a:schemeClr val="tx1"/>
                          </a:solidFill>
                          <a:latin typeface="微软雅黑" panose="020B0503020204020204" pitchFamily="34" charset="-122"/>
                          <a:ea typeface="微软雅黑" panose="020B0503020204020204" pitchFamily="34" charset="-122"/>
                        </a:rPr>
                        <a:t>系统中维护替代规则时，必须明确标注每条规则的</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允许客户选择</a:t>
                      </a:r>
                      <a:r>
                        <a:rPr lang="en-US" altLang="zh-CN" sz="1400" dirty="0">
                          <a:solidFill>
                            <a:schemeClr val="tx1"/>
                          </a:solidFill>
                          <a:latin typeface="微软雅黑" panose="020B0503020204020204" pitchFamily="34" charset="-122"/>
                          <a:ea typeface="微软雅黑" panose="020B0503020204020204" pitchFamily="34" charset="-122"/>
                        </a:rPr>
                        <a:t>” </a:t>
                      </a:r>
                      <a:r>
                        <a:rPr lang="zh-CN" altLang="en-US" sz="1400" dirty="0">
                          <a:solidFill>
                            <a:schemeClr val="tx1"/>
                          </a:solidFill>
                          <a:latin typeface="微软雅黑" panose="020B0503020204020204" pitchFamily="34" charset="-122"/>
                          <a:ea typeface="微软雅黑" panose="020B0503020204020204" pitchFamily="34" charset="-122"/>
                        </a:rPr>
                        <a:t>属性。</a:t>
                      </a:r>
                      <a:r>
                        <a:rPr lang="zh-CN" altLang="en-US" sz="1400" dirty="0">
                          <a:solidFill>
                            <a:srgbClr val="FF0000"/>
                          </a:solidFill>
                          <a:latin typeface="微软雅黑" panose="020B0503020204020204" pitchFamily="34" charset="-122"/>
                          <a:ea typeface="微软雅黑" panose="020B0503020204020204" pitchFamily="34" charset="-122"/>
                        </a:rPr>
                        <a:t>只有被标记为</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是</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的替代规则，才会被同步至</a:t>
                      </a:r>
                      <a:r>
                        <a:rPr lang="en-US" altLang="zh-CN" sz="1400" dirty="0">
                          <a:solidFill>
                            <a:srgbClr val="FF0000"/>
                          </a:solidFill>
                          <a:latin typeface="微软雅黑" panose="020B0503020204020204" pitchFamily="34" charset="-122"/>
                          <a:ea typeface="微软雅黑" panose="020B0503020204020204" pitchFamily="34" charset="-122"/>
                        </a:rPr>
                        <a:t>CPQ</a:t>
                      </a:r>
                      <a:r>
                        <a:rPr lang="zh-CN" altLang="en-US" sz="1400" dirty="0">
                          <a:solidFill>
                            <a:srgbClr val="FF0000"/>
                          </a:solidFill>
                          <a:latin typeface="微软雅黑" panose="020B0503020204020204" pitchFamily="34" charset="-122"/>
                          <a:ea typeface="微软雅黑" panose="020B0503020204020204" pitchFamily="34" charset="-122"/>
                        </a:rPr>
                        <a:t>和基准价，支撑后续</a:t>
                      </a:r>
                      <a:r>
                        <a:rPr lang="en-US" altLang="zh-CN" sz="1400" dirty="0">
                          <a:solidFill>
                            <a:srgbClr val="FF0000"/>
                          </a:solidFill>
                          <a:latin typeface="微软雅黑" panose="020B0503020204020204" pitchFamily="34" charset="-122"/>
                          <a:ea typeface="微软雅黑" panose="020B0503020204020204" pitchFamily="34" charset="-122"/>
                        </a:rPr>
                        <a:t>CPQ</a:t>
                      </a:r>
                      <a:r>
                        <a:rPr lang="zh-CN" altLang="en-US" sz="1400" dirty="0">
                          <a:solidFill>
                            <a:srgbClr val="FF0000"/>
                          </a:solidFill>
                          <a:latin typeface="微软雅黑" panose="020B0503020204020204" pitchFamily="34" charset="-122"/>
                          <a:ea typeface="微软雅黑" panose="020B0503020204020204" pitchFamily="34" charset="-122"/>
                        </a:rPr>
                        <a:t>的选配和产品基准价的测算。</a:t>
                      </a:r>
                      <a:endParaRPr lang="zh-CN" altLang="en-US" sz="1400" dirty="0">
                        <a:solidFill>
                          <a:srgbClr val="FF0000"/>
                        </a:solidFill>
                        <a:latin typeface="微软雅黑" panose="020B0503020204020204" pitchFamily="34" charset="-122"/>
                        <a:ea typeface="微软雅黑" panose="020B0503020204020204" pitchFamily="34" charset="-122"/>
                      </a:endParaRPr>
                    </a:p>
                    <a:p>
                      <a:pPr marL="285750" indent="-285750" algn="l" fontAlgn="auto">
                        <a:lnSpc>
                          <a:spcPct val="100000"/>
                        </a:lnSpc>
                        <a:buClr>
                          <a:schemeClr val="tx1"/>
                        </a:buClr>
                        <a:buSzTx/>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sym typeface="+mn-ea"/>
                        </a:rPr>
                        <a:t>生成的产品报价BOM，会使用标准</a:t>
                      </a:r>
                      <a:r>
                        <a:rPr lang="en-US" altLang="zh-CN" sz="1400" dirty="0">
                          <a:solidFill>
                            <a:schemeClr val="tx1"/>
                          </a:solidFill>
                          <a:latin typeface="微软雅黑" panose="020B0503020204020204" pitchFamily="34" charset="-122"/>
                          <a:ea typeface="微软雅黑" panose="020B0503020204020204" pitchFamily="34" charset="-122"/>
                          <a:sym typeface="+mn-ea"/>
                        </a:rPr>
                        <a:t>BOM</a:t>
                      </a:r>
                      <a:r>
                        <a:rPr lang="zh-CN" altLang="en-US" sz="1400" dirty="0">
                          <a:solidFill>
                            <a:schemeClr val="tx1"/>
                          </a:solidFill>
                          <a:latin typeface="微软雅黑" panose="020B0503020204020204" pitchFamily="34" charset="-122"/>
                          <a:ea typeface="微软雅黑" panose="020B0503020204020204" pitchFamily="34" charset="-122"/>
                          <a:sym typeface="+mn-ea"/>
                        </a:rPr>
                        <a:t>和替代规则进行</a:t>
                      </a:r>
                      <a:r>
                        <a:rPr lang="zh-CN" altLang="en-US" sz="1400" dirty="0">
                          <a:solidFill>
                            <a:srgbClr val="FF0000"/>
                          </a:solidFill>
                          <a:latin typeface="微软雅黑" panose="020B0503020204020204" pitchFamily="34" charset="-122"/>
                          <a:ea typeface="微软雅黑" panose="020B0503020204020204" pitchFamily="34" charset="-122"/>
                          <a:sym typeface="+mn-ea"/>
                        </a:rPr>
                        <a:t>笛卡尔积计算，</a:t>
                      </a:r>
                      <a:r>
                        <a:rPr lang="zh-CN" altLang="en-US" sz="1400" dirty="0">
                          <a:solidFill>
                            <a:schemeClr val="tx1"/>
                          </a:solidFill>
                          <a:latin typeface="微软雅黑" panose="020B0503020204020204" pitchFamily="34" charset="-122"/>
                          <a:ea typeface="微软雅黑" panose="020B0503020204020204" pitchFamily="34" charset="-122"/>
                          <a:sym typeface="+mn-ea"/>
                        </a:rPr>
                        <a:t>报价</a:t>
                      </a:r>
                      <a:r>
                        <a:rPr lang="en-US" altLang="zh-CN" sz="1400" dirty="0">
                          <a:solidFill>
                            <a:schemeClr val="tx1"/>
                          </a:solidFill>
                          <a:latin typeface="微软雅黑" panose="020B0503020204020204" pitchFamily="34" charset="-122"/>
                          <a:ea typeface="微软雅黑" panose="020B0503020204020204" pitchFamily="34" charset="-122"/>
                          <a:sym typeface="+mn-ea"/>
                        </a:rPr>
                        <a:t>BOM</a:t>
                      </a:r>
                      <a:r>
                        <a:rPr lang="zh-CN" altLang="en-US" sz="1400" dirty="0">
                          <a:solidFill>
                            <a:schemeClr val="tx1"/>
                          </a:solidFill>
                          <a:latin typeface="微软雅黑" panose="020B0503020204020204" pitchFamily="34" charset="-122"/>
                          <a:ea typeface="微软雅黑" panose="020B0503020204020204" pitchFamily="34" charset="-122"/>
                          <a:sym typeface="+mn-ea"/>
                        </a:rPr>
                        <a:t>会列示出所有替代场景。</a:t>
                      </a:r>
                      <a:endParaRPr lang="en-US" altLang="zh-CN" sz="1400" dirty="0">
                        <a:solidFill>
                          <a:schemeClr val="tx1"/>
                        </a:solidFill>
                        <a:latin typeface="微软雅黑" panose="020B0503020204020204" pitchFamily="34" charset="-122"/>
                        <a:ea typeface="微软雅黑" panose="020B0503020204020204" pitchFamily="34" charset="-122"/>
                      </a:endParaRPr>
                    </a:p>
                    <a:p>
                      <a:pPr marL="285750" indent="-285750" algn="l" fontAlgn="auto">
                        <a:lnSpc>
                          <a:spcPct val="100000"/>
                        </a:lnSpc>
                        <a:buClr>
                          <a:schemeClr val="tx1"/>
                        </a:buClr>
                        <a:buSzTx/>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rPr>
                        <a:t>APS</a:t>
                      </a:r>
                      <a:r>
                        <a:rPr lang="zh-CN" altLang="en-US" sz="1400" dirty="0">
                          <a:solidFill>
                            <a:schemeClr val="tx1"/>
                          </a:solidFill>
                          <a:latin typeface="微软雅黑" panose="020B0503020204020204" pitchFamily="34" charset="-122"/>
                          <a:ea typeface="微软雅黑" panose="020B0503020204020204" pitchFamily="34" charset="-122"/>
                        </a:rPr>
                        <a:t>未上线前，需要提供一版线下替代规则，该替代规则需要与后续上线至</a:t>
                      </a:r>
                      <a:r>
                        <a:rPr lang="en-US" altLang="zh-CN" sz="1400" dirty="0">
                          <a:solidFill>
                            <a:schemeClr val="tx1"/>
                          </a:solidFill>
                          <a:latin typeface="微软雅黑" panose="020B0503020204020204" pitchFamily="34" charset="-122"/>
                          <a:ea typeface="微软雅黑" panose="020B0503020204020204" pitchFamily="34" charset="-122"/>
                        </a:rPr>
                        <a:t>APS</a:t>
                      </a:r>
                      <a:r>
                        <a:rPr lang="zh-CN" altLang="en-US" sz="1400" dirty="0">
                          <a:solidFill>
                            <a:schemeClr val="tx1"/>
                          </a:solidFill>
                          <a:latin typeface="微软雅黑" panose="020B0503020204020204" pitchFamily="34" charset="-122"/>
                          <a:ea typeface="微软雅黑" panose="020B0503020204020204" pitchFamily="34" charset="-122"/>
                        </a:rPr>
                        <a:t>的替代规则的格式、样式保持一致。</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gn="l" fontAlgn="auto">
                        <a:lnSpc>
                          <a:spcPct val="100000"/>
                        </a:lnSpc>
                        <a:buClr>
                          <a:schemeClr val="tx1"/>
                        </a:buClr>
                        <a:buSzTx/>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rPr>
                        <a:t>CPQ</a:t>
                      </a:r>
                      <a:r>
                        <a:rPr lang="zh-CN" altLang="en-US" sz="1400" dirty="0">
                          <a:solidFill>
                            <a:schemeClr val="tx1"/>
                          </a:solidFill>
                          <a:latin typeface="微软雅黑" panose="020B0503020204020204" pitchFamily="34" charset="-122"/>
                          <a:ea typeface="微软雅黑" panose="020B0503020204020204" pitchFamily="34" charset="-122"/>
                        </a:rPr>
                        <a:t>从数据中台调用基准价的时候，需要传入的是产品</a:t>
                      </a:r>
                      <a:r>
                        <a:rPr lang="en-US" altLang="zh-CN" sz="1400" dirty="0">
                          <a:solidFill>
                            <a:schemeClr val="tx1"/>
                          </a:solidFill>
                          <a:latin typeface="微软雅黑" panose="020B0503020204020204" pitchFamily="34" charset="-122"/>
                          <a:ea typeface="微软雅黑" panose="020B0503020204020204" pitchFamily="34" charset="-122"/>
                        </a:rPr>
                        <a:t>PCI</a:t>
                      </a:r>
                      <a:r>
                        <a:rPr lang="zh-CN" altLang="en-US" sz="1400" dirty="0">
                          <a:solidFill>
                            <a:schemeClr val="tx1"/>
                          </a:solidFill>
                          <a:latin typeface="微软雅黑" panose="020B0503020204020204" pitchFamily="34" charset="-122"/>
                          <a:ea typeface="微软雅黑" panose="020B0503020204020204" pitchFamily="34" charset="-122"/>
                        </a:rPr>
                        <a:t>，需要确认</a:t>
                      </a:r>
                      <a:r>
                        <a:rPr lang="zh-CN" altLang="en-US" sz="1400" dirty="0">
                          <a:solidFill>
                            <a:srgbClr val="FF0000"/>
                          </a:solidFill>
                          <a:latin typeface="微软雅黑" panose="020B0503020204020204" pitchFamily="34" charset="-122"/>
                          <a:ea typeface="微软雅黑" panose="020B0503020204020204" pitchFamily="34" charset="-122"/>
                        </a:rPr>
                        <a:t>用的是标准</a:t>
                      </a:r>
                      <a:r>
                        <a:rPr lang="en-US" altLang="zh-CN" sz="1400" dirty="0">
                          <a:solidFill>
                            <a:srgbClr val="FF0000"/>
                          </a:solidFill>
                          <a:latin typeface="微软雅黑" panose="020B0503020204020204" pitchFamily="34" charset="-122"/>
                          <a:ea typeface="微软雅黑" panose="020B0503020204020204" pitchFamily="34" charset="-122"/>
                        </a:rPr>
                        <a:t>BOM</a:t>
                      </a:r>
                      <a:r>
                        <a:rPr lang="zh-CN" altLang="en-US" sz="1400" dirty="0">
                          <a:solidFill>
                            <a:srgbClr val="FF0000"/>
                          </a:solidFill>
                          <a:latin typeface="微软雅黑" panose="020B0503020204020204" pitchFamily="34" charset="-122"/>
                          <a:ea typeface="微软雅黑" panose="020B0503020204020204" pitchFamily="34" charset="-122"/>
                        </a:rPr>
                        <a:t>的基准价，还是替代</a:t>
                      </a:r>
                      <a:r>
                        <a:rPr lang="en-US" altLang="zh-CN" sz="1400" dirty="0">
                          <a:solidFill>
                            <a:srgbClr val="FF0000"/>
                          </a:solidFill>
                          <a:latin typeface="微软雅黑" panose="020B0503020204020204" pitchFamily="34" charset="-122"/>
                          <a:ea typeface="微软雅黑" panose="020B0503020204020204" pitchFamily="34" charset="-122"/>
                        </a:rPr>
                        <a:t>BOM</a:t>
                      </a:r>
                      <a:r>
                        <a:rPr lang="zh-CN" altLang="en-US" sz="1400" dirty="0">
                          <a:solidFill>
                            <a:srgbClr val="FF0000"/>
                          </a:solidFill>
                          <a:latin typeface="微软雅黑" panose="020B0503020204020204" pitchFamily="34" charset="-122"/>
                          <a:ea typeface="微软雅黑" panose="020B0503020204020204" pitchFamily="34" charset="-122"/>
                        </a:rPr>
                        <a:t>的基准价</a:t>
                      </a:r>
                      <a:r>
                        <a:rPr lang="zh-CN" altLang="en-US" sz="1400" dirty="0">
                          <a:solidFill>
                            <a:schemeClr val="tx1"/>
                          </a:solidFill>
                          <a:latin typeface="微软雅黑" panose="020B0503020204020204" pitchFamily="34" charset="-122"/>
                          <a:ea typeface="微软雅黑" panose="020B0503020204020204" pitchFamily="34" charset="-122"/>
                        </a:rPr>
                        <a:t>，若使用替代</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的基准价，那么用的是哪个替代</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的基准价</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438" marR="91438" marT="45719" marB="45719">
                    <a:solidFill>
                      <a:schemeClr val="bg1"/>
                    </a:solidFill>
                  </a:tcPr>
                </a:tc>
              </a:tr>
            </a:tbl>
          </a:graphicData>
        </a:graphic>
      </p:graphicFrame>
      <p:graphicFrame>
        <p:nvGraphicFramePr>
          <p:cNvPr id="12" name="表格 11"/>
          <p:cNvGraphicFramePr>
            <a:graphicFrameLocks noGrp="1"/>
          </p:cNvGraphicFramePr>
          <p:nvPr/>
        </p:nvGraphicFramePr>
        <p:xfrm>
          <a:off x="427588" y="4071575"/>
          <a:ext cx="5497195" cy="2744470"/>
        </p:xfrm>
        <a:graphic>
          <a:graphicData uri="http://schemas.openxmlformats.org/drawingml/2006/table">
            <a:tbl>
              <a:tblPr firstRow="1" bandRow="1">
                <a:tableStyleId>{7DF18680-E054-41AD-8BC1-D1AEF772440D}</a:tableStyleId>
              </a:tblPr>
              <a:tblGrid>
                <a:gridCol w="1460500"/>
                <a:gridCol w="2391410"/>
                <a:gridCol w="1645285"/>
              </a:tblGrid>
              <a:tr h="304800">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主选物料</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备选物料</a:t>
                      </a:r>
                      <a:endParaRPr lang="zh-CN" altLang="en-US" sz="1400" dirty="0">
                        <a:latin typeface="微软雅黑" panose="020B0503020204020204" pitchFamily="34" charset="-122"/>
                        <a:ea typeface="微软雅黑" panose="020B0503020204020204" pitchFamily="34" charset="-122"/>
                      </a:endParaRPr>
                    </a:p>
                  </a:txBody>
                  <a:tcPr anchor="ctr"/>
                </a:tc>
              </a:tr>
              <a:tr h="365760">
                <a:tc rowSpan="7">
                  <a:txBody>
                    <a:bodyPr/>
                    <a:lstStyle/>
                    <a:p>
                      <a:pPr algn="ctr"/>
                      <a:r>
                        <a:rPr lang="zh-CN" altLang="en-US" sz="900" dirty="0">
                          <a:latin typeface="微软雅黑" panose="020B0503020204020204" pitchFamily="34" charset="-122"/>
                          <a:ea typeface="微软雅黑" panose="020B0503020204020204" pitchFamily="34" charset="-122"/>
                        </a:rPr>
                        <a:t>屏体</a:t>
                      </a:r>
                      <a:r>
                        <a:rPr lang="en-US" altLang="zh-CN" sz="900" dirty="0">
                          <a:latin typeface="微软雅黑" panose="020B0503020204020204" pitchFamily="34" charset="-122"/>
                          <a:ea typeface="微软雅黑" panose="020B0503020204020204" pitchFamily="34" charset="-122"/>
                        </a:rPr>
                        <a:t>UDAⅡ-V200-R210125-C002</a:t>
                      </a:r>
                      <a:endParaRPr lang="zh-CN" altLang="en-US" sz="900" dirty="0">
                        <a:latin typeface="微软雅黑" panose="020B0503020204020204" pitchFamily="34" charset="-122"/>
                        <a:ea typeface="微软雅黑" panose="020B0503020204020204" pitchFamily="34" charset="-122"/>
                      </a:endParaRPr>
                    </a:p>
                  </a:txBody>
                  <a:tcPr anchor="ctr"/>
                </a:tc>
                <a:tc rowSpan="2">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灯珠</a:t>
                      </a:r>
                      <a:r>
                        <a:rPr lang="en-US" altLang="zh-CN" sz="900" kern="1200" dirty="0">
                          <a:solidFill>
                            <a:schemeClr val="dk1"/>
                          </a:solidFill>
                          <a:latin typeface="微软雅黑" panose="020B0503020204020204" pitchFamily="34" charset="-122"/>
                          <a:ea typeface="微软雅黑" panose="020B0503020204020204" pitchFamily="34" charset="-122"/>
                          <a:cs typeface="+mn-cs"/>
                        </a:rPr>
                        <a:t>:</a:t>
                      </a:r>
                      <a:r>
                        <a:rPr lang="zh-CN" altLang="en-US" sz="900" kern="1200" dirty="0">
                          <a:solidFill>
                            <a:schemeClr val="dk1"/>
                          </a:solidFill>
                          <a:latin typeface="微软雅黑" panose="020B0503020204020204" pitchFamily="34" charset="-122"/>
                          <a:ea typeface="微软雅黑" panose="020B0503020204020204" pitchFamily="34" charset="-122"/>
                          <a:cs typeface="+mn-cs"/>
                        </a:rPr>
                        <a:t>木林森</a:t>
                      </a:r>
                      <a:r>
                        <a:rPr lang="en-US" altLang="zh-CN" sz="900" kern="1200" dirty="0">
                          <a:solidFill>
                            <a:schemeClr val="dk1"/>
                          </a:solidFill>
                          <a:latin typeface="微软雅黑" panose="020B0503020204020204" pitchFamily="34" charset="-122"/>
                          <a:ea typeface="微软雅黑" panose="020B0503020204020204" pitchFamily="34" charset="-122"/>
                          <a:cs typeface="+mn-cs"/>
                        </a:rPr>
                        <a:t>TOP</a:t>
                      </a:r>
                      <a:r>
                        <a:rPr lang="zh-CN" altLang="en-US" sz="900" kern="1200" dirty="0">
                          <a:solidFill>
                            <a:schemeClr val="dk1"/>
                          </a:solidFill>
                          <a:latin typeface="微软雅黑" panose="020B0503020204020204" pitchFamily="34" charset="-122"/>
                          <a:ea typeface="微软雅黑" panose="020B0503020204020204" pitchFamily="34" charset="-122"/>
                          <a:cs typeface="+mn-cs"/>
                        </a:rPr>
                        <a:t>铜线铜支架</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824-1212T3-ML-R</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兆驰铜线铜支架</a:t>
                      </a:r>
                      <a:endParaRPr lang="zh-CN" altLang="en-US"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824-121201-ZC-R</a:t>
                      </a:r>
                      <a:endParaRPr lang="zh-CN" altLang="en-US" sz="900" dirty="0">
                        <a:latin typeface="微软雅黑" panose="020B0503020204020204" pitchFamily="34" charset="-122"/>
                        <a:ea typeface="微软雅黑" panose="020B0503020204020204" pitchFamily="34" charset="-122"/>
                      </a:endParaRPr>
                    </a:p>
                  </a:txBody>
                  <a:tcPr anchor="ctr"/>
                </a:tc>
              </a:tr>
              <a:tr h="365760">
                <a:tc vMerge="1">
                  <a:tcPr anchor="ctr"/>
                </a:tc>
                <a:tc vMerge="1">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国星铜线铜支架</a:t>
                      </a:r>
                      <a:endParaRPr lang="zh-CN" altLang="en-US"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824-121205-GX-R</a:t>
                      </a:r>
                      <a:endParaRPr lang="zh-CN" altLang="en-US" sz="900" dirty="0">
                        <a:latin typeface="微软雅黑" panose="020B0503020204020204" pitchFamily="34" charset="-122"/>
                        <a:ea typeface="微软雅黑" panose="020B0503020204020204" pitchFamily="34" charset="-122"/>
                      </a:endParaRPr>
                    </a:p>
                  </a:txBody>
                  <a:tcPr anchor="ctr"/>
                </a:tc>
              </a:tr>
              <a:tr h="365760">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恒流</a:t>
                      </a:r>
                      <a:r>
                        <a:rPr lang="en-US" altLang="zh-CN" sz="900" kern="1200" dirty="0">
                          <a:solidFill>
                            <a:schemeClr val="dk1"/>
                          </a:solidFill>
                          <a:latin typeface="微软雅黑" panose="020B0503020204020204" pitchFamily="34" charset="-122"/>
                          <a:ea typeface="微软雅黑" panose="020B0503020204020204" pitchFamily="34" charset="-122"/>
                          <a:cs typeface="+mn-cs"/>
                        </a:rPr>
                        <a:t>:ICND1065AP</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81001-YSS0P00018</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恒流</a:t>
                      </a:r>
                      <a:r>
                        <a:rPr lang="en-US" altLang="zh-CN" sz="900" dirty="0">
                          <a:latin typeface="微软雅黑" panose="020B0503020204020204" pitchFamily="34" charset="-122"/>
                          <a:ea typeface="微软雅黑" panose="020B0503020204020204" pitchFamily="34" charset="-122"/>
                        </a:rPr>
                        <a:t>:HX8865</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81001-YSS0P00001</a:t>
                      </a:r>
                      <a:endParaRPr lang="zh-CN" altLang="en-US" sz="900" dirty="0">
                        <a:latin typeface="微软雅黑" panose="020B0503020204020204" pitchFamily="34" charset="-122"/>
                        <a:ea typeface="微软雅黑" panose="020B0503020204020204" pitchFamily="34" charset="-122"/>
                      </a:endParaRPr>
                    </a:p>
                  </a:txBody>
                  <a:tcPr anchor="ctr"/>
                </a:tc>
              </a:tr>
              <a:tr h="365760">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行管</a:t>
                      </a:r>
                      <a:r>
                        <a:rPr lang="en-US" altLang="zh-CN" sz="900" kern="1200" dirty="0">
                          <a:solidFill>
                            <a:schemeClr val="dk1"/>
                          </a:solidFill>
                          <a:latin typeface="微软雅黑" panose="020B0503020204020204" pitchFamily="34" charset="-122"/>
                          <a:ea typeface="微软雅黑" panose="020B0503020204020204" pitchFamily="34" charset="-122"/>
                          <a:cs typeface="+mn-cs"/>
                        </a:rPr>
                        <a:t>:HX6158</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81002-Y0000023</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行管</a:t>
                      </a:r>
                      <a:r>
                        <a:rPr lang="en-US" altLang="zh-CN" sz="900" dirty="0">
                          <a:latin typeface="微软雅黑" panose="020B0503020204020204" pitchFamily="34" charset="-122"/>
                          <a:ea typeface="微软雅黑" panose="020B0503020204020204" pitchFamily="34" charset="-122"/>
                        </a:rPr>
                        <a:t>:ICND2018AP </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810-2018AP-00-R</a:t>
                      </a:r>
                      <a:endParaRPr lang="zh-CN" altLang="en-US" sz="900" dirty="0">
                        <a:latin typeface="微软雅黑" panose="020B0503020204020204" pitchFamily="34" charset="-122"/>
                        <a:ea typeface="微软雅黑" panose="020B0503020204020204" pitchFamily="34" charset="-122"/>
                      </a:endParaRPr>
                    </a:p>
                  </a:txBody>
                  <a:tcPr anchor="ctr"/>
                </a:tc>
              </a:tr>
              <a:tr h="376555">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电源型号</a:t>
                      </a:r>
                      <a:r>
                        <a:rPr lang="en-US" altLang="zh-CN" sz="900" kern="1200" dirty="0">
                          <a:solidFill>
                            <a:schemeClr val="dk1"/>
                          </a:solidFill>
                          <a:latin typeface="微软雅黑" panose="020B0503020204020204" pitchFamily="34" charset="-122"/>
                          <a:ea typeface="微软雅黑" panose="020B0503020204020204" pitchFamily="34" charset="-122"/>
                          <a:cs typeface="+mn-cs"/>
                        </a:rPr>
                        <a:t>:TV200PC3.8D</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18A01-Y017100015</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电源型号</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荣电</a:t>
                      </a:r>
                      <a:r>
                        <a:rPr lang="en-US" altLang="zh-CN" sz="900" dirty="0">
                          <a:latin typeface="微软雅黑" panose="020B0503020204020204" pitchFamily="34" charset="-122"/>
                          <a:ea typeface="微软雅黑" panose="020B0503020204020204" pitchFamily="34" charset="-122"/>
                        </a:rPr>
                        <a:t>TV200PC4.2D</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18A01-Y020000030</a:t>
                      </a:r>
                      <a:endParaRPr lang="zh-CN" altLang="en-US" sz="900" dirty="0">
                        <a:latin typeface="微软雅黑" panose="020B0503020204020204" pitchFamily="34" charset="-122"/>
                        <a:ea typeface="微软雅黑" panose="020B0503020204020204" pitchFamily="34" charset="-122"/>
                      </a:endParaRPr>
                    </a:p>
                  </a:txBody>
                  <a:tcPr anchor="ctr"/>
                </a:tc>
              </a:tr>
              <a:tr h="234315">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贴片阻</a:t>
                      </a:r>
                      <a:r>
                        <a:rPr lang="en-US" altLang="zh-CN" sz="900" dirty="0">
                          <a:latin typeface="微软雅黑" panose="020B0503020204020204" pitchFamily="34" charset="-122"/>
                          <a:ea typeface="微软雅黑" panose="020B0503020204020204" pitchFamily="34" charset="-122"/>
                        </a:rPr>
                        <a:t>,0402,02+1%,1/16W,ROHS2.0</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a:txBody>
                  <a:tcPr anchor="ctr"/>
                </a:tc>
              </a:tr>
              <a:tr h="36576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灯板</a:t>
                      </a:r>
                      <a:r>
                        <a:rPr lang="en-US" altLang="zh-CN" sz="900" dirty="0">
                          <a:latin typeface="微软雅黑" panose="020B0503020204020204" pitchFamily="34" charset="-122"/>
                          <a:ea typeface="微软雅黑" panose="020B0503020204020204" pitchFamily="34" charset="-122"/>
                        </a:rPr>
                        <a:t>PCB,</a:t>
                      </a:r>
                      <a:r>
                        <a:rPr lang="zh-CN" altLang="en-US" sz="900" dirty="0">
                          <a:latin typeface="微软雅黑" panose="020B0503020204020204" pitchFamily="34" charset="-122"/>
                          <a:ea typeface="微软雅黑" panose="020B0503020204020204" pitchFamily="34" charset="-122"/>
                        </a:rPr>
                        <a:t>中性</a:t>
                      </a:r>
                      <a:r>
                        <a:rPr lang="en-US" altLang="zh-CN" sz="900" dirty="0">
                          <a:latin typeface="微软雅黑" panose="020B0503020204020204" pitchFamily="34" charset="-122"/>
                          <a:ea typeface="微软雅黑" panose="020B0503020204020204" pitchFamily="34" charset="-122"/>
                        </a:rPr>
                        <a:t>,ULWI,P0.93 mm,P0.93-G010456,A01</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a:txBody>
                  <a:tcPr anchor="ctr"/>
                </a:tc>
              </a:tr>
            </a:tbl>
          </a:graphicData>
        </a:graphic>
      </p:graphicFrame>
      <p:sp>
        <p:nvSpPr>
          <p:cNvPr id="18" name="灯片编号占位符 17"/>
          <p:cNvSpPr>
            <a:spLocks noGrp="1"/>
          </p:cNvSpPr>
          <p:nvPr>
            <p:ph type="sldNum" sz="quarter" idx="11"/>
          </p:nvPr>
        </p:nvSpPr>
        <p:spPr/>
        <p:txBody>
          <a:bodyPr/>
          <a:lstStyle/>
          <a:p>
            <a:fld id="{629B06DC-B081-48FF-B3C8-294D2105EA92}" type="slidenum">
              <a:rPr lang="zh-CN" altLang="en-US" smtClean="0"/>
            </a:fld>
            <a:endParaRPr lang="zh-CN" altLang="en-US" dirty="0"/>
          </a:p>
        </p:txBody>
      </p:sp>
      <p:grpSp>
        <p:nvGrpSpPr>
          <p:cNvPr id="28" name="组合 27"/>
          <p:cNvGrpSpPr/>
          <p:nvPr/>
        </p:nvGrpSpPr>
        <p:grpSpPr>
          <a:xfrm>
            <a:off x="566653" y="2654255"/>
            <a:ext cx="9460865" cy="1940560"/>
            <a:chOff x="728" y="3748"/>
            <a:chExt cx="14899" cy="3056"/>
          </a:xfrm>
        </p:grpSpPr>
        <p:sp>
          <p:nvSpPr>
            <p:cNvPr id="4" name="矩形 3"/>
            <p:cNvSpPr/>
            <p:nvPr/>
          </p:nvSpPr>
          <p:spPr>
            <a:xfrm>
              <a:off x="10473" y="5784"/>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标准</a:t>
              </a:r>
              <a:r>
                <a:rPr kumimoji="1" lang="en-US" altLang="zh-CN" sz="1400" b="1" dirty="0">
                  <a:latin typeface="微软雅黑" panose="020B0503020204020204" pitchFamily="34" charset="-122"/>
                  <a:ea typeface="微软雅黑" panose="020B0503020204020204" pitchFamily="34" charset="-122"/>
                </a:rPr>
                <a:t>BOM</a:t>
              </a:r>
              <a:endParaRPr kumimoji="1" lang="en-US" altLang="zh-CN" sz="1400" b="1" dirty="0">
                <a:latin typeface="微软雅黑" panose="020B0503020204020204" pitchFamily="34" charset="-122"/>
                <a:ea typeface="微软雅黑" panose="020B0503020204020204" pitchFamily="34" charset="-122"/>
              </a:endParaRPr>
            </a:p>
            <a:p>
              <a:pPr algn="ctr"/>
              <a:r>
                <a:rPr kumimoji="1" lang="en-US" altLang="zh-CN" sz="1100" b="1" dirty="0">
                  <a:solidFill>
                    <a:srgbClr val="FFFF00"/>
                  </a:solidFill>
                  <a:latin typeface="微软雅黑" panose="020B0503020204020204" pitchFamily="34" charset="-122"/>
                  <a:ea typeface="微软雅黑" panose="020B0503020204020204" pitchFamily="34" charset="-122"/>
                </a:rPr>
                <a:t>（PLM</a:t>
              </a:r>
              <a:r>
                <a:rPr kumimoji="1" lang="zh-CN" altLang="en-US" sz="1100" b="1" dirty="0">
                  <a:solidFill>
                    <a:srgbClr val="FFFF00"/>
                  </a:solidFill>
                  <a:latin typeface="微软雅黑" panose="020B0503020204020204" pitchFamily="34" charset="-122"/>
                  <a:ea typeface="微软雅黑" panose="020B0503020204020204" pitchFamily="34" charset="-122"/>
                </a:rPr>
                <a:t>维护</a:t>
              </a:r>
              <a:r>
                <a:rPr kumimoji="1" lang="en-US" altLang="zh-CN" sz="1100" b="1" dirty="0">
                  <a:solidFill>
                    <a:srgbClr val="FFFF00"/>
                  </a:solidFill>
                  <a:latin typeface="微软雅黑" panose="020B0503020204020204" pitchFamily="34" charset="-122"/>
                  <a:ea typeface="微软雅黑" panose="020B0503020204020204" pitchFamily="34" charset="-122"/>
                </a:rPr>
                <a:t>）</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728" y="4876"/>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替代规则</a:t>
              </a:r>
              <a:endParaRPr kumimoji="1" lang="zh-CN" altLang="en-US" sz="1400" b="1" dirty="0">
                <a:latin typeface="微软雅黑" panose="020B0503020204020204" pitchFamily="34" charset="-122"/>
                <a:ea typeface="微软雅黑" panose="020B0503020204020204" pitchFamily="34" charset="-122"/>
              </a:endParaRPr>
            </a:p>
            <a:p>
              <a:pPr algn="ctr">
                <a:buClrTx/>
                <a:buSzTx/>
                <a:buFontTx/>
              </a:pPr>
              <a:r>
                <a:rPr kumimoji="1" lang="en-US" altLang="zh-CN" sz="1100" b="1" dirty="0">
                  <a:solidFill>
                    <a:srgbClr val="FFFF00"/>
                  </a:solidFill>
                  <a:latin typeface="微软雅黑" panose="020B0503020204020204" pitchFamily="34" charset="-122"/>
                  <a:ea typeface="微软雅黑" panose="020B0503020204020204" pitchFamily="34" charset="-122"/>
                </a:rPr>
                <a:t>（APS</a:t>
              </a:r>
              <a:r>
                <a:rPr kumimoji="1" lang="zh-CN" altLang="en-US" sz="1100" b="1" dirty="0">
                  <a:solidFill>
                    <a:srgbClr val="FFFF00"/>
                  </a:solidFill>
                  <a:latin typeface="微软雅黑" panose="020B0503020204020204" pitchFamily="34" charset="-122"/>
                  <a:ea typeface="微软雅黑" panose="020B0503020204020204" pitchFamily="34" charset="-122"/>
                </a:rPr>
                <a:t>维护</a:t>
              </a:r>
              <a:r>
                <a:rPr kumimoji="1" lang="en-US" altLang="zh-CN" sz="1100" b="1" dirty="0">
                  <a:solidFill>
                    <a:srgbClr val="FFFF00"/>
                  </a:solidFill>
                  <a:latin typeface="微软雅黑" panose="020B0503020204020204" pitchFamily="34" charset="-122"/>
                  <a:ea typeface="微软雅黑" panose="020B0503020204020204" pitchFamily="34" charset="-122"/>
                </a:rPr>
                <a:t>）</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21" name="矩形 20"/>
            <p:cNvSpPr/>
            <p:nvPr/>
          </p:nvSpPr>
          <p:spPr>
            <a:xfrm>
              <a:off x="13756" y="4876"/>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产品报价</a:t>
              </a:r>
              <a:r>
                <a:rPr kumimoji="1" lang="en-US" altLang="zh-CN" sz="1400" b="1" dirty="0">
                  <a:latin typeface="微软雅黑" panose="020B0503020204020204" pitchFamily="34" charset="-122"/>
                  <a:ea typeface="微软雅黑" panose="020B0503020204020204" pitchFamily="34" charset="-122"/>
                </a:rPr>
                <a:t>BOM</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2599" y="5462"/>
              <a:ext cx="4081" cy="434"/>
            </a:xfrm>
            <a:prstGeom prst="rect">
              <a:avLst/>
            </a:prstGeom>
            <a:noFill/>
          </p:spPr>
          <p:txBody>
            <a:bodyPr wrap="square" rtlCol="0">
              <a:spAutoFit/>
            </a:bodyPr>
            <a:lstStyle/>
            <a:p>
              <a:r>
                <a:rPr lang="zh-CN" altLang="en-US" sz="1200" b="1">
                  <a:solidFill>
                    <a:srgbClr val="FF0000"/>
                  </a:solidFill>
                  <a:latin typeface="微软雅黑" panose="020B0503020204020204" pitchFamily="34" charset="-122"/>
                  <a:ea typeface="微软雅黑" panose="020B0503020204020204" pitchFamily="34" charset="-122"/>
                </a:rPr>
                <a:t>【允许客户选择】字段为</a:t>
              </a:r>
              <a:r>
                <a:rPr lang="en-US" altLang="zh-CN" sz="1200" b="1">
                  <a:solidFill>
                    <a:srgbClr val="FF0000"/>
                  </a:solidFill>
                  <a:latin typeface="微软雅黑" panose="020B0503020204020204" pitchFamily="34" charset="-122"/>
                  <a:ea typeface="微软雅黑" panose="020B0503020204020204" pitchFamily="34" charset="-122"/>
                </a:rPr>
                <a:t>”</a:t>
              </a:r>
              <a:r>
                <a:rPr lang="zh-CN" altLang="en-US" sz="1200" b="1">
                  <a:solidFill>
                    <a:srgbClr val="FF0000"/>
                  </a:solidFill>
                  <a:latin typeface="微软雅黑" panose="020B0503020204020204" pitchFamily="34" charset="-122"/>
                  <a:ea typeface="微软雅黑" panose="020B0503020204020204" pitchFamily="34" charset="-122"/>
                </a:rPr>
                <a:t>是</a:t>
              </a:r>
              <a:r>
                <a:rPr lang="en-US" altLang="zh-CN" sz="1200" b="1">
                  <a:solidFill>
                    <a:srgbClr val="FF0000"/>
                  </a:solidFill>
                  <a:latin typeface="微软雅黑" panose="020B0503020204020204" pitchFamily="34" charset="-122"/>
                  <a:ea typeface="微软雅黑" panose="020B0503020204020204" pitchFamily="34" charset="-122"/>
                </a:rPr>
                <a:t>“</a:t>
              </a:r>
              <a:endParaRPr lang="en-US" altLang="zh-CN" sz="1200" b="1">
                <a:solidFill>
                  <a:srgbClr val="FF0000"/>
                </a:solidFill>
                <a:latin typeface="微软雅黑" panose="020B0503020204020204" pitchFamily="34" charset="-122"/>
                <a:ea typeface="微软雅黑" panose="020B0503020204020204" pitchFamily="34" charset="-122"/>
              </a:endParaRPr>
            </a:p>
          </p:txBody>
        </p:sp>
        <p:sp>
          <p:nvSpPr>
            <p:cNvPr id="23" name="矩形 22"/>
            <p:cNvSpPr/>
            <p:nvPr/>
          </p:nvSpPr>
          <p:spPr>
            <a:xfrm>
              <a:off x="7295" y="3751"/>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sz="1400" b="1" dirty="0">
                  <a:latin typeface="微软雅黑" panose="020B0503020204020204" pitchFamily="34" charset="-122"/>
                  <a:ea typeface="微软雅黑" panose="020B0503020204020204" pitchFamily="34" charset="-122"/>
                </a:rPr>
                <a:t>CPQ</a:t>
              </a:r>
              <a:endParaRPr kumimoji="1" lang="en-US" sz="1100" b="1" dirty="0">
                <a:solidFill>
                  <a:srgbClr val="FFFF00"/>
                </a:solidFill>
                <a:latin typeface="微软雅黑" panose="020B0503020204020204" pitchFamily="34" charset="-122"/>
                <a:ea typeface="微软雅黑" panose="020B0503020204020204" pitchFamily="34" charset="-122"/>
              </a:endParaRPr>
            </a:p>
          </p:txBody>
        </p:sp>
        <p:sp>
          <p:nvSpPr>
            <p:cNvPr id="24" name="矩形 23"/>
            <p:cNvSpPr/>
            <p:nvPr/>
          </p:nvSpPr>
          <p:spPr>
            <a:xfrm>
              <a:off x="7295" y="4882"/>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数据中台</a:t>
              </a:r>
              <a:endParaRPr kumimoji="1" lang="zh-CN" altLang="en-US" sz="1400" b="1" dirty="0">
                <a:latin typeface="微软雅黑" panose="020B0503020204020204" pitchFamily="34" charset="-122"/>
                <a:ea typeface="微软雅黑" panose="020B0503020204020204" pitchFamily="34" charset="-122"/>
              </a:endParaRPr>
            </a:p>
          </p:txBody>
        </p:sp>
        <p:cxnSp>
          <p:nvCxnSpPr>
            <p:cNvPr id="14" name="肘形连接符 13"/>
            <p:cNvCxnSpPr>
              <a:stCxn id="19" idx="3"/>
              <a:endCxn id="23" idx="1"/>
            </p:cNvCxnSpPr>
            <p:nvPr/>
          </p:nvCxnSpPr>
          <p:spPr>
            <a:xfrm flipV="1">
              <a:off x="2599" y="4261"/>
              <a:ext cx="4696" cy="1125"/>
            </a:xfrm>
            <a:prstGeom prst="bentConnector3">
              <a:avLst>
                <a:gd name="adj1" fmla="val 4999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5" name="肘形连接符 14"/>
            <p:cNvCxnSpPr>
              <a:stCxn id="19" idx="3"/>
              <a:endCxn id="24" idx="1"/>
            </p:cNvCxnSpPr>
            <p:nvPr/>
          </p:nvCxnSpPr>
          <p:spPr>
            <a:xfrm>
              <a:off x="2599" y="5386"/>
              <a:ext cx="4696" cy="6"/>
            </a:xfrm>
            <a:prstGeom prst="bentConnector3">
              <a:avLst>
                <a:gd name="adj1" fmla="val 4999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7" name="肘形连接符 16"/>
            <p:cNvCxnSpPr>
              <a:stCxn id="4" idx="3"/>
              <a:endCxn id="21" idx="1"/>
            </p:cNvCxnSpPr>
            <p:nvPr/>
          </p:nvCxnSpPr>
          <p:spPr>
            <a:xfrm flipV="1">
              <a:off x="12344" y="5386"/>
              <a:ext cx="1412" cy="908"/>
            </a:xfrm>
            <a:prstGeom prst="bentConnector3">
              <a:avLst>
                <a:gd name="adj1" fmla="val 49974"/>
              </a:avLst>
            </a:prstGeom>
            <a:ln>
              <a:tailEnd type="arrow" w="med" len="med"/>
            </a:ln>
          </p:spPr>
          <p:style>
            <a:lnRef idx="3">
              <a:schemeClr val="accent1"/>
            </a:lnRef>
            <a:fillRef idx="0">
              <a:srgbClr val="FFFFFF"/>
            </a:fillRef>
            <a:effectRef idx="0">
              <a:srgbClr val="FFFFFF"/>
            </a:effectRef>
            <a:fontRef idx="minor">
              <a:schemeClr val="tx1"/>
            </a:fontRef>
          </p:style>
        </p:cxnSp>
        <p:sp>
          <p:nvSpPr>
            <p:cNvPr id="3" name="矩形 2"/>
            <p:cNvSpPr/>
            <p:nvPr/>
          </p:nvSpPr>
          <p:spPr>
            <a:xfrm>
              <a:off x="728" y="3748"/>
              <a:ext cx="1871" cy="1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buClrTx/>
                <a:buSzTx/>
                <a:buFontTx/>
              </a:pPr>
              <a:r>
                <a:rPr kumimoji="1" lang="zh-CN" altLang="en-US" sz="1400" b="1" dirty="0">
                  <a:latin typeface="微软雅黑" panose="020B0503020204020204" pitchFamily="34" charset="-122"/>
                  <a:ea typeface="微软雅黑" panose="020B0503020204020204" pitchFamily="34" charset="-122"/>
                </a:rPr>
                <a:t>产品目录树</a:t>
              </a:r>
              <a:r>
                <a:rPr kumimoji="1" lang="en-US" altLang="zh-CN" sz="1100" b="1" dirty="0">
                  <a:solidFill>
                    <a:srgbClr val="FFFF00"/>
                  </a:solidFill>
                  <a:latin typeface="微软雅黑" panose="020B0503020204020204" pitchFamily="34" charset="-122"/>
                  <a:ea typeface="微软雅黑" panose="020B0503020204020204" pitchFamily="34" charset="-122"/>
                </a:rPr>
                <a:t>（PBI</a:t>
              </a:r>
              <a:r>
                <a:rPr kumimoji="1" lang="zh-CN" altLang="en-US" sz="1100" b="1" dirty="0">
                  <a:solidFill>
                    <a:srgbClr val="FFFF00"/>
                  </a:solidFill>
                  <a:latin typeface="微软雅黑" panose="020B0503020204020204" pitchFamily="34" charset="-122"/>
                  <a:ea typeface="微软雅黑" panose="020B0503020204020204" pitchFamily="34" charset="-122"/>
                </a:rPr>
                <a:t>维护</a:t>
              </a:r>
              <a:r>
                <a:rPr kumimoji="1" lang="en-US" altLang="zh-CN" sz="1100" b="1" dirty="0">
                  <a:solidFill>
                    <a:srgbClr val="FFFF00"/>
                  </a:solidFill>
                  <a:latin typeface="微软雅黑" panose="020B0503020204020204" pitchFamily="34" charset="-122"/>
                  <a:ea typeface="微软雅黑" panose="020B0503020204020204" pitchFamily="34" charset="-122"/>
                </a:rPr>
                <a:t>）</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cxnSp>
          <p:nvCxnSpPr>
            <p:cNvPr id="9" name="肘形连接符 8"/>
            <p:cNvCxnSpPr>
              <a:stCxn id="3" idx="3"/>
              <a:endCxn id="23" idx="1"/>
            </p:cNvCxnSpPr>
            <p:nvPr/>
          </p:nvCxnSpPr>
          <p:spPr>
            <a:xfrm>
              <a:off x="2599" y="4258"/>
              <a:ext cx="4696" cy="3"/>
            </a:xfrm>
            <a:prstGeom prst="bentConnector3">
              <a:avLst>
                <a:gd name="adj1" fmla="val 4999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20" name="直接箭头连接符 19"/>
            <p:cNvCxnSpPr>
              <a:stCxn id="24" idx="3"/>
              <a:endCxn id="21" idx="1"/>
            </p:cNvCxnSpPr>
            <p:nvPr/>
          </p:nvCxnSpPr>
          <p:spPr>
            <a:xfrm flipV="1">
              <a:off x="9166" y="5386"/>
              <a:ext cx="4590" cy="6"/>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grpSp>
      <p:graphicFrame>
        <p:nvGraphicFramePr>
          <p:cNvPr id="22" name="表格 21"/>
          <p:cNvGraphicFramePr>
            <a:graphicFrameLocks noGrp="1"/>
          </p:cNvGraphicFramePr>
          <p:nvPr>
            <p:custDataLst>
              <p:tags r:id="rId1"/>
            </p:custDataLst>
          </p:nvPr>
        </p:nvGraphicFramePr>
        <p:xfrm>
          <a:off x="8598133" y="4067765"/>
          <a:ext cx="3152775" cy="2741295"/>
        </p:xfrm>
        <a:graphic>
          <a:graphicData uri="http://schemas.openxmlformats.org/drawingml/2006/table">
            <a:tbl>
              <a:tblPr firstRow="1" bandRow="1">
                <a:tableStyleId>{7DF18680-E054-41AD-8BC1-D1AEF772440D}</a:tableStyleId>
              </a:tblPr>
              <a:tblGrid>
                <a:gridCol w="765175"/>
                <a:gridCol w="1750060"/>
                <a:gridCol w="637540"/>
              </a:tblGrid>
              <a:tr h="313690">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主选物料</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单耗</a:t>
                      </a:r>
                      <a:endParaRPr lang="zh-CN" altLang="en-US" sz="1400" dirty="0">
                        <a:latin typeface="微软雅黑" panose="020B0503020204020204" pitchFamily="34" charset="-122"/>
                        <a:ea typeface="微软雅黑" panose="020B0503020204020204" pitchFamily="34" charset="-122"/>
                      </a:endParaRPr>
                    </a:p>
                  </a:txBody>
                  <a:tcPr anchor="ctr"/>
                </a:tc>
              </a:tr>
              <a:tr h="382270">
                <a:tc rowSpan="6">
                  <a:txBody>
                    <a:bodyPr/>
                    <a:lstStyle/>
                    <a:p>
                      <a:pPr algn="ctr"/>
                      <a:r>
                        <a:rPr lang="zh-CN" altLang="en-US" sz="900" dirty="0">
                          <a:latin typeface="微软雅黑" panose="020B0503020204020204" pitchFamily="34" charset="-122"/>
                          <a:ea typeface="微软雅黑" panose="020B0503020204020204" pitchFamily="34" charset="-122"/>
                        </a:rPr>
                        <a:t>屏体</a:t>
                      </a:r>
                      <a:r>
                        <a:rPr lang="en-US" altLang="zh-CN" sz="900" dirty="0">
                          <a:latin typeface="微软雅黑" panose="020B0503020204020204" pitchFamily="34" charset="-122"/>
                          <a:ea typeface="微软雅黑" panose="020B0503020204020204" pitchFamily="34" charset="-122"/>
                        </a:rPr>
                        <a:t>UDAⅡ-V200-R210125-C002</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木林森</a:t>
                      </a:r>
                      <a:r>
                        <a:rPr lang="en-US" altLang="zh-CN" sz="900" dirty="0">
                          <a:latin typeface="微软雅黑" panose="020B0503020204020204" pitchFamily="34" charset="-122"/>
                          <a:ea typeface="微软雅黑" panose="020B0503020204020204" pitchFamily="34" charset="-122"/>
                        </a:rPr>
                        <a:t>TOP</a:t>
                      </a:r>
                      <a:r>
                        <a:rPr lang="zh-CN" altLang="en-US" sz="900" dirty="0">
                          <a:latin typeface="微软雅黑" panose="020B0503020204020204" pitchFamily="34" charset="-122"/>
                          <a:ea typeface="微软雅黑" panose="020B0503020204020204" pitchFamily="34" charset="-122"/>
                        </a:rPr>
                        <a:t>铜线铜支架</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824-1212T3-ML-R</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5</a:t>
                      </a:r>
                      <a:endParaRPr lang="zh-CN" altLang="en-US" sz="900" dirty="0">
                        <a:latin typeface="微软雅黑" panose="020B0503020204020204" pitchFamily="34" charset="-122"/>
                        <a:ea typeface="微软雅黑" panose="020B0503020204020204" pitchFamily="34" charset="-122"/>
                      </a:endParaRPr>
                    </a:p>
                  </a:txBody>
                  <a:tcPr anchor="ctr"/>
                </a:tc>
              </a:tr>
              <a:tr h="381635">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恒流</a:t>
                      </a:r>
                      <a:r>
                        <a:rPr lang="en-US" altLang="zh-CN" sz="900" dirty="0">
                          <a:latin typeface="微软雅黑" panose="020B0503020204020204" pitchFamily="34" charset="-122"/>
                          <a:ea typeface="微软雅黑" panose="020B0503020204020204" pitchFamily="34" charset="-122"/>
                        </a:rPr>
                        <a:t>:ICND1065AP</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81001-YSS0P00018</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2</a:t>
                      </a:r>
                      <a:endParaRPr lang="zh-CN" altLang="en-US" sz="900" dirty="0">
                        <a:latin typeface="微软雅黑" panose="020B0503020204020204" pitchFamily="34" charset="-122"/>
                        <a:ea typeface="微软雅黑" panose="020B0503020204020204" pitchFamily="34" charset="-122"/>
                      </a:endParaRPr>
                    </a:p>
                  </a:txBody>
                  <a:tcPr anchor="ctr"/>
                </a:tc>
              </a:tr>
              <a:tr h="38227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行管</a:t>
                      </a:r>
                      <a:r>
                        <a:rPr lang="en-US" altLang="zh-CN" sz="900" dirty="0">
                          <a:latin typeface="微软雅黑" panose="020B0503020204020204" pitchFamily="34" charset="-122"/>
                          <a:ea typeface="微软雅黑" panose="020B0503020204020204" pitchFamily="34" charset="-122"/>
                        </a:rPr>
                        <a:t>:HX6158</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81002-Y0000023</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6</a:t>
                      </a:r>
                      <a:endParaRPr lang="zh-CN" altLang="en-US" sz="900" dirty="0">
                        <a:latin typeface="微软雅黑" panose="020B0503020204020204" pitchFamily="34" charset="-122"/>
                        <a:ea typeface="微软雅黑" panose="020B0503020204020204" pitchFamily="34" charset="-122"/>
                      </a:endParaRPr>
                    </a:p>
                  </a:txBody>
                  <a:tcPr anchor="ctr"/>
                </a:tc>
              </a:tr>
              <a:tr h="381635">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电源型号</a:t>
                      </a:r>
                      <a:r>
                        <a:rPr lang="en-US" altLang="zh-CN" sz="900" dirty="0">
                          <a:latin typeface="微软雅黑" panose="020B0503020204020204" pitchFamily="34" charset="-122"/>
                          <a:ea typeface="微软雅黑" panose="020B0503020204020204" pitchFamily="34" charset="-122"/>
                        </a:rPr>
                        <a:t>:TV200PC3.8D</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18A01-Y017100015</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4</a:t>
                      </a:r>
                      <a:endParaRPr lang="zh-CN" altLang="en-US" sz="900" dirty="0">
                        <a:latin typeface="微软雅黑" panose="020B0503020204020204" pitchFamily="34" charset="-122"/>
                        <a:ea typeface="微软雅黑" panose="020B0503020204020204" pitchFamily="34" charset="-122"/>
                      </a:endParaRPr>
                    </a:p>
                  </a:txBody>
                  <a:tcPr anchor="ctr"/>
                </a:tc>
              </a:tr>
              <a:tr h="51816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贴片阻</a:t>
                      </a:r>
                      <a:r>
                        <a:rPr lang="en-US" altLang="zh-CN" sz="900" dirty="0">
                          <a:latin typeface="微软雅黑" panose="020B0503020204020204" pitchFamily="34" charset="-122"/>
                          <a:ea typeface="微软雅黑" panose="020B0503020204020204" pitchFamily="34" charset="-122"/>
                        </a:rPr>
                        <a:t>,0402,02+1%,1/16W,ROHS2.0</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10</a:t>
                      </a:r>
                      <a:endParaRPr lang="zh-CN" altLang="en-US" sz="900" dirty="0">
                        <a:latin typeface="微软雅黑" panose="020B0503020204020204" pitchFamily="34" charset="-122"/>
                        <a:ea typeface="微软雅黑" panose="020B0503020204020204" pitchFamily="34" charset="-122"/>
                      </a:endParaRPr>
                    </a:p>
                  </a:txBody>
                  <a:tcPr anchor="ctr"/>
                </a:tc>
              </a:tr>
              <a:tr h="381635">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灯板</a:t>
                      </a:r>
                      <a:r>
                        <a:rPr lang="en-US" altLang="zh-CN" sz="900" dirty="0">
                          <a:latin typeface="微软雅黑" panose="020B0503020204020204" pitchFamily="34" charset="-122"/>
                          <a:ea typeface="微软雅黑" panose="020B0503020204020204" pitchFamily="34" charset="-122"/>
                        </a:rPr>
                        <a:t>PCB,</a:t>
                      </a:r>
                      <a:r>
                        <a:rPr lang="zh-CN" altLang="en-US" sz="900" dirty="0">
                          <a:latin typeface="微软雅黑" panose="020B0503020204020204" pitchFamily="34" charset="-122"/>
                          <a:ea typeface="微软雅黑" panose="020B0503020204020204" pitchFamily="34" charset="-122"/>
                        </a:rPr>
                        <a:t>中性</a:t>
                      </a:r>
                      <a:r>
                        <a:rPr lang="en-US" altLang="zh-CN" sz="900" dirty="0">
                          <a:latin typeface="微软雅黑" panose="020B0503020204020204" pitchFamily="34" charset="-122"/>
                          <a:ea typeface="微软雅黑" panose="020B0503020204020204" pitchFamily="34" charset="-122"/>
                        </a:rPr>
                        <a:t>,ULWI,P0.93 mm,P0.93-G010456,A01</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20</a:t>
                      </a:r>
                      <a:endParaRPr lang="zh-CN" altLang="en-US" sz="900" dirty="0">
                        <a:latin typeface="微软雅黑" panose="020B0503020204020204" pitchFamily="34" charset="-122"/>
                        <a:ea typeface="微软雅黑" panose="020B0503020204020204" pitchFamily="34" charset="-122"/>
                      </a:endParaRPr>
                    </a:p>
                  </a:txBody>
                  <a:tcPr anchor="ctr"/>
                </a:tc>
              </a:tr>
            </a:tbl>
          </a:graphicData>
        </a:graphic>
      </p:graphicFrame>
      <p:sp>
        <p:nvSpPr>
          <p:cNvPr id="25" name="文本框 24"/>
          <p:cNvSpPr txBox="1"/>
          <p:nvPr/>
        </p:nvSpPr>
        <p:spPr>
          <a:xfrm rot="20040000">
            <a:off x="8417158" y="4607833"/>
            <a:ext cx="1659255" cy="337185"/>
          </a:xfrm>
          <a:prstGeom prst="rect">
            <a:avLst/>
          </a:prstGeom>
          <a:noFill/>
        </p:spPr>
        <p:txBody>
          <a:bodyPr wrap="square" rtlCol="0">
            <a:spAutoFit/>
          </a:bodyPr>
          <a:lstStyle/>
          <a:p>
            <a:pPr algn="ct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标准</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BOM</a:t>
            </a:r>
            <a:endPar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26"/>
          <p:cNvSpPr txBox="1"/>
          <p:nvPr/>
        </p:nvSpPr>
        <p:spPr>
          <a:xfrm rot="20040000">
            <a:off x="417428" y="4614818"/>
            <a:ext cx="1659255" cy="337185"/>
          </a:xfrm>
          <a:prstGeom prst="rect">
            <a:avLst/>
          </a:prstGeom>
          <a:noFill/>
        </p:spPr>
        <p:txBody>
          <a:bodyPr wrap="square" rtlCol="0">
            <a:spAutoFit/>
          </a:bodyPr>
          <a:lstStyle/>
          <a:p>
            <a:pPr algn="ct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替代规则</a:t>
            </a: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产品基准价测算详细方案：自动生成报价</a:t>
            </a:r>
            <a:r>
              <a:rPr lang="en-US" altLang="zh-CN" dirty="0">
                <a:sym typeface="+mn-ea"/>
              </a:rPr>
              <a:t>BOM</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4" name="表格 3"/>
          <p:cNvGraphicFramePr>
            <a:graphicFrameLocks noGrp="1"/>
          </p:cNvGraphicFramePr>
          <p:nvPr/>
        </p:nvGraphicFramePr>
        <p:xfrm>
          <a:off x="21315" y="700311"/>
          <a:ext cx="3636285" cy="2529840"/>
        </p:xfrm>
        <a:graphic>
          <a:graphicData uri="http://schemas.openxmlformats.org/drawingml/2006/table">
            <a:tbl>
              <a:tblPr firstRow="1" bandRow="1">
                <a:tableStyleId>{7DF18680-E054-41AD-8BC1-D1AEF772440D}</a:tableStyleId>
              </a:tblPr>
              <a:tblGrid>
                <a:gridCol w="1171313"/>
                <a:gridCol w="1919965"/>
                <a:gridCol w="545007"/>
              </a:tblGrid>
              <a:tr h="286757">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主选物料</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单耗</a:t>
                      </a:r>
                      <a:endParaRPr lang="zh-CN" altLang="en-US" sz="1400" dirty="0">
                        <a:latin typeface="微软雅黑" panose="020B0503020204020204" pitchFamily="34" charset="-122"/>
                        <a:ea typeface="微软雅黑" panose="020B0503020204020204" pitchFamily="34" charset="-122"/>
                      </a:endParaRPr>
                    </a:p>
                  </a:txBody>
                  <a:tcPr anchor="ctr"/>
                </a:tc>
              </a:tr>
              <a:tr h="370840">
                <a:tc rowSpan="6">
                  <a:txBody>
                    <a:bodyPr/>
                    <a:lstStyle/>
                    <a:p>
                      <a:pPr algn="ctr"/>
                      <a:r>
                        <a:rPr lang="zh-CN" altLang="en-US" sz="900" dirty="0">
                          <a:latin typeface="微软雅黑" panose="020B0503020204020204" pitchFamily="34" charset="-122"/>
                          <a:ea typeface="微软雅黑" panose="020B0503020204020204" pitchFamily="34" charset="-122"/>
                        </a:rPr>
                        <a:t>屏体</a:t>
                      </a:r>
                      <a:r>
                        <a:rPr lang="en-US" altLang="zh-CN" sz="900" dirty="0">
                          <a:latin typeface="微软雅黑" panose="020B0503020204020204" pitchFamily="34" charset="-122"/>
                          <a:ea typeface="微软雅黑" panose="020B0503020204020204" pitchFamily="34" charset="-122"/>
                        </a:rPr>
                        <a:t>UDAⅡ-V200-R210125-C002</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木林森</a:t>
                      </a:r>
                      <a:r>
                        <a:rPr lang="en-US" altLang="zh-CN" sz="900" dirty="0">
                          <a:latin typeface="微软雅黑" panose="020B0503020204020204" pitchFamily="34" charset="-122"/>
                          <a:ea typeface="微软雅黑" panose="020B0503020204020204" pitchFamily="34" charset="-122"/>
                        </a:rPr>
                        <a:t>TOP</a:t>
                      </a:r>
                      <a:r>
                        <a:rPr lang="zh-CN" altLang="en-US" sz="900" dirty="0">
                          <a:latin typeface="微软雅黑" panose="020B0503020204020204" pitchFamily="34" charset="-122"/>
                          <a:ea typeface="微软雅黑" panose="020B0503020204020204" pitchFamily="34" charset="-122"/>
                        </a:rPr>
                        <a:t>铜线铜支架</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824-1212T3-ML-R</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5</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恒流</a:t>
                      </a:r>
                      <a:r>
                        <a:rPr lang="en-US" altLang="zh-CN" sz="900" dirty="0">
                          <a:latin typeface="微软雅黑" panose="020B0503020204020204" pitchFamily="34" charset="-122"/>
                          <a:ea typeface="微软雅黑" panose="020B0503020204020204" pitchFamily="34" charset="-122"/>
                        </a:rPr>
                        <a:t>:ICND1065AP</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81001-YSS0P00018</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2</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行管</a:t>
                      </a:r>
                      <a:r>
                        <a:rPr lang="en-US" altLang="zh-CN" sz="900" dirty="0">
                          <a:latin typeface="微软雅黑" panose="020B0503020204020204" pitchFamily="34" charset="-122"/>
                          <a:ea typeface="微软雅黑" panose="020B0503020204020204" pitchFamily="34" charset="-122"/>
                        </a:rPr>
                        <a:t>:HX6158</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81002-Y0000023</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6</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电源型号</a:t>
                      </a:r>
                      <a:r>
                        <a:rPr lang="en-US" altLang="zh-CN" sz="900" dirty="0">
                          <a:latin typeface="微软雅黑" panose="020B0503020204020204" pitchFamily="34" charset="-122"/>
                          <a:ea typeface="微软雅黑" panose="020B0503020204020204" pitchFamily="34" charset="-122"/>
                        </a:rPr>
                        <a:t>:TV200PC3.8D</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18A01-Y017100015</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4</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贴片阻</a:t>
                      </a:r>
                      <a:r>
                        <a:rPr lang="en-US" altLang="zh-CN" sz="900" dirty="0">
                          <a:latin typeface="微软雅黑" panose="020B0503020204020204" pitchFamily="34" charset="-122"/>
                          <a:ea typeface="微软雅黑" panose="020B0503020204020204" pitchFamily="34" charset="-122"/>
                        </a:rPr>
                        <a:t>,0402,02+1%,1/16W,ROHS2.0</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10</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灯板</a:t>
                      </a:r>
                      <a:r>
                        <a:rPr lang="en-US" altLang="zh-CN" sz="900" dirty="0">
                          <a:latin typeface="微软雅黑" panose="020B0503020204020204" pitchFamily="34" charset="-122"/>
                          <a:ea typeface="微软雅黑" panose="020B0503020204020204" pitchFamily="34" charset="-122"/>
                        </a:rPr>
                        <a:t>PCB,</a:t>
                      </a:r>
                      <a:r>
                        <a:rPr lang="zh-CN" altLang="en-US" sz="900" dirty="0">
                          <a:latin typeface="微软雅黑" panose="020B0503020204020204" pitchFamily="34" charset="-122"/>
                          <a:ea typeface="微软雅黑" panose="020B0503020204020204" pitchFamily="34" charset="-122"/>
                        </a:rPr>
                        <a:t>中性</a:t>
                      </a:r>
                      <a:r>
                        <a:rPr lang="en-US" altLang="zh-CN" sz="900" dirty="0">
                          <a:latin typeface="微软雅黑" panose="020B0503020204020204" pitchFamily="34" charset="-122"/>
                          <a:ea typeface="微软雅黑" panose="020B0503020204020204" pitchFamily="34" charset="-122"/>
                        </a:rPr>
                        <a:t>,ULWI,P0.93 mm,P0.93-G010456,A01</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20</a:t>
                      </a:r>
                      <a:endParaRPr lang="zh-CN" altLang="en-US" sz="900" dirty="0">
                        <a:latin typeface="微软雅黑" panose="020B0503020204020204" pitchFamily="34" charset="-122"/>
                        <a:ea typeface="微软雅黑" panose="020B0503020204020204" pitchFamily="34" charset="-122"/>
                      </a:endParaRPr>
                    </a:p>
                  </a:txBody>
                  <a:tcPr anchor="ctr"/>
                </a:tc>
              </a:tr>
            </a:tbl>
          </a:graphicData>
        </a:graphic>
      </p:graphicFrame>
      <p:graphicFrame>
        <p:nvGraphicFramePr>
          <p:cNvPr id="8" name="表格 7"/>
          <p:cNvGraphicFramePr>
            <a:graphicFrameLocks noGrp="1"/>
          </p:cNvGraphicFramePr>
          <p:nvPr/>
        </p:nvGraphicFramePr>
        <p:xfrm>
          <a:off x="21315" y="3331707"/>
          <a:ext cx="4411406" cy="3032760"/>
        </p:xfrm>
        <a:graphic>
          <a:graphicData uri="http://schemas.openxmlformats.org/drawingml/2006/table">
            <a:tbl>
              <a:tblPr firstRow="1" bandRow="1">
                <a:tableStyleId>{7DF18680-E054-41AD-8BC1-D1AEF772440D}</a:tableStyleId>
              </a:tblPr>
              <a:tblGrid>
                <a:gridCol w="1171313"/>
                <a:gridCol w="1919965"/>
                <a:gridCol w="1320128"/>
              </a:tblGrid>
              <a:tr h="279614">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主选物料</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备选物料</a:t>
                      </a:r>
                      <a:endParaRPr lang="zh-CN" altLang="en-US" sz="1400" dirty="0">
                        <a:latin typeface="微软雅黑" panose="020B0503020204020204" pitchFamily="34" charset="-122"/>
                        <a:ea typeface="微软雅黑" panose="020B0503020204020204" pitchFamily="34" charset="-122"/>
                      </a:endParaRPr>
                    </a:p>
                  </a:txBody>
                  <a:tcPr anchor="ctr"/>
                </a:tc>
              </a:tr>
              <a:tr h="370840">
                <a:tc rowSpan="7">
                  <a:txBody>
                    <a:bodyPr/>
                    <a:lstStyle/>
                    <a:p>
                      <a:pPr algn="ctr"/>
                      <a:r>
                        <a:rPr lang="zh-CN" altLang="en-US" sz="900" dirty="0">
                          <a:latin typeface="微软雅黑" panose="020B0503020204020204" pitchFamily="34" charset="-122"/>
                          <a:ea typeface="微软雅黑" panose="020B0503020204020204" pitchFamily="34" charset="-122"/>
                        </a:rPr>
                        <a:t>屏体</a:t>
                      </a:r>
                      <a:r>
                        <a:rPr lang="en-US" altLang="zh-CN" sz="900" dirty="0">
                          <a:latin typeface="微软雅黑" panose="020B0503020204020204" pitchFamily="34" charset="-122"/>
                          <a:ea typeface="微软雅黑" panose="020B0503020204020204" pitchFamily="34" charset="-122"/>
                        </a:rPr>
                        <a:t>UDAⅡ-V200-R210125-C002</a:t>
                      </a:r>
                      <a:endParaRPr lang="zh-CN" altLang="en-US" sz="900" dirty="0">
                        <a:latin typeface="微软雅黑" panose="020B0503020204020204" pitchFamily="34" charset="-122"/>
                        <a:ea typeface="微软雅黑" panose="020B0503020204020204" pitchFamily="34" charset="-122"/>
                      </a:endParaRPr>
                    </a:p>
                  </a:txBody>
                  <a:tcPr anchor="ctr"/>
                </a:tc>
                <a:tc rowSpan="2">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灯珠</a:t>
                      </a:r>
                      <a:r>
                        <a:rPr lang="en-US" altLang="zh-CN" sz="900" kern="1200" dirty="0">
                          <a:solidFill>
                            <a:schemeClr val="dk1"/>
                          </a:solidFill>
                          <a:latin typeface="微软雅黑" panose="020B0503020204020204" pitchFamily="34" charset="-122"/>
                          <a:ea typeface="微软雅黑" panose="020B0503020204020204" pitchFamily="34" charset="-122"/>
                          <a:cs typeface="+mn-cs"/>
                        </a:rPr>
                        <a:t>:</a:t>
                      </a:r>
                      <a:r>
                        <a:rPr lang="zh-CN" altLang="en-US" sz="900" kern="1200" dirty="0">
                          <a:solidFill>
                            <a:schemeClr val="dk1"/>
                          </a:solidFill>
                          <a:latin typeface="微软雅黑" panose="020B0503020204020204" pitchFamily="34" charset="-122"/>
                          <a:ea typeface="微软雅黑" panose="020B0503020204020204" pitchFamily="34" charset="-122"/>
                          <a:cs typeface="+mn-cs"/>
                        </a:rPr>
                        <a:t>木林森</a:t>
                      </a:r>
                      <a:r>
                        <a:rPr lang="en-US" altLang="zh-CN" sz="900" kern="1200" dirty="0">
                          <a:solidFill>
                            <a:schemeClr val="dk1"/>
                          </a:solidFill>
                          <a:latin typeface="微软雅黑" panose="020B0503020204020204" pitchFamily="34" charset="-122"/>
                          <a:ea typeface="微软雅黑" panose="020B0503020204020204" pitchFamily="34" charset="-122"/>
                          <a:cs typeface="+mn-cs"/>
                        </a:rPr>
                        <a:t>TOP</a:t>
                      </a:r>
                      <a:r>
                        <a:rPr lang="zh-CN" altLang="en-US" sz="900" kern="1200" dirty="0">
                          <a:solidFill>
                            <a:schemeClr val="dk1"/>
                          </a:solidFill>
                          <a:latin typeface="微软雅黑" panose="020B0503020204020204" pitchFamily="34" charset="-122"/>
                          <a:ea typeface="微软雅黑" panose="020B0503020204020204" pitchFamily="34" charset="-122"/>
                          <a:cs typeface="+mn-cs"/>
                        </a:rPr>
                        <a:t>铜线铜支架</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824-1212T3-ML-R</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兆驰铜线铜支架</a:t>
                      </a:r>
                      <a:endParaRPr lang="zh-CN" altLang="en-US"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824-121201-ZC-R</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vMerge="1">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灯珠</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国星铜线铜支架</a:t>
                      </a:r>
                      <a:endParaRPr lang="zh-CN" altLang="en-US"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824-121205-GX-R</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恒流</a:t>
                      </a:r>
                      <a:r>
                        <a:rPr lang="en-US" altLang="zh-CN" sz="900" kern="1200" dirty="0">
                          <a:solidFill>
                            <a:schemeClr val="dk1"/>
                          </a:solidFill>
                          <a:latin typeface="微软雅黑" panose="020B0503020204020204" pitchFamily="34" charset="-122"/>
                          <a:ea typeface="微软雅黑" panose="020B0503020204020204" pitchFamily="34" charset="-122"/>
                          <a:cs typeface="+mn-cs"/>
                        </a:rPr>
                        <a:t>:ICND1065AP</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81001-YSS0P00018</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恒流</a:t>
                      </a:r>
                      <a:r>
                        <a:rPr lang="en-US" altLang="zh-CN" sz="900" dirty="0">
                          <a:latin typeface="微软雅黑" panose="020B0503020204020204" pitchFamily="34" charset="-122"/>
                          <a:ea typeface="微软雅黑" panose="020B0503020204020204" pitchFamily="34" charset="-122"/>
                        </a:rPr>
                        <a:t>:HX8865</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81001-YSS0P00001</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行管</a:t>
                      </a:r>
                      <a:r>
                        <a:rPr lang="en-US" altLang="zh-CN" sz="900" kern="1200" dirty="0">
                          <a:solidFill>
                            <a:schemeClr val="dk1"/>
                          </a:solidFill>
                          <a:latin typeface="微软雅黑" panose="020B0503020204020204" pitchFamily="34" charset="-122"/>
                          <a:ea typeface="微软雅黑" panose="020B0503020204020204" pitchFamily="34" charset="-122"/>
                          <a:cs typeface="+mn-cs"/>
                        </a:rPr>
                        <a:t>:HX6158</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81002-Y0000023</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行管</a:t>
                      </a:r>
                      <a:r>
                        <a:rPr lang="en-US" altLang="zh-CN" sz="900" dirty="0">
                          <a:latin typeface="微软雅黑" panose="020B0503020204020204" pitchFamily="34" charset="-122"/>
                          <a:ea typeface="微软雅黑" panose="020B0503020204020204" pitchFamily="34" charset="-122"/>
                        </a:rPr>
                        <a:t>:ICND2018AP </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810-2018AP-00-R</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kern="1200" dirty="0">
                          <a:solidFill>
                            <a:schemeClr val="dk1"/>
                          </a:solidFill>
                          <a:latin typeface="微软雅黑" panose="020B0503020204020204" pitchFamily="34" charset="-122"/>
                          <a:ea typeface="微软雅黑" panose="020B0503020204020204" pitchFamily="34" charset="-122"/>
                          <a:cs typeface="+mn-cs"/>
                        </a:rPr>
                        <a:t>电源型号</a:t>
                      </a:r>
                      <a:r>
                        <a:rPr lang="en-US" altLang="zh-CN" sz="900" kern="1200" dirty="0">
                          <a:solidFill>
                            <a:schemeClr val="dk1"/>
                          </a:solidFill>
                          <a:latin typeface="微软雅黑" panose="020B0503020204020204" pitchFamily="34" charset="-122"/>
                          <a:ea typeface="微软雅黑" panose="020B0503020204020204" pitchFamily="34" charset="-122"/>
                          <a:cs typeface="+mn-cs"/>
                        </a:rPr>
                        <a:t>:TV200PC3.8D</a:t>
                      </a:r>
                      <a:endParaRPr lang="en-US" altLang="zh-CN" sz="900" kern="1200" dirty="0">
                        <a:solidFill>
                          <a:schemeClr val="dk1"/>
                        </a:solidFill>
                        <a:latin typeface="微软雅黑" panose="020B0503020204020204" pitchFamily="34" charset="-122"/>
                        <a:ea typeface="微软雅黑" panose="020B0503020204020204" pitchFamily="34" charset="-122"/>
                        <a:cs typeface="+mn-cs"/>
                      </a:endParaRPr>
                    </a:p>
                    <a:p>
                      <a:pPr algn="ctr"/>
                      <a:r>
                        <a:rPr lang="en-US" altLang="zh-CN" sz="900" kern="1200" dirty="0">
                          <a:solidFill>
                            <a:schemeClr val="dk1"/>
                          </a:solidFill>
                          <a:latin typeface="微软雅黑" panose="020B0503020204020204" pitchFamily="34" charset="-122"/>
                          <a:ea typeface="微软雅黑" panose="020B0503020204020204" pitchFamily="34" charset="-122"/>
                          <a:cs typeface="+mn-cs"/>
                        </a:rPr>
                        <a:t>18A01-Y017100015</a:t>
                      </a:r>
                      <a:endParaRPr lang="zh-CN" altLang="en-US" sz="9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900" b="1" dirty="0">
                          <a:solidFill>
                            <a:srgbClr val="FF0000"/>
                          </a:solidFill>
                          <a:latin typeface="微软雅黑" panose="020B0503020204020204" pitchFamily="34" charset="-122"/>
                          <a:ea typeface="微软雅黑" panose="020B0503020204020204" pitchFamily="34" charset="-122"/>
                        </a:rPr>
                        <a:t>电源型号</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荣电</a:t>
                      </a:r>
                      <a:r>
                        <a:rPr lang="en-US" altLang="zh-CN" sz="900" dirty="0">
                          <a:latin typeface="微软雅黑" panose="020B0503020204020204" pitchFamily="34" charset="-122"/>
                          <a:ea typeface="微软雅黑" panose="020B0503020204020204" pitchFamily="34" charset="-122"/>
                        </a:rPr>
                        <a:t>TV200PC4.2D</a:t>
                      </a:r>
                      <a:endParaRPr lang="en-US" altLang="zh-CN" sz="900" dirty="0">
                        <a:latin typeface="微软雅黑" panose="020B0503020204020204" pitchFamily="34" charset="-122"/>
                        <a:ea typeface="微软雅黑" panose="020B0503020204020204" pitchFamily="34" charset="-122"/>
                      </a:endParaRPr>
                    </a:p>
                    <a:p>
                      <a:pPr algn="ctr"/>
                      <a:r>
                        <a:rPr lang="en-US" altLang="zh-CN" sz="900" dirty="0">
                          <a:latin typeface="微软雅黑" panose="020B0503020204020204" pitchFamily="34" charset="-122"/>
                          <a:ea typeface="微软雅黑" panose="020B0503020204020204" pitchFamily="34" charset="-122"/>
                        </a:rPr>
                        <a:t>18A01-Y020000030</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贴片阻</a:t>
                      </a:r>
                      <a:r>
                        <a:rPr lang="en-US" altLang="zh-CN" sz="900" dirty="0">
                          <a:latin typeface="微软雅黑" panose="020B0503020204020204" pitchFamily="34" charset="-122"/>
                          <a:ea typeface="微软雅黑" panose="020B0503020204020204" pitchFamily="34" charset="-122"/>
                        </a:rPr>
                        <a:t>,0402,02+1%,1/16W,ROHS2.0</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900" dirty="0">
                          <a:latin typeface="微软雅黑" panose="020B0503020204020204" pitchFamily="34" charset="-122"/>
                          <a:ea typeface="微软雅黑" panose="020B0503020204020204" pitchFamily="34" charset="-122"/>
                        </a:rPr>
                        <a:t>灯板</a:t>
                      </a:r>
                      <a:r>
                        <a:rPr lang="en-US" altLang="zh-CN" sz="900" dirty="0">
                          <a:latin typeface="微软雅黑" panose="020B0503020204020204" pitchFamily="34" charset="-122"/>
                          <a:ea typeface="微软雅黑" panose="020B0503020204020204" pitchFamily="34" charset="-122"/>
                        </a:rPr>
                        <a:t>PCB,</a:t>
                      </a:r>
                      <a:r>
                        <a:rPr lang="zh-CN" altLang="en-US" sz="900" dirty="0">
                          <a:latin typeface="微软雅黑" panose="020B0503020204020204" pitchFamily="34" charset="-122"/>
                          <a:ea typeface="微软雅黑" panose="020B0503020204020204" pitchFamily="34" charset="-122"/>
                        </a:rPr>
                        <a:t>中性</a:t>
                      </a:r>
                      <a:r>
                        <a:rPr lang="en-US" altLang="zh-CN" sz="900" dirty="0">
                          <a:latin typeface="微软雅黑" panose="020B0503020204020204" pitchFamily="34" charset="-122"/>
                          <a:ea typeface="微软雅黑" panose="020B0503020204020204" pitchFamily="34" charset="-122"/>
                        </a:rPr>
                        <a:t>,ULWI,P0.93 mm,P0.93-G010456,A01</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900" dirty="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a:txBody>
                  <a:tcPr anchor="ctr"/>
                </a:tc>
              </a:tr>
            </a:tbl>
          </a:graphicData>
        </a:graphic>
      </p:graphicFrame>
      <p:graphicFrame>
        <p:nvGraphicFramePr>
          <p:cNvPr id="11" name="表格 10"/>
          <p:cNvGraphicFramePr>
            <a:graphicFrameLocks noGrp="1"/>
          </p:cNvGraphicFramePr>
          <p:nvPr/>
        </p:nvGraphicFramePr>
        <p:xfrm>
          <a:off x="4599495" y="700311"/>
          <a:ext cx="3630871" cy="6091649"/>
        </p:xfrm>
        <a:graphic>
          <a:graphicData uri="http://schemas.openxmlformats.org/drawingml/2006/table">
            <a:tbl>
              <a:tblPr firstRow="1" bandRow="1">
                <a:tableStyleId>{7DF18680-E054-41AD-8BC1-D1AEF772440D}</a:tableStyleId>
              </a:tblPr>
              <a:tblGrid>
                <a:gridCol w="1066347"/>
                <a:gridCol w="1986247"/>
                <a:gridCol w="578277"/>
              </a:tblGrid>
              <a:tr h="292812">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物料清单</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单耗</a:t>
                      </a:r>
                      <a:endParaRPr lang="zh-CN" altLang="en-US" sz="1400" dirty="0">
                        <a:latin typeface="微软雅黑" panose="020B0503020204020204" pitchFamily="34" charset="-122"/>
                        <a:ea typeface="微软雅黑" panose="020B0503020204020204" pitchFamily="34" charset="-122"/>
                      </a:endParaRPr>
                    </a:p>
                  </a:txBody>
                  <a:tcPr anchor="ctr"/>
                </a:tc>
              </a:tr>
              <a:tr h="329650">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dirty="0">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木林森</a:t>
                      </a:r>
                      <a:r>
                        <a:rPr lang="en-US" altLang="zh-CN" sz="800" dirty="0">
                          <a:latin typeface="微软雅黑" panose="020B0503020204020204" pitchFamily="34" charset="-122"/>
                          <a:ea typeface="微软雅黑" panose="020B0503020204020204" pitchFamily="34" charset="-122"/>
                        </a:rPr>
                        <a:t>TOP</a:t>
                      </a:r>
                      <a:r>
                        <a:rPr lang="zh-CN" altLang="en-US" sz="800" dirty="0">
                          <a:latin typeface="微软雅黑" panose="020B0503020204020204" pitchFamily="34" charset="-122"/>
                          <a:ea typeface="微软雅黑" panose="020B0503020204020204" pitchFamily="34" charset="-122"/>
                        </a:rPr>
                        <a:t>铜线铜支架</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824-1212T3-ML-R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226346">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:ICND1065AP</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81001-YSS0P00018</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191582">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192793">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220491">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r h="286857">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兆驰铜线铜支架</a:t>
                      </a:r>
                      <a:endParaRPr lang="zh-CN" altLang="en-US"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824-121201-ZC-R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218518">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:ICND1065AP</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81001-YSS0P00018</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177542">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259809">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r h="370840">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国星铜线铜支架</a:t>
                      </a:r>
                      <a:endParaRPr lang="zh-CN" altLang="en-US"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824-121205-GX-R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:ICND1065AP</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81001-YSS0P00018</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233277">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182409">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bl>
          </a:graphicData>
        </a:graphic>
      </p:graphicFrame>
      <p:graphicFrame>
        <p:nvGraphicFramePr>
          <p:cNvPr id="13" name="表格 12"/>
          <p:cNvGraphicFramePr>
            <a:graphicFrameLocks noGrp="1"/>
          </p:cNvGraphicFramePr>
          <p:nvPr/>
        </p:nvGraphicFramePr>
        <p:xfrm>
          <a:off x="8397140" y="700311"/>
          <a:ext cx="3630871" cy="6091649"/>
        </p:xfrm>
        <a:graphic>
          <a:graphicData uri="http://schemas.openxmlformats.org/drawingml/2006/table">
            <a:tbl>
              <a:tblPr firstRow="1" bandRow="1">
                <a:tableStyleId>{7DF18680-E054-41AD-8BC1-D1AEF772440D}</a:tableStyleId>
              </a:tblPr>
              <a:tblGrid>
                <a:gridCol w="1066347"/>
                <a:gridCol w="1986247"/>
                <a:gridCol w="578277"/>
              </a:tblGrid>
              <a:tr h="298868">
                <a:tc>
                  <a:txBody>
                    <a:bodyPr/>
                    <a:lstStyle/>
                    <a:p>
                      <a:pPr algn="ctr"/>
                      <a:r>
                        <a:rPr lang="zh-CN" altLang="en-US" sz="1400" dirty="0">
                          <a:latin typeface="微软雅黑" panose="020B0503020204020204" pitchFamily="34" charset="-122"/>
                          <a:ea typeface="微软雅黑" panose="020B0503020204020204" pitchFamily="34" charset="-122"/>
                        </a:rPr>
                        <a:t>产品</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物料清单</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单耗</a:t>
                      </a:r>
                      <a:endParaRPr lang="zh-CN" altLang="en-US" sz="1400" dirty="0">
                        <a:latin typeface="微软雅黑" panose="020B0503020204020204" pitchFamily="34" charset="-122"/>
                        <a:ea typeface="微软雅黑" panose="020B0503020204020204" pitchFamily="34" charset="-122"/>
                      </a:endParaRPr>
                    </a:p>
                  </a:txBody>
                  <a:tcPr anchor="ctr"/>
                </a:tc>
              </a:tr>
              <a:tr h="329650">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dirty="0">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木林森</a:t>
                      </a:r>
                      <a:r>
                        <a:rPr lang="en-US" altLang="zh-CN" sz="800" dirty="0">
                          <a:latin typeface="微软雅黑" panose="020B0503020204020204" pitchFamily="34" charset="-122"/>
                          <a:ea typeface="微软雅黑" panose="020B0503020204020204" pitchFamily="34" charset="-122"/>
                        </a:rPr>
                        <a:t>TOP</a:t>
                      </a:r>
                      <a:r>
                        <a:rPr lang="zh-CN" altLang="en-US" sz="800" dirty="0">
                          <a:latin typeface="微软雅黑" panose="020B0503020204020204" pitchFamily="34" charset="-122"/>
                          <a:ea typeface="微软雅黑" panose="020B0503020204020204" pitchFamily="34" charset="-122"/>
                        </a:rPr>
                        <a:t>铜线铜支架</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824-1212T3-ML-R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226346">
                <a:tc vMerge="1">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:HX8865</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191582">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192793">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117826">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r h="286857">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兆驰铜线铜支架</a:t>
                      </a:r>
                      <a:endParaRPr lang="zh-CN" altLang="en-US"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824-121201-ZC-R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218518">
                <a:tc vMerge="1">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:HX8865</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177542">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259809">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r h="370840">
                <a:tc rowSpan="6">
                  <a:txBody>
                    <a:bodyPr/>
                    <a:lstStyle/>
                    <a:p>
                      <a:pPr algn="ctr"/>
                      <a:r>
                        <a:rPr lang="zh-CN" altLang="en-US" sz="800" dirty="0">
                          <a:latin typeface="微软雅黑" panose="020B0503020204020204" pitchFamily="34" charset="-122"/>
                          <a:ea typeface="微软雅黑" panose="020B0503020204020204" pitchFamily="34" charset="-122"/>
                        </a:rPr>
                        <a:t>屏体</a:t>
                      </a:r>
                      <a:r>
                        <a:rPr lang="en-US" altLang="zh-CN" sz="800" dirty="0">
                          <a:latin typeface="微软雅黑" panose="020B0503020204020204" pitchFamily="34" charset="-122"/>
                          <a:ea typeface="微软雅黑" panose="020B0503020204020204" pitchFamily="34" charset="-122"/>
                        </a:rPr>
                        <a:t>UDAⅡ-V200-R210125-C002</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灯珠</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国星铜线铜支架</a:t>
                      </a:r>
                      <a:endParaRPr lang="zh-CN" altLang="en-US"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824-121205-GX-R</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5</a:t>
                      </a:r>
                      <a:endParaRPr lang="zh-CN" altLang="en-US" sz="800" dirty="0">
                        <a:latin typeface="微软雅黑" panose="020B0503020204020204" pitchFamily="34" charset="-122"/>
                        <a:ea typeface="微软雅黑" panose="020B0503020204020204" pitchFamily="34" charset="-122"/>
                      </a:endParaRPr>
                    </a:p>
                  </a:txBody>
                  <a:tcPr anchor="ctr"/>
                </a:tc>
              </a:tr>
              <a:tr h="370840">
                <a:tc vMerge="1">
                  <a:tcPr anchor="ctr"/>
                </a:tc>
                <a:tc>
                  <a:txBody>
                    <a:bodyPr/>
                    <a:lstStyle/>
                    <a:p>
                      <a:pPr algn="ctr"/>
                      <a:r>
                        <a:rPr lang="zh-CN" altLang="en-US" sz="800" b="1" dirty="0">
                          <a:solidFill>
                            <a:srgbClr val="FF0000"/>
                          </a:solidFill>
                          <a:latin typeface="微软雅黑" panose="020B0503020204020204" pitchFamily="34" charset="-122"/>
                          <a:ea typeface="微软雅黑" panose="020B0503020204020204" pitchFamily="34" charset="-122"/>
                        </a:rPr>
                        <a:t>恒流</a:t>
                      </a:r>
                      <a:r>
                        <a:rPr lang="en-US" altLang="zh-CN" sz="800" dirty="0">
                          <a:latin typeface="微软雅黑" panose="020B0503020204020204" pitchFamily="34" charset="-122"/>
                          <a:ea typeface="微软雅黑" panose="020B0503020204020204" pitchFamily="34" charset="-122"/>
                        </a:rPr>
                        <a:t>:HX8865</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81001-YSS0P00001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a:t>
                      </a:r>
                      <a:endParaRPr lang="zh-CN" altLang="en-US" sz="800" dirty="0">
                        <a:latin typeface="微软雅黑" panose="020B0503020204020204" pitchFamily="34" charset="-122"/>
                        <a:ea typeface="微软雅黑" panose="020B0503020204020204" pitchFamily="34" charset="-122"/>
                      </a:endParaRPr>
                    </a:p>
                  </a:txBody>
                  <a:tcPr anchor="ctr"/>
                </a:tc>
              </a:tr>
              <a:tr h="233277">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行管</a:t>
                      </a:r>
                      <a:r>
                        <a:rPr lang="en-US" altLang="zh-CN" sz="800" dirty="0">
                          <a:latin typeface="微软雅黑" panose="020B0503020204020204" pitchFamily="34" charset="-122"/>
                          <a:ea typeface="微软雅黑" panose="020B0503020204020204" pitchFamily="34" charset="-122"/>
                        </a:rPr>
                        <a:t>:HX6158</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81002-Y0000023</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6</a:t>
                      </a:r>
                      <a:endParaRPr lang="zh-CN" altLang="en-US" sz="800" dirty="0">
                        <a:latin typeface="微软雅黑" panose="020B0503020204020204" pitchFamily="34" charset="-122"/>
                        <a:ea typeface="微软雅黑" panose="020B0503020204020204" pitchFamily="34" charset="-122"/>
                      </a:endParaRPr>
                    </a:p>
                  </a:txBody>
                  <a:tcPr anchor="ctr"/>
                </a:tc>
              </a:tr>
              <a:tr h="182409">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电源型号</a:t>
                      </a:r>
                      <a:r>
                        <a:rPr lang="en-US" altLang="zh-CN" sz="800" dirty="0">
                          <a:latin typeface="微软雅黑" panose="020B0503020204020204" pitchFamily="34" charset="-122"/>
                          <a:ea typeface="微软雅黑" panose="020B0503020204020204" pitchFamily="34" charset="-122"/>
                        </a:rPr>
                        <a:t>:TV200PC3.8D</a:t>
                      </a:r>
                      <a:endParaRPr lang="en-US" altLang="zh-CN" sz="800" dirty="0">
                        <a:latin typeface="微软雅黑" panose="020B0503020204020204" pitchFamily="34" charset="-122"/>
                        <a:ea typeface="微软雅黑" panose="020B0503020204020204" pitchFamily="34" charset="-122"/>
                      </a:endParaRPr>
                    </a:p>
                    <a:p>
                      <a:pPr algn="ctr"/>
                      <a:r>
                        <a:rPr lang="en-US" altLang="zh-CN" sz="800" dirty="0">
                          <a:latin typeface="微软雅黑" panose="020B0503020204020204" pitchFamily="34" charset="-122"/>
                          <a:ea typeface="微软雅黑" panose="020B0503020204020204" pitchFamily="34" charset="-122"/>
                        </a:rPr>
                        <a:t>18A01-Y017100015</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4</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贴片阻</a:t>
                      </a:r>
                      <a:r>
                        <a:rPr lang="en-US" altLang="zh-CN" sz="800" dirty="0">
                          <a:latin typeface="微软雅黑" panose="020B0503020204020204" pitchFamily="34" charset="-122"/>
                          <a:ea typeface="微软雅黑" panose="020B0503020204020204" pitchFamily="34" charset="-122"/>
                        </a:rPr>
                        <a:t>,0402,02+1%,1/16W,ROHS2.0</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10</a:t>
                      </a:r>
                      <a:endParaRPr lang="zh-CN" altLang="en-US" sz="800" dirty="0">
                        <a:latin typeface="微软雅黑" panose="020B0503020204020204" pitchFamily="34" charset="-122"/>
                        <a:ea typeface="微软雅黑" panose="020B0503020204020204" pitchFamily="34" charset="-122"/>
                      </a:endParaRPr>
                    </a:p>
                  </a:txBody>
                  <a:tcPr anchor="ctr"/>
                </a:tc>
              </a:tr>
              <a:tr h="0">
                <a:tc vMerge="1">
                  <a:tcPr anchor="ctr"/>
                </a:tc>
                <a:tc>
                  <a:txBody>
                    <a:bodyPr/>
                    <a:lstStyle/>
                    <a:p>
                      <a:pPr algn="ctr"/>
                      <a:r>
                        <a:rPr lang="zh-CN" altLang="en-US" sz="800" dirty="0">
                          <a:latin typeface="微软雅黑" panose="020B0503020204020204" pitchFamily="34" charset="-122"/>
                          <a:ea typeface="微软雅黑" panose="020B0503020204020204" pitchFamily="34" charset="-122"/>
                        </a:rPr>
                        <a:t>灯板</a:t>
                      </a:r>
                      <a:r>
                        <a:rPr lang="en-US" altLang="zh-CN" sz="800" dirty="0">
                          <a:latin typeface="微软雅黑" panose="020B0503020204020204" pitchFamily="34" charset="-122"/>
                          <a:ea typeface="微软雅黑" panose="020B0503020204020204" pitchFamily="34" charset="-122"/>
                        </a:rPr>
                        <a:t>PCB,</a:t>
                      </a:r>
                      <a:r>
                        <a:rPr lang="zh-CN" altLang="en-US" sz="800" dirty="0">
                          <a:latin typeface="微软雅黑" panose="020B0503020204020204" pitchFamily="34" charset="-122"/>
                          <a:ea typeface="微软雅黑" panose="020B0503020204020204" pitchFamily="34" charset="-122"/>
                        </a:rPr>
                        <a:t>中性</a:t>
                      </a:r>
                      <a:r>
                        <a:rPr lang="en-US" altLang="zh-CN" sz="800" dirty="0">
                          <a:latin typeface="微软雅黑" panose="020B0503020204020204" pitchFamily="34" charset="-122"/>
                          <a:ea typeface="微软雅黑" panose="020B0503020204020204" pitchFamily="34" charset="-122"/>
                        </a:rPr>
                        <a:t>,ULWI,P0.93 mm,P0.93-G010456,A01</a:t>
                      </a:r>
                      <a:endParaRPr lang="zh-CN" altLang="en-US" sz="8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800" dirty="0">
                          <a:latin typeface="微软雅黑" panose="020B0503020204020204" pitchFamily="34" charset="-122"/>
                          <a:ea typeface="微软雅黑" panose="020B0503020204020204" pitchFamily="34" charset="-122"/>
                        </a:rPr>
                        <a:t>20</a:t>
                      </a:r>
                      <a:endParaRPr lang="zh-CN" altLang="en-US" sz="800" dirty="0">
                        <a:latin typeface="微软雅黑" panose="020B0503020204020204" pitchFamily="34" charset="-122"/>
                        <a:ea typeface="微软雅黑" panose="020B0503020204020204" pitchFamily="34" charset="-122"/>
                      </a:endParaRPr>
                    </a:p>
                  </a:txBody>
                  <a:tcPr anchor="ctr"/>
                </a:tc>
              </a:tr>
            </a:tbl>
          </a:graphicData>
        </a:graphic>
      </p:graphicFrame>
      <p:sp>
        <p:nvSpPr>
          <p:cNvPr id="15" name="右箭头 232"/>
          <p:cNvSpPr/>
          <p:nvPr/>
        </p:nvSpPr>
        <p:spPr>
          <a:xfrm>
            <a:off x="3936819" y="1630624"/>
            <a:ext cx="360000" cy="432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6" name="右箭头 232"/>
          <p:cNvSpPr/>
          <p:nvPr/>
        </p:nvSpPr>
        <p:spPr>
          <a:xfrm rot="19941686">
            <a:off x="3956760" y="2777048"/>
            <a:ext cx="360000" cy="432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21314" y="6363077"/>
            <a:ext cx="4631801" cy="428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rgbClr val="FF0000"/>
                </a:solidFill>
                <a:latin typeface="微软雅黑" panose="020B0503020204020204" pitchFamily="34" charset="-122"/>
                <a:ea typeface="微软雅黑" panose="020B0503020204020204" pitchFamily="34" charset="-122"/>
              </a:rPr>
              <a:t>产品标准</a:t>
            </a:r>
            <a:r>
              <a:rPr lang="en-US" altLang="zh-CN" sz="1400" b="1" dirty="0">
                <a:solidFill>
                  <a:srgbClr val="FF0000"/>
                </a:solidFill>
                <a:latin typeface="微软雅黑" panose="020B0503020204020204" pitchFamily="34" charset="-122"/>
                <a:ea typeface="微软雅黑" panose="020B0503020204020204" pitchFamily="34" charset="-122"/>
              </a:rPr>
              <a:t>BOM+</a:t>
            </a:r>
            <a:r>
              <a:rPr lang="zh-CN" altLang="en-US" sz="1400" b="1" dirty="0">
                <a:solidFill>
                  <a:srgbClr val="FF0000"/>
                </a:solidFill>
                <a:latin typeface="微软雅黑" panose="020B0503020204020204" pitchFamily="34" charset="-122"/>
                <a:ea typeface="微软雅黑" panose="020B0503020204020204" pitchFamily="34" charset="-122"/>
              </a:rPr>
              <a:t>替代规则自生成</a:t>
            </a:r>
            <a:r>
              <a:rPr lang="en-US" altLang="zh-CN" sz="1400" b="1" dirty="0">
                <a:solidFill>
                  <a:srgbClr val="FF0000"/>
                </a:solidFill>
                <a:latin typeface="微软雅黑" panose="020B0503020204020204" pitchFamily="34" charset="-122"/>
                <a:ea typeface="微软雅黑" panose="020B0503020204020204" pitchFamily="34" charset="-122"/>
              </a:rPr>
              <a:t>BOM</a:t>
            </a:r>
            <a:r>
              <a:rPr lang="zh-CN" altLang="en-US" sz="1400" b="1" dirty="0">
                <a:solidFill>
                  <a:srgbClr val="FF0000"/>
                </a:solidFill>
                <a:latin typeface="微软雅黑" panose="020B0503020204020204" pitchFamily="34" charset="-122"/>
                <a:ea typeface="微软雅黑" panose="020B0503020204020204" pitchFamily="34" charset="-122"/>
              </a:rPr>
              <a:t>种类：</a:t>
            </a:r>
            <a:r>
              <a:rPr lang="en-US" altLang="zh-CN" sz="1400" b="1" dirty="0">
                <a:solidFill>
                  <a:srgbClr val="FF0000"/>
                </a:solidFill>
                <a:latin typeface="微软雅黑" panose="020B0503020204020204" pitchFamily="34" charset="-122"/>
                <a:ea typeface="微软雅黑" panose="020B0503020204020204" pitchFamily="34" charset="-122"/>
              </a:rPr>
              <a:t>3*2*2*2=24</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19" name="灯片编号占位符 18"/>
          <p:cNvSpPr>
            <a:spLocks noGrp="1"/>
          </p:cNvSpPr>
          <p:nvPr/>
        </p:nvSpPr>
        <p:spPr>
          <a:xfrm>
            <a:off x="5930644" y="6741115"/>
            <a:ext cx="587830" cy="243886"/>
          </a:xfrm>
          <a:prstGeom prst="rect">
            <a:avLst/>
          </a:prstGeom>
          <a:noFill/>
        </p:spPr>
        <p:txBody>
          <a:bodyPr lIns="36000" rIns="36000"/>
          <a:lstStyle>
            <a:defPPr>
              <a:defRPr lang="zh-CN"/>
            </a:defPPr>
            <a:lvl1pPr marL="0" algn="ctr" defTabSz="914400" rtl="0" eaLnBrk="1" latinLnBrk="0" hangingPunct="1">
              <a:defRPr sz="950" b="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9B06DC-B081-48FF-B3C8-294D2105EA92}" type="slidenum">
              <a:rPr lang="zh-CN" altLang="en-US" smtClean="0"/>
            </a:fld>
            <a:endParaRPr lang="zh-CN" altLang="en-US" dirty="0"/>
          </a:p>
        </p:txBody>
      </p:sp>
      <p:sp>
        <p:nvSpPr>
          <p:cNvPr id="5" name="文本框 4"/>
          <p:cNvSpPr txBox="1"/>
          <p:nvPr/>
        </p:nvSpPr>
        <p:spPr>
          <a:xfrm rot="20040000">
            <a:off x="3287190" y="824510"/>
            <a:ext cx="1659255" cy="645160"/>
          </a:xfrm>
          <a:prstGeom prst="rect">
            <a:avLst/>
          </a:prstGeom>
          <a:noFill/>
        </p:spPr>
        <p:txBody>
          <a:bodyPr wrap="square" rtlCol="0">
            <a:spAutoFit/>
          </a:bodyPr>
          <a:lstStyle/>
          <a:p>
            <a:pPr algn="ctr"/>
            <a:r>
              <a:rPr lang="zh-CN" altLang="en-US" sz="3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示例</a:t>
            </a:r>
            <a:endParaRPr lang="zh-CN" altLang="en-US" sz="3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产品基准价测算详细方案：产品材料成本</a:t>
            </a:r>
            <a:r>
              <a:rPr lang="en-US" altLang="zh-CN" dirty="0">
                <a:sym typeface="+mn-ea"/>
              </a:rPr>
              <a:t>&amp;</a:t>
            </a:r>
            <a:r>
              <a:rPr lang="zh-CN" altLang="en-US" dirty="0">
                <a:sym typeface="+mn-ea"/>
              </a:rPr>
              <a:t>制费生成</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6" name="表格 5"/>
          <p:cNvGraphicFramePr>
            <a:graphicFrameLocks noGrp="1"/>
          </p:cNvGraphicFramePr>
          <p:nvPr/>
        </p:nvGraphicFramePr>
        <p:xfrm>
          <a:off x="566653" y="698818"/>
          <a:ext cx="11184015" cy="2934079"/>
        </p:xfrm>
        <a:graphic>
          <a:graphicData uri="http://schemas.openxmlformats.org/drawingml/2006/table">
            <a:tbl>
              <a:tblPr firstRow="1" bandRow="1">
                <a:tableStyleId>{5A111915-BE36-4E01-A7E5-04B1672EAD32}</a:tableStyleId>
              </a:tblPr>
              <a:tblGrid>
                <a:gridCol w="655513"/>
                <a:gridCol w="10528502"/>
              </a:tblGrid>
              <a:tr h="1366152">
                <a:tc>
                  <a:txBody>
                    <a:bodyPr/>
                    <a:lstStyle/>
                    <a:p>
                      <a:r>
                        <a:rPr lang="zh-CN" altLang="en-US" sz="1700" dirty="0">
                          <a:latin typeface="微软雅黑" panose="020B0503020204020204" pitchFamily="34" charset="-122"/>
                          <a:ea typeface="微软雅黑" panose="020B0503020204020204" pitchFamily="34" charset="-122"/>
                        </a:rPr>
                        <a:t>方案</a:t>
                      </a:r>
                      <a:endParaRPr lang="en-US" altLang="zh-CN" sz="1700" dirty="0">
                        <a:latin typeface="微软雅黑" panose="020B0503020204020204" pitchFamily="34" charset="-122"/>
                        <a:ea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rPr>
                        <a:t>说明</a:t>
                      </a:r>
                      <a:endParaRPr lang="zh-CN" altLang="en-US" sz="1700" dirty="0">
                        <a:latin typeface="微软雅黑" panose="020B0503020204020204" pitchFamily="34" charset="-122"/>
                        <a:ea typeface="微软雅黑" panose="020B0503020204020204" pitchFamily="34" charset="-122"/>
                      </a:endParaRPr>
                    </a:p>
                  </a:txBody>
                  <a:tcPr marL="91438" marR="91438" marT="45719" marB="45719" anchor="ctr"/>
                </a:tc>
                <a:tc>
                  <a:txBody>
                    <a:bodyPr/>
                    <a:lstStyle/>
                    <a:p>
                      <a:pPr marL="285750" indent="-285750" fontAlgn="auto">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材料采购价格，一部分从</a:t>
                      </a:r>
                      <a:r>
                        <a:rPr lang="en-US" altLang="zh-CN" sz="1400" dirty="0">
                          <a:solidFill>
                            <a:schemeClr val="tx1"/>
                          </a:solidFill>
                          <a:latin typeface="微软雅黑" panose="020B0503020204020204" pitchFamily="34" charset="-122"/>
                          <a:ea typeface="微软雅黑" panose="020B0503020204020204" pitchFamily="34" charset="-122"/>
                        </a:rPr>
                        <a:t>SAP</a:t>
                      </a:r>
                      <a:r>
                        <a:rPr lang="zh-CN" altLang="en-US" sz="1400" dirty="0">
                          <a:solidFill>
                            <a:schemeClr val="tx1"/>
                          </a:solidFill>
                          <a:latin typeface="微软雅黑" panose="020B0503020204020204" pitchFamily="34" charset="-122"/>
                          <a:ea typeface="微软雅黑" panose="020B0503020204020204" pitchFamily="34" charset="-122"/>
                        </a:rPr>
                        <a:t>的</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竞价表获取（</a:t>
                      </a:r>
                      <a:r>
                        <a:rPr lang="en-US" altLang="zh-CN" sz="1400" dirty="0">
                          <a:solidFill>
                            <a:schemeClr val="tx1"/>
                          </a:solidFill>
                          <a:latin typeface="微软雅黑" panose="020B0503020204020204" pitchFamily="34" charset="-122"/>
                          <a:ea typeface="微软雅黑" panose="020B0503020204020204" pitchFamily="34" charset="-122"/>
                        </a:rPr>
                        <a:t>ZBB175</a:t>
                      </a:r>
                      <a:r>
                        <a:rPr lang="zh-CN" altLang="en-US" sz="1400" dirty="0">
                          <a:solidFill>
                            <a:schemeClr val="tx1"/>
                          </a:solidFill>
                          <a:latin typeface="微软雅黑" panose="020B0503020204020204" pitchFamily="34" charset="-122"/>
                          <a:ea typeface="微软雅黑" panose="020B0503020204020204" pitchFamily="34" charset="-122"/>
                        </a:rPr>
                        <a:t>，从</a:t>
                      </a:r>
                      <a:r>
                        <a:rPr lang="en-US" altLang="zh-CN" sz="1400" dirty="0">
                          <a:solidFill>
                            <a:schemeClr val="tx1"/>
                          </a:solidFill>
                          <a:latin typeface="微软雅黑" panose="020B0503020204020204" pitchFamily="34" charset="-122"/>
                          <a:ea typeface="微软雅黑" panose="020B0503020204020204" pitchFamily="34" charset="-122"/>
                        </a:rPr>
                        <a:t>SAP</a:t>
                      </a:r>
                      <a:r>
                        <a:rPr lang="zh-CN" altLang="en-US" sz="1400" dirty="0">
                          <a:solidFill>
                            <a:schemeClr val="tx1"/>
                          </a:solidFill>
                          <a:latin typeface="微软雅黑" panose="020B0503020204020204" pitchFamily="34" charset="-122"/>
                          <a:ea typeface="微软雅黑" panose="020B0503020204020204" pitchFamily="34" charset="-122"/>
                        </a:rPr>
                        <a:t>的采购信息记录表，该信息来自于</a:t>
                      </a:r>
                      <a:r>
                        <a:rPr lang="en-US" altLang="zh-CN" sz="1400" dirty="0">
                          <a:solidFill>
                            <a:schemeClr val="tx1"/>
                          </a:solidFill>
                          <a:latin typeface="微软雅黑" panose="020B0503020204020204" pitchFamily="34" charset="-122"/>
                          <a:ea typeface="微软雅黑" panose="020B0503020204020204" pitchFamily="34" charset="-122"/>
                        </a:rPr>
                        <a:t>SRM</a:t>
                      </a:r>
                      <a:r>
                        <a:rPr lang="zh-CN" altLang="en-US" sz="1400" dirty="0">
                          <a:solidFill>
                            <a:schemeClr val="tx1"/>
                          </a:solidFill>
                          <a:latin typeface="微软雅黑" panose="020B0503020204020204" pitchFamily="34" charset="-122"/>
                          <a:ea typeface="微软雅黑" panose="020B0503020204020204" pitchFamily="34" charset="-122"/>
                        </a:rPr>
                        <a:t>维护的采购价格）最低价、最高价、最近价，一部分从物料主数据同步，上面的</a:t>
                      </a:r>
                      <a:r>
                        <a:rPr lang="en-US" altLang="zh-CN" sz="1400" dirty="0">
                          <a:solidFill>
                            <a:schemeClr val="tx1"/>
                          </a:solidFill>
                          <a:latin typeface="微软雅黑" panose="020B0503020204020204" pitchFamily="34" charset="-122"/>
                          <a:ea typeface="微软雅黑" panose="020B0503020204020204" pitchFamily="34" charset="-122"/>
                        </a:rPr>
                        <a:t>S</a:t>
                      </a:r>
                      <a:r>
                        <a:rPr lang="zh-CN" altLang="en-US" sz="1400" dirty="0">
                          <a:solidFill>
                            <a:schemeClr val="tx1"/>
                          </a:solidFill>
                          <a:latin typeface="微软雅黑" panose="020B0503020204020204" pitchFamily="34" charset="-122"/>
                          <a:ea typeface="微软雅黑" panose="020B0503020204020204" pitchFamily="34" charset="-122"/>
                        </a:rPr>
                        <a:t>价格是财务每个月输入的预估价，</a:t>
                      </a:r>
                      <a:r>
                        <a:rPr lang="en-US" altLang="zh-CN" sz="1400" dirty="0">
                          <a:solidFill>
                            <a:schemeClr val="tx1"/>
                          </a:solidFill>
                          <a:latin typeface="微软雅黑" panose="020B0503020204020204" pitchFamily="34" charset="-122"/>
                          <a:ea typeface="微软雅黑" panose="020B0503020204020204" pitchFamily="34" charset="-122"/>
                        </a:rPr>
                        <a:t>V</a:t>
                      </a:r>
                      <a:r>
                        <a:rPr lang="zh-CN" altLang="en-US" sz="1400" dirty="0">
                          <a:solidFill>
                            <a:schemeClr val="tx1"/>
                          </a:solidFill>
                          <a:latin typeface="微软雅黑" panose="020B0503020204020204" pitchFamily="34" charset="-122"/>
                          <a:ea typeface="微软雅黑" panose="020B0503020204020204" pitchFamily="34" charset="-122"/>
                        </a:rPr>
                        <a:t>价格是库存移动加权平均价。</a:t>
                      </a:r>
                      <a:endParaRPr lang="en-US" altLang="zh-CN" sz="1400"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如果物料是新建，会存在物料</a:t>
                      </a:r>
                      <a:r>
                        <a:rPr lang="zh-CN" altLang="en-US" sz="1400" dirty="0">
                          <a:solidFill>
                            <a:srgbClr val="FF0000"/>
                          </a:solidFill>
                          <a:latin typeface="微软雅黑" panose="020B0503020204020204" pitchFamily="34" charset="-122"/>
                          <a:ea typeface="微软雅黑" panose="020B0503020204020204" pitchFamily="34" charset="-122"/>
                        </a:rPr>
                        <a:t>无采购业务、无报价、无主数据价格</a:t>
                      </a:r>
                      <a:r>
                        <a:rPr lang="zh-CN" altLang="en-US" sz="1400" dirty="0">
                          <a:solidFill>
                            <a:schemeClr val="tx1"/>
                          </a:solidFill>
                          <a:latin typeface="微软雅黑" panose="020B0503020204020204" pitchFamily="34" charset="-122"/>
                          <a:ea typeface="微软雅黑" panose="020B0503020204020204" pitchFamily="34" charset="-122"/>
                        </a:rPr>
                        <a:t>的情况，需要采购前置。当前首次采购的新物料，采购要有实际订单需要时才维护</a:t>
                      </a:r>
                      <a:r>
                        <a:rPr lang="en-US" altLang="zh-CN" sz="1400" dirty="0">
                          <a:solidFill>
                            <a:schemeClr val="tx1"/>
                          </a:solidFill>
                          <a:latin typeface="微软雅黑" panose="020B0503020204020204" pitchFamily="34" charset="-122"/>
                          <a:ea typeface="微软雅黑" panose="020B0503020204020204" pitchFamily="34" charset="-122"/>
                        </a:rPr>
                        <a:t>SAP</a:t>
                      </a:r>
                      <a:r>
                        <a:rPr lang="zh-CN" altLang="en-US" sz="1400" dirty="0">
                          <a:solidFill>
                            <a:schemeClr val="tx1"/>
                          </a:solidFill>
                          <a:latin typeface="微软雅黑" panose="020B0503020204020204" pitchFamily="34" charset="-122"/>
                          <a:ea typeface="微软雅黑" panose="020B0503020204020204" pitchFamily="34" charset="-122"/>
                        </a:rPr>
                        <a:t>系统成本，而财务要拿到产品实际成本审批毛利后才能下达订单需求，这两个点</a:t>
                      </a:r>
                      <a:r>
                        <a:rPr lang="zh-CN" altLang="en-US" sz="1400" dirty="0">
                          <a:solidFill>
                            <a:srgbClr val="FF0000"/>
                          </a:solidFill>
                          <a:latin typeface="微软雅黑" panose="020B0503020204020204" pitchFamily="34" charset="-122"/>
                          <a:ea typeface="微软雅黑" panose="020B0503020204020204" pitchFamily="34" charset="-122"/>
                        </a:rPr>
                        <a:t>存在冲突，需要优化</a:t>
                      </a:r>
                      <a:r>
                        <a:rPr lang="zh-CN" altLang="en-US" sz="1400" dirty="0">
                          <a:solidFill>
                            <a:schemeClr val="tx1"/>
                          </a:solidFill>
                          <a:latin typeface="微软雅黑" panose="020B0503020204020204" pitchFamily="34" charset="-122"/>
                          <a:ea typeface="微软雅黑" panose="020B0503020204020204" pitchFamily="34" charset="-122"/>
                        </a:rPr>
                        <a:t>。</a:t>
                      </a:r>
                      <a:endParaRPr lang="en-US" altLang="zh-CN" sz="1400"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物料主数据的基本计量单位跟</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中的用量单位不一致，当前</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对用量</a:t>
                      </a:r>
                      <a:r>
                        <a:rPr lang="zh-CN" altLang="en-US" sz="1400" dirty="0">
                          <a:solidFill>
                            <a:srgbClr val="FF0000"/>
                          </a:solidFill>
                          <a:latin typeface="微软雅黑" panose="020B0503020204020204" pitchFamily="34" charset="-122"/>
                          <a:ea typeface="微软雅黑" panose="020B0503020204020204" pitchFamily="34" charset="-122"/>
                        </a:rPr>
                        <a:t>限制了</a:t>
                      </a:r>
                      <a:r>
                        <a:rPr lang="en-US" altLang="zh-CN" sz="1400" dirty="0">
                          <a:solidFill>
                            <a:srgbClr val="FF0000"/>
                          </a:solidFill>
                          <a:latin typeface="微软雅黑" panose="020B0503020204020204" pitchFamily="34" charset="-122"/>
                          <a:ea typeface="微软雅黑" panose="020B0503020204020204" pitchFamily="34" charset="-122"/>
                        </a:rPr>
                        <a:t>3</a:t>
                      </a:r>
                      <a:r>
                        <a:rPr lang="zh-CN" altLang="en-US" sz="1400" dirty="0">
                          <a:solidFill>
                            <a:srgbClr val="FF0000"/>
                          </a:solidFill>
                          <a:latin typeface="微软雅黑" panose="020B0503020204020204" pitchFamily="34" charset="-122"/>
                          <a:ea typeface="微软雅黑" panose="020B0503020204020204" pitchFamily="34" charset="-122"/>
                        </a:rPr>
                        <a:t>位小数位数</a:t>
                      </a:r>
                      <a:r>
                        <a:rPr lang="zh-CN" altLang="en-US" sz="1400" dirty="0">
                          <a:solidFill>
                            <a:schemeClr val="tx1"/>
                          </a:solidFill>
                          <a:latin typeface="微软雅黑" panose="020B0503020204020204" pitchFamily="34" charset="-122"/>
                          <a:ea typeface="微软雅黑" panose="020B0503020204020204" pitchFamily="34" charset="-122"/>
                        </a:rPr>
                        <a:t>，导致部分物料只能使用小单位（</a:t>
                      </a:r>
                      <a:r>
                        <a:rPr lang="en-US" altLang="zh-CN" sz="1400" dirty="0">
                          <a:solidFill>
                            <a:schemeClr val="tx1"/>
                          </a:solidFill>
                          <a:latin typeface="微软雅黑" panose="020B0503020204020204" pitchFamily="34" charset="-122"/>
                          <a:ea typeface="微软雅黑" panose="020B0503020204020204" pitchFamily="34" charset="-122"/>
                        </a:rPr>
                        <a:t>G/ML</a:t>
                      </a:r>
                      <a:r>
                        <a:rPr lang="zh-CN" altLang="en-US" sz="1400" dirty="0">
                          <a:solidFill>
                            <a:schemeClr val="tx1"/>
                          </a:solidFill>
                          <a:latin typeface="微软雅黑" panose="020B0503020204020204" pitchFamily="34" charset="-122"/>
                          <a:ea typeface="微软雅黑" panose="020B0503020204020204" pitchFamily="34" charset="-122"/>
                        </a:rPr>
                        <a:t>），无法使用大单位（</a:t>
                      </a:r>
                      <a:r>
                        <a:rPr lang="en-US" altLang="zh-CN" sz="1400" dirty="0">
                          <a:solidFill>
                            <a:schemeClr val="tx1"/>
                          </a:solidFill>
                          <a:latin typeface="微软雅黑" panose="020B0503020204020204" pitchFamily="34" charset="-122"/>
                          <a:ea typeface="微软雅黑" panose="020B0503020204020204" pitchFamily="34" charset="-122"/>
                        </a:rPr>
                        <a:t>KG/L</a:t>
                      </a:r>
                      <a:r>
                        <a:rPr lang="zh-CN" altLang="en-US" sz="1400" dirty="0">
                          <a:solidFill>
                            <a:schemeClr val="tx1"/>
                          </a:solidFill>
                          <a:latin typeface="微软雅黑" panose="020B0503020204020204" pitchFamily="34" charset="-122"/>
                          <a:ea typeface="微软雅黑" panose="020B0503020204020204" pitchFamily="34" charset="-122"/>
                        </a:rPr>
                        <a:t>）。因此需要</a:t>
                      </a:r>
                      <a:r>
                        <a:rPr lang="zh-CN" altLang="en-US" sz="1400" dirty="0">
                          <a:solidFill>
                            <a:srgbClr val="FF0000"/>
                          </a:solidFill>
                          <a:latin typeface="微软雅黑" panose="020B0503020204020204" pitchFamily="34" charset="-122"/>
                          <a:ea typeface="微软雅黑" panose="020B0503020204020204" pitchFamily="34" charset="-122"/>
                        </a:rPr>
                        <a:t>明确单位换算的规则</a:t>
                      </a:r>
                      <a:r>
                        <a:rPr lang="zh-CN" altLang="en-US" sz="1400" dirty="0">
                          <a:solidFill>
                            <a:schemeClr val="tx1"/>
                          </a:solidFill>
                          <a:latin typeface="微软雅黑" panose="020B0503020204020204" pitchFamily="34" charset="-122"/>
                          <a:ea typeface="微软雅黑" panose="020B0503020204020204" pitchFamily="34" charset="-122"/>
                        </a:rPr>
                        <a:t>，待梳理</a:t>
                      </a:r>
                      <a:r>
                        <a:rPr lang="en-US" altLang="zh-CN" sz="1400" dirty="0">
                          <a:solidFill>
                            <a:schemeClr val="tx1"/>
                          </a:solidFill>
                          <a:latin typeface="微软雅黑" panose="020B0503020204020204" pitchFamily="34" charset="-122"/>
                          <a:ea typeface="微软雅黑" panose="020B0503020204020204" pitchFamily="34" charset="-122"/>
                        </a:rPr>
                        <a:t>SAP</a:t>
                      </a:r>
                      <a:r>
                        <a:rPr lang="zh-CN" altLang="en-US" sz="1400" dirty="0">
                          <a:solidFill>
                            <a:schemeClr val="tx1"/>
                          </a:solidFill>
                          <a:latin typeface="微软雅黑" panose="020B0503020204020204" pitchFamily="34" charset="-122"/>
                          <a:ea typeface="微软雅黑" panose="020B0503020204020204" pitchFamily="34" charset="-122"/>
                        </a:rPr>
                        <a:t>单位换算的规则后确定。</a:t>
                      </a:r>
                      <a:endParaRPr lang="en-US" altLang="zh-CN" sz="1400"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工单损耗在基准价测算保留填报入口，由成本工程师按产品进行维护，不填写则默认不考虑工单损耗。</a:t>
                      </a:r>
                      <a:r>
                        <a:rPr lang="zh-CN" altLang="en-US" sz="1400" dirty="0">
                          <a:solidFill>
                            <a:srgbClr val="FF0000"/>
                          </a:solidFill>
                          <a:latin typeface="微软雅黑" panose="020B0503020204020204" pitchFamily="34" charset="-122"/>
                          <a:ea typeface="微软雅黑" panose="020B0503020204020204" pitchFamily="34" charset="-122"/>
                        </a:rPr>
                        <a:t>需与</a:t>
                      </a:r>
                      <a:r>
                        <a:rPr lang="en-US" altLang="zh-CN" sz="1400" dirty="0">
                          <a:solidFill>
                            <a:srgbClr val="FF0000"/>
                          </a:solidFill>
                          <a:latin typeface="微软雅黑" panose="020B0503020204020204" pitchFamily="34" charset="-122"/>
                          <a:ea typeface="微软雅黑" panose="020B0503020204020204" pitchFamily="34" charset="-122"/>
                        </a:rPr>
                        <a:t>PMC</a:t>
                      </a:r>
                      <a:r>
                        <a:rPr lang="zh-CN" altLang="en-US" sz="1400" dirty="0">
                          <a:solidFill>
                            <a:srgbClr val="FF0000"/>
                          </a:solidFill>
                          <a:latin typeface="微软雅黑" panose="020B0503020204020204" pitchFamily="34" charset="-122"/>
                          <a:ea typeface="微软雅黑" panose="020B0503020204020204" pitchFamily="34" charset="-122"/>
                        </a:rPr>
                        <a:t>确认是否有遗漏。</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gn="l" fontAlgn="auto">
                        <a:lnSpc>
                          <a:spcPct val="150000"/>
                        </a:lnSpc>
                        <a:buClr>
                          <a:schemeClr val="tx1"/>
                        </a:buClr>
                        <a:buSzTx/>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sym typeface="+mn-ea"/>
                        </a:rPr>
                        <a:t>制费率维护时，需要明确维护的颗粒度，当前财务仅能提供明细到产品线的颗粒度，成本工程师希望能够维护到产品系列</a:t>
                      </a:r>
                      <a:r>
                        <a:rPr lang="en-US" altLang="zh-CN" sz="1400" dirty="0">
                          <a:solidFill>
                            <a:schemeClr val="tx1"/>
                          </a:solidFill>
                          <a:latin typeface="微软雅黑" panose="020B0503020204020204" pitchFamily="34" charset="-122"/>
                          <a:ea typeface="微软雅黑" panose="020B0503020204020204" pitchFamily="34" charset="-122"/>
                          <a:sym typeface="+mn-ea"/>
                        </a:rPr>
                        <a:t>/</a:t>
                      </a:r>
                      <a:r>
                        <a:rPr lang="zh-CN" altLang="en-US" sz="1400" dirty="0">
                          <a:solidFill>
                            <a:schemeClr val="tx1"/>
                          </a:solidFill>
                          <a:latin typeface="微软雅黑" panose="020B0503020204020204" pitchFamily="34" charset="-122"/>
                          <a:ea typeface="微软雅黑" panose="020B0503020204020204" pitchFamily="34" charset="-122"/>
                          <a:sym typeface="+mn-ea"/>
                        </a:rPr>
                        <a:t>明细产品。</a:t>
                      </a:r>
                      <a:r>
                        <a:rPr lang="zh-CN" altLang="en-US" sz="1400" dirty="0">
                          <a:solidFill>
                            <a:srgbClr val="FF0000"/>
                          </a:solidFill>
                          <a:latin typeface="微软雅黑" panose="020B0503020204020204" pitchFamily="34" charset="-122"/>
                          <a:ea typeface="微软雅黑" panose="020B0503020204020204" pitchFamily="34" charset="-122"/>
                          <a:sym typeface="+mn-ea"/>
                        </a:rPr>
                        <a:t>已收集制费率维护痛点，需要与万总、王总、拓总沟通后达成一致</a:t>
                      </a:r>
                      <a:endParaRPr lang="en-US" altLang="zh-CN" sz="1400" dirty="0">
                        <a:solidFill>
                          <a:schemeClr val="tx1"/>
                        </a:solidFill>
                        <a:latin typeface="微软雅黑" panose="020B0503020204020204" pitchFamily="34" charset="-122"/>
                        <a:ea typeface="微软雅黑" panose="020B0503020204020204" pitchFamily="34" charset="-122"/>
                      </a:endParaRPr>
                    </a:p>
                  </a:txBody>
                  <a:tcPr marL="91438" marR="91438" marT="45719" marB="45719">
                    <a:solidFill>
                      <a:schemeClr val="bg1"/>
                    </a:solidFill>
                  </a:tcPr>
                </a:tc>
              </a:tr>
            </a:tbl>
          </a:graphicData>
        </a:graphic>
      </p:graphicFrame>
      <p:sp>
        <p:nvSpPr>
          <p:cNvPr id="9" name="矩形 8"/>
          <p:cNvSpPr/>
          <p:nvPr/>
        </p:nvSpPr>
        <p:spPr>
          <a:xfrm>
            <a:off x="2455545" y="479608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BOM</a:t>
            </a:r>
            <a:r>
              <a:rPr kumimoji="1" lang="zh-CN" altLang="en-US" sz="1400" b="1" dirty="0">
                <a:latin typeface="微软雅黑" panose="020B0503020204020204" pitchFamily="34" charset="-122"/>
                <a:ea typeface="微软雅黑" panose="020B0503020204020204" pitchFamily="34" charset="-122"/>
              </a:rPr>
              <a:t>竞价表</a:t>
            </a:r>
            <a:endParaRPr kumimoji="1" lang="zh-CN" altLang="en-US" sz="1400" b="1" dirty="0">
              <a:latin typeface="微软雅黑" panose="020B0503020204020204" pitchFamily="34" charset="-122"/>
              <a:ea typeface="微软雅黑" panose="020B0503020204020204" pitchFamily="34" charset="-122"/>
            </a:endParaRPr>
          </a:p>
          <a:p>
            <a:pPr algn="ctr">
              <a:buClrTx/>
              <a:buSzTx/>
              <a:buFontTx/>
            </a:pPr>
            <a:r>
              <a:rPr kumimoji="1" lang="en-US" altLang="zh-CN" sz="1100" b="1" dirty="0">
                <a:solidFill>
                  <a:srgbClr val="FFFF00"/>
                </a:solidFill>
                <a:latin typeface="微软雅黑" panose="020B0503020204020204" pitchFamily="34" charset="-122"/>
                <a:ea typeface="微软雅黑" panose="020B0503020204020204" pitchFamily="34" charset="-122"/>
              </a:rPr>
              <a:t>(SAP)</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10" name="矩形 9"/>
          <p:cNvSpPr/>
          <p:nvPr/>
        </p:nvSpPr>
        <p:spPr>
          <a:xfrm>
            <a:off x="2455545" y="6113081"/>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物料主数据</a:t>
            </a:r>
            <a:endParaRPr kumimoji="1" lang="zh-CN" altLang="en-US" sz="1400" b="1" dirty="0">
              <a:latin typeface="微软雅黑" panose="020B0503020204020204" pitchFamily="34" charset="-122"/>
              <a:ea typeface="微软雅黑" panose="020B0503020204020204" pitchFamily="34" charset="-122"/>
            </a:endParaRPr>
          </a:p>
          <a:p>
            <a:pPr algn="ctr">
              <a:buClrTx/>
              <a:buSzTx/>
              <a:buFontTx/>
            </a:pPr>
            <a:r>
              <a:rPr kumimoji="1" lang="en-US" altLang="zh-CN" sz="1100" b="1" dirty="0">
                <a:solidFill>
                  <a:srgbClr val="FFFF00"/>
                </a:solidFill>
                <a:latin typeface="微软雅黑" panose="020B0503020204020204" pitchFamily="34" charset="-122"/>
                <a:ea typeface="微软雅黑" panose="020B0503020204020204" pitchFamily="34" charset="-122"/>
              </a:rPr>
              <a:t>（SAP</a:t>
            </a:r>
            <a:r>
              <a:rPr kumimoji="1" lang="zh-CN" altLang="en-US" sz="1100" b="1" dirty="0">
                <a:solidFill>
                  <a:srgbClr val="FFFF00"/>
                </a:solidFill>
                <a:latin typeface="微软雅黑" panose="020B0503020204020204" pitchFamily="34" charset="-122"/>
                <a:ea typeface="微软雅黑" panose="020B0503020204020204" pitchFamily="34" charset="-122"/>
              </a:rPr>
              <a:t>）</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1" name="矩形 10"/>
          <p:cNvSpPr/>
          <p:nvPr/>
        </p:nvSpPr>
        <p:spPr>
          <a:xfrm>
            <a:off x="4913048" y="4269427"/>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最高价</a:t>
            </a:r>
            <a:endParaRPr kumimoji="1" lang="zh-CN" altLang="en-US" sz="1400" b="1" dirty="0">
              <a:latin typeface="微软雅黑" panose="020B0503020204020204" pitchFamily="34" charset="-122"/>
              <a:ea typeface="微软雅黑" panose="020B0503020204020204" pitchFamily="34" charset="-122"/>
            </a:endParaRPr>
          </a:p>
        </p:txBody>
      </p:sp>
      <p:sp>
        <p:nvSpPr>
          <p:cNvPr id="12" name="矩形 11"/>
          <p:cNvSpPr/>
          <p:nvPr/>
        </p:nvSpPr>
        <p:spPr>
          <a:xfrm>
            <a:off x="4913048" y="479608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最低价</a:t>
            </a:r>
            <a:endParaRPr kumimoji="1" lang="zh-CN" altLang="en-US" sz="1400" b="1" dirty="0">
              <a:latin typeface="微软雅黑" panose="020B0503020204020204" pitchFamily="34" charset="-122"/>
              <a:ea typeface="微软雅黑" panose="020B0503020204020204" pitchFamily="34" charset="-122"/>
            </a:endParaRPr>
          </a:p>
        </p:txBody>
      </p:sp>
      <p:sp>
        <p:nvSpPr>
          <p:cNvPr id="13" name="矩形 12"/>
          <p:cNvSpPr/>
          <p:nvPr/>
        </p:nvSpPr>
        <p:spPr>
          <a:xfrm>
            <a:off x="4913048" y="532221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最近价</a:t>
            </a:r>
            <a:endParaRPr kumimoji="1" lang="zh-CN" altLang="en-US" sz="1400" b="1" dirty="0">
              <a:latin typeface="微软雅黑" panose="020B0503020204020204" pitchFamily="34" charset="-122"/>
              <a:ea typeface="微软雅黑" panose="020B0503020204020204" pitchFamily="34" charset="-122"/>
            </a:endParaRPr>
          </a:p>
        </p:txBody>
      </p:sp>
      <p:sp>
        <p:nvSpPr>
          <p:cNvPr id="14" name="矩形 13"/>
          <p:cNvSpPr/>
          <p:nvPr/>
        </p:nvSpPr>
        <p:spPr>
          <a:xfrm>
            <a:off x="4913048" y="584243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S</a:t>
            </a:r>
            <a:r>
              <a:rPr kumimoji="1" lang="zh-CN" altLang="en-US" sz="1400" b="1" dirty="0">
                <a:latin typeface="微软雅黑" panose="020B0503020204020204" pitchFamily="34" charset="-122"/>
                <a:ea typeface="微软雅黑" panose="020B0503020204020204" pitchFamily="34" charset="-122"/>
              </a:rPr>
              <a:t>标准采购价</a:t>
            </a:r>
            <a:endParaRPr kumimoji="1" lang="zh-CN" altLang="en-US" sz="1400" b="1" dirty="0">
              <a:latin typeface="微软雅黑" panose="020B0503020204020204" pitchFamily="34" charset="-122"/>
              <a:ea typeface="微软雅黑" panose="020B0503020204020204" pitchFamily="34" charset="-122"/>
            </a:endParaRPr>
          </a:p>
        </p:txBody>
      </p:sp>
      <p:sp>
        <p:nvSpPr>
          <p:cNvPr id="15" name="矩形 14"/>
          <p:cNvSpPr/>
          <p:nvPr/>
        </p:nvSpPr>
        <p:spPr>
          <a:xfrm>
            <a:off x="4913048" y="6356305"/>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V</a:t>
            </a:r>
            <a:r>
              <a:rPr kumimoji="1" lang="zh-CN" altLang="en-US" sz="1400" b="1" dirty="0">
                <a:latin typeface="微软雅黑" panose="020B0503020204020204" pitchFamily="34" charset="-122"/>
                <a:ea typeface="微软雅黑" panose="020B0503020204020204" pitchFamily="34" charset="-122"/>
              </a:rPr>
              <a:t>移动加权价</a:t>
            </a:r>
            <a:endParaRPr kumimoji="1" lang="zh-CN" altLang="en-US" sz="1400" b="1" dirty="0">
              <a:latin typeface="微软雅黑" panose="020B0503020204020204" pitchFamily="34" charset="-122"/>
              <a:ea typeface="微软雅黑" panose="020B0503020204020204" pitchFamily="34" charset="-122"/>
            </a:endParaRPr>
          </a:p>
        </p:txBody>
      </p:sp>
      <p:cxnSp>
        <p:nvCxnSpPr>
          <p:cNvPr id="7" name="连接符: 肘形 6"/>
          <p:cNvCxnSpPr>
            <a:stCxn id="9" idx="3"/>
            <a:endCxn id="11" idx="1"/>
          </p:cNvCxnSpPr>
          <p:nvPr/>
        </p:nvCxnSpPr>
        <p:spPr>
          <a:xfrm flipV="1">
            <a:off x="3643630" y="4485640"/>
            <a:ext cx="1269365" cy="526415"/>
          </a:xfrm>
          <a:prstGeom prst="bentConnector3">
            <a:avLst>
              <a:gd name="adj1" fmla="val 50025"/>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p:cNvCxnSpPr>
            <a:stCxn id="9" idx="3"/>
            <a:endCxn id="12" idx="1"/>
          </p:cNvCxnSpPr>
          <p:nvPr/>
        </p:nvCxnSpPr>
        <p:spPr>
          <a:xfrm>
            <a:off x="3643630" y="5012055"/>
            <a:ext cx="1269365" cy="3175"/>
          </a:xfrm>
          <a:prstGeom prst="bentConnector2">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p:cNvCxnSpPr>
            <a:stCxn id="9" idx="3"/>
            <a:endCxn id="13" idx="1"/>
          </p:cNvCxnSpPr>
          <p:nvPr/>
        </p:nvCxnSpPr>
        <p:spPr>
          <a:xfrm>
            <a:off x="3643630" y="5012055"/>
            <a:ext cx="1269365" cy="525780"/>
          </a:xfrm>
          <a:prstGeom prst="bentConnector3">
            <a:avLst>
              <a:gd name="adj1" fmla="val 50025"/>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p:cNvCxnSpPr>
            <a:stCxn id="10" idx="3"/>
            <a:endCxn id="14" idx="1"/>
          </p:cNvCxnSpPr>
          <p:nvPr/>
        </p:nvCxnSpPr>
        <p:spPr>
          <a:xfrm flipV="1">
            <a:off x="3643545" y="6058439"/>
            <a:ext cx="1269503" cy="270642"/>
          </a:xfrm>
          <a:prstGeom prst="bentConnector3">
            <a:avLst>
              <a:gd name="adj1" fmla="val 50000"/>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p:cNvCxnSpPr>
            <a:stCxn id="10" idx="3"/>
            <a:endCxn id="15" idx="1"/>
          </p:cNvCxnSpPr>
          <p:nvPr/>
        </p:nvCxnSpPr>
        <p:spPr>
          <a:xfrm>
            <a:off x="3643545" y="6329081"/>
            <a:ext cx="1269503" cy="243224"/>
          </a:xfrm>
          <a:prstGeom prst="bentConnector3">
            <a:avLst>
              <a:gd name="adj1" fmla="val 50000"/>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455545" y="3734544"/>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单耗</a:t>
            </a:r>
            <a:endParaRPr kumimoji="1" lang="zh-CN" altLang="en-US" sz="1400" b="1" dirty="0">
              <a:latin typeface="微软雅黑" panose="020B0503020204020204" pitchFamily="34" charset="-122"/>
              <a:ea typeface="微软雅黑" panose="020B0503020204020204" pitchFamily="34" charset="-122"/>
            </a:endParaRPr>
          </a:p>
        </p:txBody>
      </p:sp>
      <p:sp>
        <p:nvSpPr>
          <p:cNvPr id="30" name="矩形 29"/>
          <p:cNvSpPr/>
          <p:nvPr/>
        </p:nvSpPr>
        <p:spPr>
          <a:xfrm>
            <a:off x="4913048" y="3733542"/>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工单损耗率</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BY </a:t>
            </a:r>
            <a:r>
              <a:rPr kumimoji="1" lang="zh-CN" altLang="en-US" sz="1100" b="1" dirty="0">
                <a:solidFill>
                  <a:srgbClr val="FFFF00"/>
                </a:solidFill>
                <a:latin typeface="微软雅黑" panose="020B0503020204020204" pitchFamily="34" charset="-122"/>
                <a:ea typeface="微软雅黑" panose="020B0503020204020204" pitchFamily="34" charset="-122"/>
              </a:rPr>
              <a:t>产品）</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36" name="矩形 35"/>
          <p:cNvSpPr/>
          <p:nvPr/>
        </p:nvSpPr>
        <p:spPr>
          <a:xfrm>
            <a:off x="6534857" y="4269427"/>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单位材料成本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37" name="矩形 36"/>
          <p:cNvSpPr/>
          <p:nvPr/>
        </p:nvSpPr>
        <p:spPr>
          <a:xfrm>
            <a:off x="6534772" y="479608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单位材料成本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（最低价）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38" name="矩形 37"/>
          <p:cNvSpPr/>
          <p:nvPr/>
        </p:nvSpPr>
        <p:spPr>
          <a:xfrm>
            <a:off x="6534772" y="5317973"/>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单位材料成本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（最近价）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39" name="矩形 38"/>
          <p:cNvSpPr/>
          <p:nvPr/>
        </p:nvSpPr>
        <p:spPr>
          <a:xfrm>
            <a:off x="6534772" y="584243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单位材料成本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S</a:t>
            </a:r>
            <a:r>
              <a:rPr kumimoji="1" lang="zh-CN" altLang="en-US" sz="1100" b="1" dirty="0">
                <a:solidFill>
                  <a:srgbClr val="FFFF00"/>
                </a:solidFill>
                <a:latin typeface="微软雅黑" panose="020B0503020204020204" pitchFamily="34" charset="-122"/>
                <a:ea typeface="微软雅黑" panose="020B0503020204020204" pitchFamily="34" charset="-122"/>
              </a:rPr>
              <a:t>标准价）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0" name="矩形 39"/>
          <p:cNvSpPr/>
          <p:nvPr/>
        </p:nvSpPr>
        <p:spPr>
          <a:xfrm>
            <a:off x="6534772" y="6358340"/>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单位材料成本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V</a:t>
            </a:r>
            <a:r>
              <a:rPr kumimoji="1" lang="zh-CN" altLang="en-US" sz="1100" b="1" dirty="0">
                <a:solidFill>
                  <a:srgbClr val="FFFF00"/>
                </a:solidFill>
                <a:latin typeface="微软雅黑" panose="020B0503020204020204" pitchFamily="34" charset="-122"/>
                <a:ea typeface="微软雅黑" panose="020B0503020204020204" pitchFamily="34" charset="-122"/>
              </a:rPr>
              <a:t>移动加权价）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42" name="矩形 41"/>
          <p:cNvSpPr/>
          <p:nvPr/>
        </p:nvSpPr>
        <p:spPr>
          <a:xfrm>
            <a:off x="8188395" y="426965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3" name="矩形 42"/>
          <p:cNvSpPr/>
          <p:nvPr/>
        </p:nvSpPr>
        <p:spPr>
          <a:xfrm>
            <a:off x="8188395" y="479608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（最低价）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4" name="矩形 43"/>
          <p:cNvSpPr/>
          <p:nvPr/>
        </p:nvSpPr>
        <p:spPr>
          <a:xfrm>
            <a:off x="8188395" y="5322451"/>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（最近价）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5" name="矩形 44"/>
          <p:cNvSpPr/>
          <p:nvPr/>
        </p:nvSpPr>
        <p:spPr>
          <a:xfrm>
            <a:off x="8188395" y="5842439"/>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S</a:t>
            </a:r>
            <a:r>
              <a:rPr kumimoji="1" lang="zh-CN" altLang="en-US" sz="1100" b="1" dirty="0">
                <a:solidFill>
                  <a:srgbClr val="FFFF00"/>
                </a:solidFill>
                <a:latin typeface="微软雅黑" panose="020B0503020204020204" pitchFamily="34" charset="-122"/>
                <a:ea typeface="微软雅黑" panose="020B0503020204020204" pitchFamily="34" charset="-122"/>
              </a:rPr>
              <a:t>标准价）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46" name="矩形 45"/>
          <p:cNvSpPr/>
          <p:nvPr/>
        </p:nvSpPr>
        <p:spPr>
          <a:xfrm>
            <a:off x="8188395" y="6356537"/>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V</a:t>
            </a:r>
            <a:r>
              <a:rPr kumimoji="1" lang="zh-CN" altLang="en-US" sz="1100" b="1" dirty="0">
                <a:solidFill>
                  <a:srgbClr val="FFFF00"/>
                </a:solidFill>
                <a:latin typeface="微软雅黑" panose="020B0503020204020204" pitchFamily="34" charset="-122"/>
                <a:ea typeface="微软雅黑" panose="020B0503020204020204" pitchFamily="34" charset="-122"/>
              </a:rPr>
              <a:t>移动加权价）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4" name="矩形 3"/>
          <p:cNvSpPr/>
          <p:nvPr/>
        </p:nvSpPr>
        <p:spPr>
          <a:xfrm>
            <a:off x="2455545" y="4265217"/>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r"/>
            <a:r>
              <a:rPr kumimoji="1" lang="zh-CN" altLang="en-US" sz="1400" b="1" dirty="0">
                <a:latin typeface="微软雅黑" panose="020B0503020204020204" pitchFamily="34" charset="-122"/>
                <a:ea typeface="微软雅黑" panose="020B0503020204020204" pitchFamily="34" charset="-122"/>
              </a:rPr>
              <a:t>产品报价</a:t>
            </a:r>
            <a:r>
              <a:rPr kumimoji="1" lang="en-US" altLang="zh-CN" sz="1400" b="1" dirty="0">
                <a:latin typeface="微软雅黑" panose="020B0503020204020204" pitchFamily="34" charset="-122"/>
                <a:ea typeface="微软雅黑" panose="020B0503020204020204" pitchFamily="34" charset="-122"/>
              </a:rPr>
              <a:t>BOM</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900" b="1" dirty="0">
                <a:solidFill>
                  <a:srgbClr val="FFFF00"/>
                </a:solidFill>
                <a:latin typeface="微软雅黑" panose="020B0503020204020204" pitchFamily="34" charset="-122"/>
                <a:ea typeface="微软雅黑" panose="020B0503020204020204" pitchFamily="34" charset="-122"/>
              </a:rPr>
              <a:t>（标准</a:t>
            </a:r>
            <a:r>
              <a:rPr kumimoji="1" lang="en-US" altLang="zh-CN" sz="900" b="1" dirty="0">
                <a:solidFill>
                  <a:srgbClr val="FFFF00"/>
                </a:solidFill>
                <a:latin typeface="微软雅黑" panose="020B0503020204020204" pitchFamily="34" charset="-122"/>
                <a:ea typeface="微软雅黑" panose="020B0503020204020204" pitchFamily="34" charset="-122"/>
              </a:rPr>
              <a:t>BOM+</a:t>
            </a:r>
            <a:r>
              <a:rPr kumimoji="1" lang="zh-CN" altLang="en-US" sz="900" b="1" dirty="0">
                <a:solidFill>
                  <a:srgbClr val="FFFF00"/>
                </a:solidFill>
                <a:latin typeface="微软雅黑" panose="020B0503020204020204" pitchFamily="34" charset="-122"/>
                <a:ea typeface="微软雅黑" panose="020B0503020204020204" pitchFamily="34" charset="-122"/>
              </a:rPr>
              <a:t>替代规则）</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6534772" y="3734847"/>
            <a:ext cx="1188085"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制费率</a:t>
            </a:r>
            <a:endParaRPr kumimoji="1" lang="zh-CN" altLang="en-US" sz="1400" b="1" dirty="0">
              <a:latin typeface="微软雅黑" panose="020B0503020204020204" pitchFamily="34" charset="-122"/>
              <a:ea typeface="微软雅黑" panose="020B0503020204020204" pitchFamily="34" charset="-122"/>
            </a:endParaRPr>
          </a:p>
          <a:p>
            <a:pPr algn="ctr">
              <a:buClrTx/>
              <a:buSzTx/>
              <a:buFontTx/>
            </a:pPr>
            <a:r>
              <a:rPr kumimoji="1" lang="zh-CN" altLang="en-US" sz="1100" b="1" dirty="0">
                <a:solidFill>
                  <a:srgbClr val="FFFF00"/>
                </a:solidFill>
                <a:latin typeface="微软雅黑" panose="020B0503020204020204" pitchFamily="34" charset="-122"/>
                <a:ea typeface="微软雅黑" panose="020B0503020204020204" pitchFamily="34" charset="-122"/>
                <a:sym typeface="+mn-ea"/>
              </a:rPr>
              <a:t>（BY 产品线）</a:t>
            </a:r>
            <a:endParaRPr kumimoji="1" lang="zh-CN" altLang="en-US" sz="1400" b="1" dirty="0">
              <a:latin typeface="微软雅黑" panose="020B0503020204020204" pitchFamily="34" charset="-122"/>
              <a:ea typeface="微软雅黑" panose="020B0503020204020204" pitchFamily="34" charset="-122"/>
            </a:endParaRPr>
          </a:p>
        </p:txBody>
      </p:sp>
      <p:sp>
        <p:nvSpPr>
          <p:cNvPr id="24" name="矩形 23"/>
          <p:cNvSpPr/>
          <p:nvPr/>
        </p:nvSpPr>
        <p:spPr>
          <a:xfrm>
            <a:off x="2306320" y="4217670"/>
            <a:ext cx="1473200" cy="2439670"/>
          </a:xfrm>
          <a:prstGeom prst="rect">
            <a:avLst/>
          </a:prstGeom>
          <a:noFill/>
          <a:ln w="3492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232"/>
          <p:cNvSpPr/>
          <p:nvPr/>
        </p:nvSpPr>
        <p:spPr>
          <a:xfrm>
            <a:off x="6145284" y="4872402"/>
            <a:ext cx="360000" cy="72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26" name="右箭头 232"/>
          <p:cNvSpPr/>
          <p:nvPr/>
        </p:nvSpPr>
        <p:spPr>
          <a:xfrm>
            <a:off x="7781447" y="4872402"/>
            <a:ext cx="360000" cy="72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5" name="矩形 4"/>
          <p:cNvSpPr/>
          <p:nvPr/>
        </p:nvSpPr>
        <p:spPr>
          <a:xfrm>
            <a:off x="291465" y="3733542"/>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采购系统</a:t>
            </a:r>
            <a:endParaRPr kumimoji="1" lang="zh-CN" altLang="en-US" sz="1400" b="1" dirty="0">
              <a:latin typeface="微软雅黑" panose="020B0503020204020204" pitchFamily="34" charset="-122"/>
              <a:ea typeface="微软雅黑" panose="020B0503020204020204" pitchFamily="34" charset="-122"/>
            </a:endParaRPr>
          </a:p>
        </p:txBody>
      </p:sp>
      <p:sp>
        <p:nvSpPr>
          <p:cNvPr id="27" name="矩形 26"/>
          <p:cNvSpPr/>
          <p:nvPr/>
        </p:nvSpPr>
        <p:spPr>
          <a:xfrm>
            <a:off x="291465" y="4923312"/>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SAP</a:t>
            </a:r>
            <a:endParaRPr kumimoji="1" lang="zh-CN" altLang="en-US" sz="1400" b="1" dirty="0">
              <a:latin typeface="微软雅黑" panose="020B0503020204020204" pitchFamily="34" charset="-122"/>
              <a:ea typeface="微软雅黑" panose="020B0503020204020204" pitchFamily="34" charset="-122"/>
            </a:endParaRPr>
          </a:p>
        </p:txBody>
      </p:sp>
      <p:sp>
        <p:nvSpPr>
          <p:cNvPr id="29" name="矩形 28"/>
          <p:cNvSpPr/>
          <p:nvPr/>
        </p:nvSpPr>
        <p:spPr>
          <a:xfrm>
            <a:off x="291465" y="6113081"/>
            <a:ext cx="1188000" cy="43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zh-CN" sz="1400" b="1" dirty="0">
                <a:latin typeface="微软雅黑" panose="020B0503020204020204" pitchFamily="34" charset="-122"/>
                <a:ea typeface="微软雅黑" panose="020B0503020204020204" pitchFamily="34" charset="-122"/>
              </a:rPr>
              <a:t>BOM</a:t>
            </a:r>
            <a:r>
              <a:rPr kumimoji="1" lang="zh-CN" altLang="en-US" sz="1400" b="1" dirty="0">
                <a:latin typeface="微软雅黑" panose="020B0503020204020204" pitchFamily="34" charset="-122"/>
                <a:ea typeface="微软雅黑" panose="020B0503020204020204" pitchFamily="34" charset="-122"/>
              </a:rPr>
              <a:t>用量</a:t>
            </a:r>
            <a:endParaRPr kumimoji="1" lang="zh-CN" altLang="en-US" sz="1400" b="1" dirty="0">
              <a:latin typeface="微软雅黑" panose="020B0503020204020204" pitchFamily="34" charset="-122"/>
              <a:ea typeface="微软雅黑" panose="020B0503020204020204" pitchFamily="34" charset="-122"/>
            </a:endParaRPr>
          </a:p>
        </p:txBody>
      </p:sp>
      <p:cxnSp>
        <p:nvCxnSpPr>
          <p:cNvPr id="35" name="直接箭头连接符 34"/>
          <p:cNvCxnSpPr>
            <a:stCxn id="5" idx="2"/>
            <a:endCxn id="27" idx="0"/>
          </p:cNvCxnSpPr>
          <p:nvPr/>
        </p:nvCxnSpPr>
        <p:spPr>
          <a:xfrm>
            <a:off x="885465" y="4165542"/>
            <a:ext cx="0" cy="757770"/>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7" idx="2"/>
            <a:endCxn id="29" idx="0"/>
          </p:cNvCxnSpPr>
          <p:nvPr/>
        </p:nvCxnSpPr>
        <p:spPr>
          <a:xfrm>
            <a:off x="885465" y="5355312"/>
            <a:ext cx="0" cy="757769"/>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160859" y="4390233"/>
            <a:ext cx="815742" cy="276999"/>
          </a:xfrm>
          <a:prstGeom prst="rect">
            <a:avLst/>
          </a:prstGeom>
          <a:noFill/>
        </p:spPr>
        <p:txBody>
          <a:bodyPr wrap="squar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单位转换</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127571" y="5580002"/>
            <a:ext cx="815742" cy="276999"/>
          </a:xfrm>
          <a:prstGeom prst="rect">
            <a:avLst/>
          </a:prstGeom>
          <a:noFill/>
        </p:spPr>
        <p:txBody>
          <a:bodyPr wrap="squar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单位转换</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cxnSp>
        <p:nvCxnSpPr>
          <p:cNvPr id="51" name="连接符: 肘形 50"/>
          <p:cNvCxnSpPr>
            <a:stCxn id="29" idx="3"/>
            <a:endCxn id="9" idx="1"/>
          </p:cNvCxnSpPr>
          <p:nvPr/>
        </p:nvCxnSpPr>
        <p:spPr>
          <a:xfrm flipV="1">
            <a:off x="1479465" y="5012089"/>
            <a:ext cx="976080" cy="1316992"/>
          </a:xfrm>
          <a:prstGeom prst="bentConnector3">
            <a:avLst>
              <a:gd name="adj1" fmla="val 50000"/>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29" idx="3"/>
            <a:endCxn id="10" idx="1"/>
          </p:cNvCxnSpPr>
          <p:nvPr/>
        </p:nvCxnSpPr>
        <p:spPr>
          <a:xfrm>
            <a:off x="1479465" y="6329081"/>
            <a:ext cx="976080" cy="0"/>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1254050" y="5576235"/>
            <a:ext cx="815742" cy="276999"/>
          </a:xfrm>
          <a:prstGeom prst="rect">
            <a:avLst/>
          </a:prstGeom>
          <a:noFill/>
        </p:spPr>
        <p:txBody>
          <a:bodyPr wrap="squar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最终单位</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制费率生成当前痛点问题</a:t>
            </a:r>
            <a:endParaRPr lang="zh-CN" altLang="en-US" dirty="0">
              <a:sym typeface="+mn-ea"/>
            </a:endParaRPr>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23" name="表格 22"/>
          <p:cNvGraphicFramePr/>
          <p:nvPr>
            <p:custDataLst>
              <p:tags r:id="rId1"/>
            </p:custDataLst>
          </p:nvPr>
        </p:nvGraphicFramePr>
        <p:xfrm>
          <a:off x="498475" y="716280"/>
          <a:ext cx="11194415" cy="5665470"/>
        </p:xfrm>
        <a:graphic>
          <a:graphicData uri="http://schemas.openxmlformats.org/drawingml/2006/table">
            <a:tbl>
              <a:tblPr firstRow="1" bandRow="1">
                <a:tableStyleId>{7DF18680-E054-41AD-8BC1-D1AEF772440D}</a:tableStyleId>
              </a:tblPr>
              <a:tblGrid>
                <a:gridCol w="987425"/>
                <a:gridCol w="10206990"/>
              </a:tblGrid>
              <a:tr h="807085">
                <a:tc>
                  <a:txBody>
                    <a:bodyPr/>
                    <a:lstStyle/>
                    <a:p>
                      <a:pPr algn="ctr">
                        <a:buNone/>
                      </a:pPr>
                      <a:r>
                        <a:rPr lang="zh-CN" altLang="en-US" sz="1600" dirty="0">
                          <a:latin typeface="微软雅黑" panose="020B0503020204020204" pitchFamily="34" charset="-122"/>
                          <a:ea typeface="微软雅黑" panose="020B0503020204020204" pitchFamily="34" charset="-122"/>
                        </a:rPr>
                        <a:t>序号</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buNone/>
                      </a:pPr>
                      <a:r>
                        <a:rPr lang="zh-CN" altLang="en-US" sz="1600" dirty="0">
                          <a:latin typeface="微软雅黑" panose="020B0503020204020204" pitchFamily="34" charset="-122"/>
                          <a:ea typeface="微软雅黑" panose="020B0503020204020204" pitchFamily="34" charset="-122"/>
                        </a:rPr>
                        <a:t>问题描述</a:t>
                      </a:r>
                      <a:endParaRPr lang="zh-CN" altLang="en-US" sz="1600" dirty="0">
                        <a:latin typeface="微软雅黑" panose="020B0503020204020204" pitchFamily="34" charset="-122"/>
                        <a:ea typeface="微软雅黑" panose="020B0503020204020204" pitchFamily="34" charset="-122"/>
                      </a:endParaRPr>
                    </a:p>
                  </a:txBody>
                  <a:tcPr anchor="ctr"/>
                </a:tc>
              </a:tr>
              <a:tr h="807085">
                <a:tc>
                  <a:txBody>
                    <a:bodyPr/>
                    <a:lstStyle/>
                    <a:p>
                      <a:pPr algn="ctr" fontAlgn="ctr"/>
                      <a:r>
                        <a:rPr lang="en-US" altLang="zh-CN" sz="1600">
                          <a:latin typeface="微软雅黑" panose="020B0503020204020204" pitchFamily="34" charset="-122"/>
                          <a:ea typeface="微软雅黑" panose="020B0503020204020204" pitchFamily="34" charset="-122"/>
                        </a:rPr>
                        <a:t>1</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r>
                        <a:rPr lang="zh-CN" altLang="en-US" sz="1600">
                          <a:latin typeface="微软雅黑" panose="020B0503020204020204" pitchFamily="34" charset="-122"/>
                          <a:ea typeface="微软雅黑" panose="020B0503020204020204" pitchFamily="34" charset="-122"/>
                        </a:rPr>
                        <a:t>数据量大，订单半成品，成品工单数不同产品有不同数量的半成品工单。需要些要人为去判断该订单是否挪用，工作量大，且人为分出来的数据有可能会出错</a:t>
                      </a:r>
                      <a:endParaRPr lang="zh-CN" altLang="en-US" sz="1600">
                        <a:latin typeface="微软雅黑" panose="020B0503020204020204" pitchFamily="34" charset="-122"/>
                        <a:ea typeface="微软雅黑" panose="020B0503020204020204" pitchFamily="34" charset="-122"/>
                      </a:endParaRPr>
                    </a:p>
                  </a:txBody>
                  <a:tcPr anchor="ctr"/>
                </a:tc>
              </a:tr>
              <a:tr h="807085">
                <a:tc>
                  <a:txBody>
                    <a:bodyPr/>
                    <a:lstStyle/>
                    <a:p>
                      <a:pPr algn="ctr" fontAlgn="ctr"/>
                      <a:r>
                        <a:rPr lang="en-US" altLang="zh-CN" sz="1600">
                          <a:latin typeface="微软雅黑" panose="020B0503020204020204" pitchFamily="34" charset="-122"/>
                          <a:ea typeface="微软雅黑" panose="020B0503020204020204" pitchFamily="34" charset="-122"/>
                        </a:rPr>
                        <a:t>2</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r>
                        <a:rPr lang="zh-CN" altLang="en-US" sz="1600" dirty="0">
                          <a:latin typeface="微软雅黑" panose="020B0503020204020204" pitchFamily="34" charset="-122"/>
                          <a:ea typeface="微软雅黑" panose="020B0503020204020204" pitchFamily="34" charset="-122"/>
                        </a:rPr>
                        <a:t>取值问题，取哪个期间的订单或是生产工单？订单生产是陆续完成的，有的订单只做了一半没有完全生产完，要人为去排除没生产完的订单</a:t>
                      </a:r>
                      <a:endParaRPr lang="zh-CN" altLang="en-US" sz="1600" dirty="0">
                        <a:latin typeface="微软雅黑" panose="020B0503020204020204" pitchFamily="34" charset="-122"/>
                        <a:ea typeface="微软雅黑" panose="020B0503020204020204" pitchFamily="34" charset="-122"/>
                      </a:endParaRPr>
                    </a:p>
                  </a:txBody>
                  <a:tcPr anchor="ctr"/>
                </a:tc>
              </a:tr>
              <a:tr h="807085">
                <a:tc>
                  <a:txBody>
                    <a:bodyPr/>
                    <a:lstStyle/>
                    <a:p>
                      <a:pPr algn="ctr" fontAlgn="ctr"/>
                      <a:r>
                        <a:rPr lang="en-US" altLang="zh-CN" sz="1600">
                          <a:latin typeface="微软雅黑" panose="020B0503020204020204" pitchFamily="34" charset="-122"/>
                          <a:ea typeface="微软雅黑" panose="020B0503020204020204" pitchFamily="34" charset="-122"/>
                        </a:rPr>
                        <a:t>3</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系列，间距不规范</a:t>
                      </a:r>
                      <a:br>
                        <a:rPr lang="zh-CN" altLang="en-US" sz="1600">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间距小数位有的是三位，有的是四位。</a:t>
                      </a:r>
                      <a:br>
                        <a:rPr lang="zh-CN" altLang="en-US" sz="1600">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系列的字线有大写，有小写，有大写</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小写，有的有空格，有的没有空格，要人为去清理数据</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807085">
                <a:tc>
                  <a:txBody>
                    <a:bodyPr/>
                    <a:lstStyle/>
                    <a:p>
                      <a:pPr algn="ctr" fontAlgn="ctr"/>
                      <a:r>
                        <a:rPr lang="en-US" altLang="zh-CN" sz="1600">
                          <a:latin typeface="微软雅黑" panose="020B0503020204020204" pitchFamily="34" charset="-122"/>
                          <a:ea typeface="微软雅黑" panose="020B0503020204020204" pitchFamily="34" charset="-122"/>
                        </a:rPr>
                        <a:t>4</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面积，有的物料编码是通用的，没有物料主数据的单位面积，要人为一个订单一个订单去查</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中的面积</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807085">
                <a:tc>
                  <a:txBody>
                    <a:bodyPr/>
                    <a:lstStyle/>
                    <a:p>
                      <a:pPr algn="ctr" fontAlgn="ctr"/>
                      <a:r>
                        <a:rPr lang="en-US" altLang="zh-CN" sz="1600">
                          <a:latin typeface="微软雅黑" panose="020B0503020204020204" pitchFamily="34" charset="-122"/>
                          <a:ea typeface="微软雅黑" panose="020B0503020204020204" pitchFamily="34" charset="-122"/>
                        </a:rPr>
                        <a:t>5</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r>
                        <a:rPr lang="zh-CN" altLang="en-US" sz="1600" dirty="0">
                          <a:latin typeface="微软雅黑" panose="020B0503020204020204" pitchFamily="34" charset="-122"/>
                          <a:ea typeface="微软雅黑" panose="020B0503020204020204" pitchFamily="34" charset="-122"/>
                        </a:rPr>
                        <a:t>设备包，备品包的工费是否要纳入制费率的核算？设备品，备品包没有系列字段，没有间距</a:t>
                      </a:r>
                      <a:endParaRPr lang="zh-CN" altLang="en-US" sz="1600" dirty="0">
                        <a:latin typeface="微软雅黑" panose="020B0503020204020204" pitchFamily="34" charset="-122"/>
                        <a:ea typeface="微软雅黑" panose="020B0503020204020204" pitchFamily="34" charset="-122"/>
                      </a:endParaRPr>
                    </a:p>
                  </a:txBody>
                  <a:tcPr anchor="ctr"/>
                </a:tc>
              </a:tr>
              <a:tr h="807085">
                <a:tc>
                  <a:txBody>
                    <a:bodyPr/>
                    <a:lstStyle/>
                    <a:p>
                      <a:pPr algn="ctr" fontAlgn="ctr">
                        <a:buNone/>
                      </a:pPr>
                      <a:r>
                        <a:rPr lang="en-US" altLang="zh-CN" sz="1600">
                          <a:latin typeface="微软雅黑" panose="020B0503020204020204" pitchFamily="34" charset="-122"/>
                          <a:ea typeface="微软雅黑" panose="020B0503020204020204" pitchFamily="34" charset="-122"/>
                        </a:rPr>
                        <a:t>6</a:t>
                      </a: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l" fontAlgn="ctr">
                        <a:buNone/>
                      </a:pPr>
                      <a:r>
                        <a:rPr lang="zh-CN" altLang="en-US" sz="1600" dirty="0">
                          <a:latin typeface="微软雅黑" panose="020B0503020204020204" pitchFamily="34" charset="-122"/>
                          <a:ea typeface="微软雅黑" panose="020B0503020204020204" pitchFamily="34" charset="-122"/>
                        </a:rPr>
                        <a:t>现车间在生产过程中，如果因为来料，品质，变更等问题，导致车间损失工时的，会将工时费用转嫁给相关部门。这部分费用，是否需要参加制费率核算？</a:t>
                      </a:r>
                      <a:endParaRPr lang="zh-CN" altLang="en-US" sz="1600" dirty="0">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制费率生成建议解决方案</a:t>
            </a:r>
            <a:endParaRPr lang="zh-CN" altLang="en-US" dirty="0">
              <a:sym typeface="+mn-ea"/>
            </a:endParaRPr>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7" name="表格 6"/>
          <p:cNvGraphicFramePr>
            <a:graphicFrameLocks noGrp="1"/>
          </p:cNvGraphicFramePr>
          <p:nvPr/>
        </p:nvGraphicFramePr>
        <p:xfrm>
          <a:off x="566653" y="611065"/>
          <a:ext cx="11184015" cy="1310638"/>
        </p:xfrm>
        <a:graphic>
          <a:graphicData uri="http://schemas.openxmlformats.org/drawingml/2006/table">
            <a:tbl>
              <a:tblPr firstRow="1" bandRow="1">
                <a:tableStyleId>{5A111915-BE36-4E01-A7E5-04B1672EAD32}</a:tableStyleId>
              </a:tblPr>
              <a:tblGrid>
                <a:gridCol w="1069107"/>
                <a:gridCol w="10114908"/>
              </a:tblGrid>
              <a:tr h="1116135">
                <a:tc>
                  <a:txBody>
                    <a:bodyPr/>
                    <a:lstStyle/>
                    <a:p>
                      <a:r>
                        <a:rPr lang="zh-CN" altLang="en-US" sz="1700" dirty="0">
                          <a:latin typeface="微软雅黑" panose="020B0503020204020204" pitchFamily="34" charset="-122"/>
                          <a:ea typeface="微软雅黑" panose="020B0503020204020204" pitchFamily="34" charset="-122"/>
                        </a:rPr>
                        <a:t>方案内容</a:t>
                      </a:r>
                      <a:endParaRPr lang="zh-CN" altLang="en-US" sz="1700" dirty="0">
                        <a:latin typeface="微软雅黑" panose="020B0503020204020204" pitchFamily="34" charset="-122"/>
                        <a:ea typeface="微软雅黑" panose="020B0503020204020204" pitchFamily="34" charset="-122"/>
                      </a:endParaRPr>
                    </a:p>
                  </a:txBody>
                  <a:tcPr marL="91438" marR="91438" marT="45719" marB="45719" anchor="ctr"/>
                </a:tc>
                <a:tc>
                  <a:txBody>
                    <a:bodyPr/>
                    <a:lstStyle/>
                    <a:p>
                      <a:pPr marL="285750" indent="-285750">
                        <a:lnSpc>
                          <a:spcPct val="100000"/>
                        </a:lnSpc>
                        <a:buClr>
                          <a:schemeClr val="tx1"/>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方案一：由</a:t>
                      </a:r>
                      <a:r>
                        <a:rPr lang="en-US" altLang="zh-CN" sz="1600" dirty="0">
                          <a:solidFill>
                            <a:schemeClr val="tx1"/>
                          </a:solidFill>
                          <a:latin typeface="微软雅黑" panose="020B0503020204020204" pitchFamily="34" charset="-122"/>
                          <a:ea typeface="微软雅黑" panose="020B0503020204020204" pitchFamily="34" charset="-122"/>
                        </a:rPr>
                        <a:t>SAP</a:t>
                      </a:r>
                      <a:r>
                        <a:rPr lang="zh-CN" altLang="en-US" sz="1600" dirty="0">
                          <a:solidFill>
                            <a:schemeClr val="tx1"/>
                          </a:solidFill>
                          <a:latin typeface="微软雅黑" panose="020B0503020204020204" pitchFamily="34" charset="-122"/>
                          <a:ea typeface="微软雅黑" panose="020B0503020204020204" pitchFamily="34" charset="-122"/>
                        </a:rPr>
                        <a:t>提供根据标准成本</a:t>
                      </a:r>
                      <a:r>
                        <a:rPr lang="zh-CN" altLang="en-US" sz="1600" b="1" kern="1200" dirty="0">
                          <a:solidFill>
                            <a:schemeClr val="tx1"/>
                          </a:solidFill>
                          <a:latin typeface="微软雅黑" panose="020B0503020204020204" pitchFamily="34" charset="-122"/>
                          <a:ea typeface="微软雅黑" panose="020B0503020204020204" pitchFamily="34" charset="-122"/>
                          <a:cs typeface="+mn-cs"/>
                        </a:rPr>
                        <a:t>按照</a:t>
                      </a:r>
                      <a:r>
                        <a:rPr lang="zh-CN" altLang="en-US" sz="1600" dirty="0">
                          <a:solidFill>
                            <a:srgbClr val="FF0000"/>
                          </a:solidFill>
                          <a:latin typeface="微软雅黑" panose="020B0503020204020204" pitchFamily="34" charset="-122"/>
                          <a:ea typeface="微软雅黑" panose="020B0503020204020204" pitchFamily="34" charset="-122"/>
                        </a:rPr>
                        <a:t>产品</a:t>
                      </a:r>
                      <a:r>
                        <a:rPr lang="zh-CN" altLang="en-US" sz="1600" b="1" kern="1200" dirty="0">
                          <a:solidFill>
                            <a:schemeClr val="tx1"/>
                          </a:solidFill>
                          <a:latin typeface="微软雅黑" panose="020B0503020204020204" pitchFamily="34" charset="-122"/>
                          <a:ea typeface="微软雅黑" panose="020B0503020204020204" pitchFamily="34" charset="-122"/>
                          <a:cs typeface="+mn-cs"/>
                        </a:rPr>
                        <a:t>颗粒度计</a:t>
                      </a:r>
                      <a:r>
                        <a:rPr lang="zh-CN" altLang="en-US" sz="1600" dirty="0">
                          <a:solidFill>
                            <a:schemeClr val="tx1"/>
                          </a:solidFill>
                          <a:latin typeface="微软雅黑" panose="020B0503020204020204" pitchFamily="34" charset="-122"/>
                          <a:ea typeface="微软雅黑" panose="020B0503020204020204" pitchFamily="34" charset="-122"/>
                        </a:rPr>
                        <a:t>算的标准制费率信息，由财务提供按照</a:t>
                      </a:r>
                      <a:r>
                        <a:rPr lang="zh-CN" altLang="en-US" sz="1600" dirty="0">
                          <a:solidFill>
                            <a:srgbClr val="FF0000"/>
                          </a:solidFill>
                          <a:latin typeface="微软雅黑" panose="020B0503020204020204" pitchFamily="34" charset="-122"/>
                          <a:ea typeface="微软雅黑" panose="020B0503020204020204" pitchFamily="34" charset="-122"/>
                        </a:rPr>
                        <a:t>产品线</a:t>
                      </a:r>
                      <a:r>
                        <a:rPr lang="zh-CN" altLang="en-US" sz="1600" b="1" kern="1200" dirty="0">
                          <a:solidFill>
                            <a:schemeClr val="tx1"/>
                          </a:solidFill>
                          <a:latin typeface="微软雅黑" panose="020B0503020204020204" pitchFamily="34" charset="-122"/>
                          <a:ea typeface="微软雅黑" panose="020B0503020204020204" pitchFamily="34" charset="-122"/>
                          <a:cs typeface="+mn-cs"/>
                        </a:rPr>
                        <a:t>颗粒度</a:t>
                      </a:r>
                      <a:r>
                        <a:rPr lang="zh-CN" altLang="en-US" sz="1600" dirty="0">
                          <a:solidFill>
                            <a:schemeClr val="tx1"/>
                          </a:solidFill>
                          <a:latin typeface="微软雅黑" panose="020B0503020204020204" pitchFamily="34" charset="-122"/>
                          <a:ea typeface="微软雅黑" panose="020B0503020204020204" pitchFamily="34" charset="-122"/>
                        </a:rPr>
                        <a:t>计算的的实际制费率数据，作为成本工程师的参考数据，由成本工程师判断后，在数据中台填写最终制费率数据。</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l"/>
                        <a:defRPr/>
                      </a:pPr>
                      <a:r>
                        <a:rPr lang="zh-CN" altLang="en-US" sz="1600" dirty="0">
                          <a:solidFill>
                            <a:schemeClr val="tx1"/>
                          </a:solidFill>
                          <a:latin typeface="微软雅黑" panose="020B0503020204020204" pitchFamily="34" charset="-122"/>
                          <a:ea typeface="微软雅黑" panose="020B0503020204020204" pitchFamily="34" charset="-122"/>
                        </a:rPr>
                        <a:t>方案二：由财务提供按照</a:t>
                      </a:r>
                      <a:r>
                        <a:rPr lang="zh-CN" altLang="en-US" sz="1600" dirty="0">
                          <a:solidFill>
                            <a:srgbClr val="FF0000"/>
                          </a:solidFill>
                          <a:latin typeface="微软雅黑" panose="020B0503020204020204" pitchFamily="34" charset="-122"/>
                          <a:ea typeface="微软雅黑" panose="020B0503020204020204" pitchFamily="34" charset="-122"/>
                        </a:rPr>
                        <a:t>产品</a:t>
                      </a:r>
                      <a:r>
                        <a:rPr lang="zh-CN" altLang="en-US" sz="1600" b="1" kern="1200" dirty="0">
                          <a:solidFill>
                            <a:schemeClr val="tx1"/>
                          </a:solidFill>
                          <a:latin typeface="微软雅黑" panose="020B0503020204020204" pitchFamily="34" charset="-122"/>
                          <a:ea typeface="微软雅黑" panose="020B0503020204020204" pitchFamily="34" charset="-122"/>
                          <a:cs typeface="+mn-cs"/>
                        </a:rPr>
                        <a:t>颗粒度计算</a:t>
                      </a:r>
                      <a:r>
                        <a:rPr lang="zh-CN" altLang="en-US" sz="1600" dirty="0">
                          <a:solidFill>
                            <a:schemeClr val="tx1"/>
                          </a:solidFill>
                          <a:latin typeface="微软雅黑" panose="020B0503020204020204" pitchFamily="34" charset="-122"/>
                          <a:ea typeface="微软雅黑" panose="020B0503020204020204" pitchFamily="34" charset="-122"/>
                        </a:rPr>
                        <a:t>的的实际制费率数据，作为成本工程师的参考数据，由成本工程师判断后，在数据中台填写最终制费率数据。</a:t>
                      </a:r>
                      <a:endParaRPr lang="en-US" altLang="zh-CN" sz="1600" dirty="0">
                        <a:solidFill>
                          <a:schemeClr val="tx1"/>
                        </a:solidFill>
                        <a:latin typeface="微软雅黑" panose="020B0503020204020204" pitchFamily="34" charset="-122"/>
                        <a:ea typeface="微软雅黑" panose="020B0503020204020204" pitchFamily="34" charset="-122"/>
                      </a:endParaRPr>
                    </a:p>
                  </a:txBody>
                  <a:tcPr marL="91438" marR="91438" marT="45719" marB="45719">
                    <a:solidFill>
                      <a:schemeClr val="bg1"/>
                    </a:solidFill>
                  </a:tcPr>
                </a:tc>
              </a:tr>
            </a:tbl>
          </a:graphicData>
        </a:graphic>
      </p:graphicFrame>
      <p:graphicFrame>
        <p:nvGraphicFramePr>
          <p:cNvPr id="4" name="表格 3"/>
          <p:cNvGraphicFramePr>
            <a:graphicFrameLocks noGrp="1"/>
          </p:cNvGraphicFramePr>
          <p:nvPr/>
        </p:nvGraphicFramePr>
        <p:xfrm>
          <a:off x="228000" y="2039421"/>
          <a:ext cx="11736000" cy="4461944"/>
        </p:xfrm>
        <a:graphic>
          <a:graphicData uri="http://schemas.openxmlformats.org/drawingml/2006/table">
            <a:tbl>
              <a:tblPr firstRow="1" bandRow="1">
                <a:tableStyleId>{7DF18680-E054-41AD-8BC1-D1AEF772440D}</a:tableStyleId>
              </a:tblPr>
              <a:tblGrid>
                <a:gridCol w="881120"/>
                <a:gridCol w="4585542"/>
                <a:gridCol w="6269338"/>
              </a:tblGrid>
              <a:tr h="326294">
                <a:tc>
                  <a:txBody>
                    <a:bodyPr/>
                    <a:lstStyle/>
                    <a:p>
                      <a:pPr algn="ctr">
                        <a:buNone/>
                      </a:pP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buNone/>
                      </a:pPr>
                      <a:r>
                        <a:rPr lang="zh-CN" altLang="en-US" sz="1400" dirty="0">
                          <a:latin typeface="微软雅黑" panose="020B0503020204020204" pitchFamily="34" charset="-122"/>
                          <a:ea typeface="微软雅黑" panose="020B0503020204020204" pitchFamily="34" charset="-122"/>
                        </a:rPr>
                        <a:t>优势</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fontAlgn="ctr"/>
                      <a:r>
                        <a:rPr lang="zh-CN" altLang="en-US" sz="1400" dirty="0">
                          <a:latin typeface="微软雅黑" panose="020B0503020204020204" pitchFamily="34" charset="-122"/>
                          <a:ea typeface="微软雅黑" panose="020B0503020204020204" pitchFamily="34" charset="-122"/>
                        </a:rPr>
                        <a:t>劣势</a:t>
                      </a:r>
                      <a:endParaRPr lang="zh-CN" altLang="en-US" sz="1400" dirty="0">
                        <a:latin typeface="微软雅黑" panose="020B0503020204020204" pitchFamily="34" charset="-122"/>
                        <a:ea typeface="微软雅黑" panose="020B0503020204020204" pitchFamily="34" charset="-122"/>
                      </a:endParaRPr>
                    </a:p>
                  </a:txBody>
                  <a:tcPr anchor="ctr"/>
                </a:tc>
              </a:tr>
              <a:tr h="1870184">
                <a:tc>
                  <a:txBody>
                    <a:bodyPr/>
                    <a:lstStyle/>
                    <a:p>
                      <a:pPr marL="0" indent="0">
                        <a:lnSpc>
                          <a:spcPct val="100000"/>
                        </a:lnSpc>
                        <a:buClr>
                          <a:schemeClr val="tx1"/>
                        </a:buClr>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方案一</a:t>
                      </a:r>
                      <a:endParaRPr lang="zh-CN" altLang="en-US" sz="1600" b="1" dirty="0">
                        <a:latin typeface="微软雅黑" panose="020B0503020204020204" pitchFamily="34" charset="-122"/>
                        <a:ea typeface="微软雅黑" panose="020B0503020204020204" pitchFamily="34" charset="-122"/>
                      </a:endParaRPr>
                    </a:p>
                  </a:txBody>
                  <a:tcPr anchor="ctr"/>
                </a:tc>
                <a:tc>
                  <a:txBody>
                    <a:bodyPr/>
                    <a:lstStyle/>
                    <a:p>
                      <a:pPr marL="0" indent="0">
                        <a:lnSpc>
                          <a:spcPct val="100000"/>
                        </a:lnSpc>
                        <a:buClr>
                          <a:schemeClr val="tx1"/>
                        </a:buClr>
                        <a:buFont typeface="Wingdings" panose="05000000000000000000" pitchFamily="2" charset="2"/>
                        <a:buNone/>
                      </a:pPr>
                      <a:r>
                        <a:rPr lang="zh-CN" altLang="en-US" sz="1600" b="1" dirty="0">
                          <a:solidFill>
                            <a:srgbClr val="FF0000"/>
                          </a:solidFill>
                          <a:latin typeface="微软雅黑" panose="020B0503020204020204" pitchFamily="34" charset="-122"/>
                          <a:ea typeface="微软雅黑" panose="020B0503020204020204" pitchFamily="34" charset="-122"/>
                        </a:rPr>
                        <a:t>数据获取便捷： </a:t>
                      </a:r>
                      <a:r>
                        <a:rPr lang="en-US" altLang="zh-CN" sz="1600" dirty="0">
                          <a:solidFill>
                            <a:srgbClr val="FF0000"/>
                          </a:solidFill>
                          <a:latin typeface="微软雅黑" panose="020B0503020204020204" pitchFamily="34" charset="-122"/>
                          <a:ea typeface="微软雅黑" panose="020B0503020204020204" pitchFamily="34" charset="-122"/>
                        </a:rPr>
                        <a:t>SAP</a:t>
                      </a:r>
                      <a:r>
                        <a:rPr lang="zh-CN" altLang="en-US" sz="1600" dirty="0">
                          <a:solidFill>
                            <a:srgbClr val="FF0000"/>
                          </a:solidFill>
                          <a:latin typeface="微软雅黑" panose="020B0503020204020204" pitchFamily="34" charset="-122"/>
                          <a:ea typeface="微软雅黑" panose="020B0503020204020204" pitchFamily="34" charset="-122"/>
                        </a:rPr>
                        <a:t>系统中已具备标准制费率的计算结果，可直接通过接口调用，实施效率高</a:t>
                      </a:r>
                      <a:br>
                        <a:rPr lang="en-US" altLang="zh-CN" sz="1600" dirty="0">
                          <a:solidFill>
                            <a:srgbClr val="FF0000"/>
                          </a:solidFill>
                          <a:latin typeface="微软雅黑" panose="020B0503020204020204" pitchFamily="34" charset="-122"/>
                          <a:ea typeface="微软雅黑" panose="020B0503020204020204" pitchFamily="34" charset="-122"/>
                        </a:rPr>
                      </a:br>
                      <a:endParaRPr lang="en-US" altLang="zh-CN" sz="1600" dirty="0">
                        <a:solidFill>
                          <a:srgbClr val="FF0000"/>
                        </a:solidFill>
                        <a:latin typeface="微软雅黑" panose="020B0503020204020204" pitchFamily="34" charset="-122"/>
                        <a:ea typeface="微软雅黑" panose="020B0503020204020204" pitchFamily="34" charset="-122"/>
                      </a:endParaRPr>
                    </a:p>
                    <a:p>
                      <a:pPr marL="0" indent="0">
                        <a:lnSpc>
                          <a:spcPct val="100000"/>
                        </a:lnSpc>
                        <a:buClr>
                          <a:schemeClr val="tx1"/>
                        </a:buClr>
                        <a:buFont typeface="Wingdings" panose="05000000000000000000" pitchFamily="2" charset="2"/>
                        <a:buNone/>
                      </a:pPr>
                      <a:r>
                        <a:rPr lang="zh-CN" altLang="en-US" sz="1600" b="1" dirty="0">
                          <a:solidFill>
                            <a:srgbClr val="FF0000"/>
                          </a:solidFill>
                          <a:latin typeface="微软雅黑" panose="020B0503020204020204" pitchFamily="34" charset="-122"/>
                          <a:ea typeface="微软雅黑" panose="020B0503020204020204" pitchFamily="34" charset="-122"/>
                        </a:rPr>
                        <a:t>流程延续性强： </a:t>
                      </a:r>
                      <a:r>
                        <a:rPr lang="zh-CN" altLang="en-US" sz="1600" dirty="0">
                          <a:solidFill>
                            <a:srgbClr val="FF0000"/>
                          </a:solidFill>
                          <a:latin typeface="微软雅黑" panose="020B0503020204020204" pitchFamily="34" charset="-122"/>
                          <a:ea typeface="微软雅黑" panose="020B0503020204020204" pitchFamily="34" charset="-122"/>
                        </a:rPr>
                        <a:t>财务提供的实际制费率沿用现有逻辑与流程，无需额外调整，数据准备成本低。</a:t>
                      </a:r>
                      <a:endParaRPr lang="en-US" altLang="zh-CN"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0">
                        <a:lnSpc>
                          <a:spcPct val="100000"/>
                        </a:lnSpc>
                        <a:buClr>
                          <a:schemeClr val="tx1"/>
                        </a:buClr>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数据准确性不足</a:t>
                      </a:r>
                      <a:r>
                        <a:rPr lang="zh-CN" altLang="en-US" sz="1600" dirty="0">
                          <a:solidFill>
                            <a:schemeClr val="tx1"/>
                          </a:solidFill>
                          <a:latin typeface="微软雅黑" panose="020B0503020204020204" pitchFamily="34" charset="-122"/>
                          <a:ea typeface="微软雅黑" panose="020B0503020204020204" pitchFamily="34" charset="-122"/>
                        </a:rPr>
                        <a:t>： </a:t>
                      </a:r>
                      <a:r>
                        <a:rPr lang="en-US" altLang="zh-CN" sz="1600" dirty="0">
                          <a:solidFill>
                            <a:schemeClr val="tx1"/>
                          </a:solidFill>
                          <a:latin typeface="微软雅黑" panose="020B0503020204020204" pitchFamily="34" charset="-122"/>
                          <a:ea typeface="微软雅黑" panose="020B0503020204020204" pitchFamily="34" charset="-122"/>
                        </a:rPr>
                        <a:t>SAP</a:t>
                      </a:r>
                      <a:r>
                        <a:rPr lang="zh-CN" altLang="en-US" sz="1600" dirty="0">
                          <a:solidFill>
                            <a:schemeClr val="tx1"/>
                          </a:solidFill>
                          <a:latin typeface="微软雅黑" panose="020B0503020204020204" pitchFamily="34" charset="-122"/>
                          <a:ea typeface="微软雅黑" panose="020B0503020204020204" pitchFamily="34" charset="-122"/>
                        </a:rPr>
                        <a:t>提供的标准制费率与实际数据存在较大偏差，而财务数据又仅按产品线层级汇总，颗粒度较粗。两者结合作为参考，可能导致成本工程师判断依据不充分，最终填入的制费率误差较大，进而影响产品基准价的准确性。</a:t>
                      </a:r>
                      <a:br>
                        <a:rPr lang="en-US" altLang="zh-CN" sz="1600" dirty="0">
                          <a:solidFill>
                            <a:schemeClr val="tx1"/>
                          </a:solidFill>
                          <a:latin typeface="微软雅黑" panose="020B0503020204020204" pitchFamily="34" charset="-122"/>
                          <a:ea typeface="微软雅黑" panose="020B0503020204020204" pitchFamily="34" charset="-122"/>
                        </a:rPr>
                      </a:br>
                      <a:endParaRPr lang="en-US" altLang="zh-CN" sz="1600" dirty="0">
                        <a:solidFill>
                          <a:schemeClr val="tx1"/>
                        </a:solidFill>
                        <a:latin typeface="微软雅黑" panose="020B0503020204020204" pitchFamily="34" charset="-122"/>
                        <a:ea typeface="微软雅黑" panose="020B0503020204020204" pitchFamily="34" charset="-122"/>
                      </a:endParaRPr>
                    </a:p>
                    <a:p>
                      <a:pPr marL="0" indent="0">
                        <a:lnSpc>
                          <a:spcPct val="100000"/>
                        </a:lnSpc>
                        <a:buClr>
                          <a:schemeClr val="tx1"/>
                        </a:buClr>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潜在后续调整成本：</a:t>
                      </a:r>
                      <a:r>
                        <a:rPr lang="zh-CN" altLang="en-US" sz="1600" dirty="0">
                          <a:solidFill>
                            <a:schemeClr val="tx1"/>
                          </a:solidFill>
                          <a:latin typeface="微软雅黑" panose="020B0503020204020204" pitchFamily="34" charset="-122"/>
                          <a:ea typeface="微软雅黑" panose="020B0503020204020204" pitchFamily="34" charset="-122"/>
                        </a:rPr>
                        <a:t>若因数据颗粒度不足导致制费率误差过大，未来仍需推动财务提供产品级实际制费率数据，可能带来额外的流程改造与系统开发成本。</a:t>
                      </a:r>
                      <a:endParaRPr lang="en-US" altLang="zh-CN" sz="1600" dirty="0">
                        <a:solidFill>
                          <a:srgbClr val="FF0000"/>
                        </a:solidFill>
                        <a:latin typeface="微软雅黑" panose="020B0503020204020204" pitchFamily="34" charset="-122"/>
                        <a:ea typeface="微软雅黑" panose="020B0503020204020204" pitchFamily="34" charset="-122"/>
                      </a:endParaRPr>
                    </a:p>
                  </a:txBody>
                  <a:tcPr anchor="ctr"/>
                </a:tc>
              </a:tr>
              <a:tr h="2093490">
                <a:tc>
                  <a:txBody>
                    <a:bodyPr/>
                    <a:lstStyle/>
                    <a:p>
                      <a:pPr marL="0" indent="0">
                        <a:lnSpc>
                          <a:spcPct val="100000"/>
                        </a:lnSpc>
                        <a:buClr>
                          <a:schemeClr val="tx1"/>
                        </a:buClr>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方案二</a:t>
                      </a:r>
                      <a:endParaRPr lang="zh-CN" altLang="en-US" sz="1600" b="1" dirty="0">
                        <a:latin typeface="微软雅黑" panose="020B0503020204020204" pitchFamily="34" charset="-122"/>
                        <a:ea typeface="微软雅黑" panose="020B0503020204020204" pitchFamily="34" charset="-122"/>
                      </a:endParaRPr>
                    </a:p>
                  </a:txBody>
                  <a:tcPr anchor="ctr"/>
                </a:tc>
                <a:tc>
                  <a:txBody>
                    <a:bodyPr/>
                    <a:lstStyle/>
                    <a:p>
                      <a:pPr marL="0" indent="0">
                        <a:lnSpc>
                          <a:spcPct val="100000"/>
                        </a:lnSpc>
                        <a:buClr>
                          <a:schemeClr val="tx1"/>
                        </a:buClr>
                        <a:buFont typeface="Wingdings" panose="05000000000000000000" pitchFamily="2" charset="2"/>
                        <a:buNone/>
                      </a:pPr>
                      <a:r>
                        <a:rPr lang="zh-CN" altLang="en-US" sz="1600" b="1" dirty="0">
                          <a:solidFill>
                            <a:srgbClr val="FF0000"/>
                          </a:solidFill>
                          <a:latin typeface="微软雅黑" panose="020B0503020204020204" pitchFamily="34" charset="-122"/>
                          <a:ea typeface="微软雅黑" panose="020B0503020204020204" pitchFamily="34" charset="-122"/>
                        </a:rPr>
                        <a:t>数据准确性高：</a:t>
                      </a:r>
                      <a:r>
                        <a:rPr lang="zh-CN" altLang="en-US" sz="1600" dirty="0">
                          <a:solidFill>
                            <a:srgbClr val="FF0000"/>
                          </a:solidFill>
                          <a:latin typeface="微软雅黑" panose="020B0503020204020204" pitchFamily="34" charset="-122"/>
                          <a:ea typeface="微软雅黑" panose="020B0503020204020204" pitchFamily="34" charset="-122"/>
                        </a:rPr>
                        <a:t>基于产品级颗粒度的实际制费率数据，成本工程师可更精准地判断并填报制费率，从而显著提升产品基准价的准确性与可靠性。</a:t>
                      </a:r>
                      <a:br>
                        <a:rPr lang="en-US" altLang="zh-CN" sz="1600" dirty="0">
                          <a:solidFill>
                            <a:srgbClr val="FF0000"/>
                          </a:solidFill>
                          <a:latin typeface="微软雅黑" panose="020B0503020204020204" pitchFamily="34" charset="-122"/>
                          <a:ea typeface="微软雅黑" panose="020B0503020204020204" pitchFamily="34" charset="-122"/>
                        </a:rPr>
                      </a:br>
                      <a:endParaRPr lang="zh-CN" altLang="en-US" sz="1600" dirty="0">
                        <a:solidFill>
                          <a:srgbClr val="FF0000"/>
                        </a:solidFill>
                        <a:latin typeface="微软雅黑" panose="020B0503020204020204" pitchFamily="34" charset="-122"/>
                        <a:ea typeface="微软雅黑" panose="020B0503020204020204" pitchFamily="34" charset="-122"/>
                      </a:endParaRPr>
                    </a:p>
                    <a:p>
                      <a:pPr marL="0" indent="0">
                        <a:lnSpc>
                          <a:spcPct val="100000"/>
                        </a:lnSpc>
                        <a:buClr>
                          <a:schemeClr val="tx1"/>
                        </a:buClr>
                        <a:buFont typeface="Wingdings" panose="05000000000000000000" pitchFamily="2" charset="2"/>
                        <a:buNone/>
                      </a:pPr>
                      <a:r>
                        <a:rPr lang="zh-CN" altLang="en-US" sz="1600" b="1" dirty="0">
                          <a:solidFill>
                            <a:srgbClr val="FF0000"/>
                          </a:solidFill>
                          <a:latin typeface="微软雅黑" panose="020B0503020204020204" pitchFamily="34" charset="-122"/>
                          <a:ea typeface="微软雅黑" panose="020B0503020204020204" pitchFamily="34" charset="-122"/>
                        </a:rPr>
                        <a:t>数据基础优化：</a:t>
                      </a:r>
                      <a:r>
                        <a:rPr lang="zh-CN" altLang="en-US" sz="1600" dirty="0">
                          <a:solidFill>
                            <a:srgbClr val="FF0000"/>
                          </a:solidFill>
                          <a:latin typeface="微软雅黑" panose="020B0503020204020204" pitchFamily="34" charset="-122"/>
                          <a:ea typeface="微软雅黑" panose="020B0503020204020204" pitchFamily="34" charset="-122"/>
                        </a:rPr>
                        <a:t>若能完成产品级实际制费率的逻辑梳理与系统开发，将为后续成本分析、指标追踪等场景提供更细颗粒度的数据支持，提升整体数据分析能力。</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marL="0" indent="0">
                        <a:lnSpc>
                          <a:spcPct val="100000"/>
                        </a:lnSpc>
                        <a:buClr>
                          <a:schemeClr val="tx1"/>
                        </a:buClr>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实施成本高：</a:t>
                      </a:r>
                      <a:r>
                        <a:rPr lang="zh-CN" altLang="en-US" sz="1600" dirty="0">
                          <a:solidFill>
                            <a:schemeClr val="tx1"/>
                          </a:solidFill>
                          <a:latin typeface="微软雅黑" panose="020B0503020204020204" pitchFamily="34" charset="-122"/>
                          <a:ea typeface="微软雅黑" panose="020B0503020204020204" pitchFamily="34" charset="-122"/>
                        </a:rPr>
                        <a:t>制费率涉及影响因素众多，且当前</a:t>
                      </a:r>
                      <a:r>
                        <a:rPr lang="en-US" altLang="zh-CN" sz="1600" dirty="0">
                          <a:solidFill>
                            <a:schemeClr val="tx1"/>
                          </a:solidFill>
                          <a:latin typeface="微软雅黑" panose="020B0503020204020204" pitchFamily="34" charset="-122"/>
                          <a:ea typeface="微软雅黑" panose="020B0503020204020204" pitchFamily="34" charset="-122"/>
                        </a:rPr>
                        <a:t>SAP</a:t>
                      </a:r>
                      <a:r>
                        <a:rPr lang="zh-CN" altLang="en-US" sz="1600" dirty="0">
                          <a:solidFill>
                            <a:schemeClr val="tx1"/>
                          </a:solidFill>
                          <a:latin typeface="微软雅黑" panose="020B0503020204020204" pitchFamily="34" charset="-122"/>
                          <a:ea typeface="微软雅黑" panose="020B0503020204020204" pitchFamily="34" charset="-122"/>
                        </a:rPr>
                        <a:t>物料分类账未启用，财务在计算产品级实际制费率时缺乏系统支持，需依赖历史文档重新梳理计算逻辑，工作繁杂、资源消耗大。</a:t>
                      </a:r>
                      <a:br>
                        <a:rPr lang="en-US" altLang="zh-CN" sz="1600" dirty="0">
                          <a:solidFill>
                            <a:schemeClr val="tx1"/>
                          </a:solidFill>
                          <a:latin typeface="微软雅黑" panose="020B0503020204020204" pitchFamily="34" charset="-122"/>
                          <a:ea typeface="微软雅黑" panose="020B0503020204020204" pitchFamily="34" charset="-122"/>
                        </a:rPr>
                      </a:br>
                      <a:endParaRPr lang="zh-CN" altLang="en-US" sz="1600" dirty="0">
                        <a:solidFill>
                          <a:schemeClr val="tx1"/>
                        </a:solidFill>
                        <a:latin typeface="微软雅黑" panose="020B0503020204020204" pitchFamily="34" charset="-122"/>
                        <a:ea typeface="微软雅黑" panose="020B0503020204020204" pitchFamily="34" charset="-122"/>
                      </a:endParaRPr>
                    </a:p>
                    <a:p>
                      <a:pPr marL="0" indent="0">
                        <a:lnSpc>
                          <a:spcPct val="100000"/>
                        </a:lnSpc>
                        <a:buClr>
                          <a:schemeClr val="tx1"/>
                        </a:buClr>
                        <a:buFont typeface="Wingdings" panose="05000000000000000000" pitchFamily="2" charset="2"/>
                        <a:buNone/>
                      </a:pPr>
                      <a:r>
                        <a:rPr lang="zh-CN" altLang="en-US" sz="1600" b="1" dirty="0">
                          <a:solidFill>
                            <a:schemeClr val="tx1"/>
                          </a:solidFill>
                          <a:latin typeface="微软雅黑" panose="020B0503020204020204" pitchFamily="34" charset="-122"/>
                          <a:ea typeface="微软雅黑" panose="020B0503020204020204" pitchFamily="34" charset="-122"/>
                        </a:rPr>
                        <a:t>投入产出待评估：</a:t>
                      </a:r>
                      <a:r>
                        <a:rPr lang="zh-CN" altLang="en-US" sz="1600" dirty="0">
                          <a:solidFill>
                            <a:schemeClr val="tx1"/>
                          </a:solidFill>
                          <a:latin typeface="微软雅黑" panose="020B0503020204020204" pitchFamily="34" charset="-122"/>
                          <a:ea typeface="微软雅黑" panose="020B0503020204020204" pitchFamily="34" charset="-122"/>
                        </a:rPr>
                        <a:t>目前实际制费率主要应用于核算报价单，其他业务场景使用较少。在资源紧张的情况下，推进该方案还需评估其优先级与实际业务价值。</a:t>
                      </a:r>
                      <a:endParaRPr lang="en-US" altLang="zh-CN" sz="1600" dirty="0">
                        <a:solidFill>
                          <a:schemeClr val="tx1"/>
                        </a:solidFill>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产品基准价测算详细方案：产品基准价生成</a:t>
            </a:r>
            <a:endParaRPr lang="zh-CN" altLang="en-US" dirty="0">
              <a:sym typeface="+mn-ea"/>
            </a:endParaRPr>
          </a:p>
        </p:txBody>
      </p:sp>
      <p:sp>
        <p:nvSpPr>
          <p:cNvPr id="19" name="灯片编号占位符 18"/>
          <p:cNvSpPr>
            <a:spLocks noGrp="1"/>
          </p:cNvSpPr>
          <p:nvPr>
            <p:ph type="sldNum" sz="quarter" idx="11"/>
          </p:nvPr>
        </p:nvSpPr>
        <p:spPr/>
        <p:txBody>
          <a:bodyPr/>
          <a:lstStyle/>
          <a:p>
            <a:fld id="{629B06DC-B081-48FF-B3C8-294D2105EA92}" type="slidenum">
              <a:rPr lang="zh-CN" altLang="en-US" smtClean="0"/>
            </a:fld>
            <a:endParaRPr lang="zh-CN" altLang="en-US" dirty="0"/>
          </a:p>
        </p:txBody>
      </p:sp>
      <p:graphicFrame>
        <p:nvGraphicFramePr>
          <p:cNvPr id="6" name="表格 5"/>
          <p:cNvGraphicFramePr>
            <a:graphicFrameLocks noGrp="1"/>
          </p:cNvGraphicFramePr>
          <p:nvPr/>
        </p:nvGraphicFramePr>
        <p:xfrm>
          <a:off x="566653" y="698818"/>
          <a:ext cx="11184015" cy="2293999"/>
        </p:xfrm>
        <a:graphic>
          <a:graphicData uri="http://schemas.openxmlformats.org/drawingml/2006/table">
            <a:tbl>
              <a:tblPr firstRow="1" bandRow="1">
                <a:tableStyleId>{5A111915-BE36-4E01-A7E5-04B1672EAD32}</a:tableStyleId>
              </a:tblPr>
              <a:tblGrid>
                <a:gridCol w="655513"/>
                <a:gridCol w="10528502"/>
              </a:tblGrid>
              <a:tr h="1366152">
                <a:tc>
                  <a:txBody>
                    <a:bodyPr/>
                    <a:lstStyle/>
                    <a:p>
                      <a:r>
                        <a:rPr lang="zh-CN" altLang="en-US" sz="1700" dirty="0">
                          <a:latin typeface="微软雅黑" panose="020B0503020204020204" pitchFamily="34" charset="-122"/>
                          <a:ea typeface="微软雅黑" panose="020B0503020204020204" pitchFamily="34" charset="-122"/>
                        </a:rPr>
                        <a:t>方案</a:t>
                      </a:r>
                      <a:endParaRPr lang="en-US" altLang="zh-CN" sz="1700" dirty="0">
                        <a:latin typeface="微软雅黑" panose="020B0503020204020204" pitchFamily="34" charset="-122"/>
                        <a:ea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rPr>
                        <a:t>说明</a:t>
                      </a:r>
                      <a:endParaRPr lang="zh-CN" altLang="en-US" sz="1700" dirty="0">
                        <a:latin typeface="微软雅黑" panose="020B0503020204020204" pitchFamily="34" charset="-122"/>
                        <a:ea typeface="微软雅黑" panose="020B0503020204020204" pitchFamily="34" charset="-122"/>
                      </a:endParaRPr>
                    </a:p>
                  </a:txBody>
                  <a:tcPr marL="91438" marR="91438" marT="45719" marB="45719" anchor="ctr"/>
                </a:tc>
                <a:tc>
                  <a:txBody>
                    <a:bodyPr/>
                    <a:lstStyle/>
                    <a:p>
                      <a:pPr marL="285750" indent="-285750">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根据五种价格算出的产品单位材料成本，根据制费率计算单位制费成本，算出来产品单位成本；由成本工程师根据未来对市场预判，如材料价格波动、市场行情变动等，判断是否需要录入调整值；再最终选择一个明确的产品单位成本作为该产品报价</a:t>
                      </a:r>
                      <a:r>
                        <a:rPr lang="en-US" altLang="zh-CN" sz="1400" dirty="0">
                          <a:solidFill>
                            <a:schemeClr val="tx1"/>
                          </a:solidFill>
                          <a:latin typeface="微软雅黑" panose="020B0503020204020204" pitchFamily="34" charset="-122"/>
                          <a:ea typeface="微软雅黑" panose="020B0503020204020204" pitchFamily="34" charset="-122"/>
                        </a:rPr>
                        <a:t>BOM</a:t>
                      </a:r>
                      <a:r>
                        <a:rPr lang="zh-CN" altLang="en-US" sz="1400" dirty="0">
                          <a:solidFill>
                            <a:schemeClr val="tx1"/>
                          </a:solidFill>
                          <a:latin typeface="微软雅黑" panose="020B0503020204020204" pitchFamily="34" charset="-122"/>
                          <a:ea typeface="微软雅黑" panose="020B0503020204020204" pitchFamily="34" charset="-122"/>
                        </a:rPr>
                        <a:t>的基准价，给到</a:t>
                      </a:r>
                      <a:r>
                        <a:rPr lang="en-US" altLang="zh-CN" sz="1400" dirty="0">
                          <a:solidFill>
                            <a:schemeClr val="tx1"/>
                          </a:solidFill>
                          <a:latin typeface="微软雅黑" panose="020B0503020204020204" pitchFamily="34" charset="-122"/>
                          <a:ea typeface="微软雅黑" panose="020B0503020204020204" pitchFamily="34" charset="-122"/>
                        </a:rPr>
                        <a:t>CPQ</a:t>
                      </a:r>
                      <a:r>
                        <a:rPr lang="zh-CN" altLang="en-US" sz="1400" dirty="0">
                          <a:solidFill>
                            <a:schemeClr val="tx1"/>
                          </a:solidFill>
                          <a:latin typeface="微软雅黑" panose="020B0503020204020204" pitchFamily="34" charset="-122"/>
                          <a:ea typeface="微软雅黑" panose="020B0503020204020204" pitchFamily="34" charset="-122"/>
                        </a:rPr>
                        <a:t>进行调用。</a:t>
                      </a:r>
                      <a:endParaRPr lang="en-US" altLang="zh-CN"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Clr>
                          <a:schemeClr val="tx1"/>
                        </a:buClr>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产品基准价需要输出两个，一个是产品的基准价，一个是产品每平方米的基准价。当前产品主数据目录中，平方米是一个文本的列示值，要求</a:t>
                      </a:r>
                      <a:r>
                        <a:rPr lang="en-US" altLang="zh-CN" sz="1400" dirty="0">
                          <a:solidFill>
                            <a:schemeClr val="tx1"/>
                          </a:solidFill>
                          <a:latin typeface="微软雅黑" panose="020B0503020204020204" pitchFamily="34" charset="-122"/>
                          <a:ea typeface="微软雅黑" panose="020B0503020204020204" pitchFamily="34" charset="-122"/>
                        </a:rPr>
                        <a:t>PCI</a:t>
                      </a:r>
                      <a:r>
                        <a:rPr lang="zh-CN" altLang="en-US" sz="1400" dirty="0">
                          <a:solidFill>
                            <a:schemeClr val="tx1"/>
                          </a:solidFill>
                          <a:latin typeface="微软雅黑" panose="020B0503020204020204" pitchFamily="34" charset="-122"/>
                          <a:ea typeface="微软雅黑" panose="020B0503020204020204" pitchFamily="34" charset="-122"/>
                        </a:rPr>
                        <a:t>中，</a:t>
                      </a:r>
                      <a:r>
                        <a:rPr lang="zh-CN" altLang="en-US" sz="1400" dirty="0">
                          <a:solidFill>
                            <a:srgbClr val="FF0000"/>
                          </a:solidFill>
                          <a:latin typeface="微软雅黑" panose="020B0503020204020204" pitchFamily="34" charset="-122"/>
                          <a:ea typeface="微软雅黑" panose="020B0503020204020204" pitchFamily="34" charset="-122"/>
                        </a:rPr>
                        <a:t>产品的面积要作为数值呈现</a:t>
                      </a:r>
                      <a:r>
                        <a:rPr lang="zh-CN" altLang="en-US" sz="1400" dirty="0">
                          <a:solidFill>
                            <a:schemeClr val="tx1"/>
                          </a:solidFill>
                          <a:latin typeface="微软雅黑" panose="020B0503020204020204" pitchFamily="34" charset="-122"/>
                          <a:ea typeface="微软雅黑" panose="020B0503020204020204" pitchFamily="34" charset="-122"/>
                        </a:rPr>
                        <a:t>，便于后续长</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高可以作为标准的基础数据进行计算。</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
                          <a:schemeClr val="tx1"/>
                        </a:buClr>
                        <a:buSzTx/>
                        <a:buFont typeface="Wingdings" panose="05000000000000000000" pitchFamily="2" charset="2"/>
                        <a:buChar char="l"/>
                      </a:pPr>
                      <a:r>
                        <a:rPr lang="zh-CN" altLang="en-US" sz="1400" dirty="0">
                          <a:solidFill>
                            <a:schemeClr val="tx1"/>
                          </a:solidFill>
                          <a:latin typeface="微软雅黑" panose="020B0503020204020204" pitchFamily="34" charset="-122"/>
                          <a:ea typeface="微软雅黑" panose="020B0503020204020204" pitchFamily="34" charset="-122"/>
                        </a:rPr>
                        <a:t>调整值填写需要明确填写时间节点，需要确认是分别填写五个价格的产品单位成本调整值，还是选取产品单位成本后，填写对应单位成本的调整值。</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438" marR="91438" marT="45719" marB="45719">
                    <a:solidFill>
                      <a:schemeClr val="bg1"/>
                    </a:solidFill>
                  </a:tcPr>
                </a:tc>
              </a:tr>
            </a:tbl>
          </a:graphicData>
        </a:graphic>
      </p:graphicFrame>
      <p:sp>
        <p:nvSpPr>
          <p:cNvPr id="47" name="矩形 46"/>
          <p:cNvSpPr/>
          <p:nvPr>
            <p:custDataLst>
              <p:tags r:id="rId1"/>
            </p:custDataLst>
          </p:nvPr>
        </p:nvSpPr>
        <p:spPr>
          <a:xfrm>
            <a:off x="775344" y="311417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8" name="矩形 47"/>
          <p:cNvSpPr/>
          <p:nvPr>
            <p:custDataLst>
              <p:tags r:id="rId2"/>
            </p:custDataLst>
          </p:nvPr>
        </p:nvSpPr>
        <p:spPr>
          <a:xfrm>
            <a:off x="775344" y="385521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（最低价）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9" name="矩形 48"/>
          <p:cNvSpPr/>
          <p:nvPr>
            <p:custDataLst>
              <p:tags r:id="rId3"/>
            </p:custDataLst>
          </p:nvPr>
        </p:nvSpPr>
        <p:spPr>
          <a:xfrm>
            <a:off x="775344" y="459525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（最近价）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50" name="矩形 49"/>
          <p:cNvSpPr/>
          <p:nvPr>
            <p:custDataLst>
              <p:tags r:id="rId4"/>
            </p:custDataLst>
          </p:nvPr>
        </p:nvSpPr>
        <p:spPr>
          <a:xfrm>
            <a:off x="775344" y="533730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S</a:t>
            </a:r>
            <a:r>
              <a:rPr kumimoji="1" lang="zh-CN" altLang="en-US" sz="1100" b="1" dirty="0">
                <a:solidFill>
                  <a:srgbClr val="FFFF00"/>
                </a:solidFill>
                <a:latin typeface="微软雅黑" panose="020B0503020204020204" pitchFamily="34" charset="-122"/>
                <a:ea typeface="微软雅黑" panose="020B0503020204020204" pitchFamily="34" charset="-122"/>
              </a:rPr>
              <a:t>标准价）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51" name="矩形 50"/>
          <p:cNvSpPr/>
          <p:nvPr>
            <p:custDataLst>
              <p:tags r:id="rId5"/>
            </p:custDataLst>
          </p:nvPr>
        </p:nvSpPr>
        <p:spPr>
          <a:xfrm>
            <a:off x="775344" y="607835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产品材料成本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050" b="1" dirty="0">
                <a:solidFill>
                  <a:srgbClr val="FFFF00"/>
                </a:solidFill>
                <a:latin typeface="微软雅黑" panose="020B0503020204020204" pitchFamily="34" charset="-122"/>
                <a:ea typeface="微软雅黑" panose="020B0503020204020204" pitchFamily="34" charset="-122"/>
              </a:rPr>
              <a:t>（</a:t>
            </a:r>
            <a:r>
              <a:rPr kumimoji="1" lang="en-US" altLang="zh-CN" sz="1050" b="1" dirty="0">
                <a:solidFill>
                  <a:srgbClr val="FFFF00"/>
                </a:solidFill>
                <a:latin typeface="微软雅黑" panose="020B0503020204020204" pitchFamily="34" charset="-122"/>
                <a:ea typeface="微软雅黑" panose="020B0503020204020204" pitchFamily="34" charset="-122"/>
              </a:rPr>
              <a:t>V</a:t>
            </a:r>
            <a:r>
              <a:rPr kumimoji="1" lang="zh-CN" altLang="en-US" sz="1050" b="1" dirty="0">
                <a:solidFill>
                  <a:srgbClr val="FFFF00"/>
                </a:solidFill>
                <a:latin typeface="微软雅黑" panose="020B0503020204020204" pitchFamily="34" charset="-122"/>
                <a:ea typeface="微软雅黑" panose="020B0503020204020204" pitchFamily="34" charset="-122"/>
              </a:rPr>
              <a:t>移动加权价）</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3" name="矩形 2"/>
          <p:cNvSpPr/>
          <p:nvPr>
            <p:custDataLst>
              <p:tags r:id="rId6"/>
            </p:custDataLst>
          </p:nvPr>
        </p:nvSpPr>
        <p:spPr>
          <a:xfrm>
            <a:off x="2505782" y="311671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4" name="矩形 3"/>
          <p:cNvSpPr/>
          <p:nvPr>
            <p:custDataLst>
              <p:tags r:id="rId7"/>
            </p:custDataLst>
          </p:nvPr>
        </p:nvSpPr>
        <p:spPr>
          <a:xfrm>
            <a:off x="2505782" y="385521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制费成本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（最低价）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5" name="矩形 4"/>
          <p:cNvSpPr/>
          <p:nvPr>
            <p:custDataLst>
              <p:tags r:id="rId8"/>
            </p:custDataLst>
          </p:nvPr>
        </p:nvSpPr>
        <p:spPr>
          <a:xfrm>
            <a:off x="2505782" y="459525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sym typeface="+mn-ea"/>
              </a:rPr>
              <a:t>制费成本</a:t>
            </a:r>
            <a:endParaRPr kumimoji="1" lang="en-US" altLang="zh-CN" sz="1400" b="1" dirty="0">
              <a:latin typeface="微软雅黑" panose="020B0503020204020204" pitchFamily="34" charset="-122"/>
              <a:ea typeface="微软雅黑" panose="020B0503020204020204" pitchFamily="34" charset="-122"/>
              <a:sym typeface="+mn-ea"/>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（最近价）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7" name="矩形 6"/>
          <p:cNvSpPr/>
          <p:nvPr>
            <p:custDataLst>
              <p:tags r:id="rId9"/>
            </p:custDataLst>
          </p:nvPr>
        </p:nvSpPr>
        <p:spPr>
          <a:xfrm>
            <a:off x="2505782" y="533222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sym typeface="+mn-ea"/>
              </a:rPr>
              <a:t>制费成本</a:t>
            </a:r>
            <a:endParaRPr kumimoji="1" lang="en-US" altLang="zh-CN" sz="1400" b="1" dirty="0">
              <a:latin typeface="微软雅黑" panose="020B0503020204020204" pitchFamily="34" charset="-122"/>
              <a:ea typeface="微软雅黑" panose="020B0503020204020204" pitchFamily="34" charset="-122"/>
              <a:sym typeface="+mn-ea"/>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S</a:t>
            </a:r>
            <a:r>
              <a:rPr kumimoji="1" lang="zh-CN" altLang="en-US" sz="1100" b="1" dirty="0">
                <a:solidFill>
                  <a:srgbClr val="FFFF00"/>
                </a:solidFill>
                <a:latin typeface="微软雅黑" panose="020B0503020204020204" pitchFamily="34" charset="-122"/>
                <a:ea typeface="微软雅黑" panose="020B0503020204020204" pitchFamily="34" charset="-122"/>
              </a:rPr>
              <a:t>标准价）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8" name="矩形 7"/>
          <p:cNvSpPr/>
          <p:nvPr>
            <p:custDataLst>
              <p:tags r:id="rId10"/>
            </p:custDataLst>
          </p:nvPr>
        </p:nvSpPr>
        <p:spPr>
          <a:xfrm>
            <a:off x="2505782" y="607073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sym typeface="+mn-ea"/>
              </a:rPr>
              <a:t>制费成本</a:t>
            </a:r>
            <a:endParaRPr kumimoji="1" lang="en-US" altLang="zh-CN" sz="1400" b="1" dirty="0">
              <a:latin typeface="微软雅黑" panose="020B0503020204020204" pitchFamily="34" charset="-122"/>
              <a:ea typeface="微软雅黑" panose="020B0503020204020204" pitchFamily="34" charset="-122"/>
              <a:sym typeface="+mn-ea"/>
            </a:endParaRPr>
          </a:p>
          <a:p>
            <a:pPr algn="ctr"/>
            <a:r>
              <a:rPr kumimoji="1" lang="zh-CN" altLang="en-US" sz="1050" b="1" dirty="0">
                <a:solidFill>
                  <a:srgbClr val="FFFF00"/>
                </a:solidFill>
                <a:latin typeface="微软雅黑" panose="020B0503020204020204" pitchFamily="34" charset="-122"/>
                <a:ea typeface="微软雅黑" panose="020B0503020204020204" pitchFamily="34" charset="-122"/>
              </a:rPr>
              <a:t>（</a:t>
            </a:r>
            <a:r>
              <a:rPr kumimoji="1" lang="en-US" altLang="zh-CN" sz="1050" b="1" dirty="0">
                <a:solidFill>
                  <a:srgbClr val="FFFF00"/>
                </a:solidFill>
                <a:latin typeface="微软雅黑" panose="020B0503020204020204" pitchFamily="34" charset="-122"/>
                <a:ea typeface="微软雅黑" panose="020B0503020204020204" pitchFamily="34" charset="-122"/>
              </a:rPr>
              <a:t>V</a:t>
            </a:r>
            <a:r>
              <a:rPr kumimoji="1" lang="zh-CN" altLang="en-US" sz="1050" b="1" dirty="0">
                <a:solidFill>
                  <a:srgbClr val="FFFF00"/>
                </a:solidFill>
                <a:latin typeface="微软雅黑" panose="020B0503020204020204" pitchFamily="34" charset="-122"/>
                <a:ea typeface="微软雅黑" panose="020B0503020204020204" pitchFamily="34" charset="-122"/>
              </a:rPr>
              <a:t>移动加权价）</a:t>
            </a:r>
            <a:endParaRPr kumimoji="1"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9" name="矩形 8"/>
          <p:cNvSpPr/>
          <p:nvPr/>
        </p:nvSpPr>
        <p:spPr>
          <a:xfrm>
            <a:off x="4295212" y="311988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（最高价）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0" name="矩形 9"/>
          <p:cNvSpPr/>
          <p:nvPr/>
        </p:nvSpPr>
        <p:spPr>
          <a:xfrm>
            <a:off x="4294577" y="386156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（最低价）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1" name="矩形 10"/>
          <p:cNvSpPr/>
          <p:nvPr/>
        </p:nvSpPr>
        <p:spPr>
          <a:xfrm>
            <a:off x="4294577" y="4595253"/>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（最近价）</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12" name="矩形 11"/>
          <p:cNvSpPr/>
          <p:nvPr/>
        </p:nvSpPr>
        <p:spPr>
          <a:xfrm>
            <a:off x="4294577" y="534492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S</a:t>
            </a:r>
            <a:r>
              <a:rPr kumimoji="1" lang="zh-CN" altLang="en-US" sz="1100" b="1" dirty="0">
                <a:solidFill>
                  <a:srgbClr val="FFFF00"/>
                </a:solidFill>
                <a:latin typeface="微软雅黑" panose="020B0503020204020204" pitchFamily="34" charset="-122"/>
                <a:ea typeface="微软雅黑" panose="020B0503020204020204" pitchFamily="34" charset="-122"/>
              </a:rPr>
              <a:t>标准价）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13" name="矩形 12"/>
          <p:cNvSpPr/>
          <p:nvPr/>
        </p:nvSpPr>
        <p:spPr>
          <a:xfrm>
            <a:off x="4294577" y="6086608"/>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产品单位成本</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a:t>
            </a:r>
            <a:r>
              <a:rPr kumimoji="1" lang="en-US" altLang="zh-CN" sz="1100" b="1" dirty="0">
                <a:solidFill>
                  <a:srgbClr val="FFFF00"/>
                </a:solidFill>
                <a:latin typeface="微软雅黑" panose="020B0503020204020204" pitchFamily="34" charset="-122"/>
                <a:ea typeface="微软雅黑" panose="020B0503020204020204" pitchFamily="34" charset="-122"/>
              </a:rPr>
              <a:t>V</a:t>
            </a:r>
            <a:r>
              <a:rPr kumimoji="1" lang="zh-CN" altLang="en-US" sz="1100" b="1" dirty="0">
                <a:solidFill>
                  <a:srgbClr val="FFFF00"/>
                </a:solidFill>
                <a:latin typeface="微软雅黑" panose="020B0503020204020204" pitchFamily="34" charset="-122"/>
                <a:ea typeface="微软雅黑" panose="020B0503020204020204" pitchFamily="34" charset="-122"/>
              </a:rPr>
              <a:t>移动加权价）</a:t>
            </a:r>
            <a:endParaRPr kumimoji="1"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29" name="矩形 28"/>
          <p:cNvSpPr/>
          <p:nvPr/>
        </p:nvSpPr>
        <p:spPr>
          <a:xfrm>
            <a:off x="6111421" y="4086109"/>
            <a:ext cx="1188085"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产品基准价</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（选择一个）</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30" name="矩形 29"/>
          <p:cNvSpPr/>
          <p:nvPr/>
        </p:nvSpPr>
        <p:spPr>
          <a:xfrm>
            <a:off x="7951162" y="4595253"/>
            <a:ext cx="1188000"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产品基准价</a:t>
            </a:r>
            <a:endParaRPr kumimoji="1" lang="en-US" altLang="zh-CN" sz="1600" b="1" dirty="0">
              <a:latin typeface="微软雅黑" panose="020B0503020204020204" pitchFamily="34" charset="-122"/>
              <a:ea typeface="微软雅黑" panose="020B0503020204020204" pitchFamily="34" charset="-122"/>
            </a:endParaRPr>
          </a:p>
        </p:txBody>
      </p:sp>
      <p:sp>
        <p:nvSpPr>
          <p:cNvPr id="18" name="右箭头 232"/>
          <p:cNvSpPr/>
          <p:nvPr/>
        </p:nvSpPr>
        <p:spPr>
          <a:xfrm>
            <a:off x="7445334" y="4559103"/>
            <a:ext cx="360000" cy="72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35" name="十字形 34"/>
          <p:cNvSpPr/>
          <p:nvPr/>
        </p:nvSpPr>
        <p:spPr>
          <a:xfrm>
            <a:off x="2048736" y="4739103"/>
            <a:ext cx="360000" cy="360000"/>
          </a:xfrm>
          <a:prstGeom prst="plus">
            <a:avLst>
              <a:gd name="adj" fmla="val 35297"/>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7" name="右箭头 232"/>
          <p:cNvSpPr/>
          <p:nvPr/>
        </p:nvSpPr>
        <p:spPr>
          <a:xfrm>
            <a:off x="3815302" y="4559103"/>
            <a:ext cx="360000" cy="72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10410698" y="4595253"/>
            <a:ext cx="1188000" cy="6477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产品基准价</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（每平方米）</a:t>
            </a:r>
            <a:endParaRPr kumimoji="1" lang="en-US" altLang="zh-CN" sz="1200" b="1" dirty="0">
              <a:solidFill>
                <a:srgbClr val="FFFF00"/>
              </a:solidFill>
              <a:latin typeface="微软雅黑" panose="020B0503020204020204" pitchFamily="34" charset="-122"/>
              <a:ea typeface="微软雅黑" panose="020B0503020204020204" pitchFamily="34" charset="-122"/>
            </a:endParaRPr>
          </a:p>
        </p:txBody>
      </p:sp>
      <p:sp>
        <p:nvSpPr>
          <p:cNvPr id="14" name="右箭头 232"/>
          <p:cNvSpPr/>
          <p:nvPr/>
        </p:nvSpPr>
        <p:spPr>
          <a:xfrm>
            <a:off x="9284990" y="4559103"/>
            <a:ext cx="979880" cy="7200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100" b="1" dirty="0">
                <a:solidFill>
                  <a:schemeClr val="bg1"/>
                </a:solidFill>
                <a:latin typeface="微软雅黑" panose="020B0503020204020204" pitchFamily="34" charset="-122"/>
                <a:ea typeface="微软雅黑" panose="020B0503020204020204" pitchFamily="34" charset="-122"/>
              </a:rPr>
              <a:t>产品面积</a:t>
            </a:r>
            <a:endParaRPr kumimoji="1"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23" name="矩形 22"/>
          <p:cNvSpPr/>
          <p:nvPr/>
        </p:nvSpPr>
        <p:spPr>
          <a:xfrm>
            <a:off x="6111421" y="5096228"/>
            <a:ext cx="1188085" cy="6477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zh-CN" altLang="en-US" sz="1400" b="1" dirty="0">
                <a:latin typeface="微软雅黑" panose="020B0503020204020204" pitchFamily="34" charset="-122"/>
                <a:ea typeface="微软雅黑" panose="020B0503020204020204" pitchFamily="34" charset="-122"/>
              </a:rPr>
              <a:t>调整值</a:t>
            </a:r>
            <a:endParaRPr kumimoji="1" lang="en-US" altLang="zh-CN" sz="1400" b="1" dirty="0">
              <a:latin typeface="微软雅黑" panose="020B0503020204020204" pitchFamily="34" charset="-122"/>
              <a:ea typeface="微软雅黑" panose="020B0503020204020204" pitchFamily="34" charset="-122"/>
            </a:endParaRPr>
          </a:p>
          <a:p>
            <a:pPr algn="ctr"/>
            <a:r>
              <a:rPr kumimoji="1" lang="zh-CN" altLang="en-US" sz="1100" b="1" dirty="0">
                <a:solidFill>
                  <a:srgbClr val="FFFF00"/>
                </a:solidFill>
                <a:latin typeface="微软雅黑" panose="020B0503020204020204" pitchFamily="34" charset="-122"/>
                <a:ea typeface="微软雅黑" panose="020B0503020204020204" pitchFamily="34" charset="-122"/>
              </a:rPr>
              <a:t>（结合市场情况进行判断）</a:t>
            </a:r>
            <a:endParaRPr kumimoji="1" lang="en-US" altLang="zh-CN" sz="1100" b="1" dirty="0">
              <a:solidFill>
                <a:srgbClr val="FFFF00"/>
              </a:solidFill>
              <a:latin typeface="微软雅黑" panose="020B0503020204020204" pitchFamily="34" charset="-122"/>
              <a:ea typeface="微软雅黑" panose="020B0503020204020204" pitchFamily="34" charset="-122"/>
            </a:endParaRPr>
          </a:p>
        </p:txBody>
      </p:sp>
      <p:sp>
        <p:nvSpPr>
          <p:cNvPr id="24" name="右箭头 232"/>
          <p:cNvSpPr/>
          <p:nvPr/>
        </p:nvSpPr>
        <p:spPr>
          <a:xfrm>
            <a:off x="5621116" y="4559103"/>
            <a:ext cx="360000" cy="72000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以多维盈利能力分析为核心，构建成本因素分析体系</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8" name="矩形 7"/>
          <p:cNvSpPr/>
          <p:nvPr/>
        </p:nvSpPr>
        <p:spPr>
          <a:xfrm>
            <a:off x="511397" y="1714300"/>
            <a:ext cx="1095139" cy="417085"/>
          </a:xfrm>
          <a:prstGeom prst="rect">
            <a:avLst/>
          </a:prstGeom>
          <a:solidFill>
            <a:srgbClr val="11AFBB"/>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75" dirty="0">
                <a:solidFill>
                  <a:prstClr val="white"/>
                </a:solidFill>
                <a:latin typeface="微软雅黑" panose="020B0503020204020204" pitchFamily="34" charset="-122"/>
                <a:ea typeface="微软雅黑" panose="020B0503020204020204" pitchFamily="34" charset="-122"/>
                <a:cs typeface="+mn-ea"/>
              </a:rPr>
              <a:t>企业</a:t>
            </a:r>
            <a:endParaRPr lang="zh-CN" altLang="en-US" sz="1475" dirty="0">
              <a:solidFill>
                <a:prstClr val="white"/>
              </a:solidFill>
              <a:latin typeface="微软雅黑" panose="020B0503020204020204" pitchFamily="34" charset="-122"/>
              <a:ea typeface="微软雅黑" panose="020B0503020204020204" pitchFamily="34" charset="-122"/>
              <a:cs typeface="+mn-ea"/>
            </a:endParaRPr>
          </a:p>
        </p:txBody>
      </p:sp>
      <p:sp>
        <p:nvSpPr>
          <p:cNvPr id="17" name="AutoShape 4"/>
          <p:cNvSpPr>
            <a:spLocks noChangeArrowheads="1"/>
          </p:cNvSpPr>
          <p:nvPr>
            <p:custDataLst>
              <p:tags r:id="rId1"/>
            </p:custDataLst>
          </p:nvPr>
        </p:nvSpPr>
        <p:spPr bwMode="auto">
          <a:xfrm>
            <a:off x="1835128" y="4095828"/>
            <a:ext cx="5878991" cy="360639"/>
          </a:xfrm>
          <a:prstGeom prst="homePlate">
            <a:avLst>
              <a:gd name="adj" fmla="val 59030"/>
            </a:avLst>
          </a:prstGeom>
          <a:solidFill>
            <a:srgbClr val="0C7F8A"/>
          </a:solidFill>
          <a:ln>
            <a:noFill/>
          </a:ln>
        </p:spPr>
        <p:txBody>
          <a:bodyPr lIns="37890" tIns="37890" rIns="37890" bIns="37890"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zh-CN" altLang="en-US" sz="1685" dirty="0">
                <a:solidFill>
                  <a:schemeClr val="bg1"/>
                </a:solidFill>
                <a:latin typeface="微软雅黑" panose="020B0503020204020204" pitchFamily="34" charset="-122"/>
                <a:ea typeface="微软雅黑" panose="020B0503020204020204" pitchFamily="34" charset="-122"/>
                <a:cs typeface="+mn-ea"/>
                <a:sym typeface="+mn-lt"/>
              </a:rPr>
              <a:t>细化至订单</a:t>
            </a:r>
            <a:r>
              <a:rPr lang="en-US" altLang="zh-CN" sz="1685" dirty="0">
                <a:solidFill>
                  <a:schemeClr val="bg1"/>
                </a:solidFill>
                <a:latin typeface="微软雅黑" panose="020B0503020204020204" pitchFamily="34" charset="-122"/>
                <a:ea typeface="微软雅黑" panose="020B0503020204020204" pitchFamily="34" charset="-122"/>
                <a:cs typeface="+mn-ea"/>
                <a:sym typeface="+mn-lt"/>
              </a:rPr>
              <a:t>+</a:t>
            </a:r>
            <a:r>
              <a:rPr lang="zh-CN" altLang="en-US" sz="1685" dirty="0">
                <a:solidFill>
                  <a:schemeClr val="bg1"/>
                </a:solidFill>
                <a:latin typeface="微软雅黑" panose="020B0503020204020204" pitchFamily="34" charset="-122"/>
                <a:ea typeface="微软雅黑" panose="020B0503020204020204" pitchFamily="34" charset="-122"/>
                <a:cs typeface="+mn-ea"/>
                <a:sym typeface="+mn-lt"/>
              </a:rPr>
              <a:t>产品</a:t>
            </a:r>
            <a:r>
              <a:rPr lang="en-US" altLang="zh-CN" sz="1685" dirty="0">
                <a:solidFill>
                  <a:schemeClr val="bg1"/>
                </a:solidFill>
                <a:latin typeface="微软雅黑" panose="020B0503020204020204" pitchFamily="34" charset="-122"/>
                <a:ea typeface="微软雅黑" panose="020B0503020204020204" pitchFamily="34" charset="-122"/>
                <a:cs typeface="+mn-ea"/>
                <a:sym typeface="+mn-lt"/>
              </a:rPr>
              <a:t>BOM</a:t>
            </a:r>
            <a:r>
              <a:rPr lang="zh-CN" altLang="en-US" sz="1685" dirty="0">
                <a:solidFill>
                  <a:schemeClr val="bg1"/>
                </a:solidFill>
                <a:latin typeface="微软雅黑" panose="020B0503020204020204" pitchFamily="34" charset="-122"/>
                <a:ea typeface="微软雅黑" panose="020B0503020204020204" pitchFamily="34" charset="-122"/>
                <a:cs typeface="+mn-ea"/>
                <a:sym typeface="+mn-lt"/>
              </a:rPr>
              <a:t>材料标准成本与实际成本对比分析</a:t>
            </a:r>
            <a:endParaRPr lang="zh-CN" altLang="en-US" sz="168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8" name="圆角矩形 13"/>
          <p:cNvSpPr/>
          <p:nvPr/>
        </p:nvSpPr>
        <p:spPr>
          <a:xfrm>
            <a:off x="1737433" y="757687"/>
            <a:ext cx="6080666" cy="5874640"/>
          </a:xfrm>
          <a:prstGeom prst="roundRect">
            <a:avLst>
              <a:gd name="adj" fmla="val 1576"/>
            </a:avLst>
          </a:prstGeom>
          <a:noFill/>
          <a:ln w="25400" cmpd="dbl">
            <a:solidFill>
              <a:srgbClr val="0C7F8A"/>
            </a:solidFill>
            <a:prstDash val="sysDash"/>
          </a:ln>
          <a:extLst>
            <a:ext uri="{909E8E84-426E-40DD-AFC4-6F175D3DCCD1}">
              <a14:hiddenFill xmlns:a14="http://schemas.microsoft.com/office/drawing/2010/main">
                <a:solidFill>
                  <a:srgbClr val="BFBFB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65"/>
          </a:p>
        </p:txBody>
      </p:sp>
      <p:sp>
        <p:nvSpPr>
          <p:cNvPr id="19" name="Rectangle 55"/>
          <p:cNvSpPr>
            <a:spLocks noChangeArrowheads="1"/>
          </p:cNvSpPr>
          <p:nvPr/>
        </p:nvSpPr>
        <p:spPr bwMode="auto">
          <a:xfrm>
            <a:off x="4834162" y="4786488"/>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实际材料用量</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标准材料用量</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 实际材料价格</a:t>
            </a:r>
            <a:endParaRPr lang="en-US" altLang="zh-CN"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 name="Rectangle 17"/>
          <p:cNvSpPr>
            <a:spLocks noChangeArrowheads="1"/>
          </p:cNvSpPr>
          <p:nvPr/>
        </p:nvSpPr>
        <p:spPr bwMode="auto">
          <a:xfrm>
            <a:off x="1835126" y="4786488"/>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实际材料价格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标准材料价格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 标准单箱材料用量</a:t>
            </a:r>
            <a:endParaRPr lang="en-US" altLang="zh-CN"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 name="Rectangle 16"/>
          <p:cNvSpPr>
            <a:spLocks noChangeArrowheads="1"/>
          </p:cNvSpPr>
          <p:nvPr/>
        </p:nvSpPr>
        <p:spPr bwMode="auto">
          <a:xfrm>
            <a:off x="1835126" y="4484318"/>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材料价差</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2" name="Rectangle 47"/>
          <p:cNvSpPr>
            <a:spLocks noChangeArrowheads="1"/>
          </p:cNvSpPr>
          <p:nvPr/>
        </p:nvSpPr>
        <p:spPr bwMode="auto">
          <a:xfrm>
            <a:off x="4834162" y="4484318"/>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材料量差</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5" name="Rectangle: Rounded Corners 118"/>
          <p:cNvSpPr/>
          <p:nvPr/>
        </p:nvSpPr>
        <p:spPr>
          <a:xfrm>
            <a:off x="8267116" y="4294601"/>
            <a:ext cx="3616167" cy="1976891"/>
          </a:xfrm>
          <a:prstGeom prst="roundRect">
            <a:avLst/>
          </a:prstGeom>
          <a:noFill/>
          <a:effectLst/>
        </p:spPr>
        <p:txBody>
          <a:bodyPr wrap="square" rtlCol="0" anchor="ctr">
            <a:noAutofit/>
          </a:bodyPr>
          <a:lstStyle/>
          <a:p>
            <a:pPr marL="300990" indent="-300990" defTabSz="962660">
              <a:lnSpc>
                <a:spcPct val="150000"/>
              </a:lnSpc>
              <a:buFont typeface="Arial" panose="020B0604020202020204" pitchFamily="34" charset="0"/>
              <a:buChar char="•"/>
              <a:defRPr/>
            </a:pPr>
            <a:r>
              <a:rPr lang="zh-CN" altLang="en-US" sz="1600" dirty="0">
                <a:solidFill>
                  <a:srgbClr val="FF0000"/>
                </a:solidFill>
                <a:latin typeface="微软雅黑" panose="020B0503020204020204" pitchFamily="34" charset="-122"/>
                <a:ea typeface="微软雅黑" panose="020B0503020204020204" pitchFamily="34" charset="-122"/>
              </a:rPr>
              <a:t>优化成本控制</a:t>
            </a:r>
            <a:r>
              <a:rPr lang="zh-CN" altLang="en-US" sz="1600" dirty="0">
                <a:solidFill>
                  <a:srgbClr val="333333"/>
                </a:solidFill>
                <a:latin typeface="微软雅黑" panose="020B0503020204020204" pitchFamily="34" charset="-122"/>
                <a:ea typeface="微软雅黑" panose="020B0503020204020204" pitchFamily="34" charset="-122"/>
              </a:rPr>
              <a:t>，有助于识别成本控制中的薄弱环节进而改进。</a:t>
            </a:r>
            <a:endParaRPr lang="en-US" altLang="zh-CN" sz="1600" dirty="0">
              <a:solidFill>
                <a:srgbClr val="333333"/>
              </a:solidFill>
              <a:latin typeface="微软雅黑" panose="020B0503020204020204" pitchFamily="34" charset="-122"/>
              <a:ea typeface="微软雅黑" panose="020B0503020204020204" pitchFamily="34" charset="-122"/>
            </a:endParaRPr>
          </a:p>
          <a:p>
            <a:pPr marL="300990" indent="-300990" defTabSz="962660">
              <a:lnSpc>
                <a:spcPct val="150000"/>
              </a:lnSpc>
              <a:buFont typeface="Arial" panose="020B0604020202020204" pitchFamily="34" charset="0"/>
              <a:buChar char="•"/>
              <a:defRPr/>
            </a:pPr>
            <a:r>
              <a:rPr lang="zh-CN" altLang="en-US" sz="1600" dirty="0">
                <a:solidFill>
                  <a:srgbClr val="333333"/>
                </a:solidFill>
                <a:latin typeface="微软雅黑" panose="020B0503020204020204" pitchFamily="34" charset="-122"/>
                <a:ea typeface="微软雅黑" panose="020B0503020204020204" pitchFamily="34" charset="-122"/>
              </a:rPr>
              <a:t>成本控制逐步完善后，企业可以更加准确预测未来成本趋势，为后续预算预测</a:t>
            </a:r>
            <a:r>
              <a:rPr lang="zh-CN" altLang="en-US" sz="1600" dirty="0">
                <a:solidFill>
                  <a:srgbClr val="FF0000"/>
                </a:solidFill>
                <a:latin typeface="微软雅黑" panose="020B0503020204020204" pitchFamily="34" charset="-122"/>
                <a:ea typeface="微软雅黑" panose="020B0503020204020204" pitchFamily="34" charset="-122"/>
              </a:rPr>
              <a:t>提供数据基础</a:t>
            </a:r>
            <a:r>
              <a:rPr lang="zh-CN" altLang="en-US" sz="1600" dirty="0">
                <a:solidFill>
                  <a:srgbClr val="333333"/>
                </a:solidFill>
                <a:latin typeface="微软雅黑" panose="020B0503020204020204" pitchFamily="34" charset="-122"/>
                <a:ea typeface="微软雅黑" panose="020B0503020204020204" pitchFamily="34" charset="-122"/>
              </a:rPr>
              <a:t>。</a:t>
            </a:r>
            <a:endParaRPr lang="zh-CN" altLang="en-US" sz="1600" dirty="0">
              <a:solidFill>
                <a:srgbClr val="333333"/>
              </a:solidFill>
              <a:latin typeface="微软雅黑" panose="020B0503020204020204" pitchFamily="34" charset="-122"/>
              <a:ea typeface="微软雅黑" panose="020B0503020204020204" pitchFamily="34" charset="-122"/>
            </a:endParaRPr>
          </a:p>
        </p:txBody>
      </p:sp>
      <p:pic>
        <p:nvPicPr>
          <p:cNvPr id="26" name="Graphic 120" descr="Bullsey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33197" y="4893813"/>
            <a:ext cx="617049" cy="601749"/>
          </a:xfrm>
          <a:prstGeom prst="rect">
            <a:avLst/>
          </a:prstGeom>
        </p:spPr>
      </p:pic>
      <p:sp>
        <p:nvSpPr>
          <p:cNvPr id="35" name="矩形 34"/>
          <p:cNvSpPr/>
          <p:nvPr/>
        </p:nvSpPr>
        <p:spPr>
          <a:xfrm>
            <a:off x="504773" y="2352699"/>
            <a:ext cx="1095139" cy="417085"/>
          </a:xfrm>
          <a:prstGeom prst="rect">
            <a:avLst/>
          </a:prstGeom>
          <a:solidFill>
            <a:srgbClr val="11AFBB"/>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75" dirty="0">
                <a:solidFill>
                  <a:prstClr val="white"/>
                </a:solidFill>
                <a:latin typeface="微软雅黑" panose="020B0503020204020204" pitchFamily="34" charset="-122"/>
                <a:ea typeface="微软雅黑" panose="020B0503020204020204" pitchFamily="34" charset="-122"/>
                <a:cs typeface="+mn-ea"/>
              </a:rPr>
              <a:t>产品线</a:t>
            </a:r>
            <a:endParaRPr lang="zh-CN" altLang="en-US" sz="1475" dirty="0">
              <a:solidFill>
                <a:prstClr val="white"/>
              </a:solidFill>
              <a:latin typeface="微软雅黑" panose="020B0503020204020204" pitchFamily="34" charset="-122"/>
              <a:ea typeface="微软雅黑" panose="020B0503020204020204" pitchFamily="34" charset="-122"/>
              <a:cs typeface="+mn-ea"/>
            </a:endParaRPr>
          </a:p>
        </p:txBody>
      </p:sp>
      <p:sp>
        <p:nvSpPr>
          <p:cNvPr id="36" name="矩形 35"/>
          <p:cNvSpPr/>
          <p:nvPr/>
        </p:nvSpPr>
        <p:spPr>
          <a:xfrm>
            <a:off x="512760" y="3000033"/>
            <a:ext cx="1095139" cy="417085"/>
          </a:xfrm>
          <a:prstGeom prst="rect">
            <a:avLst/>
          </a:prstGeom>
          <a:solidFill>
            <a:srgbClr val="11AFBB"/>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75" dirty="0">
                <a:solidFill>
                  <a:prstClr val="white"/>
                </a:solidFill>
                <a:latin typeface="微软雅黑" panose="020B0503020204020204" pitchFamily="34" charset="-122"/>
                <a:ea typeface="微软雅黑" panose="020B0503020204020204" pitchFamily="34" charset="-122"/>
                <a:cs typeface="+mn-ea"/>
              </a:rPr>
              <a:t>客户</a:t>
            </a:r>
            <a:endParaRPr lang="zh-CN" altLang="en-US" sz="1475" dirty="0">
              <a:solidFill>
                <a:prstClr val="white"/>
              </a:solidFill>
              <a:latin typeface="微软雅黑" panose="020B0503020204020204" pitchFamily="34" charset="-122"/>
              <a:ea typeface="微软雅黑" panose="020B0503020204020204" pitchFamily="34" charset="-122"/>
              <a:cs typeface="+mn-ea"/>
            </a:endParaRPr>
          </a:p>
        </p:txBody>
      </p:sp>
      <p:sp>
        <p:nvSpPr>
          <p:cNvPr id="37" name="矩形 36"/>
          <p:cNvSpPr/>
          <p:nvPr/>
        </p:nvSpPr>
        <p:spPr>
          <a:xfrm>
            <a:off x="513981" y="3622221"/>
            <a:ext cx="1095139" cy="417085"/>
          </a:xfrm>
          <a:prstGeom prst="rect">
            <a:avLst/>
          </a:prstGeom>
          <a:solidFill>
            <a:srgbClr val="11AFBB"/>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75" dirty="0">
                <a:solidFill>
                  <a:prstClr val="white"/>
                </a:solidFill>
                <a:latin typeface="微软雅黑" panose="020B0503020204020204" pitchFamily="34" charset="-122"/>
                <a:ea typeface="微软雅黑" panose="020B0503020204020204" pitchFamily="34" charset="-122"/>
                <a:cs typeface="+mn-ea"/>
              </a:rPr>
              <a:t>产品系列</a:t>
            </a:r>
            <a:endParaRPr lang="zh-CN" altLang="en-US" sz="1475" dirty="0">
              <a:solidFill>
                <a:prstClr val="white"/>
              </a:solidFill>
              <a:latin typeface="微软雅黑" panose="020B0503020204020204" pitchFamily="34" charset="-122"/>
              <a:ea typeface="微软雅黑" panose="020B0503020204020204" pitchFamily="34" charset="-122"/>
              <a:cs typeface="+mn-ea"/>
            </a:endParaRPr>
          </a:p>
        </p:txBody>
      </p:sp>
      <p:sp>
        <p:nvSpPr>
          <p:cNvPr id="38" name="矩形 37"/>
          <p:cNvSpPr/>
          <p:nvPr/>
        </p:nvSpPr>
        <p:spPr>
          <a:xfrm>
            <a:off x="510875" y="4247924"/>
            <a:ext cx="1095139" cy="417085"/>
          </a:xfrm>
          <a:prstGeom prst="rect">
            <a:avLst/>
          </a:prstGeom>
          <a:solidFill>
            <a:srgbClr val="11AFBB"/>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75" dirty="0">
                <a:solidFill>
                  <a:prstClr val="white"/>
                </a:solidFill>
                <a:latin typeface="微软雅黑" panose="020B0503020204020204" pitchFamily="34" charset="-122"/>
                <a:ea typeface="微软雅黑" panose="020B0503020204020204" pitchFamily="34" charset="-122"/>
                <a:cs typeface="+mn-ea"/>
              </a:rPr>
              <a:t>产品</a:t>
            </a:r>
            <a:endParaRPr lang="zh-CN" altLang="en-US" sz="1475" dirty="0">
              <a:solidFill>
                <a:prstClr val="white"/>
              </a:solidFill>
              <a:latin typeface="微软雅黑" panose="020B0503020204020204" pitchFamily="34" charset="-122"/>
              <a:ea typeface="微软雅黑" panose="020B0503020204020204" pitchFamily="34" charset="-122"/>
              <a:cs typeface="+mn-ea"/>
            </a:endParaRPr>
          </a:p>
        </p:txBody>
      </p:sp>
      <p:sp>
        <p:nvSpPr>
          <p:cNvPr id="39" name="箭头: 下 33"/>
          <p:cNvSpPr/>
          <p:nvPr/>
        </p:nvSpPr>
        <p:spPr>
          <a:xfrm>
            <a:off x="980654" y="2131384"/>
            <a:ext cx="129778" cy="221315"/>
          </a:xfrm>
          <a:prstGeom prst="downArrow">
            <a:avLst/>
          </a:prstGeom>
          <a:solidFill>
            <a:srgbClr val="0C7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65"/>
          </a:p>
        </p:txBody>
      </p:sp>
      <p:sp>
        <p:nvSpPr>
          <p:cNvPr id="40" name="箭头: 下 34"/>
          <p:cNvSpPr/>
          <p:nvPr/>
        </p:nvSpPr>
        <p:spPr>
          <a:xfrm>
            <a:off x="982079" y="2773296"/>
            <a:ext cx="129778" cy="221315"/>
          </a:xfrm>
          <a:prstGeom prst="downArrow">
            <a:avLst/>
          </a:prstGeom>
          <a:solidFill>
            <a:srgbClr val="0C7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65" dirty="0"/>
          </a:p>
        </p:txBody>
      </p:sp>
      <p:sp>
        <p:nvSpPr>
          <p:cNvPr id="41" name="箭头: 下 35"/>
          <p:cNvSpPr/>
          <p:nvPr/>
        </p:nvSpPr>
        <p:spPr>
          <a:xfrm>
            <a:off x="980654" y="3416549"/>
            <a:ext cx="129778" cy="221315"/>
          </a:xfrm>
          <a:prstGeom prst="downArrow">
            <a:avLst/>
          </a:prstGeom>
          <a:solidFill>
            <a:srgbClr val="0C7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65" dirty="0"/>
          </a:p>
        </p:txBody>
      </p:sp>
      <p:sp>
        <p:nvSpPr>
          <p:cNvPr id="43" name="箭头: 下 38"/>
          <p:cNvSpPr/>
          <p:nvPr/>
        </p:nvSpPr>
        <p:spPr>
          <a:xfrm>
            <a:off x="980654" y="4031038"/>
            <a:ext cx="129778" cy="221315"/>
          </a:xfrm>
          <a:prstGeom prst="downArrow">
            <a:avLst/>
          </a:prstGeom>
          <a:solidFill>
            <a:srgbClr val="0C7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65" dirty="0"/>
          </a:p>
        </p:txBody>
      </p:sp>
      <p:sp>
        <p:nvSpPr>
          <p:cNvPr id="46" name="TextBox 39"/>
          <p:cNvSpPr txBox="1"/>
          <p:nvPr/>
        </p:nvSpPr>
        <p:spPr>
          <a:xfrm>
            <a:off x="1835126" y="6171765"/>
            <a:ext cx="2590650" cy="318770"/>
          </a:xfrm>
          <a:prstGeom prst="rect">
            <a:avLst/>
          </a:prstGeom>
          <a:noFill/>
          <a:ln w="3175">
            <a:noFill/>
          </a:ln>
        </p:spPr>
        <p:txBody>
          <a:bodyPr wrap="square" rtlCol="0">
            <a:spAutoFit/>
          </a:bodyPr>
          <a:lstStyle/>
          <a:p>
            <a:pPr marL="171450" indent="-171450">
              <a:buFont typeface="Wingdings" panose="05000000000000000000" pitchFamily="2" charset="2"/>
              <a:buChar char="u"/>
            </a:pPr>
            <a:r>
              <a:rPr lang="zh-CN" altLang="en-US" sz="1480" dirty="0">
                <a:latin typeface="微软雅黑" panose="020B0503020204020204" pitchFamily="34" charset="-122"/>
                <a:ea typeface="微软雅黑" panose="020B0503020204020204" pitchFamily="34" charset="-122"/>
                <a:cs typeface="+mn-ea"/>
                <a:sym typeface="+mn-lt"/>
              </a:rPr>
              <a:t>不同场景对比</a:t>
            </a:r>
            <a:endParaRPr lang="en-US" sz="1480" dirty="0">
              <a:latin typeface="微软雅黑" panose="020B0503020204020204" pitchFamily="34" charset="-122"/>
              <a:ea typeface="微软雅黑" panose="020B0503020204020204" pitchFamily="34" charset="-122"/>
              <a:cs typeface="+mn-ea"/>
              <a:sym typeface="+mn-lt"/>
            </a:endParaRPr>
          </a:p>
        </p:txBody>
      </p:sp>
      <p:sp>
        <p:nvSpPr>
          <p:cNvPr id="49" name="TextBox 49"/>
          <p:cNvSpPr txBox="1"/>
          <p:nvPr/>
        </p:nvSpPr>
        <p:spPr>
          <a:xfrm>
            <a:off x="4585475" y="6057730"/>
            <a:ext cx="2571555" cy="546100"/>
          </a:xfrm>
          <a:prstGeom prst="rect">
            <a:avLst/>
          </a:prstGeom>
          <a:noFill/>
        </p:spPr>
        <p:txBody>
          <a:bodyPr wrap="square" rtlCol="0">
            <a:spAutoFit/>
          </a:bodyPr>
          <a:lstStyle/>
          <a:p>
            <a:pPr algn="ctr"/>
            <a:r>
              <a:rPr lang="zh-CN" altLang="en-US" sz="1480" dirty="0">
                <a:latin typeface="微软雅黑" panose="020B0503020204020204" pitchFamily="34" charset="-122"/>
                <a:ea typeface="微软雅黑" panose="020B0503020204020204" pitchFamily="34" charset="-122"/>
                <a:cs typeface="+mn-ea"/>
                <a:sym typeface="+mn-lt"/>
              </a:rPr>
              <a:t>实际 </a:t>
            </a:r>
            <a:r>
              <a:rPr lang="en-US" altLang="zh-CN" sz="1480" dirty="0">
                <a:latin typeface="微软雅黑" panose="020B0503020204020204" pitchFamily="34" charset="-122"/>
                <a:ea typeface="微软雅黑" panose="020B0503020204020204" pitchFamily="34" charset="-122"/>
                <a:cs typeface="+mn-ea"/>
                <a:sym typeface="+mn-lt"/>
              </a:rPr>
              <a:t>VS. </a:t>
            </a:r>
            <a:r>
              <a:rPr lang="zh-CN" altLang="en-US" sz="1480" dirty="0">
                <a:latin typeface="微软雅黑" panose="020B0503020204020204" pitchFamily="34" charset="-122"/>
                <a:ea typeface="微软雅黑" panose="020B0503020204020204" pitchFamily="34" charset="-122"/>
                <a:cs typeface="+mn-ea"/>
                <a:sym typeface="+mn-lt"/>
              </a:rPr>
              <a:t>标准</a:t>
            </a:r>
            <a:endParaRPr lang="en-US" altLang="zh-CN" sz="1480" dirty="0">
              <a:latin typeface="微软雅黑" panose="020B0503020204020204" pitchFamily="34" charset="-122"/>
              <a:ea typeface="微软雅黑" panose="020B0503020204020204" pitchFamily="34" charset="-122"/>
              <a:cs typeface="+mn-ea"/>
              <a:sym typeface="+mn-lt"/>
            </a:endParaRPr>
          </a:p>
          <a:p>
            <a:pPr algn="ctr"/>
            <a:r>
              <a:rPr lang="zh-CN" altLang="en-US" sz="1480" dirty="0">
                <a:latin typeface="微软雅黑" panose="020B0503020204020204" pitchFamily="34" charset="-122"/>
                <a:ea typeface="微软雅黑" panose="020B0503020204020204" pitchFamily="34" charset="-122"/>
                <a:cs typeface="+mn-ea"/>
                <a:sym typeface="+mn-lt"/>
              </a:rPr>
              <a:t>实际 </a:t>
            </a:r>
            <a:r>
              <a:rPr lang="en-US" altLang="zh-CN" sz="1480" dirty="0">
                <a:latin typeface="微软雅黑" panose="020B0503020204020204" pitchFamily="34" charset="-122"/>
                <a:ea typeface="微软雅黑" panose="020B0503020204020204" pitchFamily="34" charset="-122"/>
                <a:cs typeface="+mn-ea"/>
                <a:sym typeface="+mn-lt"/>
              </a:rPr>
              <a:t>VS. </a:t>
            </a:r>
            <a:r>
              <a:rPr lang="zh-CN" altLang="en-US" sz="1480" dirty="0">
                <a:latin typeface="微软雅黑" panose="020B0503020204020204" pitchFamily="34" charset="-122"/>
                <a:ea typeface="微软雅黑" panose="020B0503020204020204" pitchFamily="34" charset="-122"/>
                <a:cs typeface="+mn-ea"/>
                <a:sym typeface="+mn-lt"/>
              </a:rPr>
              <a:t>预测</a:t>
            </a:r>
            <a:endParaRPr lang="zh-CN" altLang="en-US" sz="1480" dirty="0">
              <a:latin typeface="微软雅黑" panose="020B0503020204020204" pitchFamily="34" charset="-122"/>
              <a:ea typeface="微软雅黑" panose="020B0503020204020204" pitchFamily="34" charset="-122"/>
              <a:cs typeface="+mn-ea"/>
              <a:sym typeface="+mn-lt"/>
            </a:endParaRPr>
          </a:p>
        </p:txBody>
      </p:sp>
      <p:sp>
        <p:nvSpPr>
          <p:cNvPr id="57" name="Rectangle 17"/>
          <p:cNvSpPr>
            <a:spLocks noChangeArrowheads="1"/>
          </p:cNvSpPr>
          <p:nvPr/>
        </p:nvSpPr>
        <p:spPr bwMode="auto">
          <a:xfrm>
            <a:off x="1837160" y="5680433"/>
            <a:ext cx="5876956" cy="359995"/>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gn="ctr">
              <a:lnSpc>
                <a:spcPct val="150000"/>
              </a:lnSpc>
              <a:buClr>
                <a:srgbClr val="FFFFFF"/>
              </a:buClr>
              <a:buSzPct val="100000"/>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实际成本</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标准成本</a:t>
            </a:r>
            <a:endParaRPr lang="en-US" altLang="zh-CN"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8" name="Rectangle 16"/>
          <p:cNvSpPr>
            <a:spLocks noChangeArrowheads="1"/>
          </p:cNvSpPr>
          <p:nvPr/>
        </p:nvSpPr>
        <p:spPr bwMode="auto">
          <a:xfrm>
            <a:off x="1837160" y="5378262"/>
            <a:ext cx="5876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金额差</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4" name="AutoShape 4"/>
          <p:cNvSpPr>
            <a:spLocks noChangeArrowheads="1"/>
          </p:cNvSpPr>
          <p:nvPr>
            <p:custDataLst>
              <p:tags r:id="rId4"/>
            </p:custDataLst>
          </p:nvPr>
        </p:nvSpPr>
        <p:spPr bwMode="auto">
          <a:xfrm>
            <a:off x="1835126" y="826064"/>
            <a:ext cx="5878991" cy="360639"/>
          </a:xfrm>
          <a:prstGeom prst="homePlate">
            <a:avLst>
              <a:gd name="adj" fmla="val 59030"/>
            </a:avLst>
          </a:prstGeom>
          <a:solidFill>
            <a:srgbClr val="0C7F8A"/>
          </a:solidFill>
          <a:ln>
            <a:noFill/>
          </a:ln>
        </p:spPr>
        <p:txBody>
          <a:bodyPr lIns="37890" tIns="37890" rIns="37890" bIns="37890"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zh-CN" altLang="en-US" sz="1685" dirty="0">
                <a:solidFill>
                  <a:schemeClr val="bg1"/>
                </a:solidFill>
                <a:latin typeface="微软雅黑" panose="020B0503020204020204" pitchFamily="34" charset="-122"/>
                <a:ea typeface="微软雅黑" panose="020B0503020204020204" pitchFamily="34" charset="-122"/>
                <a:cs typeface="+mn-ea"/>
                <a:sym typeface="+mn-lt"/>
              </a:rPr>
              <a:t>基于订单</a:t>
            </a:r>
            <a:r>
              <a:rPr lang="en-US" altLang="zh-CN" sz="1685" dirty="0">
                <a:solidFill>
                  <a:schemeClr val="bg1"/>
                </a:solidFill>
                <a:latin typeface="微软雅黑" panose="020B0503020204020204" pitchFamily="34" charset="-122"/>
                <a:ea typeface="微软雅黑" panose="020B0503020204020204" pitchFamily="34" charset="-122"/>
                <a:cs typeface="+mn-ea"/>
                <a:sym typeface="+mn-lt"/>
              </a:rPr>
              <a:t>+</a:t>
            </a:r>
            <a:r>
              <a:rPr lang="zh-CN" altLang="en-US" sz="1685" dirty="0">
                <a:solidFill>
                  <a:schemeClr val="bg1"/>
                </a:solidFill>
                <a:latin typeface="微软雅黑" panose="020B0503020204020204" pitchFamily="34" charset="-122"/>
                <a:ea typeface="微软雅黑" panose="020B0503020204020204" pitchFamily="34" charset="-122"/>
                <a:cs typeface="+mn-ea"/>
                <a:sym typeface="+mn-lt"/>
              </a:rPr>
              <a:t>产品基准价的单位成本的预测与实际对比分析</a:t>
            </a:r>
            <a:endParaRPr lang="zh-CN" altLang="en-US" sz="168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Rectangle 55"/>
          <p:cNvSpPr>
            <a:spLocks noChangeArrowheads="1"/>
          </p:cNvSpPr>
          <p:nvPr/>
        </p:nvSpPr>
        <p:spPr bwMode="auto">
          <a:xfrm>
            <a:off x="4834162" y="1544513"/>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实际费率</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预测费率</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 name="Rectangle 17"/>
          <p:cNvSpPr>
            <a:spLocks noChangeArrowheads="1"/>
          </p:cNvSpPr>
          <p:nvPr/>
        </p:nvSpPr>
        <p:spPr bwMode="auto">
          <a:xfrm>
            <a:off x="1835126" y="1544513"/>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 </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 预测销售数量</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 name="Rectangle 16"/>
          <p:cNvSpPr>
            <a:spLocks noChangeArrowheads="1"/>
          </p:cNvSpPr>
          <p:nvPr/>
        </p:nvSpPr>
        <p:spPr bwMode="auto">
          <a:xfrm>
            <a:off x="1835126" y="1242342"/>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销售价格</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0" name="Rectangle 47"/>
          <p:cNvSpPr>
            <a:spLocks noChangeArrowheads="1"/>
          </p:cNvSpPr>
          <p:nvPr/>
        </p:nvSpPr>
        <p:spPr bwMode="auto">
          <a:xfrm>
            <a:off x="4834162" y="1242342"/>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费率</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1" name="Rectangle 55"/>
          <p:cNvSpPr>
            <a:spLocks noChangeArrowheads="1"/>
          </p:cNvSpPr>
          <p:nvPr/>
        </p:nvSpPr>
        <p:spPr bwMode="auto">
          <a:xfrm>
            <a:off x="4834162" y="2438980"/>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实际材料用量</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预测材料用量</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 实际材料价格</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 name="Rectangle 17"/>
          <p:cNvSpPr>
            <a:spLocks noChangeArrowheads="1"/>
          </p:cNvSpPr>
          <p:nvPr/>
        </p:nvSpPr>
        <p:spPr bwMode="auto">
          <a:xfrm>
            <a:off x="1835126" y="2438980"/>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实际材料价格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预测材料价格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 预测材料用量</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 name="Rectangle 16"/>
          <p:cNvSpPr>
            <a:spLocks noChangeArrowheads="1"/>
          </p:cNvSpPr>
          <p:nvPr/>
        </p:nvSpPr>
        <p:spPr bwMode="auto">
          <a:xfrm>
            <a:off x="1835126" y="2136810"/>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材料价格</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4" name="Rectangle 47"/>
          <p:cNvSpPr>
            <a:spLocks noChangeArrowheads="1"/>
          </p:cNvSpPr>
          <p:nvPr/>
        </p:nvSpPr>
        <p:spPr bwMode="auto">
          <a:xfrm>
            <a:off x="4834162" y="2136810"/>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材料用量</a:t>
            </a:r>
            <a:endParaRPr lang="zh-CN" altLang="en-US"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5" name="Rectangle 55"/>
          <p:cNvSpPr>
            <a:spLocks noChangeArrowheads="1"/>
          </p:cNvSpPr>
          <p:nvPr/>
        </p:nvSpPr>
        <p:spPr bwMode="auto">
          <a:xfrm>
            <a:off x="4834162" y="3332918"/>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实际固定费用金额</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预测固定费用金额</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 name="Rectangle 17"/>
          <p:cNvSpPr>
            <a:spLocks noChangeArrowheads="1"/>
          </p:cNvSpPr>
          <p:nvPr/>
        </p:nvSpPr>
        <p:spPr bwMode="auto">
          <a:xfrm>
            <a:off x="1835126" y="3332918"/>
            <a:ext cx="2879956" cy="539992"/>
          </a:xfrm>
          <a:prstGeom prst="rect">
            <a:avLst/>
          </a:prstGeom>
          <a:solidFill>
            <a:schemeClr val="accent3">
              <a:lumMod val="20000"/>
              <a:lumOff val="80000"/>
            </a:schemeClr>
          </a:solidFill>
          <a:ln w="3175">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lIns="36000" tIns="0" rIns="36000" bIns="0" anchor="ctr"/>
          <a:lstStyle/>
          <a:p>
            <a:pPr>
              <a:lnSpc>
                <a:spcPct val="150000"/>
              </a:lnSpc>
              <a:buClr>
                <a:srgbClr val="FFFFFF"/>
              </a:buClr>
              <a:buSzPct val="100000"/>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实际变动费用金额</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预测变动费用金额</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3" name="Rectangle 16"/>
          <p:cNvSpPr>
            <a:spLocks noChangeArrowheads="1"/>
          </p:cNvSpPr>
          <p:nvPr/>
        </p:nvSpPr>
        <p:spPr bwMode="auto">
          <a:xfrm>
            <a:off x="1835126" y="3030748"/>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变动费用</a:t>
            </a:r>
            <a:endParaRPr lang="en-US" altLang="zh-CN"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4" name="Rectangle 47"/>
          <p:cNvSpPr>
            <a:spLocks noChangeArrowheads="1"/>
          </p:cNvSpPr>
          <p:nvPr/>
        </p:nvSpPr>
        <p:spPr bwMode="auto">
          <a:xfrm>
            <a:off x="4834162" y="3030748"/>
            <a:ext cx="2879956" cy="304782"/>
          </a:xfrm>
          <a:prstGeom prst="rect">
            <a:avLst/>
          </a:prstGeom>
          <a:solidFill>
            <a:srgbClr val="48AEB1"/>
          </a:solidFill>
          <a:ln>
            <a:noFill/>
            <a:headEnd type="none" w="sm" len="sm"/>
            <a:tailEnd type="none" w="med" len="lg"/>
          </a:ln>
        </p:spPr>
        <p:style>
          <a:lnRef idx="2">
            <a:schemeClr val="accent3"/>
          </a:lnRef>
          <a:fillRef idx="1">
            <a:schemeClr val="lt1"/>
          </a:fillRef>
          <a:effectRef idx="0">
            <a:schemeClr val="accent3"/>
          </a:effectRef>
          <a:fontRef idx="minor">
            <a:schemeClr val="dk1"/>
          </a:fontRef>
        </p:style>
        <p:txBody>
          <a:bodyPr tIns="96240" bIns="96240" anchor="ctr"/>
          <a:lstStyle/>
          <a:p>
            <a:pPr algn="ctr">
              <a:buClr>
                <a:srgbClr val="FFFFFF"/>
              </a:buClr>
              <a:buSzPct val="100000"/>
            </a:pPr>
            <a:r>
              <a:rPr lang="zh-CN" altLang="en-US" sz="1480" dirty="0">
                <a:solidFill>
                  <a:prstClr val="white"/>
                </a:solidFill>
                <a:latin typeface="微软雅黑" panose="020B0503020204020204" pitchFamily="34" charset="-122"/>
                <a:ea typeface="微软雅黑" panose="020B0503020204020204" pitchFamily="34" charset="-122"/>
                <a:cs typeface="+mn-ea"/>
                <a:sym typeface="+mn-lt"/>
              </a:rPr>
              <a:t>固定费用</a:t>
            </a:r>
            <a:endParaRPr lang="zh-CN" altLang="en-US" sz="148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9" name="Rectangle: Rounded Corners 118"/>
          <p:cNvSpPr/>
          <p:nvPr/>
        </p:nvSpPr>
        <p:spPr>
          <a:xfrm>
            <a:off x="8267116" y="1436159"/>
            <a:ext cx="3616167" cy="1976891"/>
          </a:xfrm>
          <a:prstGeom prst="roundRect">
            <a:avLst/>
          </a:prstGeom>
          <a:noFill/>
          <a:effectLst/>
        </p:spPr>
        <p:txBody>
          <a:bodyPr wrap="square" rtlCol="0" anchor="ctr">
            <a:noAutofit/>
          </a:bodyPr>
          <a:lstStyle/>
          <a:p>
            <a:pPr marL="284480" indent="-284480" defTabSz="909320">
              <a:lnSpc>
                <a:spcPct val="150000"/>
              </a:lnSpc>
              <a:buFont typeface="Arial" panose="020B0604020202020204" pitchFamily="34" charset="0"/>
              <a:buChar char="•"/>
              <a:defRPr/>
            </a:pPr>
            <a:r>
              <a:rPr lang="zh-CN" altLang="en-US" sz="1600" dirty="0">
                <a:solidFill>
                  <a:srgbClr val="333333"/>
                </a:solidFill>
                <a:latin typeface="微软雅黑" panose="020B0503020204020204" pitchFamily="34" charset="-122"/>
                <a:ea typeface="微软雅黑" panose="020B0503020204020204" pitchFamily="34" charset="-122"/>
              </a:rPr>
              <a:t>产品利润影响因素精细化拆解，提升</a:t>
            </a:r>
            <a:r>
              <a:rPr lang="zh-CN" altLang="en-US" sz="1600" dirty="0">
                <a:solidFill>
                  <a:srgbClr val="FF0000"/>
                </a:solidFill>
                <a:latin typeface="微软雅黑" panose="020B0503020204020204" pitchFamily="34" charset="-122"/>
                <a:ea typeface="微软雅黑" panose="020B0503020204020204" pitchFamily="34" charset="-122"/>
              </a:rPr>
              <a:t>预测精度</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4480" indent="-284480" defTabSz="909320">
              <a:lnSpc>
                <a:spcPct val="150000"/>
              </a:lnSpc>
              <a:buFont typeface="Arial" panose="020B0604020202020204" pitchFamily="34" charset="0"/>
              <a:buChar char="•"/>
              <a:defRPr/>
            </a:pPr>
            <a:r>
              <a:rPr lang="zh-CN" altLang="en-US" sz="1600" dirty="0">
                <a:solidFill>
                  <a:srgbClr val="333333"/>
                </a:solidFill>
                <a:latin typeface="微软雅黑" panose="020B0503020204020204" pitchFamily="34" charset="-122"/>
                <a:ea typeface="微软雅黑" panose="020B0503020204020204" pitchFamily="34" charset="-122"/>
              </a:rPr>
              <a:t>清晰呈现单个产品对企业利润的</a:t>
            </a:r>
            <a:r>
              <a:rPr lang="zh-CN" altLang="en-US" sz="1600" dirty="0">
                <a:latin typeface="微软雅黑" panose="020B0503020204020204" pitchFamily="34" charset="-122"/>
                <a:ea typeface="微软雅黑" panose="020B0503020204020204" pitchFamily="34" charset="-122"/>
              </a:rPr>
              <a:t>贡献程度，逐步提高预测准确性</a:t>
            </a:r>
            <a:r>
              <a:rPr lang="zh-CN" altLang="en-US" sz="1600" dirty="0">
                <a:solidFill>
                  <a:srgbClr val="333333"/>
                </a:solidFill>
                <a:latin typeface="微软雅黑" panose="020B0503020204020204" pitchFamily="34" charset="-122"/>
                <a:ea typeface="微软雅黑" panose="020B0503020204020204" pitchFamily="34" charset="-122"/>
              </a:rPr>
              <a:t>。</a:t>
            </a:r>
            <a:endParaRPr lang="zh-CN" altLang="en-US" sz="1600" dirty="0">
              <a:solidFill>
                <a:srgbClr val="333333"/>
              </a:solidFill>
              <a:latin typeface="微软雅黑" panose="020B0503020204020204" pitchFamily="34" charset="-122"/>
              <a:ea typeface="微软雅黑" panose="020B0503020204020204" pitchFamily="34" charset="-122"/>
            </a:endParaRPr>
          </a:p>
        </p:txBody>
      </p:sp>
      <p:pic>
        <p:nvPicPr>
          <p:cNvPr id="30" name="Graphic 120" descr="Bullsey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33197" y="2035372"/>
            <a:ext cx="617049" cy="601749"/>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3709" y="384910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4255" y="384937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55870" y="4539615"/>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现状</a:t>
            </a:r>
            <a:r>
              <a:rPr lang="zh-CN" altLang="en-US" sz="1200" dirty="0">
                <a:sym typeface="+mn-ea"/>
              </a:rPr>
              <a:t>挑战</a:t>
            </a:r>
            <a:endParaRPr lang="zh-CN" altLang="en-US" sz="1200" dirty="0">
              <a:sym typeface="+mn-ea"/>
            </a:endParaRPr>
          </a:p>
        </p:txBody>
      </p:sp>
      <p:sp>
        <p:nvSpPr>
          <p:cNvPr id="8" name="文本占位符 17"/>
          <p:cNvSpPr txBox="1"/>
          <p:nvPr>
            <p:custDataLst>
              <p:tags r:id="rId14"/>
            </p:custDataLst>
          </p:nvPr>
        </p:nvSpPr>
        <p:spPr>
          <a:xfrm>
            <a:off x="4471670" y="4539615"/>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5</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55870"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数据管理体系建设</a:t>
            </a:r>
            <a:r>
              <a:rPr lang="zh-CN" altLang="en-US" sz="1200" dirty="0">
                <a:sym typeface="+mn-ea"/>
              </a:rPr>
              <a:t>方案</a:t>
            </a:r>
            <a:endParaRPr lang="zh-CN" altLang="en-US" sz="1200" dirty="0">
              <a:sym typeface="+mn-ea"/>
            </a:endParaRPr>
          </a:p>
        </p:txBody>
      </p:sp>
      <p:sp>
        <p:nvSpPr>
          <p:cNvPr id="23" name="文本占位符 17"/>
          <p:cNvSpPr txBox="1"/>
          <p:nvPr>
            <p:custDataLst>
              <p:tags r:id="rId16"/>
            </p:custDataLst>
          </p:nvPr>
        </p:nvSpPr>
        <p:spPr>
          <a:xfrm>
            <a:off x="4471670" y="494030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8376285"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总体</a:t>
            </a:r>
            <a:r>
              <a:rPr lang="zh-CN" altLang="en-US" sz="1200" dirty="0">
                <a:sym typeface="+mn-ea"/>
              </a:rPr>
              <a:t>方案</a:t>
            </a:r>
            <a:endParaRPr lang="zh-CN" altLang="en-US" sz="1200" dirty="0">
              <a:sym typeface="+mn-ea"/>
            </a:endParaRPr>
          </a:p>
        </p:txBody>
      </p:sp>
      <p:sp>
        <p:nvSpPr>
          <p:cNvPr id="28" name="文本占位符 17"/>
          <p:cNvSpPr txBox="1"/>
          <p:nvPr>
            <p:custDataLst>
              <p:tags r:id="rId18"/>
            </p:custDataLst>
          </p:nvPr>
        </p:nvSpPr>
        <p:spPr>
          <a:xfrm>
            <a:off x="7792085" y="453961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5</a:t>
            </a:r>
            <a:r>
              <a:rPr lang="zh-CN" altLang="en-US" sz="1200" dirty="0">
                <a:sym typeface="+mn-ea"/>
              </a:rPr>
              <a:t>.</a:t>
            </a:r>
            <a:r>
              <a:rPr lang="zh-CN" altLang="en-US" sz="1200" dirty="0">
                <a:sym typeface="+mn-ea"/>
              </a:rPr>
              <a:t>2</a:t>
            </a:r>
            <a:endParaRPr lang="zh-CN" altLang="en-US" sz="1200" dirty="0">
              <a:sym typeface="+mn-ea"/>
            </a:endParaRPr>
          </a:p>
        </p:txBody>
      </p:sp>
      <p:sp>
        <p:nvSpPr>
          <p:cNvPr id="31" name="文本占位符 17"/>
          <p:cNvSpPr txBox="1"/>
          <p:nvPr>
            <p:custDataLst>
              <p:tags r:id="rId19"/>
            </p:custDataLst>
          </p:nvPr>
        </p:nvSpPr>
        <p:spPr>
          <a:xfrm>
            <a:off x="8376285"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场景应用</a:t>
            </a:r>
            <a:r>
              <a:rPr lang="zh-CN" altLang="en-US" sz="1200" dirty="0">
                <a:sym typeface="+mn-ea"/>
              </a:rPr>
              <a:t>方案</a:t>
            </a:r>
            <a:endParaRPr lang="zh-CN" altLang="en-US" sz="1200" dirty="0">
              <a:sym typeface="+mn-ea"/>
            </a:endParaRPr>
          </a:p>
        </p:txBody>
      </p:sp>
      <p:sp>
        <p:nvSpPr>
          <p:cNvPr id="32" name="文本占位符 17"/>
          <p:cNvSpPr txBox="1"/>
          <p:nvPr>
            <p:custDataLst>
              <p:tags r:id="rId20"/>
            </p:custDataLst>
          </p:nvPr>
        </p:nvSpPr>
        <p:spPr>
          <a:xfrm>
            <a:off x="7792085" y="4940300"/>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5</a:t>
            </a:r>
            <a:r>
              <a:rPr lang="zh-CN" altLang="en-US" sz="1200" dirty="0">
                <a:sym typeface="+mn-ea"/>
              </a:rPr>
              <a:t>.</a:t>
            </a:r>
            <a:r>
              <a:rPr lang="en-US" altLang="zh-CN" sz="1200" dirty="0">
                <a:sym typeface="+mn-ea"/>
              </a:rPr>
              <a:t>4</a:t>
            </a:r>
            <a:endParaRPr lang="en-US" altLang="zh-CN" sz="1200" dirty="0">
              <a:sym typeface="+mn-ea"/>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noChangeArrowheads="1"/>
          </p:cNvSpPr>
          <p:nvPr>
            <p:ph type="title"/>
          </p:nvPr>
        </p:nvSpPr>
        <p:spPr>
          <a:prstGeom prst="rect">
            <a:avLst/>
          </a:prstGeom>
        </p:spPr>
        <p:txBody>
          <a:bodyPr/>
          <a:p>
            <a:r>
              <a:rPr lang="en-US" altLang="zh-CN"/>
              <a:t> </a:t>
            </a:r>
            <a:endParaRPr lang="en-US" altLang="zh-CN"/>
          </a:p>
        </p:txBody>
      </p:sp>
      <p:sp>
        <p:nvSpPr>
          <p:cNvPr id="21" name="标题 4"/>
          <p:cNvSpPr/>
          <p:nvPr/>
        </p:nvSpPr>
        <p:spPr bwMode="auto">
          <a:xfrm>
            <a:off x="534670" y="150495"/>
            <a:ext cx="9427210" cy="590550"/>
          </a:xfrm>
          <a:prstGeom prst="rect">
            <a:avLst/>
          </a:prstGeom>
        </p:spPr>
        <p:txBody>
          <a:bodyPr vert="horz" lIns="0" tIns="0" rIns="0" bIns="0" rtlCol="0" anchor="t" anchorCtr="0">
            <a:noAutofit/>
          </a:bodyPr>
          <a:lstStyle/>
          <a:p>
            <a:pPr lvl="0" algn="l" defTabSz="1828800">
              <a:lnSpc>
                <a:spcPct val="130000"/>
              </a:lnSpc>
              <a:spcAft>
                <a:spcPts val="0"/>
              </a:spcAft>
              <a:buClrTx/>
              <a:buSzTx/>
              <a:buFontTx/>
            </a:pPr>
            <a:r>
              <a:rPr lang="zh-CN" altLang="en-US" sz="2540" b="1"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HR</a:t>
            </a:r>
            <a:r>
              <a:rPr lang="zh-CN" altLang="en-US" sz="2540" b="1"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主数据管理面临的主要挑战</a:t>
            </a:r>
            <a:endParaRPr lang="zh-CN" altLang="en-US" sz="2540" b="1"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内容占位符 2"/>
          <p:cNvSpPr>
            <a:spLocks noChangeArrowheads="1"/>
          </p:cNvSpPr>
          <p:nvPr>
            <p:custDataLst>
              <p:tags r:id="rId1"/>
            </p:custDataLst>
          </p:nvPr>
        </p:nvSpPr>
        <p:spPr bwMode="auto">
          <a:xfrm>
            <a:off x="4015967" y="3709541"/>
            <a:ext cx="7139713" cy="1080000"/>
          </a:xfrm>
          <a:prstGeom prst="rect">
            <a:avLst/>
          </a:prstGeom>
          <a:noFill/>
          <a:ln w="19050">
            <a:solidFill>
              <a:schemeClr val="tx2">
                <a:lumMod val="50000"/>
              </a:schemeClr>
            </a:solidFill>
            <a:prstDash val="solid"/>
            <a:miter lim="800000"/>
          </a:ln>
        </p:spPr>
        <p:txBody>
          <a:bodyPr anchor="ctr"/>
          <a:lstStyle>
            <a:lvl1pPr eaLnBrk="0" hangingPunct="0">
              <a:defRPr>
                <a:solidFill>
                  <a:schemeClr val="tx1"/>
                </a:solidFill>
                <a:latin typeface="Arial" panose="020B0604020202020204" pitchFamily="34" charset="0"/>
                <a:ea typeface="宋体" pitchFamily="2" charset="-122"/>
              </a:defRPr>
            </a:lvl1pPr>
            <a:lvl2pPr marL="190500" indent="-190500" eaLnBrk="0" hangingPunct="0">
              <a:defRPr>
                <a:solidFill>
                  <a:schemeClr val="tx1"/>
                </a:solidFill>
                <a:latin typeface="Arial" panose="020B0604020202020204" pitchFamily="34" charset="0"/>
                <a:ea typeface="宋体" pitchFamily="2" charset="-122"/>
              </a:defRPr>
            </a:lvl2pPr>
            <a:lvl3pPr eaLnBrk="0" hangingPunct="0">
              <a:defRPr>
                <a:solidFill>
                  <a:schemeClr val="tx1"/>
                </a:solidFill>
                <a:latin typeface="Arial" panose="020B0604020202020204" pitchFamily="34" charset="0"/>
                <a:ea typeface="宋体" pitchFamily="2" charset="-122"/>
              </a:defRPr>
            </a:lvl3pPr>
            <a:lvl4pPr eaLnBrk="0" hangingPunct="0">
              <a:defRPr>
                <a:solidFill>
                  <a:schemeClr val="tx1"/>
                </a:solidFill>
                <a:latin typeface="Arial" panose="020B0604020202020204" pitchFamily="34" charset="0"/>
                <a:ea typeface="宋体" pitchFamily="2" charset="-122"/>
              </a:defRPr>
            </a:lvl4pPr>
            <a:lvl5pPr eaLnBrk="0" hangingPunct="0">
              <a:defRPr>
                <a:solidFill>
                  <a:schemeClr val="tx1"/>
                </a:solidFill>
                <a:latin typeface="Arial" panose="020B0604020202020204" pitchFamily="34" charset="0"/>
                <a:ea typeface="宋体" pitchFamily="2" charset="-122"/>
              </a:defRPr>
            </a:lvl5pPr>
            <a:lvl6pPr marL="28943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33515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8087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42659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marL="342900" lvl="1" indent="-342900" eaLnBrk="1" hangingPunct="1">
              <a:lnSpc>
                <a:spcPct val="114000"/>
              </a:lnSpc>
              <a:buSzPct val="75000"/>
              <a:buFont typeface="Wingdings" panose="05000000000000000000" pitchFamily="2" charset="2"/>
              <a:buChar char="n"/>
            </a:pPr>
            <a:r>
              <a:rPr lang="zh-CN" altLang="en-US" dirty="0">
                <a:sym typeface="+mn-ea"/>
              </a:rPr>
              <a:t>各系统账号手工创建，未统一复用</a:t>
            </a:r>
            <a:r>
              <a:rPr lang="en-US" altLang="zh-CN" dirty="0">
                <a:sym typeface="+mn-ea"/>
              </a:rPr>
              <a:t> EHR </a:t>
            </a:r>
            <a:r>
              <a:rPr lang="zh-CN" altLang="en-US" dirty="0">
                <a:sym typeface="+mn-ea"/>
              </a:rPr>
              <a:t>的员工信息（如工号）</a:t>
            </a:r>
            <a:r>
              <a:rPr lang="zh-CN" altLang="en-US" dirty="0">
                <a:solidFill>
                  <a:schemeClr val="tx2">
                    <a:lumMod val="50000"/>
                  </a:schemeClr>
                </a:solidFill>
                <a:latin typeface="+mn-ea"/>
                <a:ea typeface="+mn-ea"/>
                <a:sym typeface="Arial" panose="020B0604020202020204" pitchFamily="34" charset="0"/>
              </a:rPr>
              <a:t>。</a:t>
            </a:r>
            <a:endParaRPr lang="en-US" altLang="zh-CN" dirty="0">
              <a:solidFill>
                <a:schemeClr val="tx2">
                  <a:lumMod val="50000"/>
                </a:schemeClr>
              </a:solidFill>
              <a:latin typeface="+mn-ea"/>
              <a:ea typeface="+mn-ea"/>
              <a:sym typeface="Arial" panose="020B0604020202020204" pitchFamily="34" charset="0"/>
            </a:endParaRPr>
          </a:p>
        </p:txBody>
      </p:sp>
      <p:sp>
        <p:nvSpPr>
          <p:cNvPr id="17" name="矩形 5"/>
          <p:cNvSpPr>
            <a:spLocks noChangeArrowheads="1"/>
          </p:cNvSpPr>
          <p:nvPr>
            <p:custDataLst>
              <p:tags r:id="rId2"/>
            </p:custDataLst>
          </p:nvPr>
        </p:nvSpPr>
        <p:spPr bwMode="auto">
          <a:xfrm>
            <a:off x="742950" y="3709541"/>
            <a:ext cx="3097530" cy="1080000"/>
          </a:xfrm>
          <a:prstGeom prst="roundRect">
            <a:avLst>
              <a:gd name="adj" fmla="val 0"/>
            </a:avLst>
          </a:prstGeom>
          <a:solidFill>
            <a:srgbClr val="029E9A"/>
          </a:solidFill>
        </p:spPr>
        <p:style>
          <a:lnRef idx="0">
            <a:srgbClr val="FFFFFF"/>
          </a:lnRef>
          <a:fillRef idx="1">
            <a:schemeClr val="accent1"/>
          </a:fillRef>
          <a:effectRef idx="0">
            <a:srgbClr val="FFFFFF"/>
          </a:effectRef>
          <a:fontRef idx="minor">
            <a:schemeClr val="lt1"/>
          </a:fontRef>
        </p:style>
        <p:txBody>
          <a:bodyPr anchor="ctr"/>
          <a:lstStyle/>
          <a:p>
            <a:pPr algn="ctr">
              <a:lnSpc>
                <a:spcPct val="114000"/>
              </a:lnSpc>
            </a:pPr>
            <a:r>
              <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账号管理分散</a:t>
            </a:r>
            <a:endPar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8" name="矩形 5"/>
          <p:cNvSpPr>
            <a:spLocks noChangeArrowheads="1"/>
          </p:cNvSpPr>
          <p:nvPr>
            <p:custDataLst>
              <p:tags r:id="rId3"/>
            </p:custDataLst>
          </p:nvPr>
        </p:nvSpPr>
        <p:spPr bwMode="auto">
          <a:xfrm>
            <a:off x="742950" y="2475514"/>
            <a:ext cx="3097530" cy="1080000"/>
          </a:xfrm>
          <a:prstGeom prst="roundRect">
            <a:avLst>
              <a:gd name="adj" fmla="val 0"/>
            </a:avLst>
          </a:prstGeom>
          <a:solidFill>
            <a:srgbClr val="029E9A"/>
          </a:solidFill>
        </p:spPr>
        <p:style>
          <a:lnRef idx="0">
            <a:srgbClr val="FFFFFF"/>
          </a:lnRef>
          <a:fillRef idx="1">
            <a:schemeClr val="accent1"/>
          </a:fillRef>
          <a:effectRef idx="0">
            <a:srgbClr val="FFFFFF"/>
          </a:effectRef>
          <a:fontRef idx="minor">
            <a:schemeClr val="lt1"/>
          </a:fontRef>
        </p:style>
        <p:txBody>
          <a:bodyPr anchor="ctr"/>
          <a:lstStyle/>
          <a:p>
            <a:pPr algn="ctr">
              <a:lnSpc>
                <a:spcPct val="114000"/>
              </a:lnSpc>
              <a:buClr>
                <a:srgbClr val="191919"/>
              </a:buClr>
            </a:pPr>
            <a:r>
              <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架构适配矛盾</a:t>
            </a:r>
            <a:endPar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5"/>
          <p:cNvSpPr>
            <a:spLocks noChangeArrowheads="1"/>
          </p:cNvSpPr>
          <p:nvPr>
            <p:custDataLst>
              <p:tags r:id="rId4"/>
            </p:custDataLst>
          </p:nvPr>
        </p:nvSpPr>
        <p:spPr bwMode="auto">
          <a:xfrm>
            <a:off x="742950" y="1241487"/>
            <a:ext cx="3097530" cy="1080000"/>
          </a:xfrm>
          <a:prstGeom prst="roundRect">
            <a:avLst>
              <a:gd name="adj" fmla="val 0"/>
            </a:avLst>
          </a:prstGeom>
          <a:solidFill>
            <a:srgbClr val="029E9A"/>
          </a:solidFill>
        </p:spPr>
        <p:style>
          <a:lnRef idx="0">
            <a:srgbClr val="FFFFFF"/>
          </a:lnRef>
          <a:fillRef idx="1">
            <a:schemeClr val="accent1"/>
          </a:fillRef>
          <a:effectRef idx="0">
            <a:srgbClr val="FFFFFF"/>
          </a:effectRef>
          <a:fontRef idx="minor">
            <a:schemeClr val="lt1"/>
          </a:fontRef>
        </p:style>
        <p:txBody>
          <a:bodyPr anchor="ctr"/>
          <a:lstStyle/>
          <a:p>
            <a:pPr algn="ctr">
              <a:lnSpc>
                <a:spcPct val="114000"/>
              </a:lnSpc>
            </a:pPr>
            <a:r>
              <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跨系统协同断层</a:t>
            </a:r>
            <a:endPar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矩形 5"/>
          <p:cNvSpPr>
            <a:spLocks noChangeArrowheads="1"/>
          </p:cNvSpPr>
          <p:nvPr>
            <p:custDataLst>
              <p:tags r:id="rId5"/>
            </p:custDataLst>
          </p:nvPr>
        </p:nvSpPr>
        <p:spPr bwMode="auto">
          <a:xfrm>
            <a:off x="742950" y="4943568"/>
            <a:ext cx="3097530" cy="1080000"/>
          </a:xfrm>
          <a:prstGeom prst="roundRect">
            <a:avLst>
              <a:gd name="adj" fmla="val 0"/>
            </a:avLst>
          </a:prstGeom>
          <a:solidFill>
            <a:srgbClr val="029E9A"/>
          </a:solidFill>
        </p:spPr>
        <p:style>
          <a:lnRef idx="0">
            <a:srgbClr val="FFFFFF"/>
          </a:lnRef>
          <a:fillRef idx="1">
            <a:schemeClr val="accent1"/>
          </a:fillRef>
          <a:effectRef idx="0">
            <a:srgbClr val="FFFFFF"/>
          </a:effectRef>
          <a:fontRef idx="minor">
            <a:schemeClr val="lt1"/>
          </a:fontRef>
        </p:style>
        <p:txBody>
          <a:bodyPr anchor="ctr"/>
          <a:lstStyle/>
          <a:p>
            <a:pPr algn="ctr">
              <a:lnSpc>
                <a:spcPct val="114000"/>
              </a:lnSpc>
            </a:pPr>
            <a:r>
              <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数据标准缺失</a:t>
            </a:r>
            <a:endParaRPr lang="zh-CN" altLang="en-US"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内容占位符 2"/>
          <p:cNvSpPr>
            <a:spLocks noChangeArrowheads="1"/>
          </p:cNvSpPr>
          <p:nvPr>
            <p:custDataLst>
              <p:tags r:id="rId6"/>
            </p:custDataLst>
          </p:nvPr>
        </p:nvSpPr>
        <p:spPr bwMode="auto">
          <a:xfrm>
            <a:off x="4015967" y="2475514"/>
            <a:ext cx="7139713" cy="1080000"/>
          </a:xfrm>
          <a:prstGeom prst="rect">
            <a:avLst/>
          </a:prstGeom>
          <a:noFill/>
          <a:ln w="19050">
            <a:solidFill>
              <a:schemeClr val="tx2">
                <a:lumMod val="50000"/>
              </a:schemeClr>
            </a:solidFill>
            <a:prstDash val="solid"/>
            <a:miter lim="800000"/>
          </a:ln>
        </p:spPr>
        <p:txBody>
          <a:bodyPr anchor="ctr"/>
          <a:lstStyle>
            <a:lvl1pPr eaLnBrk="0" hangingPunct="0">
              <a:defRPr>
                <a:solidFill>
                  <a:schemeClr val="tx1"/>
                </a:solidFill>
                <a:latin typeface="Arial" panose="020B0604020202020204" pitchFamily="34" charset="0"/>
                <a:ea typeface="宋体" pitchFamily="2" charset="-122"/>
              </a:defRPr>
            </a:lvl1pPr>
            <a:lvl2pPr marL="190500" indent="-190500" eaLnBrk="0" hangingPunct="0">
              <a:defRPr>
                <a:solidFill>
                  <a:schemeClr val="tx1"/>
                </a:solidFill>
                <a:latin typeface="Arial" panose="020B0604020202020204" pitchFamily="34" charset="0"/>
                <a:ea typeface="宋体" pitchFamily="2" charset="-122"/>
              </a:defRPr>
            </a:lvl2pPr>
            <a:lvl3pPr eaLnBrk="0" hangingPunct="0">
              <a:defRPr>
                <a:solidFill>
                  <a:schemeClr val="tx1"/>
                </a:solidFill>
                <a:latin typeface="Arial" panose="020B0604020202020204" pitchFamily="34" charset="0"/>
                <a:ea typeface="宋体" pitchFamily="2" charset="-122"/>
              </a:defRPr>
            </a:lvl3pPr>
            <a:lvl4pPr eaLnBrk="0" hangingPunct="0">
              <a:defRPr>
                <a:solidFill>
                  <a:schemeClr val="tx1"/>
                </a:solidFill>
                <a:latin typeface="Arial" panose="020B0604020202020204" pitchFamily="34" charset="0"/>
                <a:ea typeface="宋体" pitchFamily="2" charset="-122"/>
              </a:defRPr>
            </a:lvl4pPr>
            <a:lvl5pPr eaLnBrk="0" hangingPunct="0">
              <a:defRPr>
                <a:solidFill>
                  <a:schemeClr val="tx1"/>
                </a:solidFill>
                <a:latin typeface="Arial" panose="020B0604020202020204" pitchFamily="34" charset="0"/>
                <a:ea typeface="宋体" pitchFamily="2" charset="-122"/>
              </a:defRPr>
            </a:lvl5pPr>
            <a:lvl6pPr marL="28943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33515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8087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42659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marL="342900" lvl="1" indent="-342900" eaLnBrk="1" hangingPunct="1">
              <a:lnSpc>
                <a:spcPct val="114000"/>
              </a:lnSpc>
              <a:buSzPct val="75000"/>
              <a:buFont typeface="Wingdings" panose="05000000000000000000" pitchFamily="2" charset="2"/>
              <a:buChar char="n"/>
            </a:pPr>
            <a:r>
              <a:rPr lang="zh-CN" altLang="en-US" dirty="0">
                <a:sym typeface="+mn-ea"/>
              </a:rPr>
              <a:t>业务系统流程设置与行政组织架构不匹配，行政架构无法直接套用至业务场景</a:t>
            </a:r>
            <a:r>
              <a:rPr lang="zh-CN" altLang="en-US" dirty="0">
                <a:solidFill>
                  <a:schemeClr val="tx2">
                    <a:lumMod val="50000"/>
                  </a:schemeClr>
                </a:solidFill>
                <a:latin typeface="+mn-ea"/>
                <a:ea typeface="+mn-ea"/>
                <a:sym typeface="Arial" panose="020B0604020202020204" pitchFamily="34" charset="0"/>
              </a:rPr>
              <a:t>。</a:t>
            </a:r>
            <a:endParaRPr lang="zh-CN" altLang="en-US" dirty="0">
              <a:solidFill>
                <a:schemeClr val="tx2">
                  <a:lumMod val="50000"/>
                </a:schemeClr>
              </a:solidFill>
              <a:latin typeface="+mn-ea"/>
              <a:ea typeface="+mn-ea"/>
              <a:sym typeface="Arial" panose="020B0604020202020204" pitchFamily="34" charset="0"/>
            </a:endParaRPr>
          </a:p>
        </p:txBody>
      </p:sp>
      <p:sp>
        <p:nvSpPr>
          <p:cNvPr id="23" name="内容占位符 2"/>
          <p:cNvSpPr>
            <a:spLocks noChangeArrowheads="1"/>
          </p:cNvSpPr>
          <p:nvPr>
            <p:custDataLst>
              <p:tags r:id="rId7"/>
            </p:custDataLst>
          </p:nvPr>
        </p:nvSpPr>
        <p:spPr bwMode="auto">
          <a:xfrm>
            <a:off x="4015967" y="1241487"/>
            <a:ext cx="7139713" cy="1080000"/>
          </a:xfrm>
          <a:prstGeom prst="rect">
            <a:avLst/>
          </a:prstGeom>
          <a:noFill/>
          <a:ln w="19050">
            <a:solidFill>
              <a:schemeClr val="tx2">
                <a:lumMod val="50000"/>
              </a:schemeClr>
            </a:solidFill>
            <a:prstDash val="solid"/>
            <a:miter lim="800000"/>
          </a:ln>
        </p:spPr>
        <p:txBody>
          <a:bodyPr anchor="ctr"/>
          <a:lstStyle>
            <a:lvl1pPr eaLnBrk="0" hangingPunct="0">
              <a:defRPr>
                <a:solidFill>
                  <a:schemeClr val="tx1"/>
                </a:solidFill>
                <a:latin typeface="Arial" panose="020B0604020202020204" pitchFamily="34" charset="0"/>
                <a:ea typeface="宋体" pitchFamily="2" charset="-122"/>
              </a:defRPr>
            </a:lvl1pPr>
            <a:lvl2pPr marL="190500" indent="-190500" eaLnBrk="0" hangingPunct="0">
              <a:defRPr>
                <a:solidFill>
                  <a:schemeClr val="tx1"/>
                </a:solidFill>
                <a:latin typeface="Arial" panose="020B0604020202020204" pitchFamily="34" charset="0"/>
                <a:ea typeface="宋体" pitchFamily="2" charset="-122"/>
              </a:defRPr>
            </a:lvl2pPr>
            <a:lvl3pPr eaLnBrk="0" hangingPunct="0">
              <a:defRPr>
                <a:solidFill>
                  <a:schemeClr val="tx1"/>
                </a:solidFill>
                <a:latin typeface="Arial" panose="020B0604020202020204" pitchFamily="34" charset="0"/>
                <a:ea typeface="宋体" pitchFamily="2" charset="-122"/>
              </a:defRPr>
            </a:lvl3pPr>
            <a:lvl4pPr eaLnBrk="0" hangingPunct="0">
              <a:defRPr>
                <a:solidFill>
                  <a:schemeClr val="tx1"/>
                </a:solidFill>
                <a:latin typeface="Arial" panose="020B0604020202020204" pitchFamily="34" charset="0"/>
                <a:ea typeface="宋体" pitchFamily="2" charset="-122"/>
              </a:defRPr>
            </a:lvl4pPr>
            <a:lvl5pPr eaLnBrk="0" hangingPunct="0">
              <a:defRPr>
                <a:solidFill>
                  <a:schemeClr val="tx1"/>
                </a:solidFill>
                <a:latin typeface="Arial" panose="020B0604020202020204" pitchFamily="34" charset="0"/>
                <a:ea typeface="宋体" pitchFamily="2" charset="-122"/>
              </a:defRPr>
            </a:lvl5pPr>
            <a:lvl6pPr marL="28943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33515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8087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42659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marL="342900" lvl="1" indent="-342900" algn="just" eaLnBrk="1" hangingPunct="1">
              <a:lnSpc>
                <a:spcPct val="114000"/>
              </a:lnSpc>
              <a:buSzPct val="75000"/>
              <a:buFont typeface="Wingdings" panose="05000000000000000000" pitchFamily="2" charset="2"/>
              <a:buChar char="n"/>
            </a:pPr>
            <a:r>
              <a:rPr lang="zh-CN" altLang="en-US" dirty="0">
                <a:sym typeface="+mn-ea"/>
              </a:rPr>
              <a:t>北森</a:t>
            </a:r>
            <a:r>
              <a:rPr lang="en-US" altLang="zh-CN" dirty="0">
                <a:sym typeface="+mn-ea"/>
              </a:rPr>
              <a:t> EHR </a:t>
            </a:r>
            <a:r>
              <a:rPr lang="zh-CN" altLang="en-US" dirty="0">
                <a:sym typeface="+mn-ea"/>
              </a:rPr>
              <a:t>的人员入转调离流程与</a:t>
            </a:r>
            <a:r>
              <a:rPr lang="en-US" altLang="zh-CN" dirty="0">
                <a:sym typeface="+mn-ea"/>
              </a:rPr>
              <a:t> SAP </a:t>
            </a:r>
            <a:r>
              <a:rPr lang="zh-CN" altLang="en-US" dirty="0">
                <a:sym typeface="+mn-ea"/>
              </a:rPr>
              <a:t>等系统数据更新脱节，交接人字段仅为流程记录，员工名下责任资产、库存等数据依赖线下通知调整，存在延迟与错漏风险</a:t>
            </a:r>
            <a:r>
              <a:rPr lang="zh-CN" altLang="en-US" dirty="0">
                <a:solidFill>
                  <a:schemeClr val="tx2">
                    <a:lumMod val="50000"/>
                  </a:schemeClr>
                </a:solidFill>
                <a:latin typeface="+mn-ea"/>
                <a:ea typeface="+mn-ea"/>
                <a:sym typeface="Arial" panose="020B0604020202020204" pitchFamily="34" charset="0"/>
              </a:rPr>
              <a:t>。</a:t>
            </a:r>
            <a:endParaRPr lang="en-US" altLang="zh-CN" dirty="0">
              <a:solidFill>
                <a:schemeClr val="tx2">
                  <a:lumMod val="50000"/>
                </a:schemeClr>
              </a:solidFill>
              <a:latin typeface="+mn-ea"/>
              <a:ea typeface="+mn-ea"/>
              <a:sym typeface="Arial" panose="020B0604020202020204" pitchFamily="34" charset="0"/>
            </a:endParaRPr>
          </a:p>
        </p:txBody>
      </p:sp>
      <p:sp>
        <p:nvSpPr>
          <p:cNvPr id="24" name="内容占位符 2"/>
          <p:cNvSpPr>
            <a:spLocks noChangeArrowheads="1"/>
          </p:cNvSpPr>
          <p:nvPr>
            <p:custDataLst>
              <p:tags r:id="rId8"/>
            </p:custDataLst>
          </p:nvPr>
        </p:nvSpPr>
        <p:spPr bwMode="auto">
          <a:xfrm>
            <a:off x="4015967" y="4943568"/>
            <a:ext cx="7139713" cy="1080000"/>
          </a:xfrm>
          <a:prstGeom prst="rect">
            <a:avLst/>
          </a:prstGeom>
          <a:noFill/>
          <a:ln w="19050">
            <a:solidFill>
              <a:schemeClr val="tx2">
                <a:lumMod val="50000"/>
              </a:schemeClr>
            </a:solidFill>
            <a:prstDash val="solid"/>
            <a:miter lim="800000"/>
          </a:ln>
        </p:spPr>
        <p:txBody>
          <a:bodyPr anchor="ctr"/>
          <a:lstStyle>
            <a:lvl1pPr eaLnBrk="0" hangingPunct="0">
              <a:defRPr>
                <a:solidFill>
                  <a:schemeClr val="tx1"/>
                </a:solidFill>
                <a:latin typeface="Arial" panose="020B0604020202020204" pitchFamily="34" charset="0"/>
                <a:ea typeface="宋体" pitchFamily="2" charset="-122"/>
              </a:defRPr>
            </a:lvl1pPr>
            <a:lvl2pPr marL="190500" indent="-190500" eaLnBrk="0" hangingPunct="0">
              <a:defRPr>
                <a:solidFill>
                  <a:schemeClr val="tx1"/>
                </a:solidFill>
                <a:latin typeface="Arial" panose="020B0604020202020204" pitchFamily="34" charset="0"/>
                <a:ea typeface="宋体" pitchFamily="2" charset="-122"/>
              </a:defRPr>
            </a:lvl2pPr>
            <a:lvl3pPr eaLnBrk="0" hangingPunct="0">
              <a:defRPr>
                <a:solidFill>
                  <a:schemeClr val="tx1"/>
                </a:solidFill>
                <a:latin typeface="Arial" panose="020B0604020202020204" pitchFamily="34" charset="0"/>
                <a:ea typeface="宋体" pitchFamily="2" charset="-122"/>
              </a:defRPr>
            </a:lvl3pPr>
            <a:lvl4pPr eaLnBrk="0" hangingPunct="0">
              <a:defRPr>
                <a:solidFill>
                  <a:schemeClr val="tx1"/>
                </a:solidFill>
                <a:latin typeface="Arial" panose="020B0604020202020204" pitchFamily="34" charset="0"/>
                <a:ea typeface="宋体" pitchFamily="2" charset="-122"/>
              </a:defRPr>
            </a:lvl4pPr>
            <a:lvl5pPr eaLnBrk="0" hangingPunct="0">
              <a:defRPr>
                <a:solidFill>
                  <a:schemeClr val="tx1"/>
                </a:solidFill>
                <a:latin typeface="Arial" panose="020B0604020202020204" pitchFamily="34" charset="0"/>
                <a:ea typeface="宋体" pitchFamily="2" charset="-122"/>
              </a:defRPr>
            </a:lvl5pPr>
            <a:lvl6pPr marL="28943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33515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8087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4265930" indent="-60833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marL="342900" lvl="1" indent="-342900" algn="just" eaLnBrk="1" hangingPunct="1">
              <a:lnSpc>
                <a:spcPct val="114000"/>
              </a:lnSpc>
              <a:buSzPct val="75000"/>
              <a:buFont typeface="Wingdings" panose="05000000000000000000" pitchFamily="2" charset="2"/>
              <a:buChar char="n"/>
            </a:pPr>
            <a:r>
              <a:rPr lang="zh-CN" altLang="en-US" dirty="0">
                <a:sym typeface="+mn-ea"/>
              </a:rPr>
              <a:t>同岗位在不同车间</a:t>
            </a:r>
            <a:r>
              <a:rPr lang="en-US" altLang="zh-CN" dirty="0">
                <a:sym typeface="+mn-ea"/>
              </a:rPr>
              <a:t> / </a:t>
            </a:r>
            <a:r>
              <a:rPr lang="zh-CN" altLang="en-US" dirty="0">
                <a:sym typeface="+mn-ea"/>
              </a:rPr>
              <a:t>班组名称表述不一致，影响数据统计与分析准确性</a:t>
            </a:r>
            <a:r>
              <a:rPr lang="zh-CN" altLang="en-US" dirty="0">
                <a:solidFill>
                  <a:schemeClr val="tx2">
                    <a:lumMod val="50000"/>
                  </a:schemeClr>
                </a:solidFill>
                <a:latin typeface="+mn-ea"/>
                <a:ea typeface="+mn-ea"/>
                <a:sym typeface="Arial" panose="020B0604020202020204" pitchFamily="34" charset="0"/>
              </a:rPr>
              <a:t>。</a:t>
            </a:r>
            <a:endParaRPr lang="en-US" altLang="zh-CN" dirty="0">
              <a:solidFill>
                <a:schemeClr val="tx2">
                  <a:lumMod val="50000"/>
                </a:schemeClr>
              </a:solidFill>
              <a:latin typeface="+mn-ea"/>
              <a:ea typeface="+mn-ea"/>
              <a:sym typeface="Arial" panose="020B0604020202020204" pitchFamily="34" charset="0"/>
            </a:endParaRP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HR主数据管理需求</a:t>
            </a:r>
            <a:r>
              <a:rPr lang="zh-CN" altLang="en-US" dirty="0">
                <a:sym typeface="+mn-ea"/>
              </a:rPr>
              <a:t>分析</a:t>
            </a:r>
            <a:endParaRPr lang="zh-CN" altLang="en-US" dirty="0">
              <a:sym typeface="+mn-ea"/>
            </a:endParaRPr>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52" name="îślíḋe"/>
          <p:cNvSpPr/>
          <p:nvPr/>
        </p:nvSpPr>
        <p:spPr bwMode="auto">
          <a:xfrm>
            <a:off x="566653" y="821767"/>
            <a:ext cx="11285378" cy="1010003"/>
          </a:xfrm>
          <a:prstGeom prst="roundRect">
            <a:avLst>
              <a:gd name="adj" fmla="val 13529"/>
            </a:avLst>
          </a:prstGeom>
          <a:solidFill>
            <a:schemeClr val="accent5">
              <a:lumMod val="20000"/>
              <a:lumOff val="80000"/>
            </a:schemeClr>
          </a:solidFill>
          <a:ln w="38100" algn="ctr">
            <a:noFill/>
            <a:prstDash val="sysDot"/>
            <a:round/>
          </a:ln>
        </p:spPr>
        <p:txBody>
          <a:bodyPr wrap="none" lIns="432000" tIns="108000" bIns="0" anchor="ctr" anchorCtr="0"/>
          <a:lstStyle/>
          <a:p>
            <a:pPr>
              <a:defRPr/>
            </a:pPr>
            <a:r>
              <a:rPr lang="zh-CN" altLang="en-US" sz="2400" b="1" dirty="0">
                <a:solidFill>
                  <a:schemeClr val="accent1"/>
                </a:solidFill>
                <a:latin typeface="微软雅黑" panose="020B0503020204020204" pitchFamily="34" charset="-122"/>
                <a:ea typeface="微软雅黑" panose="020B0503020204020204" pitchFamily="34" charset="-122"/>
              </a:rPr>
              <a:t>核心诉求</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3">
              <a:defRPr/>
            </a:pP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数据同源</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流程贯通</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标准统一</a:t>
            </a: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效率提升</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07" name="ïśľíḋê"/>
          <p:cNvSpPr/>
          <p:nvPr/>
        </p:nvSpPr>
        <p:spPr bwMode="auto">
          <a:xfrm>
            <a:off x="9784105" y="940228"/>
            <a:ext cx="326866" cy="478426"/>
          </a:xfrm>
          <a:custGeom>
            <a:avLst/>
            <a:gdLst>
              <a:gd name="connsiteX0" fmla="*/ 249830 w 431507"/>
              <a:gd name="connsiteY0" fmla="*/ 561058 h 608274"/>
              <a:gd name="connsiteX1" fmla="*/ 249830 w 431507"/>
              <a:gd name="connsiteY1" fmla="*/ 594884 h 608274"/>
              <a:gd name="connsiteX2" fmla="*/ 340366 w 431507"/>
              <a:gd name="connsiteY2" fmla="*/ 594884 h 608274"/>
              <a:gd name="connsiteX3" fmla="*/ 340366 w 431507"/>
              <a:gd name="connsiteY3" fmla="*/ 561058 h 608274"/>
              <a:gd name="connsiteX4" fmla="*/ 91141 w 431507"/>
              <a:gd name="connsiteY4" fmla="*/ 561058 h 608274"/>
              <a:gd name="connsiteX5" fmla="*/ 91141 w 431507"/>
              <a:gd name="connsiteY5" fmla="*/ 594884 h 608274"/>
              <a:gd name="connsiteX6" fmla="*/ 181777 w 431507"/>
              <a:gd name="connsiteY6" fmla="*/ 594884 h 608274"/>
              <a:gd name="connsiteX7" fmla="*/ 181777 w 431507"/>
              <a:gd name="connsiteY7" fmla="*/ 561058 h 608274"/>
              <a:gd name="connsiteX8" fmla="*/ 249830 w 431507"/>
              <a:gd name="connsiteY8" fmla="*/ 540923 h 608274"/>
              <a:gd name="connsiteX9" fmla="*/ 249830 w 431507"/>
              <a:gd name="connsiteY9" fmla="*/ 547668 h 608274"/>
              <a:gd name="connsiteX10" fmla="*/ 340366 w 431507"/>
              <a:gd name="connsiteY10" fmla="*/ 547668 h 608274"/>
              <a:gd name="connsiteX11" fmla="*/ 340366 w 431507"/>
              <a:gd name="connsiteY11" fmla="*/ 540923 h 608274"/>
              <a:gd name="connsiteX12" fmla="*/ 91141 w 431507"/>
              <a:gd name="connsiteY12" fmla="*/ 540923 h 608274"/>
              <a:gd name="connsiteX13" fmla="*/ 91141 w 431507"/>
              <a:gd name="connsiteY13" fmla="*/ 547668 h 608274"/>
              <a:gd name="connsiteX14" fmla="*/ 181777 w 431507"/>
              <a:gd name="connsiteY14" fmla="*/ 547668 h 608274"/>
              <a:gd name="connsiteX15" fmla="*/ 181777 w 431507"/>
              <a:gd name="connsiteY15" fmla="*/ 540923 h 608274"/>
              <a:gd name="connsiteX16" fmla="*/ 265558 w 431507"/>
              <a:gd name="connsiteY16" fmla="*/ 502063 h 608274"/>
              <a:gd name="connsiteX17" fmla="*/ 265558 w 431507"/>
              <a:gd name="connsiteY17" fmla="*/ 527533 h 608274"/>
              <a:gd name="connsiteX18" fmla="*/ 324538 w 431507"/>
              <a:gd name="connsiteY18" fmla="*/ 527533 h 608274"/>
              <a:gd name="connsiteX19" fmla="*/ 324538 w 431507"/>
              <a:gd name="connsiteY19" fmla="*/ 502063 h 608274"/>
              <a:gd name="connsiteX20" fmla="*/ 106969 w 431507"/>
              <a:gd name="connsiteY20" fmla="*/ 502063 h 608274"/>
              <a:gd name="connsiteX21" fmla="*/ 106969 w 431507"/>
              <a:gd name="connsiteY21" fmla="*/ 527533 h 608274"/>
              <a:gd name="connsiteX22" fmla="*/ 165949 w 431507"/>
              <a:gd name="connsiteY22" fmla="*/ 527533 h 608274"/>
              <a:gd name="connsiteX23" fmla="*/ 165949 w 431507"/>
              <a:gd name="connsiteY23" fmla="*/ 502063 h 608274"/>
              <a:gd name="connsiteX24" fmla="*/ 317980 w 431507"/>
              <a:gd name="connsiteY24" fmla="*/ 451238 h 608274"/>
              <a:gd name="connsiteX25" fmla="*/ 317980 w 431507"/>
              <a:gd name="connsiteY25" fmla="*/ 466846 h 608274"/>
              <a:gd name="connsiteX26" fmla="*/ 335726 w 431507"/>
              <a:gd name="connsiteY26" fmla="*/ 466846 h 608274"/>
              <a:gd name="connsiteX27" fmla="*/ 338751 w 431507"/>
              <a:gd name="connsiteY27" fmla="*/ 463825 h 608274"/>
              <a:gd name="connsiteX28" fmla="*/ 338751 w 431507"/>
              <a:gd name="connsiteY28" fmla="*/ 451238 h 608274"/>
              <a:gd name="connsiteX29" fmla="*/ 279765 w 431507"/>
              <a:gd name="connsiteY29" fmla="*/ 451238 h 608274"/>
              <a:gd name="connsiteX30" fmla="*/ 279765 w 431507"/>
              <a:gd name="connsiteY30" fmla="*/ 466846 h 608274"/>
              <a:gd name="connsiteX31" fmla="*/ 304469 w 431507"/>
              <a:gd name="connsiteY31" fmla="*/ 466846 h 608274"/>
              <a:gd name="connsiteX32" fmla="*/ 304469 w 431507"/>
              <a:gd name="connsiteY32" fmla="*/ 451238 h 608274"/>
              <a:gd name="connsiteX33" fmla="*/ 241551 w 431507"/>
              <a:gd name="connsiteY33" fmla="*/ 451238 h 608274"/>
              <a:gd name="connsiteX34" fmla="*/ 241551 w 431507"/>
              <a:gd name="connsiteY34" fmla="*/ 466846 h 608274"/>
              <a:gd name="connsiteX35" fmla="*/ 266355 w 431507"/>
              <a:gd name="connsiteY35" fmla="*/ 466846 h 608274"/>
              <a:gd name="connsiteX36" fmla="*/ 266355 w 431507"/>
              <a:gd name="connsiteY36" fmla="*/ 451238 h 608274"/>
              <a:gd name="connsiteX37" fmla="*/ 203437 w 431507"/>
              <a:gd name="connsiteY37" fmla="*/ 451238 h 608274"/>
              <a:gd name="connsiteX38" fmla="*/ 203437 w 431507"/>
              <a:gd name="connsiteY38" fmla="*/ 466846 h 608274"/>
              <a:gd name="connsiteX39" fmla="*/ 228140 w 431507"/>
              <a:gd name="connsiteY39" fmla="*/ 466846 h 608274"/>
              <a:gd name="connsiteX40" fmla="*/ 228140 w 431507"/>
              <a:gd name="connsiteY40" fmla="*/ 451238 h 608274"/>
              <a:gd name="connsiteX41" fmla="*/ 165222 w 431507"/>
              <a:gd name="connsiteY41" fmla="*/ 451238 h 608274"/>
              <a:gd name="connsiteX42" fmla="*/ 165222 w 431507"/>
              <a:gd name="connsiteY42" fmla="*/ 466846 h 608274"/>
              <a:gd name="connsiteX43" fmla="*/ 189926 w 431507"/>
              <a:gd name="connsiteY43" fmla="*/ 466846 h 608274"/>
              <a:gd name="connsiteX44" fmla="*/ 189926 w 431507"/>
              <a:gd name="connsiteY44" fmla="*/ 451238 h 608274"/>
              <a:gd name="connsiteX45" fmla="*/ 127008 w 431507"/>
              <a:gd name="connsiteY45" fmla="*/ 451238 h 608274"/>
              <a:gd name="connsiteX46" fmla="*/ 127008 w 431507"/>
              <a:gd name="connsiteY46" fmla="*/ 466846 h 608274"/>
              <a:gd name="connsiteX47" fmla="*/ 151812 w 431507"/>
              <a:gd name="connsiteY47" fmla="*/ 466846 h 608274"/>
              <a:gd name="connsiteX48" fmla="*/ 151812 w 431507"/>
              <a:gd name="connsiteY48" fmla="*/ 451238 h 608274"/>
              <a:gd name="connsiteX49" fmla="*/ 92725 w 431507"/>
              <a:gd name="connsiteY49" fmla="*/ 451238 h 608274"/>
              <a:gd name="connsiteX50" fmla="*/ 92725 w 431507"/>
              <a:gd name="connsiteY50" fmla="*/ 463825 h 608274"/>
              <a:gd name="connsiteX51" fmla="*/ 95750 w 431507"/>
              <a:gd name="connsiteY51" fmla="*/ 466846 h 608274"/>
              <a:gd name="connsiteX52" fmla="*/ 113597 w 431507"/>
              <a:gd name="connsiteY52" fmla="*/ 466846 h 608274"/>
              <a:gd name="connsiteX53" fmla="*/ 113597 w 431507"/>
              <a:gd name="connsiteY53" fmla="*/ 451238 h 608274"/>
              <a:gd name="connsiteX54" fmla="*/ 408722 w 431507"/>
              <a:gd name="connsiteY54" fmla="*/ 422832 h 608274"/>
              <a:gd name="connsiteX55" fmla="*/ 408722 w 431507"/>
              <a:gd name="connsiteY55" fmla="*/ 440953 h 608274"/>
              <a:gd name="connsiteX56" fmla="*/ 418098 w 431507"/>
              <a:gd name="connsiteY56" fmla="*/ 440953 h 608274"/>
              <a:gd name="connsiteX57" fmla="*/ 418098 w 431507"/>
              <a:gd name="connsiteY57" fmla="*/ 422832 h 608274"/>
              <a:gd name="connsiteX58" fmla="*/ 13510 w 431507"/>
              <a:gd name="connsiteY58" fmla="*/ 422832 h 608274"/>
              <a:gd name="connsiteX59" fmla="*/ 13510 w 431507"/>
              <a:gd name="connsiteY59" fmla="*/ 440953 h 608274"/>
              <a:gd name="connsiteX60" fmla="*/ 22886 w 431507"/>
              <a:gd name="connsiteY60" fmla="*/ 440953 h 608274"/>
              <a:gd name="connsiteX61" fmla="*/ 22886 w 431507"/>
              <a:gd name="connsiteY61" fmla="*/ 422832 h 608274"/>
              <a:gd name="connsiteX62" fmla="*/ 298822 w 431507"/>
              <a:gd name="connsiteY62" fmla="*/ 422136 h 608274"/>
              <a:gd name="connsiteX63" fmla="*/ 298822 w 431507"/>
              <a:gd name="connsiteY63" fmla="*/ 437744 h 608274"/>
              <a:gd name="connsiteX64" fmla="*/ 338751 w 431507"/>
              <a:gd name="connsiteY64" fmla="*/ 437744 h 608274"/>
              <a:gd name="connsiteX65" fmla="*/ 338751 w 431507"/>
              <a:gd name="connsiteY65" fmla="*/ 422136 h 608274"/>
              <a:gd name="connsiteX66" fmla="*/ 260708 w 431507"/>
              <a:gd name="connsiteY66" fmla="*/ 422136 h 608274"/>
              <a:gd name="connsiteX67" fmla="*/ 260708 w 431507"/>
              <a:gd name="connsiteY67" fmla="*/ 437744 h 608274"/>
              <a:gd name="connsiteX68" fmla="*/ 285412 w 431507"/>
              <a:gd name="connsiteY68" fmla="*/ 437744 h 608274"/>
              <a:gd name="connsiteX69" fmla="*/ 285412 w 431507"/>
              <a:gd name="connsiteY69" fmla="*/ 422136 h 608274"/>
              <a:gd name="connsiteX70" fmla="*/ 222494 w 431507"/>
              <a:gd name="connsiteY70" fmla="*/ 422136 h 608274"/>
              <a:gd name="connsiteX71" fmla="*/ 222494 w 431507"/>
              <a:gd name="connsiteY71" fmla="*/ 437744 h 608274"/>
              <a:gd name="connsiteX72" fmla="*/ 247197 w 431507"/>
              <a:gd name="connsiteY72" fmla="*/ 437744 h 608274"/>
              <a:gd name="connsiteX73" fmla="*/ 247197 w 431507"/>
              <a:gd name="connsiteY73" fmla="*/ 422136 h 608274"/>
              <a:gd name="connsiteX74" fmla="*/ 184279 w 431507"/>
              <a:gd name="connsiteY74" fmla="*/ 422136 h 608274"/>
              <a:gd name="connsiteX75" fmla="*/ 184279 w 431507"/>
              <a:gd name="connsiteY75" fmla="*/ 437744 h 608274"/>
              <a:gd name="connsiteX76" fmla="*/ 209083 w 431507"/>
              <a:gd name="connsiteY76" fmla="*/ 437744 h 608274"/>
              <a:gd name="connsiteX77" fmla="*/ 209083 w 431507"/>
              <a:gd name="connsiteY77" fmla="*/ 422136 h 608274"/>
              <a:gd name="connsiteX78" fmla="*/ 146165 w 431507"/>
              <a:gd name="connsiteY78" fmla="*/ 422136 h 608274"/>
              <a:gd name="connsiteX79" fmla="*/ 146165 w 431507"/>
              <a:gd name="connsiteY79" fmla="*/ 437744 h 608274"/>
              <a:gd name="connsiteX80" fmla="*/ 170869 w 431507"/>
              <a:gd name="connsiteY80" fmla="*/ 437744 h 608274"/>
              <a:gd name="connsiteX81" fmla="*/ 170869 w 431507"/>
              <a:gd name="connsiteY81" fmla="*/ 422136 h 608274"/>
              <a:gd name="connsiteX82" fmla="*/ 92725 w 431507"/>
              <a:gd name="connsiteY82" fmla="*/ 422136 h 608274"/>
              <a:gd name="connsiteX83" fmla="*/ 92725 w 431507"/>
              <a:gd name="connsiteY83" fmla="*/ 437744 h 608274"/>
              <a:gd name="connsiteX84" fmla="*/ 132654 w 431507"/>
              <a:gd name="connsiteY84" fmla="*/ 437744 h 608274"/>
              <a:gd name="connsiteX85" fmla="*/ 132654 w 431507"/>
              <a:gd name="connsiteY85" fmla="*/ 422136 h 608274"/>
              <a:gd name="connsiteX86" fmla="*/ 317980 w 431507"/>
              <a:gd name="connsiteY86" fmla="*/ 393035 h 608274"/>
              <a:gd name="connsiteX87" fmla="*/ 317980 w 431507"/>
              <a:gd name="connsiteY87" fmla="*/ 408743 h 608274"/>
              <a:gd name="connsiteX88" fmla="*/ 338751 w 431507"/>
              <a:gd name="connsiteY88" fmla="*/ 408743 h 608274"/>
              <a:gd name="connsiteX89" fmla="*/ 338751 w 431507"/>
              <a:gd name="connsiteY89" fmla="*/ 396056 h 608274"/>
              <a:gd name="connsiteX90" fmla="*/ 335726 w 431507"/>
              <a:gd name="connsiteY90" fmla="*/ 393035 h 608274"/>
              <a:gd name="connsiteX91" fmla="*/ 279765 w 431507"/>
              <a:gd name="connsiteY91" fmla="*/ 393035 h 608274"/>
              <a:gd name="connsiteX92" fmla="*/ 279765 w 431507"/>
              <a:gd name="connsiteY92" fmla="*/ 408743 h 608274"/>
              <a:gd name="connsiteX93" fmla="*/ 304469 w 431507"/>
              <a:gd name="connsiteY93" fmla="*/ 408743 h 608274"/>
              <a:gd name="connsiteX94" fmla="*/ 304469 w 431507"/>
              <a:gd name="connsiteY94" fmla="*/ 393035 h 608274"/>
              <a:gd name="connsiteX95" fmla="*/ 241551 w 431507"/>
              <a:gd name="connsiteY95" fmla="*/ 393035 h 608274"/>
              <a:gd name="connsiteX96" fmla="*/ 241551 w 431507"/>
              <a:gd name="connsiteY96" fmla="*/ 408743 h 608274"/>
              <a:gd name="connsiteX97" fmla="*/ 266355 w 431507"/>
              <a:gd name="connsiteY97" fmla="*/ 408743 h 608274"/>
              <a:gd name="connsiteX98" fmla="*/ 266355 w 431507"/>
              <a:gd name="connsiteY98" fmla="*/ 393035 h 608274"/>
              <a:gd name="connsiteX99" fmla="*/ 203437 w 431507"/>
              <a:gd name="connsiteY99" fmla="*/ 393035 h 608274"/>
              <a:gd name="connsiteX100" fmla="*/ 203437 w 431507"/>
              <a:gd name="connsiteY100" fmla="*/ 408743 h 608274"/>
              <a:gd name="connsiteX101" fmla="*/ 228140 w 431507"/>
              <a:gd name="connsiteY101" fmla="*/ 408743 h 608274"/>
              <a:gd name="connsiteX102" fmla="*/ 228140 w 431507"/>
              <a:gd name="connsiteY102" fmla="*/ 393035 h 608274"/>
              <a:gd name="connsiteX103" fmla="*/ 165222 w 431507"/>
              <a:gd name="connsiteY103" fmla="*/ 393035 h 608274"/>
              <a:gd name="connsiteX104" fmla="*/ 165222 w 431507"/>
              <a:gd name="connsiteY104" fmla="*/ 408743 h 608274"/>
              <a:gd name="connsiteX105" fmla="*/ 189926 w 431507"/>
              <a:gd name="connsiteY105" fmla="*/ 408743 h 608274"/>
              <a:gd name="connsiteX106" fmla="*/ 189926 w 431507"/>
              <a:gd name="connsiteY106" fmla="*/ 393035 h 608274"/>
              <a:gd name="connsiteX107" fmla="*/ 127008 w 431507"/>
              <a:gd name="connsiteY107" fmla="*/ 393035 h 608274"/>
              <a:gd name="connsiteX108" fmla="*/ 127008 w 431507"/>
              <a:gd name="connsiteY108" fmla="*/ 408743 h 608274"/>
              <a:gd name="connsiteX109" fmla="*/ 151812 w 431507"/>
              <a:gd name="connsiteY109" fmla="*/ 408743 h 608274"/>
              <a:gd name="connsiteX110" fmla="*/ 151812 w 431507"/>
              <a:gd name="connsiteY110" fmla="*/ 393035 h 608274"/>
              <a:gd name="connsiteX111" fmla="*/ 95750 w 431507"/>
              <a:gd name="connsiteY111" fmla="*/ 393035 h 608274"/>
              <a:gd name="connsiteX112" fmla="*/ 92725 w 431507"/>
              <a:gd name="connsiteY112" fmla="*/ 396056 h 608274"/>
              <a:gd name="connsiteX113" fmla="*/ 92725 w 431507"/>
              <a:gd name="connsiteY113" fmla="*/ 408743 h 608274"/>
              <a:gd name="connsiteX114" fmla="*/ 113597 w 431507"/>
              <a:gd name="connsiteY114" fmla="*/ 408743 h 608274"/>
              <a:gd name="connsiteX115" fmla="*/ 113597 w 431507"/>
              <a:gd name="connsiteY115" fmla="*/ 393035 h 608274"/>
              <a:gd name="connsiteX116" fmla="*/ 95750 w 431507"/>
              <a:gd name="connsiteY116" fmla="*/ 379642 h 608274"/>
              <a:gd name="connsiteX117" fmla="*/ 335726 w 431507"/>
              <a:gd name="connsiteY117" fmla="*/ 379642 h 608274"/>
              <a:gd name="connsiteX118" fmla="*/ 352262 w 431507"/>
              <a:gd name="connsiteY118" fmla="*/ 396056 h 608274"/>
              <a:gd name="connsiteX119" fmla="*/ 352262 w 431507"/>
              <a:gd name="connsiteY119" fmla="*/ 463825 h 608274"/>
              <a:gd name="connsiteX120" fmla="*/ 335726 w 431507"/>
              <a:gd name="connsiteY120" fmla="*/ 480339 h 608274"/>
              <a:gd name="connsiteX121" fmla="*/ 95750 w 431507"/>
              <a:gd name="connsiteY121" fmla="*/ 480339 h 608274"/>
              <a:gd name="connsiteX122" fmla="*/ 79315 w 431507"/>
              <a:gd name="connsiteY122" fmla="*/ 463825 h 608274"/>
              <a:gd name="connsiteX123" fmla="*/ 79315 w 431507"/>
              <a:gd name="connsiteY123" fmla="*/ 396056 h 608274"/>
              <a:gd name="connsiteX124" fmla="*/ 95750 w 431507"/>
              <a:gd name="connsiteY124" fmla="*/ 379642 h 608274"/>
              <a:gd name="connsiteX125" fmla="*/ 418098 w 431507"/>
              <a:gd name="connsiteY125" fmla="*/ 308869 h 608274"/>
              <a:gd name="connsiteX126" fmla="*/ 408722 w 431507"/>
              <a:gd name="connsiteY126" fmla="*/ 318231 h 608274"/>
              <a:gd name="connsiteX127" fmla="*/ 408722 w 431507"/>
              <a:gd name="connsiteY127" fmla="*/ 409442 h 608274"/>
              <a:gd name="connsiteX128" fmla="*/ 418098 w 431507"/>
              <a:gd name="connsiteY128" fmla="*/ 409442 h 608274"/>
              <a:gd name="connsiteX129" fmla="*/ 13510 w 431507"/>
              <a:gd name="connsiteY129" fmla="*/ 308869 h 608274"/>
              <a:gd name="connsiteX130" fmla="*/ 13510 w 431507"/>
              <a:gd name="connsiteY130" fmla="*/ 409442 h 608274"/>
              <a:gd name="connsiteX131" fmla="*/ 22886 w 431507"/>
              <a:gd name="connsiteY131" fmla="*/ 409442 h 608274"/>
              <a:gd name="connsiteX132" fmla="*/ 22886 w 431507"/>
              <a:gd name="connsiteY132" fmla="*/ 318231 h 608274"/>
              <a:gd name="connsiteX133" fmla="*/ 373738 w 431507"/>
              <a:gd name="connsiteY133" fmla="*/ 299305 h 608274"/>
              <a:gd name="connsiteX134" fmla="*/ 373738 w 431507"/>
              <a:gd name="connsiteY134" fmla="*/ 308768 h 608274"/>
              <a:gd name="connsiteX135" fmla="*/ 399144 w 431507"/>
              <a:gd name="connsiteY135" fmla="*/ 308768 h 608274"/>
              <a:gd name="connsiteX136" fmla="*/ 408621 w 431507"/>
              <a:gd name="connsiteY136" fmla="*/ 299305 h 608274"/>
              <a:gd name="connsiteX137" fmla="*/ 22987 w 431507"/>
              <a:gd name="connsiteY137" fmla="*/ 299305 h 608274"/>
              <a:gd name="connsiteX138" fmla="*/ 32363 w 431507"/>
              <a:gd name="connsiteY138" fmla="*/ 308768 h 608274"/>
              <a:gd name="connsiteX139" fmla="*/ 57870 w 431507"/>
              <a:gd name="connsiteY139" fmla="*/ 308768 h 608274"/>
              <a:gd name="connsiteX140" fmla="*/ 57870 w 431507"/>
              <a:gd name="connsiteY140" fmla="*/ 299305 h 608274"/>
              <a:gd name="connsiteX141" fmla="*/ 287636 w 431507"/>
              <a:gd name="connsiteY141" fmla="*/ 287249 h 608274"/>
              <a:gd name="connsiteX142" fmla="*/ 285015 w 431507"/>
              <a:gd name="connsiteY142" fmla="*/ 289866 h 608274"/>
              <a:gd name="connsiteX143" fmla="*/ 285015 w 431507"/>
              <a:gd name="connsiteY143" fmla="*/ 349950 h 608274"/>
              <a:gd name="connsiteX144" fmla="*/ 287636 w 431507"/>
              <a:gd name="connsiteY144" fmla="*/ 352567 h 608274"/>
              <a:gd name="connsiteX145" fmla="*/ 336131 w 431507"/>
              <a:gd name="connsiteY145" fmla="*/ 352567 h 608274"/>
              <a:gd name="connsiteX146" fmla="*/ 338752 w 431507"/>
              <a:gd name="connsiteY146" fmla="*/ 349950 h 608274"/>
              <a:gd name="connsiteX147" fmla="*/ 338752 w 431507"/>
              <a:gd name="connsiteY147" fmla="*/ 289866 h 608274"/>
              <a:gd name="connsiteX148" fmla="*/ 336131 w 431507"/>
              <a:gd name="connsiteY148" fmla="*/ 287249 h 608274"/>
              <a:gd name="connsiteX149" fmla="*/ 191455 w 431507"/>
              <a:gd name="connsiteY149" fmla="*/ 287249 h 608274"/>
              <a:gd name="connsiteX150" fmla="*/ 188935 w 431507"/>
              <a:gd name="connsiteY150" fmla="*/ 289866 h 608274"/>
              <a:gd name="connsiteX151" fmla="*/ 188935 w 431507"/>
              <a:gd name="connsiteY151" fmla="*/ 349950 h 608274"/>
              <a:gd name="connsiteX152" fmla="*/ 191455 w 431507"/>
              <a:gd name="connsiteY152" fmla="*/ 352567 h 608274"/>
              <a:gd name="connsiteX153" fmla="*/ 240051 w 431507"/>
              <a:gd name="connsiteY153" fmla="*/ 352567 h 608274"/>
              <a:gd name="connsiteX154" fmla="*/ 242672 w 431507"/>
              <a:gd name="connsiteY154" fmla="*/ 349950 h 608274"/>
              <a:gd name="connsiteX155" fmla="*/ 242672 w 431507"/>
              <a:gd name="connsiteY155" fmla="*/ 289866 h 608274"/>
              <a:gd name="connsiteX156" fmla="*/ 240051 w 431507"/>
              <a:gd name="connsiteY156" fmla="*/ 287249 h 608274"/>
              <a:gd name="connsiteX157" fmla="*/ 95345 w 431507"/>
              <a:gd name="connsiteY157" fmla="*/ 287249 h 608274"/>
              <a:gd name="connsiteX158" fmla="*/ 92724 w 431507"/>
              <a:gd name="connsiteY158" fmla="*/ 289866 h 608274"/>
              <a:gd name="connsiteX159" fmla="*/ 92724 w 431507"/>
              <a:gd name="connsiteY159" fmla="*/ 349950 h 608274"/>
              <a:gd name="connsiteX160" fmla="*/ 95345 w 431507"/>
              <a:gd name="connsiteY160" fmla="*/ 352567 h 608274"/>
              <a:gd name="connsiteX161" fmla="*/ 143941 w 431507"/>
              <a:gd name="connsiteY161" fmla="*/ 352567 h 608274"/>
              <a:gd name="connsiteX162" fmla="*/ 146562 w 431507"/>
              <a:gd name="connsiteY162" fmla="*/ 349950 h 608274"/>
              <a:gd name="connsiteX163" fmla="*/ 146562 w 431507"/>
              <a:gd name="connsiteY163" fmla="*/ 289866 h 608274"/>
              <a:gd name="connsiteX164" fmla="*/ 143941 w 431507"/>
              <a:gd name="connsiteY164" fmla="*/ 287249 h 608274"/>
              <a:gd name="connsiteX165" fmla="*/ 287636 w 431507"/>
              <a:gd name="connsiteY165" fmla="*/ 273864 h 608274"/>
              <a:gd name="connsiteX166" fmla="*/ 336131 w 431507"/>
              <a:gd name="connsiteY166" fmla="*/ 273864 h 608274"/>
              <a:gd name="connsiteX167" fmla="*/ 352262 w 431507"/>
              <a:gd name="connsiteY167" fmla="*/ 289866 h 608274"/>
              <a:gd name="connsiteX168" fmla="*/ 352262 w 431507"/>
              <a:gd name="connsiteY168" fmla="*/ 349950 h 608274"/>
              <a:gd name="connsiteX169" fmla="*/ 336131 w 431507"/>
              <a:gd name="connsiteY169" fmla="*/ 365952 h 608274"/>
              <a:gd name="connsiteX170" fmla="*/ 287636 w 431507"/>
              <a:gd name="connsiteY170" fmla="*/ 365952 h 608274"/>
              <a:gd name="connsiteX171" fmla="*/ 271606 w 431507"/>
              <a:gd name="connsiteY171" fmla="*/ 349950 h 608274"/>
              <a:gd name="connsiteX172" fmla="*/ 271606 w 431507"/>
              <a:gd name="connsiteY172" fmla="*/ 289866 h 608274"/>
              <a:gd name="connsiteX173" fmla="*/ 287636 w 431507"/>
              <a:gd name="connsiteY173" fmla="*/ 273864 h 608274"/>
              <a:gd name="connsiteX174" fmla="*/ 191455 w 431507"/>
              <a:gd name="connsiteY174" fmla="*/ 273864 h 608274"/>
              <a:gd name="connsiteX175" fmla="*/ 240051 w 431507"/>
              <a:gd name="connsiteY175" fmla="*/ 273864 h 608274"/>
              <a:gd name="connsiteX176" fmla="*/ 256081 w 431507"/>
              <a:gd name="connsiteY176" fmla="*/ 289866 h 608274"/>
              <a:gd name="connsiteX177" fmla="*/ 256081 w 431507"/>
              <a:gd name="connsiteY177" fmla="*/ 349950 h 608274"/>
              <a:gd name="connsiteX178" fmla="*/ 240051 w 431507"/>
              <a:gd name="connsiteY178" fmla="*/ 365952 h 608274"/>
              <a:gd name="connsiteX179" fmla="*/ 191455 w 431507"/>
              <a:gd name="connsiteY179" fmla="*/ 365952 h 608274"/>
              <a:gd name="connsiteX180" fmla="*/ 175425 w 431507"/>
              <a:gd name="connsiteY180" fmla="*/ 349950 h 608274"/>
              <a:gd name="connsiteX181" fmla="*/ 175425 w 431507"/>
              <a:gd name="connsiteY181" fmla="*/ 289866 h 608274"/>
              <a:gd name="connsiteX182" fmla="*/ 191455 w 431507"/>
              <a:gd name="connsiteY182" fmla="*/ 273864 h 608274"/>
              <a:gd name="connsiteX183" fmla="*/ 95345 w 431507"/>
              <a:gd name="connsiteY183" fmla="*/ 273864 h 608274"/>
              <a:gd name="connsiteX184" fmla="*/ 143941 w 431507"/>
              <a:gd name="connsiteY184" fmla="*/ 273864 h 608274"/>
              <a:gd name="connsiteX185" fmla="*/ 159971 w 431507"/>
              <a:gd name="connsiteY185" fmla="*/ 289866 h 608274"/>
              <a:gd name="connsiteX186" fmla="*/ 159971 w 431507"/>
              <a:gd name="connsiteY186" fmla="*/ 349950 h 608274"/>
              <a:gd name="connsiteX187" fmla="*/ 143941 w 431507"/>
              <a:gd name="connsiteY187" fmla="*/ 365952 h 608274"/>
              <a:gd name="connsiteX188" fmla="*/ 95345 w 431507"/>
              <a:gd name="connsiteY188" fmla="*/ 365952 h 608274"/>
              <a:gd name="connsiteX189" fmla="*/ 79315 w 431507"/>
              <a:gd name="connsiteY189" fmla="*/ 349950 h 608274"/>
              <a:gd name="connsiteX190" fmla="*/ 79315 w 431507"/>
              <a:gd name="connsiteY190" fmla="*/ 289866 h 608274"/>
              <a:gd name="connsiteX191" fmla="*/ 95345 w 431507"/>
              <a:gd name="connsiteY191" fmla="*/ 273864 h 608274"/>
              <a:gd name="connsiteX192" fmla="*/ 93661 w 431507"/>
              <a:gd name="connsiteY192" fmla="*/ 265780 h 608274"/>
              <a:gd name="connsiteX193" fmla="*/ 71279 w 431507"/>
              <a:gd name="connsiteY193" fmla="*/ 288130 h 608274"/>
              <a:gd name="connsiteX194" fmla="*/ 71279 w 431507"/>
              <a:gd name="connsiteY194" fmla="*/ 466323 h 608274"/>
              <a:gd name="connsiteX195" fmla="*/ 93661 w 431507"/>
              <a:gd name="connsiteY195" fmla="*/ 488572 h 608274"/>
              <a:gd name="connsiteX196" fmla="*/ 337947 w 431507"/>
              <a:gd name="connsiteY196" fmla="*/ 488572 h 608274"/>
              <a:gd name="connsiteX197" fmla="*/ 360328 w 431507"/>
              <a:gd name="connsiteY197" fmla="*/ 466323 h 608274"/>
              <a:gd name="connsiteX198" fmla="*/ 360328 w 431507"/>
              <a:gd name="connsiteY198" fmla="*/ 288130 h 608274"/>
              <a:gd name="connsiteX199" fmla="*/ 337947 w 431507"/>
              <a:gd name="connsiteY199" fmla="*/ 265780 h 608274"/>
              <a:gd name="connsiteX200" fmla="*/ 199622 w 431507"/>
              <a:gd name="connsiteY200" fmla="*/ 236283 h 608274"/>
              <a:gd name="connsiteX201" fmla="*/ 199622 w 431507"/>
              <a:gd name="connsiteY201" fmla="*/ 252390 h 608274"/>
              <a:gd name="connsiteX202" fmla="*/ 231885 w 431507"/>
              <a:gd name="connsiteY202" fmla="*/ 252390 h 608274"/>
              <a:gd name="connsiteX203" fmla="*/ 231885 w 431507"/>
              <a:gd name="connsiteY203" fmla="*/ 236283 h 608274"/>
              <a:gd name="connsiteX204" fmla="*/ 184926 w 431507"/>
              <a:gd name="connsiteY204" fmla="*/ 127088 h 608274"/>
              <a:gd name="connsiteX205" fmla="*/ 215754 w 431507"/>
              <a:gd name="connsiteY205" fmla="*/ 139841 h 608274"/>
              <a:gd name="connsiteX206" fmla="*/ 246682 w 431507"/>
              <a:gd name="connsiteY206" fmla="*/ 127088 h 608274"/>
              <a:gd name="connsiteX207" fmla="*/ 256152 w 431507"/>
              <a:gd name="connsiteY207" fmla="*/ 136527 h 608274"/>
              <a:gd name="connsiteX208" fmla="*/ 215754 w 431507"/>
              <a:gd name="connsiteY208" fmla="*/ 153197 h 608274"/>
              <a:gd name="connsiteX209" fmla="*/ 175355 w 431507"/>
              <a:gd name="connsiteY209" fmla="*/ 136527 h 608274"/>
              <a:gd name="connsiteX210" fmla="*/ 274217 w 431507"/>
              <a:gd name="connsiteY210" fmla="*/ 96675 h 608274"/>
              <a:gd name="connsiteX211" fmla="*/ 287766 w 431507"/>
              <a:gd name="connsiteY211" fmla="*/ 96675 h 608274"/>
              <a:gd name="connsiteX212" fmla="*/ 287766 w 431507"/>
              <a:gd name="connsiteY212" fmla="*/ 138238 h 608274"/>
              <a:gd name="connsiteX213" fmla="*/ 274217 w 431507"/>
              <a:gd name="connsiteY213" fmla="*/ 138238 h 608274"/>
              <a:gd name="connsiteX214" fmla="*/ 143883 w 431507"/>
              <a:gd name="connsiteY214" fmla="*/ 96675 h 608274"/>
              <a:gd name="connsiteX215" fmla="*/ 157290 w 431507"/>
              <a:gd name="connsiteY215" fmla="*/ 96675 h 608274"/>
              <a:gd name="connsiteX216" fmla="*/ 157290 w 431507"/>
              <a:gd name="connsiteY216" fmla="*/ 138238 h 608274"/>
              <a:gd name="connsiteX217" fmla="*/ 143883 w 431507"/>
              <a:gd name="connsiteY217" fmla="*/ 138238 h 608274"/>
              <a:gd name="connsiteX218" fmla="*/ 99498 w 431507"/>
              <a:gd name="connsiteY218" fmla="*/ 41613 h 608274"/>
              <a:gd name="connsiteX219" fmla="*/ 99498 w 431507"/>
              <a:gd name="connsiteY219" fmla="*/ 194609 h 608274"/>
              <a:gd name="connsiteX220" fmla="*/ 332080 w 431507"/>
              <a:gd name="connsiteY220" fmla="*/ 194609 h 608274"/>
              <a:gd name="connsiteX221" fmla="*/ 332080 w 431507"/>
              <a:gd name="connsiteY221" fmla="*/ 41613 h 608274"/>
              <a:gd name="connsiteX222" fmla="*/ 98389 w 431507"/>
              <a:gd name="connsiteY222" fmla="*/ 28226 h 608274"/>
              <a:gd name="connsiteX223" fmla="*/ 333088 w 431507"/>
              <a:gd name="connsiteY223" fmla="*/ 28226 h 608274"/>
              <a:gd name="connsiteX224" fmla="*/ 345488 w 431507"/>
              <a:gd name="connsiteY224" fmla="*/ 40607 h 608274"/>
              <a:gd name="connsiteX225" fmla="*/ 345488 w 431507"/>
              <a:gd name="connsiteY225" fmla="*/ 195716 h 608274"/>
              <a:gd name="connsiteX226" fmla="*/ 333088 w 431507"/>
              <a:gd name="connsiteY226" fmla="*/ 208097 h 608274"/>
              <a:gd name="connsiteX227" fmla="*/ 98389 w 431507"/>
              <a:gd name="connsiteY227" fmla="*/ 208097 h 608274"/>
              <a:gd name="connsiteX228" fmla="*/ 86090 w 431507"/>
              <a:gd name="connsiteY228" fmla="*/ 195716 h 608274"/>
              <a:gd name="connsiteX229" fmla="*/ 86090 w 431507"/>
              <a:gd name="connsiteY229" fmla="*/ 40607 h 608274"/>
              <a:gd name="connsiteX230" fmla="*/ 98389 w 431507"/>
              <a:gd name="connsiteY230" fmla="*/ 28226 h 608274"/>
              <a:gd name="connsiteX231" fmla="*/ 98400 w 431507"/>
              <a:gd name="connsiteY231" fmla="*/ 13390 h 608274"/>
              <a:gd name="connsiteX232" fmla="*/ 71279 w 431507"/>
              <a:gd name="connsiteY232" fmla="*/ 40572 h 608274"/>
              <a:gd name="connsiteX233" fmla="*/ 71279 w 431507"/>
              <a:gd name="connsiteY233" fmla="*/ 195711 h 608274"/>
              <a:gd name="connsiteX234" fmla="*/ 98400 w 431507"/>
              <a:gd name="connsiteY234" fmla="*/ 222792 h 608274"/>
              <a:gd name="connsiteX235" fmla="*/ 333107 w 431507"/>
              <a:gd name="connsiteY235" fmla="*/ 222792 h 608274"/>
              <a:gd name="connsiteX236" fmla="*/ 360328 w 431507"/>
              <a:gd name="connsiteY236" fmla="*/ 195711 h 608274"/>
              <a:gd name="connsiteX237" fmla="*/ 360328 w 431507"/>
              <a:gd name="connsiteY237" fmla="*/ 40572 h 608274"/>
              <a:gd name="connsiteX238" fmla="*/ 333107 w 431507"/>
              <a:gd name="connsiteY238" fmla="*/ 13390 h 608274"/>
              <a:gd name="connsiteX239" fmla="*/ 98400 w 431507"/>
              <a:gd name="connsiteY239" fmla="*/ 0 h 608274"/>
              <a:gd name="connsiteX240" fmla="*/ 333107 w 431507"/>
              <a:gd name="connsiteY240" fmla="*/ 0 h 608274"/>
              <a:gd name="connsiteX241" fmla="*/ 373738 w 431507"/>
              <a:gd name="connsiteY241" fmla="*/ 40572 h 608274"/>
              <a:gd name="connsiteX242" fmla="*/ 373738 w 431507"/>
              <a:gd name="connsiteY242" fmla="*/ 195711 h 608274"/>
              <a:gd name="connsiteX243" fmla="*/ 333107 w 431507"/>
              <a:gd name="connsiteY243" fmla="*/ 236283 h 608274"/>
              <a:gd name="connsiteX244" fmla="*/ 245394 w 431507"/>
              <a:gd name="connsiteY244" fmla="*/ 236283 h 608274"/>
              <a:gd name="connsiteX245" fmla="*/ 245394 w 431507"/>
              <a:gd name="connsiteY245" fmla="*/ 252390 h 608274"/>
              <a:gd name="connsiteX246" fmla="*/ 337947 w 431507"/>
              <a:gd name="connsiteY246" fmla="*/ 252390 h 608274"/>
              <a:gd name="connsiteX247" fmla="*/ 373637 w 431507"/>
              <a:gd name="connsiteY247" fmla="*/ 285915 h 608274"/>
              <a:gd name="connsiteX248" fmla="*/ 431507 w 431507"/>
              <a:gd name="connsiteY248" fmla="*/ 285915 h 608274"/>
              <a:gd name="connsiteX249" fmla="*/ 431507 w 431507"/>
              <a:gd name="connsiteY249" fmla="*/ 454343 h 608274"/>
              <a:gd name="connsiteX250" fmla="*/ 395212 w 431507"/>
              <a:gd name="connsiteY250" fmla="*/ 454343 h 608274"/>
              <a:gd name="connsiteX251" fmla="*/ 395212 w 431507"/>
              <a:gd name="connsiteY251" fmla="*/ 322158 h 608274"/>
              <a:gd name="connsiteX252" fmla="*/ 373738 w 431507"/>
              <a:gd name="connsiteY252" fmla="*/ 322158 h 608274"/>
              <a:gd name="connsiteX253" fmla="*/ 373738 w 431507"/>
              <a:gd name="connsiteY253" fmla="*/ 466323 h 608274"/>
              <a:gd name="connsiteX254" fmla="*/ 338047 w 431507"/>
              <a:gd name="connsiteY254" fmla="*/ 502063 h 608274"/>
              <a:gd name="connsiteX255" fmla="*/ 338047 w 431507"/>
              <a:gd name="connsiteY255" fmla="*/ 527533 h 608274"/>
              <a:gd name="connsiteX256" fmla="*/ 353775 w 431507"/>
              <a:gd name="connsiteY256" fmla="*/ 527533 h 608274"/>
              <a:gd name="connsiteX257" fmla="*/ 353775 w 431507"/>
              <a:gd name="connsiteY257" fmla="*/ 608274 h 608274"/>
              <a:gd name="connsiteX258" fmla="*/ 236321 w 431507"/>
              <a:gd name="connsiteY258" fmla="*/ 608274 h 608274"/>
              <a:gd name="connsiteX259" fmla="*/ 236321 w 431507"/>
              <a:gd name="connsiteY259" fmla="*/ 527533 h 608274"/>
              <a:gd name="connsiteX260" fmla="*/ 252149 w 431507"/>
              <a:gd name="connsiteY260" fmla="*/ 527533 h 608274"/>
              <a:gd name="connsiteX261" fmla="*/ 252149 w 431507"/>
              <a:gd name="connsiteY261" fmla="*/ 502063 h 608274"/>
              <a:gd name="connsiteX262" fmla="*/ 179358 w 431507"/>
              <a:gd name="connsiteY262" fmla="*/ 502063 h 608274"/>
              <a:gd name="connsiteX263" fmla="*/ 179358 w 431507"/>
              <a:gd name="connsiteY263" fmla="*/ 527533 h 608274"/>
              <a:gd name="connsiteX264" fmla="*/ 195186 w 431507"/>
              <a:gd name="connsiteY264" fmla="*/ 527533 h 608274"/>
              <a:gd name="connsiteX265" fmla="*/ 195186 w 431507"/>
              <a:gd name="connsiteY265" fmla="*/ 608274 h 608274"/>
              <a:gd name="connsiteX266" fmla="*/ 77732 w 431507"/>
              <a:gd name="connsiteY266" fmla="*/ 608274 h 608274"/>
              <a:gd name="connsiteX267" fmla="*/ 77732 w 431507"/>
              <a:gd name="connsiteY267" fmla="*/ 527533 h 608274"/>
              <a:gd name="connsiteX268" fmla="*/ 93560 w 431507"/>
              <a:gd name="connsiteY268" fmla="*/ 527533 h 608274"/>
              <a:gd name="connsiteX269" fmla="*/ 93560 w 431507"/>
              <a:gd name="connsiteY269" fmla="*/ 502063 h 608274"/>
              <a:gd name="connsiteX270" fmla="*/ 57870 w 431507"/>
              <a:gd name="connsiteY270" fmla="*/ 466323 h 608274"/>
              <a:gd name="connsiteX271" fmla="*/ 57870 w 431507"/>
              <a:gd name="connsiteY271" fmla="*/ 322158 h 608274"/>
              <a:gd name="connsiteX272" fmla="*/ 36295 w 431507"/>
              <a:gd name="connsiteY272" fmla="*/ 322158 h 608274"/>
              <a:gd name="connsiteX273" fmla="*/ 36295 w 431507"/>
              <a:gd name="connsiteY273" fmla="*/ 454343 h 608274"/>
              <a:gd name="connsiteX274" fmla="*/ 0 w 431507"/>
              <a:gd name="connsiteY274" fmla="*/ 454343 h 608274"/>
              <a:gd name="connsiteX275" fmla="*/ 0 w 431507"/>
              <a:gd name="connsiteY275" fmla="*/ 285915 h 608274"/>
              <a:gd name="connsiteX276" fmla="*/ 57870 w 431507"/>
              <a:gd name="connsiteY276" fmla="*/ 285915 h 608274"/>
              <a:gd name="connsiteX277" fmla="*/ 93661 w 431507"/>
              <a:gd name="connsiteY277" fmla="*/ 252390 h 608274"/>
              <a:gd name="connsiteX278" fmla="*/ 186213 w 431507"/>
              <a:gd name="connsiteY278" fmla="*/ 252390 h 608274"/>
              <a:gd name="connsiteX279" fmla="*/ 186213 w 431507"/>
              <a:gd name="connsiteY279" fmla="*/ 236283 h 608274"/>
              <a:gd name="connsiteX280" fmla="*/ 98400 w 431507"/>
              <a:gd name="connsiteY280" fmla="*/ 236283 h 608274"/>
              <a:gd name="connsiteX281" fmla="*/ 57870 w 431507"/>
              <a:gd name="connsiteY281" fmla="*/ 195711 h 608274"/>
              <a:gd name="connsiteX282" fmla="*/ 57870 w 431507"/>
              <a:gd name="connsiteY282" fmla="*/ 40572 h 608274"/>
              <a:gd name="connsiteX283" fmla="*/ 98400 w 431507"/>
              <a:gd name="connsiteY283"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Lst>
            <a:rect l="l" t="t" r="r" b="b"/>
            <a:pathLst>
              <a:path w="431507" h="608274">
                <a:moveTo>
                  <a:pt x="249830" y="561058"/>
                </a:moveTo>
                <a:lnTo>
                  <a:pt x="249830" y="594884"/>
                </a:lnTo>
                <a:lnTo>
                  <a:pt x="340366" y="594884"/>
                </a:lnTo>
                <a:lnTo>
                  <a:pt x="340366" y="561058"/>
                </a:lnTo>
                <a:close/>
                <a:moveTo>
                  <a:pt x="91141" y="561058"/>
                </a:moveTo>
                <a:lnTo>
                  <a:pt x="91141" y="594884"/>
                </a:lnTo>
                <a:lnTo>
                  <a:pt x="181777" y="594884"/>
                </a:lnTo>
                <a:lnTo>
                  <a:pt x="181777" y="561058"/>
                </a:lnTo>
                <a:close/>
                <a:moveTo>
                  <a:pt x="249830" y="540923"/>
                </a:moveTo>
                <a:lnTo>
                  <a:pt x="249830" y="547668"/>
                </a:lnTo>
                <a:lnTo>
                  <a:pt x="340366" y="547668"/>
                </a:lnTo>
                <a:lnTo>
                  <a:pt x="340366" y="540923"/>
                </a:lnTo>
                <a:close/>
                <a:moveTo>
                  <a:pt x="91141" y="540923"/>
                </a:moveTo>
                <a:lnTo>
                  <a:pt x="91141" y="547668"/>
                </a:lnTo>
                <a:lnTo>
                  <a:pt x="181777" y="547668"/>
                </a:lnTo>
                <a:lnTo>
                  <a:pt x="181777" y="540923"/>
                </a:lnTo>
                <a:close/>
                <a:moveTo>
                  <a:pt x="265558" y="502063"/>
                </a:moveTo>
                <a:lnTo>
                  <a:pt x="265558" y="527533"/>
                </a:lnTo>
                <a:lnTo>
                  <a:pt x="324538" y="527533"/>
                </a:lnTo>
                <a:lnTo>
                  <a:pt x="324538" y="502063"/>
                </a:lnTo>
                <a:close/>
                <a:moveTo>
                  <a:pt x="106969" y="502063"/>
                </a:moveTo>
                <a:lnTo>
                  <a:pt x="106969" y="527533"/>
                </a:lnTo>
                <a:lnTo>
                  <a:pt x="165949" y="527533"/>
                </a:lnTo>
                <a:lnTo>
                  <a:pt x="165949" y="502063"/>
                </a:lnTo>
                <a:close/>
                <a:moveTo>
                  <a:pt x="317980" y="451238"/>
                </a:moveTo>
                <a:lnTo>
                  <a:pt x="317980" y="466846"/>
                </a:lnTo>
                <a:lnTo>
                  <a:pt x="335726" y="466846"/>
                </a:lnTo>
                <a:cubicBezTo>
                  <a:pt x="337440" y="466846"/>
                  <a:pt x="338751" y="465537"/>
                  <a:pt x="338751" y="463825"/>
                </a:cubicBezTo>
                <a:lnTo>
                  <a:pt x="338751" y="451238"/>
                </a:lnTo>
                <a:close/>
                <a:moveTo>
                  <a:pt x="279765" y="451238"/>
                </a:moveTo>
                <a:lnTo>
                  <a:pt x="279765" y="466846"/>
                </a:lnTo>
                <a:lnTo>
                  <a:pt x="304469" y="466846"/>
                </a:lnTo>
                <a:lnTo>
                  <a:pt x="304469" y="451238"/>
                </a:lnTo>
                <a:close/>
                <a:moveTo>
                  <a:pt x="241551" y="451238"/>
                </a:moveTo>
                <a:lnTo>
                  <a:pt x="241551" y="466846"/>
                </a:lnTo>
                <a:lnTo>
                  <a:pt x="266355" y="466846"/>
                </a:lnTo>
                <a:lnTo>
                  <a:pt x="266355" y="451238"/>
                </a:lnTo>
                <a:close/>
                <a:moveTo>
                  <a:pt x="203437" y="451238"/>
                </a:moveTo>
                <a:lnTo>
                  <a:pt x="203437" y="466846"/>
                </a:lnTo>
                <a:lnTo>
                  <a:pt x="228140" y="466846"/>
                </a:lnTo>
                <a:lnTo>
                  <a:pt x="228140" y="451238"/>
                </a:lnTo>
                <a:close/>
                <a:moveTo>
                  <a:pt x="165222" y="451238"/>
                </a:moveTo>
                <a:lnTo>
                  <a:pt x="165222" y="466846"/>
                </a:lnTo>
                <a:lnTo>
                  <a:pt x="189926" y="466846"/>
                </a:lnTo>
                <a:lnTo>
                  <a:pt x="189926" y="451238"/>
                </a:lnTo>
                <a:close/>
                <a:moveTo>
                  <a:pt x="127008" y="451238"/>
                </a:moveTo>
                <a:lnTo>
                  <a:pt x="127008" y="466846"/>
                </a:lnTo>
                <a:lnTo>
                  <a:pt x="151812" y="466846"/>
                </a:lnTo>
                <a:lnTo>
                  <a:pt x="151812" y="451238"/>
                </a:lnTo>
                <a:close/>
                <a:moveTo>
                  <a:pt x="92725" y="451238"/>
                </a:moveTo>
                <a:lnTo>
                  <a:pt x="92725" y="463825"/>
                </a:lnTo>
                <a:cubicBezTo>
                  <a:pt x="92725" y="465537"/>
                  <a:pt x="94137" y="466846"/>
                  <a:pt x="95750" y="466846"/>
                </a:cubicBezTo>
                <a:lnTo>
                  <a:pt x="113597" y="466846"/>
                </a:lnTo>
                <a:lnTo>
                  <a:pt x="113597" y="451238"/>
                </a:lnTo>
                <a:close/>
                <a:moveTo>
                  <a:pt x="408722" y="422832"/>
                </a:moveTo>
                <a:lnTo>
                  <a:pt x="408722" y="440953"/>
                </a:lnTo>
                <a:lnTo>
                  <a:pt x="418098" y="440953"/>
                </a:lnTo>
                <a:lnTo>
                  <a:pt x="418098" y="422832"/>
                </a:lnTo>
                <a:close/>
                <a:moveTo>
                  <a:pt x="13510" y="422832"/>
                </a:moveTo>
                <a:lnTo>
                  <a:pt x="13510" y="440953"/>
                </a:lnTo>
                <a:lnTo>
                  <a:pt x="22886" y="440953"/>
                </a:lnTo>
                <a:lnTo>
                  <a:pt x="22886" y="422832"/>
                </a:lnTo>
                <a:close/>
                <a:moveTo>
                  <a:pt x="298822" y="422136"/>
                </a:moveTo>
                <a:lnTo>
                  <a:pt x="298822" y="437744"/>
                </a:lnTo>
                <a:lnTo>
                  <a:pt x="338751" y="437744"/>
                </a:lnTo>
                <a:lnTo>
                  <a:pt x="338751" y="422136"/>
                </a:lnTo>
                <a:close/>
                <a:moveTo>
                  <a:pt x="260708" y="422136"/>
                </a:moveTo>
                <a:lnTo>
                  <a:pt x="260708" y="437744"/>
                </a:lnTo>
                <a:lnTo>
                  <a:pt x="285412" y="437744"/>
                </a:lnTo>
                <a:lnTo>
                  <a:pt x="285412" y="422136"/>
                </a:lnTo>
                <a:close/>
                <a:moveTo>
                  <a:pt x="222494" y="422136"/>
                </a:moveTo>
                <a:lnTo>
                  <a:pt x="222494" y="437744"/>
                </a:lnTo>
                <a:lnTo>
                  <a:pt x="247197" y="437744"/>
                </a:lnTo>
                <a:lnTo>
                  <a:pt x="247197" y="422136"/>
                </a:lnTo>
                <a:close/>
                <a:moveTo>
                  <a:pt x="184279" y="422136"/>
                </a:moveTo>
                <a:lnTo>
                  <a:pt x="184279" y="437744"/>
                </a:lnTo>
                <a:lnTo>
                  <a:pt x="209083" y="437744"/>
                </a:lnTo>
                <a:lnTo>
                  <a:pt x="209083" y="422136"/>
                </a:lnTo>
                <a:close/>
                <a:moveTo>
                  <a:pt x="146165" y="422136"/>
                </a:moveTo>
                <a:lnTo>
                  <a:pt x="146165" y="437744"/>
                </a:lnTo>
                <a:lnTo>
                  <a:pt x="170869" y="437744"/>
                </a:lnTo>
                <a:lnTo>
                  <a:pt x="170869" y="422136"/>
                </a:lnTo>
                <a:close/>
                <a:moveTo>
                  <a:pt x="92725" y="422136"/>
                </a:moveTo>
                <a:lnTo>
                  <a:pt x="92725" y="437744"/>
                </a:lnTo>
                <a:lnTo>
                  <a:pt x="132654" y="437744"/>
                </a:lnTo>
                <a:lnTo>
                  <a:pt x="132654" y="422136"/>
                </a:lnTo>
                <a:close/>
                <a:moveTo>
                  <a:pt x="317980" y="393035"/>
                </a:moveTo>
                <a:lnTo>
                  <a:pt x="317980" y="408743"/>
                </a:lnTo>
                <a:lnTo>
                  <a:pt x="338751" y="408743"/>
                </a:lnTo>
                <a:lnTo>
                  <a:pt x="338751" y="396056"/>
                </a:lnTo>
                <a:cubicBezTo>
                  <a:pt x="338751" y="394344"/>
                  <a:pt x="337440" y="393035"/>
                  <a:pt x="335726" y="393035"/>
                </a:cubicBezTo>
                <a:close/>
                <a:moveTo>
                  <a:pt x="279765" y="393035"/>
                </a:moveTo>
                <a:lnTo>
                  <a:pt x="279765" y="408743"/>
                </a:lnTo>
                <a:lnTo>
                  <a:pt x="304469" y="408743"/>
                </a:lnTo>
                <a:lnTo>
                  <a:pt x="304469" y="393035"/>
                </a:lnTo>
                <a:close/>
                <a:moveTo>
                  <a:pt x="241551" y="393035"/>
                </a:moveTo>
                <a:lnTo>
                  <a:pt x="241551" y="408743"/>
                </a:lnTo>
                <a:lnTo>
                  <a:pt x="266355" y="408743"/>
                </a:lnTo>
                <a:lnTo>
                  <a:pt x="266355" y="393035"/>
                </a:lnTo>
                <a:close/>
                <a:moveTo>
                  <a:pt x="203437" y="393035"/>
                </a:moveTo>
                <a:lnTo>
                  <a:pt x="203437" y="408743"/>
                </a:lnTo>
                <a:lnTo>
                  <a:pt x="228140" y="408743"/>
                </a:lnTo>
                <a:lnTo>
                  <a:pt x="228140" y="393035"/>
                </a:lnTo>
                <a:close/>
                <a:moveTo>
                  <a:pt x="165222" y="393035"/>
                </a:moveTo>
                <a:lnTo>
                  <a:pt x="165222" y="408743"/>
                </a:lnTo>
                <a:lnTo>
                  <a:pt x="189926" y="408743"/>
                </a:lnTo>
                <a:lnTo>
                  <a:pt x="189926" y="393035"/>
                </a:lnTo>
                <a:close/>
                <a:moveTo>
                  <a:pt x="127008" y="393035"/>
                </a:moveTo>
                <a:lnTo>
                  <a:pt x="127008" y="408743"/>
                </a:lnTo>
                <a:lnTo>
                  <a:pt x="151812" y="408743"/>
                </a:lnTo>
                <a:lnTo>
                  <a:pt x="151812" y="393035"/>
                </a:lnTo>
                <a:close/>
                <a:moveTo>
                  <a:pt x="95750" y="393035"/>
                </a:moveTo>
                <a:cubicBezTo>
                  <a:pt x="94137" y="393035"/>
                  <a:pt x="92725" y="394344"/>
                  <a:pt x="92725" y="396056"/>
                </a:cubicBezTo>
                <a:lnTo>
                  <a:pt x="92725" y="408743"/>
                </a:lnTo>
                <a:lnTo>
                  <a:pt x="113597" y="408743"/>
                </a:lnTo>
                <a:lnTo>
                  <a:pt x="113597" y="393035"/>
                </a:lnTo>
                <a:close/>
                <a:moveTo>
                  <a:pt x="95750" y="379642"/>
                </a:moveTo>
                <a:lnTo>
                  <a:pt x="335726" y="379642"/>
                </a:lnTo>
                <a:cubicBezTo>
                  <a:pt x="344801" y="379642"/>
                  <a:pt x="352262" y="386993"/>
                  <a:pt x="352262" y="396056"/>
                </a:cubicBezTo>
                <a:lnTo>
                  <a:pt x="352262" y="463825"/>
                </a:lnTo>
                <a:cubicBezTo>
                  <a:pt x="352262" y="472887"/>
                  <a:pt x="344801" y="480339"/>
                  <a:pt x="335726" y="480339"/>
                </a:cubicBezTo>
                <a:lnTo>
                  <a:pt x="95750" y="480339"/>
                </a:lnTo>
                <a:cubicBezTo>
                  <a:pt x="86676" y="480339"/>
                  <a:pt x="79315" y="472887"/>
                  <a:pt x="79315" y="463825"/>
                </a:cubicBezTo>
                <a:lnTo>
                  <a:pt x="79315" y="396056"/>
                </a:lnTo>
                <a:cubicBezTo>
                  <a:pt x="79315" y="386993"/>
                  <a:pt x="86676" y="379642"/>
                  <a:pt x="95750" y="379642"/>
                </a:cubicBezTo>
                <a:close/>
                <a:moveTo>
                  <a:pt x="418098" y="308869"/>
                </a:moveTo>
                <a:lnTo>
                  <a:pt x="408722" y="318231"/>
                </a:lnTo>
                <a:lnTo>
                  <a:pt x="408722" y="409442"/>
                </a:lnTo>
                <a:lnTo>
                  <a:pt x="418098" y="409442"/>
                </a:lnTo>
                <a:close/>
                <a:moveTo>
                  <a:pt x="13510" y="308869"/>
                </a:moveTo>
                <a:lnTo>
                  <a:pt x="13510" y="409442"/>
                </a:lnTo>
                <a:lnTo>
                  <a:pt x="22886" y="409442"/>
                </a:lnTo>
                <a:lnTo>
                  <a:pt x="22886" y="318231"/>
                </a:lnTo>
                <a:close/>
                <a:moveTo>
                  <a:pt x="373738" y="299305"/>
                </a:moveTo>
                <a:lnTo>
                  <a:pt x="373738" y="308768"/>
                </a:lnTo>
                <a:lnTo>
                  <a:pt x="399144" y="308768"/>
                </a:lnTo>
                <a:lnTo>
                  <a:pt x="408621" y="299305"/>
                </a:lnTo>
                <a:close/>
                <a:moveTo>
                  <a:pt x="22987" y="299305"/>
                </a:moveTo>
                <a:lnTo>
                  <a:pt x="32363" y="308768"/>
                </a:lnTo>
                <a:lnTo>
                  <a:pt x="57870" y="308768"/>
                </a:lnTo>
                <a:lnTo>
                  <a:pt x="57870" y="299305"/>
                </a:lnTo>
                <a:close/>
                <a:moveTo>
                  <a:pt x="287636" y="287249"/>
                </a:moveTo>
                <a:cubicBezTo>
                  <a:pt x="286124" y="287249"/>
                  <a:pt x="285015" y="288457"/>
                  <a:pt x="285015" y="289866"/>
                </a:cubicBezTo>
                <a:lnTo>
                  <a:pt x="285015" y="349950"/>
                </a:lnTo>
                <a:cubicBezTo>
                  <a:pt x="285015" y="351359"/>
                  <a:pt x="286124" y="352567"/>
                  <a:pt x="287636" y="352567"/>
                </a:cubicBezTo>
                <a:lnTo>
                  <a:pt x="336131" y="352567"/>
                </a:lnTo>
                <a:cubicBezTo>
                  <a:pt x="337643" y="352567"/>
                  <a:pt x="338752" y="351359"/>
                  <a:pt x="338752" y="349950"/>
                </a:cubicBezTo>
                <a:lnTo>
                  <a:pt x="338752" y="289866"/>
                </a:lnTo>
                <a:cubicBezTo>
                  <a:pt x="338752" y="288457"/>
                  <a:pt x="337643" y="287249"/>
                  <a:pt x="336131" y="287249"/>
                </a:cubicBezTo>
                <a:close/>
                <a:moveTo>
                  <a:pt x="191455" y="287249"/>
                </a:moveTo>
                <a:cubicBezTo>
                  <a:pt x="190044" y="287249"/>
                  <a:pt x="188935" y="288457"/>
                  <a:pt x="188935" y="289866"/>
                </a:cubicBezTo>
                <a:lnTo>
                  <a:pt x="188935" y="349950"/>
                </a:lnTo>
                <a:cubicBezTo>
                  <a:pt x="188935" y="351359"/>
                  <a:pt x="190044" y="352567"/>
                  <a:pt x="191455" y="352567"/>
                </a:cubicBezTo>
                <a:lnTo>
                  <a:pt x="240051" y="352567"/>
                </a:lnTo>
                <a:cubicBezTo>
                  <a:pt x="241462" y="352567"/>
                  <a:pt x="242672" y="351359"/>
                  <a:pt x="242672" y="349950"/>
                </a:cubicBezTo>
                <a:lnTo>
                  <a:pt x="242672" y="289866"/>
                </a:lnTo>
                <a:cubicBezTo>
                  <a:pt x="242672" y="288457"/>
                  <a:pt x="241462" y="287249"/>
                  <a:pt x="240051" y="287249"/>
                </a:cubicBezTo>
                <a:close/>
                <a:moveTo>
                  <a:pt x="95345" y="287249"/>
                </a:moveTo>
                <a:cubicBezTo>
                  <a:pt x="93934" y="287249"/>
                  <a:pt x="92724" y="288457"/>
                  <a:pt x="92724" y="289866"/>
                </a:cubicBezTo>
                <a:lnTo>
                  <a:pt x="92724" y="349950"/>
                </a:lnTo>
                <a:cubicBezTo>
                  <a:pt x="92724" y="351359"/>
                  <a:pt x="93934" y="352567"/>
                  <a:pt x="95345" y="352567"/>
                </a:cubicBezTo>
                <a:lnTo>
                  <a:pt x="143941" y="352567"/>
                </a:lnTo>
                <a:cubicBezTo>
                  <a:pt x="145352" y="352567"/>
                  <a:pt x="146562" y="351359"/>
                  <a:pt x="146562" y="349950"/>
                </a:cubicBezTo>
                <a:lnTo>
                  <a:pt x="146562" y="289866"/>
                </a:lnTo>
                <a:cubicBezTo>
                  <a:pt x="146562" y="288457"/>
                  <a:pt x="145352" y="287249"/>
                  <a:pt x="143941" y="287249"/>
                </a:cubicBezTo>
                <a:close/>
                <a:moveTo>
                  <a:pt x="287636" y="273864"/>
                </a:moveTo>
                <a:lnTo>
                  <a:pt x="336131" y="273864"/>
                </a:lnTo>
                <a:cubicBezTo>
                  <a:pt x="345003" y="273864"/>
                  <a:pt x="352262" y="281010"/>
                  <a:pt x="352262" y="289866"/>
                </a:cubicBezTo>
                <a:lnTo>
                  <a:pt x="352262" y="349950"/>
                </a:lnTo>
                <a:cubicBezTo>
                  <a:pt x="352262" y="358806"/>
                  <a:pt x="345003" y="365952"/>
                  <a:pt x="336131" y="365952"/>
                </a:cubicBezTo>
                <a:lnTo>
                  <a:pt x="287636" y="365952"/>
                </a:lnTo>
                <a:cubicBezTo>
                  <a:pt x="278764" y="365952"/>
                  <a:pt x="271606" y="358806"/>
                  <a:pt x="271606" y="349950"/>
                </a:cubicBezTo>
                <a:lnTo>
                  <a:pt x="271606" y="289866"/>
                </a:lnTo>
                <a:cubicBezTo>
                  <a:pt x="271606" y="281010"/>
                  <a:pt x="278764" y="273864"/>
                  <a:pt x="287636" y="273864"/>
                </a:cubicBezTo>
                <a:close/>
                <a:moveTo>
                  <a:pt x="191455" y="273864"/>
                </a:moveTo>
                <a:lnTo>
                  <a:pt x="240051" y="273864"/>
                </a:lnTo>
                <a:cubicBezTo>
                  <a:pt x="248923" y="273864"/>
                  <a:pt x="256081" y="281010"/>
                  <a:pt x="256081" y="289866"/>
                </a:cubicBezTo>
                <a:lnTo>
                  <a:pt x="256081" y="349950"/>
                </a:lnTo>
                <a:cubicBezTo>
                  <a:pt x="256081" y="358806"/>
                  <a:pt x="248923" y="365952"/>
                  <a:pt x="240051" y="365952"/>
                </a:cubicBezTo>
                <a:lnTo>
                  <a:pt x="191455" y="365952"/>
                </a:lnTo>
                <a:cubicBezTo>
                  <a:pt x="182684" y="365952"/>
                  <a:pt x="175425" y="358806"/>
                  <a:pt x="175425" y="349950"/>
                </a:cubicBezTo>
                <a:lnTo>
                  <a:pt x="175425" y="289866"/>
                </a:lnTo>
                <a:cubicBezTo>
                  <a:pt x="175425" y="281010"/>
                  <a:pt x="182684" y="273864"/>
                  <a:pt x="191455" y="273864"/>
                </a:cubicBezTo>
                <a:close/>
                <a:moveTo>
                  <a:pt x="95345" y="273864"/>
                </a:moveTo>
                <a:lnTo>
                  <a:pt x="143941" y="273864"/>
                </a:lnTo>
                <a:cubicBezTo>
                  <a:pt x="152813" y="273864"/>
                  <a:pt x="159971" y="281010"/>
                  <a:pt x="159971" y="289866"/>
                </a:cubicBezTo>
                <a:lnTo>
                  <a:pt x="159971" y="349950"/>
                </a:lnTo>
                <a:cubicBezTo>
                  <a:pt x="159971" y="358806"/>
                  <a:pt x="152813" y="365952"/>
                  <a:pt x="143941" y="365952"/>
                </a:cubicBezTo>
                <a:lnTo>
                  <a:pt x="95345" y="365952"/>
                </a:lnTo>
                <a:cubicBezTo>
                  <a:pt x="86473" y="365952"/>
                  <a:pt x="79315" y="358806"/>
                  <a:pt x="79315" y="349950"/>
                </a:cubicBezTo>
                <a:lnTo>
                  <a:pt x="79315" y="289866"/>
                </a:lnTo>
                <a:cubicBezTo>
                  <a:pt x="79315" y="281010"/>
                  <a:pt x="86473" y="273864"/>
                  <a:pt x="95345" y="273864"/>
                </a:cubicBezTo>
                <a:close/>
                <a:moveTo>
                  <a:pt x="93661" y="265780"/>
                </a:moveTo>
                <a:cubicBezTo>
                  <a:pt x="81260" y="265780"/>
                  <a:pt x="71279" y="275747"/>
                  <a:pt x="71279" y="288130"/>
                </a:cubicBezTo>
                <a:lnTo>
                  <a:pt x="71279" y="466323"/>
                </a:lnTo>
                <a:cubicBezTo>
                  <a:pt x="71279" y="478606"/>
                  <a:pt x="81260" y="488572"/>
                  <a:pt x="93661" y="488572"/>
                </a:cubicBezTo>
                <a:lnTo>
                  <a:pt x="337947" y="488572"/>
                </a:lnTo>
                <a:cubicBezTo>
                  <a:pt x="350247" y="488572"/>
                  <a:pt x="360328" y="478606"/>
                  <a:pt x="360328" y="466323"/>
                </a:cubicBezTo>
                <a:lnTo>
                  <a:pt x="360328" y="288130"/>
                </a:lnTo>
                <a:cubicBezTo>
                  <a:pt x="360328" y="275747"/>
                  <a:pt x="350247" y="265780"/>
                  <a:pt x="337947" y="265780"/>
                </a:cubicBezTo>
                <a:close/>
                <a:moveTo>
                  <a:pt x="199622" y="236283"/>
                </a:moveTo>
                <a:lnTo>
                  <a:pt x="199622" y="252390"/>
                </a:lnTo>
                <a:lnTo>
                  <a:pt x="231885" y="252390"/>
                </a:lnTo>
                <a:lnTo>
                  <a:pt x="231885" y="236283"/>
                </a:lnTo>
                <a:close/>
                <a:moveTo>
                  <a:pt x="184926" y="127088"/>
                </a:moveTo>
                <a:cubicBezTo>
                  <a:pt x="193187" y="135322"/>
                  <a:pt x="204067" y="139841"/>
                  <a:pt x="215754" y="139841"/>
                </a:cubicBezTo>
                <a:cubicBezTo>
                  <a:pt x="227440" y="139841"/>
                  <a:pt x="238421" y="135322"/>
                  <a:pt x="246682" y="127088"/>
                </a:cubicBezTo>
                <a:lnTo>
                  <a:pt x="256152" y="136527"/>
                </a:lnTo>
                <a:cubicBezTo>
                  <a:pt x="245372" y="147272"/>
                  <a:pt x="231067" y="153197"/>
                  <a:pt x="215754" y="153197"/>
                </a:cubicBezTo>
                <a:cubicBezTo>
                  <a:pt x="200541" y="153197"/>
                  <a:pt x="186235" y="147272"/>
                  <a:pt x="175355" y="136527"/>
                </a:cubicBezTo>
                <a:close/>
                <a:moveTo>
                  <a:pt x="274217" y="96675"/>
                </a:moveTo>
                <a:lnTo>
                  <a:pt x="287766" y="96675"/>
                </a:lnTo>
                <a:lnTo>
                  <a:pt x="287766" y="138238"/>
                </a:lnTo>
                <a:lnTo>
                  <a:pt x="274217" y="138238"/>
                </a:lnTo>
                <a:close/>
                <a:moveTo>
                  <a:pt x="143883" y="96675"/>
                </a:moveTo>
                <a:lnTo>
                  <a:pt x="157290" y="96675"/>
                </a:lnTo>
                <a:lnTo>
                  <a:pt x="157290" y="138238"/>
                </a:lnTo>
                <a:lnTo>
                  <a:pt x="143883" y="138238"/>
                </a:lnTo>
                <a:close/>
                <a:moveTo>
                  <a:pt x="99498" y="41613"/>
                </a:moveTo>
                <a:lnTo>
                  <a:pt x="99498" y="194609"/>
                </a:lnTo>
                <a:lnTo>
                  <a:pt x="332080" y="194609"/>
                </a:lnTo>
                <a:lnTo>
                  <a:pt x="332080" y="41613"/>
                </a:lnTo>
                <a:close/>
                <a:moveTo>
                  <a:pt x="98389" y="28226"/>
                </a:moveTo>
                <a:lnTo>
                  <a:pt x="333088" y="28226"/>
                </a:lnTo>
                <a:cubicBezTo>
                  <a:pt x="339943" y="28226"/>
                  <a:pt x="345488" y="33762"/>
                  <a:pt x="345488" y="40607"/>
                </a:cubicBezTo>
                <a:lnTo>
                  <a:pt x="345488" y="195716"/>
                </a:lnTo>
                <a:cubicBezTo>
                  <a:pt x="345488" y="202561"/>
                  <a:pt x="339943" y="208097"/>
                  <a:pt x="333088" y="208097"/>
                </a:cubicBezTo>
                <a:lnTo>
                  <a:pt x="98389" y="208097"/>
                </a:lnTo>
                <a:cubicBezTo>
                  <a:pt x="91635" y="208097"/>
                  <a:pt x="86090" y="202561"/>
                  <a:pt x="86090" y="195716"/>
                </a:cubicBezTo>
                <a:lnTo>
                  <a:pt x="86090" y="40607"/>
                </a:lnTo>
                <a:cubicBezTo>
                  <a:pt x="86090" y="33762"/>
                  <a:pt x="91635" y="28226"/>
                  <a:pt x="98389" y="28226"/>
                </a:cubicBezTo>
                <a:close/>
                <a:moveTo>
                  <a:pt x="98400" y="13390"/>
                </a:moveTo>
                <a:cubicBezTo>
                  <a:pt x="83478" y="13390"/>
                  <a:pt x="71279" y="25571"/>
                  <a:pt x="71279" y="40572"/>
                </a:cubicBezTo>
                <a:lnTo>
                  <a:pt x="71279" y="195711"/>
                </a:lnTo>
                <a:cubicBezTo>
                  <a:pt x="71279" y="210611"/>
                  <a:pt x="83478" y="222792"/>
                  <a:pt x="98400" y="222792"/>
                </a:cubicBezTo>
                <a:lnTo>
                  <a:pt x="333107" y="222792"/>
                </a:lnTo>
                <a:cubicBezTo>
                  <a:pt x="348129" y="222792"/>
                  <a:pt x="360328" y="210611"/>
                  <a:pt x="360328" y="195711"/>
                </a:cubicBezTo>
                <a:lnTo>
                  <a:pt x="360328" y="40572"/>
                </a:lnTo>
                <a:cubicBezTo>
                  <a:pt x="360328" y="25571"/>
                  <a:pt x="348129" y="13390"/>
                  <a:pt x="333107" y="13390"/>
                </a:cubicBezTo>
                <a:close/>
                <a:moveTo>
                  <a:pt x="98400" y="0"/>
                </a:moveTo>
                <a:lnTo>
                  <a:pt x="333107" y="0"/>
                </a:lnTo>
                <a:cubicBezTo>
                  <a:pt x="355489" y="0"/>
                  <a:pt x="373738" y="18222"/>
                  <a:pt x="373738" y="40572"/>
                </a:cubicBezTo>
                <a:lnTo>
                  <a:pt x="373738" y="195711"/>
                </a:lnTo>
                <a:cubicBezTo>
                  <a:pt x="373738" y="218060"/>
                  <a:pt x="355489" y="236283"/>
                  <a:pt x="333107" y="236283"/>
                </a:cubicBezTo>
                <a:lnTo>
                  <a:pt x="245394" y="236283"/>
                </a:lnTo>
                <a:lnTo>
                  <a:pt x="245394" y="252390"/>
                </a:lnTo>
                <a:lnTo>
                  <a:pt x="337947" y="252390"/>
                </a:lnTo>
                <a:cubicBezTo>
                  <a:pt x="356901" y="252390"/>
                  <a:pt x="372528" y="267190"/>
                  <a:pt x="373637" y="285915"/>
                </a:cubicBezTo>
                <a:lnTo>
                  <a:pt x="431507" y="285915"/>
                </a:lnTo>
                <a:lnTo>
                  <a:pt x="431507" y="454343"/>
                </a:lnTo>
                <a:lnTo>
                  <a:pt x="395212" y="454343"/>
                </a:lnTo>
                <a:lnTo>
                  <a:pt x="395212" y="322158"/>
                </a:lnTo>
                <a:lnTo>
                  <a:pt x="373738" y="322158"/>
                </a:lnTo>
                <a:lnTo>
                  <a:pt x="373738" y="466323"/>
                </a:lnTo>
                <a:cubicBezTo>
                  <a:pt x="373738" y="485955"/>
                  <a:pt x="357707" y="501962"/>
                  <a:pt x="338047" y="502063"/>
                </a:cubicBezTo>
                <a:lnTo>
                  <a:pt x="338047" y="527533"/>
                </a:lnTo>
                <a:lnTo>
                  <a:pt x="353775" y="527533"/>
                </a:lnTo>
                <a:lnTo>
                  <a:pt x="353775" y="608274"/>
                </a:lnTo>
                <a:lnTo>
                  <a:pt x="236321" y="608274"/>
                </a:lnTo>
                <a:lnTo>
                  <a:pt x="236321" y="527533"/>
                </a:lnTo>
                <a:lnTo>
                  <a:pt x="252149" y="527533"/>
                </a:lnTo>
                <a:lnTo>
                  <a:pt x="252149" y="502063"/>
                </a:lnTo>
                <a:lnTo>
                  <a:pt x="179358" y="502063"/>
                </a:lnTo>
                <a:lnTo>
                  <a:pt x="179358" y="527533"/>
                </a:lnTo>
                <a:lnTo>
                  <a:pt x="195186" y="527533"/>
                </a:lnTo>
                <a:lnTo>
                  <a:pt x="195186" y="608274"/>
                </a:lnTo>
                <a:lnTo>
                  <a:pt x="77732" y="608274"/>
                </a:lnTo>
                <a:lnTo>
                  <a:pt x="77732" y="527533"/>
                </a:lnTo>
                <a:lnTo>
                  <a:pt x="93560" y="527533"/>
                </a:lnTo>
                <a:lnTo>
                  <a:pt x="93560" y="502063"/>
                </a:lnTo>
                <a:cubicBezTo>
                  <a:pt x="73800" y="501962"/>
                  <a:pt x="57870" y="485955"/>
                  <a:pt x="57870" y="466323"/>
                </a:cubicBezTo>
                <a:lnTo>
                  <a:pt x="57870" y="322158"/>
                </a:lnTo>
                <a:lnTo>
                  <a:pt x="36295" y="322158"/>
                </a:lnTo>
                <a:lnTo>
                  <a:pt x="36295" y="454343"/>
                </a:lnTo>
                <a:lnTo>
                  <a:pt x="0" y="454343"/>
                </a:lnTo>
                <a:lnTo>
                  <a:pt x="0" y="285915"/>
                </a:lnTo>
                <a:lnTo>
                  <a:pt x="57870" y="285915"/>
                </a:lnTo>
                <a:cubicBezTo>
                  <a:pt x="58979" y="267190"/>
                  <a:pt x="74606" y="252390"/>
                  <a:pt x="93661" y="252390"/>
                </a:cubicBezTo>
                <a:lnTo>
                  <a:pt x="186213" y="252390"/>
                </a:lnTo>
                <a:lnTo>
                  <a:pt x="186213" y="236283"/>
                </a:lnTo>
                <a:lnTo>
                  <a:pt x="98400" y="236283"/>
                </a:lnTo>
                <a:cubicBezTo>
                  <a:pt x="76018" y="236283"/>
                  <a:pt x="57870" y="218060"/>
                  <a:pt x="57870" y="195711"/>
                </a:cubicBezTo>
                <a:lnTo>
                  <a:pt x="57870" y="40572"/>
                </a:lnTo>
                <a:cubicBezTo>
                  <a:pt x="57870" y="18222"/>
                  <a:pt x="76018" y="0"/>
                  <a:pt x="98400" y="0"/>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p>
        </p:txBody>
      </p:sp>
      <p:sp>
        <p:nvSpPr>
          <p:cNvPr id="105" name="ïsḻîdé"/>
          <p:cNvSpPr/>
          <p:nvPr/>
        </p:nvSpPr>
        <p:spPr bwMode="auto">
          <a:xfrm>
            <a:off x="7794375" y="1010186"/>
            <a:ext cx="429626" cy="408136"/>
          </a:xfrm>
          <a:custGeom>
            <a:avLst/>
            <a:gdLst>
              <a:gd name="T0" fmla="*/ 323122 h 606761"/>
              <a:gd name="T1" fmla="*/ 323122 h 606761"/>
              <a:gd name="T2" fmla="*/ 323122 h 606761"/>
              <a:gd name="T3" fmla="*/ 323122 h 606761"/>
              <a:gd name="T4" fmla="*/ 323122 h 606761"/>
              <a:gd name="T5" fmla="*/ 323122 h 606761"/>
              <a:gd name="T6" fmla="*/ 323122 h 606761"/>
              <a:gd name="T7" fmla="*/ 323122 h 606761"/>
              <a:gd name="T8" fmla="*/ 285195 h 606761"/>
              <a:gd name="T9" fmla="*/ 285195 h 606761"/>
              <a:gd name="T10" fmla="*/ 323122 h 606761"/>
              <a:gd name="T11" fmla="*/ 323122 h 606761"/>
              <a:gd name="T12" fmla="*/ 323122 h 606761"/>
              <a:gd name="T13" fmla="*/ 323122 h 606761"/>
              <a:gd name="T14" fmla="*/ 323122 h 606761"/>
              <a:gd name="T15" fmla="*/ 323122 h 606761"/>
              <a:gd name="T16" fmla="*/ 323122 h 606761"/>
              <a:gd name="T17" fmla="*/ 323122 h 606761"/>
              <a:gd name="T18" fmla="*/ 323122 h 606761"/>
              <a:gd name="T19" fmla="*/ 323122 h 606761"/>
              <a:gd name="T20" fmla="*/ 323122 h 606761"/>
              <a:gd name="T21" fmla="*/ 323122 h 606761"/>
              <a:gd name="T22" fmla="*/ 323122 h 606761"/>
              <a:gd name="T23" fmla="*/ 323122 h 606761"/>
              <a:gd name="T24" fmla="*/ 323122 h 606761"/>
              <a:gd name="T25" fmla="*/ 323122 h 606761"/>
              <a:gd name="T26" fmla="*/ 323122 h 606761"/>
              <a:gd name="T27" fmla="*/ 323122 h 606761"/>
              <a:gd name="T28" fmla="*/ 323122 h 606761"/>
              <a:gd name="T29" fmla="*/ 323122 h 606761"/>
              <a:gd name="T30" fmla="*/ 323122 h 606761"/>
              <a:gd name="T31" fmla="*/ 323122 h 606761"/>
              <a:gd name="T32" fmla="*/ 323122 h 606761"/>
              <a:gd name="T33" fmla="*/ 323122 h 606761"/>
              <a:gd name="T34" fmla="*/ 323122 h 606761"/>
              <a:gd name="T35" fmla="*/ 323122 h 606761"/>
              <a:gd name="T36" fmla="*/ 323122 h 606761"/>
              <a:gd name="T37" fmla="*/ 323122 h 606761"/>
              <a:gd name="T38" fmla="*/ 323122 h 606761"/>
              <a:gd name="T39" fmla="*/ 323122 h 606761"/>
              <a:gd name="T40" fmla="*/ 323122 h 606761"/>
              <a:gd name="T41" fmla="*/ 323122 h 606761"/>
              <a:gd name="T42" fmla="*/ 323122 h 606761"/>
              <a:gd name="T43" fmla="*/ 323122 h 606761"/>
              <a:gd name="T44" fmla="*/ 323122 h 606761"/>
              <a:gd name="T45" fmla="*/ 323122 h 606761"/>
              <a:gd name="T46" fmla="*/ 323122 h 606761"/>
              <a:gd name="T47" fmla="*/ 323122 h 606761"/>
              <a:gd name="T48" fmla="*/ 323122 h 606761"/>
              <a:gd name="T49" fmla="*/ 323122 h 606761"/>
              <a:gd name="T50" fmla="*/ 323122 h 606761"/>
              <a:gd name="T51" fmla="*/ 323122 h 606761"/>
              <a:gd name="T52" fmla="*/ 323122 h 606761"/>
              <a:gd name="T53" fmla="*/ 323122 h 606761"/>
              <a:gd name="T54" fmla="*/ 323122 h 606761"/>
              <a:gd name="T55" fmla="*/ 323122 h 606761"/>
              <a:gd name="T56" fmla="*/ 323122 h 606761"/>
              <a:gd name="T57" fmla="*/ 323122 h 606761"/>
              <a:gd name="T58" fmla="*/ 323122 h 606761"/>
              <a:gd name="T59" fmla="*/ 323122 h 606761"/>
              <a:gd name="T60" fmla="*/ 323122 h 606761"/>
              <a:gd name="T61" fmla="*/ 323122 h 606761"/>
              <a:gd name="T62" fmla="*/ 323122 h 606761"/>
              <a:gd name="T63" fmla="*/ 323122 h 606761"/>
              <a:gd name="T64" fmla="*/ 323122 h 606761"/>
              <a:gd name="T65" fmla="*/ 323122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60" h="8160">
                <a:moveTo>
                  <a:pt x="7595" y="0"/>
                </a:moveTo>
                <a:lnTo>
                  <a:pt x="565" y="0"/>
                </a:lnTo>
                <a:cubicBezTo>
                  <a:pt x="253" y="0"/>
                  <a:pt x="0" y="253"/>
                  <a:pt x="0" y="565"/>
                </a:cubicBezTo>
                <a:lnTo>
                  <a:pt x="0" y="7595"/>
                </a:lnTo>
                <a:cubicBezTo>
                  <a:pt x="0" y="7907"/>
                  <a:pt x="253" y="8160"/>
                  <a:pt x="565" y="8160"/>
                </a:cubicBezTo>
                <a:lnTo>
                  <a:pt x="7595" y="8160"/>
                </a:lnTo>
                <a:cubicBezTo>
                  <a:pt x="7907" y="8160"/>
                  <a:pt x="8160" y="7907"/>
                  <a:pt x="8160" y="7595"/>
                </a:cubicBezTo>
                <a:lnTo>
                  <a:pt x="8160" y="565"/>
                </a:lnTo>
                <a:cubicBezTo>
                  <a:pt x="8160" y="253"/>
                  <a:pt x="7907" y="0"/>
                  <a:pt x="7595" y="0"/>
                </a:cubicBezTo>
                <a:close/>
                <a:moveTo>
                  <a:pt x="7030" y="1130"/>
                </a:moveTo>
                <a:lnTo>
                  <a:pt x="7030" y="1856"/>
                </a:lnTo>
                <a:lnTo>
                  <a:pt x="4306" y="1856"/>
                </a:lnTo>
                <a:cubicBezTo>
                  <a:pt x="4227" y="1617"/>
                  <a:pt x="4004" y="1444"/>
                  <a:pt x="3739" y="1444"/>
                </a:cubicBezTo>
                <a:cubicBezTo>
                  <a:pt x="3473" y="1444"/>
                  <a:pt x="3251" y="1617"/>
                  <a:pt x="3171" y="1856"/>
                </a:cubicBezTo>
                <a:lnTo>
                  <a:pt x="2764" y="1856"/>
                </a:lnTo>
                <a:cubicBezTo>
                  <a:pt x="2685" y="1617"/>
                  <a:pt x="2462" y="1444"/>
                  <a:pt x="2197" y="1444"/>
                </a:cubicBezTo>
                <a:cubicBezTo>
                  <a:pt x="1931" y="1444"/>
                  <a:pt x="1709" y="1617"/>
                  <a:pt x="1630" y="1856"/>
                </a:cubicBezTo>
                <a:lnTo>
                  <a:pt x="1130" y="1856"/>
                </a:lnTo>
                <a:lnTo>
                  <a:pt x="1130" y="1130"/>
                </a:lnTo>
                <a:lnTo>
                  <a:pt x="7030" y="1130"/>
                </a:lnTo>
                <a:close/>
                <a:moveTo>
                  <a:pt x="6530" y="5928"/>
                </a:moveTo>
                <a:cubicBezTo>
                  <a:pt x="6451" y="5689"/>
                  <a:pt x="6228" y="5516"/>
                  <a:pt x="5963" y="5516"/>
                </a:cubicBezTo>
                <a:cubicBezTo>
                  <a:pt x="5697" y="5516"/>
                  <a:pt x="5475" y="5689"/>
                  <a:pt x="5396" y="5928"/>
                </a:cubicBezTo>
                <a:lnTo>
                  <a:pt x="4988" y="5928"/>
                </a:lnTo>
                <a:cubicBezTo>
                  <a:pt x="4909" y="5689"/>
                  <a:pt x="4687" y="5516"/>
                  <a:pt x="4421" y="5516"/>
                </a:cubicBezTo>
                <a:cubicBezTo>
                  <a:pt x="4156" y="5516"/>
                  <a:pt x="3933" y="5689"/>
                  <a:pt x="3854" y="5928"/>
                </a:cubicBezTo>
                <a:lnTo>
                  <a:pt x="1130" y="5928"/>
                </a:lnTo>
                <a:lnTo>
                  <a:pt x="1130" y="4269"/>
                </a:lnTo>
                <a:lnTo>
                  <a:pt x="3854" y="4269"/>
                </a:lnTo>
                <a:cubicBezTo>
                  <a:pt x="3934" y="4507"/>
                  <a:pt x="4156" y="4681"/>
                  <a:pt x="4421" y="4681"/>
                </a:cubicBezTo>
                <a:cubicBezTo>
                  <a:pt x="4687" y="4681"/>
                  <a:pt x="4909" y="4507"/>
                  <a:pt x="4989" y="4269"/>
                </a:cubicBezTo>
                <a:lnTo>
                  <a:pt x="5396" y="4269"/>
                </a:lnTo>
                <a:cubicBezTo>
                  <a:pt x="5475" y="4507"/>
                  <a:pt x="5698" y="4681"/>
                  <a:pt x="5963" y="4681"/>
                </a:cubicBezTo>
                <a:cubicBezTo>
                  <a:pt x="6229" y="4681"/>
                  <a:pt x="6451" y="4507"/>
                  <a:pt x="6530" y="4269"/>
                </a:cubicBezTo>
                <a:lnTo>
                  <a:pt x="7030" y="4269"/>
                </a:lnTo>
                <a:lnTo>
                  <a:pt x="7030" y="5928"/>
                </a:lnTo>
                <a:lnTo>
                  <a:pt x="6530" y="5928"/>
                </a:lnTo>
                <a:lnTo>
                  <a:pt x="6530" y="5928"/>
                </a:lnTo>
                <a:close/>
                <a:moveTo>
                  <a:pt x="6530" y="3892"/>
                </a:moveTo>
                <a:cubicBezTo>
                  <a:pt x="6451" y="3653"/>
                  <a:pt x="6228" y="3480"/>
                  <a:pt x="5963" y="3480"/>
                </a:cubicBezTo>
                <a:cubicBezTo>
                  <a:pt x="5697" y="3480"/>
                  <a:pt x="5475" y="3653"/>
                  <a:pt x="5396" y="3892"/>
                </a:cubicBezTo>
                <a:lnTo>
                  <a:pt x="4988" y="3892"/>
                </a:lnTo>
                <a:cubicBezTo>
                  <a:pt x="4909" y="3653"/>
                  <a:pt x="4687" y="3480"/>
                  <a:pt x="4421" y="3480"/>
                </a:cubicBezTo>
                <a:cubicBezTo>
                  <a:pt x="4156" y="3480"/>
                  <a:pt x="3933" y="3653"/>
                  <a:pt x="3854" y="3892"/>
                </a:cubicBezTo>
                <a:lnTo>
                  <a:pt x="1130" y="3892"/>
                </a:lnTo>
                <a:lnTo>
                  <a:pt x="1130" y="2232"/>
                </a:lnTo>
                <a:lnTo>
                  <a:pt x="1630" y="2232"/>
                </a:lnTo>
                <a:cubicBezTo>
                  <a:pt x="1709" y="2471"/>
                  <a:pt x="1931" y="2644"/>
                  <a:pt x="2197" y="2644"/>
                </a:cubicBezTo>
                <a:cubicBezTo>
                  <a:pt x="2462" y="2644"/>
                  <a:pt x="2685" y="2471"/>
                  <a:pt x="2764" y="2232"/>
                </a:cubicBezTo>
                <a:lnTo>
                  <a:pt x="3172" y="2232"/>
                </a:lnTo>
                <a:cubicBezTo>
                  <a:pt x="3251" y="2471"/>
                  <a:pt x="3473" y="2644"/>
                  <a:pt x="3739" y="2644"/>
                </a:cubicBezTo>
                <a:cubicBezTo>
                  <a:pt x="4004" y="2644"/>
                  <a:pt x="4227" y="2471"/>
                  <a:pt x="4306" y="2232"/>
                </a:cubicBezTo>
                <a:lnTo>
                  <a:pt x="7030" y="2232"/>
                </a:lnTo>
                <a:lnTo>
                  <a:pt x="7030" y="3892"/>
                </a:lnTo>
                <a:lnTo>
                  <a:pt x="6530" y="3892"/>
                </a:lnTo>
                <a:lnTo>
                  <a:pt x="6530" y="3892"/>
                </a:lnTo>
                <a:close/>
                <a:moveTo>
                  <a:pt x="1130" y="7030"/>
                </a:moveTo>
                <a:lnTo>
                  <a:pt x="1130" y="6304"/>
                </a:lnTo>
                <a:lnTo>
                  <a:pt x="3854" y="6304"/>
                </a:lnTo>
                <a:cubicBezTo>
                  <a:pt x="3934" y="6543"/>
                  <a:pt x="4156" y="6716"/>
                  <a:pt x="4421" y="6716"/>
                </a:cubicBezTo>
                <a:cubicBezTo>
                  <a:pt x="4687" y="6716"/>
                  <a:pt x="4909" y="6543"/>
                  <a:pt x="4989" y="6304"/>
                </a:cubicBezTo>
                <a:lnTo>
                  <a:pt x="5396" y="6304"/>
                </a:lnTo>
                <a:cubicBezTo>
                  <a:pt x="5475" y="6543"/>
                  <a:pt x="5698" y="6716"/>
                  <a:pt x="5963" y="6716"/>
                </a:cubicBezTo>
                <a:cubicBezTo>
                  <a:pt x="6229" y="6716"/>
                  <a:pt x="6451" y="6543"/>
                  <a:pt x="6530" y="6304"/>
                </a:cubicBezTo>
                <a:lnTo>
                  <a:pt x="7030" y="6304"/>
                </a:lnTo>
                <a:lnTo>
                  <a:pt x="7030" y="7030"/>
                </a:lnTo>
                <a:lnTo>
                  <a:pt x="1130" y="7030"/>
                </a:ln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000" b="1">
              <a:latin typeface="微软雅黑" panose="020B0503020204020204" pitchFamily="34" charset="-122"/>
              <a:ea typeface="微软雅黑" panose="020B0503020204020204" pitchFamily="34" charset="-122"/>
            </a:endParaRPr>
          </a:p>
        </p:txBody>
      </p:sp>
      <p:sp>
        <p:nvSpPr>
          <p:cNvPr id="103" name="ïṧľîďe"/>
          <p:cNvSpPr/>
          <p:nvPr/>
        </p:nvSpPr>
        <p:spPr>
          <a:xfrm>
            <a:off x="3999879" y="940628"/>
            <a:ext cx="512789" cy="472323"/>
          </a:xfrm>
          <a:custGeom>
            <a:avLst/>
            <a:gdLst>
              <a:gd name="connsiteX0" fmla="*/ 222795 w 607639"/>
              <a:gd name="connsiteY0" fmla="*/ 404243 h 606554"/>
              <a:gd name="connsiteX1" fmla="*/ 256526 w 607639"/>
              <a:gd name="connsiteY1" fmla="*/ 422388 h 606554"/>
              <a:gd name="connsiteX2" fmla="*/ 303785 w 607639"/>
              <a:gd name="connsiteY2" fmla="*/ 404243 h 606554"/>
              <a:gd name="connsiteX3" fmla="*/ 351132 w 607639"/>
              <a:gd name="connsiteY3" fmla="*/ 422388 h 606554"/>
              <a:gd name="connsiteX4" fmla="*/ 384863 w 607639"/>
              <a:gd name="connsiteY4" fmla="*/ 404243 h 606554"/>
              <a:gd name="connsiteX5" fmla="*/ 420908 w 607639"/>
              <a:gd name="connsiteY5" fmla="*/ 426657 h 606554"/>
              <a:gd name="connsiteX6" fmla="*/ 435414 w 607639"/>
              <a:gd name="connsiteY6" fmla="*/ 424522 h 606554"/>
              <a:gd name="connsiteX7" fmla="*/ 486055 w 607639"/>
              <a:gd name="connsiteY7" fmla="*/ 475131 h 606554"/>
              <a:gd name="connsiteX8" fmla="*/ 475998 w 607639"/>
              <a:gd name="connsiteY8" fmla="*/ 485182 h 606554"/>
              <a:gd name="connsiteX9" fmla="*/ 465852 w 607639"/>
              <a:gd name="connsiteY9" fmla="*/ 475131 h 606554"/>
              <a:gd name="connsiteX10" fmla="*/ 435414 w 607639"/>
              <a:gd name="connsiteY10" fmla="*/ 444713 h 606554"/>
              <a:gd name="connsiteX11" fmla="*/ 419929 w 607639"/>
              <a:gd name="connsiteY11" fmla="*/ 449160 h 606554"/>
              <a:gd name="connsiteX12" fmla="*/ 410406 w 607639"/>
              <a:gd name="connsiteY12" fmla="*/ 449604 h 606554"/>
              <a:gd name="connsiteX13" fmla="*/ 404710 w 607639"/>
              <a:gd name="connsiteY13" fmla="*/ 441866 h 606554"/>
              <a:gd name="connsiteX14" fmla="*/ 384863 w 607639"/>
              <a:gd name="connsiteY14" fmla="*/ 424522 h 606554"/>
              <a:gd name="connsiteX15" fmla="*/ 364838 w 607639"/>
              <a:gd name="connsiteY15" fmla="*/ 442934 h 606554"/>
              <a:gd name="connsiteX16" fmla="*/ 357184 w 607639"/>
              <a:gd name="connsiteY16" fmla="*/ 451828 h 606554"/>
              <a:gd name="connsiteX17" fmla="*/ 346237 w 607639"/>
              <a:gd name="connsiteY17" fmla="*/ 447559 h 606554"/>
              <a:gd name="connsiteX18" fmla="*/ 303785 w 607639"/>
              <a:gd name="connsiteY18" fmla="*/ 424522 h 606554"/>
              <a:gd name="connsiteX19" fmla="*/ 261421 w 607639"/>
              <a:gd name="connsiteY19" fmla="*/ 447559 h 606554"/>
              <a:gd name="connsiteX20" fmla="*/ 250474 w 607639"/>
              <a:gd name="connsiteY20" fmla="*/ 451828 h 606554"/>
              <a:gd name="connsiteX21" fmla="*/ 242820 w 607639"/>
              <a:gd name="connsiteY21" fmla="*/ 442934 h 606554"/>
              <a:gd name="connsiteX22" fmla="*/ 222795 w 607639"/>
              <a:gd name="connsiteY22" fmla="*/ 424522 h 606554"/>
              <a:gd name="connsiteX23" fmla="*/ 202859 w 607639"/>
              <a:gd name="connsiteY23" fmla="*/ 441866 h 606554"/>
              <a:gd name="connsiteX24" fmla="*/ 197252 w 607639"/>
              <a:gd name="connsiteY24" fmla="*/ 449604 h 606554"/>
              <a:gd name="connsiteX25" fmla="*/ 187640 w 607639"/>
              <a:gd name="connsiteY25" fmla="*/ 449160 h 606554"/>
              <a:gd name="connsiteX26" fmla="*/ 172155 w 607639"/>
              <a:gd name="connsiteY26" fmla="*/ 444713 h 606554"/>
              <a:gd name="connsiteX27" fmla="*/ 141806 w 607639"/>
              <a:gd name="connsiteY27" fmla="*/ 475131 h 606554"/>
              <a:gd name="connsiteX28" fmla="*/ 131660 w 607639"/>
              <a:gd name="connsiteY28" fmla="*/ 485182 h 606554"/>
              <a:gd name="connsiteX29" fmla="*/ 121514 w 607639"/>
              <a:gd name="connsiteY29" fmla="*/ 475131 h 606554"/>
              <a:gd name="connsiteX30" fmla="*/ 172155 w 607639"/>
              <a:gd name="connsiteY30" fmla="*/ 424522 h 606554"/>
              <a:gd name="connsiteX31" fmla="*/ 186661 w 607639"/>
              <a:gd name="connsiteY31" fmla="*/ 426657 h 606554"/>
              <a:gd name="connsiteX32" fmla="*/ 222795 w 607639"/>
              <a:gd name="connsiteY32" fmla="*/ 404243 h 606554"/>
              <a:gd name="connsiteX33" fmla="*/ 303774 w 607639"/>
              <a:gd name="connsiteY33" fmla="*/ 282941 h 606554"/>
              <a:gd name="connsiteX34" fmla="*/ 313945 w 607639"/>
              <a:gd name="connsiteY34" fmla="*/ 293078 h 606554"/>
              <a:gd name="connsiteX35" fmla="*/ 313945 w 607639"/>
              <a:gd name="connsiteY35" fmla="*/ 373995 h 606554"/>
              <a:gd name="connsiteX36" fmla="*/ 303774 w 607639"/>
              <a:gd name="connsiteY36" fmla="*/ 384132 h 606554"/>
              <a:gd name="connsiteX37" fmla="*/ 293693 w 607639"/>
              <a:gd name="connsiteY37" fmla="*/ 373995 h 606554"/>
              <a:gd name="connsiteX38" fmla="*/ 293693 w 607639"/>
              <a:gd name="connsiteY38" fmla="*/ 293078 h 606554"/>
              <a:gd name="connsiteX39" fmla="*/ 303774 w 607639"/>
              <a:gd name="connsiteY39" fmla="*/ 282941 h 606554"/>
              <a:gd name="connsiteX40" fmla="*/ 101254 w 607639"/>
              <a:gd name="connsiteY40" fmla="*/ 202073 h 606554"/>
              <a:gd name="connsiteX41" fmla="*/ 192395 w 607639"/>
              <a:gd name="connsiteY41" fmla="*/ 202073 h 606554"/>
              <a:gd name="connsiteX42" fmla="*/ 202542 w 607639"/>
              <a:gd name="connsiteY42" fmla="*/ 212117 h 606554"/>
              <a:gd name="connsiteX43" fmla="*/ 192395 w 607639"/>
              <a:gd name="connsiteY43" fmla="*/ 222250 h 606554"/>
              <a:gd name="connsiteX44" fmla="*/ 101254 w 607639"/>
              <a:gd name="connsiteY44" fmla="*/ 222250 h 606554"/>
              <a:gd name="connsiteX45" fmla="*/ 80961 w 607639"/>
              <a:gd name="connsiteY45" fmla="*/ 232916 h 606554"/>
              <a:gd name="connsiteX46" fmla="*/ 80961 w 607639"/>
              <a:gd name="connsiteY46" fmla="*/ 505439 h 606554"/>
              <a:gd name="connsiteX47" fmla="*/ 526519 w 607639"/>
              <a:gd name="connsiteY47" fmla="*/ 505439 h 606554"/>
              <a:gd name="connsiteX48" fmla="*/ 526519 w 607639"/>
              <a:gd name="connsiteY48" fmla="*/ 232383 h 606554"/>
              <a:gd name="connsiteX49" fmla="*/ 516461 w 607639"/>
              <a:gd name="connsiteY49" fmla="*/ 222250 h 606554"/>
              <a:gd name="connsiteX50" fmla="*/ 415174 w 607639"/>
              <a:gd name="connsiteY50" fmla="*/ 222250 h 606554"/>
              <a:gd name="connsiteX51" fmla="*/ 405027 w 607639"/>
              <a:gd name="connsiteY51" fmla="*/ 212117 h 606554"/>
              <a:gd name="connsiteX52" fmla="*/ 415174 w 607639"/>
              <a:gd name="connsiteY52" fmla="*/ 202073 h 606554"/>
              <a:gd name="connsiteX53" fmla="*/ 516461 w 607639"/>
              <a:gd name="connsiteY53" fmla="*/ 202073 h 606554"/>
              <a:gd name="connsiteX54" fmla="*/ 546812 w 607639"/>
              <a:gd name="connsiteY54" fmla="*/ 232383 h 606554"/>
              <a:gd name="connsiteX55" fmla="*/ 546812 w 607639"/>
              <a:gd name="connsiteY55" fmla="*/ 515572 h 606554"/>
              <a:gd name="connsiteX56" fmla="*/ 536665 w 607639"/>
              <a:gd name="connsiteY56" fmla="*/ 525616 h 606554"/>
              <a:gd name="connsiteX57" fmla="*/ 70815 w 607639"/>
              <a:gd name="connsiteY57" fmla="*/ 525616 h 606554"/>
              <a:gd name="connsiteX58" fmla="*/ 60757 w 607639"/>
              <a:gd name="connsiteY58" fmla="*/ 515572 h 606554"/>
              <a:gd name="connsiteX59" fmla="*/ 60757 w 607639"/>
              <a:gd name="connsiteY59" fmla="*/ 232383 h 606554"/>
              <a:gd name="connsiteX60" fmla="*/ 101254 w 607639"/>
              <a:gd name="connsiteY60" fmla="*/ 202073 h 606554"/>
              <a:gd name="connsiteX61" fmla="*/ 415210 w 607639"/>
              <a:gd name="connsiteY61" fmla="*/ 161568 h 606554"/>
              <a:gd name="connsiteX62" fmla="*/ 536702 w 607639"/>
              <a:gd name="connsiteY62" fmla="*/ 161568 h 606554"/>
              <a:gd name="connsiteX63" fmla="*/ 587346 w 607639"/>
              <a:gd name="connsiteY63" fmla="*/ 212137 h 606554"/>
              <a:gd name="connsiteX64" fmla="*/ 587346 w 607639"/>
              <a:gd name="connsiteY64" fmla="*/ 505417 h 606554"/>
              <a:gd name="connsiteX65" fmla="*/ 597492 w 607639"/>
              <a:gd name="connsiteY65" fmla="*/ 505417 h 606554"/>
              <a:gd name="connsiteX66" fmla="*/ 607639 w 607639"/>
              <a:gd name="connsiteY66" fmla="*/ 515548 h 606554"/>
              <a:gd name="connsiteX67" fmla="*/ 607639 w 607639"/>
              <a:gd name="connsiteY67" fmla="*/ 555985 h 606554"/>
              <a:gd name="connsiteX68" fmla="*/ 556995 w 607639"/>
              <a:gd name="connsiteY68" fmla="*/ 606554 h 606554"/>
              <a:gd name="connsiteX69" fmla="*/ 50644 w 607639"/>
              <a:gd name="connsiteY69" fmla="*/ 606554 h 606554"/>
              <a:gd name="connsiteX70" fmla="*/ 0 w 607639"/>
              <a:gd name="connsiteY70" fmla="*/ 555985 h 606554"/>
              <a:gd name="connsiteX71" fmla="*/ 10147 w 607639"/>
              <a:gd name="connsiteY71" fmla="*/ 545854 h 606554"/>
              <a:gd name="connsiteX72" fmla="*/ 556995 w 607639"/>
              <a:gd name="connsiteY72" fmla="*/ 545854 h 606554"/>
              <a:gd name="connsiteX73" fmla="*/ 567142 w 607639"/>
              <a:gd name="connsiteY73" fmla="*/ 555985 h 606554"/>
              <a:gd name="connsiteX74" fmla="*/ 556995 w 607639"/>
              <a:gd name="connsiteY74" fmla="*/ 566117 h 606554"/>
              <a:gd name="connsiteX75" fmla="*/ 22518 w 607639"/>
              <a:gd name="connsiteY75" fmla="*/ 566117 h 606554"/>
              <a:gd name="connsiteX76" fmla="*/ 50644 w 607639"/>
              <a:gd name="connsiteY76" fmla="*/ 586291 h 606554"/>
              <a:gd name="connsiteX77" fmla="*/ 556995 w 607639"/>
              <a:gd name="connsiteY77" fmla="*/ 586291 h 606554"/>
              <a:gd name="connsiteX78" fmla="*/ 587346 w 607639"/>
              <a:gd name="connsiteY78" fmla="*/ 555985 h 606554"/>
              <a:gd name="connsiteX79" fmla="*/ 587346 w 607639"/>
              <a:gd name="connsiteY79" fmla="*/ 525591 h 606554"/>
              <a:gd name="connsiteX80" fmla="*/ 577199 w 607639"/>
              <a:gd name="connsiteY80" fmla="*/ 525591 h 606554"/>
              <a:gd name="connsiteX81" fmla="*/ 567142 w 607639"/>
              <a:gd name="connsiteY81" fmla="*/ 515548 h 606554"/>
              <a:gd name="connsiteX82" fmla="*/ 567142 w 607639"/>
              <a:gd name="connsiteY82" fmla="*/ 212137 h 606554"/>
              <a:gd name="connsiteX83" fmla="*/ 536702 w 607639"/>
              <a:gd name="connsiteY83" fmla="*/ 181831 h 606554"/>
              <a:gd name="connsiteX84" fmla="*/ 415210 w 607639"/>
              <a:gd name="connsiteY84" fmla="*/ 181831 h 606554"/>
              <a:gd name="connsiteX85" fmla="*/ 405063 w 607639"/>
              <a:gd name="connsiteY85" fmla="*/ 171699 h 606554"/>
              <a:gd name="connsiteX86" fmla="*/ 415210 w 607639"/>
              <a:gd name="connsiteY86" fmla="*/ 161568 h 606554"/>
              <a:gd name="connsiteX87" fmla="*/ 70875 w 607639"/>
              <a:gd name="connsiteY87" fmla="*/ 161568 h 606554"/>
              <a:gd name="connsiteX88" fmla="*/ 192448 w 607639"/>
              <a:gd name="connsiteY88" fmla="*/ 161568 h 606554"/>
              <a:gd name="connsiteX89" fmla="*/ 202594 w 607639"/>
              <a:gd name="connsiteY89" fmla="*/ 171700 h 606554"/>
              <a:gd name="connsiteX90" fmla="*/ 192448 w 607639"/>
              <a:gd name="connsiteY90" fmla="*/ 181832 h 606554"/>
              <a:gd name="connsiteX91" fmla="*/ 70875 w 607639"/>
              <a:gd name="connsiteY91" fmla="*/ 181832 h 606554"/>
              <a:gd name="connsiteX92" fmla="*/ 40526 w 607639"/>
              <a:gd name="connsiteY92" fmla="*/ 212140 h 606554"/>
              <a:gd name="connsiteX93" fmla="*/ 40526 w 607639"/>
              <a:gd name="connsiteY93" fmla="*/ 515572 h 606554"/>
              <a:gd name="connsiteX94" fmla="*/ 30380 w 607639"/>
              <a:gd name="connsiteY94" fmla="*/ 525615 h 606554"/>
              <a:gd name="connsiteX95" fmla="*/ 20323 w 607639"/>
              <a:gd name="connsiteY95" fmla="*/ 515572 h 606554"/>
              <a:gd name="connsiteX96" fmla="*/ 20323 w 607639"/>
              <a:gd name="connsiteY96" fmla="*/ 212140 h 606554"/>
              <a:gd name="connsiteX97" fmla="*/ 70875 w 607639"/>
              <a:gd name="connsiteY97" fmla="*/ 161568 h 606554"/>
              <a:gd name="connsiteX98" fmla="*/ 303785 w 607639"/>
              <a:gd name="connsiteY98" fmla="*/ 141391 h 606554"/>
              <a:gd name="connsiteX99" fmla="*/ 283577 w 607639"/>
              <a:gd name="connsiteY99" fmla="*/ 161559 h 606554"/>
              <a:gd name="connsiteX100" fmla="*/ 303785 w 607639"/>
              <a:gd name="connsiteY100" fmla="*/ 181816 h 606554"/>
              <a:gd name="connsiteX101" fmla="*/ 324081 w 607639"/>
              <a:gd name="connsiteY101" fmla="*/ 161559 h 606554"/>
              <a:gd name="connsiteX102" fmla="*/ 303785 w 607639"/>
              <a:gd name="connsiteY102" fmla="*/ 141391 h 606554"/>
              <a:gd name="connsiteX103" fmla="*/ 303785 w 607639"/>
              <a:gd name="connsiteY103" fmla="*/ 121134 h 606554"/>
              <a:gd name="connsiteX104" fmla="*/ 344289 w 607639"/>
              <a:gd name="connsiteY104" fmla="*/ 161559 h 606554"/>
              <a:gd name="connsiteX105" fmla="*/ 303785 w 607639"/>
              <a:gd name="connsiteY105" fmla="*/ 202073 h 606554"/>
              <a:gd name="connsiteX106" fmla="*/ 263280 w 607639"/>
              <a:gd name="connsiteY106" fmla="*/ 161559 h 606554"/>
              <a:gd name="connsiteX107" fmla="*/ 303785 w 607639"/>
              <a:gd name="connsiteY107" fmla="*/ 121134 h 606554"/>
              <a:gd name="connsiteX108" fmla="*/ 296031 w 607639"/>
              <a:gd name="connsiteY108" fmla="*/ 3466 h 606554"/>
              <a:gd name="connsiteX109" fmla="*/ 311609 w 607639"/>
              <a:gd name="connsiteY109" fmla="*/ 3466 h 606554"/>
              <a:gd name="connsiteX110" fmla="*/ 362258 w 607639"/>
              <a:gd name="connsiteY110" fmla="*/ 64170 h 606554"/>
              <a:gd name="connsiteX111" fmla="*/ 384867 w 607639"/>
              <a:gd name="connsiteY111" fmla="*/ 131273 h 606554"/>
              <a:gd name="connsiteX112" fmla="*/ 384867 w 607639"/>
              <a:gd name="connsiteY112" fmla="*/ 232417 h 606554"/>
              <a:gd name="connsiteX113" fmla="*/ 399733 w 607639"/>
              <a:gd name="connsiteY113" fmla="*/ 265213 h 606554"/>
              <a:gd name="connsiteX114" fmla="*/ 425369 w 607639"/>
              <a:gd name="connsiteY114" fmla="*/ 333560 h 606554"/>
              <a:gd name="connsiteX115" fmla="*/ 425369 w 607639"/>
              <a:gd name="connsiteY115" fmla="*/ 353736 h 606554"/>
              <a:gd name="connsiteX116" fmla="*/ 415221 w 607639"/>
              <a:gd name="connsiteY116" fmla="*/ 363868 h 606554"/>
              <a:gd name="connsiteX117" fmla="*/ 384867 w 607639"/>
              <a:gd name="connsiteY117" fmla="*/ 363868 h 606554"/>
              <a:gd name="connsiteX118" fmla="*/ 384867 w 607639"/>
              <a:gd name="connsiteY118" fmla="*/ 374000 h 606554"/>
              <a:gd name="connsiteX119" fmla="*/ 374720 w 607639"/>
              <a:gd name="connsiteY119" fmla="*/ 384132 h 606554"/>
              <a:gd name="connsiteX120" fmla="*/ 364572 w 607639"/>
              <a:gd name="connsiteY120" fmla="*/ 374000 h 606554"/>
              <a:gd name="connsiteX121" fmla="*/ 364572 w 607639"/>
              <a:gd name="connsiteY121" fmla="*/ 363868 h 606554"/>
              <a:gd name="connsiteX122" fmla="*/ 344277 w 607639"/>
              <a:gd name="connsiteY122" fmla="*/ 363868 h 606554"/>
              <a:gd name="connsiteX123" fmla="*/ 334218 w 607639"/>
              <a:gd name="connsiteY123" fmla="*/ 353736 h 606554"/>
              <a:gd name="connsiteX124" fmla="*/ 344277 w 607639"/>
              <a:gd name="connsiteY124" fmla="*/ 343603 h 606554"/>
              <a:gd name="connsiteX125" fmla="*/ 405074 w 607639"/>
              <a:gd name="connsiteY125" fmla="*/ 343603 h 606554"/>
              <a:gd name="connsiteX126" fmla="*/ 405074 w 607639"/>
              <a:gd name="connsiteY126" fmla="*/ 333560 h 606554"/>
              <a:gd name="connsiteX127" fmla="*/ 384066 w 607639"/>
              <a:gd name="connsiteY127" fmla="*/ 278011 h 606554"/>
              <a:gd name="connsiteX128" fmla="*/ 364572 w 607639"/>
              <a:gd name="connsiteY128" fmla="*/ 232417 h 606554"/>
              <a:gd name="connsiteX129" fmla="*/ 364572 w 607639"/>
              <a:gd name="connsiteY129" fmla="*/ 131273 h 606554"/>
              <a:gd name="connsiteX130" fmla="*/ 347214 w 607639"/>
              <a:gd name="connsiteY130" fmla="*/ 77679 h 606554"/>
              <a:gd name="connsiteX131" fmla="*/ 303775 w 607639"/>
              <a:gd name="connsiteY131" fmla="*/ 25685 h 606554"/>
              <a:gd name="connsiteX132" fmla="*/ 260960 w 607639"/>
              <a:gd name="connsiteY132" fmla="*/ 77057 h 606554"/>
              <a:gd name="connsiteX133" fmla="*/ 243068 w 607639"/>
              <a:gd name="connsiteY133" fmla="*/ 131273 h 606554"/>
              <a:gd name="connsiteX134" fmla="*/ 243068 w 607639"/>
              <a:gd name="connsiteY134" fmla="*/ 232417 h 606554"/>
              <a:gd name="connsiteX135" fmla="*/ 223574 w 607639"/>
              <a:gd name="connsiteY135" fmla="*/ 278011 h 606554"/>
              <a:gd name="connsiteX136" fmla="*/ 202566 w 607639"/>
              <a:gd name="connsiteY136" fmla="*/ 333560 h 606554"/>
              <a:gd name="connsiteX137" fmla="*/ 202566 w 607639"/>
              <a:gd name="connsiteY137" fmla="*/ 343603 h 606554"/>
              <a:gd name="connsiteX138" fmla="*/ 263274 w 607639"/>
              <a:gd name="connsiteY138" fmla="*/ 343603 h 606554"/>
              <a:gd name="connsiteX139" fmla="*/ 273422 w 607639"/>
              <a:gd name="connsiteY139" fmla="*/ 353736 h 606554"/>
              <a:gd name="connsiteX140" fmla="*/ 263274 w 607639"/>
              <a:gd name="connsiteY140" fmla="*/ 363868 h 606554"/>
              <a:gd name="connsiteX141" fmla="*/ 243068 w 607639"/>
              <a:gd name="connsiteY141" fmla="*/ 363868 h 606554"/>
              <a:gd name="connsiteX142" fmla="*/ 243068 w 607639"/>
              <a:gd name="connsiteY142" fmla="*/ 374000 h 606554"/>
              <a:gd name="connsiteX143" fmla="*/ 232920 w 607639"/>
              <a:gd name="connsiteY143" fmla="*/ 384132 h 606554"/>
              <a:gd name="connsiteX144" fmla="*/ 222772 w 607639"/>
              <a:gd name="connsiteY144" fmla="*/ 374000 h 606554"/>
              <a:gd name="connsiteX145" fmla="*/ 222772 w 607639"/>
              <a:gd name="connsiteY145" fmla="*/ 363868 h 606554"/>
              <a:gd name="connsiteX146" fmla="*/ 192419 w 607639"/>
              <a:gd name="connsiteY146" fmla="*/ 363868 h 606554"/>
              <a:gd name="connsiteX147" fmla="*/ 182271 w 607639"/>
              <a:gd name="connsiteY147" fmla="*/ 353736 h 606554"/>
              <a:gd name="connsiteX148" fmla="*/ 182271 w 607639"/>
              <a:gd name="connsiteY148" fmla="*/ 333560 h 606554"/>
              <a:gd name="connsiteX149" fmla="*/ 207907 w 607639"/>
              <a:gd name="connsiteY149" fmla="*/ 265213 h 606554"/>
              <a:gd name="connsiteX150" fmla="*/ 222772 w 607639"/>
              <a:gd name="connsiteY150" fmla="*/ 232417 h 606554"/>
              <a:gd name="connsiteX151" fmla="*/ 222772 w 607639"/>
              <a:gd name="connsiteY151" fmla="*/ 131273 h 606554"/>
              <a:gd name="connsiteX152" fmla="*/ 246005 w 607639"/>
              <a:gd name="connsiteY152" fmla="*/ 63459 h 60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7639" h="606554">
                <a:moveTo>
                  <a:pt x="222795" y="404243"/>
                </a:moveTo>
                <a:cubicBezTo>
                  <a:pt x="236857" y="404243"/>
                  <a:pt x="249317" y="411359"/>
                  <a:pt x="256526" y="422388"/>
                </a:cubicBezTo>
                <a:cubicBezTo>
                  <a:pt x="269342" y="410825"/>
                  <a:pt x="286074" y="404243"/>
                  <a:pt x="303785" y="404243"/>
                </a:cubicBezTo>
                <a:cubicBezTo>
                  <a:pt x="321584" y="404243"/>
                  <a:pt x="338316" y="410825"/>
                  <a:pt x="351132" y="422388"/>
                </a:cubicBezTo>
                <a:cubicBezTo>
                  <a:pt x="358341" y="411359"/>
                  <a:pt x="370712" y="404243"/>
                  <a:pt x="384863" y="404243"/>
                </a:cubicBezTo>
                <a:cubicBezTo>
                  <a:pt x="400349" y="404243"/>
                  <a:pt x="414233" y="413315"/>
                  <a:pt x="420908" y="426657"/>
                </a:cubicBezTo>
                <a:cubicBezTo>
                  <a:pt x="425625" y="425234"/>
                  <a:pt x="430519" y="424522"/>
                  <a:pt x="435414" y="424522"/>
                </a:cubicBezTo>
                <a:cubicBezTo>
                  <a:pt x="463360" y="424522"/>
                  <a:pt x="486055" y="447203"/>
                  <a:pt x="486055" y="475131"/>
                </a:cubicBezTo>
                <a:cubicBezTo>
                  <a:pt x="486055" y="480646"/>
                  <a:pt x="481516" y="485182"/>
                  <a:pt x="475998" y="485182"/>
                </a:cubicBezTo>
                <a:cubicBezTo>
                  <a:pt x="470391" y="485182"/>
                  <a:pt x="465852" y="480646"/>
                  <a:pt x="465852" y="475131"/>
                </a:cubicBezTo>
                <a:cubicBezTo>
                  <a:pt x="465852" y="458321"/>
                  <a:pt x="452235" y="444713"/>
                  <a:pt x="435414" y="444713"/>
                </a:cubicBezTo>
                <a:cubicBezTo>
                  <a:pt x="430074" y="444713"/>
                  <a:pt x="424913" y="446225"/>
                  <a:pt x="419929" y="449160"/>
                </a:cubicBezTo>
                <a:cubicBezTo>
                  <a:pt x="417081" y="450939"/>
                  <a:pt x="413432" y="451028"/>
                  <a:pt x="410406" y="449604"/>
                </a:cubicBezTo>
                <a:cubicBezTo>
                  <a:pt x="407380" y="448092"/>
                  <a:pt x="405244" y="445246"/>
                  <a:pt x="404710" y="441866"/>
                </a:cubicBezTo>
                <a:cubicBezTo>
                  <a:pt x="403375" y="431994"/>
                  <a:pt x="394742" y="424522"/>
                  <a:pt x="384863" y="424522"/>
                </a:cubicBezTo>
                <a:cubicBezTo>
                  <a:pt x="374361" y="424522"/>
                  <a:pt x="365728" y="432438"/>
                  <a:pt x="364838" y="442934"/>
                </a:cubicBezTo>
                <a:cubicBezTo>
                  <a:pt x="364393" y="447203"/>
                  <a:pt x="361367" y="450761"/>
                  <a:pt x="357184" y="451828"/>
                </a:cubicBezTo>
                <a:cubicBezTo>
                  <a:pt x="353001" y="452895"/>
                  <a:pt x="348551" y="451116"/>
                  <a:pt x="346237" y="447559"/>
                </a:cubicBezTo>
                <a:cubicBezTo>
                  <a:pt x="336803" y="433061"/>
                  <a:pt x="320961" y="424522"/>
                  <a:pt x="303785" y="424522"/>
                </a:cubicBezTo>
                <a:cubicBezTo>
                  <a:pt x="286697" y="424522"/>
                  <a:pt x="270766" y="433061"/>
                  <a:pt x="261421" y="447559"/>
                </a:cubicBezTo>
                <a:cubicBezTo>
                  <a:pt x="259018" y="451116"/>
                  <a:pt x="254657" y="452895"/>
                  <a:pt x="250474" y="451828"/>
                </a:cubicBezTo>
                <a:cubicBezTo>
                  <a:pt x="246291" y="450761"/>
                  <a:pt x="243176" y="447203"/>
                  <a:pt x="242820" y="442934"/>
                </a:cubicBezTo>
                <a:cubicBezTo>
                  <a:pt x="241841" y="432438"/>
                  <a:pt x="233297" y="424522"/>
                  <a:pt x="222795" y="424522"/>
                </a:cubicBezTo>
                <a:cubicBezTo>
                  <a:pt x="212827" y="424522"/>
                  <a:pt x="204283" y="431994"/>
                  <a:pt x="202859" y="441866"/>
                </a:cubicBezTo>
                <a:cubicBezTo>
                  <a:pt x="202414" y="445246"/>
                  <a:pt x="200278" y="448092"/>
                  <a:pt x="197252" y="449604"/>
                </a:cubicBezTo>
                <a:cubicBezTo>
                  <a:pt x="194137" y="451028"/>
                  <a:pt x="190577" y="450939"/>
                  <a:pt x="187640" y="449160"/>
                </a:cubicBezTo>
                <a:cubicBezTo>
                  <a:pt x="182745" y="446225"/>
                  <a:pt x="177584" y="444713"/>
                  <a:pt x="172155" y="444713"/>
                </a:cubicBezTo>
                <a:cubicBezTo>
                  <a:pt x="155423" y="444713"/>
                  <a:pt x="141806" y="458321"/>
                  <a:pt x="141806" y="475131"/>
                </a:cubicBezTo>
                <a:cubicBezTo>
                  <a:pt x="141806" y="480646"/>
                  <a:pt x="137267" y="485182"/>
                  <a:pt x="131660" y="485182"/>
                </a:cubicBezTo>
                <a:cubicBezTo>
                  <a:pt x="126053" y="485182"/>
                  <a:pt x="121514" y="480646"/>
                  <a:pt x="121514" y="475131"/>
                </a:cubicBezTo>
                <a:cubicBezTo>
                  <a:pt x="121514" y="447203"/>
                  <a:pt x="144298" y="424522"/>
                  <a:pt x="172155" y="424522"/>
                </a:cubicBezTo>
                <a:cubicBezTo>
                  <a:pt x="177050" y="424522"/>
                  <a:pt x="181945" y="425234"/>
                  <a:pt x="186661" y="426657"/>
                </a:cubicBezTo>
                <a:cubicBezTo>
                  <a:pt x="193425" y="413315"/>
                  <a:pt x="207220" y="404243"/>
                  <a:pt x="222795" y="404243"/>
                </a:cubicBezTo>
                <a:close/>
                <a:moveTo>
                  <a:pt x="303774" y="282941"/>
                </a:moveTo>
                <a:cubicBezTo>
                  <a:pt x="309395" y="282941"/>
                  <a:pt x="313945" y="287476"/>
                  <a:pt x="313945" y="293078"/>
                </a:cubicBezTo>
                <a:lnTo>
                  <a:pt x="313945" y="373995"/>
                </a:lnTo>
                <a:cubicBezTo>
                  <a:pt x="313945" y="379597"/>
                  <a:pt x="309395" y="384132"/>
                  <a:pt x="303774" y="384132"/>
                </a:cubicBezTo>
                <a:cubicBezTo>
                  <a:pt x="298243" y="384132"/>
                  <a:pt x="293693" y="379597"/>
                  <a:pt x="293693" y="373995"/>
                </a:cubicBezTo>
                <a:lnTo>
                  <a:pt x="293693" y="293078"/>
                </a:lnTo>
                <a:cubicBezTo>
                  <a:pt x="293693" y="287476"/>
                  <a:pt x="298243" y="282941"/>
                  <a:pt x="303774" y="282941"/>
                </a:cubicBezTo>
                <a:close/>
                <a:moveTo>
                  <a:pt x="101254" y="202073"/>
                </a:moveTo>
                <a:lnTo>
                  <a:pt x="192395" y="202073"/>
                </a:lnTo>
                <a:cubicBezTo>
                  <a:pt x="198002" y="202073"/>
                  <a:pt x="202542" y="206606"/>
                  <a:pt x="202542" y="212117"/>
                </a:cubicBezTo>
                <a:cubicBezTo>
                  <a:pt x="202542" y="217717"/>
                  <a:pt x="198002" y="222250"/>
                  <a:pt x="192395" y="222250"/>
                </a:cubicBezTo>
                <a:lnTo>
                  <a:pt x="101254" y="222250"/>
                </a:lnTo>
                <a:cubicBezTo>
                  <a:pt x="94757" y="222250"/>
                  <a:pt x="82207" y="229361"/>
                  <a:pt x="80961" y="232916"/>
                </a:cubicBezTo>
                <a:lnTo>
                  <a:pt x="80961" y="505439"/>
                </a:lnTo>
                <a:lnTo>
                  <a:pt x="526519" y="505439"/>
                </a:lnTo>
                <a:lnTo>
                  <a:pt x="526519" y="232383"/>
                </a:lnTo>
                <a:cubicBezTo>
                  <a:pt x="526519" y="227850"/>
                  <a:pt x="521001" y="222250"/>
                  <a:pt x="516461" y="222250"/>
                </a:cubicBezTo>
                <a:lnTo>
                  <a:pt x="415174" y="222250"/>
                </a:lnTo>
                <a:cubicBezTo>
                  <a:pt x="409567" y="222250"/>
                  <a:pt x="405027" y="217717"/>
                  <a:pt x="405027" y="212117"/>
                </a:cubicBezTo>
                <a:cubicBezTo>
                  <a:pt x="405027" y="206606"/>
                  <a:pt x="409567" y="202073"/>
                  <a:pt x="415174" y="202073"/>
                </a:cubicBezTo>
                <a:lnTo>
                  <a:pt x="516461" y="202073"/>
                </a:lnTo>
                <a:cubicBezTo>
                  <a:pt x="532037" y="202073"/>
                  <a:pt x="546812" y="216739"/>
                  <a:pt x="546812" y="232383"/>
                </a:cubicBezTo>
                <a:lnTo>
                  <a:pt x="546812" y="515572"/>
                </a:lnTo>
                <a:cubicBezTo>
                  <a:pt x="546812" y="521083"/>
                  <a:pt x="542273" y="525616"/>
                  <a:pt x="536665" y="525616"/>
                </a:cubicBezTo>
                <a:lnTo>
                  <a:pt x="70815" y="525616"/>
                </a:lnTo>
                <a:cubicBezTo>
                  <a:pt x="65296" y="525616"/>
                  <a:pt x="60757" y="521083"/>
                  <a:pt x="60757" y="515572"/>
                </a:cubicBezTo>
                <a:lnTo>
                  <a:pt x="60757" y="232383"/>
                </a:lnTo>
                <a:cubicBezTo>
                  <a:pt x="60757" y="214873"/>
                  <a:pt x="87369" y="202073"/>
                  <a:pt x="101254" y="202073"/>
                </a:cubicBezTo>
                <a:close/>
                <a:moveTo>
                  <a:pt x="415210" y="161568"/>
                </a:moveTo>
                <a:lnTo>
                  <a:pt x="536702" y="161568"/>
                </a:lnTo>
                <a:cubicBezTo>
                  <a:pt x="562780" y="161568"/>
                  <a:pt x="587346" y="186186"/>
                  <a:pt x="587346" y="212137"/>
                </a:cubicBezTo>
                <a:lnTo>
                  <a:pt x="587346" y="505417"/>
                </a:lnTo>
                <a:lnTo>
                  <a:pt x="597492" y="505417"/>
                </a:lnTo>
                <a:cubicBezTo>
                  <a:pt x="603100" y="505417"/>
                  <a:pt x="607639" y="509949"/>
                  <a:pt x="607639" y="515548"/>
                </a:cubicBezTo>
                <a:lnTo>
                  <a:pt x="607639" y="555985"/>
                </a:lnTo>
                <a:cubicBezTo>
                  <a:pt x="607639" y="581936"/>
                  <a:pt x="582985" y="606554"/>
                  <a:pt x="556995" y="606554"/>
                </a:cubicBezTo>
                <a:lnTo>
                  <a:pt x="50644" y="606554"/>
                </a:lnTo>
                <a:cubicBezTo>
                  <a:pt x="24565" y="606554"/>
                  <a:pt x="0" y="581936"/>
                  <a:pt x="0" y="555985"/>
                </a:cubicBezTo>
                <a:cubicBezTo>
                  <a:pt x="0" y="550386"/>
                  <a:pt x="4539" y="545854"/>
                  <a:pt x="10147" y="545854"/>
                </a:cubicBezTo>
                <a:lnTo>
                  <a:pt x="556995" y="545854"/>
                </a:lnTo>
                <a:cubicBezTo>
                  <a:pt x="562602" y="545854"/>
                  <a:pt x="567142" y="550386"/>
                  <a:pt x="567142" y="555985"/>
                </a:cubicBezTo>
                <a:cubicBezTo>
                  <a:pt x="567142" y="561584"/>
                  <a:pt x="562602" y="566117"/>
                  <a:pt x="556995" y="566117"/>
                </a:cubicBezTo>
                <a:lnTo>
                  <a:pt x="22518" y="566117"/>
                </a:lnTo>
                <a:cubicBezTo>
                  <a:pt x="27414" y="577048"/>
                  <a:pt x="39251" y="586291"/>
                  <a:pt x="50644" y="586291"/>
                </a:cubicBezTo>
                <a:lnTo>
                  <a:pt x="556995" y="586291"/>
                </a:lnTo>
                <a:cubicBezTo>
                  <a:pt x="571770" y="586291"/>
                  <a:pt x="587346" y="570738"/>
                  <a:pt x="587346" y="555985"/>
                </a:cubicBezTo>
                <a:lnTo>
                  <a:pt x="587346" y="525591"/>
                </a:lnTo>
                <a:lnTo>
                  <a:pt x="577199" y="525591"/>
                </a:lnTo>
                <a:cubicBezTo>
                  <a:pt x="571681" y="525591"/>
                  <a:pt x="567142" y="521058"/>
                  <a:pt x="567142" y="515548"/>
                </a:cubicBezTo>
                <a:lnTo>
                  <a:pt x="567142" y="212137"/>
                </a:lnTo>
                <a:cubicBezTo>
                  <a:pt x="567142" y="197384"/>
                  <a:pt x="551477" y="181831"/>
                  <a:pt x="536702" y="181831"/>
                </a:cubicBezTo>
                <a:lnTo>
                  <a:pt x="415210" y="181831"/>
                </a:lnTo>
                <a:cubicBezTo>
                  <a:pt x="409602" y="181831"/>
                  <a:pt x="405063" y="177298"/>
                  <a:pt x="405063" y="171699"/>
                </a:cubicBezTo>
                <a:cubicBezTo>
                  <a:pt x="405063" y="166101"/>
                  <a:pt x="409602" y="161568"/>
                  <a:pt x="415210" y="161568"/>
                </a:cubicBezTo>
                <a:close/>
                <a:moveTo>
                  <a:pt x="70875" y="161568"/>
                </a:moveTo>
                <a:lnTo>
                  <a:pt x="192448" y="161568"/>
                </a:lnTo>
                <a:cubicBezTo>
                  <a:pt x="198055" y="161568"/>
                  <a:pt x="202594" y="166101"/>
                  <a:pt x="202594" y="171700"/>
                </a:cubicBezTo>
                <a:cubicBezTo>
                  <a:pt x="202594" y="177300"/>
                  <a:pt x="198055" y="181832"/>
                  <a:pt x="192448" y="181832"/>
                </a:cubicBezTo>
                <a:lnTo>
                  <a:pt x="70875" y="181832"/>
                </a:lnTo>
                <a:cubicBezTo>
                  <a:pt x="56190" y="181832"/>
                  <a:pt x="40526" y="197386"/>
                  <a:pt x="40526" y="212140"/>
                </a:cubicBezTo>
                <a:lnTo>
                  <a:pt x="40526" y="515572"/>
                </a:lnTo>
                <a:cubicBezTo>
                  <a:pt x="40526" y="521082"/>
                  <a:pt x="35987" y="525615"/>
                  <a:pt x="30380" y="525615"/>
                </a:cubicBezTo>
                <a:cubicBezTo>
                  <a:pt x="24862" y="525615"/>
                  <a:pt x="20323" y="521082"/>
                  <a:pt x="20323" y="515572"/>
                </a:cubicBezTo>
                <a:lnTo>
                  <a:pt x="20323" y="212140"/>
                </a:lnTo>
                <a:cubicBezTo>
                  <a:pt x="20323" y="186187"/>
                  <a:pt x="44887" y="161568"/>
                  <a:pt x="70875" y="161568"/>
                </a:cubicBezTo>
                <a:close/>
                <a:moveTo>
                  <a:pt x="303785" y="141391"/>
                </a:moveTo>
                <a:cubicBezTo>
                  <a:pt x="292657" y="141391"/>
                  <a:pt x="283577" y="150453"/>
                  <a:pt x="283577" y="161559"/>
                </a:cubicBezTo>
                <a:cubicBezTo>
                  <a:pt x="283577" y="172754"/>
                  <a:pt x="292657" y="181816"/>
                  <a:pt x="303785" y="181816"/>
                </a:cubicBezTo>
                <a:cubicBezTo>
                  <a:pt x="315001" y="181816"/>
                  <a:pt x="324081" y="172754"/>
                  <a:pt x="324081" y="161559"/>
                </a:cubicBezTo>
                <a:cubicBezTo>
                  <a:pt x="324081" y="150453"/>
                  <a:pt x="315001" y="141391"/>
                  <a:pt x="303785" y="141391"/>
                </a:cubicBezTo>
                <a:close/>
                <a:moveTo>
                  <a:pt x="303785" y="121134"/>
                </a:moveTo>
                <a:cubicBezTo>
                  <a:pt x="326129" y="121134"/>
                  <a:pt x="344289" y="139259"/>
                  <a:pt x="344289" y="161559"/>
                </a:cubicBezTo>
                <a:cubicBezTo>
                  <a:pt x="344289" y="183860"/>
                  <a:pt x="326129" y="202073"/>
                  <a:pt x="303785" y="202073"/>
                </a:cubicBezTo>
                <a:cubicBezTo>
                  <a:pt x="281440" y="202073"/>
                  <a:pt x="263280" y="183860"/>
                  <a:pt x="263280" y="161559"/>
                </a:cubicBezTo>
                <a:cubicBezTo>
                  <a:pt x="263280" y="139259"/>
                  <a:pt x="281440" y="121134"/>
                  <a:pt x="303785" y="121134"/>
                </a:cubicBezTo>
                <a:close/>
                <a:moveTo>
                  <a:pt x="296031" y="3466"/>
                </a:moveTo>
                <a:cubicBezTo>
                  <a:pt x="299859" y="-1156"/>
                  <a:pt x="307692" y="-1156"/>
                  <a:pt x="311609" y="3466"/>
                </a:cubicBezTo>
                <a:lnTo>
                  <a:pt x="362258" y="64170"/>
                </a:lnTo>
                <a:cubicBezTo>
                  <a:pt x="362525" y="64436"/>
                  <a:pt x="384867" y="87189"/>
                  <a:pt x="384867" y="131273"/>
                </a:cubicBezTo>
                <a:lnTo>
                  <a:pt x="384867" y="232417"/>
                </a:lnTo>
                <a:cubicBezTo>
                  <a:pt x="384867" y="246993"/>
                  <a:pt x="391099" y="254636"/>
                  <a:pt x="399733" y="265213"/>
                </a:cubicBezTo>
                <a:cubicBezTo>
                  <a:pt x="411127" y="279167"/>
                  <a:pt x="425369" y="296498"/>
                  <a:pt x="425369" y="333560"/>
                </a:cubicBezTo>
                <a:lnTo>
                  <a:pt x="425369" y="353736"/>
                </a:lnTo>
                <a:cubicBezTo>
                  <a:pt x="425369" y="359335"/>
                  <a:pt x="420829" y="363868"/>
                  <a:pt x="415221" y="363868"/>
                </a:cubicBezTo>
                <a:lnTo>
                  <a:pt x="384867" y="363868"/>
                </a:lnTo>
                <a:lnTo>
                  <a:pt x="384867" y="374000"/>
                </a:lnTo>
                <a:cubicBezTo>
                  <a:pt x="384867" y="379599"/>
                  <a:pt x="380328" y="384132"/>
                  <a:pt x="374720" y="384132"/>
                </a:cubicBezTo>
                <a:cubicBezTo>
                  <a:pt x="369112" y="384132"/>
                  <a:pt x="364572" y="379599"/>
                  <a:pt x="364572" y="374000"/>
                </a:cubicBezTo>
                <a:lnTo>
                  <a:pt x="364572" y="363868"/>
                </a:lnTo>
                <a:lnTo>
                  <a:pt x="344277" y="363868"/>
                </a:lnTo>
                <a:cubicBezTo>
                  <a:pt x="338758" y="363868"/>
                  <a:pt x="334218" y="359335"/>
                  <a:pt x="334218" y="353736"/>
                </a:cubicBezTo>
                <a:cubicBezTo>
                  <a:pt x="334218" y="348136"/>
                  <a:pt x="338758" y="343603"/>
                  <a:pt x="344277" y="343603"/>
                </a:cubicBezTo>
                <a:lnTo>
                  <a:pt x="405074" y="343603"/>
                </a:lnTo>
                <a:lnTo>
                  <a:pt x="405074" y="333560"/>
                </a:lnTo>
                <a:cubicBezTo>
                  <a:pt x="405074" y="303697"/>
                  <a:pt x="394837" y="291254"/>
                  <a:pt x="384066" y="278011"/>
                </a:cubicBezTo>
                <a:cubicBezTo>
                  <a:pt x="374453" y="266279"/>
                  <a:pt x="364572" y="254192"/>
                  <a:pt x="364572" y="232417"/>
                </a:cubicBezTo>
                <a:lnTo>
                  <a:pt x="364572" y="131273"/>
                </a:lnTo>
                <a:cubicBezTo>
                  <a:pt x="364572" y="95988"/>
                  <a:pt x="347927" y="78390"/>
                  <a:pt x="347214" y="77679"/>
                </a:cubicBezTo>
                <a:lnTo>
                  <a:pt x="303775" y="25685"/>
                </a:lnTo>
                <a:lnTo>
                  <a:pt x="260960" y="77057"/>
                </a:lnTo>
                <a:cubicBezTo>
                  <a:pt x="259713" y="78479"/>
                  <a:pt x="243068" y="95988"/>
                  <a:pt x="243068" y="131273"/>
                </a:cubicBezTo>
                <a:lnTo>
                  <a:pt x="243068" y="232417"/>
                </a:lnTo>
                <a:cubicBezTo>
                  <a:pt x="243068" y="254192"/>
                  <a:pt x="233098" y="266279"/>
                  <a:pt x="223574" y="278011"/>
                </a:cubicBezTo>
                <a:cubicBezTo>
                  <a:pt x="212714" y="291254"/>
                  <a:pt x="202566" y="303697"/>
                  <a:pt x="202566" y="333560"/>
                </a:cubicBezTo>
                <a:lnTo>
                  <a:pt x="202566" y="343603"/>
                </a:lnTo>
                <a:lnTo>
                  <a:pt x="263274" y="343603"/>
                </a:lnTo>
                <a:cubicBezTo>
                  <a:pt x="268882" y="343603"/>
                  <a:pt x="273422" y="348136"/>
                  <a:pt x="273422" y="353736"/>
                </a:cubicBezTo>
                <a:cubicBezTo>
                  <a:pt x="273422" y="359335"/>
                  <a:pt x="268882" y="363868"/>
                  <a:pt x="263274" y="363868"/>
                </a:cubicBezTo>
                <a:lnTo>
                  <a:pt x="243068" y="363868"/>
                </a:lnTo>
                <a:lnTo>
                  <a:pt x="243068" y="374000"/>
                </a:lnTo>
                <a:cubicBezTo>
                  <a:pt x="243068" y="379599"/>
                  <a:pt x="238528" y="384132"/>
                  <a:pt x="232920" y="384132"/>
                </a:cubicBezTo>
                <a:cubicBezTo>
                  <a:pt x="227312" y="384132"/>
                  <a:pt x="222772" y="379599"/>
                  <a:pt x="222772" y="374000"/>
                </a:cubicBezTo>
                <a:lnTo>
                  <a:pt x="222772" y="363868"/>
                </a:lnTo>
                <a:lnTo>
                  <a:pt x="192419" y="363868"/>
                </a:lnTo>
                <a:cubicBezTo>
                  <a:pt x="186811" y="363868"/>
                  <a:pt x="182271" y="359335"/>
                  <a:pt x="182271" y="353736"/>
                </a:cubicBezTo>
                <a:lnTo>
                  <a:pt x="182271" y="333560"/>
                </a:lnTo>
                <a:cubicBezTo>
                  <a:pt x="182271" y="296498"/>
                  <a:pt x="196424" y="279167"/>
                  <a:pt x="207907" y="265213"/>
                </a:cubicBezTo>
                <a:cubicBezTo>
                  <a:pt x="216541" y="254636"/>
                  <a:pt x="222772" y="246993"/>
                  <a:pt x="222772" y="232417"/>
                </a:cubicBezTo>
                <a:lnTo>
                  <a:pt x="222772" y="131273"/>
                </a:lnTo>
                <a:cubicBezTo>
                  <a:pt x="222772" y="87189"/>
                  <a:pt x="245026" y="64436"/>
                  <a:pt x="246005" y="63459"/>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57" name="直接连接符 56"/>
          <p:cNvCxnSpPr/>
          <p:nvPr/>
        </p:nvCxnSpPr>
        <p:spPr>
          <a:xfrm>
            <a:off x="3409661"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24919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091308" y="99961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66" name="ïṧľîďe"/>
          <p:cNvSpPr/>
          <p:nvPr/>
        </p:nvSpPr>
        <p:spPr>
          <a:xfrm>
            <a:off x="5943914" y="999562"/>
            <a:ext cx="398904" cy="397482"/>
          </a:xfrm>
          <a:custGeom>
            <a:avLst/>
            <a:gdLst>
              <a:gd name="connsiteX0" fmla="*/ 236607 w 607780"/>
              <a:gd name="connsiteY0" fmla="*/ 449483 h 595271"/>
              <a:gd name="connsiteX1" fmla="*/ 371243 w 607780"/>
              <a:gd name="connsiteY1" fmla="*/ 449483 h 595271"/>
              <a:gd name="connsiteX2" fmla="*/ 405257 w 607780"/>
              <a:gd name="connsiteY2" fmla="*/ 483441 h 595271"/>
              <a:gd name="connsiteX3" fmla="*/ 405257 w 607780"/>
              <a:gd name="connsiteY3" fmla="*/ 584811 h 595271"/>
              <a:gd name="connsiteX4" fmla="*/ 394780 w 607780"/>
              <a:gd name="connsiteY4" fmla="*/ 595271 h 595271"/>
              <a:gd name="connsiteX5" fmla="*/ 213070 w 607780"/>
              <a:gd name="connsiteY5" fmla="*/ 595271 h 595271"/>
              <a:gd name="connsiteX6" fmla="*/ 202593 w 607780"/>
              <a:gd name="connsiteY6" fmla="*/ 584811 h 595271"/>
              <a:gd name="connsiteX7" fmla="*/ 202593 w 607780"/>
              <a:gd name="connsiteY7" fmla="*/ 483441 h 595271"/>
              <a:gd name="connsiteX8" fmla="*/ 236607 w 607780"/>
              <a:gd name="connsiteY8" fmla="*/ 449483 h 595271"/>
              <a:gd name="connsiteX9" fmla="*/ 541892 w 607780"/>
              <a:gd name="connsiteY9" fmla="*/ 348260 h 595271"/>
              <a:gd name="connsiteX10" fmla="*/ 551736 w 607780"/>
              <a:gd name="connsiteY10" fmla="*/ 349985 h 595271"/>
              <a:gd name="connsiteX11" fmla="*/ 566566 w 607780"/>
              <a:gd name="connsiteY11" fmla="*/ 359133 h 595271"/>
              <a:gd name="connsiteX12" fmla="*/ 570614 w 607780"/>
              <a:gd name="connsiteY12" fmla="*/ 378236 h 595271"/>
              <a:gd name="connsiteX13" fmla="*/ 514841 w 607780"/>
              <a:gd name="connsiteY13" fmla="*/ 439743 h 595271"/>
              <a:gd name="connsiteX14" fmla="*/ 523951 w 607780"/>
              <a:gd name="connsiteY14" fmla="*/ 455460 h 595271"/>
              <a:gd name="connsiteX15" fmla="*/ 515195 w 607780"/>
              <a:gd name="connsiteY15" fmla="*/ 470622 h 595271"/>
              <a:gd name="connsiteX16" fmla="*/ 435128 w 607780"/>
              <a:gd name="connsiteY16" fmla="*/ 470723 h 595271"/>
              <a:gd name="connsiteX17" fmla="*/ 426372 w 607780"/>
              <a:gd name="connsiteY17" fmla="*/ 455561 h 595271"/>
              <a:gd name="connsiteX18" fmla="*/ 466304 w 607780"/>
              <a:gd name="connsiteY18" fmla="*/ 386323 h 595271"/>
              <a:gd name="connsiteX19" fmla="*/ 483816 w 607780"/>
              <a:gd name="connsiteY19" fmla="*/ 386272 h 595271"/>
              <a:gd name="connsiteX20" fmla="*/ 492167 w 607780"/>
              <a:gd name="connsiteY20" fmla="*/ 400676 h 595271"/>
              <a:gd name="connsiteX21" fmla="*/ 533567 w 607780"/>
              <a:gd name="connsiteY21" fmla="*/ 353775 h 595271"/>
              <a:gd name="connsiteX22" fmla="*/ 541892 w 607780"/>
              <a:gd name="connsiteY22" fmla="*/ 348260 h 595271"/>
              <a:gd name="connsiteX23" fmla="*/ 64200 w 607780"/>
              <a:gd name="connsiteY23" fmla="*/ 336864 h 595271"/>
              <a:gd name="connsiteX24" fmla="*/ 74313 w 607780"/>
              <a:gd name="connsiteY24" fmla="*/ 336871 h 595271"/>
              <a:gd name="connsiteX25" fmla="*/ 143681 w 607780"/>
              <a:gd name="connsiteY25" fmla="*/ 376748 h 595271"/>
              <a:gd name="connsiteX26" fmla="*/ 143681 w 607780"/>
              <a:gd name="connsiteY26" fmla="*/ 394235 h 595271"/>
              <a:gd name="connsiteX27" fmla="*/ 129261 w 607780"/>
              <a:gd name="connsiteY27" fmla="*/ 402574 h 595271"/>
              <a:gd name="connsiteX28" fmla="*/ 176214 w 607780"/>
              <a:gd name="connsiteY28" fmla="*/ 443917 h 595271"/>
              <a:gd name="connsiteX29" fmla="*/ 180009 w 607780"/>
              <a:gd name="connsiteY29" fmla="*/ 462061 h 595271"/>
              <a:gd name="connsiteX30" fmla="*/ 170902 w 607780"/>
              <a:gd name="connsiteY30" fmla="*/ 476869 h 595271"/>
              <a:gd name="connsiteX31" fmla="*/ 151725 w 607780"/>
              <a:gd name="connsiteY31" fmla="*/ 480913 h 595271"/>
              <a:gd name="connsiteX32" fmla="*/ 90150 w 607780"/>
              <a:gd name="connsiteY32" fmla="*/ 425166 h 595271"/>
              <a:gd name="connsiteX33" fmla="*/ 74414 w 607780"/>
              <a:gd name="connsiteY33" fmla="*/ 434314 h 595271"/>
              <a:gd name="connsiteX34" fmla="*/ 59235 w 607780"/>
              <a:gd name="connsiteY34" fmla="*/ 425570 h 595271"/>
              <a:gd name="connsiteX35" fmla="*/ 59134 w 607780"/>
              <a:gd name="connsiteY35" fmla="*/ 345614 h 595271"/>
              <a:gd name="connsiteX36" fmla="*/ 64200 w 607780"/>
              <a:gd name="connsiteY36" fmla="*/ 336864 h 595271"/>
              <a:gd name="connsiteX37" fmla="*/ 349533 w 607780"/>
              <a:gd name="connsiteY37" fmla="*/ 289354 h 595271"/>
              <a:gd name="connsiteX38" fmla="*/ 365529 w 607780"/>
              <a:gd name="connsiteY38" fmla="*/ 302800 h 595271"/>
              <a:gd name="connsiteX39" fmla="*/ 365529 w 607780"/>
              <a:gd name="connsiteY39" fmla="*/ 368208 h 595271"/>
              <a:gd name="connsiteX40" fmla="*/ 303926 w 607780"/>
              <a:gd name="connsiteY40" fmla="*/ 429725 h 595271"/>
              <a:gd name="connsiteX41" fmla="*/ 242322 w 607780"/>
              <a:gd name="connsiteY41" fmla="*/ 368208 h 595271"/>
              <a:gd name="connsiteX42" fmla="*/ 242322 w 607780"/>
              <a:gd name="connsiteY42" fmla="*/ 339194 h 595271"/>
              <a:gd name="connsiteX43" fmla="*/ 270719 w 607780"/>
              <a:gd name="connsiteY43" fmla="*/ 304569 h 595271"/>
              <a:gd name="connsiteX44" fmla="*/ 349533 w 607780"/>
              <a:gd name="connsiteY44" fmla="*/ 289354 h 595271"/>
              <a:gd name="connsiteX45" fmla="*/ 439205 w 607780"/>
              <a:gd name="connsiteY45" fmla="*/ 160376 h 595271"/>
              <a:gd name="connsiteX46" fmla="*/ 573782 w 607780"/>
              <a:gd name="connsiteY46" fmla="*/ 160376 h 595271"/>
              <a:gd name="connsiteX47" fmla="*/ 607780 w 607780"/>
              <a:gd name="connsiteY47" fmla="*/ 194334 h 595271"/>
              <a:gd name="connsiteX48" fmla="*/ 607780 w 607780"/>
              <a:gd name="connsiteY48" fmla="*/ 295754 h 595271"/>
              <a:gd name="connsiteX49" fmla="*/ 597307 w 607780"/>
              <a:gd name="connsiteY49" fmla="*/ 306164 h 595271"/>
              <a:gd name="connsiteX50" fmla="*/ 415679 w 607780"/>
              <a:gd name="connsiteY50" fmla="*/ 306164 h 595271"/>
              <a:gd name="connsiteX51" fmla="*/ 405257 w 607780"/>
              <a:gd name="connsiteY51" fmla="*/ 295754 h 595271"/>
              <a:gd name="connsiteX52" fmla="*/ 405257 w 607780"/>
              <a:gd name="connsiteY52" fmla="*/ 194334 h 595271"/>
              <a:gd name="connsiteX53" fmla="*/ 439205 w 607780"/>
              <a:gd name="connsiteY53" fmla="*/ 160376 h 595271"/>
              <a:gd name="connsiteX54" fmla="*/ 34010 w 607780"/>
              <a:gd name="connsiteY54" fmla="*/ 160376 h 595271"/>
              <a:gd name="connsiteX55" fmla="*/ 168583 w 607780"/>
              <a:gd name="connsiteY55" fmla="*/ 160376 h 595271"/>
              <a:gd name="connsiteX56" fmla="*/ 202593 w 607780"/>
              <a:gd name="connsiteY56" fmla="*/ 194334 h 595271"/>
              <a:gd name="connsiteX57" fmla="*/ 202593 w 607780"/>
              <a:gd name="connsiteY57" fmla="*/ 295754 h 595271"/>
              <a:gd name="connsiteX58" fmla="*/ 192167 w 607780"/>
              <a:gd name="connsiteY58" fmla="*/ 306164 h 595271"/>
              <a:gd name="connsiteX59" fmla="*/ 10426 w 607780"/>
              <a:gd name="connsiteY59" fmla="*/ 306164 h 595271"/>
              <a:gd name="connsiteX60" fmla="*/ 0 w 607780"/>
              <a:gd name="connsiteY60" fmla="*/ 295754 h 595271"/>
              <a:gd name="connsiteX61" fmla="*/ 0 w 607780"/>
              <a:gd name="connsiteY61" fmla="*/ 194334 h 595271"/>
              <a:gd name="connsiteX62" fmla="*/ 34010 w 607780"/>
              <a:gd name="connsiteY62" fmla="*/ 160376 h 595271"/>
              <a:gd name="connsiteX63" fmla="*/ 330342 w 607780"/>
              <a:gd name="connsiteY63" fmla="*/ 21924 h 595271"/>
              <a:gd name="connsiteX64" fmla="*/ 340102 w 607780"/>
              <a:gd name="connsiteY64" fmla="*/ 24538 h 595271"/>
              <a:gd name="connsiteX65" fmla="*/ 396777 w 607780"/>
              <a:gd name="connsiteY65" fmla="*/ 80951 h 595271"/>
              <a:gd name="connsiteX66" fmla="*/ 392274 w 607780"/>
              <a:gd name="connsiteY66" fmla="*/ 97870 h 595271"/>
              <a:gd name="connsiteX67" fmla="*/ 314952 w 607780"/>
              <a:gd name="connsiteY67" fmla="*/ 118627 h 595271"/>
              <a:gd name="connsiteX68" fmla="*/ 302554 w 607780"/>
              <a:gd name="connsiteY68" fmla="*/ 106253 h 595271"/>
              <a:gd name="connsiteX69" fmla="*/ 306856 w 607780"/>
              <a:gd name="connsiteY69" fmla="*/ 90193 h 595271"/>
              <a:gd name="connsiteX70" fmla="*/ 244361 w 607780"/>
              <a:gd name="connsiteY70" fmla="*/ 94132 h 595271"/>
              <a:gd name="connsiteX71" fmla="*/ 228876 w 607780"/>
              <a:gd name="connsiteY71" fmla="*/ 83981 h 595271"/>
              <a:gd name="connsiteX72" fmla="*/ 224828 w 607780"/>
              <a:gd name="connsiteY72" fmla="*/ 67062 h 595271"/>
              <a:gd name="connsiteX73" fmla="*/ 235505 w 607780"/>
              <a:gd name="connsiteY73" fmla="*/ 50699 h 595271"/>
              <a:gd name="connsiteX74" fmla="*/ 318494 w 607780"/>
              <a:gd name="connsiteY74" fmla="*/ 46659 h 595271"/>
              <a:gd name="connsiteX75" fmla="*/ 323200 w 607780"/>
              <a:gd name="connsiteY75" fmla="*/ 29083 h 595271"/>
              <a:gd name="connsiteX76" fmla="*/ 330342 w 607780"/>
              <a:gd name="connsiteY76" fmla="*/ 21924 h 595271"/>
              <a:gd name="connsiteX77" fmla="*/ 552065 w 607780"/>
              <a:gd name="connsiteY77" fmla="*/ 196 h 595271"/>
              <a:gd name="connsiteX78" fmla="*/ 568052 w 607780"/>
              <a:gd name="connsiteY78" fmla="*/ 13690 h 595271"/>
              <a:gd name="connsiteX79" fmla="*/ 568052 w 607780"/>
              <a:gd name="connsiteY79" fmla="*/ 79039 h 595271"/>
              <a:gd name="connsiteX80" fmla="*/ 506484 w 607780"/>
              <a:gd name="connsiteY80" fmla="*/ 140547 h 595271"/>
              <a:gd name="connsiteX81" fmla="*/ 444915 w 607780"/>
              <a:gd name="connsiteY81" fmla="*/ 79039 h 595271"/>
              <a:gd name="connsiteX82" fmla="*/ 444915 w 607780"/>
              <a:gd name="connsiteY82" fmla="*/ 50080 h 595271"/>
              <a:gd name="connsiteX83" fmla="*/ 473296 w 607780"/>
              <a:gd name="connsiteY83" fmla="*/ 15459 h 595271"/>
              <a:gd name="connsiteX84" fmla="*/ 552065 w 607780"/>
              <a:gd name="connsiteY84" fmla="*/ 196 h 595271"/>
              <a:gd name="connsiteX85" fmla="*/ 146938 w 607780"/>
              <a:gd name="connsiteY85" fmla="*/ 196 h 595271"/>
              <a:gd name="connsiteX86" fmla="*/ 162936 w 607780"/>
              <a:gd name="connsiteY86" fmla="*/ 13690 h 595271"/>
              <a:gd name="connsiteX87" fmla="*/ 162936 w 607780"/>
              <a:gd name="connsiteY87" fmla="*/ 79039 h 595271"/>
              <a:gd name="connsiteX88" fmla="*/ 101322 w 607780"/>
              <a:gd name="connsiteY88" fmla="*/ 140547 h 595271"/>
              <a:gd name="connsiteX89" fmla="*/ 39658 w 607780"/>
              <a:gd name="connsiteY89" fmla="*/ 79039 h 595271"/>
              <a:gd name="connsiteX90" fmla="*/ 39658 w 607780"/>
              <a:gd name="connsiteY90" fmla="*/ 50080 h 595271"/>
              <a:gd name="connsiteX91" fmla="*/ 68060 w 607780"/>
              <a:gd name="connsiteY91" fmla="*/ 15459 h 595271"/>
              <a:gd name="connsiteX92" fmla="*/ 146938 w 607780"/>
              <a:gd name="connsiteY92" fmla="*/ 196 h 59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7780" h="595271">
                <a:moveTo>
                  <a:pt x="236607" y="449483"/>
                </a:moveTo>
                <a:lnTo>
                  <a:pt x="371243" y="449483"/>
                </a:lnTo>
                <a:cubicBezTo>
                  <a:pt x="390022" y="449483"/>
                  <a:pt x="405257" y="464643"/>
                  <a:pt x="405257" y="483441"/>
                </a:cubicBezTo>
                <a:lnTo>
                  <a:pt x="405257" y="584811"/>
                </a:lnTo>
                <a:cubicBezTo>
                  <a:pt x="405257" y="590571"/>
                  <a:pt x="400550" y="595271"/>
                  <a:pt x="394780" y="595271"/>
                </a:cubicBezTo>
                <a:lnTo>
                  <a:pt x="213070" y="595271"/>
                </a:lnTo>
                <a:cubicBezTo>
                  <a:pt x="207300" y="595271"/>
                  <a:pt x="202593" y="590571"/>
                  <a:pt x="202593" y="584811"/>
                </a:cubicBezTo>
                <a:lnTo>
                  <a:pt x="202593" y="483441"/>
                </a:lnTo>
                <a:cubicBezTo>
                  <a:pt x="202593" y="464643"/>
                  <a:pt x="217828" y="449483"/>
                  <a:pt x="236607" y="449483"/>
                </a:cubicBezTo>
                <a:close/>
                <a:moveTo>
                  <a:pt x="541892" y="348260"/>
                </a:moveTo>
                <a:cubicBezTo>
                  <a:pt x="545169" y="347584"/>
                  <a:pt x="548699" y="348115"/>
                  <a:pt x="551736" y="349985"/>
                </a:cubicBezTo>
                <a:lnTo>
                  <a:pt x="566566" y="359133"/>
                </a:lnTo>
                <a:cubicBezTo>
                  <a:pt x="573145" y="363176"/>
                  <a:pt x="574967" y="371868"/>
                  <a:pt x="570614" y="378236"/>
                </a:cubicBezTo>
                <a:cubicBezTo>
                  <a:pt x="554925" y="401232"/>
                  <a:pt x="536249" y="421852"/>
                  <a:pt x="514841" y="439743"/>
                </a:cubicBezTo>
                <a:lnTo>
                  <a:pt x="523951" y="455460"/>
                </a:lnTo>
                <a:cubicBezTo>
                  <a:pt x="527848" y="462182"/>
                  <a:pt x="522989" y="470622"/>
                  <a:pt x="515195" y="470622"/>
                </a:cubicBezTo>
                <a:lnTo>
                  <a:pt x="435128" y="470723"/>
                </a:lnTo>
                <a:cubicBezTo>
                  <a:pt x="427334" y="470723"/>
                  <a:pt x="422475" y="462334"/>
                  <a:pt x="426372" y="455561"/>
                </a:cubicBezTo>
                <a:lnTo>
                  <a:pt x="466304" y="386323"/>
                </a:lnTo>
                <a:cubicBezTo>
                  <a:pt x="470202" y="379550"/>
                  <a:pt x="479919" y="379550"/>
                  <a:pt x="483816" y="386272"/>
                </a:cubicBezTo>
                <a:lnTo>
                  <a:pt x="492167" y="400676"/>
                </a:lnTo>
                <a:cubicBezTo>
                  <a:pt x="507856" y="386777"/>
                  <a:pt x="521724" y="371060"/>
                  <a:pt x="533567" y="353775"/>
                </a:cubicBezTo>
                <a:cubicBezTo>
                  <a:pt x="535592" y="350819"/>
                  <a:pt x="538616" y="348936"/>
                  <a:pt x="541892" y="348260"/>
                </a:cubicBezTo>
                <a:close/>
                <a:moveTo>
                  <a:pt x="64200" y="336864"/>
                </a:moveTo>
                <a:cubicBezTo>
                  <a:pt x="67154" y="335165"/>
                  <a:pt x="70949" y="334925"/>
                  <a:pt x="74313" y="336871"/>
                </a:cubicBezTo>
                <a:lnTo>
                  <a:pt x="143681" y="376748"/>
                </a:lnTo>
                <a:cubicBezTo>
                  <a:pt x="150410" y="380639"/>
                  <a:pt x="150410" y="390343"/>
                  <a:pt x="143681" y="394235"/>
                </a:cubicBezTo>
                <a:lnTo>
                  <a:pt x="129261" y="402574"/>
                </a:lnTo>
                <a:cubicBezTo>
                  <a:pt x="143225" y="418242"/>
                  <a:pt x="158910" y="432090"/>
                  <a:pt x="176214" y="443917"/>
                </a:cubicBezTo>
                <a:cubicBezTo>
                  <a:pt x="182134" y="447960"/>
                  <a:pt x="183753" y="455945"/>
                  <a:pt x="180009" y="462061"/>
                </a:cubicBezTo>
                <a:lnTo>
                  <a:pt x="170902" y="476869"/>
                </a:lnTo>
                <a:cubicBezTo>
                  <a:pt x="166803" y="483440"/>
                  <a:pt x="158101" y="485259"/>
                  <a:pt x="151725" y="480913"/>
                </a:cubicBezTo>
                <a:cubicBezTo>
                  <a:pt x="128704" y="465245"/>
                  <a:pt x="108061" y="446545"/>
                  <a:pt x="90150" y="425166"/>
                </a:cubicBezTo>
                <a:lnTo>
                  <a:pt x="74414" y="434314"/>
                </a:lnTo>
                <a:cubicBezTo>
                  <a:pt x="67685" y="438205"/>
                  <a:pt x="59235" y="433353"/>
                  <a:pt x="59235" y="425570"/>
                </a:cubicBezTo>
                <a:lnTo>
                  <a:pt x="59134" y="345614"/>
                </a:lnTo>
                <a:cubicBezTo>
                  <a:pt x="59134" y="341723"/>
                  <a:pt x="61247" y="338564"/>
                  <a:pt x="64200" y="336864"/>
                </a:cubicBezTo>
                <a:close/>
                <a:moveTo>
                  <a:pt x="349533" y="289354"/>
                </a:moveTo>
                <a:cubicBezTo>
                  <a:pt x="357886" y="287888"/>
                  <a:pt x="365529" y="294308"/>
                  <a:pt x="365529" y="302800"/>
                </a:cubicBezTo>
                <a:lnTo>
                  <a:pt x="365529" y="368208"/>
                </a:lnTo>
                <a:cubicBezTo>
                  <a:pt x="365529" y="402177"/>
                  <a:pt x="337942" y="429725"/>
                  <a:pt x="303926" y="429725"/>
                </a:cubicBezTo>
                <a:cubicBezTo>
                  <a:pt x="269909" y="429725"/>
                  <a:pt x="242322" y="402177"/>
                  <a:pt x="242322" y="368208"/>
                </a:cubicBezTo>
                <a:lnTo>
                  <a:pt x="242322" y="339194"/>
                </a:lnTo>
                <a:cubicBezTo>
                  <a:pt x="242322" y="322412"/>
                  <a:pt x="254167" y="307905"/>
                  <a:pt x="270719" y="304569"/>
                </a:cubicBezTo>
                <a:cubicBezTo>
                  <a:pt x="296434" y="299413"/>
                  <a:pt x="332829" y="292185"/>
                  <a:pt x="349533" y="289354"/>
                </a:cubicBezTo>
                <a:close/>
                <a:moveTo>
                  <a:pt x="439205" y="160376"/>
                </a:moveTo>
                <a:lnTo>
                  <a:pt x="573782" y="160376"/>
                </a:lnTo>
                <a:cubicBezTo>
                  <a:pt x="592552" y="160376"/>
                  <a:pt x="607780" y="175587"/>
                  <a:pt x="607780" y="194334"/>
                </a:cubicBezTo>
                <a:lnTo>
                  <a:pt x="607780" y="295754"/>
                </a:lnTo>
                <a:cubicBezTo>
                  <a:pt x="607780" y="301515"/>
                  <a:pt x="603075" y="306164"/>
                  <a:pt x="597307" y="306164"/>
                </a:cubicBezTo>
                <a:lnTo>
                  <a:pt x="415679" y="306164"/>
                </a:lnTo>
                <a:cubicBezTo>
                  <a:pt x="409912" y="306164"/>
                  <a:pt x="405257" y="301515"/>
                  <a:pt x="405257" y="295754"/>
                </a:cubicBezTo>
                <a:lnTo>
                  <a:pt x="405257" y="194334"/>
                </a:lnTo>
                <a:cubicBezTo>
                  <a:pt x="405257" y="175587"/>
                  <a:pt x="420435" y="160376"/>
                  <a:pt x="439205" y="160376"/>
                </a:cubicBezTo>
                <a:close/>
                <a:moveTo>
                  <a:pt x="34010" y="160376"/>
                </a:moveTo>
                <a:lnTo>
                  <a:pt x="168583" y="160376"/>
                </a:lnTo>
                <a:cubicBezTo>
                  <a:pt x="187359" y="160376"/>
                  <a:pt x="202593" y="175587"/>
                  <a:pt x="202593" y="194334"/>
                </a:cubicBezTo>
                <a:lnTo>
                  <a:pt x="202593" y="295754"/>
                </a:lnTo>
                <a:cubicBezTo>
                  <a:pt x="202593" y="301515"/>
                  <a:pt x="197937" y="306164"/>
                  <a:pt x="192167" y="306164"/>
                </a:cubicBezTo>
                <a:lnTo>
                  <a:pt x="10426" y="306164"/>
                </a:lnTo>
                <a:cubicBezTo>
                  <a:pt x="4656" y="306164"/>
                  <a:pt x="0" y="301515"/>
                  <a:pt x="0" y="295754"/>
                </a:cubicBezTo>
                <a:lnTo>
                  <a:pt x="0" y="194334"/>
                </a:lnTo>
                <a:cubicBezTo>
                  <a:pt x="0" y="175587"/>
                  <a:pt x="15234" y="160376"/>
                  <a:pt x="34010" y="160376"/>
                </a:cubicBezTo>
                <a:close/>
                <a:moveTo>
                  <a:pt x="330342" y="21924"/>
                </a:moveTo>
                <a:cubicBezTo>
                  <a:pt x="333625" y="21041"/>
                  <a:pt x="337344" y="21786"/>
                  <a:pt x="340102" y="24538"/>
                </a:cubicBezTo>
                <a:lnTo>
                  <a:pt x="396777" y="80951"/>
                </a:lnTo>
                <a:cubicBezTo>
                  <a:pt x="402293" y="86456"/>
                  <a:pt x="399763" y="95850"/>
                  <a:pt x="392274" y="97870"/>
                </a:cubicBezTo>
                <a:lnTo>
                  <a:pt x="314952" y="118627"/>
                </a:lnTo>
                <a:cubicBezTo>
                  <a:pt x="307463" y="120647"/>
                  <a:pt x="300530" y="113779"/>
                  <a:pt x="302554" y="106253"/>
                </a:cubicBezTo>
                <a:lnTo>
                  <a:pt x="306856" y="90193"/>
                </a:lnTo>
                <a:cubicBezTo>
                  <a:pt x="285906" y="88981"/>
                  <a:pt x="265007" y="90294"/>
                  <a:pt x="244361" y="94132"/>
                </a:cubicBezTo>
                <a:cubicBezTo>
                  <a:pt x="237327" y="95446"/>
                  <a:pt x="230496" y="90951"/>
                  <a:pt x="228876" y="83981"/>
                </a:cubicBezTo>
                <a:lnTo>
                  <a:pt x="224828" y="67062"/>
                </a:lnTo>
                <a:cubicBezTo>
                  <a:pt x="223057" y="59588"/>
                  <a:pt x="227915" y="52164"/>
                  <a:pt x="235505" y="50699"/>
                </a:cubicBezTo>
                <a:cubicBezTo>
                  <a:pt x="262882" y="45548"/>
                  <a:pt x="290713" y="44184"/>
                  <a:pt x="318494" y="46659"/>
                </a:cubicBezTo>
                <a:lnTo>
                  <a:pt x="323200" y="29083"/>
                </a:lnTo>
                <a:cubicBezTo>
                  <a:pt x="324213" y="25321"/>
                  <a:pt x="327059" y="22808"/>
                  <a:pt x="330342" y="21924"/>
                </a:cubicBezTo>
                <a:close/>
                <a:moveTo>
                  <a:pt x="552065" y="196"/>
                </a:moveTo>
                <a:cubicBezTo>
                  <a:pt x="560413" y="-1219"/>
                  <a:pt x="568052" y="5200"/>
                  <a:pt x="568052" y="13690"/>
                </a:cubicBezTo>
                <a:lnTo>
                  <a:pt x="568052" y="79039"/>
                </a:lnTo>
                <a:cubicBezTo>
                  <a:pt x="568052" y="113053"/>
                  <a:pt x="540480" y="140547"/>
                  <a:pt x="506484" y="140547"/>
                </a:cubicBezTo>
                <a:cubicBezTo>
                  <a:pt x="472487" y="140547"/>
                  <a:pt x="444915" y="113053"/>
                  <a:pt x="444915" y="79039"/>
                </a:cubicBezTo>
                <a:lnTo>
                  <a:pt x="444915" y="50080"/>
                </a:lnTo>
                <a:cubicBezTo>
                  <a:pt x="444915" y="33250"/>
                  <a:pt x="456804" y="18744"/>
                  <a:pt x="473296" y="15459"/>
                </a:cubicBezTo>
                <a:cubicBezTo>
                  <a:pt x="498996" y="10254"/>
                  <a:pt x="535371" y="3077"/>
                  <a:pt x="552065" y="196"/>
                </a:cubicBezTo>
                <a:close/>
                <a:moveTo>
                  <a:pt x="146938" y="196"/>
                </a:moveTo>
                <a:cubicBezTo>
                  <a:pt x="155291" y="-1219"/>
                  <a:pt x="162936" y="5200"/>
                  <a:pt x="162936" y="13690"/>
                </a:cubicBezTo>
                <a:lnTo>
                  <a:pt x="162936" y="79039"/>
                </a:lnTo>
                <a:cubicBezTo>
                  <a:pt x="162936" y="113053"/>
                  <a:pt x="135344" y="140547"/>
                  <a:pt x="101322" y="140547"/>
                </a:cubicBezTo>
                <a:cubicBezTo>
                  <a:pt x="67250" y="140547"/>
                  <a:pt x="39658" y="113053"/>
                  <a:pt x="39658" y="79039"/>
                </a:cubicBezTo>
                <a:lnTo>
                  <a:pt x="39658" y="50080"/>
                </a:lnTo>
                <a:cubicBezTo>
                  <a:pt x="39658" y="33250"/>
                  <a:pt x="51555" y="18744"/>
                  <a:pt x="68060" y="15459"/>
                </a:cubicBezTo>
                <a:cubicBezTo>
                  <a:pt x="93829" y="10254"/>
                  <a:pt x="130231" y="3077"/>
                  <a:pt x="146938" y="196"/>
                </a:cubicBezTo>
                <a:close/>
              </a:path>
            </a:pathLst>
          </a:custGeom>
          <a:solidFill>
            <a:schemeClr val="accent1"/>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b="1">
              <a:latin typeface="微软雅黑" panose="020B0503020204020204" pitchFamily="34" charset="-122"/>
              <a:ea typeface="微软雅黑" panose="020B0503020204020204" pitchFamily="34" charset="-122"/>
            </a:endParaRPr>
          </a:p>
        </p:txBody>
      </p:sp>
      <p:cxnSp>
        <p:nvCxnSpPr>
          <p:cNvPr id="65" name="直接连接符 64"/>
          <p:cNvCxnSpPr/>
          <p:nvPr/>
        </p:nvCxnSpPr>
        <p:spPr>
          <a:xfrm>
            <a:off x="9015594" y="1003425"/>
            <a:ext cx="0" cy="654307"/>
          </a:xfrm>
          <a:prstGeom prst="line">
            <a:avLst/>
          </a:prstGeom>
          <a:ln w="254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19" name="isḻíḓe"/>
          <p:cNvSpPr/>
          <p:nvPr/>
        </p:nvSpPr>
        <p:spPr bwMode="auto">
          <a:xfrm>
            <a:off x="1942465" y="2037715"/>
            <a:ext cx="9909810" cy="1164590"/>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确立</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HR</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主数据唯一来源，实现员工、组织、岗位数据的集中管控</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确立北森</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EHR</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系统为</a:t>
            </a:r>
            <a:r>
              <a:rPr lang="en-US" alt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HR</a:t>
            </a: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主数据的初始唯一来源，经过中台主数据采集后向下游分发，</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实现</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一数一源、全系统复用</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，消除多系统数据冲突，确保各系统</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 HR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主数据与</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 EHR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基准数据一致性，数据修改仅需在</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 EHR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操作即可同步至全系统，无需多系统重复维护。</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8" name="îsḻïḋê"/>
          <p:cNvGrpSpPr/>
          <p:nvPr/>
        </p:nvGrpSpPr>
        <p:grpSpPr>
          <a:xfrm>
            <a:off x="616587" y="883730"/>
            <a:ext cx="398905" cy="397482"/>
            <a:chOff x="7258511" y="1916834"/>
            <a:chExt cx="3670965" cy="3395592"/>
          </a:xfrm>
        </p:grpSpPr>
        <p:sp>
          <p:nvSpPr>
            <p:cNvPr id="39" name="ïṡḻíḑé"/>
            <p:cNvSpPr/>
            <p:nvPr/>
          </p:nvSpPr>
          <p:spPr bwMode="auto">
            <a:xfrm>
              <a:off x="7377468" y="2399195"/>
              <a:ext cx="3552008" cy="2913231"/>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chemeClr val="accent1">
                <a:lumMod val="50000"/>
              </a:schemeClr>
            </a:solidFill>
            <a:ln>
              <a:noFill/>
            </a:ln>
          </p:spPr>
          <p:txBody>
            <a:bodyPr wrap="square" lIns="91440" tIns="45720" rIns="91440" bIns="45720" anchor="ctr">
              <a:normAutofit lnSpcReduction="10000"/>
            </a:bodyPr>
            <a:lstStyle/>
            <a:p>
              <a:pPr algn="ctr"/>
            </a:p>
          </p:txBody>
        </p:sp>
        <p:sp>
          <p:nvSpPr>
            <p:cNvPr id="40" name="îšľíḍé"/>
            <p:cNvSpPr/>
            <p:nvPr/>
          </p:nvSpPr>
          <p:spPr bwMode="auto">
            <a:xfrm>
              <a:off x="7340899" y="2353676"/>
              <a:ext cx="3552008" cy="2913231"/>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41" name="íşḷîḓè"/>
            <p:cNvSpPr/>
            <p:nvPr/>
          </p:nvSpPr>
          <p:spPr bwMode="auto">
            <a:xfrm>
              <a:off x="7294577" y="2295964"/>
              <a:ext cx="3552008" cy="291323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chemeClr val="accent5"/>
            </a:solidFill>
            <a:ln>
              <a:noFill/>
            </a:ln>
          </p:spPr>
          <p:txBody>
            <a:bodyPr wrap="square" lIns="91440" tIns="45720" rIns="91440" bIns="45720" anchor="ctr">
              <a:normAutofit lnSpcReduction="10000"/>
            </a:bodyPr>
            <a:lstStyle/>
            <a:p>
              <a:pPr algn="ctr"/>
            </a:p>
          </p:txBody>
        </p:sp>
        <p:sp>
          <p:nvSpPr>
            <p:cNvPr id="42" name="íSľíḍè"/>
            <p:cNvSpPr/>
            <p:nvPr/>
          </p:nvSpPr>
          <p:spPr bwMode="auto">
            <a:xfrm>
              <a:off x="7631008" y="2572331"/>
              <a:ext cx="2879151" cy="2361310"/>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chemeClr val="accent5">
                <a:lumMod val="20000"/>
                <a:lumOff val="80000"/>
              </a:schemeClr>
            </a:solidFill>
            <a:ln>
              <a:noFill/>
            </a:ln>
          </p:spPr>
          <p:txBody>
            <a:bodyPr wrap="square" lIns="91440" tIns="45720" rIns="91440" bIns="45720" anchor="ctr">
              <a:normAutofit fontScale="77500" lnSpcReduction="20000"/>
            </a:bodyPr>
            <a:lstStyle/>
            <a:p>
              <a:pPr algn="ctr"/>
            </a:p>
          </p:txBody>
        </p:sp>
        <p:sp>
          <p:nvSpPr>
            <p:cNvPr id="43" name="ïšļîďe"/>
            <p:cNvSpPr/>
            <p:nvPr/>
          </p:nvSpPr>
          <p:spPr bwMode="auto">
            <a:xfrm>
              <a:off x="7834558" y="2673323"/>
              <a:ext cx="2502091" cy="2050803"/>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chemeClr val="accent3">
                <a:lumMod val="40000"/>
                <a:lumOff val="60000"/>
              </a:schemeClr>
            </a:solidFill>
            <a:ln>
              <a:noFill/>
            </a:ln>
          </p:spPr>
          <p:txBody>
            <a:bodyPr wrap="square" lIns="91440" tIns="45720" rIns="91440" bIns="45720" anchor="ctr">
              <a:normAutofit fontScale="62500" lnSpcReduction="20000"/>
            </a:bodyPr>
            <a:lstStyle/>
            <a:p>
              <a:pPr algn="ctr"/>
            </a:p>
          </p:txBody>
        </p:sp>
        <p:sp>
          <p:nvSpPr>
            <p:cNvPr id="44" name="îṡlîde"/>
            <p:cNvSpPr/>
            <p:nvPr/>
          </p:nvSpPr>
          <p:spPr bwMode="auto">
            <a:xfrm>
              <a:off x="8078764" y="2936485"/>
              <a:ext cx="1982818" cy="1631376"/>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chemeClr val="accent5">
                <a:lumMod val="20000"/>
                <a:lumOff val="80000"/>
              </a:schemeClr>
            </a:solidFill>
            <a:ln>
              <a:noFill/>
            </a:ln>
          </p:spPr>
          <p:txBody>
            <a:bodyPr wrap="square" lIns="91440" tIns="45720" rIns="91440" bIns="45720" anchor="ctr">
              <a:normAutofit fontScale="40000" lnSpcReduction="20000"/>
            </a:bodyPr>
            <a:lstStyle/>
            <a:p>
              <a:pPr algn="ctr"/>
            </a:p>
          </p:txBody>
        </p:sp>
        <p:sp>
          <p:nvSpPr>
            <p:cNvPr id="45" name="ïṣliḋé"/>
            <p:cNvSpPr/>
            <p:nvPr/>
          </p:nvSpPr>
          <p:spPr bwMode="auto">
            <a:xfrm>
              <a:off x="8292486" y="3107995"/>
              <a:ext cx="1556187" cy="1289170"/>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chemeClr val="accent4">
                <a:lumMod val="40000"/>
                <a:lumOff val="60000"/>
              </a:schemeClr>
            </a:solidFill>
            <a:ln>
              <a:noFill/>
            </a:ln>
          </p:spPr>
          <p:txBody>
            <a:bodyPr wrap="square" lIns="91440" tIns="45720" rIns="91440" bIns="45720" anchor="ctr">
              <a:normAutofit fontScale="25000" lnSpcReduction="20000"/>
            </a:bodyPr>
            <a:lstStyle/>
            <a:p>
              <a:pPr algn="ctr"/>
            </a:p>
          </p:txBody>
        </p:sp>
        <p:sp>
          <p:nvSpPr>
            <p:cNvPr id="46" name="íśľiḋê"/>
            <p:cNvSpPr/>
            <p:nvPr/>
          </p:nvSpPr>
          <p:spPr bwMode="auto">
            <a:xfrm>
              <a:off x="8502144" y="3275440"/>
              <a:ext cx="1136869" cy="954278"/>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chemeClr val="accent5">
                <a:lumMod val="20000"/>
                <a:lumOff val="80000"/>
              </a:schemeClr>
            </a:solidFill>
            <a:ln>
              <a:noFill/>
            </a:ln>
          </p:spPr>
          <p:txBody>
            <a:bodyPr wrap="square" lIns="91440" tIns="45720" rIns="91440" bIns="45720" anchor="ctr">
              <a:normAutofit fontScale="25000" lnSpcReduction="20000"/>
            </a:bodyPr>
            <a:lstStyle/>
            <a:p>
              <a:pPr algn="ctr"/>
            </a:p>
          </p:txBody>
        </p:sp>
        <p:sp>
          <p:nvSpPr>
            <p:cNvPr id="47" name="ïšḷídè"/>
            <p:cNvSpPr/>
            <p:nvPr/>
          </p:nvSpPr>
          <p:spPr bwMode="auto">
            <a:xfrm>
              <a:off x="8797942" y="3529048"/>
              <a:ext cx="546900" cy="44869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chemeClr val="accent1"/>
            </a:solidFill>
            <a:ln>
              <a:noFill/>
            </a:ln>
          </p:spPr>
          <p:txBody>
            <a:bodyPr wrap="square" lIns="91440" tIns="45720" rIns="91440" bIns="45720" anchor="ctr">
              <a:normAutofit fontScale="25000" lnSpcReduction="20000"/>
            </a:bodyPr>
            <a:lstStyle/>
            <a:p>
              <a:pPr algn="ctr"/>
            </a:p>
          </p:txBody>
        </p:sp>
        <p:sp>
          <p:nvSpPr>
            <p:cNvPr id="48" name="íṩḻíḑé"/>
            <p:cNvSpPr/>
            <p:nvPr/>
          </p:nvSpPr>
          <p:spPr bwMode="auto">
            <a:xfrm>
              <a:off x="8732259" y="3420605"/>
              <a:ext cx="166759" cy="17273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49" name="isḻíḓê"/>
            <p:cNvSpPr/>
            <p:nvPr/>
          </p:nvSpPr>
          <p:spPr bwMode="auto">
            <a:xfrm>
              <a:off x="8353029" y="3010794"/>
              <a:ext cx="417322" cy="481783"/>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0" name="íŝḷîḑe"/>
            <p:cNvSpPr/>
            <p:nvPr/>
          </p:nvSpPr>
          <p:spPr bwMode="auto">
            <a:xfrm>
              <a:off x="8344564" y="3003173"/>
              <a:ext cx="116816" cy="18627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51" name="íśḷïḋe"/>
            <p:cNvSpPr/>
            <p:nvPr/>
          </p:nvSpPr>
          <p:spPr bwMode="auto">
            <a:xfrm>
              <a:off x="7258511" y="2278383"/>
              <a:ext cx="402086" cy="34546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53" name="iṣļîḑe"/>
            <p:cNvSpPr/>
            <p:nvPr/>
          </p:nvSpPr>
          <p:spPr bwMode="auto">
            <a:xfrm>
              <a:off x="7555631" y="1960863"/>
              <a:ext cx="148983" cy="38949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54" name="íślïdé"/>
            <p:cNvSpPr/>
            <p:nvPr/>
          </p:nvSpPr>
          <p:spPr bwMode="auto">
            <a:xfrm>
              <a:off x="7372789" y="2322412"/>
              <a:ext cx="428326" cy="51988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5" name="iṥ1íde"/>
            <p:cNvSpPr/>
            <p:nvPr/>
          </p:nvSpPr>
          <p:spPr bwMode="auto">
            <a:xfrm>
              <a:off x="7592032" y="1916834"/>
              <a:ext cx="407164" cy="56814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56" name="îšļíďé"/>
            <p:cNvSpPr/>
            <p:nvPr/>
          </p:nvSpPr>
          <p:spPr bwMode="auto">
            <a:xfrm>
              <a:off x="7658058" y="2350353"/>
              <a:ext cx="766926" cy="78744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0" name="iṩlîdê"/>
            <p:cNvSpPr/>
            <p:nvPr/>
          </p:nvSpPr>
          <p:spPr bwMode="auto">
            <a:xfrm>
              <a:off x="9725576" y="3684364"/>
              <a:ext cx="160589" cy="16633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62" name="îṥlïḍê"/>
            <p:cNvSpPr/>
            <p:nvPr/>
          </p:nvSpPr>
          <p:spPr bwMode="auto">
            <a:xfrm>
              <a:off x="9360379" y="3289717"/>
              <a:ext cx="401879" cy="463955"/>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64" name="iṡļïdè"/>
            <p:cNvSpPr/>
            <p:nvPr/>
          </p:nvSpPr>
          <p:spPr bwMode="auto">
            <a:xfrm>
              <a:off x="9352226" y="3282379"/>
              <a:ext cx="112494" cy="179386"/>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67" name="îṡļiḋe"/>
            <p:cNvSpPr/>
            <p:nvPr/>
          </p:nvSpPr>
          <p:spPr bwMode="auto">
            <a:xfrm>
              <a:off x="8306363" y="2584410"/>
              <a:ext cx="387207" cy="332677"/>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3"/>
            </a:solidFill>
            <a:ln>
              <a:noFill/>
            </a:ln>
            <a:effectLst/>
          </p:spPr>
          <p:txBody>
            <a:bodyPr wrap="square" lIns="91440" tIns="45720" rIns="91440" bIns="45720" anchor="ctr">
              <a:normAutofit fontScale="25000" lnSpcReduction="20000"/>
            </a:bodyPr>
            <a:lstStyle/>
            <a:p>
              <a:pPr algn="ctr"/>
            </a:p>
          </p:txBody>
        </p:sp>
        <p:sp>
          <p:nvSpPr>
            <p:cNvPr id="69" name="ïṧlîḋè"/>
            <p:cNvSpPr/>
            <p:nvPr/>
          </p:nvSpPr>
          <p:spPr bwMode="auto">
            <a:xfrm>
              <a:off x="8592488" y="2278640"/>
              <a:ext cx="143470" cy="375078"/>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4"/>
            </a:solidFill>
            <a:ln>
              <a:noFill/>
            </a:ln>
            <a:effectLst/>
          </p:spPr>
          <p:txBody>
            <a:bodyPr wrap="square" lIns="91440" tIns="45720" rIns="91440" bIns="45720" anchor="ctr">
              <a:normAutofit fontScale="25000" lnSpcReduction="20000"/>
            </a:bodyPr>
            <a:lstStyle/>
            <a:p>
              <a:pPr algn="ctr"/>
            </a:p>
          </p:txBody>
        </p:sp>
        <p:sp>
          <p:nvSpPr>
            <p:cNvPr id="104" name="íṣḷiḑe"/>
            <p:cNvSpPr/>
            <p:nvPr/>
          </p:nvSpPr>
          <p:spPr bwMode="auto">
            <a:xfrm>
              <a:off x="8416411" y="2626809"/>
              <a:ext cx="412476" cy="500647"/>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6" name="îŝ1îḋé"/>
            <p:cNvSpPr/>
            <p:nvPr/>
          </p:nvSpPr>
          <p:spPr bwMode="auto">
            <a:xfrm>
              <a:off x="8627540" y="2236237"/>
              <a:ext cx="392097" cy="547123"/>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5"/>
            </a:solidFill>
            <a:ln>
              <a:noFill/>
            </a:ln>
            <a:effectLst/>
          </p:spPr>
          <p:txBody>
            <a:bodyPr wrap="square" lIns="91440" tIns="45720" rIns="91440" bIns="45720" anchor="ctr">
              <a:normAutofit fontScale="25000" lnSpcReduction="20000"/>
            </a:bodyPr>
            <a:lstStyle/>
            <a:p>
              <a:pPr algn="ctr"/>
            </a:p>
          </p:txBody>
        </p:sp>
        <p:sp>
          <p:nvSpPr>
            <p:cNvPr id="108" name="íṡliḍé"/>
            <p:cNvSpPr/>
            <p:nvPr/>
          </p:nvSpPr>
          <p:spPr bwMode="auto">
            <a:xfrm>
              <a:off x="8691126" y="2653714"/>
              <a:ext cx="738545" cy="758308"/>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09" name="îŝḷiḓé"/>
            <p:cNvSpPr/>
            <p:nvPr/>
          </p:nvSpPr>
          <p:spPr bwMode="auto">
            <a:xfrm>
              <a:off x="8960093" y="4104624"/>
              <a:ext cx="158920" cy="164609"/>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sp>
          <p:nvSpPr>
            <p:cNvPr id="110" name="ïšlíḓè"/>
            <p:cNvSpPr/>
            <p:nvPr/>
          </p:nvSpPr>
          <p:spPr bwMode="auto">
            <a:xfrm>
              <a:off x="8598694" y="3714079"/>
              <a:ext cx="397701" cy="459131"/>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chemeClr val="accent1">
                <a:lumMod val="50000"/>
              </a:schemeClr>
            </a:solidFill>
            <a:ln>
              <a:noFill/>
            </a:ln>
            <a:effectLst/>
          </p:spPr>
          <p:txBody>
            <a:bodyPr wrap="square" lIns="91440" tIns="45720" rIns="91440" bIns="45720" anchor="ctr">
              <a:normAutofit fontScale="25000" lnSpcReduction="20000"/>
            </a:bodyPr>
            <a:lstStyle/>
            <a:p>
              <a:pPr algn="ctr"/>
            </a:p>
          </p:txBody>
        </p:sp>
        <p:sp>
          <p:nvSpPr>
            <p:cNvPr id="111" name="îşliḍê"/>
            <p:cNvSpPr/>
            <p:nvPr/>
          </p:nvSpPr>
          <p:spPr bwMode="auto">
            <a:xfrm>
              <a:off x="8590628" y="3706817"/>
              <a:ext cx="111324" cy="17752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ffectLst/>
          </p:spPr>
          <p:txBody>
            <a:bodyPr wrap="square" lIns="91440" tIns="45720" rIns="91440" bIns="45720" anchor="ctr">
              <a:normAutofit fontScale="25000" lnSpcReduction="20000"/>
            </a:bodyPr>
            <a:lstStyle/>
            <a:p>
              <a:pPr algn="ctr"/>
            </a:p>
          </p:txBody>
        </p:sp>
        <p:sp>
          <p:nvSpPr>
            <p:cNvPr id="112" name="işḷîḋè"/>
            <p:cNvSpPr/>
            <p:nvPr/>
          </p:nvSpPr>
          <p:spPr bwMode="auto">
            <a:xfrm>
              <a:off x="7555640" y="3016104"/>
              <a:ext cx="383180" cy="32922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3" name="í$1ïḓê"/>
            <p:cNvSpPr/>
            <p:nvPr/>
          </p:nvSpPr>
          <p:spPr bwMode="auto">
            <a:xfrm>
              <a:off x="7838789" y="2713513"/>
              <a:ext cx="141979" cy="37117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chemeClr val="accent1">
                <a:lumMod val="75000"/>
              </a:schemeClr>
            </a:solidFill>
            <a:ln>
              <a:noFill/>
            </a:ln>
            <a:effectLst/>
          </p:spPr>
          <p:txBody>
            <a:bodyPr wrap="square" lIns="91440" tIns="45720" rIns="91440" bIns="45720" anchor="ctr">
              <a:normAutofit fontScale="25000" lnSpcReduction="20000"/>
            </a:bodyPr>
            <a:lstStyle/>
            <a:p>
              <a:pPr algn="ctr"/>
            </a:p>
          </p:txBody>
        </p:sp>
        <p:sp>
          <p:nvSpPr>
            <p:cNvPr id="114" name="ïŝľîdé"/>
            <p:cNvSpPr/>
            <p:nvPr/>
          </p:nvSpPr>
          <p:spPr bwMode="auto">
            <a:xfrm>
              <a:off x="7664541" y="3047772"/>
              <a:ext cx="408189" cy="495442"/>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0" name="íśḻiḋé"/>
            <p:cNvSpPr/>
            <p:nvPr/>
          </p:nvSpPr>
          <p:spPr bwMode="auto">
            <a:xfrm>
              <a:off x="7868333" y="2676702"/>
              <a:ext cx="388022" cy="541437"/>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1"/>
            </a:solidFill>
            <a:ln>
              <a:noFill/>
            </a:ln>
            <a:effectLst/>
          </p:spPr>
          <p:txBody>
            <a:bodyPr wrap="square" lIns="91440" tIns="45720" rIns="91440" bIns="45720" anchor="ctr">
              <a:normAutofit fontScale="25000" lnSpcReduction="20000"/>
            </a:bodyPr>
            <a:lstStyle/>
            <a:p>
              <a:pPr algn="ctr"/>
            </a:p>
          </p:txBody>
        </p:sp>
        <p:sp>
          <p:nvSpPr>
            <p:cNvPr id="121" name="ïṡ1ïďè"/>
            <p:cNvSpPr/>
            <p:nvPr/>
          </p:nvSpPr>
          <p:spPr bwMode="auto">
            <a:xfrm>
              <a:off x="7936404" y="3084690"/>
              <a:ext cx="730867" cy="75042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E929D"/>
            </a:solidFill>
            <a:ln>
              <a:noFill/>
            </a:ln>
            <a:effectLst/>
          </p:spPr>
          <p:txBody>
            <a:bodyPr wrap="square" lIns="91440" tIns="45720" rIns="91440" bIns="45720" anchor="ctr">
              <a:normAutofit fontScale="25000" lnSpcReduction="20000"/>
            </a:bodyPr>
            <a:lstStyle/>
            <a:p>
              <a:pPr algn="ctr"/>
            </a:p>
          </p:txBody>
        </p:sp>
      </p:grpSp>
      <p:sp>
        <p:nvSpPr>
          <p:cNvPr id="208" name="isḻíḓe"/>
          <p:cNvSpPr/>
          <p:nvPr/>
        </p:nvSpPr>
        <p:spPr bwMode="auto">
          <a:xfrm>
            <a:off x="1942465" y="3256915"/>
            <a:ext cx="9909810" cy="953770"/>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构建从</a:t>
            </a:r>
            <a:r>
              <a:rPr lang="en-US" altLang="zh-CN" b="1" dirty="0">
                <a:solidFill>
                  <a:schemeClr val="accent1"/>
                </a:solidFill>
                <a:latin typeface="微软雅黑" panose="020B0503020204020204" pitchFamily="34" charset="-122"/>
                <a:ea typeface="微软雅黑" panose="020B0503020204020204" pitchFamily="34" charset="-122"/>
              </a:rPr>
              <a:t>EHR</a:t>
            </a:r>
            <a:r>
              <a:rPr lang="zh-CN" altLang="en-US" b="1" dirty="0">
                <a:solidFill>
                  <a:schemeClr val="accent1"/>
                </a:solidFill>
                <a:latin typeface="微软雅黑" panose="020B0503020204020204" pitchFamily="34" charset="-122"/>
                <a:ea typeface="微软雅黑" panose="020B0503020204020204" pitchFamily="34" charset="-122"/>
              </a:rPr>
              <a:t>到</a:t>
            </a:r>
            <a:r>
              <a:rPr lang="en-US" altLang="zh-CN" b="1" dirty="0">
                <a:solidFill>
                  <a:schemeClr val="accent1"/>
                </a:solidFill>
                <a:latin typeface="微软雅黑" panose="020B0503020204020204" pitchFamily="34" charset="-122"/>
                <a:ea typeface="微软雅黑" panose="020B0503020204020204" pitchFamily="34" charset="-122"/>
              </a:rPr>
              <a:t>SAP</a:t>
            </a:r>
            <a:r>
              <a:rPr lang="zh-CN" altLang="en-US" b="1" dirty="0">
                <a:solidFill>
                  <a:schemeClr val="accent1"/>
                </a:solidFill>
                <a:latin typeface="微软雅黑" panose="020B0503020204020204" pitchFamily="34" charset="-122"/>
                <a:ea typeface="微软雅黑" panose="020B0503020204020204" pitchFamily="34" charset="-122"/>
              </a:rPr>
              <a:t>等</a:t>
            </a:r>
            <a:r>
              <a:rPr lang="zh-CN" altLang="en-US" b="1" dirty="0">
                <a:solidFill>
                  <a:schemeClr val="accent1"/>
                </a:solidFill>
                <a:latin typeface="微软雅黑" panose="020B0503020204020204" pitchFamily="34" charset="-122"/>
                <a:ea typeface="微软雅黑" panose="020B0503020204020204" pitchFamily="34" charset="-122"/>
              </a:rPr>
              <a:t>业务系统的自动化数据同步机制，人员异动触发全链路数据更新</a:t>
            </a:r>
            <a:r>
              <a:rPr lang="en-US" altLang="zh-CN" b="1" dirty="0">
                <a:solidFill>
                  <a:schemeClr val="accent1"/>
                </a:solidFill>
                <a:latin typeface="微软雅黑" panose="020B0503020204020204" pitchFamily="34" charset="-122"/>
                <a:ea typeface="微软雅黑" panose="020B0503020204020204" pitchFamily="34" charset="-122"/>
              </a:rPr>
              <a:t>​</a:t>
            </a:r>
            <a:endParaRPr lang="en-US" altLang="zh-CN"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实现</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人事异动流程完成即触发业务数据同步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，减少</a:t>
            </a:r>
            <a:r>
              <a:rPr lang="en-US" altLang="zh-CN" sz="1400" dirty="0">
                <a:latin typeface="微软雅黑" panose="020B0503020204020204" pitchFamily="34" charset="-122"/>
                <a:ea typeface="微软雅黑" panose="020B0503020204020204" pitchFamily="34" charset="-122"/>
              </a:rPr>
              <a:t>SAP </a:t>
            </a:r>
            <a:r>
              <a:rPr lang="zh-CN" altLang="en-US" sz="1400" dirty="0">
                <a:latin typeface="微软雅黑" panose="020B0503020204020204" pitchFamily="34" charset="-122"/>
                <a:ea typeface="微软雅黑" panose="020B0503020204020204" pitchFamily="34" charset="-122"/>
              </a:rPr>
              <a:t>数据同步延迟，</a:t>
            </a:r>
            <a:r>
              <a:rPr lang="zh-CN" altLang="en-US" sz="1400" dirty="0">
                <a:latin typeface="微软雅黑" panose="020B0503020204020204" pitchFamily="34" charset="-122"/>
                <a:ea typeface="微软雅黑" panose="020B0503020204020204" pitchFamily="34" charset="-122"/>
              </a:rPr>
              <a:t>消减线下通知环节，形成</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人事流程</a:t>
            </a:r>
            <a:r>
              <a:rPr lang="en-US" altLang="zh-CN" sz="1400" dirty="0">
                <a:latin typeface="微软雅黑" panose="020B0503020204020204" pitchFamily="34" charset="-122"/>
                <a:ea typeface="微软雅黑" panose="020B0503020204020204" pitchFamily="34" charset="-122"/>
              </a:rPr>
              <a:t> - </a:t>
            </a:r>
            <a:r>
              <a:rPr lang="zh-CN" altLang="en-US" sz="1400" dirty="0">
                <a:latin typeface="微软雅黑" panose="020B0503020204020204" pitchFamily="34" charset="-122"/>
                <a:ea typeface="微软雅黑" panose="020B0503020204020204" pitchFamily="34" charset="-122"/>
              </a:rPr>
              <a:t>业务数据同步</a:t>
            </a:r>
            <a:r>
              <a:rPr lang="en-US" altLang="zh-CN" sz="1400" dirty="0">
                <a:latin typeface="微软雅黑" panose="020B0503020204020204" pitchFamily="34" charset="-122"/>
                <a:ea typeface="微软雅黑" panose="020B0503020204020204" pitchFamily="34" charset="-122"/>
              </a:rPr>
              <a:t> - </a:t>
            </a:r>
            <a:r>
              <a:rPr lang="zh-CN" altLang="en-US" sz="1400" dirty="0">
                <a:latin typeface="微软雅黑" panose="020B0503020204020204" pitchFamily="34" charset="-122"/>
                <a:ea typeface="微软雅黑" panose="020B0503020204020204" pitchFamily="34" charset="-122"/>
              </a:rPr>
              <a:t>结果反馈</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的全闭环，无数据更新遗漏</a:t>
            </a:r>
            <a:r>
              <a:rPr lang="en-US" altLang="zh-CN"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209" name="isḻíḓe"/>
          <p:cNvSpPr/>
          <p:nvPr/>
        </p:nvSpPr>
        <p:spPr bwMode="auto">
          <a:xfrm>
            <a:off x="1942465" y="4261485"/>
            <a:ext cx="9909810" cy="954405"/>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建立覆盖</a:t>
            </a:r>
            <a:r>
              <a:rPr lang="zh-CN" altLang="en-US" b="1" dirty="0">
                <a:solidFill>
                  <a:schemeClr val="accent1"/>
                </a:solidFill>
                <a:latin typeface="微软雅黑" panose="020B0503020204020204" pitchFamily="34" charset="-122"/>
                <a:ea typeface="微软雅黑" panose="020B0503020204020204" pitchFamily="34" charset="-122"/>
              </a:rPr>
              <a:t>员工、岗位、组织的统一数据标准，适配行政与业务双重场景</a:t>
            </a:r>
            <a:endParaRPr lang="zh-CN" altLang="en-US"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建立集团共用</a:t>
            </a:r>
            <a:r>
              <a:rPr lang="en-US" altLang="zh-CN" sz="1400" dirty="0">
                <a:solidFill>
                  <a:schemeClr val="tx1"/>
                </a:solidFill>
                <a:latin typeface="微软雅黑" panose="020B0503020204020204" pitchFamily="34" charset="-122"/>
                <a:ea typeface="微软雅黑" panose="020B0503020204020204" pitchFamily="34" charset="-122"/>
              </a:rPr>
              <a:t>HR</a:t>
            </a:r>
            <a:r>
              <a:rPr lang="zh-CN" altLang="en-US" sz="1400" dirty="0">
                <a:solidFill>
                  <a:schemeClr val="tx1"/>
                </a:solidFill>
                <a:latin typeface="微软雅黑" panose="020B0503020204020204" pitchFamily="34" charset="-122"/>
                <a:ea typeface="微软雅黑" panose="020B0503020204020204" pitchFamily="34" charset="-122"/>
              </a:rPr>
              <a:t>主数据标准，业务系统现有组织架构通过调整适配或映射适配</a:t>
            </a:r>
            <a:r>
              <a:rPr lang="en-US" altLang="zh-CN" sz="1400" dirty="0">
                <a:solidFill>
                  <a:schemeClr val="tx1"/>
                </a:solidFill>
                <a:latin typeface="微软雅黑" panose="020B0503020204020204" pitchFamily="34" charset="-122"/>
                <a:ea typeface="微软雅黑" panose="020B0503020204020204" pitchFamily="34" charset="-122"/>
              </a:rPr>
              <a:t>HR</a:t>
            </a:r>
            <a:r>
              <a:rPr lang="zh-CN" altLang="en-US" sz="1400" dirty="0">
                <a:solidFill>
                  <a:schemeClr val="tx1"/>
                </a:solidFill>
                <a:latin typeface="微软雅黑" panose="020B0503020204020204" pitchFamily="34" charset="-122"/>
                <a:ea typeface="微软雅黑" panose="020B0503020204020204" pitchFamily="34" charset="-122"/>
              </a:rPr>
              <a:t>主数据</a:t>
            </a:r>
            <a:r>
              <a:rPr lang="zh-CN" altLang="en-US" sz="1400" dirty="0">
                <a:solidFill>
                  <a:schemeClr val="tx1"/>
                </a:solidFill>
                <a:latin typeface="微软雅黑" panose="020B0503020204020204" pitchFamily="34" charset="-122"/>
                <a:ea typeface="微软雅黑" panose="020B0503020204020204" pitchFamily="34" charset="-122"/>
              </a:rPr>
              <a:t>标准需求，消除因标准缺失导致的数据统计偏差与系统适配困难，支撑跨部门数据协同分析。</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5" name="isḻíḓe"/>
          <p:cNvSpPr/>
          <p:nvPr/>
        </p:nvSpPr>
        <p:spPr bwMode="auto">
          <a:xfrm>
            <a:off x="1942465" y="5287010"/>
            <a:ext cx="9909810" cy="954405"/>
          </a:xfrm>
          <a:prstGeom prst="rect">
            <a:avLst/>
          </a:prstGeom>
          <a:solidFill>
            <a:schemeClr val="accent5">
              <a:lumMod val="20000"/>
              <a:lumOff val="80000"/>
            </a:schemeClr>
          </a:solidFill>
          <a:ln>
            <a:noFill/>
          </a:ln>
        </p:spPr>
        <p:txBody>
          <a:bodyPr wrap="square" lIns="72000" tIns="36000" rIns="72000" bIns="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消</a:t>
            </a:r>
            <a:r>
              <a:rPr lang="zh-CN" altLang="en-US" b="1" dirty="0">
                <a:solidFill>
                  <a:schemeClr val="accent1"/>
                </a:solidFill>
                <a:latin typeface="微软雅黑" panose="020B0503020204020204" pitchFamily="34" charset="-122"/>
                <a:ea typeface="微软雅黑" panose="020B0503020204020204" pitchFamily="34" charset="-122"/>
              </a:rPr>
              <a:t>减手工操作与线下传递，降低数据错误率，缩短流程响应时间</a:t>
            </a:r>
            <a:endParaRPr lang="zh-CN" altLang="en-US" b="1" dirty="0">
              <a:solidFill>
                <a:schemeClr val="accent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sym typeface="+mn-ea"/>
              </a:rPr>
              <a:t>实现手工操作减少，数据错误率降低，数据同步响应时间提升，异常处理及时率提高，释放HR与</a:t>
            </a:r>
            <a:r>
              <a:rPr lang="zh-CN" altLang="en-US" sz="1400" dirty="0">
                <a:latin typeface="微软雅黑" panose="020B0503020204020204" pitchFamily="34" charset="-122"/>
                <a:ea typeface="微软雅黑" panose="020B0503020204020204" pitchFamily="34" charset="-122"/>
                <a:sym typeface="+mn-ea"/>
              </a:rPr>
              <a:t>系统团队管理精力，提升主数据管理效率。</a:t>
            </a:r>
            <a:endParaRPr lang="zh-CN" altLang="en-US" sz="1400" dirty="0">
              <a:solidFill>
                <a:schemeClr val="tx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882015" y="2066290"/>
            <a:ext cx="948055" cy="955675"/>
          </a:xfrm>
          <a:prstGeom prst="rect">
            <a:avLst/>
          </a:prstGeom>
        </p:spPr>
      </p:pic>
      <p:pic>
        <p:nvPicPr>
          <p:cNvPr id="11" name="图片 10"/>
          <p:cNvPicPr>
            <a:picLocks noChangeAspect="1"/>
          </p:cNvPicPr>
          <p:nvPr/>
        </p:nvPicPr>
        <p:blipFill>
          <a:blip r:embed="rId2"/>
          <a:stretch>
            <a:fillRect/>
          </a:stretch>
        </p:blipFill>
        <p:spPr>
          <a:xfrm>
            <a:off x="911225" y="3256915"/>
            <a:ext cx="918845" cy="918845"/>
          </a:xfrm>
          <a:prstGeom prst="rect">
            <a:avLst/>
          </a:prstGeom>
        </p:spPr>
      </p:pic>
      <p:pic>
        <p:nvPicPr>
          <p:cNvPr id="12" name="图片 11"/>
          <p:cNvPicPr>
            <a:picLocks noChangeAspect="1"/>
          </p:cNvPicPr>
          <p:nvPr/>
        </p:nvPicPr>
        <p:blipFill>
          <a:blip r:embed="rId3"/>
          <a:stretch>
            <a:fillRect/>
          </a:stretch>
        </p:blipFill>
        <p:spPr>
          <a:xfrm>
            <a:off x="911225" y="4267835"/>
            <a:ext cx="951865" cy="947420"/>
          </a:xfrm>
          <a:prstGeom prst="rect">
            <a:avLst/>
          </a:prstGeom>
        </p:spPr>
      </p:pic>
      <p:grpSp>
        <p:nvGrpSpPr>
          <p:cNvPr id="6" name="组合 5"/>
          <p:cNvGrpSpPr/>
          <p:nvPr/>
        </p:nvGrpSpPr>
        <p:grpSpPr>
          <a:xfrm>
            <a:off x="916305" y="5287010"/>
            <a:ext cx="953770" cy="953770"/>
            <a:chOff x="892" y="3209"/>
            <a:chExt cx="1984" cy="1984"/>
          </a:xfrm>
        </p:grpSpPr>
        <p:sp>
          <p:nvSpPr>
            <p:cNvPr id="201" name="ïSḷiḓê"/>
            <p:cNvSpPr/>
            <p:nvPr/>
          </p:nvSpPr>
          <p:spPr>
            <a:xfrm>
              <a:off x="892" y="3209"/>
              <a:ext cx="1984" cy="19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07" name="ïSļíďé"/>
            <p:cNvSpPr/>
            <p:nvPr/>
          </p:nvSpPr>
          <p:spPr bwMode="auto">
            <a:xfrm>
              <a:off x="1261" y="3577"/>
              <a:ext cx="1247" cy="1247"/>
            </a:xfrm>
            <a:custGeom>
              <a:avLst/>
              <a:gdLst/>
              <a:ahLst/>
              <a:cxnLst>
                <a:cxn ang="0">
                  <a:pos x="86" y="58"/>
                </a:cxn>
                <a:cxn ang="0">
                  <a:pos x="76" y="55"/>
                </a:cxn>
                <a:cxn ang="0">
                  <a:pos x="76" y="54"/>
                </a:cxn>
                <a:cxn ang="0">
                  <a:pos x="71" y="47"/>
                </a:cxn>
                <a:cxn ang="0">
                  <a:pos x="76" y="68"/>
                </a:cxn>
                <a:cxn ang="0">
                  <a:pos x="76" y="59"/>
                </a:cxn>
                <a:cxn ang="0">
                  <a:pos x="81" y="59"/>
                </a:cxn>
                <a:cxn ang="0">
                  <a:pos x="86" y="68"/>
                </a:cxn>
                <a:cxn ang="0">
                  <a:pos x="65" y="59"/>
                </a:cxn>
                <a:cxn ang="0">
                  <a:pos x="58" y="47"/>
                </a:cxn>
                <a:cxn ang="0">
                  <a:pos x="50" y="63"/>
                </a:cxn>
                <a:cxn ang="0">
                  <a:pos x="60" y="68"/>
                </a:cxn>
                <a:cxn ang="0">
                  <a:pos x="65" y="63"/>
                </a:cxn>
                <a:cxn ang="0">
                  <a:pos x="67" y="59"/>
                </a:cxn>
                <a:cxn ang="0">
                  <a:pos x="39" y="64"/>
                </a:cxn>
                <a:cxn ang="0">
                  <a:pos x="40" y="46"/>
                </a:cxn>
                <a:cxn ang="0">
                  <a:pos x="37" y="54"/>
                </a:cxn>
                <a:cxn ang="0">
                  <a:pos x="42" y="54"/>
                </a:cxn>
                <a:cxn ang="0">
                  <a:pos x="33" y="68"/>
                </a:cxn>
                <a:cxn ang="0">
                  <a:pos x="48" y="64"/>
                </a:cxn>
                <a:cxn ang="0">
                  <a:pos x="60" y="89"/>
                </a:cxn>
                <a:cxn ang="0">
                  <a:pos x="60" y="27"/>
                </a:cxn>
                <a:cxn ang="0">
                  <a:pos x="59" y="54"/>
                </a:cxn>
                <a:cxn ang="0">
                  <a:pos x="55" y="59"/>
                </a:cxn>
                <a:cxn ang="0">
                  <a:pos x="60" y="54"/>
                </a:cxn>
                <a:cxn ang="0">
                  <a:pos x="60" y="52"/>
                </a:cxn>
                <a:cxn ang="0">
                  <a:pos x="109" y="28"/>
                </a:cxn>
                <a:cxn ang="0">
                  <a:pos x="5" y="40"/>
                </a:cxn>
                <a:cxn ang="0">
                  <a:pos x="6" y="46"/>
                </a:cxn>
                <a:cxn ang="0">
                  <a:pos x="60" y="12"/>
                </a:cxn>
                <a:cxn ang="0">
                  <a:pos x="90" y="33"/>
                </a:cxn>
                <a:cxn ang="0">
                  <a:pos x="104" y="50"/>
                </a:cxn>
                <a:cxn ang="0">
                  <a:pos x="112" y="55"/>
                </a:cxn>
                <a:cxn ang="0">
                  <a:pos x="119" y="28"/>
                </a:cxn>
                <a:cxn ang="0">
                  <a:pos x="109" y="28"/>
                </a:cxn>
                <a:cxn ang="0">
                  <a:pos x="114" y="76"/>
                </a:cxn>
                <a:cxn ang="0">
                  <a:pos x="11" y="89"/>
                </a:cxn>
                <a:cxn ang="0">
                  <a:pos x="3" y="90"/>
                </a:cxn>
                <a:cxn ang="0">
                  <a:pos x="6" y="66"/>
                </a:cxn>
                <a:cxn ang="0">
                  <a:pos x="10" y="60"/>
                </a:cxn>
                <a:cxn ang="0">
                  <a:pos x="30" y="79"/>
                </a:cxn>
                <a:cxn ang="0">
                  <a:pos x="22" y="85"/>
                </a:cxn>
                <a:cxn ang="0">
                  <a:pos x="103" y="72"/>
                </a:cxn>
              </a:cxnLst>
              <a:rect l="0" t="0" r="r" b="b"/>
              <a:pathLst>
                <a:path w="119" h="115">
                  <a:moveTo>
                    <a:pt x="86" y="68"/>
                  </a:moveTo>
                  <a:cubicBezTo>
                    <a:pt x="86" y="58"/>
                    <a:pt x="86" y="58"/>
                    <a:pt x="86" y="58"/>
                  </a:cubicBezTo>
                  <a:cubicBezTo>
                    <a:pt x="86" y="54"/>
                    <a:pt x="83" y="52"/>
                    <a:pt x="80" y="52"/>
                  </a:cubicBezTo>
                  <a:cubicBezTo>
                    <a:pt x="78" y="52"/>
                    <a:pt x="77" y="53"/>
                    <a:pt x="76" y="55"/>
                  </a:cubicBezTo>
                  <a:cubicBezTo>
                    <a:pt x="76" y="55"/>
                    <a:pt x="76" y="55"/>
                    <a:pt x="76" y="55"/>
                  </a:cubicBezTo>
                  <a:cubicBezTo>
                    <a:pt x="76" y="55"/>
                    <a:pt x="76" y="54"/>
                    <a:pt x="76" y="54"/>
                  </a:cubicBezTo>
                  <a:cubicBezTo>
                    <a:pt x="76" y="47"/>
                    <a:pt x="76" y="47"/>
                    <a:pt x="76" y="47"/>
                  </a:cubicBezTo>
                  <a:cubicBezTo>
                    <a:pt x="71" y="47"/>
                    <a:pt x="71" y="47"/>
                    <a:pt x="71" y="47"/>
                  </a:cubicBezTo>
                  <a:cubicBezTo>
                    <a:pt x="71" y="68"/>
                    <a:pt x="71" y="68"/>
                    <a:pt x="71" y="68"/>
                  </a:cubicBezTo>
                  <a:cubicBezTo>
                    <a:pt x="76" y="68"/>
                    <a:pt x="76" y="68"/>
                    <a:pt x="76" y="68"/>
                  </a:cubicBezTo>
                  <a:cubicBezTo>
                    <a:pt x="76" y="61"/>
                    <a:pt x="76" y="61"/>
                    <a:pt x="76" y="61"/>
                  </a:cubicBezTo>
                  <a:cubicBezTo>
                    <a:pt x="76" y="61"/>
                    <a:pt x="76" y="60"/>
                    <a:pt x="76" y="59"/>
                  </a:cubicBezTo>
                  <a:cubicBezTo>
                    <a:pt x="76" y="58"/>
                    <a:pt x="77" y="57"/>
                    <a:pt x="79" y="57"/>
                  </a:cubicBezTo>
                  <a:cubicBezTo>
                    <a:pt x="80" y="57"/>
                    <a:pt x="81" y="58"/>
                    <a:pt x="81" y="59"/>
                  </a:cubicBezTo>
                  <a:cubicBezTo>
                    <a:pt x="81" y="68"/>
                    <a:pt x="81" y="68"/>
                    <a:pt x="81" y="68"/>
                  </a:cubicBezTo>
                  <a:lnTo>
                    <a:pt x="86" y="68"/>
                  </a:lnTo>
                  <a:close/>
                  <a:moveTo>
                    <a:pt x="67" y="59"/>
                  </a:moveTo>
                  <a:cubicBezTo>
                    <a:pt x="65" y="59"/>
                    <a:pt x="65" y="59"/>
                    <a:pt x="65" y="59"/>
                  </a:cubicBezTo>
                  <a:cubicBezTo>
                    <a:pt x="65" y="47"/>
                    <a:pt x="65" y="47"/>
                    <a:pt x="65" y="47"/>
                  </a:cubicBezTo>
                  <a:cubicBezTo>
                    <a:pt x="58" y="47"/>
                    <a:pt x="58" y="47"/>
                    <a:pt x="58" y="47"/>
                  </a:cubicBezTo>
                  <a:cubicBezTo>
                    <a:pt x="50" y="60"/>
                    <a:pt x="50" y="60"/>
                    <a:pt x="50" y="60"/>
                  </a:cubicBezTo>
                  <a:cubicBezTo>
                    <a:pt x="50" y="63"/>
                    <a:pt x="50" y="63"/>
                    <a:pt x="50" y="63"/>
                  </a:cubicBezTo>
                  <a:cubicBezTo>
                    <a:pt x="60" y="63"/>
                    <a:pt x="60" y="63"/>
                    <a:pt x="60" y="63"/>
                  </a:cubicBezTo>
                  <a:cubicBezTo>
                    <a:pt x="60" y="68"/>
                    <a:pt x="60" y="68"/>
                    <a:pt x="60" y="68"/>
                  </a:cubicBezTo>
                  <a:cubicBezTo>
                    <a:pt x="65" y="68"/>
                    <a:pt x="65" y="68"/>
                    <a:pt x="65" y="68"/>
                  </a:cubicBezTo>
                  <a:cubicBezTo>
                    <a:pt x="65" y="63"/>
                    <a:pt x="65" y="63"/>
                    <a:pt x="65" y="63"/>
                  </a:cubicBezTo>
                  <a:cubicBezTo>
                    <a:pt x="67" y="63"/>
                    <a:pt x="67" y="63"/>
                    <a:pt x="67" y="63"/>
                  </a:cubicBezTo>
                  <a:lnTo>
                    <a:pt x="67" y="59"/>
                  </a:lnTo>
                  <a:close/>
                  <a:moveTo>
                    <a:pt x="48" y="64"/>
                  </a:moveTo>
                  <a:cubicBezTo>
                    <a:pt x="39" y="64"/>
                    <a:pt x="39" y="64"/>
                    <a:pt x="39" y="64"/>
                  </a:cubicBezTo>
                  <a:cubicBezTo>
                    <a:pt x="39" y="61"/>
                    <a:pt x="48" y="60"/>
                    <a:pt x="48" y="53"/>
                  </a:cubicBezTo>
                  <a:cubicBezTo>
                    <a:pt x="48" y="48"/>
                    <a:pt x="44" y="46"/>
                    <a:pt x="40" y="46"/>
                  </a:cubicBezTo>
                  <a:cubicBezTo>
                    <a:pt x="35" y="46"/>
                    <a:pt x="33" y="51"/>
                    <a:pt x="33" y="51"/>
                  </a:cubicBezTo>
                  <a:cubicBezTo>
                    <a:pt x="37" y="54"/>
                    <a:pt x="37" y="54"/>
                    <a:pt x="37" y="54"/>
                  </a:cubicBezTo>
                  <a:cubicBezTo>
                    <a:pt x="37" y="54"/>
                    <a:pt x="38" y="51"/>
                    <a:pt x="40" y="51"/>
                  </a:cubicBezTo>
                  <a:cubicBezTo>
                    <a:pt x="41" y="51"/>
                    <a:pt x="42" y="52"/>
                    <a:pt x="42" y="54"/>
                  </a:cubicBezTo>
                  <a:cubicBezTo>
                    <a:pt x="42" y="57"/>
                    <a:pt x="33" y="58"/>
                    <a:pt x="33" y="66"/>
                  </a:cubicBezTo>
                  <a:cubicBezTo>
                    <a:pt x="33" y="67"/>
                    <a:pt x="33" y="67"/>
                    <a:pt x="33" y="68"/>
                  </a:cubicBezTo>
                  <a:cubicBezTo>
                    <a:pt x="48" y="68"/>
                    <a:pt x="48" y="68"/>
                    <a:pt x="48" y="68"/>
                  </a:cubicBezTo>
                  <a:lnTo>
                    <a:pt x="48" y="64"/>
                  </a:lnTo>
                  <a:close/>
                  <a:moveTo>
                    <a:pt x="90" y="58"/>
                  </a:moveTo>
                  <a:cubicBezTo>
                    <a:pt x="90" y="75"/>
                    <a:pt x="77" y="89"/>
                    <a:pt x="60" y="89"/>
                  </a:cubicBezTo>
                  <a:cubicBezTo>
                    <a:pt x="43" y="89"/>
                    <a:pt x="29" y="75"/>
                    <a:pt x="29" y="58"/>
                  </a:cubicBezTo>
                  <a:cubicBezTo>
                    <a:pt x="29" y="41"/>
                    <a:pt x="43" y="27"/>
                    <a:pt x="60" y="27"/>
                  </a:cubicBezTo>
                  <a:cubicBezTo>
                    <a:pt x="77" y="27"/>
                    <a:pt x="90" y="41"/>
                    <a:pt x="90" y="58"/>
                  </a:cubicBezTo>
                  <a:moveTo>
                    <a:pt x="59" y="54"/>
                  </a:moveTo>
                  <a:cubicBezTo>
                    <a:pt x="55" y="59"/>
                    <a:pt x="55" y="59"/>
                    <a:pt x="55" y="59"/>
                  </a:cubicBezTo>
                  <a:cubicBezTo>
                    <a:pt x="55" y="59"/>
                    <a:pt x="55" y="59"/>
                    <a:pt x="55" y="59"/>
                  </a:cubicBezTo>
                  <a:cubicBezTo>
                    <a:pt x="60" y="59"/>
                    <a:pt x="60" y="59"/>
                    <a:pt x="60" y="59"/>
                  </a:cubicBezTo>
                  <a:cubicBezTo>
                    <a:pt x="60" y="54"/>
                    <a:pt x="60" y="54"/>
                    <a:pt x="60" y="54"/>
                  </a:cubicBezTo>
                  <a:cubicBezTo>
                    <a:pt x="60" y="53"/>
                    <a:pt x="60" y="52"/>
                    <a:pt x="60" y="52"/>
                  </a:cubicBezTo>
                  <a:cubicBezTo>
                    <a:pt x="60" y="52"/>
                    <a:pt x="60" y="52"/>
                    <a:pt x="60" y="52"/>
                  </a:cubicBezTo>
                  <a:cubicBezTo>
                    <a:pt x="60" y="52"/>
                    <a:pt x="59" y="53"/>
                    <a:pt x="59" y="54"/>
                  </a:cubicBezTo>
                  <a:moveTo>
                    <a:pt x="109" y="28"/>
                  </a:moveTo>
                  <a:cubicBezTo>
                    <a:pt x="98" y="11"/>
                    <a:pt x="80" y="0"/>
                    <a:pt x="60" y="0"/>
                  </a:cubicBezTo>
                  <a:cubicBezTo>
                    <a:pt x="34" y="0"/>
                    <a:pt x="12" y="17"/>
                    <a:pt x="5" y="40"/>
                  </a:cubicBezTo>
                  <a:cubicBezTo>
                    <a:pt x="4" y="42"/>
                    <a:pt x="5" y="44"/>
                    <a:pt x="6" y="46"/>
                  </a:cubicBezTo>
                  <a:cubicBezTo>
                    <a:pt x="6" y="46"/>
                    <a:pt x="6" y="46"/>
                    <a:pt x="6" y="46"/>
                  </a:cubicBezTo>
                  <a:cubicBezTo>
                    <a:pt x="9" y="49"/>
                    <a:pt x="14" y="48"/>
                    <a:pt x="16" y="44"/>
                  </a:cubicBezTo>
                  <a:cubicBezTo>
                    <a:pt x="22" y="25"/>
                    <a:pt x="39" y="12"/>
                    <a:pt x="60" y="12"/>
                  </a:cubicBezTo>
                  <a:cubicBezTo>
                    <a:pt x="75" y="12"/>
                    <a:pt x="89" y="19"/>
                    <a:pt x="97" y="31"/>
                  </a:cubicBezTo>
                  <a:cubicBezTo>
                    <a:pt x="90" y="33"/>
                    <a:pt x="90" y="33"/>
                    <a:pt x="90" y="33"/>
                  </a:cubicBezTo>
                  <a:cubicBezTo>
                    <a:pt x="89" y="34"/>
                    <a:pt x="88" y="35"/>
                    <a:pt x="89" y="37"/>
                  </a:cubicBezTo>
                  <a:cubicBezTo>
                    <a:pt x="104" y="50"/>
                    <a:pt x="104" y="50"/>
                    <a:pt x="104" y="50"/>
                  </a:cubicBezTo>
                  <a:cubicBezTo>
                    <a:pt x="109" y="56"/>
                    <a:pt x="109" y="56"/>
                    <a:pt x="109" y="56"/>
                  </a:cubicBezTo>
                  <a:cubicBezTo>
                    <a:pt x="110" y="57"/>
                    <a:pt x="112" y="56"/>
                    <a:pt x="112" y="55"/>
                  </a:cubicBezTo>
                  <a:cubicBezTo>
                    <a:pt x="113" y="50"/>
                    <a:pt x="113" y="50"/>
                    <a:pt x="113" y="50"/>
                  </a:cubicBezTo>
                  <a:cubicBezTo>
                    <a:pt x="119" y="28"/>
                    <a:pt x="119" y="28"/>
                    <a:pt x="119" y="28"/>
                  </a:cubicBezTo>
                  <a:cubicBezTo>
                    <a:pt x="119" y="27"/>
                    <a:pt x="118" y="25"/>
                    <a:pt x="116" y="26"/>
                  </a:cubicBezTo>
                  <a:lnTo>
                    <a:pt x="109" y="28"/>
                  </a:lnTo>
                  <a:close/>
                  <a:moveTo>
                    <a:pt x="113" y="70"/>
                  </a:moveTo>
                  <a:cubicBezTo>
                    <a:pt x="114" y="71"/>
                    <a:pt x="115" y="74"/>
                    <a:pt x="114" y="76"/>
                  </a:cubicBezTo>
                  <a:cubicBezTo>
                    <a:pt x="107" y="99"/>
                    <a:pt x="85" y="115"/>
                    <a:pt x="60" y="115"/>
                  </a:cubicBezTo>
                  <a:cubicBezTo>
                    <a:pt x="40" y="115"/>
                    <a:pt x="22" y="105"/>
                    <a:pt x="11" y="89"/>
                  </a:cubicBezTo>
                  <a:cubicBezTo>
                    <a:pt x="11" y="88"/>
                    <a:pt x="10" y="88"/>
                    <a:pt x="9" y="88"/>
                  </a:cubicBezTo>
                  <a:cubicBezTo>
                    <a:pt x="3" y="90"/>
                    <a:pt x="3" y="90"/>
                    <a:pt x="3" y="90"/>
                  </a:cubicBezTo>
                  <a:cubicBezTo>
                    <a:pt x="1" y="90"/>
                    <a:pt x="0" y="89"/>
                    <a:pt x="0" y="88"/>
                  </a:cubicBezTo>
                  <a:cubicBezTo>
                    <a:pt x="6" y="66"/>
                    <a:pt x="6" y="66"/>
                    <a:pt x="6" y="66"/>
                  </a:cubicBezTo>
                  <a:cubicBezTo>
                    <a:pt x="7" y="61"/>
                    <a:pt x="7" y="61"/>
                    <a:pt x="7" y="61"/>
                  </a:cubicBezTo>
                  <a:cubicBezTo>
                    <a:pt x="7" y="60"/>
                    <a:pt x="9" y="59"/>
                    <a:pt x="10" y="60"/>
                  </a:cubicBezTo>
                  <a:cubicBezTo>
                    <a:pt x="16" y="66"/>
                    <a:pt x="16" y="66"/>
                    <a:pt x="16" y="66"/>
                  </a:cubicBezTo>
                  <a:cubicBezTo>
                    <a:pt x="30" y="79"/>
                    <a:pt x="30" y="79"/>
                    <a:pt x="30" y="79"/>
                  </a:cubicBezTo>
                  <a:cubicBezTo>
                    <a:pt x="31" y="80"/>
                    <a:pt x="30" y="82"/>
                    <a:pt x="29" y="83"/>
                  </a:cubicBezTo>
                  <a:cubicBezTo>
                    <a:pt x="22" y="85"/>
                    <a:pt x="22" y="85"/>
                    <a:pt x="22" y="85"/>
                  </a:cubicBezTo>
                  <a:cubicBezTo>
                    <a:pt x="31" y="97"/>
                    <a:pt x="44" y="104"/>
                    <a:pt x="60" y="104"/>
                  </a:cubicBezTo>
                  <a:cubicBezTo>
                    <a:pt x="80" y="104"/>
                    <a:pt x="97" y="91"/>
                    <a:pt x="103" y="72"/>
                  </a:cubicBezTo>
                  <a:cubicBezTo>
                    <a:pt x="105" y="68"/>
                    <a:pt x="110" y="67"/>
                    <a:pt x="113" y="70"/>
                  </a:cubicBezTo>
                  <a:close/>
                </a:path>
              </a:pathLst>
            </a:custGeom>
            <a:solidFill>
              <a:schemeClr val="bg1"/>
            </a:solidFill>
            <a:ln w="9525">
              <a:noFill/>
              <a:round/>
            </a:ln>
          </p:spPr>
          <p:txBody>
            <a:bodyPr wrap="square" lIns="91440" tIns="45720" rIns="91440" bIns="45720" anchor="ctr">
              <a:normAutofit/>
            </a:bodyPr>
            <a:lstStyle/>
            <a:p>
              <a:pPr algn="ctr"/>
            </a:p>
          </p:txBody>
        </p:sp>
      </p:grpSp>
      <p:sp>
        <p:nvSpPr>
          <p:cNvPr id="13" name="ïśľíḋê"/>
          <p:cNvSpPr/>
          <p:nvPr/>
        </p:nvSpPr>
        <p:spPr bwMode="auto">
          <a:xfrm>
            <a:off x="11376069" y="929285"/>
            <a:ext cx="398905" cy="397483"/>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5765" h="605987">
                <a:moveTo>
                  <a:pt x="25902" y="478577"/>
                </a:moveTo>
                <a:cubicBezTo>
                  <a:pt x="32673" y="476076"/>
                  <a:pt x="39351" y="479410"/>
                  <a:pt x="41763" y="486264"/>
                </a:cubicBezTo>
                <a:cubicBezTo>
                  <a:pt x="44174" y="492933"/>
                  <a:pt x="40742" y="499694"/>
                  <a:pt x="34528" y="502009"/>
                </a:cubicBezTo>
                <a:lnTo>
                  <a:pt x="16256" y="508214"/>
                </a:lnTo>
                <a:cubicBezTo>
                  <a:pt x="8373" y="510159"/>
                  <a:pt x="2900" y="505899"/>
                  <a:pt x="953" y="500527"/>
                </a:cubicBezTo>
                <a:cubicBezTo>
                  <a:pt x="-1552" y="493859"/>
                  <a:pt x="1880" y="487098"/>
                  <a:pt x="8094" y="484782"/>
                </a:cubicBezTo>
                <a:close/>
                <a:moveTo>
                  <a:pt x="122099" y="443964"/>
                </a:moveTo>
                <a:cubicBezTo>
                  <a:pt x="128879" y="441923"/>
                  <a:pt x="135567" y="445447"/>
                  <a:pt x="137424" y="451569"/>
                </a:cubicBezTo>
                <a:cubicBezTo>
                  <a:pt x="139932" y="458246"/>
                  <a:pt x="136496" y="465109"/>
                  <a:pt x="130273" y="467428"/>
                </a:cubicBezTo>
                <a:lnTo>
                  <a:pt x="111975" y="473641"/>
                </a:lnTo>
                <a:cubicBezTo>
                  <a:pt x="108353" y="474940"/>
                  <a:pt x="105752" y="474105"/>
                  <a:pt x="104730" y="473641"/>
                </a:cubicBezTo>
                <a:cubicBezTo>
                  <a:pt x="103244" y="475589"/>
                  <a:pt x="101294" y="476980"/>
                  <a:pt x="98972" y="477907"/>
                </a:cubicBezTo>
                <a:lnTo>
                  <a:pt x="59961" y="491912"/>
                </a:lnTo>
                <a:cubicBezTo>
                  <a:pt x="51788" y="493859"/>
                  <a:pt x="46587" y="489593"/>
                  <a:pt x="44543" y="484214"/>
                </a:cubicBezTo>
                <a:cubicBezTo>
                  <a:pt x="42128" y="477537"/>
                  <a:pt x="45565" y="470766"/>
                  <a:pt x="51788" y="468448"/>
                </a:cubicBezTo>
                <a:lnTo>
                  <a:pt x="90798" y="454444"/>
                </a:lnTo>
                <a:cubicBezTo>
                  <a:pt x="93120" y="453980"/>
                  <a:pt x="95628" y="453980"/>
                  <a:pt x="97950" y="454444"/>
                </a:cubicBezTo>
                <a:cubicBezTo>
                  <a:pt x="99436" y="452496"/>
                  <a:pt x="101387" y="451105"/>
                  <a:pt x="103801" y="450085"/>
                </a:cubicBezTo>
                <a:close/>
                <a:moveTo>
                  <a:pt x="107245" y="400218"/>
                </a:moveTo>
                <a:lnTo>
                  <a:pt x="126470" y="400218"/>
                </a:lnTo>
                <a:cubicBezTo>
                  <a:pt x="133249" y="400218"/>
                  <a:pt x="138450" y="405497"/>
                  <a:pt x="138450" y="412627"/>
                </a:cubicBezTo>
                <a:cubicBezTo>
                  <a:pt x="138450" y="419850"/>
                  <a:pt x="133156" y="425128"/>
                  <a:pt x="126470" y="425128"/>
                </a:cubicBezTo>
                <a:lnTo>
                  <a:pt x="107245" y="425128"/>
                </a:lnTo>
                <a:cubicBezTo>
                  <a:pt x="100558" y="425128"/>
                  <a:pt x="95264" y="419294"/>
                  <a:pt x="95264" y="412627"/>
                </a:cubicBezTo>
                <a:cubicBezTo>
                  <a:pt x="95264" y="405497"/>
                  <a:pt x="100558" y="400218"/>
                  <a:pt x="107245" y="400218"/>
                </a:cubicBezTo>
                <a:close/>
                <a:moveTo>
                  <a:pt x="12071" y="399866"/>
                </a:moveTo>
                <a:lnTo>
                  <a:pt x="31384" y="399866"/>
                </a:lnTo>
                <a:cubicBezTo>
                  <a:pt x="33706" y="399866"/>
                  <a:pt x="35563" y="400792"/>
                  <a:pt x="37513" y="401811"/>
                </a:cubicBezTo>
                <a:cubicBezTo>
                  <a:pt x="39370" y="400329"/>
                  <a:pt x="41412" y="399866"/>
                  <a:pt x="43734" y="399866"/>
                </a:cubicBezTo>
                <a:lnTo>
                  <a:pt x="81710" y="399866"/>
                </a:lnTo>
                <a:cubicBezTo>
                  <a:pt x="88396" y="399866"/>
                  <a:pt x="93781" y="405608"/>
                  <a:pt x="93781" y="412275"/>
                </a:cubicBezTo>
                <a:cubicBezTo>
                  <a:pt x="93781" y="418942"/>
                  <a:pt x="88396" y="424776"/>
                  <a:pt x="81618" y="424776"/>
                </a:cubicBezTo>
                <a:lnTo>
                  <a:pt x="43641" y="424776"/>
                </a:lnTo>
                <a:cubicBezTo>
                  <a:pt x="41227" y="424776"/>
                  <a:pt x="39370" y="423758"/>
                  <a:pt x="37420" y="422832"/>
                </a:cubicBezTo>
                <a:cubicBezTo>
                  <a:pt x="35563" y="424313"/>
                  <a:pt x="33613" y="424776"/>
                  <a:pt x="31199" y="424776"/>
                </a:cubicBezTo>
                <a:lnTo>
                  <a:pt x="12071" y="424776"/>
                </a:lnTo>
                <a:cubicBezTo>
                  <a:pt x="5386" y="424776"/>
                  <a:pt x="0" y="418942"/>
                  <a:pt x="0" y="412275"/>
                </a:cubicBezTo>
                <a:cubicBezTo>
                  <a:pt x="0" y="405145"/>
                  <a:pt x="5386" y="399866"/>
                  <a:pt x="12071" y="399866"/>
                </a:cubicBezTo>
                <a:close/>
                <a:moveTo>
                  <a:pt x="59961" y="331976"/>
                </a:moveTo>
                <a:lnTo>
                  <a:pt x="98972" y="345894"/>
                </a:lnTo>
                <a:cubicBezTo>
                  <a:pt x="101294" y="346914"/>
                  <a:pt x="103244" y="348306"/>
                  <a:pt x="104730" y="350254"/>
                </a:cubicBezTo>
                <a:cubicBezTo>
                  <a:pt x="105752" y="349790"/>
                  <a:pt x="108353" y="348863"/>
                  <a:pt x="111975" y="350254"/>
                </a:cubicBezTo>
                <a:lnTo>
                  <a:pt x="130273" y="356471"/>
                </a:lnTo>
                <a:cubicBezTo>
                  <a:pt x="136496" y="358790"/>
                  <a:pt x="139932" y="365564"/>
                  <a:pt x="137424" y="372244"/>
                </a:cubicBezTo>
                <a:cubicBezTo>
                  <a:pt x="135567" y="378461"/>
                  <a:pt x="128879" y="381801"/>
                  <a:pt x="122099" y="379945"/>
                </a:cubicBezTo>
                <a:lnTo>
                  <a:pt x="103801" y="373729"/>
                </a:lnTo>
                <a:cubicBezTo>
                  <a:pt x="101387" y="372801"/>
                  <a:pt x="99436" y="371409"/>
                  <a:pt x="97950" y="369461"/>
                </a:cubicBezTo>
                <a:cubicBezTo>
                  <a:pt x="95628" y="369924"/>
                  <a:pt x="93120" y="369924"/>
                  <a:pt x="90798" y="369461"/>
                </a:cubicBezTo>
                <a:lnTo>
                  <a:pt x="51788" y="355450"/>
                </a:lnTo>
                <a:cubicBezTo>
                  <a:pt x="45565" y="353131"/>
                  <a:pt x="42128" y="346265"/>
                  <a:pt x="44543" y="339584"/>
                </a:cubicBezTo>
                <a:cubicBezTo>
                  <a:pt x="46587" y="334296"/>
                  <a:pt x="51788" y="329935"/>
                  <a:pt x="59961" y="331976"/>
                </a:cubicBezTo>
                <a:close/>
                <a:moveTo>
                  <a:pt x="16346" y="316499"/>
                </a:moveTo>
                <a:lnTo>
                  <a:pt x="34730" y="322713"/>
                </a:lnTo>
                <a:cubicBezTo>
                  <a:pt x="40858" y="325031"/>
                  <a:pt x="44386" y="331801"/>
                  <a:pt x="41879" y="338478"/>
                </a:cubicBezTo>
                <a:cubicBezTo>
                  <a:pt x="39372" y="345155"/>
                  <a:pt x="32687" y="348494"/>
                  <a:pt x="25909" y="346175"/>
                </a:cubicBezTo>
                <a:lnTo>
                  <a:pt x="8175" y="339962"/>
                </a:lnTo>
                <a:cubicBezTo>
                  <a:pt x="2047" y="337643"/>
                  <a:pt x="-1481" y="330874"/>
                  <a:pt x="1026" y="324196"/>
                </a:cubicBezTo>
                <a:cubicBezTo>
                  <a:pt x="2976" y="318818"/>
                  <a:pt x="8454" y="314552"/>
                  <a:pt x="16346" y="316499"/>
                </a:cubicBezTo>
                <a:close/>
                <a:moveTo>
                  <a:pt x="417160" y="8"/>
                </a:moveTo>
                <a:cubicBezTo>
                  <a:pt x="438630" y="-166"/>
                  <a:pt x="459938" y="2384"/>
                  <a:pt x="480364" y="9382"/>
                </a:cubicBezTo>
                <a:cubicBezTo>
                  <a:pt x="544334" y="30981"/>
                  <a:pt x="591870" y="96240"/>
                  <a:pt x="603012" y="168267"/>
                </a:cubicBezTo>
                <a:cubicBezTo>
                  <a:pt x="614060" y="239829"/>
                  <a:pt x="591035" y="315286"/>
                  <a:pt x="548698" y="372110"/>
                </a:cubicBezTo>
                <a:cubicBezTo>
                  <a:pt x="538020" y="385551"/>
                  <a:pt x="526043" y="398065"/>
                  <a:pt x="518802" y="413917"/>
                </a:cubicBezTo>
                <a:cubicBezTo>
                  <a:pt x="499676" y="477879"/>
                  <a:pt x="500140" y="562326"/>
                  <a:pt x="507846" y="605987"/>
                </a:cubicBezTo>
                <a:lnTo>
                  <a:pt x="308230" y="605987"/>
                </a:lnTo>
                <a:cubicBezTo>
                  <a:pt x="310644" y="579012"/>
                  <a:pt x="309158" y="551666"/>
                  <a:pt x="302938" y="525711"/>
                </a:cubicBezTo>
                <a:cubicBezTo>
                  <a:pt x="299967" y="512733"/>
                  <a:pt x="295232" y="498828"/>
                  <a:pt x="285112" y="491134"/>
                </a:cubicBezTo>
                <a:cubicBezTo>
                  <a:pt x="269235" y="478620"/>
                  <a:pt x="247602" y="485943"/>
                  <a:pt x="228383" y="488817"/>
                </a:cubicBezTo>
                <a:cubicBezTo>
                  <a:pt x="209257" y="491598"/>
                  <a:pt x="183261" y="483440"/>
                  <a:pt x="182704" y="462305"/>
                </a:cubicBezTo>
                <a:cubicBezTo>
                  <a:pt x="181868" y="445527"/>
                  <a:pt x="198209" y="427265"/>
                  <a:pt x="188089" y="414751"/>
                </a:cubicBezTo>
                <a:cubicBezTo>
                  <a:pt x="184746" y="410394"/>
                  <a:pt x="178433" y="408540"/>
                  <a:pt x="176019" y="403257"/>
                </a:cubicBezTo>
                <a:cubicBezTo>
                  <a:pt x="170727" y="392132"/>
                  <a:pt x="185211" y="381658"/>
                  <a:pt x="187532" y="369143"/>
                </a:cubicBezTo>
                <a:cubicBezTo>
                  <a:pt x="192267" y="341241"/>
                  <a:pt x="139438" y="337348"/>
                  <a:pt x="139902" y="309538"/>
                </a:cubicBezTo>
                <a:cubicBezTo>
                  <a:pt x="139902" y="282285"/>
                  <a:pt x="199045" y="285344"/>
                  <a:pt x="199045" y="191441"/>
                </a:cubicBezTo>
                <a:cubicBezTo>
                  <a:pt x="201087" y="159275"/>
                  <a:pt x="200066" y="125626"/>
                  <a:pt x="212043" y="95869"/>
                </a:cubicBezTo>
                <a:cubicBezTo>
                  <a:pt x="235068" y="39602"/>
                  <a:pt x="297089" y="16613"/>
                  <a:pt x="352981" y="6972"/>
                </a:cubicBezTo>
                <a:cubicBezTo>
                  <a:pt x="374057" y="3079"/>
                  <a:pt x="395689" y="182"/>
                  <a:pt x="417160" y="8"/>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sz="20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3709" y="384910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4255" y="384937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55870"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现状</a:t>
            </a:r>
            <a:r>
              <a:rPr lang="zh-CN" altLang="en-US" sz="1200" dirty="0">
                <a:sym typeface="+mn-ea"/>
              </a:rPr>
              <a:t>挑战</a:t>
            </a:r>
            <a:endParaRPr lang="zh-CN" altLang="en-US" sz="1200" dirty="0">
              <a:sym typeface="+mn-ea"/>
            </a:endParaRPr>
          </a:p>
        </p:txBody>
      </p:sp>
      <p:sp>
        <p:nvSpPr>
          <p:cNvPr id="8" name="文本占位符 17"/>
          <p:cNvSpPr txBox="1"/>
          <p:nvPr>
            <p:custDataLst>
              <p:tags r:id="rId14"/>
            </p:custDataLst>
          </p:nvPr>
        </p:nvSpPr>
        <p:spPr>
          <a:xfrm>
            <a:off x="4471670" y="453961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55870"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数据管理体系建设</a:t>
            </a:r>
            <a:r>
              <a:rPr lang="zh-CN" altLang="en-US" sz="1200" dirty="0">
                <a:sym typeface="+mn-ea"/>
              </a:rPr>
              <a:t>方案</a:t>
            </a:r>
            <a:endParaRPr lang="zh-CN" altLang="en-US" sz="1200" dirty="0">
              <a:sym typeface="+mn-ea"/>
            </a:endParaRPr>
          </a:p>
        </p:txBody>
      </p:sp>
      <p:sp>
        <p:nvSpPr>
          <p:cNvPr id="23" name="文本占位符 17"/>
          <p:cNvSpPr txBox="1"/>
          <p:nvPr>
            <p:custDataLst>
              <p:tags r:id="rId16"/>
            </p:custDataLst>
          </p:nvPr>
        </p:nvSpPr>
        <p:spPr>
          <a:xfrm>
            <a:off x="4471670" y="494030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8376285" y="4539615"/>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总体</a:t>
            </a:r>
            <a:r>
              <a:rPr lang="zh-CN" altLang="en-US" sz="1200" dirty="0">
                <a:sym typeface="+mn-ea"/>
              </a:rPr>
              <a:t>方案</a:t>
            </a:r>
            <a:endParaRPr lang="zh-CN" altLang="en-US" sz="1200" dirty="0">
              <a:sym typeface="+mn-ea"/>
            </a:endParaRPr>
          </a:p>
        </p:txBody>
      </p:sp>
      <p:sp>
        <p:nvSpPr>
          <p:cNvPr id="28" name="文本占位符 17"/>
          <p:cNvSpPr txBox="1"/>
          <p:nvPr>
            <p:custDataLst>
              <p:tags r:id="rId18"/>
            </p:custDataLst>
          </p:nvPr>
        </p:nvSpPr>
        <p:spPr>
          <a:xfrm>
            <a:off x="7792085" y="4539615"/>
            <a:ext cx="506730"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5</a:t>
            </a:r>
            <a:r>
              <a:rPr lang="zh-CN" altLang="en-US" sz="1200" dirty="0">
                <a:sym typeface="+mn-ea"/>
              </a:rPr>
              <a:t>.</a:t>
            </a:r>
            <a:r>
              <a:rPr lang="zh-CN" altLang="en-US" sz="1200" dirty="0">
                <a:sym typeface="+mn-ea"/>
              </a:rPr>
              <a:t>2</a:t>
            </a:r>
            <a:endParaRPr lang="zh-CN" altLang="en-US" sz="1200" dirty="0">
              <a:sym typeface="+mn-ea"/>
            </a:endParaRPr>
          </a:p>
        </p:txBody>
      </p:sp>
      <p:sp>
        <p:nvSpPr>
          <p:cNvPr id="31" name="文本占位符 17"/>
          <p:cNvSpPr txBox="1"/>
          <p:nvPr>
            <p:custDataLst>
              <p:tags r:id="rId19"/>
            </p:custDataLst>
          </p:nvPr>
        </p:nvSpPr>
        <p:spPr>
          <a:xfrm>
            <a:off x="8376285"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场景应用</a:t>
            </a:r>
            <a:r>
              <a:rPr lang="zh-CN" altLang="en-US" sz="1200" dirty="0">
                <a:sym typeface="+mn-ea"/>
              </a:rPr>
              <a:t>方案</a:t>
            </a:r>
            <a:endParaRPr lang="zh-CN" altLang="en-US" sz="1200" dirty="0">
              <a:sym typeface="+mn-ea"/>
            </a:endParaRPr>
          </a:p>
        </p:txBody>
      </p:sp>
      <p:sp>
        <p:nvSpPr>
          <p:cNvPr id="32" name="文本占位符 17"/>
          <p:cNvSpPr txBox="1"/>
          <p:nvPr>
            <p:custDataLst>
              <p:tags r:id="rId20"/>
            </p:custDataLst>
          </p:nvPr>
        </p:nvSpPr>
        <p:spPr>
          <a:xfrm>
            <a:off x="7792085" y="4940300"/>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5</a:t>
            </a:r>
            <a:r>
              <a:rPr lang="zh-CN" altLang="en-US" sz="1200" dirty="0">
                <a:sym typeface="+mn-ea"/>
              </a:rPr>
              <a:t>.</a:t>
            </a:r>
            <a:r>
              <a:rPr lang="en-US" altLang="zh-CN" sz="1200" dirty="0">
                <a:sym typeface="+mn-ea"/>
              </a:rPr>
              <a:t>4</a:t>
            </a:r>
            <a:endParaRPr lang="en-US" altLang="zh-CN" sz="1200" dirty="0">
              <a:sym typeface="+mn-ea"/>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数据治理整体</a:t>
            </a:r>
            <a:r>
              <a:rPr lang="zh-CN" altLang="en-US"/>
              <a:t>方案</a:t>
            </a:r>
            <a:endParaRPr lang="zh-CN" altLang="en-US"/>
          </a:p>
        </p:txBody>
      </p:sp>
      <p:sp>
        <p:nvSpPr>
          <p:cNvPr id="36" name="任意多边形: 形状 21"/>
          <p:cNvSpPr/>
          <p:nvPr>
            <p:custDataLst>
              <p:tags r:id="rId2"/>
            </p:custDataLst>
          </p:nvPr>
        </p:nvSpPr>
        <p:spPr>
          <a:xfrm>
            <a:off x="858717" y="3276980"/>
            <a:ext cx="10123652" cy="2006542"/>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noFill/>
          <a:ln w="15875">
            <a:gradFill>
              <a:gsLst>
                <a:gs pos="0">
                  <a:schemeClr val="accent1">
                    <a:lumMod val="40000"/>
                    <a:lumOff val="60000"/>
                    <a:alpha val="100000"/>
                  </a:schemeClr>
                </a:gs>
                <a:gs pos="92000">
                  <a:schemeClr val="accent1">
                    <a:alpha val="0"/>
                  </a:schemeClr>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2" name="椭圆 102"/>
          <p:cNvSpPr/>
          <p:nvPr>
            <p:custDataLst>
              <p:tags r:id="rId3"/>
            </p:custDataLst>
          </p:nvPr>
        </p:nvSpPr>
        <p:spPr>
          <a:xfrm>
            <a:off x="3431325" y="3506235"/>
            <a:ext cx="146398" cy="146398"/>
          </a:xfrm>
          <a:prstGeom prst="ellipse">
            <a:avLst/>
          </a:prstGeom>
          <a:solidFill>
            <a:srgbClr val="FFFFFF"/>
          </a:solidFill>
          <a:ln w="3175">
            <a:solidFill>
              <a:schemeClr val="accent1"/>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3" name="椭圆 103"/>
          <p:cNvSpPr/>
          <p:nvPr>
            <p:custDataLst>
              <p:tags r:id="rId4"/>
            </p:custDataLst>
          </p:nvPr>
        </p:nvSpPr>
        <p:spPr>
          <a:xfrm>
            <a:off x="3459267" y="3534177"/>
            <a:ext cx="90453" cy="90453"/>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4" name="矩形 1"/>
          <p:cNvSpPr/>
          <p:nvPr>
            <p:custDataLst>
              <p:tags r:id="rId5"/>
            </p:custDataLst>
          </p:nvPr>
        </p:nvSpPr>
        <p:spPr>
          <a:xfrm>
            <a:off x="1608717" y="2213898"/>
            <a:ext cx="3792548" cy="663632"/>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000" dirty="0">
                <a:solidFill>
                  <a:schemeClr val="tx1">
                    <a:lumMod val="85000"/>
                    <a:lumOff val="15000"/>
                  </a:schemeClr>
                </a:solidFill>
                <a:latin typeface="+mn-ea"/>
                <a:cs typeface="+mn-ea"/>
                <a:sym typeface="+mn-ea"/>
              </a:rPr>
              <a:t>组织、标准、制度、流程</a:t>
            </a:r>
            <a:endParaRPr lang="zh-CN" altLang="en-US" sz="2000" dirty="0">
              <a:solidFill>
                <a:schemeClr val="tx1">
                  <a:lumMod val="85000"/>
                  <a:lumOff val="15000"/>
                </a:schemeClr>
              </a:solidFill>
              <a:latin typeface="+mn-ea"/>
              <a:cs typeface="+mn-ea"/>
              <a:sym typeface="+mn-ea"/>
            </a:endParaRPr>
          </a:p>
        </p:txBody>
      </p:sp>
      <p:sp>
        <p:nvSpPr>
          <p:cNvPr id="35" name="矩形 2"/>
          <p:cNvSpPr/>
          <p:nvPr>
            <p:custDataLst>
              <p:tags r:id="rId6"/>
            </p:custDataLst>
          </p:nvPr>
        </p:nvSpPr>
        <p:spPr>
          <a:xfrm>
            <a:off x="1608082" y="1572493"/>
            <a:ext cx="3793818" cy="521380"/>
          </a:xfrm>
          <a:prstGeom prst="rect">
            <a:avLst/>
          </a:prstGeom>
          <a:noFill/>
        </p:spPr>
        <p:txBody>
          <a:bodyPr wrap="square" lIns="0" tIns="0" rIns="0" bIns="0" rtlCol="0" anchor="b">
            <a:noAutofit/>
          </a:bodyPr>
          <a:p>
            <a:pPr algn="ctr">
              <a:spcBef>
                <a:spcPct val="0"/>
              </a:spcBef>
              <a:spcAft>
                <a:spcPct val="0"/>
              </a:spcAft>
            </a:pPr>
            <a:r>
              <a:rPr lang="zh-CN" altLang="en-US" sz="2800" b="1">
                <a:solidFill>
                  <a:schemeClr val="accent1"/>
                </a:solidFill>
                <a:latin typeface="+mn-ea"/>
                <a:cs typeface="+mn-ea"/>
                <a:sym typeface="+mn-ea"/>
              </a:rPr>
              <a:t>体系建设</a:t>
            </a:r>
            <a:endParaRPr lang="zh-CN" altLang="en-US" sz="2800" b="1">
              <a:solidFill>
                <a:schemeClr val="accent1"/>
              </a:solidFill>
              <a:latin typeface="+mn-ea"/>
              <a:cs typeface="+mn-ea"/>
              <a:sym typeface="+mn-ea"/>
            </a:endParaRPr>
          </a:p>
        </p:txBody>
      </p:sp>
      <p:cxnSp>
        <p:nvCxnSpPr>
          <p:cNvPr id="38" name="直接连接符 99"/>
          <p:cNvCxnSpPr/>
          <p:nvPr>
            <p:custDataLst>
              <p:tags r:id="rId7"/>
            </p:custDataLst>
          </p:nvPr>
        </p:nvCxnSpPr>
        <p:spPr>
          <a:xfrm flipV="1">
            <a:off x="3505626" y="2856574"/>
            <a:ext cx="0" cy="649310"/>
          </a:xfrm>
          <a:prstGeom prst="line">
            <a:avLst/>
          </a:prstGeom>
          <a:noFill/>
          <a:ln>
            <a:gradFill flip="none" rotWithShape="1">
              <a:gsLst>
                <a:gs pos="0">
                  <a:schemeClr val="accent1">
                    <a:alpha val="0"/>
                  </a:schemeClr>
                </a:gs>
                <a:gs pos="100000">
                  <a:schemeClr val="accent1">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39" name="椭圆 110"/>
          <p:cNvSpPr/>
          <p:nvPr>
            <p:custDataLst>
              <p:tags r:id="rId8"/>
            </p:custDataLst>
          </p:nvPr>
        </p:nvSpPr>
        <p:spPr>
          <a:xfrm>
            <a:off x="8404440" y="3534177"/>
            <a:ext cx="146398" cy="146398"/>
          </a:xfrm>
          <a:prstGeom prst="ellipse">
            <a:avLst/>
          </a:prstGeom>
          <a:solidFill>
            <a:srgbClr val="FFFFFF"/>
          </a:solidFill>
          <a:ln w="3175">
            <a:solidFill>
              <a:schemeClr val="accent2"/>
            </a:solidFill>
          </a:ln>
          <a:effectLst>
            <a:outerShdw blurRad="63500" sx="102000" sy="102000" algn="ctr"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0" name="椭圆 111"/>
          <p:cNvSpPr/>
          <p:nvPr>
            <p:custDataLst>
              <p:tags r:id="rId9"/>
            </p:custDataLst>
          </p:nvPr>
        </p:nvSpPr>
        <p:spPr>
          <a:xfrm>
            <a:off x="8432382" y="3562120"/>
            <a:ext cx="90453" cy="90453"/>
          </a:xfrm>
          <a:prstGeom prst="ellipse">
            <a:avLst/>
          </a:prstGeom>
          <a:gradFill>
            <a:gsLst>
              <a:gs pos="1000">
                <a:schemeClr val="accent2">
                  <a:lumMod val="75000"/>
                  <a:alpha val="100000"/>
                </a:schemeClr>
              </a:gs>
              <a:gs pos="100000">
                <a:schemeClr val="accent2">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1" name="矩形 8"/>
          <p:cNvSpPr/>
          <p:nvPr>
            <p:custDataLst>
              <p:tags r:id="rId10"/>
            </p:custDataLst>
          </p:nvPr>
        </p:nvSpPr>
        <p:spPr>
          <a:xfrm>
            <a:off x="6581832" y="1600435"/>
            <a:ext cx="3792548" cy="521380"/>
          </a:xfrm>
          <a:prstGeom prst="rect">
            <a:avLst/>
          </a:prstGeom>
          <a:noFill/>
        </p:spPr>
        <p:txBody>
          <a:bodyPr wrap="square" lIns="0" tIns="0" rIns="0" bIns="0" rtlCol="0" anchor="b">
            <a:noAutofit/>
            <a:scene3d>
              <a:camera prst="orthographicFront"/>
              <a:lightRig rig="threePt" dir="t"/>
            </a:scene3d>
          </a:bodyPr>
          <a:p>
            <a:pPr algn="ctr">
              <a:spcBef>
                <a:spcPct val="0"/>
              </a:spcBef>
              <a:spcAft>
                <a:spcPct val="0"/>
              </a:spcAft>
            </a:pPr>
            <a:r>
              <a:rPr lang="zh-CN" altLang="en-US" sz="2800" b="1">
                <a:solidFill>
                  <a:schemeClr val="accent1"/>
                </a:solidFill>
                <a:effectLst>
                  <a:outerShdw blurRad="38100" dist="25400" dir="5400000" algn="ctr" rotWithShape="0">
                    <a:srgbClr val="6E747A">
                      <a:alpha val="43000"/>
                    </a:srgbClr>
                  </a:outerShdw>
                </a:effectLst>
                <a:latin typeface="+mn-ea"/>
                <a:cs typeface="+mn-ea"/>
                <a:sym typeface="+mn-ea"/>
              </a:rPr>
              <a:t>场景应用</a:t>
            </a:r>
            <a:endParaRPr lang="zh-CN" altLang="en-US" sz="2800" b="1">
              <a:solidFill>
                <a:schemeClr val="accent1"/>
              </a:solidFill>
              <a:effectLst>
                <a:outerShdw blurRad="38100" dist="25400" dir="5400000" algn="ctr" rotWithShape="0">
                  <a:srgbClr val="6E747A">
                    <a:alpha val="43000"/>
                  </a:srgbClr>
                </a:outerShdw>
              </a:effectLst>
              <a:latin typeface="+mn-ea"/>
              <a:cs typeface="+mn-ea"/>
              <a:sym typeface="+mn-ea"/>
            </a:endParaRPr>
          </a:p>
        </p:txBody>
      </p:sp>
      <p:cxnSp>
        <p:nvCxnSpPr>
          <p:cNvPr id="42" name="直接连接符 107"/>
          <p:cNvCxnSpPr/>
          <p:nvPr>
            <p:custDataLst>
              <p:tags r:id="rId11"/>
            </p:custDataLst>
          </p:nvPr>
        </p:nvCxnSpPr>
        <p:spPr>
          <a:xfrm flipV="1">
            <a:off x="8478741" y="2884516"/>
            <a:ext cx="0" cy="649310"/>
          </a:xfrm>
          <a:prstGeom prst="line">
            <a:avLst/>
          </a:prstGeom>
          <a:noFill/>
          <a:ln>
            <a:gradFill flip="none" rotWithShape="1">
              <a:gsLst>
                <a:gs pos="0">
                  <a:schemeClr val="accent2">
                    <a:alpha val="0"/>
                  </a:schemeClr>
                </a:gs>
                <a:gs pos="100000">
                  <a:schemeClr val="accent2">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43" name="任意多边形: 形状 17"/>
          <p:cNvSpPr/>
          <p:nvPr>
            <p:custDataLst>
              <p:tags r:id="rId12"/>
            </p:custDataLst>
          </p:nvPr>
        </p:nvSpPr>
        <p:spPr>
          <a:xfrm>
            <a:off x="995889" y="3493534"/>
            <a:ext cx="9849340" cy="2006542"/>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gradFill>
            <a:gsLst>
              <a:gs pos="0">
                <a:schemeClr val="accent1">
                  <a:alpha val="15000"/>
                </a:schemeClr>
              </a:gs>
              <a:gs pos="100000">
                <a:schemeClr val="accent1">
                  <a:alpha val="0"/>
                </a:schemeClr>
              </a:gs>
            </a:gsLst>
            <a:lin ang="5400000" scaled="1"/>
          </a:gradFill>
          <a:ln>
            <a:gradFill>
              <a:gsLst>
                <a:gs pos="0">
                  <a:schemeClr val="accent1">
                    <a:alpha val="100000"/>
                  </a:schemeClr>
                </a:gs>
                <a:gs pos="87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4" name="任意多边形: 形状 4"/>
          <p:cNvSpPr/>
          <p:nvPr>
            <p:custDataLst>
              <p:tags r:id="rId13"/>
            </p:custDataLst>
          </p:nvPr>
        </p:nvSpPr>
        <p:spPr>
          <a:xfrm>
            <a:off x="5541612" y="4798572"/>
            <a:ext cx="808417" cy="409251"/>
          </a:xfrm>
          <a:custGeom>
            <a:avLst/>
            <a:gdLst>
              <a:gd name="connsiteX0" fmla="*/ 1450658 w 1450657"/>
              <a:gd name="connsiteY0" fmla="*/ 523875 h 734377"/>
              <a:gd name="connsiteX1" fmla="*/ 161925 w 1450657"/>
              <a:gd name="connsiteY1" fmla="*/ 734377 h 734377"/>
              <a:gd name="connsiteX2" fmla="*/ 0 w 1450657"/>
              <a:gd name="connsiteY2" fmla="*/ 0 h 734377"/>
            </a:gdLst>
            <a:ahLst/>
            <a:cxnLst>
              <a:cxn ang="0">
                <a:pos x="connsiteX0" y="connsiteY0"/>
              </a:cxn>
              <a:cxn ang="0">
                <a:pos x="connsiteX1" y="connsiteY1"/>
              </a:cxn>
              <a:cxn ang="0">
                <a:pos x="connsiteX2" y="connsiteY2"/>
              </a:cxn>
            </a:cxnLst>
            <a:rect l="l" t="t" r="r" b="b"/>
            <a:pathLst>
              <a:path w="1450657" h="734377">
                <a:moveTo>
                  <a:pt x="1450658" y="523875"/>
                </a:moveTo>
                <a:lnTo>
                  <a:pt x="161925" y="734377"/>
                </a:lnTo>
                <a:lnTo>
                  <a:pt x="0" y="0"/>
                </a:lnTo>
                <a:close/>
              </a:path>
            </a:pathLst>
          </a:custGeom>
          <a:gradFill>
            <a:gsLst>
              <a:gs pos="1000">
                <a:schemeClr val="accent1">
                  <a:lumMod val="78000"/>
                  <a:lumOff val="22000"/>
                  <a:alpha val="100000"/>
                </a:schemeClr>
              </a:gs>
              <a:gs pos="78000">
                <a:schemeClr val="accent1">
                  <a:lumMod val="91000"/>
                  <a:alpha val="100000"/>
                </a:schemeClr>
              </a:gs>
            </a:gsLst>
            <a:lin ang="16200000" scaled="0"/>
          </a:gradFill>
          <a:ln w="483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45" name="任意多边形: 形状 5"/>
          <p:cNvSpPr/>
          <p:nvPr>
            <p:custDataLst>
              <p:tags r:id="rId14"/>
            </p:custDataLst>
          </p:nvPr>
        </p:nvSpPr>
        <p:spPr>
          <a:xfrm>
            <a:off x="5102154" y="4526133"/>
            <a:ext cx="529745" cy="681555"/>
          </a:xfrm>
          <a:custGeom>
            <a:avLst/>
            <a:gdLst>
              <a:gd name="connsiteX0" fmla="*/ 0 w 950595"/>
              <a:gd name="connsiteY0" fmla="*/ 0 h 1223009"/>
              <a:gd name="connsiteX1" fmla="*/ 788670 w 950595"/>
              <a:gd name="connsiteY1" fmla="*/ 488633 h 1223009"/>
              <a:gd name="connsiteX2" fmla="*/ 950595 w 950595"/>
              <a:gd name="connsiteY2" fmla="*/ 1223010 h 1223009"/>
            </a:gdLst>
            <a:ahLst/>
            <a:cxnLst>
              <a:cxn ang="0">
                <a:pos x="connsiteX0" y="connsiteY0"/>
              </a:cxn>
              <a:cxn ang="0">
                <a:pos x="connsiteX1" y="connsiteY1"/>
              </a:cxn>
              <a:cxn ang="0">
                <a:pos x="connsiteX2" y="connsiteY2"/>
              </a:cxn>
            </a:cxnLst>
            <a:rect l="l" t="t" r="r" b="b"/>
            <a:pathLst>
              <a:path w="950595" h="1223009">
                <a:moveTo>
                  <a:pt x="0" y="0"/>
                </a:moveTo>
                <a:lnTo>
                  <a:pt x="788670" y="488633"/>
                </a:lnTo>
                <a:lnTo>
                  <a:pt x="950595" y="1223010"/>
                </a:lnTo>
                <a:close/>
              </a:path>
            </a:pathLst>
          </a:custGeom>
          <a:gradFill>
            <a:gsLst>
              <a:gs pos="19000">
                <a:schemeClr val="accent1">
                  <a:lumMod val="60000"/>
                  <a:lumOff val="40000"/>
                  <a:alpha val="100000"/>
                </a:schemeClr>
              </a:gs>
              <a:gs pos="92000">
                <a:schemeClr val="accent1">
                  <a:alpha val="100000"/>
                </a:schemeClr>
              </a:gs>
            </a:gsLst>
            <a:lin ang="0" scaled="0"/>
          </a:gradFill>
          <a:ln w="483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46" name="任意多边形: 形状 6"/>
          <p:cNvSpPr/>
          <p:nvPr>
            <p:custDataLst>
              <p:tags r:id="rId15"/>
            </p:custDataLst>
          </p:nvPr>
        </p:nvSpPr>
        <p:spPr>
          <a:xfrm>
            <a:off x="5102154" y="3894889"/>
            <a:ext cx="439507" cy="903431"/>
          </a:xfrm>
          <a:custGeom>
            <a:avLst/>
            <a:gdLst>
              <a:gd name="connsiteX0" fmla="*/ 0 w 788670"/>
              <a:gd name="connsiteY0" fmla="*/ 1132523 h 1621155"/>
              <a:gd name="connsiteX1" fmla="*/ 619125 w 788670"/>
              <a:gd name="connsiteY1" fmla="*/ 0 h 1621155"/>
              <a:gd name="connsiteX2" fmla="*/ 788670 w 788670"/>
              <a:gd name="connsiteY2" fmla="*/ 1621155 h 1621155"/>
            </a:gdLst>
            <a:ahLst/>
            <a:cxnLst>
              <a:cxn ang="0">
                <a:pos x="connsiteX0" y="connsiteY0"/>
              </a:cxn>
              <a:cxn ang="0">
                <a:pos x="connsiteX1" y="connsiteY1"/>
              </a:cxn>
              <a:cxn ang="0">
                <a:pos x="connsiteX2" y="connsiteY2"/>
              </a:cxn>
            </a:cxnLst>
            <a:rect l="l" t="t" r="r" b="b"/>
            <a:pathLst>
              <a:path w="788670" h="1621155">
                <a:moveTo>
                  <a:pt x="0" y="1132523"/>
                </a:moveTo>
                <a:lnTo>
                  <a:pt x="619125" y="0"/>
                </a:lnTo>
                <a:lnTo>
                  <a:pt x="788670" y="1621155"/>
                </a:lnTo>
                <a:close/>
              </a:path>
            </a:pathLst>
          </a:custGeom>
          <a:gradFill>
            <a:gsLst>
              <a:gs pos="0">
                <a:schemeClr val="accent1">
                  <a:lumMod val="50000"/>
                  <a:lumOff val="50000"/>
                  <a:alpha val="100000"/>
                </a:schemeClr>
              </a:gs>
              <a:gs pos="100000">
                <a:schemeClr val="accent1">
                  <a:lumMod val="86000"/>
                  <a:lumOff val="14000"/>
                  <a:alpha val="100000"/>
                </a:schemeClr>
              </a:gs>
            </a:gsLst>
            <a:lin ang="600000" scaled="0"/>
          </a:gradFill>
          <a:ln w="48331" cap="flat">
            <a:noFill/>
            <a:prstDash val="solid"/>
            <a:miter/>
          </a:ln>
        </p:spPr>
        <p:txBody>
          <a:bodyPr rtlCol="0" anchor="ctr"/>
          <a:p>
            <a:endParaRPr lang="zh-CN" altLang="en-US">
              <a:solidFill>
                <a:schemeClr val="tx1"/>
              </a:solidFill>
            </a:endParaRPr>
          </a:p>
        </p:txBody>
      </p:sp>
      <p:sp>
        <p:nvSpPr>
          <p:cNvPr id="47" name="任意多边形: 形状 7"/>
          <p:cNvSpPr/>
          <p:nvPr>
            <p:custDataLst>
              <p:tags r:id="rId16"/>
            </p:custDataLst>
          </p:nvPr>
        </p:nvSpPr>
        <p:spPr>
          <a:xfrm>
            <a:off x="5541612" y="4227657"/>
            <a:ext cx="808417" cy="862560"/>
          </a:xfrm>
          <a:custGeom>
            <a:avLst/>
            <a:gdLst>
              <a:gd name="connsiteX0" fmla="*/ 1385888 w 1450657"/>
              <a:gd name="connsiteY0" fmla="*/ 0 h 1547812"/>
              <a:gd name="connsiteX1" fmla="*/ 1450658 w 1450657"/>
              <a:gd name="connsiteY1" fmla="*/ 1547812 h 1547812"/>
              <a:gd name="connsiteX2" fmla="*/ 0 w 1450657"/>
              <a:gd name="connsiteY2" fmla="*/ 1023938 h 1547812"/>
            </a:gdLst>
            <a:ahLst/>
            <a:cxnLst>
              <a:cxn ang="0">
                <a:pos x="connsiteX0" y="connsiteY0"/>
              </a:cxn>
              <a:cxn ang="0">
                <a:pos x="connsiteX1" y="connsiteY1"/>
              </a:cxn>
              <a:cxn ang="0">
                <a:pos x="connsiteX2" y="connsiteY2"/>
              </a:cxn>
            </a:cxnLst>
            <a:rect l="l" t="t" r="r" b="b"/>
            <a:pathLst>
              <a:path w="1450657" h="1547812">
                <a:moveTo>
                  <a:pt x="1385888" y="0"/>
                </a:moveTo>
                <a:lnTo>
                  <a:pt x="1450658" y="1547812"/>
                </a:lnTo>
                <a:lnTo>
                  <a:pt x="0" y="1023938"/>
                </a:lnTo>
                <a:close/>
              </a:path>
            </a:pathLst>
          </a:custGeom>
          <a:gradFill flip="none" rotWithShape="1">
            <a:gsLst>
              <a:gs pos="36000">
                <a:schemeClr val="accent1">
                  <a:lumMod val="75000"/>
                  <a:alpha val="100000"/>
                </a:schemeClr>
              </a:gs>
              <a:gs pos="100000">
                <a:schemeClr val="accent1">
                  <a:lumMod val="70000"/>
                  <a:lumOff val="30000"/>
                  <a:alpha val="100000"/>
                </a:schemeClr>
              </a:gs>
            </a:gsLst>
            <a:lin ang="1800000" scaled="0"/>
            <a:tileRect/>
          </a:gradFill>
          <a:ln w="48331" cap="flat">
            <a:noFill/>
            <a:prstDash val="solid"/>
            <a:miter/>
          </a:ln>
        </p:spPr>
        <p:txBody>
          <a:bodyPr rtlCol="0" anchor="ctr"/>
          <a:p>
            <a:endParaRPr lang="zh-CN" altLang="en-US">
              <a:solidFill>
                <a:schemeClr val="tx1"/>
              </a:solidFill>
            </a:endParaRPr>
          </a:p>
        </p:txBody>
      </p:sp>
      <p:sp>
        <p:nvSpPr>
          <p:cNvPr id="48" name="任意多边形: 形状 9"/>
          <p:cNvSpPr/>
          <p:nvPr>
            <p:custDataLst>
              <p:tags r:id="rId17"/>
            </p:custDataLst>
          </p:nvPr>
        </p:nvSpPr>
        <p:spPr>
          <a:xfrm>
            <a:off x="6230647" y="3687226"/>
            <a:ext cx="513819" cy="702787"/>
          </a:xfrm>
          <a:custGeom>
            <a:avLst/>
            <a:gdLst>
              <a:gd name="connsiteX0" fmla="*/ 149542 w 922019"/>
              <a:gd name="connsiteY0" fmla="*/ 969645 h 1261109"/>
              <a:gd name="connsiteX1" fmla="*/ 0 w 922019"/>
              <a:gd name="connsiteY1" fmla="*/ 0 h 1261109"/>
              <a:gd name="connsiteX2" fmla="*/ 922020 w 922019"/>
              <a:gd name="connsiteY2" fmla="*/ 1261110 h 1261109"/>
            </a:gdLst>
            <a:ahLst/>
            <a:cxnLst>
              <a:cxn ang="0">
                <a:pos x="connsiteX0" y="connsiteY0"/>
              </a:cxn>
              <a:cxn ang="0">
                <a:pos x="connsiteX1" y="connsiteY1"/>
              </a:cxn>
              <a:cxn ang="0">
                <a:pos x="connsiteX2" y="connsiteY2"/>
              </a:cxn>
            </a:cxnLst>
            <a:rect l="l" t="t" r="r" b="b"/>
            <a:pathLst>
              <a:path w="922019" h="1261109">
                <a:moveTo>
                  <a:pt x="149542" y="969645"/>
                </a:moveTo>
                <a:lnTo>
                  <a:pt x="0" y="0"/>
                </a:lnTo>
                <a:lnTo>
                  <a:pt x="922020" y="1261110"/>
                </a:lnTo>
                <a:close/>
              </a:path>
            </a:pathLst>
          </a:custGeom>
          <a:gradFill>
            <a:gsLst>
              <a:gs pos="1000">
                <a:schemeClr val="accent1">
                  <a:lumMod val="60000"/>
                  <a:lumOff val="40000"/>
                  <a:alpha val="100000"/>
                </a:schemeClr>
              </a:gs>
              <a:gs pos="92000">
                <a:schemeClr val="accent1">
                  <a:alpha val="100000"/>
                </a:schemeClr>
              </a:gs>
            </a:gsLst>
            <a:lin ang="9600000" scaled="0"/>
          </a:gradFill>
          <a:ln w="48331" cap="flat">
            <a:noFill/>
            <a:prstDash val="solid"/>
            <a:miter/>
          </a:ln>
        </p:spPr>
        <p:txBody>
          <a:bodyPr rtlCol="0" anchor="ctr"/>
          <a:p>
            <a:endParaRPr lang="zh-CN" altLang="en-US">
              <a:solidFill>
                <a:schemeClr val="tx1"/>
              </a:solidFill>
            </a:endParaRPr>
          </a:p>
        </p:txBody>
      </p:sp>
      <p:sp>
        <p:nvSpPr>
          <p:cNvPr id="49" name="任意多边形: 形状 10"/>
          <p:cNvSpPr/>
          <p:nvPr>
            <p:custDataLst>
              <p:tags r:id="rId18"/>
            </p:custDataLst>
          </p:nvPr>
        </p:nvSpPr>
        <p:spPr>
          <a:xfrm>
            <a:off x="6313839" y="4227657"/>
            <a:ext cx="430483" cy="862560"/>
          </a:xfrm>
          <a:custGeom>
            <a:avLst/>
            <a:gdLst>
              <a:gd name="connsiteX0" fmla="*/ 0 w 772477"/>
              <a:gd name="connsiteY0" fmla="*/ 0 h 1547812"/>
              <a:gd name="connsiteX1" fmla="*/ 772477 w 772477"/>
              <a:gd name="connsiteY1" fmla="*/ 291465 h 1547812"/>
              <a:gd name="connsiteX2" fmla="*/ 64770 w 772477"/>
              <a:gd name="connsiteY2" fmla="*/ 1547812 h 1547812"/>
            </a:gdLst>
            <a:ahLst/>
            <a:cxnLst>
              <a:cxn ang="0">
                <a:pos x="connsiteX0" y="connsiteY0"/>
              </a:cxn>
              <a:cxn ang="0">
                <a:pos x="connsiteX1" y="connsiteY1"/>
              </a:cxn>
              <a:cxn ang="0">
                <a:pos x="connsiteX2" y="connsiteY2"/>
              </a:cxn>
            </a:cxnLst>
            <a:rect l="l" t="t" r="r" b="b"/>
            <a:pathLst>
              <a:path w="772477" h="1547812">
                <a:moveTo>
                  <a:pt x="0" y="0"/>
                </a:moveTo>
                <a:lnTo>
                  <a:pt x="772477" y="291465"/>
                </a:lnTo>
                <a:lnTo>
                  <a:pt x="64770" y="1547812"/>
                </a:lnTo>
                <a:close/>
              </a:path>
            </a:pathLst>
          </a:custGeom>
          <a:gradFill>
            <a:gsLst>
              <a:gs pos="28000">
                <a:schemeClr val="accent1">
                  <a:lumMod val="75000"/>
                  <a:alpha val="100000"/>
                </a:schemeClr>
              </a:gs>
              <a:gs pos="100000">
                <a:schemeClr val="accent1">
                  <a:lumMod val="70000"/>
                  <a:lumOff val="30000"/>
                  <a:alpha val="100000"/>
                </a:schemeClr>
              </a:gs>
            </a:gsLst>
            <a:lin ang="21594000" scaled="0"/>
          </a:gradFill>
          <a:ln w="48331" cap="flat">
            <a:noFill/>
            <a:prstDash val="solid"/>
            <a:miter/>
          </a:ln>
        </p:spPr>
        <p:txBody>
          <a:bodyPr rtlCol="0" anchor="ctr"/>
          <a:p>
            <a:endParaRPr lang="zh-CN" altLang="en-US">
              <a:solidFill>
                <a:schemeClr val="tx1"/>
              </a:solidFill>
            </a:endParaRPr>
          </a:p>
        </p:txBody>
      </p:sp>
      <p:sp>
        <p:nvSpPr>
          <p:cNvPr id="50" name="任意多边形: 形状 11"/>
          <p:cNvSpPr/>
          <p:nvPr>
            <p:custDataLst>
              <p:tags r:id="rId19"/>
            </p:custDataLst>
          </p:nvPr>
        </p:nvSpPr>
        <p:spPr>
          <a:xfrm>
            <a:off x="5446989" y="3687226"/>
            <a:ext cx="866805" cy="540361"/>
          </a:xfrm>
          <a:custGeom>
            <a:avLst/>
            <a:gdLst>
              <a:gd name="connsiteX0" fmla="*/ 0 w 1555432"/>
              <a:gd name="connsiteY0" fmla="*/ 372428 h 969645"/>
              <a:gd name="connsiteX1" fmla="*/ 1405890 w 1555432"/>
              <a:gd name="connsiteY1" fmla="*/ 0 h 969645"/>
              <a:gd name="connsiteX2" fmla="*/ 1555433 w 1555432"/>
              <a:gd name="connsiteY2" fmla="*/ 969645 h 969645"/>
            </a:gdLst>
            <a:ahLst/>
            <a:cxnLst>
              <a:cxn ang="0">
                <a:pos x="connsiteX0" y="connsiteY0"/>
              </a:cxn>
              <a:cxn ang="0">
                <a:pos x="connsiteX1" y="connsiteY1"/>
              </a:cxn>
              <a:cxn ang="0">
                <a:pos x="connsiteX2" y="connsiteY2"/>
              </a:cxn>
            </a:cxnLst>
            <a:rect l="l" t="t" r="r" b="b"/>
            <a:pathLst>
              <a:path w="1555432" h="969645">
                <a:moveTo>
                  <a:pt x="0" y="372428"/>
                </a:moveTo>
                <a:lnTo>
                  <a:pt x="1405890" y="0"/>
                </a:lnTo>
                <a:lnTo>
                  <a:pt x="1555433" y="969645"/>
                </a:lnTo>
                <a:close/>
              </a:path>
            </a:pathLst>
          </a:custGeom>
          <a:gradFill flip="none" rotWithShape="1">
            <a:gsLst>
              <a:gs pos="0">
                <a:schemeClr val="accent1">
                  <a:lumMod val="55000"/>
                  <a:lumOff val="45000"/>
                  <a:alpha val="100000"/>
                </a:schemeClr>
              </a:gs>
              <a:gs pos="100000">
                <a:schemeClr val="accent1">
                  <a:alpha val="100000"/>
                </a:schemeClr>
              </a:gs>
            </a:gsLst>
            <a:lin ang="7200000" scaled="0"/>
            <a:tileRect/>
          </a:gradFill>
          <a:ln w="48331" cap="flat">
            <a:noFill/>
            <a:prstDash val="solid"/>
            <a:miter/>
          </a:ln>
        </p:spPr>
        <p:txBody>
          <a:bodyPr rtlCol="0" anchor="ctr"/>
          <a:p>
            <a:endParaRPr lang="zh-CN" altLang="en-US">
              <a:solidFill>
                <a:schemeClr val="tx1"/>
              </a:solidFill>
            </a:endParaRPr>
          </a:p>
        </p:txBody>
      </p:sp>
      <p:sp>
        <p:nvSpPr>
          <p:cNvPr id="51" name="任意多边形: 形状 12"/>
          <p:cNvSpPr/>
          <p:nvPr>
            <p:custDataLst>
              <p:tags r:id="rId20"/>
            </p:custDataLst>
          </p:nvPr>
        </p:nvSpPr>
        <p:spPr>
          <a:xfrm>
            <a:off x="5446989" y="3894889"/>
            <a:ext cx="866805" cy="903431"/>
          </a:xfrm>
          <a:custGeom>
            <a:avLst/>
            <a:gdLst>
              <a:gd name="connsiteX0" fmla="*/ 0 w 1555432"/>
              <a:gd name="connsiteY0" fmla="*/ 0 h 1621155"/>
              <a:gd name="connsiteX1" fmla="*/ 1555433 w 1555432"/>
              <a:gd name="connsiteY1" fmla="*/ 597218 h 1621155"/>
              <a:gd name="connsiteX2" fmla="*/ 169545 w 1555432"/>
              <a:gd name="connsiteY2" fmla="*/ 1621155 h 1621155"/>
            </a:gdLst>
            <a:ahLst/>
            <a:cxnLst>
              <a:cxn ang="0">
                <a:pos x="connsiteX0" y="connsiteY0"/>
              </a:cxn>
              <a:cxn ang="0">
                <a:pos x="connsiteX1" y="connsiteY1"/>
              </a:cxn>
              <a:cxn ang="0">
                <a:pos x="connsiteX2" y="connsiteY2"/>
              </a:cxn>
            </a:cxnLst>
            <a:rect l="l" t="t" r="r" b="b"/>
            <a:pathLst>
              <a:path w="1555432" h="1621155">
                <a:moveTo>
                  <a:pt x="0" y="0"/>
                </a:moveTo>
                <a:lnTo>
                  <a:pt x="1555433" y="597218"/>
                </a:lnTo>
                <a:lnTo>
                  <a:pt x="169545" y="1621155"/>
                </a:lnTo>
                <a:close/>
              </a:path>
            </a:pathLst>
          </a:custGeom>
          <a:gradFill flip="none" rotWithShape="1">
            <a:gsLst>
              <a:gs pos="0">
                <a:schemeClr val="accent1">
                  <a:lumMod val="36000"/>
                  <a:lumOff val="64000"/>
                  <a:alpha val="100000"/>
                </a:schemeClr>
              </a:gs>
              <a:gs pos="100000">
                <a:schemeClr val="accent1">
                  <a:lumMod val="77000"/>
                  <a:lumOff val="23000"/>
                  <a:alpha val="100000"/>
                </a:schemeClr>
              </a:gs>
            </a:gsLst>
            <a:lin ang="2700000" scaled="1"/>
            <a:tileRect/>
          </a:gradFill>
          <a:ln w="48331" cap="flat">
            <a:noFill/>
            <a:prstDash val="solid"/>
            <a:miter/>
          </a:ln>
        </p:spPr>
        <p:txBody>
          <a:bodyPr rtlCol="0" anchor="ctr"/>
          <a:p>
            <a:endParaRPr lang="zh-CN" altLang="en-US">
              <a:solidFill>
                <a:schemeClr val="tx1"/>
              </a:solidFill>
            </a:endParaRPr>
          </a:p>
        </p:txBody>
      </p:sp>
      <p:sp>
        <p:nvSpPr>
          <p:cNvPr id="52" name="椭圆 30"/>
          <p:cNvSpPr/>
          <p:nvPr>
            <p:custDataLst>
              <p:tags r:id="rId21"/>
            </p:custDataLst>
          </p:nvPr>
        </p:nvSpPr>
        <p:spPr>
          <a:xfrm rot="20464926">
            <a:off x="4547116" y="4200985"/>
            <a:ext cx="2828260" cy="590855"/>
          </a:xfrm>
          <a:prstGeom prst="ellipse">
            <a:avLst/>
          </a:prstGeom>
          <a:noFill/>
          <a:ln w="9525">
            <a:gradFill flip="none" rotWithShape="1">
              <a:gsLst>
                <a:gs pos="0">
                  <a:schemeClr val="accent1">
                    <a:alpha val="100000"/>
                  </a:schemeClr>
                </a:gs>
                <a:gs pos="100000">
                  <a:schemeClr val="accent1">
                    <a:alpha val="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53" name="椭圆 31"/>
          <p:cNvSpPr/>
          <p:nvPr>
            <p:custDataLst>
              <p:tags r:id="rId22"/>
            </p:custDataLst>
          </p:nvPr>
        </p:nvSpPr>
        <p:spPr>
          <a:xfrm rot="997938">
            <a:off x="4657616" y="4200985"/>
            <a:ext cx="2606767" cy="590855"/>
          </a:xfrm>
          <a:prstGeom prst="ellipse">
            <a:avLst/>
          </a:prstGeom>
          <a:noFill/>
          <a:ln w="19050">
            <a:gradFill flip="none" rotWithShape="1">
              <a:gsLst>
                <a:gs pos="0">
                  <a:schemeClr val="accent1">
                    <a:alpha val="100000"/>
                  </a:schemeClr>
                </a:gs>
                <a:gs pos="100000">
                  <a:schemeClr val="accent1">
                    <a:alpha val="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54" name="椭圆 32"/>
          <p:cNvSpPr/>
          <p:nvPr>
            <p:custDataLst>
              <p:tags r:id="rId23"/>
            </p:custDataLst>
          </p:nvPr>
        </p:nvSpPr>
        <p:spPr>
          <a:xfrm rot="19668910">
            <a:off x="4466464" y="4200985"/>
            <a:ext cx="2828260" cy="590855"/>
          </a:xfrm>
          <a:prstGeom prst="ellipse">
            <a:avLst/>
          </a:prstGeom>
          <a:noFill/>
          <a:ln w="19050">
            <a:gradFill flip="none" rotWithShape="1">
              <a:gsLst>
                <a:gs pos="1000">
                  <a:schemeClr val="accent1">
                    <a:lumMod val="60000"/>
                    <a:lumOff val="40000"/>
                    <a:alpha val="100000"/>
                  </a:schemeClr>
                </a:gs>
                <a:gs pos="100000">
                  <a:schemeClr val="accent1">
                    <a:alpha val="0"/>
                  </a:schemeClr>
                </a:gs>
              </a:gsLst>
              <a:lin ang="162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55" name="椭圆 33"/>
          <p:cNvSpPr/>
          <p:nvPr>
            <p:custDataLst>
              <p:tags r:id="rId24"/>
            </p:custDataLst>
          </p:nvPr>
        </p:nvSpPr>
        <p:spPr>
          <a:xfrm>
            <a:off x="6789495" y="4386421"/>
            <a:ext cx="110267" cy="110267"/>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56" name="椭圆 34"/>
          <p:cNvSpPr/>
          <p:nvPr>
            <p:custDataLst>
              <p:tags r:id="rId25"/>
            </p:custDataLst>
          </p:nvPr>
        </p:nvSpPr>
        <p:spPr>
          <a:xfrm>
            <a:off x="6161426" y="4800477"/>
            <a:ext cx="110267" cy="110267"/>
          </a:xfrm>
          <a:prstGeom prst="ellipse">
            <a:avLst/>
          </a:prstGeom>
          <a:gradFill flip="none" rotWithShape="1">
            <a:gsLst>
              <a:gs pos="1000">
                <a:schemeClr val="accent1">
                  <a:lumMod val="20000"/>
                  <a:lumOff val="80000"/>
                  <a:alpha val="100000"/>
                </a:schemeClr>
              </a:gs>
              <a:gs pos="100000">
                <a:schemeClr val="accent1">
                  <a:alpha val="10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57" name="矩形 3"/>
          <p:cNvSpPr/>
          <p:nvPr>
            <p:custDataLst>
              <p:tags r:id="rId26"/>
            </p:custDataLst>
          </p:nvPr>
        </p:nvSpPr>
        <p:spPr>
          <a:xfrm>
            <a:off x="6581832" y="2241840"/>
            <a:ext cx="3792548" cy="663632"/>
          </a:xfrm>
          <a:prstGeom prst="rect">
            <a:avLst/>
          </a:prstGeom>
          <a:noFill/>
        </p:spPr>
        <p:txBody>
          <a:bodyPr wrap="square" lIns="0" tIns="0" rIns="0" bIns="0" rtlCol="0" anchor="t" anchorCtr="0">
            <a:noAutofit/>
          </a:bodyPr>
          <a:p>
            <a:pPr algn="ctr">
              <a:lnSpc>
                <a:spcPct val="150000"/>
              </a:lnSpc>
              <a:spcBef>
                <a:spcPct val="0"/>
              </a:spcBef>
              <a:spcAft>
                <a:spcPct val="0"/>
              </a:spcAft>
            </a:pPr>
            <a:r>
              <a:rPr lang="en-US" altLang="en-US" sz="2000" dirty="0">
                <a:solidFill>
                  <a:schemeClr val="tx1">
                    <a:lumMod val="85000"/>
                    <a:lumOff val="15000"/>
                  </a:schemeClr>
                </a:solidFill>
                <a:latin typeface="+mn-ea"/>
                <a:cs typeface="+mn-ea"/>
                <a:sym typeface="+mn-ea"/>
              </a:rPr>
              <a:t>HR</a:t>
            </a:r>
            <a:r>
              <a:rPr lang="zh-CN" altLang="en-US" sz="2000" dirty="0">
                <a:solidFill>
                  <a:schemeClr val="tx1">
                    <a:lumMod val="85000"/>
                    <a:lumOff val="15000"/>
                  </a:schemeClr>
                </a:solidFill>
                <a:latin typeface="+mn-ea"/>
                <a:cs typeface="+mn-ea"/>
                <a:sym typeface="+mn-ea"/>
              </a:rPr>
              <a:t>主数据管理</a:t>
            </a:r>
            <a:endParaRPr lang="zh-CN" altLang="en-US" sz="2000" dirty="0">
              <a:solidFill>
                <a:schemeClr val="tx1">
                  <a:lumMod val="85000"/>
                  <a:lumOff val="15000"/>
                </a:schemeClr>
              </a:solidFill>
              <a:latin typeface="+mn-ea"/>
              <a:cs typeface="+mn-ea"/>
              <a:sym typeface="+mn-ea"/>
            </a:endParaRPr>
          </a:p>
        </p:txBody>
      </p:sp>
      <p:sp>
        <p:nvSpPr>
          <p:cNvPr id="2" name="灯片编号占位符 1"/>
          <p:cNvSpPr>
            <a:spLocks noGrp="1"/>
          </p:cNvSpPr>
          <p:nvPr>
            <p:ph type="sldNum" sz="quarter" idx="11"/>
          </p:nvPr>
        </p:nvSpPr>
        <p:spPr/>
        <p:txBody>
          <a:bodyPr/>
          <a:p>
            <a:fld id="{BE5F26B5-172A-4DC2-B0B7-181CFC56B87C}" type="slidenum">
              <a:rPr lang="zh-CN" altLang="en-US" smtClean="0"/>
            </a:fld>
            <a:endParaRPr lang="zh-CN" altLang="en-US"/>
          </a:p>
        </p:txBody>
      </p:sp>
      <p:sp>
        <p:nvSpPr>
          <p:cNvPr id="3" name="矩形 2"/>
          <p:cNvSpPr/>
          <p:nvPr/>
        </p:nvSpPr>
        <p:spPr>
          <a:xfrm>
            <a:off x="5095875" y="5483225"/>
            <a:ext cx="1804035" cy="401320"/>
          </a:xfrm>
          <a:prstGeom prst="rect">
            <a:avLst/>
          </a:prstGeom>
        </p:spPr>
        <p:txBody>
          <a:bodyPr vert="horz" wrap="square" lIns="0" tIns="0" rIns="0" bIns="0" rtlCol="0" anchor="ctr" anchorCtr="0">
            <a:noAutofit/>
          </a:bodyPr>
          <a:lstStyle/>
          <a:p>
            <a:pPr lvl="0" algn="ctr" defTabSz="1727835">
              <a:lnSpc>
                <a:spcPct val="130000"/>
              </a:lnSpc>
              <a:spcAft>
                <a:spcPts val="0"/>
              </a:spcAft>
              <a:buClrTx/>
              <a:buSzTx/>
              <a:buFontTx/>
            </a:pPr>
            <a:r>
              <a:rPr lang="zh-CN" altLang="en-US" sz="2400" b="1">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数据</a:t>
            </a:r>
            <a:r>
              <a:rPr lang="zh-CN" altLang="en-US" sz="2400" b="1">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治理</a:t>
            </a:r>
            <a:endParaRPr lang="zh-CN" altLang="en-US" sz="2400" b="1">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27"/>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3709" y="384910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4255" y="384937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55870"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现状</a:t>
            </a:r>
            <a:r>
              <a:rPr lang="zh-CN" altLang="en-US" sz="1200" dirty="0">
                <a:sym typeface="+mn-ea"/>
              </a:rPr>
              <a:t>挑战</a:t>
            </a:r>
            <a:endParaRPr lang="zh-CN" altLang="en-US" sz="1200" dirty="0">
              <a:sym typeface="+mn-ea"/>
            </a:endParaRPr>
          </a:p>
        </p:txBody>
      </p:sp>
      <p:sp>
        <p:nvSpPr>
          <p:cNvPr id="8" name="文本占位符 17"/>
          <p:cNvSpPr txBox="1"/>
          <p:nvPr>
            <p:custDataLst>
              <p:tags r:id="rId14"/>
            </p:custDataLst>
          </p:nvPr>
        </p:nvSpPr>
        <p:spPr>
          <a:xfrm>
            <a:off x="4471670" y="453961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55870" y="494030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数据管理体系建设</a:t>
            </a:r>
            <a:r>
              <a:rPr lang="zh-CN" altLang="en-US" sz="1200" dirty="0">
                <a:sym typeface="+mn-ea"/>
              </a:rPr>
              <a:t>方案</a:t>
            </a:r>
            <a:endParaRPr lang="zh-CN" altLang="en-US" sz="1200" dirty="0">
              <a:sym typeface="+mn-ea"/>
            </a:endParaRPr>
          </a:p>
        </p:txBody>
      </p:sp>
      <p:sp>
        <p:nvSpPr>
          <p:cNvPr id="23" name="文本占位符 17"/>
          <p:cNvSpPr txBox="1"/>
          <p:nvPr>
            <p:custDataLst>
              <p:tags r:id="rId16"/>
            </p:custDataLst>
          </p:nvPr>
        </p:nvSpPr>
        <p:spPr>
          <a:xfrm>
            <a:off x="4471670" y="4940300"/>
            <a:ext cx="4946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en-US" altLang="zh-CN" sz="1200" dirty="0">
                <a:sym typeface="+mn-ea"/>
              </a:rPr>
              <a:t>5</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8376285"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总体</a:t>
            </a:r>
            <a:r>
              <a:rPr lang="zh-CN" altLang="en-US" sz="1200" dirty="0">
                <a:sym typeface="+mn-ea"/>
              </a:rPr>
              <a:t>方案</a:t>
            </a:r>
            <a:endParaRPr lang="zh-CN" altLang="en-US" sz="1200" dirty="0">
              <a:sym typeface="+mn-ea"/>
            </a:endParaRPr>
          </a:p>
        </p:txBody>
      </p:sp>
      <p:sp>
        <p:nvSpPr>
          <p:cNvPr id="28" name="文本占位符 17"/>
          <p:cNvSpPr txBox="1"/>
          <p:nvPr>
            <p:custDataLst>
              <p:tags r:id="rId18"/>
            </p:custDataLst>
          </p:nvPr>
        </p:nvSpPr>
        <p:spPr>
          <a:xfrm>
            <a:off x="7792085" y="453961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a:t>
            </a:r>
            <a:r>
              <a:rPr lang="zh-CN" altLang="en-US" sz="1200" dirty="0">
                <a:sym typeface="+mn-ea"/>
              </a:rPr>
              <a:t>2</a:t>
            </a:r>
            <a:endParaRPr lang="zh-CN" altLang="en-US" sz="1200" dirty="0">
              <a:sym typeface="+mn-ea"/>
            </a:endParaRPr>
          </a:p>
        </p:txBody>
      </p:sp>
      <p:sp>
        <p:nvSpPr>
          <p:cNvPr id="31" name="文本占位符 17"/>
          <p:cNvSpPr txBox="1"/>
          <p:nvPr>
            <p:custDataLst>
              <p:tags r:id="rId19"/>
            </p:custDataLst>
          </p:nvPr>
        </p:nvSpPr>
        <p:spPr>
          <a:xfrm>
            <a:off x="8376285"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场景应用</a:t>
            </a:r>
            <a:r>
              <a:rPr lang="zh-CN" altLang="en-US" sz="1200" dirty="0">
                <a:sym typeface="+mn-ea"/>
              </a:rPr>
              <a:t>方案</a:t>
            </a:r>
            <a:endParaRPr lang="zh-CN" altLang="en-US" sz="1200" dirty="0">
              <a:sym typeface="+mn-ea"/>
            </a:endParaRPr>
          </a:p>
        </p:txBody>
      </p:sp>
      <p:sp>
        <p:nvSpPr>
          <p:cNvPr id="32" name="文本占位符 17"/>
          <p:cNvSpPr txBox="1"/>
          <p:nvPr>
            <p:custDataLst>
              <p:tags r:id="rId20"/>
            </p:custDataLst>
          </p:nvPr>
        </p:nvSpPr>
        <p:spPr>
          <a:xfrm>
            <a:off x="7792085" y="4940300"/>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5</a:t>
            </a:r>
            <a:r>
              <a:rPr lang="zh-CN" altLang="en-US" sz="1200" dirty="0">
                <a:sym typeface="+mn-ea"/>
              </a:rPr>
              <a:t>.</a:t>
            </a:r>
            <a:r>
              <a:rPr lang="en-US" altLang="zh-CN" sz="1200" dirty="0">
                <a:sym typeface="+mn-ea"/>
              </a:rPr>
              <a:t>4</a:t>
            </a:r>
            <a:endParaRPr lang="en-US" altLang="zh-CN" sz="1200" dirty="0">
              <a:sym typeface="+mn-ea"/>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0" tIns="0" rIns="0" bIns="0" rtlCol="0" anchor="ctr" anchorCtr="0">
            <a:noAutofit/>
          </a:bodyPr>
          <a:lstStyle/>
          <a:p>
            <a:pPr lvl="0" algn="l">
              <a:buClrTx/>
              <a:buSzTx/>
              <a:buFontTx/>
            </a:pPr>
            <a:r>
              <a:rPr lang="zh-CN" altLang="en-US">
                <a:sym typeface="+mn-ea"/>
              </a:rPr>
              <a:t>数据治理体系</a:t>
            </a:r>
            <a:r>
              <a:rPr lang="zh-CN" altLang="en-US">
                <a:sym typeface="+mn-ea"/>
              </a:rPr>
              <a:t>建设</a:t>
            </a:r>
            <a:endParaRPr lang="zh-CN" altLang="en-US">
              <a:sym typeface="+mn-ea"/>
            </a:endParaRPr>
          </a:p>
        </p:txBody>
      </p:sp>
      <p:sp>
        <p:nvSpPr>
          <p:cNvPr id="51" name="TextBox 51"/>
          <p:cNvSpPr txBox="1">
            <a:spLocks noChangeArrowheads="1"/>
          </p:cNvSpPr>
          <p:nvPr/>
        </p:nvSpPr>
        <p:spPr bwMode="auto">
          <a:xfrm>
            <a:off x="3655695" y="1099185"/>
            <a:ext cx="3427095" cy="337185"/>
          </a:xfrm>
          <a:prstGeom prst="rect">
            <a:avLst/>
          </a:prstGeom>
        </p:spPr>
        <p:style>
          <a:lnRef idx="2">
            <a:schemeClr val="lt1"/>
          </a:lnRef>
          <a:fillRef idx="1">
            <a:schemeClr val="accent1"/>
          </a:fillRef>
          <a:effectRef idx="1">
            <a:schemeClr val="accent1"/>
          </a:effectRef>
          <a:fontRef idx="minor">
            <a:schemeClr val="lt1"/>
          </a:fontRef>
        </p:style>
        <p:txBody>
          <a:bodyPr wrap="square">
            <a:spAutoFit/>
          </a:bodyPr>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bg1"/>
                </a:solidFill>
                <a:latin typeface="楷体" panose="02010609060101010101" pitchFamily="49" charset="-122"/>
                <a:ea typeface="楷体" panose="02010609060101010101" pitchFamily="49" charset="-122"/>
              </a:rPr>
              <a:t>保障机制</a:t>
            </a:r>
            <a:endParaRPr lang="zh-CN" altLang="en-US" sz="1600" b="1" kern="0" dirty="0">
              <a:solidFill>
                <a:schemeClr val="bg1"/>
              </a:solidFill>
              <a:latin typeface="楷体" panose="02010609060101010101" pitchFamily="49" charset="-122"/>
              <a:ea typeface="楷体" panose="02010609060101010101" pitchFamily="49" charset="-122"/>
            </a:endParaRPr>
          </a:p>
        </p:txBody>
      </p:sp>
      <p:sp>
        <p:nvSpPr>
          <p:cNvPr id="74" name="Text Box 28"/>
          <p:cNvSpPr txBox="1">
            <a:spLocks noChangeArrowheads="1"/>
          </p:cNvSpPr>
          <p:nvPr/>
        </p:nvSpPr>
        <p:spPr bwMode="auto">
          <a:xfrm>
            <a:off x="3599180" y="1744345"/>
            <a:ext cx="245300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1400">
                <a:solidFill>
                  <a:schemeClr val="tx1"/>
                </a:solidFill>
                <a:latin typeface="Arial" panose="020B0604020202020204" pitchFamily="34" charset="0"/>
                <a:ea typeface="微软雅黑" panose="020B0503020204020204" pitchFamily="34" charset="-122"/>
              </a:defRPr>
            </a:lvl1pPr>
            <a:lvl2pPr indent="1905">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sym typeface="+mn-ea"/>
              </a:rPr>
              <a:t>管什么</a:t>
            </a:r>
            <a:endParaRPr kumimoji="0" lang="en-US" altLang="zh-CN" sz="1600" b="1"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prstClr val="black"/>
                </a:solidFill>
                <a:effectLst/>
                <a:uLnTx/>
                <a:uFillTx/>
                <a:latin typeface="楷体" panose="02010609060101010101" pitchFamily="49" charset="-122"/>
                <a:ea typeface="楷体" panose="02010609060101010101" pitchFamily="49" charset="-122"/>
                <a:sym typeface="+mn-ea"/>
              </a:rPr>
              <a:t>描述进行数据资源管理的政策目标和管理规范</a:t>
            </a:r>
            <a:endPar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75" name="Text Box 28"/>
          <p:cNvSpPr txBox="1">
            <a:spLocks noChangeArrowheads="1"/>
          </p:cNvSpPr>
          <p:nvPr/>
        </p:nvSpPr>
        <p:spPr bwMode="auto">
          <a:xfrm>
            <a:off x="7877810" y="1927860"/>
            <a:ext cx="2292350" cy="80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1400">
                <a:solidFill>
                  <a:schemeClr val="tx1"/>
                </a:solidFill>
                <a:latin typeface="Arial" panose="020B0604020202020204" pitchFamily="34" charset="0"/>
                <a:ea typeface="微软雅黑" panose="020B0503020204020204" pitchFamily="34" charset="-122"/>
              </a:defRPr>
            </a:lvl1pPr>
            <a:lvl2pPr indent="1905">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按什么管</a:t>
            </a:r>
            <a:endParaRPr kumimoji="0" lang="en-US" altLang="zh-CN" sz="16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endParaRPr>
          </a:p>
          <a:p>
            <a:pPr marL="0" marR="0" lvl="1" indent="1905" algn="ctr" defTabSz="914400" rtl="0" eaLnBrk="0" fontAlgn="auto" latinLnBrk="0" hangingPunct="0">
              <a:lnSpc>
                <a:spcPct val="100000"/>
              </a:lnSpc>
              <a:spcBef>
                <a:spcPct val="20000"/>
              </a:spcBef>
              <a:spcAft>
                <a:spcPts val="0"/>
              </a:spcAft>
              <a:buClr>
                <a:srgbClr val="7889FB"/>
              </a:buClr>
              <a:buSzPct val="70000"/>
              <a:buFontTx/>
              <a:buNone/>
              <a:defRPr/>
            </a:pPr>
            <a:r>
              <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确立数据管理的统一基准与执行规则</a:t>
            </a:r>
            <a:endPar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76" name="Text Box 28"/>
          <p:cNvSpPr txBox="1">
            <a:spLocks noChangeArrowheads="1"/>
          </p:cNvSpPr>
          <p:nvPr/>
        </p:nvSpPr>
        <p:spPr bwMode="auto">
          <a:xfrm>
            <a:off x="5963285" y="1762125"/>
            <a:ext cx="2005965" cy="80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1400">
                <a:solidFill>
                  <a:schemeClr val="tx1"/>
                </a:solidFill>
                <a:latin typeface="Arial" panose="020B0604020202020204" pitchFamily="34" charset="0"/>
                <a:ea typeface="微软雅黑" panose="020B0503020204020204" pitchFamily="34" charset="-122"/>
              </a:defRPr>
            </a:lvl1pPr>
            <a:lvl2pPr indent="1905">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rPr>
              <a:t>怎</a:t>
            </a:r>
            <a:r>
              <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样</a:t>
            </a:r>
            <a:r>
              <a:rPr kumimoji="0" lang="zh-CN" altLang="en-US" sz="2000" b="1"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rPr>
              <a:t>管</a:t>
            </a:r>
            <a:endParaRPr kumimoji="0" lang="en-US" altLang="zh-CN" sz="1600" b="1"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endParaRPr>
          </a:p>
          <a:p>
            <a:pPr marL="0" marR="0" lvl="1" indent="1905" algn="ctr" defTabSz="914400" rtl="0" eaLnBrk="0" fontAlgn="auto" latinLnBrk="0" hangingPunct="0">
              <a:lnSpc>
                <a:spcPct val="100000"/>
              </a:lnSpc>
              <a:spcBef>
                <a:spcPct val="20000"/>
              </a:spcBef>
              <a:spcAft>
                <a:spcPts val="0"/>
              </a:spcAft>
              <a:buClr>
                <a:srgbClr val="7889FB"/>
              </a:buClr>
              <a:buSzPct val="70000"/>
              <a:buFontTx/>
              <a:buNone/>
              <a:defRPr/>
            </a:pPr>
            <a:r>
              <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描述如何进行数据治理工作</a:t>
            </a:r>
            <a:endPar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85" name="Text Box 29"/>
          <p:cNvSpPr txBox="1">
            <a:spLocks noChangeArrowheads="1"/>
          </p:cNvSpPr>
          <p:nvPr/>
        </p:nvSpPr>
        <p:spPr bwMode="auto">
          <a:xfrm>
            <a:off x="1203325" y="1961515"/>
            <a:ext cx="254571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ea typeface="微软雅黑" panose="020B0503020204020204" pitchFamily="34" charset="-122"/>
              </a:defRPr>
            </a:lvl1pPr>
            <a:lvl2pPr indent="1905">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sym typeface="+mn-ea"/>
              </a:rPr>
              <a:t>由谁管</a:t>
            </a:r>
            <a:endParaRPr kumimoji="0" lang="en-US" altLang="zh-CN" sz="2000" b="1"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楷体" panose="02010609060101010101" pitchFamily="49" charset="-122"/>
              <a:ea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prstClr val="black"/>
                </a:solidFill>
                <a:effectLst/>
                <a:uLnTx/>
                <a:uFillTx/>
                <a:latin typeface="楷体" panose="02010609060101010101" pitchFamily="49" charset="-122"/>
                <a:ea typeface="楷体" panose="02010609060101010101" pitchFamily="49" charset="-122"/>
                <a:sym typeface="+mn-ea"/>
              </a:rPr>
              <a:t>描述由哪些部门和人员来进行数据资源管理</a:t>
            </a:r>
            <a:endParaRPr kumimoji="0" lang="zh-CN" altLang="en-US" sz="12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49" name="梯形 55"/>
          <p:cNvSpPr/>
          <p:nvPr/>
        </p:nvSpPr>
        <p:spPr>
          <a:xfrm>
            <a:off x="1440180" y="3348990"/>
            <a:ext cx="8583930" cy="2766695"/>
          </a:xfrm>
          <a:prstGeom prst="trapezoid">
            <a:avLst>
              <a:gd name="adj" fmla="val 51088"/>
            </a:avLst>
          </a:prstGeom>
          <a:solidFill>
            <a:srgbClr val="CEEA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latin typeface="楷体" panose="02010609060101010101" pitchFamily="49" charset="-122"/>
              <a:ea typeface="楷体" panose="02010609060101010101" pitchFamily="49" charset="-122"/>
            </a:endParaRPr>
          </a:p>
        </p:txBody>
      </p:sp>
      <p:sp>
        <p:nvSpPr>
          <p:cNvPr id="53" name="AutoShape 7"/>
          <p:cNvSpPr>
            <a:spLocks noChangeArrowheads="1"/>
          </p:cNvSpPr>
          <p:nvPr/>
        </p:nvSpPr>
        <p:spPr bwMode="auto">
          <a:xfrm>
            <a:off x="4699000" y="3515995"/>
            <a:ext cx="979805" cy="2504440"/>
          </a:xfrm>
          <a:prstGeom prst="roundRect">
            <a:avLst>
              <a:gd name="adj" fmla="val 16667"/>
            </a:avLst>
          </a:prstGeom>
          <a:solidFill>
            <a:srgbClr val="11AFBB"/>
          </a:solidFill>
        </p:spPr>
        <p:style>
          <a:lnRef idx="1">
            <a:schemeClr val="accent4"/>
          </a:lnRef>
          <a:fillRef idx="2">
            <a:schemeClr val="accent4"/>
          </a:fillRef>
          <a:effectRef idx="1">
            <a:schemeClr val="accent4"/>
          </a:effectRef>
          <a:fontRef idx="minor">
            <a:schemeClr val="dk1"/>
          </a:fontRef>
        </p:style>
        <p:txBody>
          <a:bodyPr lIns="45720" tIns="36000" rIns="45720"/>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ts val="1500"/>
              </a:lnSpc>
              <a:spcBef>
                <a:spcPts val="0"/>
              </a:spcBef>
              <a:spcAft>
                <a:spcPts val="0"/>
              </a:spcAft>
              <a:buClrTx/>
              <a:buSzPct val="80000"/>
              <a:buFontTx/>
              <a:buNone/>
              <a:defRPr/>
            </a:pPr>
            <a:r>
              <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rPr>
              <a:t>制度</a:t>
            </a:r>
            <a:endPar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endParaRPr>
          </a:p>
        </p:txBody>
      </p:sp>
      <p:sp>
        <p:nvSpPr>
          <p:cNvPr id="54" name="AutoShape 5"/>
          <p:cNvSpPr>
            <a:spLocks noChangeArrowheads="1"/>
          </p:cNvSpPr>
          <p:nvPr/>
        </p:nvSpPr>
        <p:spPr bwMode="auto">
          <a:xfrm>
            <a:off x="6897370" y="3511550"/>
            <a:ext cx="980440" cy="2504440"/>
          </a:xfrm>
          <a:prstGeom prst="roundRect">
            <a:avLst>
              <a:gd name="adj" fmla="val 16667"/>
            </a:avLst>
          </a:prstGeom>
          <a:solidFill>
            <a:srgbClr val="11AFBB"/>
          </a:solidFill>
        </p:spPr>
        <p:style>
          <a:lnRef idx="1">
            <a:schemeClr val="accent4"/>
          </a:lnRef>
          <a:fillRef idx="2">
            <a:schemeClr val="accent4"/>
          </a:fillRef>
          <a:effectRef idx="1">
            <a:schemeClr val="accent4"/>
          </a:effectRef>
          <a:fontRef idx="minor">
            <a:schemeClr val="dk1"/>
          </a:fontRef>
        </p:style>
        <p:txBody>
          <a:bodyPr lIns="45720" tIns="36000" rIns="45720"/>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ts val="1500"/>
              </a:lnSpc>
              <a:spcBef>
                <a:spcPts val="0"/>
              </a:spcBef>
              <a:spcAft>
                <a:spcPts val="0"/>
              </a:spcAft>
              <a:buClrTx/>
              <a:buSzPct val="80000"/>
              <a:buFontTx/>
              <a:buNone/>
              <a:defRPr/>
            </a:pPr>
            <a:r>
              <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rPr>
              <a:t>标准</a:t>
            </a:r>
            <a:endPar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endParaRPr>
          </a:p>
        </p:txBody>
      </p:sp>
      <p:sp>
        <p:nvSpPr>
          <p:cNvPr id="55" name="AutoShape 6"/>
          <p:cNvSpPr>
            <a:spLocks noChangeArrowheads="1"/>
          </p:cNvSpPr>
          <p:nvPr/>
        </p:nvSpPr>
        <p:spPr bwMode="auto">
          <a:xfrm>
            <a:off x="5801995" y="3513455"/>
            <a:ext cx="980440" cy="2505075"/>
          </a:xfrm>
          <a:prstGeom prst="roundRect">
            <a:avLst>
              <a:gd name="adj" fmla="val 16667"/>
            </a:avLst>
          </a:prstGeom>
          <a:solidFill>
            <a:srgbClr val="11AFBB"/>
          </a:solidFill>
        </p:spPr>
        <p:style>
          <a:lnRef idx="1">
            <a:schemeClr val="accent4"/>
          </a:lnRef>
          <a:fillRef idx="2">
            <a:schemeClr val="accent4"/>
          </a:fillRef>
          <a:effectRef idx="1">
            <a:schemeClr val="accent4"/>
          </a:effectRef>
          <a:fontRef idx="minor">
            <a:schemeClr val="dk1"/>
          </a:fontRef>
        </p:style>
        <p:txBody>
          <a:bodyPr lIns="45720" tIns="36000" rIns="45720"/>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ts val="1500"/>
              </a:lnSpc>
              <a:spcBef>
                <a:spcPts val="0"/>
              </a:spcBef>
              <a:spcAft>
                <a:spcPts val="0"/>
              </a:spcAft>
              <a:buClrTx/>
              <a:buSzPct val="80000"/>
              <a:buFontTx/>
              <a:buNone/>
              <a:defRPr/>
            </a:pPr>
            <a:r>
              <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Arial Unicode MS" panose="020B0604020202020204" pitchFamily="34" charset="-122"/>
              </a:rPr>
              <a:t>流程</a:t>
            </a:r>
            <a:endPar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Arial Unicode MS" panose="020B0604020202020204" pitchFamily="34" charset="-122"/>
            </a:endParaRPr>
          </a:p>
        </p:txBody>
      </p:sp>
      <p:sp>
        <p:nvSpPr>
          <p:cNvPr id="56" name="AutoShape 7"/>
          <p:cNvSpPr>
            <a:spLocks noChangeArrowheads="1"/>
          </p:cNvSpPr>
          <p:nvPr/>
        </p:nvSpPr>
        <p:spPr bwMode="auto">
          <a:xfrm>
            <a:off x="3599815" y="3515995"/>
            <a:ext cx="981710" cy="2504440"/>
          </a:xfrm>
          <a:prstGeom prst="roundRect">
            <a:avLst>
              <a:gd name="adj" fmla="val 16667"/>
            </a:avLst>
          </a:prstGeom>
          <a:solidFill>
            <a:srgbClr val="11AFBB"/>
          </a:solidFill>
        </p:spPr>
        <p:style>
          <a:lnRef idx="1">
            <a:schemeClr val="accent4"/>
          </a:lnRef>
          <a:fillRef idx="2">
            <a:schemeClr val="accent4"/>
          </a:fillRef>
          <a:effectRef idx="1">
            <a:schemeClr val="accent4"/>
          </a:effectRef>
          <a:fontRef idx="minor">
            <a:schemeClr val="dk1"/>
          </a:fontRef>
        </p:style>
        <p:txBody>
          <a:bodyPr lIns="45720" tIns="36000" rIns="45720"/>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ts val="1500"/>
              </a:lnSpc>
              <a:spcBef>
                <a:spcPts val="0"/>
              </a:spcBef>
              <a:spcAft>
                <a:spcPts val="0"/>
              </a:spcAft>
              <a:buClrTx/>
              <a:buSzPct val="80000"/>
              <a:buFont typeface="Marlett" pitchFamily="2" charset="2"/>
              <a:buNone/>
              <a:defRPr/>
            </a:pPr>
            <a:r>
              <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Arial Unicode MS" panose="020B0604020202020204" pitchFamily="34" charset="-122"/>
              </a:rPr>
              <a:t>组织</a:t>
            </a:r>
            <a:endParaRPr kumimoji="0" lang="zh-CN" altLang="en-US"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Arial Unicode MS" panose="020B0604020202020204" pitchFamily="34" charset="-122"/>
            </a:endParaRPr>
          </a:p>
        </p:txBody>
      </p:sp>
      <p:sp>
        <p:nvSpPr>
          <p:cNvPr id="57" name="AutoShape 9"/>
          <p:cNvSpPr>
            <a:spLocks noChangeArrowheads="1"/>
          </p:cNvSpPr>
          <p:nvPr/>
        </p:nvSpPr>
        <p:spPr bwMode="auto">
          <a:xfrm>
            <a:off x="3700145" y="548640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数据</a:t>
            </a: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血缘</a:t>
            </a:r>
            <a:endPar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8" name="AutoShape 12"/>
          <p:cNvSpPr>
            <a:spLocks noChangeArrowheads="1"/>
          </p:cNvSpPr>
          <p:nvPr/>
        </p:nvSpPr>
        <p:spPr bwMode="auto">
          <a:xfrm>
            <a:off x="3700145" y="431419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维度管理</a:t>
            </a:r>
            <a:endParaRPr kumimoji="0" lang="zh-CN" altLang="en-US"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9" name="AutoShape 11"/>
          <p:cNvSpPr>
            <a:spLocks noChangeArrowheads="1"/>
          </p:cNvSpPr>
          <p:nvPr/>
        </p:nvSpPr>
        <p:spPr bwMode="auto">
          <a:xfrm>
            <a:off x="3700145" y="454660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Pct val="80000"/>
              <a:buFontTx/>
              <a:buNone/>
              <a:defRPr/>
            </a:pPr>
            <a:r>
              <a:rPr lang="zh-CN" altLang="en-US" noProof="0" dirty="0">
                <a:ln>
                  <a:noFill/>
                </a:ln>
                <a:solidFill>
                  <a:prstClr val="black"/>
                </a:solidFill>
                <a:effectLst/>
                <a:uLnTx/>
                <a:uFillTx/>
                <a:latin typeface="楷体" panose="02010609060101010101" pitchFamily="49" charset="-122"/>
                <a:ea typeface="楷体" panose="02010609060101010101" pitchFamily="49" charset="-122"/>
                <a:sym typeface="+mn-ea"/>
              </a:rPr>
              <a:t>指标管理</a:t>
            </a:r>
            <a:endParaRPr kumimoji="0" lang="zh-CN" altLang="en-US"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60" name="AutoShape 11"/>
          <p:cNvSpPr>
            <a:spLocks noChangeArrowheads="1"/>
          </p:cNvSpPr>
          <p:nvPr/>
        </p:nvSpPr>
        <p:spPr bwMode="auto">
          <a:xfrm>
            <a:off x="3700145" y="408432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数据</a:t>
            </a: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地图</a:t>
            </a:r>
            <a:endPar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61" name="AutoShape 11"/>
          <p:cNvSpPr>
            <a:spLocks noChangeArrowheads="1"/>
          </p:cNvSpPr>
          <p:nvPr/>
        </p:nvSpPr>
        <p:spPr bwMode="auto">
          <a:xfrm>
            <a:off x="3700145" y="4787265"/>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lang="zh-CN" altLang="en-US" sz="1400" noProof="0" dirty="0">
                <a:ln>
                  <a:noFill/>
                </a:ln>
                <a:solidFill>
                  <a:prstClr val="black"/>
                </a:solidFill>
                <a:effectLst/>
                <a:uLnTx/>
                <a:uFillTx/>
                <a:latin typeface="楷体" panose="02010609060101010101" pitchFamily="49" charset="-122"/>
                <a:ea typeface="楷体" panose="02010609060101010101" pitchFamily="49" charset="-122"/>
                <a:sym typeface="+mn-ea"/>
              </a:rPr>
              <a:t>数据标准</a:t>
            </a:r>
            <a:endParaRPr lang="zh-CN" altLang="en-US" sz="1400" noProof="0" dirty="0">
              <a:ln>
                <a:noFill/>
              </a:ln>
              <a:solidFill>
                <a:prstClr val="black"/>
              </a:solidFill>
              <a:effectLst/>
              <a:uLnTx/>
              <a:uFillTx/>
              <a:latin typeface="楷体" panose="02010609060101010101" pitchFamily="49" charset="-122"/>
              <a:ea typeface="楷体" panose="02010609060101010101" pitchFamily="49" charset="-122"/>
              <a:sym typeface="+mn-ea"/>
            </a:endParaRPr>
          </a:p>
        </p:txBody>
      </p:sp>
      <p:sp>
        <p:nvSpPr>
          <p:cNvPr id="78" name="AutoShape 11"/>
          <p:cNvSpPr>
            <a:spLocks noChangeArrowheads="1"/>
          </p:cNvSpPr>
          <p:nvPr/>
        </p:nvSpPr>
        <p:spPr bwMode="auto">
          <a:xfrm>
            <a:off x="3700145" y="5019675"/>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数据模型</a:t>
            </a:r>
            <a:endPar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79" name="AutoShape 9"/>
          <p:cNvSpPr>
            <a:spLocks noChangeArrowheads="1"/>
          </p:cNvSpPr>
          <p:nvPr/>
        </p:nvSpPr>
        <p:spPr bwMode="auto">
          <a:xfrm>
            <a:off x="3700145" y="525018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sz="1400"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rPr>
              <a:t>数据</a:t>
            </a:r>
            <a:r>
              <a:rPr kumimoji="0" lang="zh-CN" altLang="en-US" sz="1400"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rPr>
              <a:t>质量</a:t>
            </a:r>
            <a:endParaRPr kumimoji="0" lang="zh-CN" altLang="en-US" sz="1400"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endParaRPr>
          </a:p>
        </p:txBody>
      </p:sp>
      <p:sp>
        <p:nvSpPr>
          <p:cNvPr id="80" name="AutoShape 9"/>
          <p:cNvSpPr>
            <a:spLocks noChangeArrowheads="1"/>
          </p:cNvSpPr>
          <p:nvPr/>
        </p:nvSpPr>
        <p:spPr bwMode="auto">
          <a:xfrm>
            <a:off x="3700145" y="3841115"/>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lang="zh-CN" altLang="en-US" sz="1400" noProof="0" dirty="0">
                <a:ln>
                  <a:noFill/>
                </a:ln>
                <a:solidFill>
                  <a:prstClr val="black"/>
                </a:solidFill>
                <a:effectLst/>
                <a:uLnTx/>
                <a:uFillTx/>
                <a:latin typeface="楷体" panose="02010609060101010101" pitchFamily="49" charset="-122"/>
                <a:ea typeface="楷体" panose="02010609060101010101" pitchFamily="49" charset="-122"/>
                <a:sym typeface="+mn-ea"/>
              </a:rPr>
              <a:t>数据资产类目</a:t>
            </a:r>
            <a:endPar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81" name="AutoShape 9"/>
          <p:cNvSpPr>
            <a:spLocks noChangeArrowheads="1"/>
          </p:cNvSpPr>
          <p:nvPr/>
        </p:nvSpPr>
        <p:spPr bwMode="auto">
          <a:xfrm>
            <a:off x="3700145" y="5732780"/>
            <a:ext cx="4099560" cy="214630"/>
          </a:xfrm>
          <a:prstGeom prst="roundRect">
            <a:avLst>
              <a:gd name="adj" fmla="val 16667"/>
            </a:avLst>
          </a:prstGeom>
          <a:ln>
            <a:solidFill>
              <a:srgbClr val="029E9A">
                <a:alpha val="75000"/>
              </a:srgbClr>
            </a:solidFill>
          </a:ln>
        </p:spPr>
        <p:style>
          <a:lnRef idx="2">
            <a:schemeClr val="accent2"/>
          </a:lnRef>
          <a:fillRef idx="1">
            <a:schemeClr val="lt1"/>
          </a:fillRef>
          <a:effectRef idx="0">
            <a:schemeClr val="accent2"/>
          </a:effectRef>
          <a:fontRef idx="minor">
            <a:schemeClr val="dk1"/>
          </a:fontRef>
        </p:style>
        <p:txBody>
          <a:bodyPr wrap="none" anchor="ctr"/>
          <a:lstStyle/>
          <a:p>
            <a:pPr marL="0" marR="0" lvl="0" indent="0" algn="ctr" defTabSz="914400" rtl="0" eaLnBrk="1" fontAlgn="auto" latinLnBrk="0" hangingPunct="1">
              <a:lnSpc>
                <a:spcPct val="100000"/>
              </a:lnSpc>
              <a:spcBef>
                <a:spcPts val="0"/>
              </a:spcBef>
              <a:spcAft>
                <a:spcPts val="0"/>
              </a:spcAft>
              <a:buClrTx/>
              <a:buSzPct val="80000"/>
              <a:buFontTx/>
              <a:buNone/>
              <a:defRPr/>
            </a:pP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数据</a:t>
            </a:r>
            <a:r>
              <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权限</a:t>
            </a:r>
            <a:endParaRPr kumimoji="0" lang="zh-CN" altLang="en-US" sz="1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89" name="Rectangle 4"/>
          <p:cNvSpPr>
            <a:spLocks noChangeArrowheads="1"/>
          </p:cNvSpPr>
          <p:nvPr>
            <p:custDataLst>
              <p:tags r:id="rId1"/>
            </p:custDataLst>
          </p:nvPr>
        </p:nvSpPr>
        <p:spPr bwMode="gray">
          <a:xfrm>
            <a:off x="2731135" y="4953635"/>
            <a:ext cx="635000" cy="359410"/>
          </a:xfrm>
          <a:prstGeom prst="rect">
            <a:avLst/>
          </a:prstGeom>
          <a:noFill/>
          <a:ln w="12700" cap="rnd" algn="ctr">
            <a:noFill/>
            <a:miter lim="800000"/>
          </a:ln>
          <a:effectLst/>
        </p:spPr>
        <p:txBody>
          <a:bodyPr lIns="72000" tIns="0" rIns="72000" bIns="0" anchor="ctr" anchorCtr="1"/>
          <a:lstStyle/>
          <a:p>
            <a:pPr marL="0" marR="0" lvl="0" indent="0" algn="ctr" defTabSz="914400" rtl="0" eaLnBrk="1" fontAlgn="auto" latinLnBrk="0" hangingPunct="1">
              <a:lnSpc>
                <a:spcPct val="106000"/>
              </a:lnSpc>
              <a:spcBef>
                <a:spcPts val="0"/>
              </a:spcBef>
              <a:spcAft>
                <a:spcPts val="0"/>
              </a:spcAft>
              <a:buClr>
                <a:srgbClr val="000000"/>
              </a:buClr>
              <a:buSzPct val="80000"/>
              <a:buFontTx/>
              <a:buNone/>
              <a:defRPr/>
            </a:pPr>
            <a:r>
              <a:rPr kumimoji="0" lang="zh-CN" altLang="en-US"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宋体" pitchFamily="2" charset="-122"/>
              </a:rPr>
              <a:t>数据</a:t>
            </a:r>
            <a:r>
              <a:rPr lang="zh-CN" altLang="en-US" b="1" kern="0" dirty="0">
                <a:solidFill>
                  <a:srgbClr val="000000"/>
                </a:solidFill>
                <a:latin typeface="楷体" panose="02010609060101010101" pitchFamily="49" charset="-122"/>
                <a:ea typeface="楷体" panose="02010609060101010101" pitchFamily="49" charset="-122"/>
                <a:sym typeface="宋体" pitchFamily="2" charset="-122"/>
              </a:rPr>
              <a:t>治理</a:t>
            </a:r>
            <a:endParaRPr kumimoji="0" lang="zh-CN" altLang="en-US"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Arial" panose="020B0604020202020204" pitchFamily="34" charset="0"/>
              <a:sym typeface="宋体" pitchFamily="2" charset="-122"/>
            </a:endParaRPr>
          </a:p>
        </p:txBody>
      </p:sp>
      <p:cxnSp>
        <p:nvCxnSpPr>
          <p:cNvPr id="77" name="直接箭头连接符 20"/>
          <p:cNvCxnSpPr>
            <a:cxnSpLocks noChangeShapeType="1"/>
          </p:cNvCxnSpPr>
          <p:nvPr/>
        </p:nvCxnSpPr>
        <p:spPr bwMode="auto">
          <a:xfrm flipH="1">
            <a:off x="6360795" y="2698750"/>
            <a:ext cx="287020" cy="665480"/>
          </a:xfrm>
          <a:prstGeom prst="straightConnector1">
            <a:avLst/>
          </a:prstGeom>
          <a:noFill/>
          <a:ln w="9525" algn="ctr">
            <a:solidFill>
              <a:schemeClr val="bg1">
                <a:lumMod val="50000"/>
              </a:schemeClr>
            </a:solidFill>
            <a:round/>
            <a:tailEnd type="triangle" w="med" len="med"/>
          </a:ln>
          <a:extLst>
            <a:ext uri="{909E8E84-426E-40DD-AFC4-6F175D3DCCD1}">
              <a14:hiddenFill xmlns:a14="http://schemas.microsoft.com/office/drawing/2010/main">
                <a:noFill/>
              </a14:hiddenFill>
            </a:ext>
          </a:extLst>
        </p:spPr>
      </p:cxnSp>
      <p:cxnSp>
        <p:nvCxnSpPr>
          <p:cNvPr id="84" name="直接箭头连接符 21"/>
          <p:cNvCxnSpPr>
            <a:cxnSpLocks noChangeShapeType="1"/>
          </p:cNvCxnSpPr>
          <p:nvPr/>
        </p:nvCxnSpPr>
        <p:spPr bwMode="auto">
          <a:xfrm flipH="1">
            <a:off x="7409815" y="2804160"/>
            <a:ext cx="907415" cy="601980"/>
          </a:xfrm>
          <a:prstGeom prst="straightConnector1">
            <a:avLst/>
          </a:prstGeom>
          <a:noFill/>
          <a:ln w="9525" algn="ctr">
            <a:solidFill>
              <a:schemeClr val="bg1">
                <a:lumMod val="50000"/>
              </a:schemeClr>
            </a:solidFill>
            <a:round/>
            <a:tailEnd type="triangle" w="med" len="med"/>
          </a:ln>
          <a:extLst>
            <a:ext uri="{909E8E84-426E-40DD-AFC4-6F175D3DCCD1}">
              <a14:hiddenFill xmlns:a14="http://schemas.microsoft.com/office/drawing/2010/main">
                <a:noFill/>
              </a14:hiddenFill>
            </a:ext>
          </a:extLst>
        </p:spPr>
      </p:cxnSp>
      <p:cxnSp>
        <p:nvCxnSpPr>
          <p:cNvPr id="86" name="直接箭头连接符 23"/>
          <p:cNvCxnSpPr>
            <a:cxnSpLocks noChangeShapeType="1"/>
          </p:cNvCxnSpPr>
          <p:nvPr/>
        </p:nvCxnSpPr>
        <p:spPr bwMode="auto">
          <a:xfrm>
            <a:off x="3061335" y="2861945"/>
            <a:ext cx="907415" cy="527050"/>
          </a:xfrm>
          <a:prstGeom prst="straightConnector1">
            <a:avLst/>
          </a:prstGeom>
          <a:noFill/>
          <a:ln w="9525" algn="ctr">
            <a:solidFill>
              <a:schemeClr val="bg1">
                <a:lumMod val="50000"/>
              </a:schemeClr>
            </a:solidFill>
            <a:round/>
            <a:tailEnd type="triangle" w="med" len="med"/>
          </a:ln>
          <a:extLst>
            <a:ext uri="{909E8E84-426E-40DD-AFC4-6F175D3DCCD1}">
              <a14:hiddenFill xmlns:a14="http://schemas.microsoft.com/office/drawing/2010/main">
                <a:noFill/>
              </a14:hiddenFill>
            </a:ext>
          </a:extLst>
        </p:spPr>
      </p:cxnSp>
      <p:cxnSp>
        <p:nvCxnSpPr>
          <p:cNvPr id="92" name="直接箭头连接符 34"/>
          <p:cNvCxnSpPr>
            <a:cxnSpLocks noChangeShapeType="1"/>
            <a:stCxn id="74" idx="2"/>
          </p:cNvCxnSpPr>
          <p:nvPr/>
        </p:nvCxnSpPr>
        <p:spPr bwMode="auto">
          <a:xfrm>
            <a:off x="4826000" y="2512695"/>
            <a:ext cx="287655" cy="577850"/>
          </a:xfrm>
          <a:prstGeom prst="straightConnector1">
            <a:avLst/>
          </a:prstGeom>
          <a:noFill/>
          <a:ln w="9525" algn="ctr">
            <a:solidFill>
              <a:schemeClr val="bg1">
                <a:lumMod val="50000"/>
              </a:schemeClr>
            </a:solidFill>
            <a:round/>
            <a:tailEnd type="triangle" w="med" len="med"/>
          </a:ln>
          <a:extLst>
            <a:ext uri="{909E8E84-426E-40DD-AFC4-6F175D3DCCD1}">
              <a14:hiddenFill xmlns:a14="http://schemas.microsoft.com/office/drawing/2010/main">
                <a:noFill/>
              </a14:hiddenFill>
            </a:ext>
          </a:extLst>
        </p:spPr>
      </p:cxnSp>
      <p:sp>
        <p:nvSpPr>
          <p:cNvPr id="14" name="矩形 13"/>
          <p:cNvSpPr/>
          <p:nvPr/>
        </p:nvSpPr>
        <p:spPr>
          <a:xfrm>
            <a:off x="1801495" y="1095375"/>
            <a:ext cx="1723390" cy="368300"/>
          </a:xfrm>
          <a:prstGeom prst="rect">
            <a:avLst/>
          </a:prstGeom>
        </p:spPr>
        <p:txBody>
          <a:bodyPr wrap="square">
            <a:spAutoFit/>
          </a:bodyPr>
          <a:lstStyle/>
          <a:p>
            <a:r>
              <a:rPr lang="zh-CN" altLang="en-US" b="1" kern="0" dirty="0">
                <a:latin typeface="楷体" panose="02010609060101010101" pitchFamily="49" charset="-122"/>
                <a:ea typeface="楷体" panose="02010609060101010101" pitchFamily="49" charset="-122"/>
              </a:rPr>
              <a:t>四纵</a:t>
            </a:r>
            <a:r>
              <a:rPr lang="en-US" altLang="zh-CN" kern="0"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
        <p:nvSpPr>
          <p:cNvPr id="3" name="矩形 2"/>
          <p:cNvSpPr/>
          <p:nvPr/>
        </p:nvSpPr>
        <p:spPr>
          <a:xfrm>
            <a:off x="10414000" y="4787265"/>
            <a:ext cx="1315085" cy="368300"/>
          </a:xfrm>
          <a:prstGeom prst="rect">
            <a:avLst/>
          </a:prstGeom>
        </p:spPr>
        <p:txBody>
          <a:bodyPr wrap="square">
            <a:spAutoFit/>
          </a:bodyPr>
          <a:p>
            <a:r>
              <a:rPr lang="en-US" altLang="zh-CN" kern="0" dirty="0">
                <a:latin typeface="楷体" panose="02010609060101010101" pitchFamily="49" charset="-122"/>
                <a:ea typeface="楷体" panose="02010609060101010101" pitchFamily="49" charset="-122"/>
              </a:rPr>
              <a:t>——</a:t>
            </a:r>
            <a:r>
              <a:rPr lang="zh-CN" altLang="en-US" kern="0" dirty="0">
                <a:latin typeface="楷体" panose="02010609060101010101" pitchFamily="49" charset="-122"/>
                <a:ea typeface="楷体" panose="02010609060101010101" pitchFamily="49" charset="-122"/>
              </a:rPr>
              <a:t>九</a:t>
            </a:r>
            <a:r>
              <a:rPr lang="zh-CN" altLang="en-US" kern="0" dirty="0">
                <a:latin typeface="楷体" panose="02010609060101010101" pitchFamily="49" charset="-122"/>
                <a:ea typeface="楷体" panose="02010609060101010101" pitchFamily="49" charset="-122"/>
              </a:rPr>
              <a:t>横</a:t>
            </a:r>
            <a:endParaRPr lang="zh-CN" altLang="en-US" kern="0" dirty="0">
              <a:latin typeface="楷体" panose="02010609060101010101" pitchFamily="49" charset="-122"/>
              <a:ea typeface="楷体" panose="02010609060101010101" pitchFamily="49" charset="-122"/>
            </a:endParaRPr>
          </a:p>
        </p:txBody>
      </p:sp>
      <p:sp>
        <p:nvSpPr>
          <p:cNvPr id="4" name="TextBox 51"/>
          <p:cNvSpPr txBox="1">
            <a:spLocks noChangeArrowheads="1"/>
          </p:cNvSpPr>
          <p:nvPr/>
        </p:nvSpPr>
        <p:spPr bwMode="auto">
          <a:xfrm>
            <a:off x="9875520" y="4363720"/>
            <a:ext cx="1853565" cy="337185"/>
          </a:xfrm>
          <a:prstGeom prst="rect">
            <a:avLst/>
          </a:prstGeom>
        </p:spPr>
        <p:style>
          <a:lnRef idx="2">
            <a:schemeClr val="lt1"/>
          </a:lnRef>
          <a:fillRef idx="1">
            <a:schemeClr val="accent1"/>
          </a:fillRef>
          <a:effectRef idx="1">
            <a:schemeClr val="accent1"/>
          </a:effectRef>
          <a:fontRef idx="minor">
            <a:schemeClr val="lt1"/>
          </a:fontRef>
        </p:style>
        <p:txBody>
          <a:bodyPr wrap="square">
            <a:spAutoFit/>
          </a:bodyPr>
          <a:lstStyle>
            <a:lvl1pPr>
              <a:defRPr sz="1400">
                <a:solidFill>
                  <a:schemeClr val="tx1"/>
                </a:solidFill>
                <a:latin typeface="Arial" panose="020B0604020202020204" pitchFamily="34" charset="0"/>
                <a:ea typeface="微软雅黑" panose="020B0503020204020204" pitchFamily="34" charset="-122"/>
              </a:defRPr>
            </a:lvl1pPr>
            <a:lvl2pPr marL="742950" indent="-285750">
              <a:defRPr sz="1400">
                <a:solidFill>
                  <a:schemeClr val="tx1"/>
                </a:solidFill>
                <a:latin typeface="Arial" panose="020B0604020202020204" pitchFamily="34" charset="0"/>
                <a:ea typeface="微软雅黑" panose="020B0503020204020204" pitchFamily="34" charset="-122"/>
              </a:defRPr>
            </a:lvl2pPr>
            <a:lvl3pPr marL="1143000" indent="-228600">
              <a:defRPr sz="1400">
                <a:solidFill>
                  <a:schemeClr val="tx1"/>
                </a:solidFill>
                <a:latin typeface="Arial" panose="020B0604020202020204" pitchFamily="34" charset="0"/>
                <a:ea typeface="微软雅黑" panose="020B0503020204020204" pitchFamily="34" charset="-122"/>
              </a:defRPr>
            </a:lvl3pPr>
            <a:lvl4pPr marL="1600200" indent="-228600">
              <a:defRPr sz="1400">
                <a:solidFill>
                  <a:schemeClr val="tx1"/>
                </a:solidFill>
                <a:latin typeface="Arial" panose="020B0604020202020204" pitchFamily="34" charset="0"/>
                <a:ea typeface="微软雅黑" panose="020B0503020204020204" pitchFamily="34" charset="-122"/>
              </a:defRPr>
            </a:lvl4pPr>
            <a:lvl5pPr marL="2057400" indent="-228600">
              <a:defRPr sz="1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kern="0" dirty="0">
                <a:solidFill>
                  <a:schemeClr val="bg1"/>
                </a:solidFill>
                <a:latin typeface="楷体" panose="02010609060101010101" pitchFamily="49" charset="-122"/>
                <a:ea typeface="楷体" panose="02010609060101010101" pitchFamily="49" charset="-122"/>
              </a:rPr>
              <a:t>数据</a:t>
            </a:r>
            <a:r>
              <a:rPr lang="zh-CN" altLang="en-US" sz="1600" b="1" kern="0" dirty="0">
                <a:solidFill>
                  <a:schemeClr val="bg1"/>
                </a:solidFill>
                <a:latin typeface="楷体" panose="02010609060101010101" pitchFamily="49" charset="-122"/>
                <a:ea typeface="楷体" panose="02010609060101010101" pitchFamily="49" charset="-122"/>
              </a:rPr>
              <a:t>领域</a:t>
            </a:r>
            <a:endParaRPr lang="zh-CN" altLang="en-US" sz="1600" b="1" kern="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nchor="ctr"/>
          <a:lstStyle/>
          <a:p>
            <a:fld id="{5DD3DB80-B894-403A-B48E-6FDC1A72010E}" type="slidenum">
              <a:rPr lang="zh-CN" altLang="en-US" smtClean="0"/>
            </a:fld>
            <a:endParaRPr lang="zh-CN" altLang="en-US" smtClean="0"/>
          </a:p>
        </p:txBody>
      </p:sp>
      <p:sp>
        <p:nvSpPr>
          <p:cNvPr id="3" name="Title 2"/>
          <p:cNvSpPr>
            <a:spLocks noGrp="1"/>
          </p:cNvSpPr>
          <p:nvPr>
            <p:ph type="title"/>
          </p:nvPr>
        </p:nvSpPr>
        <p:spPr/>
        <p:txBody>
          <a:bodyPr anchor="ctr"/>
          <a:lstStyle/>
          <a:p>
            <a:r>
              <a:rPr lang="zh-CN" altLang="en-US"/>
              <a:t>主数据管理组织架构</a:t>
            </a:r>
            <a:endParaRPr lang="zh-CN" altLang="en-US"/>
          </a:p>
        </p:txBody>
      </p:sp>
      <p:sp>
        <p:nvSpPr>
          <p:cNvPr id="4" name="Rectangle 16"/>
          <p:cNvSpPr>
            <a:spLocks noChangeArrowheads="1"/>
          </p:cNvSpPr>
          <p:nvPr/>
        </p:nvSpPr>
        <p:spPr bwMode="auto">
          <a:xfrm>
            <a:off x="610660" y="981140"/>
            <a:ext cx="10969409" cy="1134660"/>
          </a:xfrm>
          <a:prstGeom prst="rect">
            <a:avLst/>
          </a:prstGeom>
          <a:noFill/>
          <a:ln w="19050">
            <a:noFill/>
            <a:miter lim="800000"/>
          </a:ln>
          <a:effectLst/>
        </p:spPr>
        <p:txBody>
          <a:bodyPr lIns="72000" rIns="0" anchor="ctr"/>
          <a:lstStyle/>
          <a:p>
            <a:pPr marL="269875" indent="-259080" eaLnBrk="0" fontAlgn="base" hangingPunct="0">
              <a:lnSpc>
                <a:spcPct val="150000"/>
              </a:lnSpc>
              <a:spcBef>
                <a:spcPct val="0"/>
              </a:spcBef>
              <a:spcAft>
                <a:spcPct val="0"/>
              </a:spcAft>
              <a:buFont typeface="Wingdings" panose="05000000000000000000" pitchFamily="2" charset="2"/>
              <a:buChar char="Ø"/>
              <a:defRPr/>
            </a:pPr>
            <a:r>
              <a:rPr lang="zh-CN" altLang="en-US" sz="1600" kern="0">
                <a:solidFill>
                  <a:srgbClr val="000000"/>
                </a:solidFill>
                <a:latin typeface="微软雅黑" panose="020B0503020204020204" pitchFamily="34" charset="-122"/>
                <a:ea typeface="微软雅黑" panose="020B0503020204020204" pitchFamily="34" charset="-122"/>
              </a:rPr>
              <a:t>洲明科技数据管理小组</a:t>
            </a:r>
            <a:r>
              <a:rPr lang="zh-CN" altLang="en-US" sz="1600" b="1" i="1" u="sng" kern="0">
                <a:solidFill>
                  <a:srgbClr val="C00000"/>
                </a:solidFill>
                <a:latin typeface="微软雅黑" panose="020B0503020204020204" pitchFamily="34" charset="-122"/>
                <a:ea typeface="微软雅黑" panose="020B0503020204020204" pitchFamily="34" charset="-122"/>
              </a:rPr>
              <a:t>是全集团数据管理部门</a:t>
            </a:r>
            <a:r>
              <a:rPr lang="zh-CN" altLang="en-US" sz="1600" kern="0">
                <a:solidFill>
                  <a:srgbClr val="000000"/>
                </a:solidFill>
                <a:latin typeface="微软雅黑" panose="020B0503020204020204" pitchFamily="34" charset="-122"/>
                <a:ea typeface="微软雅黑" panose="020B0503020204020204" pitchFamily="34" charset="-122"/>
              </a:rPr>
              <a:t>，洲明数据</a:t>
            </a:r>
            <a:r>
              <a:rPr lang="zh-CN" altLang="en-US" sz="1600" kern="0">
                <a:solidFill>
                  <a:srgbClr val="000000"/>
                </a:solidFill>
                <a:latin typeface="微软雅黑" panose="020B0503020204020204" pitchFamily="34" charset="-122"/>
                <a:ea typeface="微软雅黑" panose="020B0503020204020204" pitchFamily="34" charset="-122"/>
              </a:rPr>
              <a:t>管理小组负责人是全集团数据管理责任人。</a:t>
            </a:r>
            <a:endParaRPr lang="zh-CN" altLang="en-US" sz="1600" kern="0">
              <a:solidFill>
                <a:srgbClr val="000000"/>
              </a:solidFill>
              <a:latin typeface="微软雅黑" panose="020B0503020204020204" pitchFamily="34" charset="-122"/>
              <a:ea typeface="微软雅黑" panose="020B0503020204020204" pitchFamily="34" charset="-122"/>
            </a:endParaRPr>
          </a:p>
          <a:p>
            <a:pPr marL="269875" indent="-259080" eaLnBrk="0" fontAlgn="base" hangingPunct="0">
              <a:lnSpc>
                <a:spcPct val="150000"/>
              </a:lnSpc>
              <a:spcBef>
                <a:spcPct val="0"/>
              </a:spcBef>
              <a:spcAft>
                <a:spcPct val="0"/>
              </a:spcAft>
              <a:buFont typeface="Wingdings" panose="05000000000000000000" pitchFamily="2" charset="2"/>
              <a:buChar char="Ø"/>
              <a:defRPr/>
            </a:pPr>
            <a:r>
              <a:rPr lang="zh-CN" altLang="en-US" sz="1600" kern="0">
                <a:solidFill>
                  <a:srgbClr val="000000"/>
                </a:solidFill>
                <a:latin typeface="微软雅黑" panose="020B0503020204020204" pitchFamily="34" charset="-122"/>
                <a:ea typeface="微软雅黑" panose="020B0503020204020204" pitchFamily="34" charset="-122"/>
              </a:rPr>
              <a:t>由洲明数据管理小组统筹管理集团内各主数据工作，各业务归口管理部门承担相关</a:t>
            </a:r>
            <a:r>
              <a:rPr lang="zh-CN" altLang="en-US" sz="1600" kern="0">
                <a:solidFill>
                  <a:srgbClr val="000000"/>
                </a:solidFill>
                <a:latin typeface="微软雅黑" panose="020B0503020204020204" pitchFamily="34" charset="-122"/>
                <a:ea typeface="微软雅黑" panose="020B0503020204020204" pitchFamily="34" charset="-122"/>
              </a:rPr>
              <a:t>领域数据管理的责任。</a:t>
            </a: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5" name="矩形 78"/>
          <p:cNvSpPr/>
          <p:nvPr/>
        </p:nvSpPr>
        <p:spPr>
          <a:xfrm>
            <a:off x="856942" y="2115666"/>
            <a:ext cx="549814" cy="3852445"/>
          </a:xfrm>
          <a:prstGeom prst="rect">
            <a:avLst/>
          </a:prstGeom>
        </p:spPr>
        <p:style>
          <a:lnRef idx="2">
            <a:schemeClr val="lt1"/>
          </a:lnRef>
          <a:fillRef idx="1">
            <a:schemeClr val="accent1"/>
          </a:fillRef>
          <a:effectRef idx="1">
            <a:schemeClr val="accent1"/>
          </a:effectRef>
          <a:fontRef idx="minor">
            <a:schemeClr val="lt1"/>
          </a:fontRef>
        </p:style>
        <p:txBody>
          <a:bodyPr rtlCol="0" anchor="ctr"/>
          <a:lstStyle/>
          <a:p>
            <a:pPr algn="ctr" fontAlgn="base">
              <a:spcBef>
                <a:spcPct val="50000"/>
              </a:spcBef>
              <a:spcAft>
                <a:spcPct val="0"/>
              </a:spcAft>
              <a:defRPr/>
            </a:pPr>
            <a:r>
              <a:rPr lang="zh-CN" altLang="en-US" b="1" kern="0">
                <a:solidFill>
                  <a:srgbClr val="FFFFFF"/>
                </a:solidFill>
                <a:latin typeface="微软雅黑" panose="020B0503020204020204" pitchFamily="34" charset="-122"/>
                <a:ea typeface="微软雅黑" panose="020B0503020204020204" pitchFamily="34" charset="-122"/>
              </a:rPr>
              <a:t>洲明数据管理组织架构</a:t>
            </a: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0" name="Pentagon 123"/>
          <p:cNvSpPr/>
          <p:nvPr/>
        </p:nvSpPr>
        <p:spPr bwMode="auto">
          <a:xfrm>
            <a:off x="1528877" y="2277151"/>
            <a:ext cx="603006" cy="1427643"/>
          </a:xfrm>
          <a:prstGeom prst="homePlate">
            <a:avLst>
              <a:gd name="adj" fmla="val 17272"/>
            </a:avLst>
          </a:prstGeom>
          <a:solidFill>
            <a:srgbClr val="029E9A"/>
          </a:solidFill>
          <a:ln w="12700" cap="flat" cmpd="sng" algn="ctr">
            <a:noFill/>
            <a:prstDash val="solid"/>
            <a:miter lim="800000"/>
            <a:headEnd type="none" w="med" len="med"/>
            <a:tailEnd type="none" w="med" len="med"/>
          </a:ln>
          <a:effectLst/>
        </p:spPr>
        <p:txBody>
          <a:bodyPr vert="horz" wrap="square" lIns="91440" tIns="45720" rIns="91440" bIns="45720" numCol="1" rtlCol="0" anchor="ctr" anchorCtr="0" compatLnSpc="1"/>
          <a:lstStyle/>
          <a:p>
            <a:pPr marL="0" marR="0" lvl="0" indent="0" algn="ctr" defTabSz="866775" eaLnBrk="0" fontAlgn="base" latinLnBrk="0" hangingPunct="0">
              <a:lnSpc>
                <a:spcPct val="100000"/>
              </a:lnSpc>
              <a:spcBef>
                <a:spcPct val="0"/>
              </a:spcBef>
              <a:spcAft>
                <a:spcPct val="0"/>
              </a:spcAft>
              <a:buClrTx/>
              <a:buSzTx/>
              <a:buFontTx/>
              <a:buNone/>
              <a:defRPr/>
            </a:pPr>
            <a:r>
              <a:rPr lang="zh-CN" altLang="en-US" sz="1600" b="1" kern="0">
                <a:solidFill>
                  <a:srgbClr val="FFFFFF"/>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管理</a:t>
            </a:r>
            <a:r>
              <a:rPr kumimoji="0" lang="zh-CN" altLang="en-US" sz="1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Calibri" panose="020F0502020204030204" charset="0"/>
                <a:sym typeface="Calibri" panose="020F0502020204030204" charset="0"/>
              </a:rPr>
              <a:t>层</a:t>
            </a:r>
            <a:endParaRPr kumimoji="0" lang="zh-CN" altLang="en-US" sz="1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宋体" pitchFamily="2" charset="-122"/>
            </a:endParaRPr>
          </a:p>
        </p:txBody>
      </p:sp>
      <p:sp>
        <p:nvSpPr>
          <p:cNvPr id="11" name="Rectangle 92"/>
          <p:cNvSpPr/>
          <p:nvPr/>
        </p:nvSpPr>
        <p:spPr>
          <a:xfrm>
            <a:off x="2252282" y="2277151"/>
            <a:ext cx="8283637" cy="1427643"/>
          </a:xfrm>
          <a:prstGeom prst="rect">
            <a:avLst/>
          </a:prstGeom>
          <a:solidFill>
            <a:srgbClr val="B8DFDB"/>
          </a:solidFill>
          <a:ln w="9525" cap="flat" cmpd="sng" algn="ctr">
            <a:no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mn-lt"/>
            </a:endParaRPr>
          </a:p>
        </p:txBody>
      </p:sp>
      <p:sp>
        <p:nvSpPr>
          <p:cNvPr id="12" name="Rectangle 11"/>
          <p:cNvSpPr/>
          <p:nvPr/>
        </p:nvSpPr>
        <p:spPr>
          <a:xfrm>
            <a:off x="2895142" y="2493057"/>
            <a:ext cx="5720032" cy="1017428"/>
          </a:xfrm>
          <a:prstGeom prst="rect">
            <a:avLst/>
          </a:prstGeom>
          <a:solidFill>
            <a:srgbClr val="0C7F8A"/>
          </a:solidFill>
          <a:ln w="19050"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 typeface="Wingdings" panose="05000000000000000000" pitchFamily="2" charset="2"/>
              <a:buNone/>
              <a:defRPr/>
            </a:pPr>
            <a:r>
              <a:rPr kumimoji="0" lang="zh-CN" altLang="en-US"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mn-ea"/>
              </a:rPr>
              <a:t>主数据管理小</a:t>
            </a:r>
            <a:r>
              <a:rPr lang="zh-CN" altLang="en-US" b="1" kern="0">
                <a:solidFill>
                  <a:schemeClr val="bg1"/>
                </a:solidFill>
                <a:latin typeface="微软雅黑" panose="020B0503020204020204" pitchFamily="34" charset="-122"/>
                <a:ea typeface="微软雅黑" panose="020B0503020204020204" pitchFamily="34" charset="-122"/>
                <a:sym typeface="+mn-ea"/>
              </a:rPr>
              <a:t>组</a:t>
            </a:r>
            <a:endParaRPr kumimoji="0" lang="en-US" altLang="zh-CN"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mn-lt"/>
            </a:endParaRPr>
          </a:p>
        </p:txBody>
      </p:sp>
      <p:sp>
        <p:nvSpPr>
          <p:cNvPr id="18" name="Pentagon 128"/>
          <p:cNvSpPr/>
          <p:nvPr/>
        </p:nvSpPr>
        <p:spPr bwMode="auto">
          <a:xfrm>
            <a:off x="1528877" y="4305587"/>
            <a:ext cx="556805" cy="1551698"/>
          </a:xfrm>
          <a:prstGeom prst="homePlate">
            <a:avLst>
              <a:gd name="adj" fmla="val 17272"/>
            </a:avLst>
          </a:prstGeom>
          <a:solidFill>
            <a:srgbClr val="029E9A"/>
          </a:solidFill>
          <a:ln w="12700" cap="flat" cmpd="sng" algn="ctr">
            <a:noFill/>
            <a:prstDash val="solid"/>
            <a:miter lim="800000"/>
            <a:headEnd type="none" w="med" len="med"/>
            <a:tailEnd type="none" w="med" len="med"/>
          </a:ln>
          <a:effectLst/>
        </p:spPr>
        <p:txBody>
          <a:bodyPr vert="horz" wrap="square" lIns="91440" tIns="45720" rIns="91440" bIns="45720" numCol="1" rtlCol="0" anchor="ctr" anchorCtr="0" compatLnSpc="1"/>
          <a:lstStyle/>
          <a:p>
            <a:pPr marL="0" marR="0" lvl="0" indent="0" algn="ctr" defTabSz="866775" eaLnBrk="0" fontAlgn="base" latinLnBrk="0" hangingPunct="0">
              <a:lnSpc>
                <a:spcPct val="100000"/>
              </a:lnSpc>
              <a:spcBef>
                <a:spcPct val="0"/>
              </a:spcBef>
              <a:spcAft>
                <a:spcPct val="0"/>
              </a:spcAft>
              <a:buClrTx/>
              <a:buSzTx/>
              <a:buFontTx/>
              <a:buNone/>
              <a:defRPr/>
            </a:pPr>
            <a:r>
              <a:rPr kumimoji="0" lang="zh-CN" altLang="en-US" sz="1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宋体" pitchFamily="2" charset="-122"/>
              </a:rPr>
              <a:t>执行层</a:t>
            </a:r>
            <a:endParaRPr kumimoji="0" lang="zh-CN" altLang="en-US" sz="1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宋体" pitchFamily="2" charset="-122"/>
            </a:endParaRPr>
          </a:p>
        </p:txBody>
      </p:sp>
      <p:sp>
        <p:nvSpPr>
          <p:cNvPr id="19" name="Rectangle 90"/>
          <p:cNvSpPr/>
          <p:nvPr/>
        </p:nvSpPr>
        <p:spPr>
          <a:xfrm>
            <a:off x="2252152" y="4306556"/>
            <a:ext cx="8283768" cy="1551698"/>
          </a:xfrm>
          <a:prstGeom prst="rect">
            <a:avLst/>
          </a:prstGeom>
          <a:solidFill>
            <a:srgbClr val="B8DFDB"/>
          </a:solidFill>
          <a:ln w="9525" cap="flat" cmpd="sng" algn="ctr">
            <a:no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mn-lt"/>
            </a:endParaRPr>
          </a:p>
        </p:txBody>
      </p:sp>
      <p:sp>
        <p:nvSpPr>
          <p:cNvPr id="65" name="Rectangle: Rounded Corners 64"/>
          <p:cNvSpPr/>
          <p:nvPr/>
        </p:nvSpPr>
        <p:spPr>
          <a:xfrm>
            <a:off x="2421255" y="4427855"/>
            <a:ext cx="5180330" cy="1324610"/>
          </a:xfrm>
          <a:prstGeom prst="roundRect">
            <a:avLst/>
          </a:prstGeom>
          <a:solidFill>
            <a:srgbClr val="0C7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sp>
        <p:nvSpPr>
          <p:cNvPr id="64" name="Arrow: Down 95"/>
          <p:cNvSpPr/>
          <p:nvPr/>
        </p:nvSpPr>
        <p:spPr>
          <a:xfrm>
            <a:off x="5564264" y="3750010"/>
            <a:ext cx="512289" cy="536316"/>
          </a:xfrm>
          <a:prstGeom prst="downArrow">
            <a:avLst>
              <a:gd name="adj1" fmla="val 50000"/>
              <a:gd name="adj2" fmla="val 41838"/>
            </a:avLst>
          </a:prstGeom>
          <a:solidFill>
            <a:srgbClr val="FFFFFF">
              <a:lumMod val="75000"/>
              <a:alpha val="57713"/>
            </a:srgbClr>
          </a:solidFill>
          <a:ln w="9525" cap="flat" cmpd="sng" algn="ctr">
            <a:solidFill>
              <a:srgbClr val="646464"/>
            </a:solid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mn-lt"/>
            </a:endParaRPr>
          </a:p>
        </p:txBody>
      </p:sp>
      <p:sp>
        <p:nvSpPr>
          <p:cNvPr id="34" name="文本框 151"/>
          <p:cNvSpPr txBox="1"/>
          <p:nvPr/>
        </p:nvSpPr>
        <p:spPr>
          <a:xfrm>
            <a:off x="2621146" y="4600664"/>
            <a:ext cx="1301956" cy="360000"/>
          </a:xfrm>
          <a:prstGeom prst="rect">
            <a:avLst/>
          </a:prstGeom>
          <a:solidFill>
            <a:srgbClr val="FFFFFF"/>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人力资源管理中心</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3" name="文本框 151"/>
          <p:cNvSpPr txBox="1"/>
          <p:nvPr/>
        </p:nvSpPr>
        <p:spPr>
          <a:xfrm>
            <a:off x="2621146" y="5198779"/>
            <a:ext cx="1301956" cy="360000"/>
          </a:xfrm>
          <a:prstGeom prst="rect">
            <a:avLst/>
          </a:prstGeom>
          <a:solidFill>
            <a:schemeClr val="bg1">
              <a:lumMod val="65000"/>
            </a:schemeClr>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归口部门</a:t>
            </a: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文本框 151"/>
          <p:cNvSpPr txBox="1"/>
          <p:nvPr/>
        </p:nvSpPr>
        <p:spPr>
          <a:xfrm>
            <a:off x="4302977" y="4600664"/>
            <a:ext cx="1301956" cy="360000"/>
          </a:xfrm>
          <a:prstGeom prst="rect">
            <a:avLst/>
          </a:prstGeom>
          <a:solidFill>
            <a:schemeClr val="bg1">
              <a:lumMod val="65000"/>
            </a:schemeClr>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归口部门</a:t>
            </a: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文本框 151"/>
          <p:cNvSpPr txBox="1"/>
          <p:nvPr/>
        </p:nvSpPr>
        <p:spPr>
          <a:xfrm>
            <a:off x="4302977" y="5198779"/>
            <a:ext cx="1301956" cy="360000"/>
          </a:xfrm>
          <a:prstGeom prst="rect">
            <a:avLst/>
          </a:prstGeom>
          <a:solidFill>
            <a:schemeClr val="bg1">
              <a:lumMod val="65000"/>
            </a:schemeClr>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归口部门</a:t>
            </a: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文本框 151"/>
          <p:cNvSpPr txBox="1"/>
          <p:nvPr/>
        </p:nvSpPr>
        <p:spPr>
          <a:xfrm>
            <a:off x="5984756" y="4600664"/>
            <a:ext cx="1301956" cy="360000"/>
          </a:xfrm>
          <a:prstGeom prst="rect">
            <a:avLst/>
          </a:prstGeom>
          <a:solidFill>
            <a:schemeClr val="bg1">
              <a:lumMod val="65000"/>
            </a:schemeClr>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归口部门</a:t>
            </a: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 name="文本框 151"/>
          <p:cNvSpPr txBox="1"/>
          <p:nvPr/>
        </p:nvSpPr>
        <p:spPr>
          <a:xfrm>
            <a:off x="5984756" y="5198779"/>
            <a:ext cx="1301956" cy="360000"/>
          </a:xfrm>
          <a:prstGeom prst="rect">
            <a:avLst/>
          </a:prstGeom>
          <a:solidFill>
            <a:schemeClr val="bg1">
              <a:lumMod val="65000"/>
            </a:schemeClr>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归口部门</a:t>
            </a: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Rectangle: Rounded Corners 65"/>
          <p:cNvSpPr/>
          <p:nvPr/>
        </p:nvSpPr>
        <p:spPr>
          <a:xfrm>
            <a:off x="7763510" y="4427855"/>
            <a:ext cx="1490980" cy="1316355"/>
          </a:xfrm>
          <a:prstGeom prst="roundRect">
            <a:avLst/>
          </a:prstGeom>
          <a:solidFill>
            <a:srgbClr val="0C7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sp>
        <p:nvSpPr>
          <p:cNvPr id="56" name="文本框 151"/>
          <p:cNvSpPr txBox="1"/>
          <p:nvPr/>
        </p:nvSpPr>
        <p:spPr>
          <a:xfrm>
            <a:off x="7858305" y="4591644"/>
            <a:ext cx="1301956" cy="360000"/>
          </a:xfrm>
          <a:prstGeom prst="rect">
            <a:avLst/>
          </a:prstGeom>
          <a:solidFill>
            <a:srgbClr val="FFFFFF"/>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流程与运营部</a:t>
            </a:r>
            <a:endParaRPr kumimoji="1" lang="zh-CN" altLang="en-US"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5" name="文本框 151"/>
          <p:cNvSpPr txBox="1"/>
          <p:nvPr/>
        </p:nvSpPr>
        <p:spPr>
          <a:xfrm>
            <a:off x="7858305" y="5189852"/>
            <a:ext cx="1301956" cy="360000"/>
          </a:xfrm>
          <a:prstGeom prst="rect">
            <a:avLst/>
          </a:prstGeom>
          <a:solidFill>
            <a:srgbClr val="FFFFFF"/>
          </a:solidFill>
        </p:spPr>
        <p:txBody>
          <a:bodyPr wrap="square" lIns="0" tIns="36576" rIns="0" bIns="0" rtlCol="0" anchor="ctr" anchorCtr="0">
            <a:noAutofit/>
          </a:bodyPr>
          <a:lstStyle/>
          <a:p>
            <a:pPr marL="0" marR="0" lvl="0" indent="0" algn="ctr" defTabSz="914400" eaLnBrk="1" fontAlgn="auto" latinLnBrk="0" hangingPunct="1">
              <a:lnSpc>
                <a:spcPct val="100000"/>
              </a:lnSpc>
              <a:spcBef>
                <a:spcPts val="0"/>
              </a:spcBef>
              <a:spcAft>
                <a:spcPts val="0"/>
              </a:spcAft>
              <a:buClr>
                <a:srgbClr val="27ACAA"/>
              </a:buClr>
              <a:buSzPct val="70000"/>
              <a:buFontTx/>
              <a:buNone/>
              <a:defRPr/>
            </a:pPr>
            <a:r>
              <a:rPr kumimoji="1" lang="en-US" altLang="zh-CN" sz="1000" b="1" ker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IT</a:t>
            </a:r>
            <a:r>
              <a:rPr kumimoji="1" lang="zh-CN" altLang="en-US" sz="1000" b="1" ker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数智部</a:t>
            </a:r>
            <a:endParaRPr kumimoji="1" lang="zh-CN" altLang="en-US" sz="1000" b="1" ker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5"/>
          <p:cNvSpPr/>
          <p:nvPr/>
        </p:nvSpPr>
        <p:spPr>
          <a:xfrm>
            <a:off x="3210231" y="2909237"/>
            <a:ext cx="1425679" cy="4841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latin typeface="微软雅黑" panose="020B0503020204020204" pitchFamily="34" charset="-122"/>
                <a:ea typeface="微软雅黑" panose="020B0503020204020204" pitchFamily="34" charset="-122"/>
              </a:rPr>
              <a:t>总监督</a:t>
            </a: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9" name="Rectangle 8"/>
          <p:cNvSpPr/>
          <p:nvPr/>
        </p:nvSpPr>
        <p:spPr>
          <a:xfrm>
            <a:off x="5062729" y="2909237"/>
            <a:ext cx="1425679" cy="4841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latin typeface="微软雅黑" panose="020B0503020204020204" pitchFamily="34" charset="-122"/>
                <a:ea typeface="微软雅黑" panose="020B0503020204020204" pitchFamily="34" charset="-122"/>
              </a:rPr>
              <a:t>组长</a:t>
            </a: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16" name="Rectangle 15"/>
          <p:cNvSpPr/>
          <p:nvPr/>
        </p:nvSpPr>
        <p:spPr>
          <a:xfrm>
            <a:off x="6915226" y="2909237"/>
            <a:ext cx="1425679" cy="4841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latin typeface="微软雅黑" panose="020B0503020204020204" pitchFamily="34" charset="-122"/>
                <a:ea typeface="微软雅黑" panose="020B0503020204020204" pitchFamily="34" charset="-122"/>
              </a:rPr>
              <a:t>副组长</a:t>
            </a: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23900" y="735330"/>
            <a:ext cx="10435590" cy="368300"/>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根据洲明组织架构和管理模式，项目组建议构建</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管理层</a:t>
            </a:r>
            <a:r>
              <a:rPr lang="en-US" altLang="zh-CN">
                <a:latin typeface="微软雅黑" panose="020B0503020204020204" pitchFamily="34" charset="-122"/>
                <a:ea typeface="微软雅黑" panose="020B0503020204020204" pitchFamily="34" charset="-122"/>
              </a:rPr>
              <a:t> + </a:t>
            </a:r>
            <a:r>
              <a:rPr lang="zh-CN" altLang="en-US">
                <a:latin typeface="微软雅黑" panose="020B0503020204020204" pitchFamily="34" charset="-122"/>
                <a:ea typeface="微软雅黑" panose="020B0503020204020204" pitchFamily="34" charset="-122"/>
              </a:rPr>
              <a:t>执行层</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两层数据管理组织架构</a:t>
            </a:r>
            <a:endParaRPr lang="zh-CN" altLang="en-US">
              <a:latin typeface="微软雅黑" panose="020B0503020204020204" pitchFamily="34" charset="-122"/>
              <a:ea typeface="微软雅黑" panose="020B0503020204020204" pitchFamily="34" charset="-122"/>
            </a:endParaRPr>
          </a:p>
        </p:txBody>
      </p:sp>
      <p:sp>
        <p:nvSpPr>
          <p:cNvPr id="13" name="文本框 12"/>
          <p:cNvSpPr txBox="1"/>
          <p:nvPr/>
        </p:nvSpPr>
        <p:spPr>
          <a:xfrm>
            <a:off x="9290685" y="2594610"/>
            <a:ext cx="1288415" cy="814705"/>
          </a:xfrm>
          <a:prstGeom prst="rect">
            <a:avLst/>
          </a:prstGeom>
          <a:noFill/>
        </p:spPr>
        <p:txBody>
          <a:bodyPr wrap="square" rtlCol="0" anchor="t">
            <a:spAutoFit/>
          </a:bodyPr>
          <a:p>
            <a:pPr marL="285750" indent="-285750">
              <a:lnSpc>
                <a:spcPct val="150000"/>
              </a:lnSpc>
              <a:spcAft>
                <a:spcPts val="600"/>
              </a:spcAft>
              <a:buFont typeface="Wingdings" panose="05000000000000000000" pitchFamily="2" charset="2"/>
              <a:buChar char="ü"/>
              <a:defRPr/>
            </a:pPr>
            <a:r>
              <a:rPr lang="zh-CN" altLang="en-US" sz="1400" b="1" kern="0">
                <a:solidFill>
                  <a:srgbClr val="000000"/>
                </a:solidFill>
                <a:latin typeface="微软雅黑" panose="020B0503020204020204" pitchFamily="34" charset="-122"/>
                <a:ea typeface="微软雅黑" panose="020B0503020204020204" pitchFamily="34" charset="-122"/>
                <a:sym typeface="+mn-ea"/>
              </a:rPr>
              <a:t>决策制定</a:t>
            </a:r>
            <a:endParaRPr lang="zh-CN" altLang="en-US" sz="1400" b="1" kern="0">
              <a:solidFill>
                <a:srgbClr val="000000"/>
              </a:solidFill>
              <a:latin typeface="微软雅黑" panose="020B0503020204020204" pitchFamily="34" charset="-122"/>
              <a:ea typeface="微软雅黑" panose="020B0503020204020204" pitchFamily="34" charset="-122"/>
              <a:sym typeface="+mn-ea"/>
            </a:endParaRPr>
          </a:p>
          <a:p>
            <a:pPr marL="285750" indent="-285750">
              <a:lnSpc>
                <a:spcPct val="150000"/>
              </a:lnSpc>
              <a:spcAft>
                <a:spcPts val="600"/>
              </a:spcAft>
              <a:buFont typeface="Wingdings" panose="05000000000000000000" pitchFamily="2" charset="2"/>
              <a:buChar char="ü"/>
              <a:defRPr/>
            </a:pPr>
            <a:r>
              <a:rPr lang="zh-CN" altLang="en-US" sz="1400" b="1" kern="0">
                <a:solidFill>
                  <a:srgbClr val="000000"/>
                </a:solidFill>
                <a:latin typeface="微软雅黑" panose="020B0503020204020204" pitchFamily="34" charset="-122"/>
                <a:ea typeface="微软雅黑" panose="020B0503020204020204" pitchFamily="34" charset="-122"/>
                <a:sym typeface="+mn-ea"/>
              </a:rPr>
              <a:t>统筹管理</a:t>
            </a:r>
            <a:endParaRPr lang="zh-CN" altLang="en-US" sz="1400" b="1" kern="0">
              <a:solidFill>
                <a:srgbClr val="000000"/>
              </a:solidFill>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9348470" y="4825365"/>
            <a:ext cx="1233170" cy="414020"/>
          </a:xfrm>
          <a:prstGeom prst="rect">
            <a:avLst/>
          </a:prstGeom>
          <a:noFill/>
        </p:spPr>
        <p:txBody>
          <a:bodyPr wrap="square" rtlCol="0" anchor="t">
            <a:spAutoFit/>
          </a:bodyPr>
          <a:p>
            <a:pPr marL="285750" indent="-285750">
              <a:lnSpc>
                <a:spcPct val="150000"/>
              </a:lnSpc>
              <a:spcAft>
                <a:spcPts val="600"/>
              </a:spcAft>
              <a:buFont typeface="Wingdings" panose="05000000000000000000" pitchFamily="2" charset="2"/>
              <a:buChar char="ü"/>
              <a:defRPr/>
            </a:pPr>
            <a:r>
              <a:rPr lang="zh-CN" altLang="en-US" sz="1400" b="1" kern="0">
                <a:solidFill>
                  <a:srgbClr val="000000"/>
                </a:solidFill>
                <a:latin typeface="微软雅黑" panose="020B0503020204020204" pitchFamily="34" charset="-122"/>
                <a:ea typeface="微软雅黑" panose="020B0503020204020204" pitchFamily="34" charset="-122"/>
                <a:sym typeface="+mn-ea"/>
              </a:rPr>
              <a:t>落地执行</a:t>
            </a:r>
            <a:endParaRPr lang="zh-CN" altLang="en-US" sz="1400" b="1" kern="0">
              <a:solidFill>
                <a:srgbClr val="000000"/>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857250" y="6301740"/>
            <a:ext cx="5080000" cy="226060"/>
          </a:xfrm>
          <a:prstGeom prst="rect">
            <a:avLst/>
          </a:prstGeom>
        </p:spPr>
        <p:txBody>
          <a:bodyPr>
            <a:spAutoFit/>
          </a:bodyPr>
          <a:p>
            <a:pPr marL="0" indent="0">
              <a:lnSpc>
                <a:spcPts val="1050"/>
              </a:lnSpc>
              <a:spcBef>
                <a:spcPct val="0"/>
              </a:spcBef>
              <a:spcAft>
                <a:spcPct val="0"/>
              </a:spcAft>
            </a:pPr>
            <a:r>
              <a:rPr lang="zh-CN" altLang="en-US" sz="1600" b="1" i="0">
                <a:solidFill>
                  <a:srgbClr val="000000"/>
                </a:solidFill>
                <a:latin typeface="微软雅黑" panose="020B0503020204020204" pitchFamily="34" charset="-122"/>
                <a:ea typeface="微软雅黑" panose="020B0503020204020204" pitchFamily="34" charset="-122"/>
              </a:rPr>
              <a:t>职责精准分层、决策高效传导、执行快速落地</a:t>
            </a:r>
            <a:endParaRPr lang="zh-CN" altLang="en-US" sz="16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主数据管理体系</a:t>
            </a:r>
            <a:r>
              <a:rPr lang="en-US" altLang="zh-CN">
                <a:sym typeface="+mn-ea"/>
              </a:rPr>
              <a:t>-</a:t>
            </a:r>
            <a:r>
              <a:rPr lang="zh-CN" altLang="en-US">
                <a:sym typeface="+mn-ea"/>
              </a:rPr>
              <a:t>制度</a:t>
            </a:r>
            <a:endParaRPr kumimoji="1" lang="zh-CN" altLang="en-US" dirty="0"/>
          </a:p>
        </p:txBody>
      </p:sp>
      <p:sp>
        <p:nvSpPr>
          <p:cNvPr id="33" name="Rectangle 2"/>
          <p:cNvSpPr/>
          <p:nvPr/>
        </p:nvSpPr>
        <p:spPr>
          <a:xfrm>
            <a:off x="559435" y="1228725"/>
            <a:ext cx="1249680" cy="837565"/>
          </a:xfrm>
          <a:prstGeom prst="rect">
            <a:avLst/>
          </a:prstGeom>
          <a:solidFill>
            <a:schemeClr val="bg1">
              <a:lumMod val="8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strike="noStrike" kern="0" cap="none" spc="0" normalizeH="0" baseline="0" noProof="0" dirty="0">
                <a:ln>
                  <a:noFill/>
                </a:ln>
                <a:solidFill>
                  <a:srgbClr val="131313"/>
                </a:solidFill>
                <a:effectLst/>
                <a:uLnTx/>
                <a:uFillTx/>
                <a:latin typeface="微软雅黑" panose="020B0503020204020204" pitchFamily="34" charset="-122"/>
                <a:ea typeface="微软雅黑" panose="020B0503020204020204" pitchFamily="34" charset="-122"/>
              </a:rPr>
              <a:t>洲明制度</a:t>
            </a:r>
            <a:endParaRPr kumimoji="0" lang="zh-CN" altLang="en-US" sz="1400" b="1" i="0" strike="noStrike" kern="0" cap="none" spc="0" normalizeH="0" baseline="0" noProof="0" dirty="0">
              <a:ln>
                <a:noFill/>
              </a:ln>
              <a:solidFill>
                <a:srgbClr val="131313"/>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strike="noStrike" kern="0" cap="none" spc="0" normalizeH="0" baseline="0" noProof="0" dirty="0">
                <a:ln>
                  <a:noFill/>
                </a:ln>
                <a:solidFill>
                  <a:srgbClr val="131313"/>
                </a:solidFill>
                <a:effectLst/>
                <a:uLnTx/>
                <a:uFillTx/>
                <a:latin typeface="微软雅黑" panose="020B0503020204020204" pitchFamily="34" charset="-122"/>
                <a:ea typeface="微软雅黑" panose="020B0503020204020204" pitchFamily="34" charset="-122"/>
              </a:rPr>
              <a:t>管理体系</a:t>
            </a:r>
            <a:endParaRPr kumimoji="0" lang="en-US" sz="1400" b="1" i="0" strike="noStrike" kern="0" cap="none" spc="0" normalizeH="0" baseline="0" noProof="0" dirty="0">
              <a:ln>
                <a:noFill/>
              </a:ln>
              <a:solidFill>
                <a:srgbClr val="131313"/>
              </a:solidFill>
              <a:effectLst/>
              <a:uLnTx/>
              <a:uFillTx/>
              <a:latin typeface="微软雅黑" panose="020B0503020204020204" pitchFamily="34" charset="-122"/>
              <a:ea typeface="微软雅黑" panose="020B0503020204020204" pitchFamily="34" charset="-122"/>
            </a:endParaRPr>
          </a:p>
        </p:txBody>
      </p:sp>
      <p:sp>
        <p:nvSpPr>
          <p:cNvPr id="34" name="Rectangle 3"/>
          <p:cNvSpPr/>
          <p:nvPr/>
        </p:nvSpPr>
        <p:spPr>
          <a:xfrm>
            <a:off x="1917065" y="1652270"/>
            <a:ext cx="4178935" cy="360045"/>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管控模式</a:t>
            </a:r>
            <a:endParaRPr kumimoji="0" lang="zh-CN" altLang="en-US" sz="1400" b="1" i="0"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5" name="Rectangle 4"/>
          <p:cNvSpPr/>
          <p:nvPr/>
        </p:nvSpPr>
        <p:spPr>
          <a:xfrm>
            <a:off x="6681470" y="1625600"/>
            <a:ext cx="4415155" cy="360045"/>
          </a:xfrm>
          <a:prstGeom prst="rect">
            <a:avLst/>
          </a:prstGeom>
          <a:solidFill>
            <a:srgbClr val="11AFBB"/>
          </a:solidFill>
          <a:ln w="25400" cap="flat" cmpd="sng" algn="ctr">
            <a:noFill/>
            <a:prstDash val="solid"/>
          </a:ln>
          <a:effectLst/>
        </p:spPr>
        <p:txBody>
          <a:bodyPr rtlCol="0" anchor="ctr"/>
          <a:lstStyle/>
          <a:p>
            <a:pPr algn="ctr"/>
            <a:r>
              <a:rPr lang="zh-CN" altLang="en-US" sz="1400" b="1" kern="0" dirty="0">
                <a:solidFill>
                  <a:schemeClr val="bg1"/>
                </a:solidFill>
                <a:latin typeface="微软雅黑" panose="020B0503020204020204" pitchFamily="34" charset="-122"/>
                <a:ea typeface="微软雅黑" panose="020B0503020204020204" pitchFamily="34" charset="-122"/>
              </a:rPr>
              <a:t>职能</a:t>
            </a:r>
            <a:endParaRPr lang="zh-CN" altLang="en-US" sz="1400" b="1" kern="0" dirty="0">
              <a:solidFill>
                <a:schemeClr val="bg1"/>
              </a:solidFill>
              <a:latin typeface="微软雅黑" panose="020B0503020204020204" pitchFamily="34" charset="-122"/>
              <a:ea typeface="微软雅黑" panose="020B0503020204020204" pitchFamily="34" charset="-122"/>
            </a:endParaRPr>
          </a:p>
        </p:txBody>
      </p:sp>
      <p:cxnSp>
        <p:nvCxnSpPr>
          <p:cNvPr id="36" name="Straight Connector 5"/>
          <p:cNvCxnSpPr/>
          <p:nvPr/>
        </p:nvCxnSpPr>
        <p:spPr bwMode="auto">
          <a:xfrm>
            <a:off x="1945078" y="1319328"/>
            <a:ext cx="0" cy="304800"/>
          </a:xfrm>
          <a:prstGeom prst="line">
            <a:avLst/>
          </a:prstGeom>
          <a:solidFill>
            <a:srgbClr val="808080"/>
          </a:solidFill>
          <a:ln w="9525" cap="flat" cmpd="sng" algn="ctr">
            <a:solidFill>
              <a:srgbClr val="000000"/>
            </a:solidFill>
            <a:prstDash val="solid"/>
            <a:round/>
            <a:headEnd type="none" w="med" len="med"/>
            <a:tailEnd type="none" w="med" len="med"/>
          </a:ln>
          <a:effectLst/>
        </p:spPr>
      </p:cxnSp>
      <p:cxnSp>
        <p:nvCxnSpPr>
          <p:cNvPr id="38" name="Straight Arrow Connector 7"/>
          <p:cNvCxnSpPr/>
          <p:nvPr/>
        </p:nvCxnSpPr>
        <p:spPr bwMode="auto">
          <a:xfrm>
            <a:off x="2018300" y="1471728"/>
            <a:ext cx="4095115" cy="19685"/>
          </a:xfrm>
          <a:prstGeom prst="straightConnector1">
            <a:avLst/>
          </a:prstGeom>
          <a:solidFill>
            <a:srgbClr val="808080"/>
          </a:solidFill>
          <a:ln w="9525" cap="flat" cmpd="sng" algn="ctr">
            <a:solidFill>
              <a:srgbClr val="000000"/>
            </a:solidFill>
            <a:prstDash val="solid"/>
            <a:round/>
            <a:headEnd type="triangle" w="med" len="med"/>
            <a:tailEnd type="triangle"/>
          </a:ln>
          <a:effectLst/>
        </p:spPr>
      </p:cxnSp>
      <p:cxnSp>
        <p:nvCxnSpPr>
          <p:cNvPr id="39" name="Straight Arrow Connector 8"/>
          <p:cNvCxnSpPr/>
          <p:nvPr/>
        </p:nvCxnSpPr>
        <p:spPr bwMode="auto">
          <a:xfrm flipV="1">
            <a:off x="6677730" y="1472296"/>
            <a:ext cx="4380865" cy="1270"/>
          </a:xfrm>
          <a:prstGeom prst="straightConnector1">
            <a:avLst/>
          </a:prstGeom>
          <a:solidFill>
            <a:srgbClr val="808080"/>
          </a:solidFill>
          <a:ln w="9525" cap="flat" cmpd="sng" algn="ctr">
            <a:solidFill>
              <a:srgbClr val="000000"/>
            </a:solidFill>
            <a:prstDash val="solid"/>
            <a:round/>
            <a:headEnd type="triangle" w="med" len="med"/>
            <a:tailEnd type="triangle"/>
          </a:ln>
          <a:effectLst/>
        </p:spPr>
      </p:cxnSp>
      <p:sp>
        <p:nvSpPr>
          <p:cNvPr id="40" name="Rectangle 9"/>
          <p:cNvSpPr/>
          <p:nvPr/>
        </p:nvSpPr>
        <p:spPr bwMode="auto">
          <a:xfrm>
            <a:off x="3259176" y="1266710"/>
            <a:ext cx="1264130" cy="3600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rPr>
              <a:t>数据管理办法</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endParaRPr>
          </a:p>
        </p:txBody>
      </p:sp>
      <p:sp>
        <p:nvSpPr>
          <p:cNvPr id="41" name="Rectangle 10"/>
          <p:cNvSpPr/>
          <p:nvPr/>
        </p:nvSpPr>
        <p:spPr bwMode="auto">
          <a:xfrm>
            <a:off x="7490705" y="1198708"/>
            <a:ext cx="1525716" cy="3600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1400" b="1" kern="0" dirty="0">
                <a:solidFill>
                  <a:srgbClr val="000000">
                    <a:lumMod val="75000"/>
                    <a:lumOff val="25000"/>
                  </a:srgbClr>
                </a:solidFill>
                <a:latin typeface="微软雅黑" panose="020B0503020204020204" pitchFamily="34" charset="-122"/>
                <a:ea typeface="微软雅黑" panose="020B0503020204020204" pitchFamily="34" charset="-122"/>
              </a:rPr>
              <a:t>各</a:t>
            </a: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rPr>
              <a:t>领域管理办法</a:t>
            </a:r>
            <a:endParaRPr kumimoji="0" 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endParaRPr>
          </a:p>
        </p:txBody>
      </p:sp>
      <p:sp>
        <p:nvSpPr>
          <p:cNvPr id="42" name="Rectangle 28"/>
          <p:cNvSpPr/>
          <p:nvPr/>
        </p:nvSpPr>
        <p:spPr bwMode="auto">
          <a:xfrm>
            <a:off x="1917065" y="2796540"/>
            <a:ext cx="4182110" cy="3365500"/>
          </a:xfrm>
          <a:prstGeom prst="rect">
            <a:avLst/>
          </a:prstGeom>
          <a:noFill/>
          <a:ln w="19050" cap="flat" cmpd="sng" algn="ctr">
            <a:solidFill>
              <a:schemeClr val="bg1">
                <a:lumMod val="85000"/>
              </a:schemeClr>
            </a:solidFill>
            <a:prstDash val="solid"/>
          </a:ln>
          <a:effectLst/>
        </p:spPr>
        <p:txBody>
          <a:bodyPr rtlCol="0" anchor="ctr"/>
          <a:lstStyle/>
          <a:p>
            <a:pPr algn="ctr"/>
            <a:endParaRPr lang="en-US" sz="1400" u="sng" kern="0">
              <a:solidFill>
                <a:srgbClr val="FFFFFF"/>
              </a:solidFill>
              <a:latin typeface="微软雅黑" panose="020B0503020204020204" pitchFamily="34" charset="-122"/>
              <a:ea typeface="微软雅黑" panose="020B0503020204020204" pitchFamily="34" charset="-122"/>
            </a:endParaRPr>
          </a:p>
        </p:txBody>
      </p:sp>
      <p:sp>
        <p:nvSpPr>
          <p:cNvPr id="43" name="Rectangle 29"/>
          <p:cNvSpPr/>
          <p:nvPr/>
        </p:nvSpPr>
        <p:spPr bwMode="auto">
          <a:xfrm>
            <a:off x="6680835" y="2785745"/>
            <a:ext cx="4415790" cy="3349625"/>
          </a:xfrm>
          <a:prstGeom prst="rect">
            <a:avLst/>
          </a:prstGeom>
          <a:noFill/>
          <a:ln w="19050" cap="flat" cmpd="sng" algn="ctr">
            <a:solidFill>
              <a:schemeClr val="bg1">
                <a:lumMod val="85000"/>
              </a:schemeClr>
            </a:solidFill>
            <a:prstDash val="solid"/>
          </a:ln>
          <a:effectLst/>
        </p:spPr>
        <p:txBody>
          <a:bodyPr rtlCol="0" anchor="ctr"/>
          <a:lstStyle/>
          <a:p>
            <a:pPr algn="ctr"/>
            <a:endParaRPr lang="en-US" sz="1400" u="sng" kern="0">
              <a:solidFill>
                <a:srgbClr val="FFFFFF"/>
              </a:solidFill>
              <a:latin typeface="微软雅黑" panose="020B0503020204020204" pitchFamily="34" charset="-122"/>
              <a:ea typeface="微软雅黑" panose="020B0503020204020204" pitchFamily="34" charset="-122"/>
            </a:endParaRPr>
          </a:p>
        </p:txBody>
      </p:sp>
      <p:sp>
        <p:nvSpPr>
          <p:cNvPr id="76" name="Rectangle 73"/>
          <p:cNvSpPr/>
          <p:nvPr/>
        </p:nvSpPr>
        <p:spPr bwMode="auto">
          <a:xfrm>
            <a:off x="559500" y="2066143"/>
            <a:ext cx="1252214" cy="4114800"/>
          </a:xfrm>
          <a:prstGeom prst="rect">
            <a:avLst/>
          </a:prstGeom>
          <a:noFill/>
          <a:ln w="19050" cap="flat" cmpd="sng" algn="ctr">
            <a:solidFill>
              <a:schemeClr val="bg1">
                <a:lumMod val="8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sng"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7" name="Rectangle 74"/>
          <p:cNvSpPr/>
          <p:nvPr/>
        </p:nvSpPr>
        <p:spPr>
          <a:xfrm>
            <a:off x="637730" y="3091786"/>
            <a:ext cx="1077132" cy="360000"/>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制度</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8" name="Rectangle 75"/>
          <p:cNvSpPr/>
          <p:nvPr/>
        </p:nvSpPr>
        <p:spPr>
          <a:xfrm>
            <a:off x="630672" y="4111787"/>
            <a:ext cx="1077132" cy="360000"/>
          </a:xfrm>
          <a:prstGeom prst="rect">
            <a:avLst/>
          </a:prstGeom>
          <a:solidFill>
            <a:srgbClr val="11AFBB"/>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办法</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80" name="Down Arrow 77"/>
          <p:cNvSpPr/>
          <p:nvPr/>
        </p:nvSpPr>
        <p:spPr bwMode="auto">
          <a:xfrm>
            <a:off x="1007959" y="3677018"/>
            <a:ext cx="304800" cy="304177"/>
          </a:xfrm>
          <a:prstGeom prst="downArrow">
            <a:avLst/>
          </a:prstGeom>
          <a:solidFill>
            <a:srgbClr val="99999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94" name="Straight Connector 34"/>
          <p:cNvCxnSpPr/>
          <p:nvPr/>
        </p:nvCxnSpPr>
        <p:spPr bwMode="auto">
          <a:xfrm>
            <a:off x="6681646" y="1345413"/>
            <a:ext cx="0" cy="304800"/>
          </a:xfrm>
          <a:prstGeom prst="line">
            <a:avLst/>
          </a:prstGeom>
          <a:solidFill>
            <a:srgbClr val="808080"/>
          </a:solidFill>
          <a:ln w="9525" cap="flat" cmpd="sng" algn="ctr">
            <a:solidFill>
              <a:srgbClr val="000000"/>
            </a:solidFill>
            <a:prstDash val="solid"/>
            <a:round/>
            <a:headEnd type="none" w="med" len="med"/>
            <a:tailEnd type="none" w="med" len="med"/>
          </a:ln>
          <a:effectLst/>
        </p:spPr>
      </p:cxnSp>
      <p:sp>
        <p:nvSpPr>
          <p:cNvPr id="5" name="矩形 4"/>
          <p:cNvSpPr/>
          <p:nvPr/>
        </p:nvSpPr>
        <p:spPr>
          <a:xfrm>
            <a:off x="2018030" y="2800985"/>
            <a:ext cx="3678555" cy="3198495"/>
          </a:xfrm>
          <a:prstGeom prst="rect">
            <a:avLst/>
          </a:prstGeom>
        </p:spPr>
        <p:txBody>
          <a:bodyPr wrap="square">
            <a:noAutofit/>
          </a:bodyPr>
          <a:lstStyle/>
          <a:p>
            <a:pPr marL="85725" lvl="1" indent="-85725" defTabSz="466725" eaLnBrk="1" fontAlgn="auto" hangingPunct="1">
              <a:spcBef>
                <a:spcPts val="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目的：</a:t>
            </a:r>
            <a:endPar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明确数据治理整体主要工作内容与工作要求</a:t>
            </a:r>
            <a:endPar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明确集团各部门、各板块在数据治理工作中的职责分工</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为数据治理各领域的管理工作提供参考依据</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85725" lvl="1" indent="-85725" defTabSz="466725" eaLnBrk="1" fontAlgn="auto" hangingPunct="1">
              <a:spcBef>
                <a:spcPts val="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适用范围：</a:t>
            </a:r>
            <a:endParaRPr lang="en-US" altLang="zh-CN"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适用于全集团</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85725" lvl="1" indent="-85725" defTabSz="466725" eaLnBrk="1" fontAlgn="auto" hangingPunct="1">
              <a:spcBef>
                <a:spcPts val="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内容：</a:t>
            </a:r>
            <a:endParaRPr lang="en-US" altLang="zh-CN"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数据治理或数据治理领域概念和管理范围</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数据治理工作职责分工</a:t>
            </a:r>
            <a:endParaRPr lang="zh-CN" altLang="en-US" sz="14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6754495" y="2801620"/>
            <a:ext cx="4146550" cy="3197225"/>
          </a:xfrm>
          <a:prstGeom prst="rect">
            <a:avLst/>
          </a:prstGeom>
          <a:noFill/>
        </p:spPr>
        <p:txBody>
          <a:bodyPr wrap="square" rtlCol="0" anchor="t">
            <a:noAutofit/>
          </a:bodyPr>
          <a:p>
            <a:pPr marL="85725" lvl="1" indent="-85725" defTabSz="466725" eaLnBrk="1" fontAlgn="auto" hangingPunct="1">
              <a:spcBef>
                <a:spcPts val="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目的：</a:t>
            </a:r>
            <a:endPar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明确数据治理各领域主要工作内容与工作要求</a:t>
            </a:r>
            <a:endPar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明确集团各部门、各板块在该数据治理领域工作中的职责分工</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为集团各部门、各板块和下属公司进行数据治理领域管理工作提供参考依据</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85725" lvl="1" indent="-85725" defTabSz="466725" eaLnBrk="1" fontAlgn="auto" hangingPunct="1">
              <a:spcBef>
                <a:spcPts val="30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适用范围：</a:t>
            </a:r>
            <a:endParaRPr lang="en-US" altLang="zh-CN"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适用于全集团、各板块可针对自身情况修订细化</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85725" lvl="1" indent="-85725" defTabSz="466725" eaLnBrk="1" fontAlgn="auto" hangingPunct="1">
              <a:spcBef>
                <a:spcPts val="300"/>
              </a:spcBef>
              <a:spcAft>
                <a:spcPts val="300"/>
              </a:spcAft>
              <a:buFontTx/>
              <a:buChar char="•"/>
              <a:defRPr/>
            </a:pPr>
            <a:r>
              <a:rPr lang="zh-CN" altLang="en-US"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内容：</a:t>
            </a:r>
            <a:endParaRPr lang="en-US" altLang="zh-CN" sz="1400" b="1" kern="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数据治理或数据治理领域概念和管理范围</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数据治理工作体系</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数据治理工作职责分工</a:t>
            </a:r>
            <a:endParaRPr lang="en-US" altLang="zh-CN"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214630" lvl="1" indent="-214630" defTabSz="466725" eaLnBrk="1" fontAlgn="auto" hangingPunct="1">
              <a:spcBef>
                <a:spcPts val="0"/>
              </a:spcBef>
              <a:spcAft>
                <a:spcPts val="300"/>
              </a:spcAft>
              <a:buFont typeface="Wingdings" panose="05000000000000000000" pitchFamily="2" charset="2"/>
              <a:buChar char="ü"/>
              <a:defRPr/>
            </a:pPr>
            <a:r>
              <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数据治理工作环节、工作方法和工作要求</a:t>
            </a:r>
            <a:endParaRPr lang="zh-CN" altLang="en-US" sz="14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endParaRPr>
          </a:p>
        </p:txBody>
      </p:sp>
      <p:sp>
        <p:nvSpPr>
          <p:cNvPr id="139" name="矩形 138"/>
          <p:cNvSpPr/>
          <p:nvPr>
            <p:custDataLst>
              <p:tags r:id="rId1"/>
            </p:custDataLst>
          </p:nvPr>
        </p:nvSpPr>
        <p:spPr bwMode="auto">
          <a:xfrm>
            <a:off x="1916430" y="2066290"/>
            <a:ext cx="4180205" cy="697230"/>
          </a:xfrm>
          <a:prstGeom prst="rect">
            <a:avLst/>
          </a:prstGeom>
          <a:solidFill>
            <a:schemeClr val="bg1">
              <a:lumMod val="95000"/>
            </a:schemeClr>
          </a:solidFill>
          <a:ln>
            <a:noFill/>
          </a:ln>
          <a:effectLst/>
        </p:spPr>
        <p:txBody>
          <a:bodyPr lIns="56007" tIns="56007" rIns="74676" bIns="84011" spcCol="1270"/>
          <a:p>
            <a:pPr marL="0" lvl="1" algn="ctr" defTabSz="466725" eaLnBrk="1" fontAlgn="auto" hangingPunct="1">
              <a:spcBef>
                <a:spcPts val="0"/>
              </a:spcBef>
              <a:spcAft>
                <a:spcPts val="300"/>
              </a:spcAft>
              <a:defRPr/>
            </a:pPr>
            <a:r>
              <a:rPr lang="en-US" altLang="zh-CN" sz="120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洲明数据管理办法（试行）</a:t>
            </a:r>
            <a:r>
              <a:rPr lang="en-US" altLang="zh-CN" sz="120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a:t>
            </a:r>
            <a:br>
              <a:rPr lang="en-US" altLang="zh-CN" sz="1200" b="1"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custDataLst>
              <p:tags r:id="rId2"/>
            </p:custDataLst>
          </p:nvPr>
        </p:nvSpPr>
        <p:spPr bwMode="auto">
          <a:xfrm>
            <a:off x="6680835" y="2025015"/>
            <a:ext cx="4416425" cy="697230"/>
          </a:xfrm>
          <a:prstGeom prst="rect">
            <a:avLst/>
          </a:prstGeom>
          <a:solidFill>
            <a:schemeClr val="bg1">
              <a:lumMod val="95000"/>
            </a:schemeClr>
          </a:solidFill>
          <a:ln>
            <a:noFill/>
          </a:ln>
          <a:effectLst/>
        </p:spPr>
        <p:txBody>
          <a:bodyPr lIns="56007" tIns="56007" rIns="74676" bIns="84011" spcCol="1270"/>
          <a:p>
            <a:pPr marL="0" lvl="1" algn="ctr" defTabSz="466725" eaLnBrk="1" fontAlgn="auto" hangingPunct="1">
              <a:spcBef>
                <a:spcPts val="0"/>
              </a:spcBef>
              <a:spcAft>
                <a:spcPts val="300"/>
              </a:spcAft>
              <a:defRPr/>
            </a:pP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r>
              <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洲明数据标准管理规范</a:t>
            </a: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endPar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0" lvl="1" algn="ctr" defTabSz="466725">
              <a:spcAft>
                <a:spcPts val="300"/>
              </a:spcAft>
              <a:defRPr/>
            </a:pP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r>
              <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洲明数据质量管理规范</a:t>
            </a: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endPar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a:p>
            <a:pPr marL="0" lvl="1" algn="ctr" defTabSz="466725">
              <a:spcAft>
                <a:spcPts val="300"/>
              </a:spcAft>
              <a:defRPr/>
            </a:pP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r>
              <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洲明数据安全规范</a:t>
            </a:r>
            <a:r>
              <a:rPr lang="en-US" altLang="zh-CN"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sym typeface="+mn-ea"/>
              </a:rPr>
              <a:t>》</a:t>
            </a:r>
            <a:endParaRPr lang="zh-CN" altLang="en-US" sz="1200" kern="0" dirty="0">
              <a:solidFill>
                <a:srgbClr val="000000">
                  <a:hueOff val="0"/>
                  <a:satOff val="0"/>
                  <a:lumOff val="0"/>
                  <a:alphaOff val="0"/>
                </a:srgbClr>
              </a:solidFill>
              <a:latin typeface="微软雅黑" panose="020B0503020204020204" pitchFamily="34" charset="-122"/>
              <a:ea typeface="微软雅黑" panose="020B0503020204020204" pitchFamily="34" charset="-122"/>
            </a:endParaRPr>
          </a:p>
        </p:txBody>
      </p:sp>
      <p:cxnSp>
        <p:nvCxnSpPr>
          <p:cNvPr id="24" name="Straight Connector 34"/>
          <p:cNvCxnSpPr/>
          <p:nvPr/>
        </p:nvCxnSpPr>
        <p:spPr bwMode="auto">
          <a:xfrm>
            <a:off x="6096176" y="1347318"/>
            <a:ext cx="0" cy="304800"/>
          </a:xfrm>
          <a:prstGeom prst="line">
            <a:avLst/>
          </a:prstGeom>
          <a:solidFill>
            <a:srgbClr val="808080"/>
          </a:solidFill>
          <a:ln w="9525" cap="flat" cmpd="sng" algn="ctr">
            <a:solidFill>
              <a:srgbClr val="000000"/>
            </a:solidFill>
            <a:prstDash val="solid"/>
            <a:round/>
            <a:headEnd type="none" w="med" len="med"/>
            <a:tailEnd type="none" w="med" len="med"/>
          </a:ln>
          <a:effectLst/>
        </p:spPr>
      </p:cxnSp>
      <p:cxnSp>
        <p:nvCxnSpPr>
          <p:cNvPr id="25" name="Straight Connector 34"/>
          <p:cNvCxnSpPr/>
          <p:nvPr/>
        </p:nvCxnSpPr>
        <p:spPr bwMode="auto">
          <a:xfrm>
            <a:off x="11073941" y="1321918"/>
            <a:ext cx="0" cy="304800"/>
          </a:xfrm>
          <a:prstGeom prst="line">
            <a:avLst/>
          </a:prstGeom>
          <a:solidFill>
            <a:srgbClr val="808080"/>
          </a:solidFill>
          <a:ln w="9525" cap="flat" cmpd="sng" algn="ctr">
            <a:solidFill>
              <a:srgbClr val="000000"/>
            </a:solidFill>
            <a:prstDash val="solid"/>
            <a:round/>
            <a:headEnd type="none" w="med" len="med"/>
            <a:tailEnd type="none" w="med" len="med"/>
          </a:ln>
          <a:effectLst/>
        </p:spPr>
      </p:cxnSp>
      <p:sp>
        <p:nvSpPr>
          <p:cNvPr id="26" name="AutoShape 12"/>
          <p:cNvSpPr>
            <a:spLocks noChangeArrowheads="1"/>
          </p:cNvSpPr>
          <p:nvPr/>
        </p:nvSpPr>
        <p:spPr bwMode="auto">
          <a:xfrm flipV="1">
            <a:off x="6158230" y="3777615"/>
            <a:ext cx="463550" cy="203835"/>
          </a:xfrm>
          <a:prstGeom prst="rightArrow">
            <a:avLst>
              <a:gd name="adj1" fmla="val 71528"/>
              <a:gd name="adj2" fmla="val 68704"/>
            </a:avLst>
          </a:prstGeom>
          <a:solidFill>
            <a:srgbClr val="11AFBB"/>
          </a:solidFill>
          <a:ln w="9525" algn="ctr">
            <a:noFill/>
            <a:miter lim="800000"/>
          </a:ln>
          <a:effectLst/>
        </p:spPr>
        <p:txBody>
          <a:bodyPr wrap="none" anchor="ctr"/>
          <a:lstStyle>
            <a:lvl1pPr eaLnBrk="0" hangingPunct="0">
              <a:spcBef>
                <a:spcPct val="50000"/>
              </a:spcBef>
              <a:buClr>
                <a:schemeClr val="tx1"/>
              </a:buClr>
              <a:buFont typeface="Wingdings" panose="05000000000000000000" pitchFamily="2" charset="2"/>
              <a:buChar char="§"/>
              <a:defRPr sz="1600">
                <a:solidFill>
                  <a:schemeClr val="tx1"/>
                </a:solidFill>
                <a:latin typeface="Arial" panose="020B0604020202020204" pitchFamily="34" charset="0"/>
                <a:ea typeface="宋体" pitchFamily="2" charset="-122"/>
              </a:defRPr>
            </a:lvl1pPr>
            <a:lvl2pPr marL="742950" indent="-285750" eaLnBrk="0" hangingPunct="0">
              <a:buClr>
                <a:schemeClr val="tx1"/>
              </a:buClr>
              <a:buFont typeface="Arial" panose="020B0604020202020204" pitchFamily="34" charset="0"/>
              <a:buChar char="–"/>
              <a:defRPr sz="1600">
                <a:solidFill>
                  <a:schemeClr val="tx1"/>
                </a:solidFill>
                <a:latin typeface="Arial" panose="020B0604020202020204" pitchFamily="34" charset="0"/>
                <a:ea typeface="宋体" pitchFamily="2" charset="-122"/>
              </a:defRPr>
            </a:lvl2pPr>
            <a:lvl3pPr marL="1143000" indent="-228600" eaLnBrk="0" hangingPunct="0">
              <a:buClr>
                <a:schemeClr val="tx1"/>
              </a:buClr>
              <a:buChar char="•"/>
              <a:defRPr sz="1600">
                <a:solidFill>
                  <a:schemeClr val="tx1"/>
                </a:solidFill>
                <a:latin typeface="Arial" panose="020B0604020202020204" pitchFamily="34" charset="0"/>
                <a:ea typeface="宋体" pitchFamily="2" charset="-122"/>
              </a:defRPr>
            </a:lvl3pPr>
            <a:lvl4pPr marL="1600200" indent="-228600" eaLnBrk="0" hangingPunct="0">
              <a:spcBef>
                <a:spcPct val="20000"/>
              </a:spcBef>
              <a:buClr>
                <a:schemeClr val="bg1"/>
              </a:buClr>
              <a:defRPr sz="1600">
                <a:solidFill>
                  <a:schemeClr val="bg1"/>
                </a:solidFill>
                <a:latin typeface="Arial" panose="020B0604020202020204" pitchFamily="34" charset="0"/>
                <a:ea typeface="宋体" pitchFamily="2" charset="-122"/>
              </a:defRPr>
            </a:lvl4pPr>
            <a:lvl5pPr marL="2057400" indent="-228600" eaLnBrk="0" hangingPunct="0">
              <a:spcBef>
                <a:spcPct val="20000"/>
              </a:spcBef>
              <a:buClr>
                <a:schemeClr val="bg1"/>
              </a:buClr>
              <a:buChar char="»"/>
              <a:defRPr sz="1600">
                <a:solidFill>
                  <a:schemeClr val="bg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宋体"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600" b="0"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ea"/>
              <a:sym typeface="+mn-l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5DD3DB80-B894-403A-B48E-6FDC1A72010E}" type="slidenum">
              <a:rPr lang="zh-CN" altLang="en-US" smtClean="0"/>
            </a:fld>
            <a:endParaRPr lang="zh-CN" altLang="en-US" smtClean="0"/>
          </a:p>
        </p:txBody>
      </p:sp>
      <p:sp>
        <p:nvSpPr>
          <p:cNvPr id="3" name="Title 2"/>
          <p:cNvSpPr>
            <a:spLocks noGrp="1"/>
          </p:cNvSpPr>
          <p:nvPr>
            <p:ph type="title"/>
          </p:nvPr>
        </p:nvSpPr>
        <p:spPr/>
        <p:txBody>
          <a:bodyPr vert="horz" lIns="0" tIns="0" rIns="0" bIns="0" rtlCol="0" anchor="ctr" anchorCtr="0">
            <a:noAutofit/>
          </a:bodyPr>
          <a:lstStyle/>
          <a:p>
            <a:pPr lvl="0" algn="l">
              <a:buClrTx/>
              <a:buSzTx/>
              <a:buFontTx/>
            </a:pPr>
            <a:r>
              <a:rPr lang="zh-CN" altLang="en-US" dirty="0">
                <a:sym typeface="+mn-ea"/>
              </a:rPr>
              <a:t>主数据管理体系-标准</a:t>
            </a:r>
            <a:endParaRPr lang="zh-CN" altLang="en-US" dirty="0">
              <a:sym typeface="+mn-ea"/>
            </a:endParaRPr>
          </a:p>
        </p:txBody>
      </p:sp>
      <p:sp>
        <p:nvSpPr>
          <p:cNvPr id="4" name="矩形 19"/>
          <p:cNvSpPr/>
          <p:nvPr>
            <p:custDataLst>
              <p:tags r:id="rId1"/>
            </p:custDataLst>
          </p:nvPr>
        </p:nvSpPr>
        <p:spPr>
          <a:xfrm>
            <a:off x="4091305" y="4351474"/>
            <a:ext cx="3974465" cy="2063750"/>
          </a:xfrm>
          <a:prstGeom prst="rect">
            <a:avLst/>
          </a:prstGeom>
          <a:solidFill>
            <a:srgbClr val="DDEBF7"/>
          </a:solidFill>
          <a:ln>
            <a:solidFill>
              <a:srgbClr val="DD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矩形 20"/>
          <p:cNvSpPr/>
          <p:nvPr>
            <p:custDataLst>
              <p:tags r:id="rId2"/>
            </p:custDataLst>
          </p:nvPr>
        </p:nvSpPr>
        <p:spPr>
          <a:xfrm>
            <a:off x="8129905" y="4361634"/>
            <a:ext cx="3362960" cy="2063750"/>
          </a:xfrm>
          <a:prstGeom prst="rect">
            <a:avLst/>
          </a:prstGeom>
          <a:solidFill>
            <a:srgbClr val="DDEBF7"/>
          </a:solidFill>
          <a:ln>
            <a:solidFill>
              <a:srgbClr val="DD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矩形 18"/>
          <p:cNvSpPr/>
          <p:nvPr/>
        </p:nvSpPr>
        <p:spPr>
          <a:xfrm>
            <a:off x="575945" y="4359729"/>
            <a:ext cx="3442970" cy="2063750"/>
          </a:xfrm>
          <a:prstGeom prst="rect">
            <a:avLst/>
          </a:prstGeom>
          <a:solidFill>
            <a:srgbClr val="DDEBF7"/>
          </a:solidFill>
          <a:ln>
            <a:solidFill>
              <a:srgbClr val="DD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Isosceles Triangle 40"/>
          <p:cNvSpPr/>
          <p:nvPr>
            <p:custDataLst>
              <p:tags r:id="rId3"/>
            </p:custDataLst>
          </p:nvPr>
        </p:nvSpPr>
        <p:spPr bwMode="auto">
          <a:xfrm flipV="1">
            <a:off x="608330" y="1359535"/>
            <a:ext cx="10958195" cy="247650"/>
          </a:xfrm>
          <a:prstGeom prst="triangle">
            <a:avLst>
              <a:gd name="adj" fmla="val 48771"/>
            </a:avLst>
          </a:prstGeom>
          <a:solidFill>
            <a:srgbClr val="EAEFF7"/>
          </a:solidFill>
          <a:ln w="12700" cap="flat" cmpd="sng" algn="ctr">
            <a:no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 name="Striped Right Arrow 10"/>
          <p:cNvSpPr/>
          <p:nvPr>
            <p:custDataLst>
              <p:tags r:id="rId4"/>
            </p:custDataLst>
          </p:nvPr>
        </p:nvSpPr>
        <p:spPr bwMode="auto">
          <a:xfrm rot="5400000">
            <a:off x="2110105" y="2968625"/>
            <a:ext cx="374650" cy="574040"/>
          </a:xfrm>
          <a:prstGeom prst="stripedRightArrow">
            <a:avLst/>
          </a:prstGeom>
        </p:spPr>
        <p:style>
          <a:lnRef idx="2">
            <a:schemeClr val="lt1"/>
          </a:lnRef>
          <a:fillRef idx="1">
            <a:schemeClr val="accent1"/>
          </a:fillRef>
          <a:effectRef idx="1">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9" name="Striped Right Arrow 11"/>
          <p:cNvSpPr/>
          <p:nvPr>
            <p:custDataLst>
              <p:tags r:id="rId5"/>
            </p:custDataLst>
          </p:nvPr>
        </p:nvSpPr>
        <p:spPr bwMode="auto">
          <a:xfrm rot="5400000">
            <a:off x="5891212" y="2968625"/>
            <a:ext cx="374650" cy="574040"/>
          </a:xfrm>
          <a:prstGeom prst="stripedRightArrow">
            <a:avLst/>
          </a:prstGeom>
        </p:spPr>
        <p:style>
          <a:lnRef idx="2">
            <a:schemeClr val="lt1"/>
          </a:lnRef>
          <a:fillRef idx="1">
            <a:schemeClr val="accent1"/>
          </a:fillRef>
          <a:effectRef idx="1">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10" name="Striped Right Arrow 12"/>
          <p:cNvSpPr/>
          <p:nvPr>
            <p:custDataLst>
              <p:tags r:id="rId6"/>
            </p:custDataLst>
          </p:nvPr>
        </p:nvSpPr>
        <p:spPr bwMode="auto">
          <a:xfrm rot="5400000">
            <a:off x="9424670" y="2968625"/>
            <a:ext cx="374650" cy="574040"/>
          </a:xfrm>
          <a:prstGeom prst="stripedRightArrow">
            <a:avLst/>
          </a:prstGeom>
        </p:spPr>
        <p:style>
          <a:lnRef idx="2">
            <a:schemeClr val="lt1"/>
          </a:lnRef>
          <a:fillRef idx="1">
            <a:schemeClr val="accent1"/>
          </a:fillRef>
          <a:effectRef idx="1">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11" name="矩形 38"/>
          <p:cNvSpPr/>
          <p:nvPr>
            <p:custDataLst>
              <p:tags r:id="rId7"/>
            </p:custDataLst>
          </p:nvPr>
        </p:nvSpPr>
        <p:spPr bwMode="auto">
          <a:xfrm>
            <a:off x="842645" y="2042795"/>
            <a:ext cx="3044190" cy="598170"/>
          </a:xfrm>
          <a:prstGeom prst="rect">
            <a:avLst/>
          </a:prstGeom>
          <a:solidFill>
            <a:srgbClr val="FAFBFC"/>
          </a:solidFill>
          <a:ln w="12700">
            <a:noFill/>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2" name="Rectangle 2"/>
          <p:cNvSpPr/>
          <p:nvPr>
            <p:custDataLst>
              <p:tags r:id="rId8"/>
            </p:custDataLst>
          </p:nvPr>
        </p:nvSpPr>
        <p:spPr bwMode="auto">
          <a:xfrm>
            <a:off x="852170" y="1631633"/>
            <a:ext cx="3044190" cy="384810"/>
          </a:xfrm>
          <a:prstGeom prst="rect">
            <a:avLst/>
          </a:prstGeom>
        </p:spPr>
        <p:style>
          <a:lnRef idx="0">
            <a:srgbClr val="FFFFFF"/>
          </a:lnRef>
          <a:fillRef idx="3">
            <a:schemeClr val="accent1"/>
          </a:fillRef>
          <a:effectRef idx="0">
            <a:srgbClr val="FFFFFF"/>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业务标准</a:t>
            </a:r>
            <a:endPar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3" name="矩形 50"/>
          <p:cNvSpPr/>
          <p:nvPr>
            <p:custDataLst>
              <p:tags r:id="rId9"/>
            </p:custDataLst>
          </p:nvPr>
        </p:nvSpPr>
        <p:spPr>
          <a:xfrm>
            <a:off x="803275" y="2011045"/>
            <a:ext cx="3053715" cy="645160"/>
          </a:xfrm>
          <a:prstGeom prst="rect">
            <a:avLst/>
          </a:prstGeom>
          <a:ln>
            <a:noFill/>
          </a:ln>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明确标准所属业务条线、</a:t>
            </a:r>
            <a:endPar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业务</a:t>
            </a:r>
            <a:r>
              <a:rPr lang="zh-CN" altLang="en-US" sz="1200">
                <a:solidFill>
                  <a:prstClr val="black"/>
                </a:solidFill>
                <a:latin typeface="微软雅黑" panose="020B0503020204020204" pitchFamily="34" charset="-122"/>
                <a:ea typeface="微软雅黑" panose="020B0503020204020204" pitchFamily="34" charset="-122"/>
              </a:rPr>
              <a:t>视图</a:t>
            </a: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、规则及相关来源</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矩形 51"/>
          <p:cNvSpPr/>
          <p:nvPr>
            <p:custDataLst>
              <p:tags r:id="rId10"/>
            </p:custDataLst>
          </p:nvPr>
        </p:nvSpPr>
        <p:spPr bwMode="auto">
          <a:xfrm>
            <a:off x="842645" y="1619250"/>
            <a:ext cx="3044190" cy="1007745"/>
          </a:xfrm>
          <a:prstGeom prst="rect">
            <a:avLst/>
          </a:prstGeom>
          <a:noFill/>
          <a:ln w="12700">
            <a:solidFill>
              <a:srgbClr val="A5A5A5">
                <a:lumMod val="60000"/>
                <a:lumOff val="40000"/>
              </a:srgbClr>
            </a:solidFill>
            <a:prstDash val="dash"/>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5" name="矩形 52"/>
          <p:cNvSpPr/>
          <p:nvPr>
            <p:custDataLst>
              <p:tags r:id="rId11"/>
            </p:custDataLst>
          </p:nvPr>
        </p:nvSpPr>
        <p:spPr bwMode="auto">
          <a:xfrm>
            <a:off x="4534217" y="2026920"/>
            <a:ext cx="3044190" cy="598170"/>
          </a:xfrm>
          <a:prstGeom prst="rect">
            <a:avLst/>
          </a:prstGeom>
          <a:solidFill>
            <a:srgbClr val="FAFBFC"/>
          </a:solidFill>
          <a:ln w="12700">
            <a:noFill/>
            <a:round/>
          </a:ln>
        </p:spPr>
        <p:txBody>
          <a:bodyPr lIns="0" tIns="0" rIns="0" bIns="0" rtlCol="0" anchor="ctr"/>
          <a:lstStyle/>
          <a:p>
            <a:pPr marL="0" marR="0" lvl="0" indent="0" algn="ctr" defTabSz="457200" rtl="0" eaLnBrk="1" fontAlgn="auto" latinLnBrk="0" hangingPunct="1">
              <a:lnSpc>
                <a:spcPct val="15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Rectangle 2"/>
          <p:cNvSpPr/>
          <p:nvPr>
            <p:custDataLst>
              <p:tags r:id="rId12"/>
            </p:custDataLst>
          </p:nvPr>
        </p:nvSpPr>
        <p:spPr bwMode="auto">
          <a:xfrm>
            <a:off x="4556442" y="1631633"/>
            <a:ext cx="3044190" cy="384810"/>
          </a:xfrm>
          <a:prstGeom prst="rect">
            <a:avLst/>
          </a:prstGeom>
        </p:spPr>
        <p:style>
          <a:lnRef idx="0">
            <a:srgbClr val="FFFFFF"/>
          </a:lnRef>
          <a:fillRef idx="3">
            <a:schemeClr val="accent1"/>
          </a:fillRef>
          <a:effectRef idx="0">
            <a:srgbClr val="FFFFFF"/>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管理标准</a:t>
            </a:r>
            <a:endPar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7" name="矩形 54"/>
          <p:cNvSpPr/>
          <p:nvPr>
            <p:custDataLst>
              <p:tags r:id="rId13"/>
            </p:custDataLst>
          </p:nvPr>
        </p:nvSpPr>
        <p:spPr bwMode="auto">
          <a:xfrm>
            <a:off x="4546917" y="1619250"/>
            <a:ext cx="3044190" cy="1007745"/>
          </a:xfrm>
          <a:prstGeom prst="rect">
            <a:avLst/>
          </a:prstGeom>
          <a:noFill/>
          <a:ln w="12700">
            <a:solidFill>
              <a:srgbClr val="A5A5A5">
                <a:lumMod val="60000"/>
                <a:lumOff val="40000"/>
              </a:srgbClr>
            </a:solidFill>
            <a:prstDash val="dash"/>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8" name="矩形 55"/>
          <p:cNvSpPr/>
          <p:nvPr>
            <p:custDataLst>
              <p:tags r:id="rId14"/>
            </p:custDataLst>
          </p:nvPr>
        </p:nvSpPr>
        <p:spPr bwMode="auto">
          <a:xfrm>
            <a:off x="8077835" y="2034540"/>
            <a:ext cx="3044190" cy="597535"/>
          </a:xfrm>
          <a:prstGeom prst="rect">
            <a:avLst/>
          </a:prstGeom>
          <a:solidFill>
            <a:srgbClr val="FAFBFC"/>
          </a:solidFill>
          <a:ln w="12700">
            <a:noFill/>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4" name="Rectangle 2"/>
          <p:cNvSpPr/>
          <p:nvPr>
            <p:custDataLst>
              <p:tags r:id="rId15"/>
            </p:custDataLst>
          </p:nvPr>
        </p:nvSpPr>
        <p:spPr bwMode="auto">
          <a:xfrm>
            <a:off x="8090535" y="1631633"/>
            <a:ext cx="3044190" cy="384810"/>
          </a:xfrm>
          <a:prstGeom prst="rect">
            <a:avLst/>
          </a:prstGeom>
        </p:spPr>
        <p:style>
          <a:lnRef idx="0">
            <a:srgbClr val="FFFFFF"/>
          </a:lnRef>
          <a:fillRef idx="3">
            <a:schemeClr val="accent1"/>
          </a:fillRef>
          <a:effectRef idx="0">
            <a:srgbClr val="FFFFFF"/>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技术标准</a:t>
            </a:r>
            <a:endParaRPr kumimoji="0" lang="zh-CN" altLang="en-US" sz="1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5" name="矩形 57"/>
          <p:cNvSpPr/>
          <p:nvPr>
            <p:custDataLst>
              <p:tags r:id="rId16"/>
            </p:custDataLst>
          </p:nvPr>
        </p:nvSpPr>
        <p:spPr>
          <a:xfrm>
            <a:off x="8119745" y="2002790"/>
            <a:ext cx="3002280" cy="645160"/>
          </a:xfrm>
          <a:prstGeom prst="rect">
            <a:avLst/>
          </a:prstGeom>
          <a:noFill/>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指数据格式、数据长度等</a:t>
            </a:r>
            <a:endPar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相关技术系统属性标准</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矩形 58"/>
          <p:cNvSpPr/>
          <p:nvPr>
            <p:custDataLst>
              <p:tags r:id="rId17"/>
            </p:custDataLst>
          </p:nvPr>
        </p:nvSpPr>
        <p:spPr bwMode="auto">
          <a:xfrm>
            <a:off x="8090535" y="1619250"/>
            <a:ext cx="3044190" cy="1007745"/>
          </a:xfrm>
          <a:prstGeom prst="rect">
            <a:avLst/>
          </a:prstGeom>
          <a:noFill/>
          <a:ln w="12700">
            <a:solidFill>
              <a:srgbClr val="A5A5A5">
                <a:lumMod val="60000"/>
                <a:lumOff val="40000"/>
              </a:srgbClr>
            </a:solidFill>
            <a:prstDash val="dash"/>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585"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8" name="文本框 59"/>
          <p:cNvSpPr txBox="1"/>
          <p:nvPr>
            <p:custDataLst>
              <p:tags r:id="rId18"/>
            </p:custDataLst>
          </p:nvPr>
        </p:nvSpPr>
        <p:spPr>
          <a:xfrm>
            <a:off x="8332470" y="2776303"/>
            <a:ext cx="1158875" cy="533400"/>
          </a:xfrm>
          <a:prstGeom prst="rect">
            <a:avLst/>
          </a:prstGeom>
          <a:noFill/>
        </p:spPr>
        <p:txBody>
          <a:bodyPr wrap="square" rtlCol="0" anchor="ctr">
            <a:spAutoFit/>
          </a:bodyPr>
          <a:lstStyle/>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数据类型</a:t>
            </a:r>
            <a:endParaRPr kumimoji="0" lang="en-US" altLang="zh-CN"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数据格式</a:t>
            </a:r>
            <a:endParaRPr kumimoji="0" lang="en-US" altLang="zh-CN"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49" name="文本框 60"/>
          <p:cNvSpPr txBox="1"/>
          <p:nvPr>
            <p:custDataLst>
              <p:tags r:id="rId19"/>
            </p:custDataLst>
          </p:nvPr>
        </p:nvSpPr>
        <p:spPr>
          <a:xfrm>
            <a:off x="4503420" y="2775993"/>
            <a:ext cx="1640205" cy="312420"/>
          </a:xfrm>
          <a:prstGeom prst="rect">
            <a:avLst/>
          </a:prstGeom>
          <a:noFill/>
        </p:spPr>
        <p:txBody>
          <a:bodyPr wrap="square" rtlCol="0" anchor="ctr">
            <a:spAutoFit/>
          </a:bodyPr>
          <a:lstStyle/>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业务责任部门</a:t>
            </a:r>
            <a:endPar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0" name="文本框 61"/>
          <p:cNvSpPr txBox="1"/>
          <p:nvPr>
            <p:custDataLst>
              <p:tags r:id="rId20"/>
            </p:custDataLst>
          </p:nvPr>
        </p:nvSpPr>
        <p:spPr>
          <a:xfrm>
            <a:off x="961390" y="2775993"/>
            <a:ext cx="1404620" cy="312420"/>
          </a:xfrm>
          <a:prstGeom prst="rect">
            <a:avLst/>
          </a:prstGeom>
          <a:noFill/>
        </p:spPr>
        <p:txBody>
          <a:bodyPr wrap="square" rtlCol="0" anchor="ctr">
            <a:spAutoFit/>
          </a:bodyPr>
          <a:lstStyle/>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业务定义</a:t>
            </a:r>
            <a:endPar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1" name="文本框 62"/>
          <p:cNvSpPr txBox="1"/>
          <p:nvPr>
            <p:custDataLst>
              <p:tags r:id="rId21"/>
            </p:custDataLst>
          </p:nvPr>
        </p:nvSpPr>
        <p:spPr>
          <a:xfrm>
            <a:off x="6096000" y="2775993"/>
            <a:ext cx="1414145" cy="312420"/>
          </a:xfrm>
          <a:prstGeom prst="rect">
            <a:avLst/>
          </a:prstGeom>
          <a:noFill/>
        </p:spPr>
        <p:txBody>
          <a:bodyPr wrap="square" rtlCol="0" anchor="ctr">
            <a:spAutoFit/>
          </a:bodyPr>
          <a:lstStyle/>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数据管理责任部门</a:t>
            </a:r>
            <a:endPar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2" name="文本框 63"/>
          <p:cNvSpPr txBox="1"/>
          <p:nvPr>
            <p:custDataLst>
              <p:tags r:id="rId22"/>
            </p:custDataLst>
          </p:nvPr>
        </p:nvSpPr>
        <p:spPr>
          <a:xfrm>
            <a:off x="2486285" y="2775993"/>
            <a:ext cx="1404620" cy="312420"/>
          </a:xfrm>
          <a:prstGeom prst="rect">
            <a:avLst/>
          </a:prstGeom>
          <a:noFill/>
        </p:spPr>
        <p:txBody>
          <a:bodyPr wrap="square" rtlCol="0" anchor="ctr">
            <a:spAutoFit/>
          </a:bodyPr>
          <a:lstStyle/>
          <a:p>
            <a:pPr marL="171450" indent="-171450" defTabSz="457200">
              <a:lnSpc>
                <a:spcPct val="150000"/>
              </a:lnSpc>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参考标准</a:t>
            </a:r>
            <a:endPar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3" name="文本框 64"/>
          <p:cNvSpPr txBox="1"/>
          <p:nvPr>
            <p:custDataLst>
              <p:tags r:id="rId23"/>
            </p:custDataLst>
          </p:nvPr>
        </p:nvSpPr>
        <p:spPr>
          <a:xfrm>
            <a:off x="9749790" y="2776220"/>
            <a:ext cx="1158875" cy="533400"/>
          </a:xfrm>
          <a:prstGeom prst="rect">
            <a:avLst/>
          </a:prstGeom>
          <a:noFill/>
        </p:spPr>
        <p:txBody>
          <a:bodyPr wrap="square" rtlCol="0" anchor="ctr">
            <a:spAutoFit/>
          </a:bodyPr>
          <a:lstStyle/>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取值范围</a:t>
            </a:r>
            <a:endParaRPr kumimoji="0" lang="en-US" altLang="zh-CN"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09550" marR="0" lvl="0" indent="-209550" algn="l" defTabSz="457200" rtl="0" eaLnBrk="1" fontAlgn="auto" latinLnBrk="0" hangingPunct="1">
              <a:lnSpc>
                <a:spcPct val="150000"/>
              </a:lnSpc>
              <a:spcBef>
                <a:spcPts val="0"/>
              </a:spcBef>
              <a:spcAft>
                <a:spcPts val="0"/>
              </a:spcAft>
              <a:buClrTx/>
              <a:buSzTx/>
              <a:buFont typeface="Wingdings" panose="05000000000000000000" pitchFamily="2" charset="2"/>
              <a:buChar char="ü"/>
              <a:defRPr/>
            </a:pPr>
            <a:r>
              <a:rPr kumimoji="0" lang="zh-CN" altLang="en-US"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引用码表</a:t>
            </a:r>
            <a:endParaRPr kumimoji="0" lang="en-US" altLang="zh-CN" sz="96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4" name="Rectangle 34"/>
          <p:cNvSpPr/>
          <p:nvPr>
            <p:custDataLst>
              <p:tags r:id="rId24"/>
            </p:custDataLst>
          </p:nvPr>
        </p:nvSpPr>
        <p:spPr bwMode="auto">
          <a:xfrm>
            <a:off x="608330" y="699135"/>
            <a:ext cx="10958195" cy="306705"/>
          </a:xfrm>
          <a:prstGeom prst="rect">
            <a:avLst/>
          </a:prstGeom>
        </p:spPr>
        <p:style>
          <a:lnRef idx="2">
            <a:schemeClr val="lt1"/>
          </a:lnRef>
          <a:fillRef idx="1">
            <a:schemeClr val="accent1"/>
          </a:fillRef>
          <a:effectRef idx="1">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数据标准管理</a:t>
            </a: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5" name="Rectangle 42"/>
          <p:cNvSpPr/>
          <p:nvPr>
            <p:custDataLst>
              <p:tags r:id="rId25"/>
            </p:custDataLst>
          </p:nvPr>
        </p:nvSpPr>
        <p:spPr bwMode="auto">
          <a:xfrm>
            <a:off x="509270" y="1627505"/>
            <a:ext cx="10958195" cy="2938145"/>
          </a:xfrm>
          <a:prstGeom prst="rect">
            <a:avLst/>
          </a:prstGeom>
          <a:noFill/>
          <a:ln w="12700">
            <a:noFill/>
            <a:round/>
          </a:ln>
        </p:spPr>
        <p:txBody>
          <a:bodyPr lIns="0" tIns="0" rIns="0" bIns="0" rtlCol="0" anchor="ctr"/>
          <a:lstStyle/>
          <a:p>
            <a:pPr marL="0" marR="0" lvl="0" indent="0" algn="ctr" defTabSz="457200" rtl="0" eaLnBrk="1" fontAlgn="auto" latinLnBrk="0" hangingPunct="1">
              <a:lnSpc>
                <a:spcPct val="150000"/>
              </a:lnSpc>
              <a:spcBef>
                <a:spcPts val="0"/>
              </a:spcBef>
              <a:spcAft>
                <a:spcPts val="0"/>
              </a:spcAft>
              <a:buClrTx/>
              <a:buSzTx/>
              <a:buFontTx/>
              <a:buNone/>
              <a:defRPr/>
            </a:pPr>
            <a:endParaRPr kumimoji="0" lang="en-US" altLang="en-US" sz="12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6" name="Rectangle 43"/>
          <p:cNvSpPr/>
          <p:nvPr>
            <p:custDataLst>
              <p:tags r:id="rId26"/>
            </p:custDataLst>
          </p:nvPr>
        </p:nvSpPr>
        <p:spPr bwMode="auto">
          <a:xfrm>
            <a:off x="608330" y="996315"/>
            <a:ext cx="10958196" cy="365125"/>
          </a:xfrm>
          <a:prstGeom prst="rect">
            <a:avLst/>
          </a:prstGeom>
          <a:noFill/>
          <a:ln w="12700">
            <a:solidFill>
              <a:srgbClr val="0070C0"/>
            </a:solidFill>
            <a:prstDash val="sysDash"/>
            <a:round/>
          </a:ln>
        </p:spPr>
        <p:txBody>
          <a:bodyPr lIns="0" tIns="0" rIns="0" bIns="0" rtlCol="0" anchor="ct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通过咨询</a:t>
            </a:r>
            <a:r>
              <a:rPr lang="zh-CN" altLang="en-US" sz="140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成果</a:t>
            </a:r>
            <a:r>
              <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，结合实际业务需求，对</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数据标准</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MDM</a:t>
            </a:r>
            <a:r>
              <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系统中进行落地，包括</a:t>
            </a:r>
            <a:r>
              <a:rPr lang="zh-CN" altLang="en-US" sz="140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业务标准、管理标准、技术标准</a:t>
            </a:r>
            <a:endParaRPr kumimoji="0" lang="zh-CN" altLang="en-US"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 name="Rounded Rectangle 187"/>
          <p:cNvSpPr/>
          <p:nvPr>
            <p:custDataLst>
              <p:tags r:id="rId27"/>
            </p:custDataLst>
          </p:nvPr>
        </p:nvSpPr>
        <p:spPr bwMode="auto">
          <a:xfrm>
            <a:off x="575945" y="3535111"/>
            <a:ext cx="3442970" cy="739140"/>
          </a:xfrm>
          <a:prstGeom prst="roundRect">
            <a:avLst>
              <a:gd name="adj" fmla="val 1021"/>
            </a:avLst>
          </a:prstGeom>
          <a:solidFill>
            <a:srgbClr val="DDEBF7"/>
          </a:solidFill>
          <a:ln w="12700">
            <a:noFill/>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rPr>
              <a:t>在系统中统一定义口径、名称，</a:t>
            </a:r>
            <a:endParaRPr kumimoji="0" lang="en-US" altLang="zh-CN"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rPr>
              <a:t>形成一套一致、规范、开放、共性的业务数据标准</a:t>
            </a:r>
            <a:endPar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endParaRPr>
          </a:p>
        </p:txBody>
      </p:sp>
      <p:sp>
        <p:nvSpPr>
          <p:cNvPr id="58" name="Rounded Rectangle 187"/>
          <p:cNvSpPr/>
          <p:nvPr>
            <p:custDataLst>
              <p:tags r:id="rId28"/>
            </p:custDataLst>
          </p:nvPr>
        </p:nvSpPr>
        <p:spPr bwMode="auto">
          <a:xfrm>
            <a:off x="4104957" y="3535111"/>
            <a:ext cx="3947160" cy="739140"/>
          </a:xfrm>
          <a:prstGeom prst="roundRect">
            <a:avLst>
              <a:gd name="adj" fmla="val 1021"/>
            </a:avLst>
          </a:prstGeom>
          <a:solidFill>
            <a:srgbClr val="DDEBF7"/>
          </a:solidFill>
          <a:ln w="12700">
            <a:noFill/>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rPr>
              <a:t>明确数据标准的管理和维护工作有明确的责任主体，保障数据标准能够持续地进行更新和改进</a:t>
            </a:r>
            <a:endPar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endParaRPr>
          </a:p>
        </p:txBody>
      </p:sp>
      <p:sp>
        <p:nvSpPr>
          <p:cNvPr id="59" name="Rounded Rectangle 187"/>
          <p:cNvSpPr/>
          <p:nvPr>
            <p:custDataLst>
              <p:tags r:id="rId29"/>
            </p:custDataLst>
          </p:nvPr>
        </p:nvSpPr>
        <p:spPr bwMode="auto">
          <a:xfrm>
            <a:off x="8129905" y="3535111"/>
            <a:ext cx="3362960" cy="739140"/>
          </a:xfrm>
          <a:prstGeom prst="roundRect">
            <a:avLst>
              <a:gd name="adj" fmla="val 0"/>
            </a:avLst>
          </a:prstGeom>
          <a:solidFill>
            <a:srgbClr val="DDEBF7"/>
          </a:solidFill>
          <a:ln w="12700">
            <a:noFill/>
            <a:round/>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rPr>
              <a:t>统一的数据模型，</a:t>
            </a:r>
            <a:endParaRPr kumimoji="0" lang="en-US" altLang="zh-CN"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rPr>
              <a:t>对主数据系统的建设和使用提供指导和约束</a:t>
            </a:r>
            <a:endParaRPr kumimoji="0" lang="zh-CN" altLang="en-US" sz="1200" b="0" i="0" u="none" strike="noStrike" kern="0" cap="none" spc="0" normalizeH="0" baseline="0" noProof="0">
              <a:ln>
                <a:noFill/>
              </a:ln>
              <a:solidFill>
                <a:srgbClr val="2E2E38"/>
              </a:solidFill>
              <a:effectLst/>
              <a:uLnTx/>
              <a:uFillTx/>
              <a:latin typeface="微软雅黑" panose="020B0503020204020204" pitchFamily="34" charset="-122"/>
              <a:ea typeface="微软雅黑" panose="020B0503020204020204" pitchFamily="34" charset="-122"/>
              <a:cs typeface="+mn-cs"/>
              <a:sym typeface="宋体" pitchFamily="2" charset="-122"/>
            </a:endParaRPr>
          </a:p>
        </p:txBody>
      </p:sp>
      <p:sp>
        <p:nvSpPr>
          <p:cNvPr id="60" name="矩形 72"/>
          <p:cNvSpPr/>
          <p:nvPr>
            <p:custDataLst>
              <p:tags r:id="rId30"/>
            </p:custDataLst>
          </p:nvPr>
        </p:nvSpPr>
        <p:spPr>
          <a:xfrm>
            <a:off x="4551680" y="2004695"/>
            <a:ext cx="3053715" cy="645160"/>
          </a:xfrm>
          <a:prstGeom prst="rect">
            <a:avLst/>
          </a:prstGeom>
          <a:ln>
            <a:noFill/>
          </a:ln>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明确各项数据标准项的</a:t>
            </a:r>
            <a:endParaRPr kumimoji="0" lang="en-US" altLang="zh-CN"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所有者、管理人、使用部门等内容</a:t>
            </a: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7" name="Picture 66"/>
          <p:cNvPicPr/>
          <p:nvPr/>
        </p:nvPicPr>
        <p:blipFill>
          <a:blip r:embed="rId31"/>
          <a:stretch>
            <a:fillRect/>
          </a:stretch>
        </p:blipFill>
        <p:spPr>
          <a:xfrm>
            <a:off x="647803" y="4440325"/>
            <a:ext cx="3299254" cy="1894637"/>
          </a:xfrm>
          <a:prstGeom prst="rect">
            <a:avLst/>
          </a:prstGeom>
        </p:spPr>
      </p:pic>
      <p:pic>
        <p:nvPicPr>
          <p:cNvPr id="69" name="Picture 68"/>
          <p:cNvPicPr/>
          <p:nvPr/>
        </p:nvPicPr>
        <p:blipFill rotWithShape="1">
          <a:blip r:embed="rId32"/>
          <a:srcRect b="5898"/>
          <a:stretch>
            <a:fillRect/>
          </a:stretch>
        </p:blipFill>
        <p:spPr>
          <a:xfrm>
            <a:off x="4162349" y="4436030"/>
            <a:ext cx="3825849" cy="1894637"/>
          </a:xfrm>
          <a:prstGeom prst="rect">
            <a:avLst/>
          </a:prstGeom>
        </p:spPr>
      </p:pic>
      <p:pic>
        <p:nvPicPr>
          <p:cNvPr id="71" name="Picture 70"/>
          <p:cNvPicPr/>
          <p:nvPr/>
        </p:nvPicPr>
        <p:blipFill>
          <a:blip r:embed="rId33"/>
          <a:stretch>
            <a:fillRect/>
          </a:stretch>
        </p:blipFill>
        <p:spPr>
          <a:xfrm>
            <a:off x="8180911" y="4436030"/>
            <a:ext cx="3299254" cy="1894637"/>
          </a:xfrm>
          <a:prstGeom prst="rect">
            <a:avLst/>
          </a:prstGeom>
        </p:spPr>
      </p:pic>
      <p:sp>
        <p:nvSpPr>
          <p:cNvPr id="72" name="Slide Number Placeholder 1"/>
          <p:cNvSpPr txBox="1"/>
          <p:nvPr/>
        </p:nvSpPr>
        <p:spPr>
          <a:xfrm>
            <a:off x="8610599" y="6515100"/>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latin typeface="微软雅黑" panose="020B0503020204020204" pitchFamily="34" charset="-122"/>
                <a:ea typeface="微软雅黑" panose="020B0503020204020204" pitchFamily="34" charset="-122"/>
              </a:rPr>
            </a:fld>
            <a:endParaRPr lang="zh-CN" altLang="en-US" smtClean="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0" tIns="0" rIns="0" bIns="0" rtlCol="0" anchor="ctr" anchorCtr="0">
            <a:noAutofit/>
          </a:bodyPr>
          <a:lstStyle/>
          <a:p>
            <a:pPr lvl="0" algn="l" defTabSz="1727835">
              <a:lnSpc>
                <a:spcPct val="130000"/>
              </a:lnSpc>
              <a:spcAft>
                <a:spcPts val="0"/>
              </a:spcAft>
              <a:buClrTx/>
              <a:buSzTx/>
              <a:buFontTx/>
            </a:pPr>
            <a:r>
              <a:rPr b="1">
                <a:solidFill>
                  <a:schemeClr val="tx1">
                    <a:lumMod val="95000"/>
                    <a:lumOff val="5000"/>
                  </a:schemeClr>
                </a:solidFill>
                <a:cs typeface="微软雅黑" panose="020B0503020204020204" pitchFamily="34" charset="-122"/>
                <a:sym typeface="+mn-ea"/>
              </a:rPr>
              <a:t>主数据管理体系</a:t>
            </a:r>
            <a:r>
              <a:rPr b="1">
                <a:solidFill>
                  <a:schemeClr val="tx1">
                    <a:lumMod val="95000"/>
                    <a:lumOff val="5000"/>
                  </a:schemeClr>
                </a:solidFill>
                <a:cs typeface="微软雅黑" panose="020B0503020204020204" pitchFamily="34" charset="-122"/>
                <a:sym typeface="+mn-ea"/>
              </a:rPr>
              <a:t>-</a:t>
            </a:r>
            <a:r>
              <a:rPr b="1">
                <a:solidFill>
                  <a:schemeClr val="tx1">
                    <a:lumMod val="95000"/>
                    <a:lumOff val="5000"/>
                  </a:schemeClr>
                </a:solidFill>
                <a:cs typeface="微软雅黑" panose="020B0503020204020204" pitchFamily="34" charset="-122"/>
                <a:sym typeface="+mn-ea"/>
              </a:rPr>
              <a:t>流程</a:t>
            </a:r>
            <a:endParaRPr b="1">
              <a:solidFill>
                <a:schemeClr val="tx1">
                  <a:lumMod val="95000"/>
                  <a:lumOff val="5000"/>
                </a:schemeClr>
              </a:solidFill>
              <a:cs typeface="微软雅黑" panose="020B0503020204020204" pitchFamily="34" charset="-122"/>
              <a:sym typeface="+mn-ea"/>
            </a:endParaRPr>
          </a:p>
        </p:txBody>
      </p:sp>
      <p:sp>
        <p:nvSpPr>
          <p:cNvPr id="31" name="Freeform 5"/>
          <p:cNvSpPr/>
          <p:nvPr/>
        </p:nvSpPr>
        <p:spPr bwMode="auto">
          <a:xfrm>
            <a:off x="4447522" y="3693476"/>
            <a:ext cx="2462967" cy="1943318"/>
          </a:xfrm>
          <a:custGeom>
            <a:avLst/>
            <a:gdLst>
              <a:gd name="T0" fmla="*/ 134 w 608"/>
              <a:gd name="T1" fmla="*/ 0 h 480"/>
              <a:gd name="T2" fmla="*/ 136 w 608"/>
              <a:gd name="T3" fmla="*/ 2 h 480"/>
              <a:gd name="T4" fmla="*/ 118 w 608"/>
              <a:gd name="T5" fmla="*/ 78 h 480"/>
              <a:gd name="T6" fmla="*/ 91 w 608"/>
              <a:gd name="T7" fmla="*/ 291 h 480"/>
              <a:gd name="T8" fmla="*/ 317 w 608"/>
              <a:gd name="T9" fmla="*/ 355 h 480"/>
              <a:gd name="T10" fmla="*/ 482 w 608"/>
              <a:gd name="T11" fmla="*/ 187 h 480"/>
              <a:gd name="T12" fmla="*/ 512 w 608"/>
              <a:gd name="T13" fmla="*/ 128 h 480"/>
              <a:gd name="T14" fmla="*/ 473 w 608"/>
              <a:gd name="T15" fmla="*/ 115 h 480"/>
              <a:gd name="T16" fmla="*/ 576 w 608"/>
              <a:gd name="T17" fmla="*/ 20 h 480"/>
              <a:gd name="T18" fmla="*/ 608 w 608"/>
              <a:gd name="T19" fmla="*/ 154 h 480"/>
              <a:gd name="T20" fmla="*/ 603 w 608"/>
              <a:gd name="T21" fmla="*/ 155 h 480"/>
              <a:gd name="T22" fmla="*/ 546 w 608"/>
              <a:gd name="T23" fmla="*/ 183 h 480"/>
              <a:gd name="T24" fmla="*/ 355 w 608"/>
              <a:gd name="T25" fmla="*/ 397 h 480"/>
              <a:gd name="T26" fmla="*/ 7 w 608"/>
              <a:gd name="T27" fmla="*/ 211 h 480"/>
              <a:gd name="T28" fmla="*/ 134 w 608"/>
              <a:gd name="T29"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8" h="480">
                <a:moveTo>
                  <a:pt x="134" y="0"/>
                </a:moveTo>
                <a:cubicBezTo>
                  <a:pt x="135" y="1"/>
                  <a:pt x="136" y="2"/>
                  <a:pt x="136" y="2"/>
                </a:cubicBezTo>
                <a:cubicBezTo>
                  <a:pt x="148" y="32"/>
                  <a:pt x="147" y="53"/>
                  <a:pt x="118" y="78"/>
                </a:cubicBezTo>
                <a:cubicBezTo>
                  <a:pt x="53" y="133"/>
                  <a:pt x="45" y="224"/>
                  <a:pt x="91" y="291"/>
                </a:cubicBezTo>
                <a:cubicBezTo>
                  <a:pt x="144" y="367"/>
                  <a:pt x="237" y="394"/>
                  <a:pt x="317" y="355"/>
                </a:cubicBezTo>
                <a:cubicBezTo>
                  <a:pt x="392" y="319"/>
                  <a:pt x="443" y="258"/>
                  <a:pt x="482" y="187"/>
                </a:cubicBezTo>
                <a:cubicBezTo>
                  <a:pt x="492" y="168"/>
                  <a:pt x="501" y="149"/>
                  <a:pt x="512" y="128"/>
                </a:cubicBezTo>
                <a:cubicBezTo>
                  <a:pt x="498" y="123"/>
                  <a:pt x="487" y="120"/>
                  <a:pt x="473" y="115"/>
                </a:cubicBezTo>
                <a:cubicBezTo>
                  <a:pt x="507" y="83"/>
                  <a:pt x="540" y="53"/>
                  <a:pt x="576" y="20"/>
                </a:cubicBezTo>
                <a:cubicBezTo>
                  <a:pt x="587" y="68"/>
                  <a:pt x="598" y="111"/>
                  <a:pt x="608" y="154"/>
                </a:cubicBezTo>
                <a:cubicBezTo>
                  <a:pt x="604" y="155"/>
                  <a:pt x="603" y="156"/>
                  <a:pt x="603" y="155"/>
                </a:cubicBezTo>
                <a:cubicBezTo>
                  <a:pt x="563" y="146"/>
                  <a:pt x="564" y="146"/>
                  <a:pt x="546" y="183"/>
                </a:cubicBezTo>
                <a:cubicBezTo>
                  <a:pt x="503" y="273"/>
                  <a:pt x="443" y="348"/>
                  <a:pt x="355" y="397"/>
                </a:cubicBezTo>
                <a:cubicBezTo>
                  <a:pt x="206" y="480"/>
                  <a:pt x="20" y="381"/>
                  <a:pt x="7" y="211"/>
                </a:cubicBezTo>
                <a:cubicBezTo>
                  <a:pt x="0" y="130"/>
                  <a:pt x="63" y="26"/>
                  <a:pt x="134" y="0"/>
                </a:cubicBezTo>
                <a:close/>
              </a:path>
            </a:pathLst>
          </a:custGeom>
          <a:solidFill>
            <a:srgbClr val="0C7F8A"/>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sz="2000" kern="0">
              <a:solidFill>
                <a:prstClr val="black"/>
              </a:solidFill>
              <a:latin typeface="微软雅黑" panose="020B0503020204020204" pitchFamily="34" charset="-122"/>
              <a:ea typeface="微软雅黑" panose="020B0503020204020204" pitchFamily="34" charset="-122"/>
            </a:endParaRPr>
          </a:p>
        </p:txBody>
      </p:sp>
      <p:sp>
        <p:nvSpPr>
          <p:cNvPr id="32" name="Freeform 6"/>
          <p:cNvSpPr/>
          <p:nvPr/>
        </p:nvSpPr>
        <p:spPr bwMode="auto">
          <a:xfrm>
            <a:off x="5407371" y="3240393"/>
            <a:ext cx="2377075" cy="2164490"/>
          </a:xfrm>
          <a:custGeom>
            <a:avLst/>
            <a:gdLst>
              <a:gd name="T0" fmla="*/ 0 w 587"/>
              <a:gd name="T1" fmla="*/ 91 h 535"/>
              <a:gd name="T2" fmla="*/ 98 w 587"/>
              <a:gd name="T3" fmla="*/ 0 h 535"/>
              <a:gd name="T4" fmla="*/ 104 w 587"/>
              <a:gd name="T5" fmla="*/ 5 h 535"/>
              <a:gd name="T6" fmla="*/ 150 w 587"/>
              <a:gd name="T7" fmla="*/ 36 h 535"/>
              <a:gd name="T8" fmla="*/ 411 w 587"/>
              <a:gd name="T9" fmla="*/ 79 h 535"/>
              <a:gd name="T10" fmla="*/ 478 w 587"/>
              <a:gd name="T11" fmla="*/ 466 h 535"/>
              <a:gd name="T12" fmla="*/ 245 w 587"/>
              <a:gd name="T13" fmla="*/ 506 h 535"/>
              <a:gd name="T14" fmla="*/ 216 w 587"/>
              <a:gd name="T15" fmla="*/ 493 h 535"/>
              <a:gd name="T16" fmla="*/ 203 w 587"/>
              <a:gd name="T17" fmla="*/ 484 h 535"/>
              <a:gd name="T18" fmla="*/ 237 w 587"/>
              <a:gd name="T19" fmla="*/ 451 h 535"/>
              <a:gd name="T20" fmla="*/ 255 w 587"/>
              <a:gd name="T21" fmla="*/ 452 h 535"/>
              <a:gd name="T22" fmla="*/ 349 w 587"/>
              <a:gd name="T23" fmla="*/ 466 h 535"/>
              <a:gd name="T24" fmla="*/ 490 w 587"/>
              <a:gd name="T25" fmla="*/ 248 h 535"/>
              <a:gd name="T26" fmla="*/ 358 w 587"/>
              <a:gd name="T27" fmla="*/ 116 h 535"/>
              <a:gd name="T28" fmla="*/ 137 w 587"/>
              <a:gd name="T29" fmla="*/ 92 h 535"/>
              <a:gd name="T30" fmla="*/ 127 w 587"/>
              <a:gd name="T31" fmla="*/ 95 h 535"/>
              <a:gd name="T32" fmla="*/ 131 w 587"/>
              <a:gd name="T33" fmla="*/ 131 h 535"/>
              <a:gd name="T34" fmla="*/ 0 w 587"/>
              <a:gd name="T35" fmla="*/ 91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7" h="535">
                <a:moveTo>
                  <a:pt x="0" y="91"/>
                </a:moveTo>
                <a:cubicBezTo>
                  <a:pt x="35" y="59"/>
                  <a:pt x="67" y="29"/>
                  <a:pt x="98" y="0"/>
                </a:cubicBezTo>
                <a:cubicBezTo>
                  <a:pt x="101" y="2"/>
                  <a:pt x="103" y="3"/>
                  <a:pt x="104" y="5"/>
                </a:cubicBezTo>
                <a:cubicBezTo>
                  <a:pt x="115" y="38"/>
                  <a:pt x="115" y="39"/>
                  <a:pt x="150" y="36"/>
                </a:cubicBezTo>
                <a:cubicBezTo>
                  <a:pt x="241" y="29"/>
                  <a:pt x="328" y="40"/>
                  <a:pt x="411" y="79"/>
                </a:cubicBezTo>
                <a:cubicBezTo>
                  <a:pt x="584" y="161"/>
                  <a:pt x="587" y="364"/>
                  <a:pt x="478" y="466"/>
                </a:cubicBezTo>
                <a:cubicBezTo>
                  <a:pt x="411" y="529"/>
                  <a:pt x="330" y="535"/>
                  <a:pt x="245" y="506"/>
                </a:cubicBezTo>
                <a:cubicBezTo>
                  <a:pt x="235" y="503"/>
                  <a:pt x="225" y="498"/>
                  <a:pt x="216" y="493"/>
                </a:cubicBezTo>
                <a:cubicBezTo>
                  <a:pt x="211" y="491"/>
                  <a:pt x="208" y="488"/>
                  <a:pt x="203" y="484"/>
                </a:cubicBezTo>
                <a:cubicBezTo>
                  <a:pt x="214" y="472"/>
                  <a:pt x="225" y="460"/>
                  <a:pt x="237" y="451"/>
                </a:cubicBezTo>
                <a:cubicBezTo>
                  <a:pt x="240" y="448"/>
                  <a:pt x="249" y="451"/>
                  <a:pt x="255" y="452"/>
                </a:cubicBezTo>
                <a:cubicBezTo>
                  <a:pt x="286" y="457"/>
                  <a:pt x="318" y="468"/>
                  <a:pt x="349" y="466"/>
                </a:cubicBezTo>
                <a:cubicBezTo>
                  <a:pt x="472" y="455"/>
                  <a:pt x="513" y="330"/>
                  <a:pt x="490" y="248"/>
                </a:cubicBezTo>
                <a:cubicBezTo>
                  <a:pt x="472" y="180"/>
                  <a:pt x="422" y="140"/>
                  <a:pt x="358" y="116"/>
                </a:cubicBezTo>
                <a:cubicBezTo>
                  <a:pt x="286" y="88"/>
                  <a:pt x="213" y="84"/>
                  <a:pt x="137" y="92"/>
                </a:cubicBezTo>
                <a:cubicBezTo>
                  <a:pt x="134" y="93"/>
                  <a:pt x="131" y="94"/>
                  <a:pt x="127" y="95"/>
                </a:cubicBezTo>
                <a:cubicBezTo>
                  <a:pt x="128" y="106"/>
                  <a:pt x="129" y="116"/>
                  <a:pt x="131" y="131"/>
                </a:cubicBezTo>
                <a:cubicBezTo>
                  <a:pt x="87" y="118"/>
                  <a:pt x="46" y="105"/>
                  <a:pt x="0" y="91"/>
                </a:cubicBezTo>
                <a:close/>
              </a:path>
            </a:pathLst>
          </a:custGeom>
          <a:solidFill>
            <a:srgbClr val="11AFB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sz="2000" kern="0">
              <a:solidFill>
                <a:prstClr val="black"/>
              </a:solidFill>
              <a:latin typeface="微软雅黑" panose="020B0503020204020204" pitchFamily="34" charset="-122"/>
              <a:ea typeface="微软雅黑" panose="020B0503020204020204" pitchFamily="34" charset="-122"/>
            </a:endParaRPr>
          </a:p>
        </p:txBody>
      </p:sp>
      <p:sp>
        <p:nvSpPr>
          <p:cNvPr id="33" name="Freeform 7"/>
          <p:cNvSpPr/>
          <p:nvPr/>
        </p:nvSpPr>
        <p:spPr bwMode="auto">
          <a:xfrm>
            <a:off x="5018707" y="2297724"/>
            <a:ext cx="1911108" cy="2570332"/>
          </a:xfrm>
          <a:custGeom>
            <a:avLst/>
            <a:gdLst>
              <a:gd name="T0" fmla="*/ 226 w 472"/>
              <a:gd name="T1" fmla="*/ 635 h 635"/>
              <a:gd name="T2" fmla="*/ 104 w 472"/>
              <a:gd name="T3" fmla="*/ 597 h 635"/>
              <a:gd name="T4" fmla="*/ 108 w 472"/>
              <a:gd name="T5" fmla="*/ 589 h 635"/>
              <a:gd name="T6" fmla="*/ 108 w 472"/>
              <a:gd name="T7" fmla="*/ 533 h 635"/>
              <a:gd name="T8" fmla="*/ 84 w 472"/>
              <a:gd name="T9" fmla="*/ 502 h 635"/>
              <a:gd name="T10" fmla="*/ 20 w 472"/>
              <a:gd name="T11" fmla="*/ 327 h 635"/>
              <a:gd name="T12" fmla="*/ 177 w 472"/>
              <a:gd name="T13" fmla="*/ 41 h 635"/>
              <a:gd name="T14" fmla="*/ 457 w 472"/>
              <a:gd name="T15" fmla="*/ 181 h 635"/>
              <a:gd name="T16" fmla="*/ 467 w 472"/>
              <a:gd name="T17" fmla="*/ 261 h 635"/>
              <a:gd name="T18" fmla="*/ 414 w 472"/>
              <a:gd name="T19" fmla="*/ 223 h 635"/>
              <a:gd name="T20" fmla="*/ 134 w 472"/>
              <a:gd name="T21" fmla="*/ 121 h 635"/>
              <a:gd name="T22" fmla="*/ 69 w 472"/>
              <a:gd name="T23" fmla="*/ 306 h 635"/>
              <a:gd name="T24" fmla="*/ 123 w 472"/>
              <a:gd name="T25" fmla="*/ 459 h 635"/>
              <a:gd name="T26" fmla="*/ 154 w 472"/>
              <a:gd name="T27" fmla="*/ 508 h 635"/>
              <a:gd name="T28" fmla="*/ 183 w 472"/>
              <a:gd name="T29" fmla="*/ 516 h 635"/>
              <a:gd name="T30" fmla="*/ 206 w 472"/>
              <a:gd name="T31" fmla="*/ 528 h 635"/>
              <a:gd name="T32" fmla="*/ 222 w 472"/>
              <a:gd name="T33" fmla="*/ 610 h 635"/>
              <a:gd name="T34" fmla="*/ 226 w 472"/>
              <a:gd name="T35" fmla="*/ 635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2" h="635">
                <a:moveTo>
                  <a:pt x="226" y="635"/>
                </a:moveTo>
                <a:cubicBezTo>
                  <a:pt x="183" y="622"/>
                  <a:pt x="144" y="609"/>
                  <a:pt x="104" y="597"/>
                </a:cubicBezTo>
                <a:cubicBezTo>
                  <a:pt x="106" y="593"/>
                  <a:pt x="107" y="590"/>
                  <a:pt x="108" y="589"/>
                </a:cubicBezTo>
                <a:cubicBezTo>
                  <a:pt x="131" y="566"/>
                  <a:pt x="131" y="557"/>
                  <a:pt x="108" y="533"/>
                </a:cubicBezTo>
                <a:cubicBezTo>
                  <a:pt x="99" y="524"/>
                  <a:pt x="90" y="514"/>
                  <a:pt x="84" y="502"/>
                </a:cubicBezTo>
                <a:cubicBezTo>
                  <a:pt x="57" y="446"/>
                  <a:pt x="29" y="390"/>
                  <a:pt x="20" y="327"/>
                </a:cubicBezTo>
                <a:cubicBezTo>
                  <a:pt x="0" y="194"/>
                  <a:pt x="49" y="86"/>
                  <a:pt x="177" y="41"/>
                </a:cubicBezTo>
                <a:cubicBezTo>
                  <a:pt x="294" y="0"/>
                  <a:pt x="418" y="62"/>
                  <a:pt x="457" y="181"/>
                </a:cubicBezTo>
                <a:cubicBezTo>
                  <a:pt x="465" y="207"/>
                  <a:pt x="472" y="233"/>
                  <a:pt x="467" y="261"/>
                </a:cubicBezTo>
                <a:cubicBezTo>
                  <a:pt x="432" y="263"/>
                  <a:pt x="421" y="253"/>
                  <a:pt x="414" y="223"/>
                </a:cubicBezTo>
                <a:cubicBezTo>
                  <a:pt x="383" y="75"/>
                  <a:pt x="235" y="44"/>
                  <a:pt x="134" y="121"/>
                </a:cubicBezTo>
                <a:cubicBezTo>
                  <a:pt x="73" y="169"/>
                  <a:pt x="62" y="235"/>
                  <a:pt x="69" y="306"/>
                </a:cubicBezTo>
                <a:cubicBezTo>
                  <a:pt x="75" y="361"/>
                  <a:pt x="98" y="411"/>
                  <a:pt x="123" y="459"/>
                </a:cubicBezTo>
                <a:cubicBezTo>
                  <a:pt x="131" y="477"/>
                  <a:pt x="143" y="493"/>
                  <a:pt x="154" y="508"/>
                </a:cubicBezTo>
                <a:cubicBezTo>
                  <a:pt x="161" y="518"/>
                  <a:pt x="170" y="523"/>
                  <a:pt x="183" y="516"/>
                </a:cubicBezTo>
                <a:cubicBezTo>
                  <a:pt x="200" y="506"/>
                  <a:pt x="203" y="509"/>
                  <a:pt x="206" y="528"/>
                </a:cubicBezTo>
                <a:cubicBezTo>
                  <a:pt x="211" y="555"/>
                  <a:pt x="217" y="582"/>
                  <a:pt x="222" y="610"/>
                </a:cubicBezTo>
                <a:cubicBezTo>
                  <a:pt x="223" y="617"/>
                  <a:pt x="224" y="624"/>
                  <a:pt x="226" y="635"/>
                </a:cubicBezTo>
                <a:close/>
              </a:path>
            </a:pathLst>
          </a:custGeom>
          <a:solidFill>
            <a:srgbClr val="029E9A"/>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sz="2000" kern="0">
              <a:solidFill>
                <a:prstClr val="black"/>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7891076" y="4322638"/>
            <a:ext cx="3174408" cy="1764794"/>
            <a:chOff x="7891076" y="4322638"/>
            <a:chExt cx="3174408" cy="1764794"/>
          </a:xfrm>
        </p:grpSpPr>
        <p:sp>
          <p:nvSpPr>
            <p:cNvPr id="38" name="矩形 37"/>
            <p:cNvSpPr/>
            <p:nvPr/>
          </p:nvSpPr>
          <p:spPr>
            <a:xfrm>
              <a:off x="8503216" y="4322638"/>
              <a:ext cx="2552065" cy="521970"/>
            </a:xfrm>
            <a:prstGeom prst="rect">
              <a:avLst/>
            </a:prstGeom>
          </p:spPr>
          <p:txBody>
            <a:bodyPr wrap="square">
              <a:spAutoFit/>
            </a:bodyPr>
            <a:lstStyle/>
            <a:p>
              <a:pPr algn="l"/>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系统对接流程</a:t>
              </a: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矩形 38"/>
            <p:cNvSpPr/>
            <p:nvPr/>
          </p:nvSpPr>
          <p:spPr>
            <a:xfrm>
              <a:off x="8067602" y="5072702"/>
              <a:ext cx="2997882" cy="1014730"/>
            </a:xfrm>
            <a:prstGeom prst="rect">
              <a:avLst/>
            </a:prstGeom>
            <a:solidFill>
              <a:srgbClr val="000000">
                <a:alpha val="0"/>
              </a:srgbClr>
            </a:solidFill>
            <a:ln w="12700">
              <a:solidFill>
                <a:schemeClr val="accent3">
                  <a:lumMod val="75000"/>
                </a:schemeClr>
              </a:solidFill>
              <a:prstDash val="dashDot"/>
            </a:ln>
          </p:spPr>
          <p:txBody>
            <a:bodyPr wrap="square">
              <a:spAutoFit/>
            </a:bodyPr>
            <a:lstStyle/>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改造评估</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方案设计</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接口开发</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测试上线</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运维监控</a:t>
              </a:r>
              <a:endParaRPr lang="en-US" altLang="zh-CN" sz="1200" dirty="0">
                <a:solidFill>
                  <a:prstClr val="black">
                    <a:lumMod val="50000"/>
                    <a:lumOff val="50000"/>
                  </a:prst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iconfont-11790-5634764"/>
            <p:cNvSpPr>
              <a:spLocks noChangeAspect="1"/>
            </p:cNvSpPr>
            <p:nvPr/>
          </p:nvSpPr>
          <p:spPr>
            <a:xfrm>
              <a:off x="7891076" y="4339868"/>
              <a:ext cx="503999" cy="503999"/>
            </a:xfrm>
            <a:custGeom>
              <a:avLst/>
              <a:gdLst>
                <a:gd name="T0" fmla="*/ 6200 w 12400"/>
                <a:gd name="T1" fmla="*/ 0 h 12400"/>
                <a:gd name="T2" fmla="*/ 0 w 12400"/>
                <a:gd name="T3" fmla="*/ 6200 h 12400"/>
                <a:gd name="T4" fmla="*/ 6200 w 12400"/>
                <a:gd name="T5" fmla="*/ 12400 h 12400"/>
                <a:gd name="T6" fmla="*/ 12400 w 12400"/>
                <a:gd name="T7" fmla="*/ 6200 h 12400"/>
                <a:gd name="T8" fmla="*/ 6200 w 12400"/>
                <a:gd name="T9" fmla="*/ 0 h 12400"/>
                <a:gd name="T10" fmla="*/ 8337 w 12400"/>
                <a:gd name="T11" fmla="*/ 6692 h 12400"/>
                <a:gd name="T12" fmla="*/ 9828 w 12400"/>
                <a:gd name="T13" fmla="*/ 8184 h 12400"/>
                <a:gd name="T14" fmla="*/ 9828 w 12400"/>
                <a:gd name="T15" fmla="*/ 10360 h 12400"/>
                <a:gd name="T16" fmla="*/ 9176 w 12400"/>
                <a:gd name="T17" fmla="*/ 10841 h 12400"/>
                <a:gd name="T18" fmla="*/ 8525 w 12400"/>
                <a:gd name="T19" fmla="*/ 10360 h 12400"/>
                <a:gd name="T20" fmla="*/ 8525 w 12400"/>
                <a:gd name="T21" fmla="*/ 8723 h 12400"/>
                <a:gd name="T22" fmla="*/ 7689 w 12400"/>
                <a:gd name="T23" fmla="*/ 7887 h 12400"/>
                <a:gd name="T24" fmla="*/ 6853 w 12400"/>
                <a:gd name="T25" fmla="*/ 8723 h 12400"/>
                <a:gd name="T26" fmla="*/ 6853 w 12400"/>
                <a:gd name="T27" fmla="*/ 10360 h 12400"/>
                <a:gd name="T28" fmla="*/ 6200 w 12400"/>
                <a:gd name="T29" fmla="*/ 10841 h 12400"/>
                <a:gd name="T30" fmla="*/ 5547 w 12400"/>
                <a:gd name="T31" fmla="*/ 10360 h 12400"/>
                <a:gd name="T32" fmla="*/ 5547 w 12400"/>
                <a:gd name="T33" fmla="*/ 8723 h 12400"/>
                <a:gd name="T34" fmla="*/ 4711 w 12400"/>
                <a:gd name="T35" fmla="*/ 7887 h 12400"/>
                <a:gd name="T36" fmla="*/ 3875 w 12400"/>
                <a:gd name="T37" fmla="*/ 8723 h 12400"/>
                <a:gd name="T38" fmla="*/ 3875 w 12400"/>
                <a:gd name="T39" fmla="*/ 10360 h 12400"/>
                <a:gd name="T40" fmla="*/ 3223 w 12400"/>
                <a:gd name="T41" fmla="*/ 10840 h 12400"/>
                <a:gd name="T42" fmla="*/ 2572 w 12400"/>
                <a:gd name="T43" fmla="*/ 10360 h 12400"/>
                <a:gd name="T44" fmla="*/ 2572 w 12400"/>
                <a:gd name="T45" fmla="*/ 8183 h 12400"/>
                <a:gd name="T46" fmla="*/ 4059 w 12400"/>
                <a:gd name="T47" fmla="*/ 6697 h 12400"/>
                <a:gd name="T48" fmla="*/ 4059 w 12400"/>
                <a:gd name="T49" fmla="*/ 4500 h 12400"/>
                <a:gd name="T50" fmla="*/ 5546 w 12400"/>
                <a:gd name="T51" fmla="*/ 3013 h 12400"/>
                <a:gd name="T52" fmla="*/ 5546 w 12400"/>
                <a:gd name="T53" fmla="*/ 1122 h 12400"/>
                <a:gd name="T54" fmla="*/ 6198 w 12400"/>
                <a:gd name="T55" fmla="*/ 641 h 12400"/>
                <a:gd name="T56" fmla="*/ 6849 w 12400"/>
                <a:gd name="T57" fmla="*/ 1122 h 12400"/>
                <a:gd name="T58" fmla="*/ 6849 w 12400"/>
                <a:gd name="T59" fmla="*/ 3013 h 12400"/>
                <a:gd name="T60" fmla="*/ 8337 w 12400"/>
                <a:gd name="T61" fmla="*/ 4501 h 12400"/>
                <a:gd name="T62" fmla="*/ 6197 w 12400"/>
                <a:gd name="T63" fmla="*/ 4204 h 12400"/>
                <a:gd name="T64" fmla="*/ 7033 w 12400"/>
                <a:gd name="T65" fmla="*/ 5040 h 12400"/>
                <a:gd name="T66" fmla="*/ 7033 w 12400"/>
                <a:gd name="T67" fmla="*/ 6700 h 12400"/>
                <a:gd name="T68" fmla="*/ 6200 w 12400"/>
                <a:gd name="T69" fmla="*/ 7533 h 12400"/>
                <a:gd name="T70" fmla="*/ 5362 w 12400"/>
                <a:gd name="T71" fmla="*/ 6695 h 12400"/>
                <a:gd name="T72" fmla="*/ 5362 w 12400"/>
                <a:gd name="T73" fmla="*/ 5040 h 12400"/>
                <a:gd name="T74" fmla="*/ 6197 w 12400"/>
                <a:gd name="T75" fmla="*/ 4204 h 1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00" h="12400">
                  <a:moveTo>
                    <a:pt x="6200" y="0"/>
                  </a:moveTo>
                  <a:cubicBezTo>
                    <a:pt x="2776" y="0"/>
                    <a:pt x="0" y="2776"/>
                    <a:pt x="0" y="6200"/>
                  </a:cubicBezTo>
                  <a:cubicBezTo>
                    <a:pt x="0" y="9624"/>
                    <a:pt x="2776" y="12400"/>
                    <a:pt x="6200" y="12400"/>
                  </a:cubicBezTo>
                  <a:cubicBezTo>
                    <a:pt x="9624" y="12400"/>
                    <a:pt x="12400" y="9624"/>
                    <a:pt x="12400" y="6200"/>
                  </a:cubicBezTo>
                  <a:cubicBezTo>
                    <a:pt x="12400" y="2776"/>
                    <a:pt x="9624" y="0"/>
                    <a:pt x="6200" y="0"/>
                  </a:cubicBezTo>
                  <a:close/>
                  <a:moveTo>
                    <a:pt x="8337" y="6692"/>
                  </a:moveTo>
                  <a:lnTo>
                    <a:pt x="9828" y="8184"/>
                  </a:lnTo>
                  <a:lnTo>
                    <a:pt x="9828" y="10360"/>
                  </a:lnTo>
                  <a:lnTo>
                    <a:pt x="9176" y="10841"/>
                  </a:lnTo>
                  <a:lnTo>
                    <a:pt x="8525" y="10360"/>
                  </a:lnTo>
                  <a:lnTo>
                    <a:pt x="8525" y="8723"/>
                  </a:lnTo>
                  <a:lnTo>
                    <a:pt x="7689" y="7887"/>
                  </a:lnTo>
                  <a:lnTo>
                    <a:pt x="6853" y="8723"/>
                  </a:lnTo>
                  <a:lnTo>
                    <a:pt x="6853" y="10360"/>
                  </a:lnTo>
                  <a:lnTo>
                    <a:pt x="6200" y="10841"/>
                  </a:lnTo>
                  <a:lnTo>
                    <a:pt x="5547" y="10360"/>
                  </a:lnTo>
                  <a:lnTo>
                    <a:pt x="5547" y="8723"/>
                  </a:lnTo>
                  <a:lnTo>
                    <a:pt x="4711" y="7887"/>
                  </a:lnTo>
                  <a:lnTo>
                    <a:pt x="3875" y="8723"/>
                  </a:lnTo>
                  <a:lnTo>
                    <a:pt x="3875" y="10360"/>
                  </a:lnTo>
                  <a:lnTo>
                    <a:pt x="3223" y="10840"/>
                  </a:lnTo>
                  <a:lnTo>
                    <a:pt x="2572" y="10360"/>
                  </a:lnTo>
                  <a:lnTo>
                    <a:pt x="2572" y="8183"/>
                  </a:lnTo>
                  <a:lnTo>
                    <a:pt x="4059" y="6697"/>
                  </a:lnTo>
                  <a:lnTo>
                    <a:pt x="4059" y="4500"/>
                  </a:lnTo>
                  <a:lnTo>
                    <a:pt x="5546" y="3013"/>
                  </a:lnTo>
                  <a:lnTo>
                    <a:pt x="5546" y="1122"/>
                  </a:lnTo>
                  <a:lnTo>
                    <a:pt x="6198" y="641"/>
                  </a:lnTo>
                  <a:lnTo>
                    <a:pt x="6849" y="1122"/>
                  </a:lnTo>
                  <a:lnTo>
                    <a:pt x="6849" y="3013"/>
                  </a:lnTo>
                  <a:lnTo>
                    <a:pt x="8337" y="4501"/>
                  </a:lnTo>
                  <a:moveTo>
                    <a:pt x="6197" y="4204"/>
                  </a:moveTo>
                  <a:lnTo>
                    <a:pt x="7033" y="5040"/>
                  </a:lnTo>
                  <a:lnTo>
                    <a:pt x="7033" y="6700"/>
                  </a:lnTo>
                  <a:lnTo>
                    <a:pt x="6200" y="7533"/>
                  </a:lnTo>
                  <a:lnTo>
                    <a:pt x="5362" y="6695"/>
                  </a:lnTo>
                  <a:lnTo>
                    <a:pt x="5362" y="5040"/>
                  </a:lnTo>
                  <a:lnTo>
                    <a:pt x="6197" y="4204"/>
                  </a:lnTo>
                  <a:close/>
                </a:path>
              </a:pathLst>
            </a:custGeom>
            <a:solidFill>
              <a:srgbClr val="11A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5154591" y="1319799"/>
            <a:ext cx="5965825" cy="977900"/>
            <a:chOff x="5154591" y="1319799"/>
            <a:chExt cx="5965825" cy="977900"/>
          </a:xfrm>
        </p:grpSpPr>
        <p:sp>
          <p:nvSpPr>
            <p:cNvPr id="43" name="矩形 42"/>
            <p:cNvSpPr/>
            <p:nvPr/>
          </p:nvSpPr>
          <p:spPr>
            <a:xfrm>
              <a:off x="5679004" y="1481948"/>
              <a:ext cx="2316480" cy="521970"/>
            </a:xfrm>
            <a:prstGeom prst="rect">
              <a:avLst/>
            </a:prstGeom>
          </p:spPr>
          <p:txBody>
            <a:bodyPr wrap="none">
              <a:spAutoFit/>
            </a:bodyPr>
            <a:lstStyle/>
            <a:p>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标准更新</a:t>
              </a: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流程</a:t>
              </a: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矩形 43"/>
            <p:cNvSpPr/>
            <p:nvPr/>
          </p:nvSpPr>
          <p:spPr>
            <a:xfrm>
              <a:off x="8122581" y="1319799"/>
              <a:ext cx="2997835" cy="977900"/>
            </a:xfrm>
            <a:prstGeom prst="rect">
              <a:avLst/>
            </a:prstGeom>
            <a:solidFill>
              <a:schemeClr val="accent6">
                <a:lumMod val="20000"/>
                <a:lumOff val="80000"/>
              </a:schemeClr>
            </a:solidFill>
            <a:ln w="12700">
              <a:solidFill>
                <a:schemeClr val="accent5">
                  <a:lumMod val="75000"/>
                </a:schemeClr>
              </a:solidFill>
              <a:prstDash val="dashDot"/>
            </a:ln>
          </p:spPr>
          <p:txBody>
            <a:bodyPr wrap="square">
              <a:noAutofit/>
            </a:bodyPr>
            <a:lstStyle/>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业务部门提需求</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管理</a:t>
              </a:r>
              <a:r>
                <a:rPr lang="zh-CN" altLang="en-US" sz="1200">
                  <a:latin typeface="微软雅黑" panose="020B0503020204020204" pitchFamily="34" charset="-122"/>
                  <a:ea typeface="微软雅黑" panose="020B0503020204020204" pitchFamily="34" charset="-122"/>
                  <a:sym typeface="+mn-ea"/>
                </a:rPr>
                <a:t>组织调研</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委员会审议</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标准发布</a:t>
              </a:r>
              <a:endParaRPr lang="zh-CN" altLang="en-US" sz="1200">
                <a:latin typeface="微软雅黑" panose="020B0503020204020204" pitchFamily="34" charset="-122"/>
                <a:ea typeface="微软雅黑" panose="020B0503020204020204" pitchFamily="34" charset="-122"/>
                <a:sym typeface="+mn-ea"/>
              </a:endParaRPr>
            </a:p>
            <a:p>
              <a:pPr marL="285750" indent="-285750" algn="just">
                <a:buClr>
                  <a:prstClr val="black">
                    <a:lumMod val="50000"/>
                    <a:lumOff val="50000"/>
                  </a:prstClr>
                </a:buClr>
                <a:buFont typeface="Wingdings" panose="05000000000000000000" pitchFamily="2" charset="2"/>
                <a:buChar char="ü"/>
              </a:pPr>
              <a:r>
                <a:rPr lang="zh-CN" altLang="en-US" sz="1200">
                  <a:latin typeface="微软雅黑" panose="020B0503020204020204" pitchFamily="34" charset="-122"/>
                  <a:ea typeface="微软雅黑" panose="020B0503020204020204" pitchFamily="34" charset="-122"/>
                  <a:sym typeface="+mn-ea"/>
                </a:rPr>
                <a:t>全系统同步</a:t>
              </a:r>
              <a:endParaRPr lang="en-US" altLang="zh-CN" sz="1200" dirty="0">
                <a:solidFill>
                  <a:schemeClr val="tx1">
                    <a:alpha val="70000"/>
                  </a:schemeClr>
                </a:solidFill>
                <a:latin typeface="微软雅黑" panose="020B0503020204020204" pitchFamily="34" charset="-122"/>
                <a:ea typeface="微软雅黑" panose="020B0503020204020204" pitchFamily="34" charset="-122"/>
              </a:endParaRPr>
            </a:p>
          </p:txBody>
        </p:sp>
        <p:sp>
          <p:nvSpPr>
            <p:cNvPr id="20" name="cloud-data_72746"/>
            <p:cNvSpPr/>
            <p:nvPr/>
          </p:nvSpPr>
          <p:spPr>
            <a:xfrm>
              <a:off x="5154591" y="1497354"/>
              <a:ext cx="503999" cy="503999"/>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029E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029213" y="4478112"/>
            <a:ext cx="3053495" cy="1689735"/>
            <a:chOff x="1029213" y="4478112"/>
            <a:chExt cx="3053495" cy="1689735"/>
          </a:xfrm>
        </p:grpSpPr>
        <p:sp>
          <p:nvSpPr>
            <p:cNvPr id="35" name="矩形 34"/>
            <p:cNvSpPr/>
            <p:nvPr/>
          </p:nvSpPr>
          <p:spPr>
            <a:xfrm>
              <a:off x="1766228" y="4487273"/>
              <a:ext cx="2316480" cy="521970"/>
            </a:xfrm>
            <a:prstGeom prst="rect">
              <a:avLst/>
            </a:prstGeom>
            <a:solidFill>
              <a:schemeClr val="bg1"/>
            </a:solidFill>
          </p:spPr>
          <p:txBody>
            <a:bodyPr wrap="none">
              <a:spAutoFit/>
            </a:bodyPr>
            <a:lstStyle/>
            <a:p>
              <a:pPr algn="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数据</a:t>
              </a: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维护流程</a:t>
              </a: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矩形 35"/>
            <p:cNvSpPr/>
            <p:nvPr/>
          </p:nvSpPr>
          <p:spPr>
            <a:xfrm>
              <a:off x="1029213" y="5141052"/>
              <a:ext cx="2989580" cy="1026795"/>
            </a:xfrm>
            <a:prstGeom prst="rect">
              <a:avLst/>
            </a:prstGeom>
            <a:noFill/>
            <a:ln w="12700">
              <a:solidFill>
                <a:schemeClr val="accent1">
                  <a:lumMod val="75000"/>
                </a:schemeClr>
              </a:solidFill>
              <a:prstDash val="dashDot"/>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marL="285750" indent="-285750" algn="just">
                <a:buClr>
                  <a:prstClr val="black">
                    <a:lumMod val="50000"/>
                    <a:lumOff val="50000"/>
                  </a:prstClr>
                </a:buClr>
                <a:buFont typeface="Wingdings" panose="05000000000000000000" pitchFamily="2" charset="2"/>
                <a:buChar char="ü"/>
              </a:pPr>
              <a:r>
                <a:rPr lang="zh-CN" altLang="en-US" sz="1200" dirty="0">
                  <a:solidFill>
                    <a:schemeClr val="tx1">
                      <a:alpha val="70000"/>
                    </a:schemeClr>
                  </a:solidFill>
                  <a:latin typeface="微软雅黑" panose="020B0503020204020204" pitchFamily="34" charset="-122"/>
                  <a:ea typeface="微软雅黑" panose="020B0503020204020204" pitchFamily="34" charset="-122"/>
                </a:rPr>
                <a:t>新增</a:t>
              </a:r>
              <a:r>
                <a:rPr lang="en-US" altLang="zh-CN" sz="1200" dirty="0">
                  <a:solidFill>
                    <a:schemeClr val="tx1">
                      <a:alpha val="70000"/>
                    </a:schemeClr>
                  </a:solidFill>
                  <a:latin typeface="微软雅黑" panose="020B0503020204020204" pitchFamily="34" charset="-122"/>
                  <a:ea typeface="微软雅黑" panose="020B0503020204020204" pitchFamily="34" charset="-122"/>
                </a:rPr>
                <a:t>/</a:t>
              </a:r>
              <a:r>
                <a:rPr lang="zh-CN" altLang="en-US" sz="1200" dirty="0">
                  <a:solidFill>
                    <a:schemeClr val="tx1">
                      <a:alpha val="70000"/>
                    </a:schemeClr>
                  </a:solidFill>
                  <a:latin typeface="微软雅黑" panose="020B0503020204020204" pitchFamily="34" charset="-122"/>
                  <a:ea typeface="微软雅黑" panose="020B0503020204020204" pitchFamily="34" charset="-122"/>
                </a:rPr>
                <a:t>变更</a:t>
              </a:r>
              <a:r>
                <a:rPr lang="zh-CN" altLang="en-US" sz="1200" dirty="0">
                  <a:solidFill>
                    <a:schemeClr val="tx1">
                      <a:alpha val="70000"/>
                    </a:schemeClr>
                  </a:solidFill>
                  <a:latin typeface="微软雅黑" panose="020B0503020204020204" pitchFamily="34" charset="-122"/>
                  <a:ea typeface="微软雅黑" panose="020B0503020204020204" pitchFamily="34" charset="-122"/>
                </a:rPr>
                <a:t>申请</a:t>
              </a:r>
              <a:endParaRPr lang="zh-CN" altLang="en-US" sz="1200" dirty="0">
                <a:solidFill>
                  <a:schemeClr val="tx1">
                    <a:alpha val="70000"/>
                  </a:schemeClr>
                </a:solidFill>
                <a:latin typeface="微软雅黑" panose="020B0503020204020204" pitchFamily="34" charset="-122"/>
                <a:ea typeface="微软雅黑" panose="020B0503020204020204" pitchFamily="34" charset="-122"/>
              </a:endParaRPr>
            </a:p>
            <a:p>
              <a:pPr marL="285750" indent="-285750" algn="just">
                <a:buClr>
                  <a:prstClr val="black">
                    <a:lumMod val="50000"/>
                    <a:lumOff val="50000"/>
                  </a:prstClr>
                </a:buClr>
                <a:buFont typeface="Wingdings" panose="05000000000000000000" pitchFamily="2" charset="2"/>
                <a:buChar char="ü"/>
              </a:pPr>
              <a:r>
                <a:rPr lang="zh-CN" altLang="en-US" sz="1200" dirty="0">
                  <a:solidFill>
                    <a:schemeClr val="tx1">
                      <a:alpha val="70000"/>
                    </a:schemeClr>
                  </a:solidFill>
                  <a:latin typeface="微软雅黑" panose="020B0503020204020204" pitchFamily="34" charset="-122"/>
                  <a:ea typeface="微软雅黑" panose="020B0503020204020204" pitchFamily="34" charset="-122"/>
                </a:rPr>
                <a:t>审批</a:t>
              </a:r>
              <a:endParaRPr lang="zh-CN" altLang="en-US" sz="1200" dirty="0">
                <a:solidFill>
                  <a:schemeClr val="tx1">
                    <a:alpha val="70000"/>
                  </a:schemeClr>
                </a:solidFill>
                <a:latin typeface="微软雅黑" panose="020B0503020204020204" pitchFamily="34" charset="-122"/>
                <a:ea typeface="微软雅黑" panose="020B0503020204020204" pitchFamily="34" charset="-122"/>
              </a:endParaRPr>
            </a:p>
            <a:p>
              <a:pPr marL="285750" indent="-285750" algn="just">
                <a:buClr>
                  <a:prstClr val="black">
                    <a:lumMod val="50000"/>
                    <a:lumOff val="50000"/>
                  </a:prstClr>
                </a:buClr>
                <a:buFont typeface="Wingdings" panose="05000000000000000000" pitchFamily="2" charset="2"/>
                <a:buChar char="ü"/>
              </a:pPr>
              <a:r>
                <a:rPr lang="zh-CN" altLang="en-US" sz="1200" dirty="0">
                  <a:solidFill>
                    <a:schemeClr val="tx1">
                      <a:alpha val="70000"/>
                    </a:schemeClr>
                  </a:solidFill>
                  <a:latin typeface="微软雅黑" panose="020B0503020204020204" pitchFamily="34" charset="-122"/>
                  <a:ea typeface="微软雅黑" panose="020B0503020204020204" pitchFamily="34" charset="-122"/>
                </a:rPr>
                <a:t>分发</a:t>
              </a:r>
              <a:endParaRPr lang="zh-CN" altLang="en-US" sz="1200" dirty="0">
                <a:solidFill>
                  <a:schemeClr val="tx1">
                    <a:alpha val="70000"/>
                  </a:schemeClr>
                </a:solidFill>
                <a:latin typeface="微软雅黑" panose="020B0503020204020204" pitchFamily="34" charset="-122"/>
                <a:ea typeface="微软雅黑" panose="020B0503020204020204" pitchFamily="34" charset="-122"/>
              </a:endParaRPr>
            </a:p>
          </p:txBody>
        </p:sp>
        <p:sp>
          <p:nvSpPr>
            <p:cNvPr id="21" name="centralized-connections_64723"/>
            <p:cNvSpPr>
              <a:spLocks noChangeAspect="1"/>
            </p:cNvSpPr>
            <p:nvPr/>
          </p:nvSpPr>
          <p:spPr>
            <a:xfrm>
              <a:off x="1253518" y="4478112"/>
              <a:ext cx="512392" cy="503999"/>
            </a:xfrm>
            <a:custGeom>
              <a:avLst/>
              <a:gdLst>
                <a:gd name="T0" fmla="*/ 4899 w 5262"/>
                <a:gd name="T1" fmla="*/ 2639 h 5183"/>
                <a:gd name="T2" fmla="*/ 4760 w 5262"/>
                <a:gd name="T3" fmla="*/ 1852 h 5183"/>
                <a:gd name="T4" fmla="*/ 3334 w 5262"/>
                <a:gd name="T5" fmla="*/ 2374 h 5183"/>
                <a:gd name="T6" fmla="*/ 3926 w 5262"/>
                <a:gd name="T7" fmla="*/ 1297 h 5183"/>
                <a:gd name="T8" fmla="*/ 4323 w 5262"/>
                <a:gd name="T9" fmla="*/ 616 h 5183"/>
                <a:gd name="T10" fmla="*/ 3721 w 5262"/>
                <a:gd name="T11" fmla="*/ 1126 h 5183"/>
                <a:gd name="T12" fmla="*/ 2764 w 5262"/>
                <a:gd name="T13" fmla="*/ 1850 h 5183"/>
                <a:gd name="T14" fmla="*/ 3031 w 5262"/>
                <a:gd name="T15" fmla="*/ 400 h 5183"/>
                <a:gd name="T16" fmla="*/ 2231 w 5262"/>
                <a:gd name="T17" fmla="*/ 400 h 5183"/>
                <a:gd name="T18" fmla="*/ 2497 w 5262"/>
                <a:gd name="T19" fmla="*/ 1850 h 5183"/>
                <a:gd name="T20" fmla="*/ 1540 w 5262"/>
                <a:gd name="T21" fmla="*/ 1126 h 5183"/>
                <a:gd name="T22" fmla="*/ 939 w 5262"/>
                <a:gd name="T23" fmla="*/ 616 h 5183"/>
                <a:gd name="T24" fmla="*/ 1336 w 5262"/>
                <a:gd name="T25" fmla="*/ 1297 h 5183"/>
                <a:gd name="T26" fmla="*/ 1928 w 5262"/>
                <a:gd name="T27" fmla="*/ 2374 h 5183"/>
                <a:gd name="T28" fmla="*/ 502 w 5262"/>
                <a:gd name="T29" fmla="*/ 1852 h 5183"/>
                <a:gd name="T30" fmla="*/ 363 w 5262"/>
                <a:gd name="T31" fmla="*/ 2639 h 5183"/>
                <a:gd name="T32" fmla="*/ 1906 w 5262"/>
                <a:gd name="T33" fmla="*/ 2641 h 5183"/>
                <a:gd name="T34" fmla="*/ 957 w 5262"/>
                <a:gd name="T35" fmla="*/ 3445 h 5183"/>
                <a:gd name="T36" fmla="*/ 351 w 5262"/>
                <a:gd name="T37" fmla="*/ 3949 h 5183"/>
                <a:gd name="T38" fmla="*/ 1091 w 5262"/>
                <a:gd name="T39" fmla="*/ 3676 h 5183"/>
                <a:gd name="T40" fmla="*/ 2281 w 5262"/>
                <a:gd name="T41" fmla="*/ 3205 h 5183"/>
                <a:gd name="T42" fmla="*/ 1491 w 5262"/>
                <a:gd name="T43" fmla="*/ 4594 h 5183"/>
                <a:gd name="T44" fmla="*/ 2243 w 5262"/>
                <a:gd name="T45" fmla="*/ 4868 h 5183"/>
                <a:gd name="T46" fmla="*/ 2534 w 5262"/>
                <a:gd name="T47" fmla="*/ 3288 h 5183"/>
                <a:gd name="T48" fmla="*/ 2727 w 5262"/>
                <a:gd name="T49" fmla="*/ 3288 h 5183"/>
                <a:gd name="T50" fmla="*/ 3019 w 5262"/>
                <a:gd name="T51" fmla="*/ 4868 h 5183"/>
                <a:gd name="T52" fmla="*/ 3770 w 5262"/>
                <a:gd name="T53" fmla="*/ 4594 h 5183"/>
                <a:gd name="T54" fmla="*/ 2981 w 5262"/>
                <a:gd name="T55" fmla="*/ 3205 h 5183"/>
                <a:gd name="T56" fmla="*/ 4171 w 5262"/>
                <a:gd name="T57" fmla="*/ 3676 h 5183"/>
                <a:gd name="T58" fmla="*/ 4911 w 5262"/>
                <a:gd name="T59" fmla="*/ 3949 h 5183"/>
                <a:gd name="T60" fmla="*/ 4304 w 5262"/>
                <a:gd name="T61" fmla="*/ 3445 h 5183"/>
                <a:gd name="T62" fmla="*/ 3356 w 5262"/>
                <a:gd name="T63" fmla="*/ 2641 h 5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62" h="5183">
                  <a:moveTo>
                    <a:pt x="4481" y="2442"/>
                  </a:moveTo>
                  <a:cubicBezTo>
                    <a:pt x="4562" y="2586"/>
                    <a:pt x="4728" y="2670"/>
                    <a:pt x="4899" y="2639"/>
                  </a:cubicBezTo>
                  <a:cubicBezTo>
                    <a:pt x="5117" y="2601"/>
                    <a:pt x="5262" y="2394"/>
                    <a:pt x="5224" y="2176"/>
                  </a:cubicBezTo>
                  <a:cubicBezTo>
                    <a:pt x="5185" y="1958"/>
                    <a:pt x="4978" y="1813"/>
                    <a:pt x="4760" y="1852"/>
                  </a:cubicBezTo>
                  <a:cubicBezTo>
                    <a:pt x="4589" y="1882"/>
                    <a:pt x="4462" y="2017"/>
                    <a:pt x="4435" y="2180"/>
                  </a:cubicBezTo>
                  <a:lnTo>
                    <a:pt x="3334" y="2374"/>
                  </a:lnTo>
                  <a:cubicBezTo>
                    <a:pt x="3310" y="2288"/>
                    <a:pt x="3271" y="2208"/>
                    <a:pt x="3220" y="2138"/>
                  </a:cubicBezTo>
                  <a:lnTo>
                    <a:pt x="3926" y="1297"/>
                  </a:lnTo>
                  <a:cubicBezTo>
                    <a:pt x="4080" y="1355"/>
                    <a:pt x="4260" y="1313"/>
                    <a:pt x="4372" y="1180"/>
                  </a:cubicBezTo>
                  <a:cubicBezTo>
                    <a:pt x="4514" y="1011"/>
                    <a:pt x="4492" y="758"/>
                    <a:pt x="4323" y="616"/>
                  </a:cubicBezTo>
                  <a:cubicBezTo>
                    <a:pt x="4154" y="474"/>
                    <a:pt x="3902" y="496"/>
                    <a:pt x="3760" y="666"/>
                  </a:cubicBezTo>
                  <a:cubicBezTo>
                    <a:pt x="3648" y="799"/>
                    <a:pt x="3638" y="984"/>
                    <a:pt x="3721" y="1126"/>
                  </a:cubicBezTo>
                  <a:lnTo>
                    <a:pt x="3027" y="1954"/>
                  </a:lnTo>
                  <a:cubicBezTo>
                    <a:pt x="2948" y="1903"/>
                    <a:pt x="2859" y="1867"/>
                    <a:pt x="2764" y="1850"/>
                  </a:cubicBezTo>
                  <a:lnTo>
                    <a:pt x="2764" y="778"/>
                  </a:lnTo>
                  <a:cubicBezTo>
                    <a:pt x="2919" y="723"/>
                    <a:pt x="3031" y="575"/>
                    <a:pt x="3031" y="400"/>
                  </a:cubicBezTo>
                  <a:cubicBezTo>
                    <a:pt x="3031" y="180"/>
                    <a:pt x="2852" y="0"/>
                    <a:pt x="2631" y="0"/>
                  </a:cubicBezTo>
                  <a:cubicBezTo>
                    <a:pt x="2410" y="0"/>
                    <a:pt x="2231" y="180"/>
                    <a:pt x="2231" y="400"/>
                  </a:cubicBezTo>
                  <a:cubicBezTo>
                    <a:pt x="2231" y="575"/>
                    <a:pt x="2342" y="723"/>
                    <a:pt x="2497" y="778"/>
                  </a:cubicBezTo>
                  <a:lnTo>
                    <a:pt x="2497" y="1850"/>
                  </a:lnTo>
                  <a:cubicBezTo>
                    <a:pt x="2402" y="1867"/>
                    <a:pt x="2314" y="1903"/>
                    <a:pt x="2235" y="1954"/>
                  </a:cubicBezTo>
                  <a:lnTo>
                    <a:pt x="1540" y="1126"/>
                  </a:lnTo>
                  <a:cubicBezTo>
                    <a:pt x="1624" y="984"/>
                    <a:pt x="1614" y="799"/>
                    <a:pt x="1502" y="666"/>
                  </a:cubicBezTo>
                  <a:cubicBezTo>
                    <a:pt x="1360" y="496"/>
                    <a:pt x="1108" y="474"/>
                    <a:pt x="939" y="616"/>
                  </a:cubicBezTo>
                  <a:cubicBezTo>
                    <a:pt x="769" y="758"/>
                    <a:pt x="747" y="1011"/>
                    <a:pt x="889" y="1180"/>
                  </a:cubicBezTo>
                  <a:cubicBezTo>
                    <a:pt x="1001" y="1313"/>
                    <a:pt x="1182" y="1355"/>
                    <a:pt x="1336" y="1297"/>
                  </a:cubicBezTo>
                  <a:lnTo>
                    <a:pt x="2041" y="2138"/>
                  </a:lnTo>
                  <a:cubicBezTo>
                    <a:pt x="1990" y="2208"/>
                    <a:pt x="1951" y="2288"/>
                    <a:pt x="1928" y="2374"/>
                  </a:cubicBezTo>
                  <a:lnTo>
                    <a:pt x="827" y="2180"/>
                  </a:lnTo>
                  <a:cubicBezTo>
                    <a:pt x="800" y="2017"/>
                    <a:pt x="673" y="1882"/>
                    <a:pt x="502" y="1852"/>
                  </a:cubicBezTo>
                  <a:cubicBezTo>
                    <a:pt x="284" y="1813"/>
                    <a:pt x="77" y="1958"/>
                    <a:pt x="38" y="2176"/>
                  </a:cubicBezTo>
                  <a:cubicBezTo>
                    <a:pt x="0" y="2394"/>
                    <a:pt x="145" y="2601"/>
                    <a:pt x="363" y="2639"/>
                  </a:cubicBezTo>
                  <a:cubicBezTo>
                    <a:pt x="534" y="2670"/>
                    <a:pt x="699" y="2586"/>
                    <a:pt x="780" y="2442"/>
                  </a:cubicBezTo>
                  <a:lnTo>
                    <a:pt x="1906" y="2641"/>
                  </a:lnTo>
                  <a:cubicBezTo>
                    <a:pt x="1914" y="2719"/>
                    <a:pt x="1935" y="2794"/>
                    <a:pt x="1966" y="2863"/>
                  </a:cubicBezTo>
                  <a:lnTo>
                    <a:pt x="957" y="3445"/>
                  </a:lnTo>
                  <a:cubicBezTo>
                    <a:pt x="832" y="3338"/>
                    <a:pt x="648" y="3316"/>
                    <a:pt x="497" y="3403"/>
                  </a:cubicBezTo>
                  <a:cubicBezTo>
                    <a:pt x="306" y="3513"/>
                    <a:pt x="240" y="3758"/>
                    <a:pt x="351" y="3949"/>
                  </a:cubicBezTo>
                  <a:cubicBezTo>
                    <a:pt x="461" y="4141"/>
                    <a:pt x="706" y="4206"/>
                    <a:pt x="897" y="4096"/>
                  </a:cubicBezTo>
                  <a:cubicBezTo>
                    <a:pt x="1048" y="4009"/>
                    <a:pt x="1121" y="3838"/>
                    <a:pt x="1091" y="3676"/>
                  </a:cubicBezTo>
                  <a:lnTo>
                    <a:pt x="2118" y="3083"/>
                  </a:lnTo>
                  <a:cubicBezTo>
                    <a:pt x="2166" y="3131"/>
                    <a:pt x="2221" y="3172"/>
                    <a:pt x="2281" y="3205"/>
                  </a:cubicBezTo>
                  <a:lnTo>
                    <a:pt x="1871" y="4331"/>
                  </a:lnTo>
                  <a:cubicBezTo>
                    <a:pt x="1706" y="4330"/>
                    <a:pt x="1551" y="4431"/>
                    <a:pt x="1491" y="4594"/>
                  </a:cubicBezTo>
                  <a:cubicBezTo>
                    <a:pt x="1416" y="4802"/>
                    <a:pt x="1523" y="5031"/>
                    <a:pt x="1730" y="5107"/>
                  </a:cubicBezTo>
                  <a:cubicBezTo>
                    <a:pt x="1938" y="5183"/>
                    <a:pt x="2168" y="5076"/>
                    <a:pt x="2243" y="4868"/>
                  </a:cubicBezTo>
                  <a:cubicBezTo>
                    <a:pt x="2303" y="4704"/>
                    <a:pt x="2249" y="4527"/>
                    <a:pt x="2122" y="4422"/>
                  </a:cubicBezTo>
                  <a:lnTo>
                    <a:pt x="2534" y="3288"/>
                  </a:lnTo>
                  <a:cubicBezTo>
                    <a:pt x="2566" y="3292"/>
                    <a:pt x="2598" y="3294"/>
                    <a:pt x="2631" y="3294"/>
                  </a:cubicBezTo>
                  <a:cubicBezTo>
                    <a:pt x="2664" y="3294"/>
                    <a:pt x="2696" y="3292"/>
                    <a:pt x="2727" y="3288"/>
                  </a:cubicBezTo>
                  <a:lnTo>
                    <a:pt x="3140" y="4422"/>
                  </a:lnTo>
                  <a:cubicBezTo>
                    <a:pt x="3013" y="4527"/>
                    <a:pt x="2959" y="4704"/>
                    <a:pt x="3019" y="4868"/>
                  </a:cubicBezTo>
                  <a:cubicBezTo>
                    <a:pt x="3094" y="5075"/>
                    <a:pt x="3324" y="5183"/>
                    <a:pt x="3531" y="5107"/>
                  </a:cubicBezTo>
                  <a:cubicBezTo>
                    <a:pt x="3739" y="5031"/>
                    <a:pt x="3846" y="4802"/>
                    <a:pt x="3770" y="4594"/>
                  </a:cubicBezTo>
                  <a:cubicBezTo>
                    <a:pt x="3711" y="4431"/>
                    <a:pt x="3556" y="4330"/>
                    <a:pt x="3391" y="4331"/>
                  </a:cubicBezTo>
                  <a:lnTo>
                    <a:pt x="2981" y="3205"/>
                  </a:lnTo>
                  <a:cubicBezTo>
                    <a:pt x="3041" y="3172"/>
                    <a:pt x="3096" y="3131"/>
                    <a:pt x="3144" y="3083"/>
                  </a:cubicBezTo>
                  <a:lnTo>
                    <a:pt x="4171" y="3676"/>
                  </a:lnTo>
                  <a:cubicBezTo>
                    <a:pt x="4141" y="3838"/>
                    <a:pt x="4214" y="4009"/>
                    <a:pt x="4364" y="4096"/>
                  </a:cubicBezTo>
                  <a:cubicBezTo>
                    <a:pt x="4556" y="4206"/>
                    <a:pt x="4800" y="4141"/>
                    <a:pt x="4911" y="3949"/>
                  </a:cubicBezTo>
                  <a:cubicBezTo>
                    <a:pt x="5021" y="3758"/>
                    <a:pt x="4956" y="3514"/>
                    <a:pt x="4764" y="3403"/>
                  </a:cubicBezTo>
                  <a:cubicBezTo>
                    <a:pt x="4614" y="3316"/>
                    <a:pt x="4430" y="3338"/>
                    <a:pt x="4304" y="3445"/>
                  </a:cubicBezTo>
                  <a:lnTo>
                    <a:pt x="3296" y="2863"/>
                  </a:lnTo>
                  <a:cubicBezTo>
                    <a:pt x="3327" y="2794"/>
                    <a:pt x="3348" y="2719"/>
                    <a:pt x="3356" y="2641"/>
                  </a:cubicBezTo>
                  <a:lnTo>
                    <a:pt x="4481" y="2442"/>
                  </a:lnTo>
                  <a:close/>
                </a:path>
              </a:pathLst>
            </a:custGeom>
            <a:solidFill>
              <a:srgbClr val="0C7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pitchFamily="34" charset="-122"/>
                <a:ea typeface="微软雅黑" panose="020B0503020204020204" pitchFamily="34" charset="-122"/>
              </a:endParaRPr>
            </a:p>
          </p:txBody>
        </p:sp>
      </p:grpSp>
      <p:sp>
        <p:nvSpPr>
          <p:cNvPr id="58" name="文本框 57"/>
          <p:cNvSpPr txBox="1"/>
          <p:nvPr/>
        </p:nvSpPr>
        <p:spPr>
          <a:xfrm>
            <a:off x="5658590" y="3693476"/>
            <a:ext cx="648072" cy="829945"/>
          </a:xfrm>
          <a:prstGeom prst="rect">
            <a:avLst/>
          </a:prstGeom>
          <a:noFill/>
        </p:spPr>
        <p:txBody>
          <a:bodyPr wrap="square" rtlCol="0">
            <a:spAutoFit/>
            <a:scene3d>
              <a:camera prst="orthographicFront"/>
              <a:lightRig rig="threePt" dir="t"/>
            </a:scene3d>
          </a:bodyPr>
          <a:lstStyle/>
          <a:p>
            <a:pPr algn="ctr"/>
            <a:r>
              <a:rPr lang="zh-CN" altLang="en-US" sz="2400" b="1" i="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流程</a:t>
            </a:r>
            <a:endParaRPr lang="zh-CN" altLang="en-US" sz="2400" b="1" i="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sp>
        <p:nvSpPr>
          <p:cNvPr id="59" name="文本框 58"/>
          <p:cNvSpPr txBox="1"/>
          <p:nvPr/>
        </p:nvSpPr>
        <p:spPr>
          <a:xfrm>
            <a:off x="398630" y="889919"/>
            <a:ext cx="3683847" cy="429895"/>
          </a:xfrm>
          <a:prstGeom prst="rect">
            <a:avLst/>
          </a:prstGeom>
          <a:noFill/>
        </p:spPr>
        <p:txBody>
          <a:bodyPr wrap="square" rtlCol="0">
            <a:spAutoFit/>
          </a:bodyPr>
          <a:lstStyle/>
          <a:p>
            <a:r>
              <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体系管理核心</a:t>
            </a:r>
            <a:r>
              <a:rPr lang="en-US" altLang="zh-CN"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类流程：</a:t>
            </a:r>
            <a:endPar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wipe(right)">
                                      <p:cBhvr>
                                        <p:cTn id="10" dur="500"/>
                                        <p:tgtEl>
                                          <p:spTgt spid="33"/>
                                        </p:tgtEl>
                                      </p:cBhvr>
                                    </p:animEffect>
                                  </p:childTnLst>
                                </p:cTn>
                              </p:par>
                              <p:par>
                                <p:cTn id="11" presetID="22" presetClass="entr" presetSubtype="4" fill="hold" grpId="0"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wipe(down)">
                                      <p:cBhvr>
                                        <p:cTn id="1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P spid="33"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167422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167449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02</a:t>
            </a:r>
            <a:endParaRPr lang="en-US" altLang="zh-CN" dirty="0">
              <a:sym typeface="+mn-ea"/>
            </a:endParaRPr>
          </a:p>
        </p:txBody>
      </p:sp>
      <p:sp>
        <p:nvSpPr>
          <p:cNvPr id="17" name="文本占位符 17"/>
          <p:cNvSpPr txBox="1"/>
          <p:nvPr>
            <p:custDataLst>
              <p:tags r:id="rId3"/>
            </p:custDataLst>
          </p:nvPr>
        </p:nvSpPr>
        <p:spPr>
          <a:xfrm>
            <a:off x="4456884" y="241463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指标体系</a:t>
            </a:r>
            <a:r>
              <a:rPr lang="zh-CN" altLang="en-US" dirty="0">
                <a:sym typeface="+mn-ea"/>
              </a:rPr>
              <a:t>方案</a:t>
            </a:r>
            <a:endParaRPr lang="zh-CN" altLang="en-US" dirty="0">
              <a:sym typeface="+mn-ea"/>
            </a:endParaRPr>
          </a:p>
        </p:txBody>
      </p:sp>
      <p:sp>
        <p:nvSpPr>
          <p:cNvPr id="18" name="文本占位符 17"/>
          <p:cNvSpPr txBox="1"/>
          <p:nvPr>
            <p:custDataLst>
              <p:tags r:id="rId4"/>
            </p:custDataLst>
          </p:nvPr>
        </p:nvSpPr>
        <p:spPr>
          <a:xfrm>
            <a:off x="3566795" y="2414905"/>
            <a:ext cx="703580"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03</a:t>
            </a:r>
            <a:endParaRPr lang="zh-CN" altLang="en-US" dirty="0">
              <a:sym typeface="+mn-ea"/>
            </a:endParaRPr>
          </a:p>
        </p:txBody>
      </p:sp>
      <p:sp>
        <p:nvSpPr>
          <p:cNvPr id="19" name="文本占位符 17"/>
          <p:cNvSpPr txBox="1"/>
          <p:nvPr>
            <p:custDataLst>
              <p:tags r:id="rId5"/>
            </p:custDataLst>
          </p:nvPr>
        </p:nvSpPr>
        <p:spPr>
          <a:xfrm>
            <a:off x="4456884" y="93287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93281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4344" y="314552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4255" y="3145790"/>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3709" y="384910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4255" y="3849370"/>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4979" y="5403581"/>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4890" y="5403850"/>
            <a:ext cx="70294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06</a:t>
            </a:r>
            <a:endParaRPr lang="en-US" dirty="0"/>
          </a:p>
        </p:txBody>
      </p:sp>
      <p:sp>
        <p:nvSpPr>
          <p:cNvPr id="7" name="文本占位符 17"/>
          <p:cNvSpPr txBox="1"/>
          <p:nvPr>
            <p:custDataLst>
              <p:tags r:id="rId13"/>
            </p:custDataLst>
          </p:nvPr>
        </p:nvSpPr>
        <p:spPr>
          <a:xfrm>
            <a:off x="5055870"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现状</a:t>
            </a:r>
            <a:r>
              <a:rPr lang="zh-CN" altLang="en-US" sz="1200" dirty="0">
                <a:sym typeface="+mn-ea"/>
              </a:rPr>
              <a:t>挑战</a:t>
            </a:r>
            <a:endParaRPr lang="zh-CN" altLang="en-US" sz="1200" dirty="0">
              <a:sym typeface="+mn-ea"/>
            </a:endParaRPr>
          </a:p>
        </p:txBody>
      </p:sp>
      <p:sp>
        <p:nvSpPr>
          <p:cNvPr id="8" name="文本占位符 17"/>
          <p:cNvSpPr txBox="1"/>
          <p:nvPr>
            <p:custDataLst>
              <p:tags r:id="rId14"/>
            </p:custDataLst>
          </p:nvPr>
        </p:nvSpPr>
        <p:spPr>
          <a:xfrm>
            <a:off x="4471670" y="4539615"/>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.1</a:t>
            </a:r>
            <a:endParaRPr lang="zh-CN" altLang="en-US" sz="1200" dirty="0">
              <a:sym typeface="+mn-ea"/>
            </a:endParaRPr>
          </a:p>
        </p:txBody>
      </p:sp>
      <p:sp>
        <p:nvSpPr>
          <p:cNvPr id="12" name="文本占位符 17"/>
          <p:cNvSpPr txBox="1"/>
          <p:nvPr>
            <p:custDataLst>
              <p:tags r:id="rId15"/>
            </p:custDataLst>
          </p:nvPr>
        </p:nvSpPr>
        <p:spPr>
          <a:xfrm>
            <a:off x="5055870" y="4940300"/>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数据管理体系建设</a:t>
            </a:r>
            <a:r>
              <a:rPr lang="zh-CN" altLang="en-US" sz="1200" dirty="0">
                <a:sym typeface="+mn-ea"/>
              </a:rPr>
              <a:t>方案</a:t>
            </a:r>
            <a:endParaRPr lang="zh-CN" altLang="en-US" sz="1200" dirty="0">
              <a:sym typeface="+mn-ea"/>
            </a:endParaRPr>
          </a:p>
        </p:txBody>
      </p:sp>
      <p:sp>
        <p:nvSpPr>
          <p:cNvPr id="23" name="文本占位符 17"/>
          <p:cNvSpPr txBox="1"/>
          <p:nvPr>
            <p:custDataLst>
              <p:tags r:id="rId16"/>
            </p:custDataLst>
          </p:nvPr>
        </p:nvSpPr>
        <p:spPr>
          <a:xfrm>
            <a:off x="4471670" y="4940300"/>
            <a:ext cx="4946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5</a:t>
            </a:r>
            <a:r>
              <a:rPr lang="zh-CN" altLang="en-US" sz="1200" dirty="0">
                <a:sym typeface="+mn-ea"/>
              </a:rPr>
              <a:t>.</a:t>
            </a:r>
            <a:r>
              <a:rPr lang="zh-CN" altLang="en-US" sz="1200" dirty="0">
                <a:sym typeface="+mn-ea"/>
              </a:rPr>
              <a:t>3</a:t>
            </a:r>
            <a:endParaRPr lang="zh-CN" altLang="en-US" sz="1200" dirty="0">
              <a:sym typeface="+mn-ea"/>
            </a:endParaRPr>
          </a:p>
        </p:txBody>
      </p:sp>
      <p:sp>
        <p:nvSpPr>
          <p:cNvPr id="26" name="文本占位符 17"/>
          <p:cNvSpPr txBox="1"/>
          <p:nvPr>
            <p:custDataLst>
              <p:tags r:id="rId17"/>
            </p:custDataLst>
          </p:nvPr>
        </p:nvSpPr>
        <p:spPr>
          <a:xfrm>
            <a:off x="8376285" y="4539615"/>
            <a:ext cx="2425065"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sz="1200" dirty="0">
                <a:sym typeface="+mn-ea"/>
              </a:rPr>
              <a:t>总体</a:t>
            </a:r>
            <a:r>
              <a:rPr lang="zh-CN" altLang="en-US" sz="1200" dirty="0">
                <a:sym typeface="+mn-ea"/>
              </a:rPr>
              <a:t>方案</a:t>
            </a:r>
            <a:endParaRPr lang="zh-CN" altLang="en-US" sz="1200" dirty="0">
              <a:sym typeface="+mn-ea"/>
            </a:endParaRPr>
          </a:p>
        </p:txBody>
      </p:sp>
      <p:sp>
        <p:nvSpPr>
          <p:cNvPr id="28" name="文本占位符 17"/>
          <p:cNvSpPr txBox="1"/>
          <p:nvPr>
            <p:custDataLst>
              <p:tags r:id="rId18"/>
            </p:custDataLst>
          </p:nvPr>
        </p:nvSpPr>
        <p:spPr>
          <a:xfrm>
            <a:off x="7792085" y="4539615"/>
            <a:ext cx="506730" cy="32385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sz="1200" dirty="0">
                <a:sym typeface="+mn-ea"/>
              </a:rPr>
              <a:t>5</a:t>
            </a:r>
            <a:r>
              <a:rPr lang="zh-CN" altLang="en-US" sz="1200" dirty="0">
                <a:sym typeface="+mn-ea"/>
              </a:rPr>
              <a:t>.</a:t>
            </a:r>
            <a:r>
              <a:rPr lang="zh-CN" altLang="en-US" sz="1200" dirty="0">
                <a:sym typeface="+mn-ea"/>
              </a:rPr>
              <a:t>2</a:t>
            </a:r>
            <a:endParaRPr lang="zh-CN" altLang="en-US" sz="1200" dirty="0">
              <a:sym typeface="+mn-ea"/>
            </a:endParaRPr>
          </a:p>
        </p:txBody>
      </p:sp>
      <p:sp>
        <p:nvSpPr>
          <p:cNvPr id="31" name="文本占位符 17"/>
          <p:cNvSpPr txBox="1"/>
          <p:nvPr>
            <p:custDataLst>
              <p:tags r:id="rId19"/>
            </p:custDataLst>
          </p:nvPr>
        </p:nvSpPr>
        <p:spPr>
          <a:xfrm>
            <a:off x="8376285" y="4940300"/>
            <a:ext cx="2425065"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场景应用</a:t>
            </a:r>
            <a:r>
              <a:rPr lang="zh-CN" altLang="en-US" sz="1200" dirty="0">
                <a:sym typeface="+mn-ea"/>
              </a:rPr>
              <a:t>方案</a:t>
            </a:r>
            <a:endParaRPr lang="zh-CN" altLang="en-US" sz="1200" dirty="0">
              <a:sym typeface="+mn-ea"/>
            </a:endParaRPr>
          </a:p>
        </p:txBody>
      </p:sp>
      <p:sp>
        <p:nvSpPr>
          <p:cNvPr id="32" name="文本占位符 17"/>
          <p:cNvSpPr txBox="1"/>
          <p:nvPr>
            <p:custDataLst>
              <p:tags r:id="rId20"/>
            </p:custDataLst>
          </p:nvPr>
        </p:nvSpPr>
        <p:spPr>
          <a:xfrm>
            <a:off x="7792085" y="4940300"/>
            <a:ext cx="506730" cy="323850"/>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lnSpc>
                <a:spcPct val="90000"/>
              </a:lnSpc>
            </a:pPr>
            <a:r>
              <a:rPr lang="zh-CN" altLang="en-US" sz="1200" dirty="0">
                <a:sym typeface="+mn-ea"/>
              </a:rPr>
              <a:t>5</a:t>
            </a:r>
            <a:r>
              <a:rPr lang="zh-CN" altLang="en-US" sz="1200" dirty="0">
                <a:sym typeface="+mn-ea"/>
              </a:rPr>
              <a:t>.</a:t>
            </a:r>
            <a:r>
              <a:rPr lang="zh-CN" altLang="en-US" sz="1200" dirty="0">
                <a:sym typeface="+mn-ea"/>
              </a:rPr>
              <a:t>4</a:t>
            </a:r>
            <a:endParaRPr lang="zh-CN" altLang="en-US" sz="1200" dirty="0">
              <a:sym typeface="+mn-ea"/>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HR</a:t>
            </a:r>
            <a:r>
              <a:rPr lang="zh-CN" altLang="en-US"/>
              <a:t>主数据</a:t>
            </a:r>
            <a:r>
              <a:rPr lang="zh-CN" altLang="en-US"/>
              <a:t>应用</a:t>
            </a:r>
            <a:endParaRPr lang="zh-CN" altLang="en-US"/>
          </a:p>
        </p:txBody>
      </p:sp>
      <p:sp>
        <p:nvSpPr>
          <p:cNvPr id="66" name="圆柱形 65"/>
          <p:cNvSpPr/>
          <p:nvPr>
            <p:custDataLst>
              <p:tags r:id="rId1"/>
            </p:custDataLst>
          </p:nvPr>
        </p:nvSpPr>
        <p:spPr bwMode="gray">
          <a:xfrm>
            <a:off x="4800516" y="1944170"/>
            <a:ext cx="2339975" cy="1570990"/>
          </a:xfrm>
          <a:prstGeom prst="can">
            <a:avLst>
              <a:gd name="adj" fmla="val 34569"/>
            </a:avLst>
          </a:prstGeom>
          <a:solidFill>
            <a:schemeClr val="accent1"/>
          </a:solidFill>
          <a:ln w="6350" algn="ctr">
            <a:solidFill>
              <a:schemeClr val="accent1"/>
            </a:solidFill>
            <a:miter lim="800000"/>
          </a:ln>
        </p:spPr>
        <p:txBody>
          <a:bodyPr lIns="90000" tIns="72000" rIns="90000" bIns="72000" rtlCol="0" anchor="ctr"/>
          <a:lstStyle/>
          <a:p>
            <a:pPr marL="0" marR="0" lvl="0" indent="0" algn="ctr" defTabSz="914400" eaLnBrk="1" fontAlgn="base" latinLnBrk="0" hangingPunct="1">
              <a:lnSpc>
                <a:spcPct val="100000"/>
              </a:lnSpc>
              <a:spcBef>
                <a:spcPct val="50000"/>
              </a:spcBef>
              <a:spcAft>
                <a:spcPct val="0"/>
              </a:spcAft>
              <a:buClr>
                <a:srgbClr val="F0AB00"/>
              </a:buClr>
              <a:buSzPct val="80000"/>
              <a:buFontTx/>
              <a:buNone/>
              <a:defRPr/>
            </a:pPr>
            <a:endParaRPr kumimoji="0" lang="en-US" altLang="zh-CN"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ct val="100000"/>
              </a:lnSpc>
              <a:spcBef>
                <a:spcPct val="50000"/>
              </a:spcBef>
              <a:spcAft>
                <a:spcPct val="0"/>
              </a:spcAft>
              <a:buClr>
                <a:srgbClr val="F0AB00"/>
              </a:buClr>
              <a:buSzPct val="80000"/>
              <a:buFontTx/>
              <a:buNone/>
              <a:defRPr/>
            </a:pPr>
            <a:r>
              <a:rPr kumimoji="0" lang="zh-CN" altLang="en-US"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组织</a:t>
            </a:r>
            <a:r>
              <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（编码、名称、上级</a:t>
            </a:r>
            <a:r>
              <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组织</a:t>
            </a:r>
            <a:r>
              <a:rPr lang="zh-CN" altLang="en-US" sz="1000" kern="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sym typeface="+mn-ea"/>
              </a:rPr>
              <a:t>编码</a:t>
            </a:r>
            <a:r>
              <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等）、</a:t>
            </a:r>
            <a:endPar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ct val="100000"/>
              </a:lnSpc>
              <a:spcBef>
                <a:spcPct val="50000"/>
              </a:spcBef>
              <a:spcAft>
                <a:spcPct val="0"/>
              </a:spcAft>
              <a:buClr>
                <a:srgbClr val="F0AB00"/>
              </a:buClr>
              <a:buSzPct val="80000"/>
              <a:buFontTx/>
              <a:buNone/>
              <a:defRPr/>
            </a:pPr>
            <a:r>
              <a:rPr kumimoji="0" lang="zh-CN" altLang="en-US"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岗位</a:t>
            </a:r>
            <a:r>
              <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（岗位序列、岗位族、岗位类、岗位子类、岗位名称、编码等）、</a:t>
            </a:r>
            <a:endPar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ct val="100000"/>
              </a:lnSpc>
              <a:spcBef>
                <a:spcPct val="50000"/>
              </a:spcBef>
              <a:spcAft>
                <a:spcPct val="0"/>
              </a:spcAft>
              <a:buClr>
                <a:srgbClr val="F0AB00"/>
              </a:buClr>
              <a:buSzPct val="80000"/>
              <a:buFontTx/>
              <a:buNone/>
              <a:defRPr/>
            </a:pPr>
            <a:r>
              <a:rPr kumimoji="0" lang="zh-CN" altLang="en-US"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人员</a:t>
            </a:r>
            <a:r>
              <a:rPr kumimoji="0" lang="zh-CN" altLang="en-US" sz="10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（人员基本信息）</a:t>
            </a:r>
            <a:endParaRPr kumimoji="0" lang="zh-CN" altLang="en-US" sz="1000" i="0" u="none" strike="noStrike" kern="0" cap="none" spc="0" normalizeH="0" baseline="0" noProof="0" dirty="0" err="1">
              <a:ln>
                <a:noFill/>
              </a:ln>
              <a:solidFill>
                <a:schemeClr val="bg1"/>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67" name="圆柱形 66"/>
          <p:cNvSpPr/>
          <p:nvPr>
            <p:custDataLst>
              <p:tags r:id="rId2"/>
            </p:custDataLst>
          </p:nvPr>
        </p:nvSpPr>
        <p:spPr bwMode="gray">
          <a:xfrm>
            <a:off x="2371641" y="2407085"/>
            <a:ext cx="1134745" cy="645160"/>
          </a:xfrm>
          <a:prstGeom prst="can">
            <a:avLst/>
          </a:prstGeom>
          <a:solidFill>
            <a:srgbClr val="2980A3"/>
          </a:solidFill>
          <a:ln w="6350" algn="ctr">
            <a:noFill/>
            <a:miter lim="800000"/>
          </a:ln>
        </p:spPr>
        <p:txBody>
          <a:bodyPr lIns="90000" tIns="72000" rIns="90000" bIns="72000" rtlCol="0" anchor="ctr"/>
          <a:lstStyle/>
          <a:p>
            <a:pPr marL="0" marR="0" lvl="0" indent="0" algn="ctr" defTabSz="914400" eaLnBrk="1" fontAlgn="base" latinLnBrk="0" hangingPunct="1">
              <a:lnSpc>
                <a:spcPct val="1000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EHR</a:t>
            </a:r>
            <a:endParaRPr kumimoji="0" lang="zh-CN" altLang="en-US"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69" name="圆柱形 68"/>
          <p:cNvSpPr/>
          <p:nvPr>
            <p:custDataLst>
              <p:tags r:id="rId3"/>
            </p:custDataLst>
          </p:nvPr>
        </p:nvSpPr>
        <p:spPr bwMode="gray">
          <a:xfrm>
            <a:off x="4117891" y="4596565"/>
            <a:ext cx="1134745" cy="645160"/>
          </a:xfrm>
          <a:prstGeom prst="can">
            <a:avLst/>
          </a:prstGeom>
          <a:solidFill>
            <a:srgbClr val="297FA3"/>
          </a:solidFill>
        </p:spPr>
        <p:style>
          <a:lnRef idx="0">
            <a:srgbClr val="FFFFFF"/>
          </a:lnRef>
          <a:fillRef idx="1">
            <a:schemeClr val="accent1"/>
          </a:fillRef>
          <a:effectRef idx="1">
            <a:schemeClr val="accent1"/>
          </a:effectRef>
          <a:fontRef idx="minor">
            <a:schemeClr val="lt1"/>
          </a:fontRef>
        </p:style>
        <p:txBody>
          <a:bodyPr lIns="90000" tIns="72000" rIns="90000" bIns="72000" rtlCol="0" anchor="ctr"/>
          <a:lstStyle/>
          <a:p>
            <a:pPr marL="0" marR="0" lvl="0" indent="0" algn="ctr" defTabSz="914400" eaLnBrk="1" fontAlgn="base" latinLnBrk="0" hangingPunct="1">
              <a:lnSpc>
                <a:spcPts val="500"/>
              </a:lnSpc>
              <a:spcBef>
                <a:spcPct val="50000"/>
              </a:spcBef>
              <a:spcAft>
                <a:spcPct val="0"/>
              </a:spcAft>
              <a:buClr>
                <a:srgbClr val="F0AB00"/>
              </a:buClr>
              <a:buSzPct val="80000"/>
              <a:buFontTx/>
              <a:buNone/>
              <a:defRPr/>
            </a:pP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ts val="5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PLM</a:t>
            </a: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70" name="圆柱形 69"/>
          <p:cNvSpPr/>
          <p:nvPr>
            <p:custDataLst>
              <p:tags r:id="rId4"/>
            </p:custDataLst>
          </p:nvPr>
        </p:nvSpPr>
        <p:spPr bwMode="gray">
          <a:xfrm>
            <a:off x="5403766" y="4596565"/>
            <a:ext cx="1134745" cy="645160"/>
          </a:xfrm>
          <a:prstGeom prst="can">
            <a:avLst/>
          </a:prstGeom>
          <a:solidFill>
            <a:srgbClr val="297FA3"/>
          </a:solidFill>
        </p:spPr>
        <p:style>
          <a:lnRef idx="0">
            <a:srgbClr val="FFFFFF"/>
          </a:lnRef>
          <a:fillRef idx="1">
            <a:schemeClr val="accent1"/>
          </a:fillRef>
          <a:effectRef idx="1">
            <a:schemeClr val="accent1"/>
          </a:effectRef>
          <a:fontRef idx="minor">
            <a:schemeClr val="lt1"/>
          </a:fontRef>
        </p:style>
        <p:txBody>
          <a:bodyPr lIns="90000" tIns="72000" rIns="90000" bIns="72000" rtlCol="0" anchor="ctr"/>
          <a:lstStyle/>
          <a:p>
            <a:pPr marL="0" marR="0" lvl="0" indent="0" algn="ctr" defTabSz="914400" eaLnBrk="1" fontAlgn="base" latinLnBrk="0" hangingPunct="1">
              <a:lnSpc>
                <a:spcPts val="500"/>
              </a:lnSpc>
              <a:spcBef>
                <a:spcPct val="50000"/>
              </a:spcBef>
              <a:spcAft>
                <a:spcPct val="0"/>
              </a:spcAft>
              <a:buClr>
                <a:srgbClr val="F0AB00"/>
              </a:buClr>
              <a:buSzPct val="80000"/>
              <a:buFontTx/>
              <a:buNone/>
              <a:defRPr/>
            </a:pP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ts val="5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WMS</a:t>
            </a: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71" name="圆柱形 70"/>
          <p:cNvSpPr/>
          <p:nvPr>
            <p:custDataLst>
              <p:tags r:id="rId5"/>
            </p:custDataLst>
          </p:nvPr>
        </p:nvSpPr>
        <p:spPr bwMode="gray">
          <a:xfrm>
            <a:off x="7975516" y="4596565"/>
            <a:ext cx="1134745" cy="645160"/>
          </a:xfrm>
          <a:prstGeom prst="can">
            <a:avLst/>
          </a:prstGeom>
          <a:solidFill>
            <a:srgbClr val="297FA3"/>
          </a:solidFill>
        </p:spPr>
        <p:style>
          <a:lnRef idx="0">
            <a:srgbClr val="FFFFFF"/>
          </a:lnRef>
          <a:fillRef idx="1">
            <a:schemeClr val="accent1"/>
          </a:fillRef>
          <a:effectRef idx="1">
            <a:schemeClr val="accent1"/>
          </a:effectRef>
          <a:fontRef idx="minor">
            <a:schemeClr val="lt1"/>
          </a:fontRef>
        </p:style>
        <p:txBody>
          <a:bodyPr lIns="90000" tIns="72000" rIns="90000" bIns="72000" rtlCol="0" anchor="ctr"/>
          <a:lstStyle/>
          <a:p>
            <a:pPr marL="0" marR="0" lvl="0" indent="0" algn="ctr" defTabSz="914400" eaLnBrk="1" fontAlgn="base" latinLnBrk="0" hangingPunct="1">
              <a:lnSpc>
                <a:spcPts val="500"/>
              </a:lnSpc>
              <a:spcBef>
                <a:spcPct val="50000"/>
              </a:spcBef>
              <a:spcAft>
                <a:spcPct val="0"/>
              </a:spcAft>
              <a:buClr>
                <a:srgbClr val="F0AB00"/>
              </a:buClr>
              <a:buSzPct val="80000"/>
              <a:buFontTx/>
              <a:buNone/>
              <a:defRPr/>
            </a:pP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ts val="5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a:t>
            </a: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80" name="圆柱形 79"/>
          <p:cNvSpPr/>
          <p:nvPr>
            <p:custDataLst>
              <p:tags r:id="rId6"/>
            </p:custDataLst>
          </p:nvPr>
        </p:nvSpPr>
        <p:spPr bwMode="gray">
          <a:xfrm>
            <a:off x="6689641" y="4596565"/>
            <a:ext cx="1134745" cy="645160"/>
          </a:xfrm>
          <a:prstGeom prst="can">
            <a:avLst/>
          </a:prstGeom>
          <a:solidFill>
            <a:srgbClr val="297FA3"/>
          </a:solidFill>
        </p:spPr>
        <p:style>
          <a:lnRef idx="0">
            <a:srgbClr val="FFFFFF"/>
          </a:lnRef>
          <a:fillRef idx="1">
            <a:schemeClr val="accent1"/>
          </a:fillRef>
          <a:effectRef idx="1">
            <a:schemeClr val="accent1"/>
          </a:effectRef>
          <a:fontRef idx="minor">
            <a:schemeClr val="lt1"/>
          </a:fontRef>
        </p:style>
        <p:txBody>
          <a:bodyPr lIns="90000" tIns="72000" rIns="90000" bIns="72000" rtlCol="0" anchor="ctr"/>
          <a:lstStyle/>
          <a:p>
            <a:pPr marL="0" marR="0" lvl="0" indent="0" algn="ctr" defTabSz="914400" eaLnBrk="1" fontAlgn="base" latinLnBrk="0" hangingPunct="1">
              <a:lnSpc>
                <a:spcPts val="500"/>
              </a:lnSpc>
              <a:spcBef>
                <a:spcPct val="50000"/>
              </a:spcBef>
              <a:spcAft>
                <a:spcPct val="0"/>
              </a:spcAft>
              <a:buClr>
                <a:srgbClr val="F0AB00"/>
              </a:buClr>
              <a:buSzPct val="80000"/>
              <a:buFontTx/>
              <a:buNone/>
              <a:defRPr/>
            </a:pP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a:p>
            <a:pPr marL="0" marR="0" lvl="0" indent="0" algn="ctr" defTabSz="914400" eaLnBrk="1" fontAlgn="base" latinLnBrk="0" hangingPunct="1">
              <a:lnSpc>
                <a:spcPts val="5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MES</a:t>
            </a: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81" name="文本框 17"/>
          <p:cNvSpPr txBox="1"/>
          <p:nvPr>
            <p:custDataLst>
              <p:tags r:id="rId7"/>
            </p:custDataLst>
          </p:nvPr>
        </p:nvSpPr>
        <p:spPr>
          <a:xfrm>
            <a:off x="5684436" y="2146735"/>
            <a:ext cx="1088390" cy="27686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数据</a:t>
            </a: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中台</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82" name="圆柱形 81"/>
          <p:cNvSpPr/>
          <p:nvPr>
            <p:custDataLst>
              <p:tags r:id="rId8"/>
            </p:custDataLst>
          </p:nvPr>
        </p:nvSpPr>
        <p:spPr bwMode="gray">
          <a:xfrm>
            <a:off x="2814871" y="4576245"/>
            <a:ext cx="1134745" cy="645160"/>
          </a:xfrm>
          <a:prstGeom prst="can">
            <a:avLst/>
          </a:prstGeom>
          <a:solidFill>
            <a:srgbClr val="297FA3"/>
          </a:solidFill>
        </p:spPr>
        <p:style>
          <a:lnRef idx="0">
            <a:srgbClr val="FFFFFF"/>
          </a:lnRef>
          <a:fillRef idx="1">
            <a:schemeClr val="accent1"/>
          </a:fillRef>
          <a:effectRef idx="1">
            <a:schemeClr val="accent1"/>
          </a:effectRef>
          <a:fontRef idx="minor">
            <a:schemeClr val="lt1"/>
          </a:fontRef>
        </p:style>
        <p:txBody>
          <a:bodyPr lIns="90000" tIns="72000" rIns="90000" bIns="72000" rtlCol="0" anchor="ctr"/>
          <a:lstStyle/>
          <a:p>
            <a:pPr marL="0" marR="0" lvl="0" indent="0" algn="ctr" defTabSz="914400" eaLnBrk="1" fontAlgn="base" latinLnBrk="0" hangingPunct="1">
              <a:lnSpc>
                <a:spcPts val="500"/>
              </a:lnSpc>
              <a:spcBef>
                <a:spcPct val="50000"/>
              </a:spcBef>
              <a:spcAft>
                <a:spcPct val="0"/>
              </a:spcAft>
              <a:buClr>
                <a:srgbClr val="F0AB00"/>
              </a:buClr>
              <a:buSzPct val="80000"/>
              <a:buFontTx/>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SAP</a:t>
            </a:r>
            <a:endParaRPr kumimoji="0" lang="en-US" altLang="zh-CN" sz="1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84" name="文本框 44"/>
          <p:cNvSpPr txBox="1"/>
          <p:nvPr>
            <p:custDataLst>
              <p:tags r:id="rId9"/>
            </p:custDataLst>
          </p:nvPr>
        </p:nvSpPr>
        <p:spPr>
          <a:xfrm>
            <a:off x="2889166" y="4328595"/>
            <a:ext cx="942340" cy="13843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组织、岗位、</a:t>
            </a:r>
            <a:r>
              <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rPr>
              <a:t>人员</a:t>
            </a:r>
            <a:endPar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cxnSp>
        <p:nvCxnSpPr>
          <p:cNvPr id="93" name="肘形连接符 244"/>
          <p:cNvCxnSpPr>
            <a:stCxn id="66" idx="2"/>
            <a:endCxn id="67" idx="4"/>
          </p:cNvCxnSpPr>
          <p:nvPr>
            <p:custDataLst>
              <p:tags r:id="rId10"/>
            </p:custDataLst>
          </p:nvPr>
        </p:nvCxnSpPr>
        <p:spPr>
          <a:xfrm rot="10800000" flipV="1">
            <a:off x="3506470" y="2729865"/>
            <a:ext cx="1294130" cy="3175"/>
          </a:xfrm>
          <a:prstGeom prst="bentConnector2">
            <a:avLst/>
          </a:prstGeom>
          <a:noFill/>
          <a:ln w="19050" cap="flat" cmpd="sng" algn="ctr">
            <a:solidFill>
              <a:srgbClr val="C00000"/>
            </a:solidFill>
            <a:prstDash val="solid"/>
            <a:headEnd type="triangle" w="med" len="med"/>
            <a:tailEnd type="none"/>
          </a:ln>
          <a:effectLst/>
        </p:spPr>
      </p:cxnSp>
      <p:cxnSp>
        <p:nvCxnSpPr>
          <p:cNvPr id="106" name="肘形连接符 258"/>
          <p:cNvCxnSpPr>
            <a:stCxn id="66" idx="3"/>
            <a:endCxn id="70" idx="1"/>
          </p:cNvCxnSpPr>
          <p:nvPr>
            <p:custDataLst>
              <p:tags r:id="rId11"/>
            </p:custDataLst>
          </p:nvPr>
        </p:nvCxnSpPr>
        <p:spPr>
          <a:xfrm rot="5400000" flipV="1">
            <a:off x="5430520" y="4055745"/>
            <a:ext cx="1081405" cy="635"/>
          </a:xfrm>
          <a:prstGeom prst="bentConnector3">
            <a:avLst>
              <a:gd name="adj1" fmla="val 50029"/>
            </a:avLst>
          </a:prstGeom>
          <a:noFill/>
          <a:ln w="19050" cap="flat" cmpd="sng" algn="ctr">
            <a:solidFill>
              <a:srgbClr val="C00000"/>
            </a:solidFill>
            <a:prstDash val="solid"/>
            <a:tailEnd type="triangle"/>
          </a:ln>
          <a:effectLst/>
        </p:spPr>
      </p:cxnSp>
      <p:cxnSp>
        <p:nvCxnSpPr>
          <p:cNvPr id="107" name="肘形连接符 259"/>
          <p:cNvCxnSpPr>
            <a:stCxn id="66" idx="3"/>
            <a:endCxn id="82" idx="1"/>
          </p:cNvCxnSpPr>
          <p:nvPr>
            <p:custDataLst>
              <p:tags r:id="rId12"/>
            </p:custDataLst>
          </p:nvPr>
        </p:nvCxnSpPr>
        <p:spPr>
          <a:xfrm rot="5400000">
            <a:off x="4146233" y="2751773"/>
            <a:ext cx="1061085" cy="2588260"/>
          </a:xfrm>
          <a:prstGeom prst="bentConnector3">
            <a:avLst>
              <a:gd name="adj1" fmla="val 50000"/>
            </a:avLst>
          </a:prstGeom>
          <a:noFill/>
          <a:ln w="19050" cap="flat" cmpd="sng" algn="ctr">
            <a:solidFill>
              <a:srgbClr val="C00000"/>
            </a:solidFill>
            <a:prstDash val="solid"/>
            <a:tailEnd type="triangle"/>
          </a:ln>
          <a:effectLst/>
        </p:spPr>
      </p:cxnSp>
      <p:cxnSp>
        <p:nvCxnSpPr>
          <p:cNvPr id="108" name="肘形连接符 260"/>
          <p:cNvCxnSpPr>
            <a:stCxn id="66" idx="3"/>
            <a:endCxn id="69" idx="1"/>
          </p:cNvCxnSpPr>
          <p:nvPr>
            <p:custDataLst>
              <p:tags r:id="rId13"/>
            </p:custDataLst>
          </p:nvPr>
        </p:nvCxnSpPr>
        <p:spPr>
          <a:xfrm rot="5400000">
            <a:off x="4787583" y="3413443"/>
            <a:ext cx="1081405" cy="1285240"/>
          </a:xfrm>
          <a:prstGeom prst="bentConnector3">
            <a:avLst>
              <a:gd name="adj1" fmla="val 50000"/>
            </a:avLst>
          </a:prstGeom>
          <a:noFill/>
          <a:ln w="19050" cap="flat" cmpd="sng" algn="ctr">
            <a:solidFill>
              <a:srgbClr val="C00000"/>
            </a:solidFill>
            <a:prstDash val="solid"/>
            <a:tailEnd type="triangle"/>
          </a:ln>
          <a:effectLst/>
        </p:spPr>
      </p:cxnSp>
      <p:cxnSp>
        <p:nvCxnSpPr>
          <p:cNvPr id="109" name="肘形连接符 261"/>
          <p:cNvCxnSpPr>
            <a:stCxn id="66" idx="3"/>
            <a:endCxn id="80" idx="1"/>
          </p:cNvCxnSpPr>
          <p:nvPr>
            <p:custDataLst>
              <p:tags r:id="rId14"/>
            </p:custDataLst>
          </p:nvPr>
        </p:nvCxnSpPr>
        <p:spPr>
          <a:xfrm rot="5400000" flipV="1">
            <a:off x="6073458" y="3412808"/>
            <a:ext cx="1081405" cy="1286510"/>
          </a:xfrm>
          <a:prstGeom prst="bentConnector3">
            <a:avLst>
              <a:gd name="adj1" fmla="val 50000"/>
            </a:avLst>
          </a:prstGeom>
          <a:noFill/>
          <a:ln w="19050" cap="flat" cmpd="sng" algn="ctr">
            <a:solidFill>
              <a:srgbClr val="C00000"/>
            </a:solidFill>
            <a:prstDash val="solid"/>
            <a:tailEnd type="triangle"/>
          </a:ln>
          <a:effectLst/>
        </p:spPr>
      </p:cxnSp>
      <p:cxnSp>
        <p:nvCxnSpPr>
          <p:cNvPr id="110" name="肘形连接符 262"/>
          <p:cNvCxnSpPr>
            <a:stCxn id="66" idx="3"/>
            <a:endCxn id="71" idx="1"/>
          </p:cNvCxnSpPr>
          <p:nvPr>
            <p:custDataLst>
              <p:tags r:id="rId15"/>
            </p:custDataLst>
          </p:nvPr>
        </p:nvCxnSpPr>
        <p:spPr>
          <a:xfrm rot="5400000" flipV="1">
            <a:off x="6716395" y="2769870"/>
            <a:ext cx="1081405" cy="2572385"/>
          </a:xfrm>
          <a:prstGeom prst="bentConnector3">
            <a:avLst>
              <a:gd name="adj1" fmla="val 50029"/>
            </a:avLst>
          </a:prstGeom>
          <a:noFill/>
          <a:ln w="19050" cap="flat" cmpd="sng" algn="ctr">
            <a:solidFill>
              <a:srgbClr val="C00000"/>
            </a:solidFill>
            <a:prstDash val="solid"/>
            <a:tailEnd type="triangle"/>
          </a:ln>
          <a:effectLst/>
        </p:spPr>
      </p:cxnSp>
      <p:sp>
        <p:nvSpPr>
          <p:cNvPr id="111" name="文本框 462"/>
          <p:cNvSpPr txBox="1"/>
          <p:nvPr>
            <p:custDataLst>
              <p:tags r:id="rId16"/>
            </p:custDataLst>
          </p:nvPr>
        </p:nvSpPr>
        <p:spPr>
          <a:xfrm>
            <a:off x="5410116" y="4362250"/>
            <a:ext cx="1300480" cy="13843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lang="zh-CN" altLang="en-US" sz="900"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sym typeface="+mn-ea"/>
              </a:rPr>
              <a:t>组织、岗位、人员</a:t>
            </a:r>
            <a:endPar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112" name="文本框 463"/>
          <p:cNvSpPr txBox="1"/>
          <p:nvPr>
            <p:custDataLst>
              <p:tags r:id="rId17"/>
            </p:custDataLst>
          </p:nvPr>
        </p:nvSpPr>
        <p:spPr>
          <a:xfrm>
            <a:off x="6817276" y="4371140"/>
            <a:ext cx="1007110" cy="13843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lang="zh-CN" altLang="en-US" sz="900"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sym typeface="+mn-ea"/>
              </a:rPr>
              <a:t>组织、岗位、人员</a:t>
            </a:r>
            <a:endPar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113" name="文本框 464"/>
          <p:cNvSpPr txBox="1"/>
          <p:nvPr>
            <p:custDataLst>
              <p:tags r:id="rId18"/>
            </p:custDataLst>
          </p:nvPr>
        </p:nvSpPr>
        <p:spPr>
          <a:xfrm>
            <a:off x="8110771" y="4362250"/>
            <a:ext cx="916940" cy="13843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lang="zh-CN" altLang="en-US" sz="900"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sym typeface="+mn-ea"/>
              </a:rPr>
              <a:t>组织、岗位、人员</a:t>
            </a:r>
            <a:endPar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114" name="文本框 465"/>
          <p:cNvSpPr txBox="1"/>
          <p:nvPr>
            <p:custDataLst>
              <p:tags r:id="rId19"/>
            </p:custDataLst>
          </p:nvPr>
        </p:nvSpPr>
        <p:spPr>
          <a:xfrm>
            <a:off x="4131861" y="4369235"/>
            <a:ext cx="1210310" cy="138430"/>
          </a:xfrm>
          <a:prstGeom prst="rect">
            <a:avLst/>
          </a:prstGeom>
          <a:noFill/>
        </p:spPr>
        <p:txBody>
          <a:bodyPr wrap="square" lIns="0" tIns="0" rIns="0" bIns="0" rtlCol="0">
            <a:spAutoFit/>
          </a:bodyPr>
          <a:lstStyle/>
          <a:p>
            <a:pPr marL="0" marR="0" lvl="0" indent="0" defTabSz="914400" eaLnBrk="1" fontAlgn="base" latinLnBrk="0" hangingPunct="1">
              <a:lnSpc>
                <a:spcPct val="100000"/>
              </a:lnSpc>
              <a:spcBef>
                <a:spcPts val="600"/>
              </a:spcBef>
              <a:spcAft>
                <a:spcPct val="0"/>
              </a:spcAft>
              <a:buClr>
                <a:srgbClr val="F0AB00"/>
              </a:buClr>
              <a:buSzPct val="80000"/>
              <a:buFontTx/>
              <a:buNone/>
              <a:defRPr/>
            </a:pPr>
            <a:r>
              <a:rPr lang="zh-CN" altLang="en-US" sz="900"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sym typeface="+mn-ea"/>
              </a:rPr>
              <a:t>组织、岗位、人员</a:t>
            </a:r>
            <a:endPar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Arial Unicode MS" panose="020B0604020202020204" pitchFamily="34" charset="-128"/>
            </a:endParaRPr>
          </a:p>
        </p:txBody>
      </p:sp>
      <p:sp>
        <p:nvSpPr>
          <p:cNvPr id="5" name="文本框 4"/>
          <p:cNvSpPr txBox="1"/>
          <p:nvPr/>
        </p:nvSpPr>
        <p:spPr>
          <a:xfrm>
            <a:off x="495300" y="914400"/>
            <a:ext cx="2212340" cy="368300"/>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统一账号管理体系</a:t>
            </a:r>
            <a:endParaRPr lang="zh-CN" altLang="en-US">
              <a:latin typeface="微软雅黑" panose="020B0503020204020204" pitchFamily="34" charset="-122"/>
              <a:ea typeface="微软雅黑" panose="020B0503020204020204" pitchFamily="34" charset="-122"/>
            </a:endParaRPr>
          </a:p>
        </p:txBody>
      </p:sp>
      <p:sp>
        <p:nvSpPr>
          <p:cNvPr id="7" name="文本框 6"/>
          <p:cNvSpPr txBox="1"/>
          <p:nvPr/>
        </p:nvSpPr>
        <p:spPr>
          <a:xfrm>
            <a:off x="615315" y="6270625"/>
            <a:ext cx="3995420" cy="368300"/>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逐步统一规范各系统账号管理体系</a:t>
            </a:r>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整体业务流程</a:t>
            </a:r>
            <a:endParaRPr lang="zh-CN" altLang="en-US"/>
          </a:p>
        </p:txBody>
      </p:sp>
      <p:sp>
        <p:nvSpPr>
          <p:cNvPr id="6" name="矩形 5"/>
          <p:cNvSpPr/>
          <p:nvPr/>
        </p:nvSpPr>
        <p:spPr bwMode="auto">
          <a:xfrm>
            <a:off x="5279381" y="1303164"/>
            <a:ext cx="1724025" cy="266700"/>
          </a:xfrm>
          <a:prstGeom prst="rect">
            <a:avLst/>
          </a:prstGeom>
          <a:noFill/>
          <a:ln w="12700" cap="flat" cmpd="sng" algn="ctr">
            <a:solidFill>
              <a:srgbClr val="95B3D7"/>
            </a:solidFill>
            <a:prstDash val="solid"/>
            <a:round/>
            <a:headEnd type="none" w="med" len="med"/>
            <a:tailEnd type="none" w="med" len="med"/>
          </a:ln>
        </p:spPr>
        <p:txBody>
          <a:bodyPr vert="horz" wrap="square" lIns="91440" tIns="45720" rIns="91440" bIns="45720" numCol="1" rtlCol="0" anchor="t" anchorCtr="0" compatLnSpc="1"/>
          <a:lstStyle/>
          <a:p>
            <a:pPr algn="ctr" defTabSz="946150" fontAlgn="base">
              <a:spcBef>
                <a:spcPct val="0"/>
              </a:spcBef>
              <a:spcAft>
                <a:spcPct val="0"/>
              </a:spcAft>
            </a:pPr>
            <a:r>
              <a:rPr lang="zh-CN" altLang="en-US" sz="1400" b="1" dirty="0" err="1">
                <a:latin typeface="Times New Roman" panose="02020603050405020304" charset="0"/>
                <a:ea typeface="宋体" pitchFamily="2" charset="-122"/>
              </a:rPr>
              <a:t>数据</a:t>
            </a:r>
            <a:r>
              <a:rPr lang="zh-CN" altLang="en-US" sz="1400" b="1" dirty="0" err="1">
                <a:latin typeface="Times New Roman" panose="02020603050405020304" charset="0"/>
                <a:ea typeface="宋体" pitchFamily="2" charset="-122"/>
              </a:rPr>
              <a:t>中台</a:t>
            </a:r>
            <a:endParaRPr lang="zh-CN" altLang="en-US" sz="1400" b="1" dirty="0" err="1">
              <a:latin typeface="Times New Roman" panose="02020603050405020304" charset="0"/>
              <a:ea typeface="宋体" pitchFamily="2" charset="-122"/>
            </a:endParaRPr>
          </a:p>
        </p:txBody>
      </p:sp>
      <p:sp>
        <p:nvSpPr>
          <p:cNvPr id="14" name="矩形 13"/>
          <p:cNvSpPr/>
          <p:nvPr/>
        </p:nvSpPr>
        <p:spPr bwMode="auto">
          <a:xfrm>
            <a:off x="1993895" y="1302733"/>
            <a:ext cx="1724025" cy="266700"/>
          </a:xfrm>
          <a:prstGeom prst="rect">
            <a:avLst/>
          </a:prstGeom>
          <a:noFill/>
          <a:ln w="12700" cap="flat" cmpd="sng" algn="ctr">
            <a:solidFill>
              <a:srgbClr val="95B3D7"/>
            </a:solidFill>
            <a:prstDash val="solid"/>
            <a:round/>
            <a:headEnd type="none" w="med" len="med"/>
            <a:tailEnd type="none" w="med" len="med"/>
          </a:ln>
        </p:spPr>
        <p:txBody>
          <a:bodyPr vert="horz" wrap="square" lIns="91440" tIns="45720" rIns="91440" bIns="45720" numCol="1" rtlCol="0" anchor="t" anchorCtr="0" compatLnSpc="1"/>
          <a:lstStyle/>
          <a:p>
            <a:pPr algn="ctr" defTabSz="946150" fontAlgn="base">
              <a:spcBef>
                <a:spcPct val="0"/>
              </a:spcBef>
              <a:spcAft>
                <a:spcPct val="0"/>
              </a:spcAft>
            </a:pPr>
            <a:r>
              <a:rPr lang="en-US" altLang="zh-CN" sz="1400" b="1" dirty="0">
                <a:latin typeface="Times New Roman" panose="02020603050405020304" charset="0"/>
                <a:ea typeface="宋体" pitchFamily="2" charset="-122"/>
              </a:rPr>
              <a:t>EHR</a:t>
            </a:r>
            <a:endParaRPr lang="zh-CN" altLang="en-US" sz="1400" b="1" dirty="0">
              <a:latin typeface="Times New Roman" panose="02020603050405020304" charset="0"/>
              <a:ea typeface="宋体" pitchFamily="2" charset="-122"/>
            </a:endParaRPr>
          </a:p>
        </p:txBody>
      </p:sp>
      <p:sp>
        <p:nvSpPr>
          <p:cNvPr id="15" name="矩形 14"/>
          <p:cNvSpPr/>
          <p:nvPr/>
        </p:nvSpPr>
        <p:spPr bwMode="auto">
          <a:xfrm>
            <a:off x="8470265" y="1297940"/>
            <a:ext cx="2332990" cy="266700"/>
          </a:xfrm>
          <a:prstGeom prst="rect">
            <a:avLst/>
          </a:prstGeom>
          <a:noFill/>
          <a:ln w="12700" cap="flat" cmpd="sng" algn="ctr">
            <a:solidFill>
              <a:srgbClr val="95B3D7"/>
            </a:solidFill>
            <a:prstDash val="solid"/>
            <a:round/>
            <a:headEnd type="none" w="med" len="med"/>
            <a:tailEnd type="none" w="med" len="med"/>
          </a:ln>
        </p:spPr>
        <p:txBody>
          <a:bodyPr vert="horz" wrap="square" lIns="91440" tIns="45720" rIns="91440" bIns="45720" numCol="1" rtlCol="0" anchor="t" anchorCtr="0" compatLnSpc="1"/>
          <a:lstStyle/>
          <a:p>
            <a:pPr algn="ctr" defTabSz="946150" fontAlgn="base">
              <a:spcBef>
                <a:spcPct val="0"/>
              </a:spcBef>
              <a:spcAft>
                <a:spcPct val="0"/>
              </a:spcAft>
            </a:pPr>
            <a:r>
              <a:rPr lang="en-US" altLang="zh-CN" sz="1400" b="1" dirty="0">
                <a:latin typeface="Times New Roman" panose="02020603050405020304" charset="0"/>
                <a:ea typeface="宋体" pitchFamily="2" charset="-122"/>
              </a:rPr>
              <a:t>SAP</a:t>
            </a:r>
            <a:endParaRPr lang="en-US" altLang="zh-CN" sz="1400" b="1" dirty="0">
              <a:latin typeface="Times New Roman" panose="02020603050405020304" charset="0"/>
              <a:ea typeface="宋体" pitchFamily="2" charset="-122"/>
            </a:endParaRPr>
          </a:p>
        </p:txBody>
      </p:sp>
      <p:sp>
        <p:nvSpPr>
          <p:cNvPr id="16" name="矩形 15"/>
          <p:cNvSpPr/>
          <p:nvPr/>
        </p:nvSpPr>
        <p:spPr bwMode="auto">
          <a:xfrm>
            <a:off x="8470265" y="1953260"/>
            <a:ext cx="2332990" cy="708025"/>
          </a:xfrm>
          <a:prstGeom prst="rect">
            <a:avLst/>
          </a:prstGeom>
          <a:solidFill>
            <a:srgbClr val="B8DFDB"/>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46150" rtl="0" eaLnBrk="1" fontAlgn="base" latinLnBrk="0" hangingPunct="1">
              <a:lnSpc>
                <a:spcPct val="100000"/>
              </a:lnSpc>
              <a:spcBef>
                <a:spcPct val="0"/>
              </a:spcBef>
              <a:spcAft>
                <a:spcPct val="0"/>
              </a:spcAft>
              <a:buClrTx/>
              <a:buSzTx/>
              <a:buFontTx/>
              <a:buNone/>
            </a:pP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、资产清单报表：</a:t>
            </a:r>
            <a:r>
              <a:rPr lang="en-US" altLang="zh-CN" sz="1200" dirty="0">
                <a:latin typeface="微软雅黑" panose="020B0503020204020204" pitchFamily="34" charset="-122"/>
                <a:ea typeface="微软雅黑" panose="020B0503020204020204" pitchFamily="34" charset="-122"/>
              </a:rPr>
              <a:t>ZFI009</a:t>
            </a:r>
            <a:endParaRPr lang="en-US" altLang="zh-CN" sz="1200" dirty="0">
              <a:latin typeface="微软雅黑" panose="020B0503020204020204" pitchFamily="34" charset="-122"/>
              <a:ea typeface="微软雅黑" panose="020B0503020204020204" pitchFamily="34" charset="-122"/>
            </a:endParaRPr>
          </a:p>
          <a:p>
            <a:pPr marL="0" marR="0" indent="0" algn="ctr" defTabSz="946150" rtl="0" eaLnBrk="1" fontAlgn="base" latinLnBrk="0" hangingPunct="1">
              <a:lnSpc>
                <a:spcPct val="100000"/>
              </a:lnSpc>
              <a:spcBef>
                <a:spcPct val="0"/>
              </a:spcBef>
              <a:spcAft>
                <a:spcPct val="0"/>
              </a:spcAft>
              <a:buClrTx/>
              <a:buSzTx/>
              <a:buFontTx/>
              <a:buNone/>
            </a:pP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、库存账龄表：</a:t>
            </a:r>
            <a:r>
              <a:rPr lang="en-US" altLang="zh-CN" sz="1200" dirty="0">
                <a:latin typeface="微软雅黑" panose="020B0503020204020204" pitchFamily="34" charset="-122"/>
                <a:ea typeface="微软雅黑" panose="020B0503020204020204" pitchFamily="34" charset="-122"/>
              </a:rPr>
              <a:t>ZMM028G</a:t>
            </a:r>
            <a:endParaRPr lang="en-US" altLang="zh-CN" sz="1200" dirty="0">
              <a:latin typeface="微软雅黑" panose="020B0503020204020204" pitchFamily="34" charset="-122"/>
              <a:ea typeface="微软雅黑" panose="020B0503020204020204" pitchFamily="34" charset="-122"/>
            </a:endParaRPr>
          </a:p>
          <a:p>
            <a:pPr marL="0" marR="0" indent="0" algn="ctr" defTabSz="946150" rtl="0" eaLnBrk="1" fontAlgn="base" latinLnBrk="0" hangingPunct="1">
              <a:lnSpc>
                <a:spcPct val="100000"/>
              </a:lnSpc>
              <a:spcBef>
                <a:spcPct val="0"/>
              </a:spcBef>
              <a:spcAft>
                <a:spcPct val="0"/>
              </a:spcAft>
              <a:buClrTx/>
              <a:buSzTx/>
              <a:buFontTx/>
              <a:buNone/>
            </a:pP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、应收账龄表：</a:t>
            </a:r>
            <a:r>
              <a:rPr lang="en-US" altLang="zh-CN" sz="1200" dirty="0">
                <a:latin typeface="微软雅黑" panose="020B0503020204020204" pitchFamily="34" charset="-122"/>
                <a:ea typeface="微软雅黑" panose="020B0503020204020204" pitchFamily="34" charset="-122"/>
              </a:rPr>
              <a:t>ZFI074</a:t>
            </a:r>
            <a:endParaRPr lang="en-US" altLang="zh-CN" sz="1200" dirty="0">
              <a:latin typeface="微软雅黑" panose="020B0503020204020204" pitchFamily="34" charset="-122"/>
              <a:ea typeface="微软雅黑" panose="020B0503020204020204" pitchFamily="34" charset="-122"/>
            </a:endParaRPr>
          </a:p>
        </p:txBody>
      </p:sp>
      <p:sp>
        <p:nvSpPr>
          <p:cNvPr id="45" name="矩形 44"/>
          <p:cNvSpPr/>
          <p:nvPr/>
        </p:nvSpPr>
        <p:spPr bwMode="auto">
          <a:xfrm>
            <a:off x="2038350" y="2120721"/>
            <a:ext cx="1587497" cy="341729"/>
          </a:xfrm>
          <a:prstGeom prst="rect">
            <a:avLst/>
          </a:prstGeom>
          <a:solidFill>
            <a:srgbClr val="B8DFDB"/>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4615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离职</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调</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动流程</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49" name="直接箭头连接符 48"/>
          <p:cNvCxnSpPr>
            <a:stCxn id="51" idx="1"/>
            <a:endCxn id="45" idx="3"/>
          </p:cNvCxnSpPr>
          <p:nvPr/>
        </p:nvCxnSpPr>
        <p:spPr bwMode="auto">
          <a:xfrm flipH="1">
            <a:off x="3625868" y="2291996"/>
            <a:ext cx="1757045" cy="0"/>
          </a:xfrm>
          <a:prstGeom prst="straightConnector1">
            <a:avLst/>
          </a:prstGeom>
          <a:solidFill>
            <a:schemeClr val="accent1"/>
          </a:solidFill>
          <a:ln w="9525" cap="flat" cmpd="sng" algn="ctr">
            <a:solidFill>
              <a:schemeClr val="accent1"/>
            </a:solidFill>
            <a:prstDash val="solid"/>
            <a:round/>
            <a:headEnd type="triangle" w="med" len="med"/>
            <a:tailEnd type="none"/>
          </a:ln>
        </p:spPr>
      </p:cxnSp>
      <p:sp>
        <p:nvSpPr>
          <p:cNvPr id="50" name="文本框 49"/>
          <p:cNvSpPr txBox="1"/>
          <p:nvPr/>
        </p:nvSpPr>
        <p:spPr>
          <a:xfrm>
            <a:off x="4071609" y="2035911"/>
            <a:ext cx="865193" cy="213995"/>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传员工</a:t>
            </a:r>
            <a:r>
              <a:rPr lang="en-US" altLang="zh-CN" sz="800" dirty="0">
                <a:latin typeface="微软雅黑" panose="020B0503020204020204" pitchFamily="34" charset="-122"/>
                <a:ea typeface="微软雅黑" panose="020B0503020204020204" pitchFamily="34" charset="-122"/>
              </a:rPr>
              <a:t>ID</a:t>
            </a:r>
            <a:r>
              <a:rPr lang="zh-CN" altLang="en-US" sz="800" dirty="0">
                <a:latin typeface="微软雅黑" panose="020B0503020204020204" pitchFamily="34" charset="-122"/>
                <a:ea typeface="微软雅黑" panose="020B0503020204020204" pitchFamily="34" charset="-122"/>
              </a:rPr>
              <a:t>参数</a:t>
            </a:r>
            <a:endParaRPr lang="zh-CN" altLang="en-US" sz="800" dirty="0">
              <a:latin typeface="微软雅黑" panose="020B0503020204020204" pitchFamily="34" charset="-122"/>
              <a:ea typeface="微软雅黑" panose="020B0503020204020204" pitchFamily="34" charset="-122"/>
            </a:endParaRPr>
          </a:p>
        </p:txBody>
      </p:sp>
      <p:sp>
        <p:nvSpPr>
          <p:cNvPr id="51" name="矩形 50"/>
          <p:cNvSpPr/>
          <p:nvPr/>
        </p:nvSpPr>
        <p:spPr bwMode="auto">
          <a:xfrm>
            <a:off x="5383034" y="2120758"/>
            <a:ext cx="1587497" cy="341729"/>
          </a:xfrm>
          <a:prstGeom prst="rect">
            <a:avLst/>
          </a:prstGeom>
          <a:solidFill>
            <a:schemeClr val="accent3">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defTabSz="946150" fontAlgn="base">
              <a:spcBef>
                <a:spcPct val="0"/>
              </a:spcBef>
              <a:spcAft>
                <a:spcPct val="0"/>
              </a:spcAft>
            </a:pPr>
            <a:r>
              <a:rPr lang="zh-CN" altLang="en-US" sz="1200" dirty="0">
                <a:latin typeface="微软雅黑" panose="020B0503020204020204" pitchFamily="34" charset="-122"/>
                <a:ea typeface="微软雅黑" panose="020B0503020204020204" pitchFamily="34" charset="-122"/>
              </a:rPr>
              <a:t>员工业务数据清单（</a:t>
            </a:r>
            <a:r>
              <a:rPr lang="zh-CN" altLang="en-US" sz="1200" dirty="0">
                <a:latin typeface="微软雅黑" panose="020B0503020204020204" pitchFamily="34" charset="-122"/>
                <a:ea typeface="微软雅黑" panose="020B0503020204020204" pitchFamily="34" charset="-122"/>
              </a:rPr>
              <a:t>初始）</a:t>
            </a:r>
            <a:endParaRPr lang="zh-CN" altLang="en-US" sz="1200" dirty="0">
              <a:latin typeface="微软雅黑" panose="020B0503020204020204" pitchFamily="34" charset="-122"/>
              <a:ea typeface="微软雅黑" panose="020B0503020204020204" pitchFamily="34" charset="-122"/>
            </a:endParaRPr>
          </a:p>
        </p:txBody>
      </p:sp>
      <p:cxnSp>
        <p:nvCxnSpPr>
          <p:cNvPr id="53" name="直接箭头连接符 52"/>
          <p:cNvCxnSpPr>
            <a:stCxn id="18" idx="2"/>
            <a:endCxn id="104" idx="0"/>
          </p:cNvCxnSpPr>
          <p:nvPr/>
        </p:nvCxnSpPr>
        <p:spPr bwMode="auto">
          <a:xfrm>
            <a:off x="2832236" y="3352396"/>
            <a:ext cx="0" cy="432435"/>
          </a:xfrm>
          <a:prstGeom prst="straightConnector1">
            <a:avLst/>
          </a:prstGeom>
          <a:solidFill>
            <a:schemeClr val="accent1"/>
          </a:solidFill>
          <a:ln w="9525" cap="flat" cmpd="sng" algn="ctr">
            <a:solidFill>
              <a:schemeClr val="accent1"/>
            </a:solidFill>
            <a:prstDash val="solid"/>
            <a:round/>
            <a:headEnd type="none" w="med" len="med"/>
            <a:tailEnd type="triangle"/>
          </a:ln>
        </p:spPr>
      </p:cxnSp>
      <p:sp>
        <p:nvSpPr>
          <p:cNvPr id="104" name="矩形 103"/>
          <p:cNvSpPr/>
          <p:nvPr/>
        </p:nvSpPr>
        <p:spPr bwMode="auto">
          <a:xfrm>
            <a:off x="2038348" y="3784605"/>
            <a:ext cx="1587497" cy="341729"/>
          </a:xfrm>
          <a:prstGeom prst="rect">
            <a:avLst/>
          </a:prstGeom>
          <a:solidFill>
            <a:srgbClr val="B8DFDB"/>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defTabSz="946150" fontAlgn="base">
              <a:spcBef>
                <a:spcPct val="0"/>
              </a:spcBef>
              <a:spcAft>
                <a:spcPct val="0"/>
              </a:spcAft>
            </a:pPr>
            <a:r>
              <a:rPr lang="zh-CN" altLang="en-US" sz="1200" dirty="0">
                <a:latin typeface="微软雅黑" panose="020B0503020204020204" pitchFamily="34" charset="-122"/>
                <a:ea typeface="微软雅黑" panose="020B0503020204020204" pitchFamily="34" charset="-122"/>
              </a:rPr>
              <a:t>流程</a:t>
            </a:r>
            <a:r>
              <a:rPr lang="zh-CN" altLang="en-US" sz="1200" dirty="0">
                <a:latin typeface="微软雅黑" panose="020B0503020204020204" pitchFamily="34" charset="-122"/>
                <a:ea typeface="微软雅黑" panose="020B0503020204020204" pitchFamily="34" charset="-122"/>
              </a:rPr>
              <a:t>结束</a:t>
            </a:r>
            <a:endParaRPr lang="zh-CN" altLang="en-US" sz="1200" dirty="0">
              <a:latin typeface="微软雅黑" panose="020B0503020204020204" pitchFamily="34" charset="-122"/>
              <a:ea typeface="微软雅黑" panose="020B0503020204020204" pitchFamily="34" charset="-122"/>
            </a:endParaRPr>
          </a:p>
        </p:txBody>
      </p:sp>
      <p:sp>
        <p:nvSpPr>
          <p:cNvPr id="139" name="文本框 107"/>
          <p:cNvSpPr txBox="1"/>
          <p:nvPr/>
        </p:nvSpPr>
        <p:spPr>
          <a:xfrm>
            <a:off x="4039624" y="3703669"/>
            <a:ext cx="828715" cy="213995"/>
          </a:xfrm>
          <a:prstGeom prst="rect">
            <a:avLst/>
          </a:prstGeom>
          <a:noFill/>
        </p:spPr>
        <p:txBody>
          <a:bodyPr wrap="square" rtlCol="0">
            <a:spAutoFit/>
          </a:bodyPr>
          <a:lstStyle/>
          <a:p>
            <a:pPr algn="ctr"/>
            <a:r>
              <a:rPr lang="zh-CN" altLang="en-US" sz="800" dirty="0">
                <a:latin typeface="微软雅黑" panose="020B0503020204020204" pitchFamily="34" charset="-122"/>
                <a:ea typeface="微软雅黑" panose="020B0503020204020204" pitchFamily="34" charset="-122"/>
              </a:rPr>
              <a:t>结束</a:t>
            </a:r>
            <a:r>
              <a:rPr lang="zh-CN" altLang="en-US" sz="800" dirty="0">
                <a:latin typeface="微软雅黑" panose="020B0503020204020204" pitchFamily="34" charset="-122"/>
                <a:ea typeface="微软雅黑" panose="020B0503020204020204" pitchFamily="34" charset="-122"/>
              </a:rPr>
              <a:t>标识</a:t>
            </a:r>
            <a:endParaRPr lang="zh-CN" altLang="en-US" sz="800" dirty="0">
              <a:latin typeface="微软雅黑" panose="020B0503020204020204" pitchFamily="34" charset="-122"/>
              <a:ea typeface="微软雅黑" panose="020B0503020204020204" pitchFamily="34" charset="-122"/>
            </a:endParaRPr>
          </a:p>
        </p:txBody>
      </p:sp>
      <p:cxnSp>
        <p:nvCxnSpPr>
          <p:cNvPr id="141" name="肘形连接符 140"/>
          <p:cNvCxnSpPr/>
          <p:nvPr/>
        </p:nvCxnSpPr>
        <p:spPr bwMode="auto">
          <a:xfrm rot="10800000">
            <a:off x="3625850" y="2430145"/>
            <a:ext cx="1701555" cy="0"/>
          </a:xfrm>
          <a:prstGeom prst="bentConnector3">
            <a:avLst>
              <a:gd name="adj1" fmla="val -12895"/>
            </a:avLst>
          </a:prstGeom>
          <a:solidFill>
            <a:schemeClr val="accent1"/>
          </a:solidFill>
          <a:ln w="9525" cap="flat" cmpd="sng" algn="ctr">
            <a:solidFill>
              <a:schemeClr val="accent1"/>
            </a:solidFill>
            <a:prstDash val="solid"/>
            <a:round/>
            <a:headEnd type="none" w="med" len="med"/>
            <a:tailEnd type="triangle"/>
          </a:ln>
        </p:spPr>
      </p:cxnSp>
      <p:sp>
        <p:nvSpPr>
          <p:cNvPr id="17" name="文本框 16"/>
          <p:cNvSpPr txBox="1"/>
          <p:nvPr/>
        </p:nvSpPr>
        <p:spPr>
          <a:xfrm>
            <a:off x="3561080" y="2476500"/>
            <a:ext cx="1911350" cy="213995"/>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员工业务数据</a:t>
            </a:r>
            <a:r>
              <a:rPr lang="zh-CN" altLang="en-US" sz="800" dirty="0">
                <a:latin typeface="微软雅黑" panose="020B0503020204020204" pitchFamily="34" charset="-122"/>
                <a:ea typeface="微软雅黑" panose="020B0503020204020204" pitchFamily="34" charset="-122"/>
              </a:rPr>
              <a:t>报表（库存、资产、</a:t>
            </a:r>
            <a:r>
              <a:rPr lang="zh-CN" altLang="en-US" sz="800" dirty="0">
                <a:latin typeface="微软雅黑" panose="020B0503020204020204" pitchFamily="34" charset="-122"/>
                <a:ea typeface="微软雅黑" panose="020B0503020204020204" pitchFamily="34" charset="-122"/>
              </a:rPr>
              <a:t>应收）</a:t>
            </a:r>
            <a:endParaRPr lang="zh-CN" altLang="en-US" sz="800" dirty="0">
              <a:latin typeface="微软雅黑" panose="020B0503020204020204" pitchFamily="34" charset="-122"/>
              <a:ea typeface="微软雅黑" panose="020B0503020204020204" pitchFamily="34" charset="-122"/>
            </a:endParaRPr>
          </a:p>
        </p:txBody>
      </p:sp>
      <p:sp>
        <p:nvSpPr>
          <p:cNvPr id="18" name="矩形 17"/>
          <p:cNvSpPr/>
          <p:nvPr/>
        </p:nvSpPr>
        <p:spPr bwMode="auto">
          <a:xfrm>
            <a:off x="2038348" y="3010540"/>
            <a:ext cx="1587497" cy="341729"/>
          </a:xfrm>
          <a:prstGeom prst="rect">
            <a:avLst/>
          </a:prstGeom>
          <a:solidFill>
            <a:srgbClr val="B8DFDB"/>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defTabSz="946150" fontAlgn="base">
              <a:spcBef>
                <a:spcPct val="0"/>
              </a:spcBef>
              <a:spcAft>
                <a:spcPct val="0"/>
              </a:spcAft>
            </a:pPr>
            <a:r>
              <a:rPr lang="zh-CN" altLang="en-US" sz="1200" dirty="0">
                <a:latin typeface="微软雅黑" panose="020B0503020204020204" pitchFamily="34" charset="-122"/>
                <a:ea typeface="微软雅黑" panose="020B0503020204020204" pitchFamily="34" charset="-122"/>
              </a:rPr>
              <a:t>报表</a:t>
            </a:r>
            <a:r>
              <a:rPr lang="zh-CN" altLang="en-US" sz="1200" dirty="0">
                <a:latin typeface="微软雅黑" panose="020B0503020204020204" pitchFamily="34" charset="-122"/>
                <a:ea typeface="微软雅黑" panose="020B0503020204020204" pitchFamily="34" charset="-122"/>
              </a:rPr>
              <a:t>上维护对接</a:t>
            </a:r>
            <a:r>
              <a:rPr lang="zh-CN" altLang="en-US" sz="1200" dirty="0">
                <a:latin typeface="微软雅黑" panose="020B0503020204020204" pitchFamily="34" charset="-122"/>
                <a:ea typeface="微软雅黑" panose="020B0503020204020204" pitchFamily="34" charset="-122"/>
              </a:rPr>
              <a:t>人</a:t>
            </a:r>
            <a:endParaRPr lang="zh-CN" altLang="en-US" sz="1200" dirty="0">
              <a:latin typeface="微软雅黑" panose="020B0503020204020204" pitchFamily="34" charset="-122"/>
              <a:ea typeface="微软雅黑" panose="020B0503020204020204" pitchFamily="34" charset="-122"/>
            </a:endParaRPr>
          </a:p>
        </p:txBody>
      </p:sp>
      <p:sp>
        <p:nvSpPr>
          <p:cNvPr id="20" name="矩形 19"/>
          <p:cNvSpPr/>
          <p:nvPr/>
        </p:nvSpPr>
        <p:spPr bwMode="auto">
          <a:xfrm>
            <a:off x="5383034" y="3784458"/>
            <a:ext cx="1587497" cy="341729"/>
          </a:xfrm>
          <a:prstGeom prst="rect">
            <a:avLst/>
          </a:prstGeom>
          <a:solidFill>
            <a:schemeClr val="accent3">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defTabSz="946150" fontAlgn="base">
              <a:spcBef>
                <a:spcPct val="0"/>
              </a:spcBef>
              <a:spcAft>
                <a:spcPct val="0"/>
              </a:spcAft>
            </a:pPr>
            <a:r>
              <a:rPr lang="zh-CN" altLang="en-US" sz="1200" dirty="0">
                <a:latin typeface="微软雅黑" panose="020B0503020204020204" pitchFamily="34" charset="-122"/>
                <a:ea typeface="微软雅黑" panose="020B0503020204020204" pitchFamily="34" charset="-122"/>
                <a:sym typeface="+mn-ea"/>
              </a:rPr>
              <a:t>员工业务数据清单（</a:t>
            </a:r>
            <a:r>
              <a:rPr lang="en-US" altLang="zh-CN" sz="1200" dirty="0">
                <a:latin typeface="微软雅黑" panose="020B0503020204020204" pitchFamily="34" charset="-122"/>
                <a:ea typeface="微软雅黑" panose="020B0503020204020204" pitchFamily="34" charset="-122"/>
                <a:sym typeface="+mn-ea"/>
              </a:rPr>
              <a:t>HR</a:t>
            </a:r>
            <a:r>
              <a:rPr lang="zh-CN" altLang="en-US" sz="1200" dirty="0">
                <a:latin typeface="微软雅黑" panose="020B0503020204020204" pitchFamily="34" charset="-122"/>
                <a:ea typeface="微软雅黑" panose="020B0503020204020204" pitchFamily="34" charset="-122"/>
                <a:sym typeface="+mn-ea"/>
              </a:rPr>
              <a:t>更新</a:t>
            </a:r>
            <a:r>
              <a:rPr lang="zh-CN" altLang="en-US" sz="1200" dirty="0">
                <a:latin typeface="微软雅黑" panose="020B0503020204020204" pitchFamily="34" charset="-122"/>
                <a:ea typeface="微软雅黑" panose="020B0503020204020204" pitchFamily="34" charset="-122"/>
                <a:sym typeface="+mn-ea"/>
              </a:rPr>
              <a:t>版）</a:t>
            </a:r>
            <a:endParaRPr lang="zh-CN" altLang="en-US" sz="1200" dirty="0">
              <a:latin typeface="微软雅黑" panose="020B0503020204020204" pitchFamily="34" charset="-122"/>
              <a:ea typeface="微软雅黑" panose="020B0503020204020204" pitchFamily="34" charset="-122"/>
            </a:endParaRPr>
          </a:p>
        </p:txBody>
      </p:sp>
      <p:cxnSp>
        <p:nvCxnSpPr>
          <p:cNvPr id="22" name="直接箭头连接符 21"/>
          <p:cNvCxnSpPr>
            <a:stCxn id="20" idx="1"/>
            <a:endCxn id="104" idx="3"/>
          </p:cNvCxnSpPr>
          <p:nvPr/>
        </p:nvCxnSpPr>
        <p:spPr bwMode="auto">
          <a:xfrm flipH="1">
            <a:off x="3625868" y="3955696"/>
            <a:ext cx="1757045" cy="0"/>
          </a:xfrm>
          <a:prstGeom prst="straightConnector1">
            <a:avLst/>
          </a:prstGeom>
          <a:solidFill>
            <a:schemeClr val="accent1"/>
          </a:solidFill>
          <a:ln w="9525" cap="flat" cmpd="sng" algn="ctr">
            <a:solidFill>
              <a:schemeClr val="accent1"/>
            </a:solidFill>
            <a:prstDash val="solid"/>
            <a:round/>
            <a:headEnd type="triangle" w="med" len="med"/>
            <a:tailEnd type="none"/>
          </a:ln>
        </p:spPr>
      </p:cxnSp>
      <p:cxnSp>
        <p:nvCxnSpPr>
          <p:cNvPr id="23" name="直接箭头连接符 22"/>
          <p:cNvCxnSpPr>
            <a:stCxn id="16" idx="1"/>
            <a:endCxn id="51" idx="3"/>
          </p:cNvCxnSpPr>
          <p:nvPr/>
        </p:nvCxnSpPr>
        <p:spPr bwMode="auto">
          <a:xfrm flipH="1" flipV="1">
            <a:off x="6970413" y="2291996"/>
            <a:ext cx="1499870" cy="15875"/>
          </a:xfrm>
          <a:prstGeom prst="straightConnector1">
            <a:avLst/>
          </a:prstGeom>
          <a:solidFill>
            <a:schemeClr val="accent1"/>
          </a:solidFill>
          <a:ln w="9525" cap="flat" cmpd="sng" algn="ctr">
            <a:solidFill>
              <a:schemeClr val="accent1"/>
            </a:solidFill>
            <a:prstDash val="solid"/>
            <a:round/>
            <a:headEnd type="none" w="med" len="med"/>
            <a:tailEnd type="triangle" w="med" len="med"/>
          </a:ln>
        </p:spPr>
      </p:cxnSp>
      <p:cxnSp>
        <p:nvCxnSpPr>
          <p:cNvPr id="28" name="直接箭头连接符 27"/>
          <p:cNvCxnSpPr>
            <a:stCxn id="33" idx="1"/>
            <a:endCxn id="20" idx="3"/>
          </p:cNvCxnSpPr>
          <p:nvPr/>
        </p:nvCxnSpPr>
        <p:spPr bwMode="auto">
          <a:xfrm flipH="1" flipV="1">
            <a:off x="6970413" y="3955696"/>
            <a:ext cx="1534160" cy="20320"/>
          </a:xfrm>
          <a:prstGeom prst="straightConnector1">
            <a:avLst/>
          </a:prstGeom>
          <a:solidFill>
            <a:schemeClr val="accent1"/>
          </a:solidFill>
          <a:ln w="9525" cap="flat" cmpd="sng" algn="ctr">
            <a:solidFill>
              <a:schemeClr val="accent1"/>
            </a:solidFill>
            <a:prstDash val="solid"/>
            <a:round/>
            <a:headEnd type="triangle" w="med" len="med"/>
            <a:tailEnd type="none"/>
          </a:ln>
        </p:spPr>
      </p:cxnSp>
      <p:sp>
        <p:nvSpPr>
          <p:cNvPr id="33" name="矩形 32"/>
          <p:cNvSpPr/>
          <p:nvPr/>
        </p:nvSpPr>
        <p:spPr bwMode="auto">
          <a:xfrm>
            <a:off x="8504555" y="3621405"/>
            <a:ext cx="2332990" cy="708025"/>
          </a:xfrm>
          <a:prstGeom prst="rect">
            <a:avLst/>
          </a:prstGeom>
          <a:solidFill>
            <a:srgbClr val="B8DFDB"/>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46150" rtl="0" eaLnBrk="1" fontAlgn="base" latinLnBrk="0" hangingPunct="1">
              <a:lnSpc>
                <a:spcPct val="100000"/>
              </a:lnSpc>
              <a:spcBef>
                <a:spcPct val="0"/>
              </a:spcBef>
              <a:spcAft>
                <a:spcPct val="0"/>
              </a:spcAft>
              <a:buClrTx/>
              <a:buSzTx/>
              <a:buFontTx/>
              <a:buNone/>
            </a:pPr>
            <a:r>
              <a:rPr lang="zh-CN" altLang="en-US" sz="1200" dirty="0">
                <a:latin typeface="微软雅黑" panose="020B0503020204020204" pitchFamily="34" charset="-122"/>
                <a:ea typeface="微软雅黑" panose="020B0503020204020204" pitchFamily="34" charset="-122"/>
              </a:rPr>
              <a:t>更新员工名下资产、应收、库存</a:t>
            </a:r>
            <a:r>
              <a:rPr lang="zh-CN" altLang="en-US" sz="1200" dirty="0">
                <a:latin typeface="微软雅黑" panose="020B0503020204020204" pitchFamily="34" charset="-122"/>
                <a:ea typeface="微软雅黑" panose="020B0503020204020204" pitchFamily="34" charset="-122"/>
              </a:rPr>
              <a:t>数据</a:t>
            </a:r>
            <a:endParaRPr lang="zh-CN" altLang="en-US" sz="1200"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7240894" y="1974316"/>
            <a:ext cx="865193" cy="337185"/>
          </a:xfrm>
          <a:prstGeom prst="rect">
            <a:avLst/>
          </a:prstGeom>
          <a:noFill/>
        </p:spPr>
        <p:txBody>
          <a:bodyPr wrap="square" rtlCol="0">
            <a:spAutoFit/>
          </a:bodyPr>
          <a:lstStyle/>
          <a:p>
            <a:pPr algn="ctr"/>
            <a:r>
              <a:rPr lang="zh-CN" altLang="en-US" sz="800" dirty="0">
                <a:latin typeface="微软雅黑" panose="020B0503020204020204" pitchFamily="34" charset="-122"/>
                <a:ea typeface="微软雅黑" panose="020B0503020204020204" pitchFamily="34" charset="-122"/>
              </a:rPr>
              <a:t>数据采集整合（</a:t>
            </a:r>
            <a:r>
              <a:rPr lang="en-US" altLang="zh-CN" sz="800" dirty="0">
                <a:latin typeface="微软雅黑" panose="020B0503020204020204" pitchFamily="34" charset="-122"/>
                <a:ea typeface="微软雅黑" panose="020B0503020204020204" pitchFamily="34" charset="-122"/>
              </a:rPr>
              <a:t>T+1</a:t>
            </a:r>
            <a:r>
              <a:rPr lang="zh-CN" altLang="en-US" sz="800" dirty="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7172949" y="3601186"/>
            <a:ext cx="865193" cy="337185"/>
          </a:xfrm>
          <a:prstGeom prst="rect">
            <a:avLst/>
          </a:prstGeom>
          <a:noFill/>
        </p:spPr>
        <p:txBody>
          <a:bodyPr wrap="square" rtlCol="0">
            <a:spAutoFit/>
          </a:bodyPr>
          <a:lstStyle/>
          <a:p>
            <a:pPr algn="ctr"/>
            <a:r>
              <a:rPr lang="zh-CN" altLang="en-US" sz="800" dirty="0">
                <a:latin typeface="微软雅黑" panose="020B0503020204020204" pitchFamily="34" charset="-122"/>
                <a:ea typeface="微软雅黑" panose="020B0503020204020204" pitchFamily="34" charset="-122"/>
              </a:rPr>
              <a:t>更新</a:t>
            </a:r>
            <a:r>
              <a:rPr lang="zh-CN" altLang="en-US" sz="800" dirty="0">
                <a:latin typeface="微软雅黑" panose="020B0503020204020204" pitchFamily="34" charset="-122"/>
                <a:ea typeface="微软雅黑" panose="020B0503020204020204" pitchFamily="34" charset="-122"/>
              </a:rPr>
              <a:t>版本数据</a:t>
            </a:r>
            <a:r>
              <a:rPr lang="zh-CN" altLang="en-US" sz="800" dirty="0">
                <a:latin typeface="微软雅黑" panose="020B0503020204020204" pitchFamily="34" charset="-122"/>
                <a:ea typeface="微软雅黑" panose="020B0503020204020204" pitchFamily="34" charset="-122"/>
              </a:rPr>
              <a:t>传递</a:t>
            </a:r>
            <a:endParaRPr lang="zh-CN" altLang="en-US" sz="800"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1993900" y="4758055"/>
            <a:ext cx="8935720" cy="1872615"/>
          </a:xfrm>
          <a:prstGeom prst="rect">
            <a:avLst/>
          </a:prstGeom>
          <a:noFill/>
        </p:spPr>
        <p:txBody>
          <a:bodyPr wrap="square" rtlCol="0" anchor="t">
            <a:noAutofit/>
          </a:bodyPr>
          <a:p>
            <a:pPr algn="l">
              <a:lnSpc>
                <a:spcPct val="120000"/>
              </a:lnSpc>
              <a:spcBef>
                <a:spcPct val="0"/>
              </a:spcBef>
            </a:pPr>
            <a:r>
              <a:rPr lang="zh-CN" altLang="en-US" sz="1400" dirty="0">
                <a:latin typeface="微软雅黑" panose="020B0503020204020204" pitchFamily="34" charset="-122"/>
                <a:ea typeface="微软雅黑" panose="020B0503020204020204" pitchFamily="34" charset="-122"/>
                <a:sym typeface="+mn-ea"/>
              </a:rPr>
              <a:t>流程</a:t>
            </a:r>
            <a:r>
              <a:rPr lang="zh-CN" altLang="en-US" sz="1400" dirty="0">
                <a:latin typeface="微软雅黑" panose="020B0503020204020204" pitchFamily="34" charset="-122"/>
                <a:ea typeface="微软雅黑" panose="020B0503020204020204" pitchFamily="34" charset="-122"/>
                <a:sym typeface="+mn-ea"/>
              </a:rPr>
              <a:t>描述：</a:t>
            </a:r>
            <a:endParaRPr lang="en-US" altLang="zh-CN" sz="1400" dirty="0">
              <a:latin typeface="微软雅黑" panose="020B0503020204020204" pitchFamily="34" charset="-122"/>
              <a:ea typeface="微软雅黑" panose="020B0503020204020204" pitchFamily="34" charset="-122"/>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1.</a:t>
            </a:r>
            <a:r>
              <a:rPr lang="zh-CN" altLang="en-US" sz="1400" dirty="0">
                <a:latin typeface="微软雅黑" panose="020B0503020204020204" pitchFamily="34" charset="-122"/>
                <a:ea typeface="微软雅黑" panose="020B0503020204020204" pitchFamily="34" charset="-122"/>
                <a:sym typeface="+mn-ea"/>
              </a:rPr>
              <a:t>数据中台拉取</a:t>
            </a:r>
            <a:r>
              <a:rPr lang="en-US" altLang="zh-CN" sz="1400" dirty="0">
                <a:latin typeface="微软雅黑" panose="020B0503020204020204" pitchFamily="34" charset="-122"/>
                <a:ea typeface="微软雅黑" panose="020B0503020204020204" pitchFamily="34" charset="-122"/>
                <a:sym typeface="+mn-ea"/>
              </a:rPr>
              <a:t>SAP</a:t>
            </a:r>
            <a:r>
              <a:rPr lang="zh-CN" altLang="en-US" sz="1400" dirty="0">
                <a:latin typeface="微软雅黑" panose="020B0503020204020204" pitchFamily="34" charset="-122"/>
                <a:ea typeface="微软雅黑" panose="020B0503020204020204" pitchFamily="34" charset="-122"/>
                <a:sym typeface="+mn-ea"/>
              </a:rPr>
              <a:t>的资产清单报表、库存账龄表、应收账龄表数据；</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2.</a:t>
            </a:r>
            <a:r>
              <a:rPr lang="zh-CN" altLang="en-US" sz="1400" dirty="0">
                <a:latin typeface="微软雅黑" panose="020B0503020204020204" pitchFamily="34" charset="-122"/>
                <a:ea typeface="微软雅黑" panose="020B0503020204020204" pitchFamily="34" charset="-122"/>
                <a:sym typeface="+mn-ea"/>
              </a:rPr>
              <a:t>数据中台开发员工业务数据清单报表，并提供相应报表访问链接（</a:t>
            </a:r>
            <a:r>
              <a:rPr lang="zh-CN" altLang="en-US" sz="1400" dirty="0">
                <a:latin typeface="微软雅黑" panose="020B0503020204020204" pitchFamily="34" charset="-122"/>
                <a:ea typeface="微软雅黑" panose="020B0503020204020204" pitchFamily="34" charset="-122"/>
                <a:sym typeface="+mn-ea"/>
              </a:rPr>
              <a:t>权限控制）；</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3.EHR</a:t>
            </a:r>
            <a:r>
              <a:rPr lang="zh-CN" altLang="en-US" sz="1400" dirty="0">
                <a:latin typeface="微软雅黑" panose="020B0503020204020204" pitchFamily="34" charset="-122"/>
                <a:ea typeface="微软雅黑" panose="020B0503020204020204" pitchFamily="34" charset="-122"/>
                <a:sym typeface="+mn-ea"/>
              </a:rPr>
              <a:t>离职流程中，库存、应收、资产交接节点调用数据中台报表链接（传员工</a:t>
            </a:r>
            <a:r>
              <a:rPr lang="en-US" altLang="zh-CN" sz="1400" dirty="0">
                <a:latin typeface="微软雅黑" panose="020B0503020204020204" pitchFamily="34" charset="-122"/>
                <a:ea typeface="微软雅黑" panose="020B0503020204020204" pitchFamily="34" charset="-122"/>
                <a:sym typeface="+mn-ea"/>
              </a:rPr>
              <a:t>ID</a:t>
            </a:r>
            <a:r>
              <a:rPr lang="zh-CN" altLang="en-US" sz="1400" dirty="0">
                <a:latin typeface="微软雅黑" panose="020B0503020204020204" pitchFamily="34" charset="-122"/>
                <a:ea typeface="微软雅黑" panose="020B0503020204020204" pitchFamily="34" charset="-122"/>
                <a:sym typeface="+mn-ea"/>
              </a:rPr>
              <a:t>参数）；</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4.EHR</a:t>
            </a:r>
            <a:r>
              <a:rPr lang="zh-CN" altLang="en-US" sz="1400" dirty="0">
                <a:latin typeface="微软雅黑" panose="020B0503020204020204" pitchFamily="34" charset="-122"/>
                <a:ea typeface="微软雅黑" panose="020B0503020204020204" pitchFamily="34" charset="-122"/>
                <a:sym typeface="+mn-ea"/>
              </a:rPr>
              <a:t>在报表链接中维护交接人信息，形成</a:t>
            </a:r>
            <a:r>
              <a:rPr lang="en-US" altLang="zh-CN" sz="1400" dirty="0">
                <a:latin typeface="微软雅黑" panose="020B0503020204020204" pitchFamily="34" charset="-122"/>
                <a:ea typeface="微软雅黑" panose="020B0503020204020204" pitchFamily="34" charset="-122"/>
                <a:sym typeface="+mn-ea"/>
              </a:rPr>
              <a:t>HR</a:t>
            </a:r>
            <a:r>
              <a:rPr lang="zh-CN" altLang="en-US" sz="1400" dirty="0">
                <a:latin typeface="微软雅黑" panose="020B0503020204020204" pitchFamily="34" charset="-122"/>
                <a:ea typeface="微软雅黑" panose="020B0503020204020204" pitchFamily="34" charset="-122"/>
                <a:sym typeface="+mn-ea"/>
              </a:rPr>
              <a:t>更新版</a:t>
            </a:r>
            <a:r>
              <a:rPr lang="zh-CN" altLang="en-US" sz="1400" dirty="0">
                <a:latin typeface="微软雅黑" panose="020B0503020204020204" pitchFamily="34" charset="-122"/>
                <a:ea typeface="微软雅黑" panose="020B0503020204020204" pitchFamily="34" charset="-122"/>
                <a:sym typeface="+mn-ea"/>
              </a:rPr>
              <a:t>报表；</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5.</a:t>
            </a:r>
            <a:r>
              <a:rPr lang="zh-CN" altLang="en-US" sz="1400" dirty="0">
                <a:latin typeface="微软雅黑" panose="020B0503020204020204" pitchFamily="34" charset="-122"/>
                <a:ea typeface="微软雅黑" panose="020B0503020204020204" pitchFamily="34" charset="-122"/>
                <a:sym typeface="+mn-ea"/>
              </a:rPr>
              <a:t>流程结束，</a:t>
            </a:r>
            <a:r>
              <a:rPr lang="en-US" altLang="zh-CN" sz="1400" dirty="0">
                <a:latin typeface="微软雅黑" panose="020B0503020204020204" pitchFamily="34" charset="-122"/>
                <a:ea typeface="微软雅黑" panose="020B0503020204020204" pitchFamily="34" charset="-122"/>
                <a:sym typeface="+mn-ea"/>
              </a:rPr>
              <a:t>EHR</a:t>
            </a:r>
            <a:r>
              <a:rPr lang="zh-CN" altLang="en-US" sz="1400" dirty="0">
                <a:latin typeface="微软雅黑" panose="020B0503020204020204" pitchFamily="34" charset="-122"/>
                <a:ea typeface="微软雅黑" panose="020B0503020204020204" pitchFamily="34" charset="-122"/>
                <a:sym typeface="+mn-ea"/>
              </a:rPr>
              <a:t>传递流程结束标识至数据中台（或数据中台</a:t>
            </a:r>
            <a:r>
              <a:rPr lang="en-US" altLang="zh-CN" sz="1400" dirty="0">
                <a:latin typeface="微软雅黑" panose="020B0503020204020204" pitchFamily="34" charset="-122"/>
                <a:ea typeface="微软雅黑" panose="020B0503020204020204" pitchFamily="34" charset="-122"/>
                <a:sym typeface="+mn-ea"/>
              </a:rPr>
              <a:t>T+1</a:t>
            </a:r>
            <a:r>
              <a:rPr lang="zh-CN" altLang="en-US" sz="1400" dirty="0">
                <a:latin typeface="微软雅黑" panose="020B0503020204020204" pitchFamily="34" charset="-122"/>
                <a:ea typeface="微软雅黑" panose="020B0503020204020204" pitchFamily="34" charset="-122"/>
                <a:sym typeface="+mn-ea"/>
              </a:rPr>
              <a:t>拉取）；</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6.</a:t>
            </a:r>
            <a:r>
              <a:rPr lang="zh-CN" altLang="en-US" sz="1400" dirty="0">
                <a:latin typeface="微软雅黑" panose="020B0503020204020204" pitchFamily="34" charset="-122"/>
                <a:ea typeface="微软雅黑" panose="020B0503020204020204" pitchFamily="34" charset="-122"/>
                <a:sym typeface="+mn-ea"/>
              </a:rPr>
              <a:t>推送更新的员工业务数据清单报表至</a:t>
            </a:r>
            <a:r>
              <a:rPr lang="en-US" altLang="zh-CN" sz="1400" dirty="0">
                <a:latin typeface="微软雅黑" panose="020B0503020204020204" pitchFamily="34" charset="-122"/>
                <a:ea typeface="微软雅黑" panose="020B0503020204020204" pitchFamily="34" charset="-122"/>
                <a:sym typeface="+mn-ea"/>
              </a:rPr>
              <a:t>SAP</a:t>
            </a:r>
            <a:r>
              <a:rPr lang="zh-CN" altLang="en-US" sz="1400" dirty="0">
                <a:latin typeface="微软雅黑" panose="020B0503020204020204" pitchFamily="34" charset="-122"/>
                <a:ea typeface="微软雅黑" panose="020B0503020204020204" pitchFamily="34" charset="-122"/>
                <a:sym typeface="+mn-ea"/>
              </a:rPr>
              <a:t>；</a:t>
            </a:r>
            <a:endParaRPr lang="zh-CN" altLang="en-US" sz="1400" dirty="0">
              <a:latin typeface="微软雅黑" panose="020B0503020204020204" pitchFamily="34" charset="-122"/>
              <a:ea typeface="微软雅黑" panose="020B0503020204020204" pitchFamily="34" charset="-122"/>
              <a:sym typeface="+mn-ea"/>
            </a:endParaRPr>
          </a:p>
          <a:p>
            <a:pPr marL="0" marR="0" indent="0" algn="l" defTabSz="946150" rtl="0" eaLnBrk="1" fontAlgn="base" latinLnBrk="0" hangingPunct="1">
              <a:lnSpc>
                <a:spcPct val="100000"/>
              </a:lnSpc>
              <a:spcBef>
                <a:spcPct val="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sym typeface="+mn-ea"/>
              </a:rPr>
              <a:t>7.SAP</a:t>
            </a:r>
            <a:r>
              <a:rPr lang="zh-CN" altLang="en-US" sz="1400" dirty="0">
                <a:latin typeface="微软雅黑" panose="020B0503020204020204" pitchFamily="34" charset="-122"/>
                <a:ea typeface="微软雅黑" panose="020B0503020204020204" pitchFamily="34" charset="-122"/>
                <a:sym typeface="+mn-ea"/>
              </a:rPr>
              <a:t>更新数据，且返回更新完成标识（或中台拉去信息对比校验提醒）；</a:t>
            </a:r>
            <a:endParaRPr lang="en-US" altLang="zh-CN" sz="1400" dirty="0">
              <a:latin typeface="微软雅黑" panose="020B0503020204020204" pitchFamily="34" charset="-122"/>
              <a:ea typeface="微软雅黑" panose="020B0503020204020204" pitchFamily="34" charset="-122"/>
            </a:endParaRPr>
          </a:p>
          <a:p>
            <a:pPr marL="0" marR="0" indent="0" algn="l" defTabSz="946150" rtl="0" eaLnBrk="1" fontAlgn="base" latinLnBrk="0" hangingPunct="1">
              <a:lnSpc>
                <a:spcPct val="100000"/>
              </a:lnSpc>
              <a:spcBef>
                <a:spcPct val="0"/>
              </a:spcBef>
              <a:spcAft>
                <a:spcPct val="0"/>
              </a:spcAft>
              <a:buClrTx/>
              <a:buSzTx/>
              <a:buFontTx/>
              <a:buNone/>
            </a:pPr>
            <a:endParaRPr lang="zh-CN" altLang="en-US" sz="1400" dirty="0">
              <a:latin typeface="微软雅黑" panose="020B0503020204020204" pitchFamily="34" charset="-122"/>
              <a:ea typeface="微软雅黑" panose="020B0503020204020204" pitchFamily="34" charset="-122"/>
              <a:sym typeface="+mn-ea"/>
            </a:endParaRPr>
          </a:p>
        </p:txBody>
      </p:sp>
      <p:cxnSp>
        <p:nvCxnSpPr>
          <p:cNvPr id="48" name="直接箭头连接符 47"/>
          <p:cNvCxnSpPr>
            <a:stCxn id="18" idx="0"/>
            <a:endCxn id="45" idx="2"/>
          </p:cNvCxnSpPr>
          <p:nvPr/>
        </p:nvCxnSpPr>
        <p:spPr bwMode="auto">
          <a:xfrm flipV="1">
            <a:off x="2832118" y="2462811"/>
            <a:ext cx="0" cy="548005"/>
          </a:xfrm>
          <a:prstGeom prst="straightConnector1">
            <a:avLst/>
          </a:prstGeom>
          <a:solidFill>
            <a:schemeClr val="accent1"/>
          </a:solidFill>
          <a:ln w="9525" cap="flat" cmpd="sng" algn="ctr">
            <a:solidFill>
              <a:schemeClr val="accent1"/>
            </a:solidFill>
            <a:prstDash val="solid"/>
            <a:round/>
            <a:headEnd type="triangle" w="med" len="med"/>
            <a:tailEnd type="none"/>
          </a:ln>
        </p:spPr>
      </p:cxnSp>
      <p:sp>
        <p:nvSpPr>
          <p:cNvPr id="54" name="文本框 53"/>
          <p:cNvSpPr txBox="1"/>
          <p:nvPr/>
        </p:nvSpPr>
        <p:spPr>
          <a:xfrm>
            <a:off x="566420" y="751205"/>
            <a:ext cx="2212340" cy="368300"/>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跨系统协同</a:t>
            </a:r>
            <a:r>
              <a:rPr lang="zh-CN" altLang="en-US">
                <a:latin typeface="微软雅黑" panose="020B0503020204020204" pitchFamily="34" charset="-122"/>
                <a:ea typeface="微软雅黑" panose="020B0503020204020204" pitchFamily="34" charset="-122"/>
              </a:rPr>
              <a:t>方案</a:t>
            </a:r>
            <a:endParaRPr lang="zh-CN" altLang="en-US">
              <a:latin typeface="微软雅黑" panose="020B0503020204020204" pitchFamily="34" charset="-122"/>
              <a:ea typeface="微软雅黑" panose="020B0503020204020204" pitchFamily="34" charset="-122"/>
            </a:endParaRPr>
          </a:p>
        </p:txBody>
      </p:sp>
      <p:cxnSp>
        <p:nvCxnSpPr>
          <p:cNvPr id="55" name="肘形连接符 54"/>
          <p:cNvCxnSpPr>
            <a:stCxn id="33" idx="2"/>
            <a:endCxn id="61" idx="3"/>
          </p:cNvCxnSpPr>
          <p:nvPr/>
        </p:nvCxnSpPr>
        <p:spPr bwMode="auto">
          <a:xfrm rot="5400000">
            <a:off x="8191500" y="3107690"/>
            <a:ext cx="257810" cy="2700655"/>
          </a:xfrm>
          <a:prstGeom prst="bentConnector2">
            <a:avLst/>
          </a:prstGeom>
          <a:solidFill>
            <a:schemeClr val="accent1"/>
          </a:solidFill>
          <a:ln w="9525" cap="flat" cmpd="sng" algn="ctr">
            <a:solidFill>
              <a:schemeClr val="accent1"/>
            </a:solidFill>
            <a:prstDash val="solid"/>
            <a:round/>
            <a:headEnd type="none" w="med" len="med"/>
            <a:tailEnd type="triangle"/>
          </a:ln>
        </p:spPr>
      </p:cxnSp>
      <p:sp>
        <p:nvSpPr>
          <p:cNvPr id="61" name="矩形 60"/>
          <p:cNvSpPr/>
          <p:nvPr/>
        </p:nvSpPr>
        <p:spPr bwMode="auto">
          <a:xfrm>
            <a:off x="5383034" y="4416283"/>
            <a:ext cx="1587497" cy="341729"/>
          </a:xfrm>
          <a:prstGeom prst="rect">
            <a:avLst/>
          </a:prstGeom>
          <a:solidFill>
            <a:schemeClr val="accent3">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ctr" defTabSz="946150" fontAlgn="base">
              <a:spcBef>
                <a:spcPct val="0"/>
              </a:spcBef>
              <a:spcAft>
                <a:spcPct val="0"/>
              </a:spcAft>
            </a:pPr>
            <a:r>
              <a:rPr lang="zh-CN" altLang="en-US" sz="1200" dirty="0">
                <a:latin typeface="微软雅黑" panose="020B0503020204020204" pitchFamily="34" charset="-122"/>
                <a:ea typeface="微软雅黑" panose="020B0503020204020204" pitchFamily="34" charset="-122"/>
              </a:rPr>
              <a:t>员工业务数据清单（</a:t>
            </a:r>
            <a:r>
              <a:rPr lang="en-US" altLang="zh-CN" sz="1200" dirty="0">
                <a:latin typeface="微软雅黑" panose="020B0503020204020204" pitchFamily="34" charset="-122"/>
                <a:ea typeface="微软雅黑" panose="020B0503020204020204" pitchFamily="34" charset="-122"/>
              </a:rPr>
              <a:t>SAP</a:t>
            </a:r>
            <a:r>
              <a:rPr lang="zh-CN" altLang="en-US" sz="1200" dirty="0">
                <a:latin typeface="微软雅黑" panose="020B0503020204020204" pitchFamily="34" charset="-122"/>
                <a:ea typeface="微软雅黑" panose="020B0503020204020204" pitchFamily="34" charset="-122"/>
              </a:rPr>
              <a:t>更新版）</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目录</a:t>
            </a:r>
            <a:endParaRPr lang="zh-CN" altLang="en-US" dirty="0"/>
          </a:p>
        </p:txBody>
      </p:sp>
      <p:sp>
        <p:nvSpPr>
          <p:cNvPr id="9" name="灯片编号占位符 8"/>
          <p:cNvSpPr>
            <a:spLocks noGrp="1"/>
          </p:cNvSpPr>
          <p:nvPr>
            <p:ph type="sldNum" sz="quarter" idx="11"/>
          </p:nvPr>
        </p:nvSpPr>
        <p:spPr/>
        <p:txBody>
          <a:bodyPr/>
          <a:lstStyle/>
          <a:p>
            <a:fld id="{629B06DC-B081-48FF-B3C8-294D2105EA92}" type="slidenum">
              <a:rPr lang="zh-CN" altLang="en-US" smtClean="0"/>
            </a:fld>
            <a:endParaRPr lang="zh-CN" altLang="en-US" dirty="0"/>
          </a:p>
        </p:txBody>
      </p:sp>
      <p:sp>
        <p:nvSpPr>
          <p:cNvPr id="15" name="文本占位符 17"/>
          <p:cNvSpPr txBox="1"/>
          <p:nvPr>
            <p:custDataLst>
              <p:tags r:id="rId1"/>
            </p:custDataLst>
          </p:nvPr>
        </p:nvSpPr>
        <p:spPr>
          <a:xfrm>
            <a:off x="4456884" y="201966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项目</a:t>
            </a:r>
            <a:r>
              <a:rPr lang="zh-CN" altLang="en-US" dirty="0">
                <a:sym typeface="+mn-ea"/>
              </a:rPr>
              <a:t>总体蓝图方案</a:t>
            </a:r>
            <a:endParaRPr lang="zh-CN" altLang="en-US" dirty="0">
              <a:sym typeface="+mn-ea"/>
            </a:endParaRPr>
          </a:p>
        </p:txBody>
      </p:sp>
      <p:sp>
        <p:nvSpPr>
          <p:cNvPr id="16" name="文本占位符 17"/>
          <p:cNvSpPr txBox="1"/>
          <p:nvPr>
            <p:custDataLst>
              <p:tags r:id="rId2"/>
            </p:custDataLst>
          </p:nvPr>
        </p:nvSpPr>
        <p:spPr>
          <a:xfrm>
            <a:off x="3566160" y="201993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zh-CN" altLang="en-US" dirty="0">
                <a:sym typeface="+mn-ea"/>
              </a:rPr>
              <a:t>02</a:t>
            </a:r>
            <a:endParaRPr lang="zh-CN" altLang="en-US" dirty="0">
              <a:sym typeface="+mn-ea"/>
            </a:endParaRPr>
          </a:p>
        </p:txBody>
      </p:sp>
      <p:sp>
        <p:nvSpPr>
          <p:cNvPr id="17" name="文本占位符 17"/>
          <p:cNvSpPr txBox="1"/>
          <p:nvPr>
            <p:custDataLst>
              <p:tags r:id="rId3"/>
            </p:custDataLst>
          </p:nvPr>
        </p:nvSpPr>
        <p:spPr>
          <a:xfrm>
            <a:off x="4456884" y="286167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指标体系</a:t>
            </a:r>
            <a:r>
              <a:rPr lang="zh-CN" altLang="en-US" dirty="0"/>
              <a:t>方案</a:t>
            </a:r>
            <a:endParaRPr lang="zh-CN" altLang="en-US" dirty="0"/>
          </a:p>
        </p:txBody>
      </p:sp>
      <p:sp>
        <p:nvSpPr>
          <p:cNvPr id="18" name="文本占位符 17"/>
          <p:cNvSpPr txBox="1"/>
          <p:nvPr>
            <p:custDataLst>
              <p:tags r:id="rId4"/>
            </p:custDataLst>
          </p:nvPr>
        </p:nvSpPr>
        <p:spPr>
          <a:xfrm>
            <a:off x="3566795" y="2861945"/>
            <a:ext cx="70358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03</a:t>
            </a:r>
            <a:endParaRPr lang="en-US" altLang="zh-CN" dirty="0">
              <a:sym typeface="+mn-ea"/>
            </a:endParaRPr>
          </a:p>
        </p:txBody>
      </p:sp>
      <p:sp>
        <p:nvSpPr>
          <p:cNvPr id="19" name="文本占位符 17"/>
          <p:cNvSpPr txBox="1"/>
          <p:nvPr>
            <p:custDataLst>
              <p:tags r:id="rId5"/>
            </p:custDataLst>
          </p:nvPr>
        </p:nvSpPr>
        <p:spPr>
          <a:xfrm>
            <a:off x="4456884" y="1176715"/>
            <a:ext cx="6357357" cy="566726"/>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调研情况</a:t>
            </a:r>
            <a:r>
              <a:rPr lang="en-US" altLang="zh-CN" dirty="0">
                <a:sym typeface="+mn-ea"/>
              </a:rPr>
              <a:t>总结</a:t>
            </a:r>
            <a:endParaRPr lang="en-US" altLang="zh-CN" dirty="0">
              <a:sym typeface="+mn-ea"/>
            </a:endParaRPr>
          </a:p>
        </p:txBody>
      </p:sp>
      <p:sp>
        <p:nvSpPr>
          <p:cNvPr id="20" name="文本占位符 17"/>
          <p:cNvSpPr txBox="1"/>
          <p:nvPr>
            <p:custDataLst>
              <p:tags r:id="rId6"/>
            </p:custDataLst>
          </p:nvPr>
        </p:nvSpPr>
        <p:spPr>
          <a:xfrm>
            <a:off x="3566160" y="1176655"/>
            <a:ext cx="704850" cy="566420"/>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buClrTx/>
              <a:buSzTx/>
            </a:pPr>
            <a:r>
              <a:rPr lang="en-US" altLang="zh-CN" dirty="0">
                <a:sym typeface="+mn-ea"/>
              </a:rPr>
              <a:t>01</a:t>
            </a:r>
            <a:endParaRPr lang="en-US" altLang="zh-CN" dirty="0">
              <a:sym typeface="+mn-ea"/>
            </a:endParaRPr>
          </a:p>
        </p:txBody>
      </p:sp>
      <p:grpSp>
        <p:nvGrpSpPr>
          <p:cNvPr id="21" name="组合 20"/>
          <p:cNvGrpSpPr/>
          <p:nvPr/>
        </p:nvGrpSpPr>
        <p:grpSpPr>
          <a:xfrm>
            <a:off x="478791" y="1962677"/>
            <a:ext cx="2709862" cy="2614890"/>
            <a:chOff x="452420" y="2469667"/>
            <a:chExt cx="2560608" cy="2470867"/>
          </a:xfrm>
        </p:grpSpPr>
        <p:sp>
          <p:nvSpPr>
            <p:cNvPr id="22" name="圆形"/>
            <p:cNvSpPr/>
            <p:nvPr/>
          </p:nvSpPr>
          <p:spPr>
            <a:xfrm>
              <a:off x="452420" y="2469667"/>
              <a:ext cx="2470305" cy="2470867"/>
            </a:xfrm>
            <a:prstGeom prst="ellipse">
              <a:avLst/>
            </a:prstGeom>
            <a:solidFill>
              <a:srgbClr val="029E9A"/>
            </a:solidFill>
            <a:ln w="12700" cap="flat">
              <a:solidFill>
                <a:srgbClr val="FFFFFF"/>
              </a:solidFill>
              <a:prstDash val="solid"/>
              <a:miter lim="800000"/>
            </a:ln>
            <a:effectLst/>
          </p:spPr>
          <p:txBody>
            <a:bodyPr wrap="square" lIns="22860" tIns="22860" rIns="22860" bIns="22860" numCol="1" anchor="ctr">
              <a:noAutofit/>
            </a:bodyPr>
            <a:lstStyle/>
            <a:p>
              <a:pPr algn="ctr" defTabSz="1200150">
                <a:lnSpc>
                  <a:spcPct val="90000"/>
                </a:lnSpc>
                <a:spcBef>
                  <a:spcPts val="700"/>
                </a:spcBef>
                <a:defRPr>
                  <a:solidFill>
                    <a:srgbClr val="FFFFFF"/>
                  </a:solidFill>
                </a:defRPr>
              </a:pPr>
              <a:endParaRPr dirty="0">
                <a:latin typeface="微软雅黑" panose="020B0503020204020204" pitchFamily="34" charset="-122"/>
                <a:ea typeface="微软雅黑" panose="020B0503020204020204" pitchFamily="34" charset="-122"/>
              </a:endParaRPr>
            </a:p>
          </p:txBody>
        </p:sp>
        <p:sp>
          <p:nvSpPr>
            <p:cNvPr id="27" name="圆形"/>
            <p:cNvSpPr/>
            <p:nvPr/>
          </p:nvSpPr>
          <p:spPr>
            <a:xfrm rot="17580000">
              <a:off x="2332605" y="3465989"/>
              <a:ext cx="680418" cy="680429"/>
            </a:xfrm>
            <a:prstGeom prst="ellipse">
              <a:avLst/>
            </a:prstGeom>
            <a:solidFill>
              <a:srgbClr val="4CB7B4"/>
            </a:solidFill>
            <a:ln w="12700">
              <a:noFill/>
              <a:miter/>
            </a:ln>
          </p:spPr>
          <p:txBody>
            <a:bodyPr lIns="22860" rIns="22860"/>
            <a:lstStyle/>
            <a:p>
              <a:endParaRPr dirty="0">
                <a:latin typeface="微软雅黑" panose="020B0503020204020204" pitchFamily="34" charset="-122"/>
                <a:ea typeface="微软雅黑" panose="020B0503020204020204" pitchFamily="34" charset="-122"/>
              </a:endParaRPr>
            </a:p>
          </p:txBody>
        </p:sp>
      </p:grpSp>
      <p:sp>
        <p:nvSpPr>
          <p:cNvPr id="13" name="文本占位符 17"/>
          <p:cNvSpPr txBox="1"/>
          <p:nvPr>
            <p:custDataLst>
              <p:tags r:id="rId7"/>
            </p:custDataLst>
          </p:nvPr>
        </p:nvSpPr>
        <p:spPr>
          <a:xfrm>
            <a:off x="4456884" y="370368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基准价</a:t>
            </a:r>
            <a:r>
              <a:rPr lang="zh-CN" altLang="en-US" dirty="0">
                <a:sym typeface="+mn-ea"/>
              </a:rPr>
              <a:t>方案</a:t>
            </a:r>
            <a:endParaRPr lang="zh-CN" altLang="en-US" dirty="0">
              <a:sym typeface="+mn-ea"/>
            </a:endParaRPr>
          </a:p>
        </p:txBody>
      </p:sp>
      <p:sp>
        <p:nvSpPr>
          <p:cNvPr id="14" name="文本占位符 17"/>
          <p:cNvSpPr txBox="1"/>
          <p:nvPr>
            <p:custDataLst>
              <p:tags r:id="rId8"/>
            </p:custDataLst>
          </p:nvPr>
        </p:nvSpPr>
        <p:spPr>
          <a:xfrm>
            <a:off x="3566795" y="3703955"/>
            <a:ext cx="704850"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04</a:t>
            </a:r>
            <a:endParaRPr lang="en-US" altLang="zh-CN" dirty="0">
              <a:sym typeface="+mn-ea"/>
            </a:endParaRPr>
          </a:p>
        </p:txBody>
      </p:sp>
      <p:sp>
        <p:nvSpPr>
          <p:cNvPr id="2" name="文本占位符 17"/>
          <p:cNvSpPr txBox="1"/>
          <p:nvPr>
            <p:custDataLst>
              <p:tags r:id="rId9"/>
            </p:custDataLst>
          </p:nvPr>
        </p:nvSpPr>
        <p:spPr>
          <a:xfrm>
            <a:off x="4456249" y="4545696"/>
            <a:ext cx="6357357"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indent="0">
              <a:lnSpc>
                <a:spcPct val="90000"/>
              </a:lnSpc>
              <a:spcBef>
                <a:spcPts val="1000"/>
              </a:spcBef>
              <a:buFont typeface="Arial" panose="020B0604020202020204" pitchFamily="34" charset="0"/>
              <a:buNone/>
              <a:defRPr sz="2115" b="0" i="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ym typeface="+mn-ea"/>
              </a:rPr>
              <a:t>HR</a:t>
            </a:r>
            <a:r>
              <a:rPr lang="zh-CN" altLang="en-US" dirty="0">
                <a:sym typeface="+mn-ea"/>
              </a:rPr>
              <a:t>主数据</a:t>
            </a:r>
            <a:r>
              <a:rPr lang="zh-CN" altLang="en-US" dirty="0">
                <a:sym typeface="+mn-ea"/>
              </a:rPr>
              <a:t>方案</a:t>
            </a:r>
            <a:endParaRPr lang="zh-CN" altLang="en-US" dirty="0">
              <a:sym typeface="+mn-ea"/>
            </a:endParaRPr>
          </a:p>
        </p:txBody>
      </p:sp>
      <p:sp>
        <p:nvSpPr>
          <p:cNvPr id="3" name="文本占位符 17"/>
          <p:cNvSpPr txBox="1"/>
          <p:nvPr>
            <p:custDataLst>
              <p:tags r:id="rId10"/>
            </p:custDataLst>
          </p:nvPr>
        </p:nvSpPr>
        <p:spPr>
          <a:xfrm>
            <a:off x="3566795" y="4545965"/>
            <a:ext cx="701675" cy="565785"/>
          </a:xfrm>
          <a:prstGeom prst="roundRect">
            <a:avLst/>
          </a:prstGeom>
          <a:solidFill>
            <a:srgbClr val="1A757E">
              <a:alpha val="10000"/>
            </a:srgbClr>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defPPr marL="0" marR="0" indent="0" algn="l" defTabSz="457200" rtl="0" fontAlgn="auto" latinLnBrk="1" hangingPunct="0">
              <a:lnSpc>
                <a:spcPct val="100000"/>
              </a:lnSpc>
              <a:spcBef>
                <a:spcPts val="0"/>
              </a:spcBef>
              <a:spcAft>
                <a:spcPts val="0"/>
              </a:spcAft>
              <a:buClrTx/>
              <a:buSzTx/>
              <a:buFontTx/>
              <a:buNone/>
              <a:defRPr kumimoji="0" lang="zh-CN" sz="900" b="0" i="0" u="none" strike="noStrike" cap="none" spc="0" normalizeH="0" baseline="0">
                <a:ln>
                  <a:noFill/>
                </a:ln>
                <a:solidFill>
                  <a:srgbClr val="000000"/>
                </a:solidFill>
                <a:effectLst/>
                <a:uFillTx/>
              </a:defRPr>
            </a:defPPr>
            <a:lvl1pPr algn="ctr">
              <a:lnSpc>
                <a:spcPct val="90000"/>
              </a:lnSpc>
              <a:spcBef>
                <a:spcPts val="1000"/>
              </a:spcBef>
              <a:buFont typeface="Arial" panose="020B0604020202020204" pitchFamily="34" charset="0"/>
              <a:defRPr sz="2540" b="0">
                <a:solidFill>
                  <a:srgbClr val="07393D"/>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Tx/>
              <a:buSzTx/>
            </a:pPr>
            <a:r>
              <a:rPr lang="en-US" altLang="zh-CN" dirty="0">
                <a:sym typeface="+mn-ea"/>
              </a:rPr>
              <a:t>05</a:t>
            </a:r>
            <a:endParaRPr lang="en-US" altLang="zh-CN" dirty="0">
              <a:sym typeface="+mn-ea"/>
            </a:endParaRPr>
          </a:p>
        </p:txBody>
      </p:sp>
      <p:sp>
        <p:nvSpPr>
          <p:cNvPr id="5" name="文本占位符 17"/>
          <p:cNvSpPr txBox="1"/>
          <p:nvPr>
            <p:custDataLst>
              <p:tags r:id="rId11"/>
            </p:custDataLst>
          </p:nvPr>
        </p:nvSpPr>
        <p:spPr>
          <a:xfrm>
            <a:off x="4456249" y="5387706"/>
            <a:ext cx="6357357"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下一步计划</a:t>
            </a:r>
            <a:endParaRPr lang="zh-CN" altLang="en-US" dirty="0">
              <a:sym typeface="+mn-ea"/>
            </a:endParaRPr>
          </a:p>
        </p:txBody>
      </p:sp>
      <p:sp>
        <p:nvSpPr>
          <p:cNvPr id="6" name="文本占位符 17"/>
          <p:cNvSpPr txBox="1"/>
          <p:nvPr>
            <p:custDataLst>
              <p:tags r:id="rId12"/>
            </p:custDataLst>
          </p:nvPr>
        </p:nvSpPr>
        <p:spPr>
          <a:xfrm>
            <a:off x="3566160" y="5387975"/>
            <a:ext cx="702945" cy="565785"/>
          </a:xfrm>
          <a:prstGeom prst="roundRect">
            <a:avLst/>
          </a:prstGeom>
          <a:solidFill>
            <a:srgbClr val="4CB7B4"/>
          </a:solidFill>
          <a:ln w="15875"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20" tIns="34290" rIns="68579" bIns="34290" numCol="1" spcCol="0" rtlCol="0" fromWordArt="0" anchor="ctr" anchorCtr="0" forceAA="0" compatLnSpc="1">
            <a:noAutofit/>
          </a:bodyPr>
          <a:lstStyle>
            <a:defPPr>
              <a:defRPr lang="zh-CN"/>
            </a:defPPr>
            <a:lvl1pPr lvl="0" indent="0" defTabSz="914400" eaLnBrk="0" fontAlgn="base">
              <a:lnSpc>
                <a:spcPct val="100000"/>
              </a:lnSpc>
              <a:spcBef>
                <a:spcPct val="0"/>
              </a:spcBef>
              <a:spcAft>
                <a:spcPct val="0"/>
              </a:spcAft>
              <a:buClrTx/>
              <a:buSzTx/>
              <a:buFont typeface="Arial" panose="020B0604020202020204" pitchFamily="34" charset="0"/>
              <a:buNone/>
              <a:defRPr sz="2115" b="1" i="0">
                <a:solidFill>
                  <a:prstClr val="white"/>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l"/>
            <a:r>
              <a:rPr lang="zh-CN" altLang="en-US" dirty="0">
                <a:sym typeface="+mn-ea"/>
              </a:rPr>
              <a:t>06</a:t>
            </a:r>
            <a:endParaRPr lang="zh-CN" altLang="en-US" dirty="0">
              <a:sym typeface="+mn-ea"/>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项目下一步</a:t>
            </a:r>
            <a:r>
              <a:rPr lang="zh-CN" altLang="en-US" dirty="0"/>
              <a:t>计划</a:t>
            </a:r>
            <a:endParaRPr lang="zh-CN" altLang="en-US" dirty="0"/>
          </a:p>
        </p:txBody>
      </p:sp>
      <p:sp>
        <p:nvSpPr>
          <p:cNvPr id="3" name="灯片编号占位符 2"/>
          <p:cNvSpPr>
            <a:spLocks noGrp="1"/>
          </p:cNvSpPr>
          <p:nvPr>
            <p:ph type="sldNum" sz="quarter" idx="11"/>
          </p:nvPr>
        </p:nvSpPr>
        <p:spPr/>
        <p:txBody>
          <a:bodyPr/>
          <a:lstStyle/>
          <a:p>
            <a:fld id="{629B06DC-B081-48FF-B3C8-294D2105EA92}"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576580" y="1129665"/>
            <a:ext cx="10879455" cy="4737735"/>
          </a:xfrm>
          <a:prstGeom prst="rect">
            <a:avLst/>
          </a:prstGeom>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2te9ksg9SSKVtR7_nW43sA"/>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DIAGRAM_VIRTUALLY_FRAME" val="{&quot;height&quot;:424.7566929133858,&quot;left&quot;:280.8,&quot;top&quot;:92.65,&quot;width&quot;:580.9650393700788}"/>
</p:tagLst>
</file>

<file path=ppt/tags/tag11.xml><?xml version="1.0" encoding="utf-8"?>
<p:tagLst xmlns:p="http://schemas.openxmlformats.org/presentationml/2006/main">
  <p:tag name="KSO_WM_DIAGRAM_VIRTUALLY_FRAME" val="{&quot;height&quot;:424.7566929133858,&quot;left&quot;:280.8,&quot;top&quot;:92.65,&quot;width&quot;:580.9650393700788}"/>
</p:tagLst>
</file>

<file path=ppt/tags/tag12.xml><?xml version="1.0" encoding="utf-8"?>
<p:tagLst xmlns:p="http://schemas.openxmlformats.org/presentationml/2006/main">
  <p:tag name="KSO_WM_DIAGRAM_VIRTUALLY_FRAME" val="{&quot;height&quot;:424.7566929133858,&quot;left&quot;:280.8,&quot;top&quot;:92.65,&quot;width&quot;:580.9650393700788}"/>
</p:tagLst>
</file>

<file path=ppt/tags/tag13.xml><?xml version="1.0" encoding="utf-8"?>
<p:tagLst xmlns:p="http://schemas.openxmlformats.org/presentationml/2006/main">
  <p:tag name="KSO_WM_DIAGRAM_VIRTUALLY_FRAME" val="{&quot;height&quot;:424.7566929133858,&quot;left&quot;:280.8,&quot;top&quot;:92.65,&quot;width&quot;:580.9650393700788}"/>
</p:tagLst>
</file>

<file path=ppt/tags/tag14.xml><?xml version="1.0" encoding="utf-8"?>
<p:tagLst xmlns:p="http://schemas.openxmlformats.org/presentationml/2006/main">
  <p:tag name="KSO_WM_DIAGRAM_VIRTUALLY_FRAME" val="{&quot;height&quot;:424.7566929133858,&quot;left&quot;:280.8,&quot;top&quot;:92.65,&quot;width&quot;:580.9650393700788}"/>
</p:tagLst>
</file>

<file path=ppt/tags/tag15.xml><?xml version="1.0" encoding="utf-8"?>
<p:tagLst xmlns:p="http://schemas.openxmlformats.org/presentationml/2006/main">
  <p:tag name="KSO_WM_DIAGRAM_VIRTUALLY_FRAME" val="{&quot;height&quot;:424.7566929133858,&quot;left&quot;:280.8,&quot;top&quot;:92.65,&quot;width&quot;:580.9650393700788}"/>
</p:tagLst>
</file>

<file path=ppt/tags/tag16.xml><?xml version="1.0" encoding="utf-8"?>
<p:tagLst xmlns:p="http://schemas.openxmlformats.org/presentationml/2006/main">
  <p:tag name="KSO_WM_DIAGRAM_VIRTUALLY_FRAME" val="{&quot;height&quot;:424.7566929133858,&quot;left&quot;:280.8,&quot;top&quot;:92.65,&quot;width&quot;:580.9650393700788}"/>
</p:tagLst>
</file>

<file path=ppt/tags/tag17.xml><?xml version="1.0" encoding="utf-8"?>
<p:tagLst xmlns:p="http://schemas.openxmlformats.org/presentationml/2006/main">
  <p:tag name="KSO_WM_DIAGRAM_VIRTUALLY_FRAME" val="{&quot;height&quot;:424.7566929133858,&quot;left&quot;:280.8,&quot;top&quot;:92.65,&quot;width&quot;:580.9650393700788}"/>
</p:tagLst>
</file>

<file path=ppt/tags/tag18.xml><?xml version="1.0" encoding="utf-8"?>
<p:tagLst xmlns:p="http://schemas.openxmlformats.org/presentationml/2006/main">
  <p:tag name="KSO_WM_DIAGRAM_VIRTUALLY_FRAME" val="{&quot;height&quot;:424.7566929133858,&quot;left&quot;:280.8,&quot;top&quot;:92.65,&quot;width&quot;:580.9650393700788}"/>
</p:tagLst>
</file>

<file path=ppt/tags/tag19.xml><?xml version="1.0" encoding="utf-8"?>
<p:tagLst xmlns:p="http://schemas.openxmlformats.org/presentationml/2006/main">
  <p:tag name="KSO_WM_DIAGRAM_VIRTUALLY_FRAME" val="{&quot;height&quot;:424.7566929133858,&quot;left&quot;:280.8,&quot;top&quot;:92.65,&quot;width&quot;:580.9650393700788}"/>
</p:tagLst>
</file>

<file path=ppt/tags/tag20.xml><?xml version="1.0" encoding="utf-8"?>
<p:tagLst xmlns:p="http://schemas.openxmlformats.org/presentationml/2006/main">
  <p:tag name="KSO_WM_DIAGRAM_VIRTUALLY_FRAME" val="{&quot;height&quot;:424.7566929133858,&quot;left&quot;:280.8,&quot;top&quot;:92.65,&quot;width&quot;:580.9650393700788}"/>
</p:tagLst>
</file>

<file path=ppt/tags/tag21.xml><?xml version="1.0" encoding="utf-8"?>
<p:tagLst xmlns:p="http://schemas.openxmlformats.org/presentationml/2006/main">
  <p:tag name="KSO_WM_DIAGRAM_VIRTUALLY_FRAME" val="{&quot;height&quot;:424.7566929133858,&quot;left&quot;:280.8,&quot;top&quot;:92.65,&quot;width&quot;:580.9650393700788}"/>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DIAGRAM_VIRTUALLY_FRAME" val="{&quot;height&quot;:424.7566929133858,&quot;left&quot;:280.8,&quot;top&quot;:92.65,&quot;width&quot;:580.9650393700788}"/>
</p:tagLst>
</file>

<file path=ppt/tags/tag56.xml><?xml version="1.0" encoding="utf-8"?>
<p:tagLst xmlns:p="http://schemas.openxmlformats.org/presentationml/2006/main">
  <p:tag name="KSO_WM_DIAGRAM_VIRTUALLY_FRAME" val="{&quot;height&quot;:424.7566929133858,&quot;left&quot;:280.8,&quot;top&quot;:92.65,&quot;width&quot;:580.9650393700788}"/>
</p:tagLst>
</file>

<file path=ppt/tags/tag57.xml><?xml version="1.0" encoding="utf-8"?>
<p:tagLst xmlns:p="http://schemas.openxmlformats.org/presentationml/2006/main">
  <p:tag name="KSO_WM_DIAGRAM_VIRTUALLY_FRAME" val="{&quot;height&quot;:424.7566929133858,&quot;left&quot;:280.8,&quot;top&quot;:92.65,&quot;width&quot;:580.9650393700788}"/>
</p:tagLst>
</file>

<file path=ppt/tags/tag58.xml><?xml version="1.0" encoding="utf-8"?>
<p:tagLst xmlns:p="http://schemas.openxmlformats.org/presentationml/2006/main">
  <p:tag name="KSO_WM_DIAGRAM_VIRTUALLY_FRAME" val="{&quot;height&quot;:424.7566929133858,&quot;left&quot;:280.8,&quot;top&quot;:92.65,&quot;width&quot;:580.9650393700788}"/>
</p:tagLst>
</file>

<file path=ppt/tags/tag59.xml><?xml version="1.0" encoding="utf-8"?>
<p:tagLst xmlns:p="http://schemas.openxmlformats.org/presentationml/2006/main">
  <p:tag name="KSO_WM_DIAGRAM_VIRTUALLY_FRAME" val="{&quot;height&quot;:424.7566929133858,&quot;left&quot;:280.8,&quot;top&quot;:92.65,&quot;width&quot;:580.9650393700788}"/>
</p:tagLst>
</file>

<file path=ppt/tags/tag60.xml><?xml version="1.0" encoding="utf-8"?>
<p:tagLst xmlns:p="http://schemas.openxmlformats.org/presentationml/2006/main">
  <p:tag name="KSO_WM_DIAGRAM_VIRTUALLY_FRAME" val="{&quot;height&quot;:424.7566929133858,&quot;left&quot;:280.8,&quot;top&quot;:92.65,&quot;width&quot;:580.9650393700788}"/>
</p:tagLst>
</file>

<file path=ppt/tags/tag61.xml><?xml version="1.0" encoding="utf-8"?>
<p:tagLst xmlns:p="http://schemas.openxmlformats.org/presentationml/2006/main">
  <p:tag name="KSO_WM_DIAGRAM_VIRTUALLY_FRAME" val="{&quot;height&quot;:424.7566929133858,&quot;left&quot;:280.8,&quot;top&quot;:92.65,&quot;width&quot;:580.9650393700788}"/>
</p:tagLst>
</file>

<file path=ppt/tags/tag62.xml><?xml version="1.0" encoding="utf-8"?>
<p:tagLst xmlns:p="http://schemas.openxmlformats.org/presentationml/2006/main">
  <p:tag name="KSO_WM_DIAGRAM_VIRTUALLY_FRAME" val="{&quot;height&quot;:424.7566929133858,&quot;left&quot;:280.8,&quot;top&quot;:92.65,&quot;width&quot;:580.9650393700788}"/>
</p:tagLst>
</file>

<file path=ppt/tags/tag63.xml><?xml version="1.0" encoding="utf-8"?>
<p:tagLst xmlns:p="http://schemas.openxmlformats.org/presentationml/2006/main">
  <p:tag name="KSO_WM_DIAGRAM_VIRTUALLY_FRAME" val="{&quot;height&quot;:424.7566929133858,&quot;left&quot;:280.8,&quot;top&quot;:92.65,&quot;width&quot;:580.9650393700788}"/>
</p:tagLst>
</file>

<file path=ppt/tags/tag64.xml><?xml version="1.0" encoding="utf-8"?>
<p:tagLst xmlns:p="http://schemas.openxmlformats.org/presentationml/2006/main">
  <p:tag name="KSO_WM_DIAGRAM_VIRTUALLY_FRAME" val="{&quot;height&quot;:424.7566929133858,&quot;left&quot;:280.8,&quot;top&quot;:92.65,&quot;width&quot;:580.9650393700788}"/>
</p:tagLst>
</file>

<file path=ppt/tags/tag65.xml><?xml version="1.0" encoding="utf-8"?>
<p:tagLst xmlns:p="http://schemas.openxmlformats.org/presentationml/2006/main">
  <p:tag name="KSO_WM_DIAGRAM_VIRTUALLY_FRAME" val="{&quot;height&quot;:424.7566929133858,&quot;left&quot;:280.8,&quot;top&quot;:92.65,&quot;width&quot;:580.9650393700788}"/>
</p:tagLst>
</file>

<file path=ppt/tags/tag66.xml><?xml version="1.0" encoding="utf-8"?>
<p:tagLst xmlns:p="http://schemas.openxmlformats.org/presentationml/2006/main">
  <p:tag name="KSO_WM_DIAGRAM_VIRTUALLY_FRAME" val="{&quot;height&quot;:424.7566929133858,&quot;left&quot;:280.8,&quot;top&quot;:92.65,&quot;width&quot;:580.9650393700788}"/>
</p:tagLst>
</file>

<file path=ppt/tags/tag67.xml><?xml version="1.0" encoding="utf-8"?>
<p:tagLst xmlns:p="http://schemas.openxmlformats.org/presentationml/2006/main">
  <p:tag name="KSO_WM_DIAGRAM_VIRTUALLY_FRAME" val="{&quot;height&quot;:424.7566929133858,&quot;left&quot;:280.8,&quot;top&quot;:92.65,&quot;width&quot;:580.9650393700788}"/>
</p:tagLst>
</file>

<file path=ppt/tags/tag68.xml><?xml version="1.0" encoding="utf-8"?>
<p:tagLst xmlns:p="http://schemas.openxmlformats.org/presentationml/2006/main">
  <p:tag name="KSO_WM_DIAGRAM_VIRTUALLY_FRAME" val="{&quot;height&quot;:424.7566929133858,&quot;left&quot;:280.8,&quot;top&quot;:92.65,&quot;width&quot;:580.9650393700788}"/>
</p:tagLst>
</file>

<file path=ppt/tags/tag69.xml><?xml version="1.0" encoding="utf-8"?>
<p:tagLst xmlns:p="http://schemas.openxmlformats.org/presentationml/2006/main">
  <p:tag name="KSO_WM_DIAGRAM_VIRTUALLY_FRAME" val="{&quot;height&quot;:424.7566929133858,&quot;left&quot;:280.8,&quot;top&quot;:92.65,&quot;width&quot;:580.9650393700788}"/>
</p:tagLst>
</file>

<file path=ppt/tags/tag70.xml><?xml version="1.0" encoding="utf-8"?>
<p:tagLst xmlns:p="http://schemas.openxmlformats.org/presentationml/2006/main">
  <p:tag name="KSO_WM_DIAGRAM_VIRTUALLY_FRAME" val="{&quot;height&quot;:424.7566929133858,&quot;left&quot;:280.8,&quot;top&quot;:92.65,&quot;width&quot;:580.9650393700788}"/>
</p:tagLst>
</file>

<file path=ppt/tags/tag71.xml><?xml version="1.0" encoding="utf-8"?>
<p:tagLst xmlns:p="http://schemas.openxmlformats.org/presentationml/2006/main">
  <p:tag name="KSO_WM_DIAGRAM_VIRTUALLY_FRAME" val="{&quot;height&quot;:424.7566929133858,&quot;left&quot;:280.8,&quot;top&quot;:92.65,&quot;width&quot;:580.9650393700788}"/>
</p:tagLst>
</file>

<file path=ppt/tags/tag72.xml><?xml version="1.0" encoding="utf-8"?>
<p:tagLst xmlns:p="http://schemas.openxmlformats.org/presentationml/2006/main">
  <p:tag name="KSO_WM_DIAGRAM_VIRTUALLY_FRAME" val="{&quot;height&quot;:424.7566929133858,&quot;left&quot;:280.8,&quot;top&quot;:92.65,&quot;width&quot;:580.9650393700788}"/>
</p:tagLst>
</file>

<file path=ppt/tags/tag73.xml><?xml version="1.0" encoding="utf-8"?>
<p:tagLst xmlns:p="http://schemas.openxmlformats.org/presentationml/2006/main">
  <p:tag name="KSO_WM_DIAGRAM_VIRTUALLY_FRAME" val="{&quot;height&quot;:424.7566929133858,&quot;left&quot;:280.8,&quot;top&quot;:92.65,&quot;width&quot;:580.9650393700788}"/>
</p:tagLst>
</file>

<file path=ppt/tags/tag74.xml><?xml version="1.0" encoding="utf-8"?>
<p:tagLst xmlns:p="http://schemas.openxmlformats.org/presentationml/2006/main">
  <p:tag name="KSO_WM_DIAGRAM_VIRTUALLY_FRAME" val="{&quot;height&quot;:424.7566929133858,&quot;left&quot;:280.8,&quot;top&quot;:92.65,&quot;width&quot;:580.9650393700788}"/>
</p:tagLst>
</file>

<file path=ppt/tags/tag75.xml><?xml version="1.0" encoding="utf-8"?>
<p:tagLst xmlns:p="http://schemas.openxmlformats.org/presentationml/2006/main">
  <p:tag name="KSO_WM_DIAGRAM_VIRTUALLY_FRAME" val="{&quot;height&quot;:424.7566929133858,&quot;left&quot;:280.8,&quot;top&quot;:92.65,&quot;width&quot;:580.9650393700788}"/>
</p:tagLst>
</file>

<file path=ppt/tags/tag76.xml><?xml version="1.0" encoding="utf-8"?>
<p:tagLst xmlns:p="http://schemas.openxmlformats.org/presentationml/2006/main">
  <p:tag name="KSO_WM_DIAGRAM_VIRTUALLY_FRAME" val="{&quot;height&quot;:424.7566929133858,&quot;left&quot;:280.8,&quot;top&quot;:92.65,&quot;width&quot;:580.9650393700788}"/>
</p:tagLst>
</file>

<file path=ppt/tags/tag77.xml><?xml version="1.0" encoding="utf-8"?>
<p:tagLst xmlns:p="http://schemas.openxmlformats.org/presentationml/2006/main">
  <p:tag name="KSO_WM_DIAGRAM_VIRTUALLY_FRAME" val="{&quot;height&quot;:424.7566929133858,&quot;left&quot;:280.8,&quot;top&quot;:92.65,&quot;width&quot;:580.9650393700788}"/>
</p:tagLst>
</file>

<file path=ppt/tags/tag78.xml><?xml version="1.0" encoding="utf-8"?>
<p:tagLst xmlns:p="http://schemas.openxmlformats.org/presentationml/2006/main">
  <p:tag name="KSO_WM_DIAGRAM_VIRTUALLY_FRAME" val="{&quot;height&quot;:424.7566929133858,&quot;left&quot;:280.8,&quot;top&quot;:92.65,&quot;width&quot;:580.9650393700788}"/>
</p:tagLst>
</file>

<file path=ppt/tags/tag79.xml><?xml version="1.0" encoding="utf-8"?>
<p:tagLst xmlns:p="http://schemas.openxmlformats.org/presentationml/2006/main">
  <p:tag name="KSO_WM_DIAGRAM_VIRTUALLY_FRAME" val="{&quot;height&quot;:424.7566929133858,&quot;left&quot;:280.8,&quot;top&quot;:92.65,&quot;width&quot;:580.9650393700788}"/>
</p:tagLst>
</file>

<file path=ppt/tags/tag80.xml><?xml version="1.0" encoding="utf-8"?>
<p:tagLst xmlns:p="http://schemas.openxmlformats.org/presentationml/2006/main">
  <p:tag name="KSO_WM_DIAGRAM_VIRTUALLY_FRAME" val="{&quot;height&quot;:424.7566929133858,&quot;left&quot;:280.8,&quot;top&quot;:92.65,&quot;width&quot;:580.9650393700788}"/>
</p:tagLst>
</file>

<file path=ppt/tags/tag81.xml><?xml version="1.0" encoding="utf-8"?>
<p:tagLst xmlns:p="http://schemas.openxmlformats.org/presentationml/2006/main">
  <p:tag name="KSO_WM_DIAGRAM_VIRTUALLY_FRAME" val="{&quot;height&quot;:424.7566929133858,&quot;left&quot;:280.8,&quot;top&quot;:92.65,&quot;width&quot;:580.9650393700788}"/>
</p:tagLst>
</file>

<file path=ppt/tags/tag82.xml><?xml version="1.0" encoding="utf-8"?>
<p:tagLst xmlns:p="http://schemas.openxmlformats.org/presentationml/2006/main">
  <p:tag name="KSO_WM_DIAGRAM_VIRTUALLY_FRAME" val="{&quot;height&quot;:424.7566929133858,&quot;left&quot;:280.8,&quot;top&quot;:92.65,&quot;width&quot;:580.9650393700788}"/>
</p:tagLst>
</file>

<file path=ppt/tags/tag83.xml><?xml version="1.0" encoding="utf-8"?>
<p:tagLst xmlns:p="http://schemas.openxmlformats.org/presentationml/2006/main">
  <p:tag name="KSO_WM_DIAGRAM_VIRTUALLY_FRAME" val="{&quot;height&quot;:424.7566929133858,&quot;left&quot;:280.8,&quot;top&quot;:92.65,&quot;width&quot;:580.9650393700788}"/>
</p:tagLst>
</file>

<file path=ppt/tags/tag84.xml><?xml version="1.0" encoding="utf-8"?>
<p:tagLst xmlns:p="http://schemas.openxmlformats.org/presentationml/2006/main">
  <p:tag name="KSO_WM_DIAGRAM_VIRTUALLY_FRAME" val="{&quot;height&quot;:424.7566929133858,&quot;left&quot;:280.8,&quot;top&quot;:92.65,&quot;width&quot;:580.9650393700788}"/>
</p:tagLst>
</file>

<file path=ppt/tags/tag85.xml><?xml version="1.0" encoding="utf-8"?>
<p:tagLst xmlns:p="http://schemas.openxmlformats.org/presentationml/2006/main">
  <p:tag name="KSO_WM_DIAGRAM_VIRTUALLY_FRAME" val="{&quot;height&quot;:424.7566929133858,&quot;left&quot;:280.8,&quot;top&quot;:92.65,&quot;width&quot;:580.9650393700788}"/>
</p:tagLst>
</file>

<file path=ppt/tags/tag86.xml><?xml version="1.0" encoding="utf-8"?>
<p:tagLst xmlns:p="http://schemas.openxmlformats.org/presentationml/2006/main">
  <p:tag name="KSO_WM_DIAGRAM_VIRTUALLY_FRAME" val="{&quot;height&quot;:424.7566929133858,&quot;left&quot;:280.8,&quot;top&quot;:92.65,&quot;width&quot;:580.9650393700788}"/>
</p:tagLst>
</file>

<file path=ppt/tags/tag87.xml><?xml version="1.0" encoding="utf-8"?>
<p:tagLst xmlns:p="http://schemas.openxmlformats.org/presentationml/2006/main">
  <p:tag name="KSO_WM_DIAGRAM_VIRTUALLY_FRAME" val="{&quot;height&quot;:424.7566929133858,&quot;left&quot;:280.8,&quot;top&quot;:92.65,&quot;width&quot;:580.9650393700788}"/>
</p:tagLst>
</file>

<file path=ppt/tags/tag88.xml><?xml version="1.0" encoding="utf-8"?>
<p:tagLst xmlns:p="http://schemas.openxmlformats.org/presentationml/2006/main">
  <p:tag name="KSO_WM_DIAGRAM_VIRTUALLY_FRAME" val="{&quot;height&quot;:424.7566929133858,&quot;left&quot;:280.8,&quot;top&quot;:92.65,&quot;width&quot;:580.9650393700788}"/>
</p:tagLst>
</file>

<file path=ppt/tags/tag89.xml><?xml version="1.0" encoding="utf-8"?>
<p:tagLst xmlns:p="http://schemas.openxmlformats.org/presentationml/2006/main">
  <p:tag name="KSO_WM_DIAGRAM_VIRTUALLY_FRAME" val="{&quot;height&quot;:424.7566929133858,&quot;left&quot;:280.8,&quot;top&quot;:92.65,&quot;width&quot;:580.9650393700788}"/>
</p:tagLst>
</file>

<file path=ppt/tags/tag90.xml><?xml version="1.0" encoding="utf-8"?>
<p:tagLst xmlns:p="http://schemas.openxmlformats.org/presentationml/2006/main">
  <p:tag name="KSO_WM_DIAGRAM_VIRTUALLY_FRAME" val="{&quot;height&quot;:424.7566929133858,&quot;left&quot;:280.8,&quot;top&quot;:92.65,&quot;width&quot;:580.9650393700788}"/>
</p:tagLst>
</file>

<file path=ppt/tags/tag91.xml><?xml version="1.0" encoding="utf-8"?>
<p:tagLst xmlns:p="http://schemas.openxmlformats.org/presentationml/2006/main">
  <p:tag name="KSO_WM_DIAGRAM_VIRTUALLY_FRAME" val="{&quot;height&quot;:424.7566929133858,&quot;left&quot;:280.8,&quot;top&quot;:92.65,&quot;width&quot;:580.9650393700788}"/>
</p:tagLst>
</file>

<file path=ppt/tags/tag92.xml><?xml version="1.0" encoding="utf-8"?>
<p:tagLst xmlns:p="http://schemas.openxmlformats.org/presentationml/2006/main">
  <p:tag name="KSO_WM_DIAGRAM_VIRTUALLY_FRAME" val="{&quot;height&quot;:424.7566929133858,&quot;left&quot;:280.8,&quot;top&quot;:92.65,&quot;width&quot;:580.9650393700788}"/>
</p:tagLst>
</file>

<file path=ppt/tags/tag93.xml><?xml version="1.0" encoding="utf-8"?>
<p:tagLst xmlns:p="http://schemas.openxmlformats.org/presentationml/2006/main">
  <p:tag name="KSO_WM_DIAGRAM_VIRTUALLY_FRAME" val="{&quot;height&quot;:424.7566929133858,&quot;left&quot;:280.8,&quot;top&quot;:92.65,&quot;width&quot;:580.9650393700788}"/>
</p:tagLst>
</file>

<file path=ppt/tags/tag94.xml><?xml version="1.0" encoding="utf-8"?>
<p:tagLst xmlns:p="http://schemas.openxmlformats.org/presentationml/2006/main">
  <p:tag name="KSO_WM_DIAGRAM_VIRTUALLY_FRAME" val="{&quot;height&quot;:424.7566929133858,&quot;left&quot;:280.8,&quot;top&quot;:92.65,&quot;width&quot;:580.9650393700788}"/>
</p:tagLst>
</file>

<file path=ppt/tags/tag95.xml><?xml version="1.0" encoding="utf-8"?>
<p:tagLst xmlns:p="http://schemas.openxmlformats.org/presentationml/2006/main">
  <p:tag name="KSO_WM_DIAGRAM_VIRTUALLY_FRAME" val="{&quot;height&quot;:424.7566929133858,&quot;left&quot;:280.8,&quot;top&quot;:92.65,&quot;width&quot;:580.9650393700788}"/>
</p:tagLst>
</file>

<file path=ppt/tags/tag96.xml><?xml version="1.0" encoding="utf-8"?>
<p:tagLst xmlns:p="http://schemas.openxmlformats.org/presentationml/2006/main">
  <p:tag name="KSO_WM_DIAGRAM_VIRTUALLY_FRAME" val="{&quot;height&quot;:424.7566929133858,&quot;left&quot;:280.8,&quot;top&quot;:92.65,&quot;width&quot;:580.9650393700788}"/>
</p:tagLst>
</file>

<file path=ppt/tags/tag97.xml><?xml version="1.0" encoding="utf-8"?>
<p:tagLst xmlns:p="http://schemas.openxmlformats.org/presentationml/2006/main">
  <p:tag name="KSO_WM_DIAGRAM_VIRTUALLY_FRAME" val="{&quot;height&quot;:424.7566929133858,&quot;left&quot;:280.8,&quot;top&quot;:92.65,&quot;width&quot;:580.9650393700788}"/>
</p:tagLst>
</file>

<file path=ppt/tags/tag98.xml><?xml version="1.0" encoding="utf-8"?>
<p:tagLst xmlns:p="http://schemas.openxmlformats.org/presentationml/2006/main">
  <p:tag name="KSO_WM_DIAGRAM_VIRTUALLY_FRAME" val="{&quot;height&quot;:424.7566929133858,&quot;left&quot;:280.8,&quot;top&quot;:92.65,&quot;width&quot;:580.9650393700788}"/>
</p:tagLst>
</file>

<file path=ppt/tags/tag99.xml><?xml version="1.0" encoding="utf-8"?>
<p:tagLst xmlns:p="http://schemas.openxmlformats.org/presentationml/2006/main">
  <p:tag name="KSO_WM_DIAGRAM_VIRTUALLY_FRAME" val="{&quot;height&quot;:424.7566929133858,&quot;left&quot;:280.8,&quot;top&quot;:92.65,&quot;width&quot;:580.9650393700788}"/>
</p:tagLst>
</file>

<file path=ppt/tags/tag100.xml><?xml version="1.0" encoding="utf-8"?>
<p:tagLst xmlns:p="http://schemas.openxmlformats.org/presentationml/2006/main">
  <p:tag name="KSO_WM_DIAGRAM_VIRTUALLY_FRAME" val="{&quot;height&quot;:424.7566929133858,&quot;left&quot;:280.8,&quot;top&quot;:92.65,&quot;width&quot;:580.9650393700788}"/>
</p:tagLst>
</file>

<file path=ppt/tags/tag101.xml><?xml version="1.0" encoding="utf-8"?>
<p:tagLst xmlns:p="http://schemas.openxmlformats.org/presentationml/2006/main">
  <p:tag name="KSO_WM_DIAGRAM_VIRTUALLY_FRAME" val="{&quot;height&quot;:424.7566929133858,&quot;left&quot;:280.8,&quot;top&quot;:92.65,&quot;width&quot;:580.9650393700788}"/>
</p:tagLst>
</file>

<file path=ppt/tags/tag102.xml><?xml version="1.0" encoding="utf-8"?>
<p:tagLst xmlns:p="http://schemas.openxmlformats.org/presentationml/2006/main">
  <p:tag name="KSO_WM_DIAGRAM_VIRTUALLY_FRAME" val="{&quot;height&quot;:424.7566929133858,&quot;left&quot;:280.8,&quot;top&quot;:92.65,&quot;width&quot;:580.9650393700788}"/>
</p:tagLst>
</file>

<file path=ppt/tags/tag103.xml><?xml version="1.0" encoding="utf-8"?>
<p:tagLst xmlns:p="http://schemas.openxmlformats.org/presentationml/2006/main">
  <p:tag name="KSO_WM_DIAGRAM_VIRTUALLY_FRAME" val="{&quot;height&quot;:424.7566929133858,&quot;left&quot;:280.8,&quot;top&quot;:92.65,&quot;width&quot;:580.9650393700788}"/>
</p:tagLst>
</file>

<file path=ppt/tags/tag104.xml><?xml version="1.0" encoding="utf-8"?>
<p:tagLst xmlns:p="http://schemas.openxmlformats.org/presentationml/2006/main">
  <p:tag name="KSO_WM_DIAGRAM_VIRTUALLY_FRAME" val="{&quot;height&quot;:424.7566929133858,&quot;left&quot;:280.8,&quot;top&quot;:92.65,&quot;width&quot;:580.9650393700788}"/>
</p:tagLst>
</file>

<file path=ppt/tags/tag105.xml><?xml version="1.0" encoding="utf-8"?>
<p:tagLst xmlns:p="http://schemas.openxmlformats.org/presentationml/2006/main">
  <p:tag name="KSO_WM_DIAGRAM_VIRTUALLY_FRAME" val="{&quot;height&quot;:424.7566929133858,&quot;left&quot;:280.8,&quot;top&quot;:92.65,&quot;width&quot;:580.9650393700788}"/>
</p:tagLst>
</file>

<file path=ppt/tags/tag106.xml><?xml version="1.0" encoding="utf-8"?>
<p:tagLst xmlns:p="http://schemas.openxmlformats.org/presentationml/2006/main">
  <p:tag name="KSO_WM_DIAGRAM_VIRTUALLY_FRAME" val="{&quot;height&quot;:424.7566929133858,&quot;left&quot;:280.8,&quot;top&quot;:92.65,&quot;width&quot;:580.9650393700788}"/>
</p:tagLst>
</file>

<file path=ppt/tags/tag107.xml><?xml version="1.0" encoding="utf-8"?>
<p:tagLst xmlns:p="http://schemas.openxmlformats.org/presentationml/2006/main">
  <p:tag name="KSO_WM_DIAGRAM_VIRTUALLY_FRAME" val="{&quot;height&quot;:424.7566929133858,&quot;left&quot;:280.8,&quot;top&quot;:92.65,&quot;width&quot;:580.9650393700788}"/>
</p:tagLst>
</file>

<file path=ppt/tags/tag108.xml><?xml version="1.0" encoding="utf-8"?>
<p:tagLst xmlns:p="http://schemas.openxmlformats.org/presentationml/2006/main">
  <p:tag name="KSO_WM_DIAGRAM_VIRTUALLY_FRAME" val="{&quot;height&quot;:424.7566929133858,&quot;left&quot;:280.8,&quot;top&quot;:92.65,&quot;width&quot;:580.9650393700788}"/>
</p:tagLst>
</file>

<file path=ppt/tags/tag109.xml><?xml version="1.0" encoding="utf-8"?>
<p:tagLst xmlns:p="http://schemas.openxmlformats.org/presentationml/2006/main">
  <p:tag name="KSO_WM_DIAGRAM_VIRTUALLY_FRAME" val="{&quot;height&quot;:424.7566929133858,&quot;left&quot;:280.8,&quot;top&quot;:92.65,&quot;width&quot;:580.9650393700788}"/>
</p:tagLst>
</file>

<file path=ppt/tags/tag110.xml><?xml version="1.0" encoding="utf-8"?>
<p:tagLst xmlns:p="http://schemas.openxmlformats.org/presentationml/2006/main">
  <p:tag name="KSO_WM_DIAGRAM_VIRTUALLY_FRAME" val="{&quot;height&quot;:424.7566929133858,&quot;left&quot;:280.8,&quot;top&quot;:92.65,&quot;width&quot;:580.9650393700788}"/>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DIAGRAM_VIRTUALLY_FRAME" val="{&quot;height&quot;:424.7566929133858,&quot;left&quot;:280.8,&quot;top&quot;:92.65,&quot;width&quot;:580.9650393700788}"/>
</p:tagLst>
</file>

<file path=ppt/tags/tag384.xml><?xml version="1.0" encoding="utf-8"?>
<p:tagLst xmlns:p="http://schemas.openxmlformats.org/presentationml/2006/main">
  <p:tag name="KSO_WM_DIAGRAM_VIRTUALLY_FRAME" val="{&quot;height&quot;:424.7566929133858,&quot;left&quot;:280.8,&quot;top&quot;:92.65,&quot;width&quot;:580.9650393700788}"/>
</p:tagLst>
</file>

<file path=ppt/tags/tag385.xml><?xml version="1.0" encoding="utf-8"?>
<p:tagLst xmlns:p="http://schemas.openxmlformats.org/presentationml/2006/main">
  <p:tag name="KSO_WM_DIAGRAM_VIRTUALLY_FRAME" val="{&quot;height&quot;:424.7566929133858,&quot;left&quot;:280.8,&quot;top&quot;:92.65,&quot;width&quot;:580.9650393700788}"/>
</p:tagLst>
</file>

<file path=ppt/tags/tag386.xml><?xml version="1.0" encoding="utf-8"?>
<p:tagLst xmlns:p="http://schemas.openxmlformats.org/presentationml/2006/main">
  <p:tag name="KSO_WM_DIAGRAM_VIRTUALLY_FRAME" val="{&quot;height&quot;:424.7566929133858,&quot;left&quot;:280.8,&quot;top&quot;:92.65,&quot;width&quot;:580.9650393700788}"/>
</p:tagLst>
</file>

<file path=ppt/tags/tag387.xml><?xml version="1.0" encoding="utf-8"?>
<p:tagLst xmlns:p="http://schemas.openxmlformats.org/presentationml/2006/main">
  <p:tag name="KSO_WM_DIAGRAM_VIRTUALLY_FRAME" val="{&quot;height&quot;:424.7566929133858,&quot;left&quot;:280.8,&quot;top&quot;:92.65,&quot;width&quot;:580.9650393700788}"/>
</p:tagLst>
</file>

<file path=ppt/tags/tag388.xml><?xml version="1.0" encoding="utf-8"?>
<p:tagLst xmlns:p="http://schemas.openxmlformats.org/presentationml/2006/main">
  <p:tag name="KSO_WM_DIAGRAM_VIRTUALLY_FRAME" val="{&quot;height&quot;:424.7566929133858,&quot;left&quot;:280.8,&quot;top&quot;:92.65,&quot;width&quot;:580.9650393700788}"/>
</p:tagLst>
</file>

<file path=ppt/tags/tag389.xml><?xml version="1.0" encoding="utf-8"?>
<p:tagLst xmlns:p="http://schemas.openxmlformats.org/presentationml/2006/main">
  <p:tag name="KSO_WM_DIAGRAM_VIRTUALLY_FRAME" val="{&quot;height&quot;:424.7566929133858,&quot;left&quot;:280.8,&quot;top&quot;:92.65,&quot;width&quot;:580.9650393700788}"/>
</p:tagLst>
</file>

<file path=ppt/tags/tag390.xml><?xml version="1.0" encoding="utf-8"?>
<p:tagLst xmlns:p="http://schemas.openxmlformats.org/presentationml/2006/main">
  <p:tag name="KSO_WM_DIAGRAM_VIRTUALLY_FRAME" val="{&quot;height&quot;:424.7566929133858,&quot;left&quot;:280.8,&quot;top&quot;:92.65,&quot;width&quot;:580.9650393700788}"/>
</p:tagLst>
</file>

<file path=ppt/tags/tag391.xml><?xml version="1.0" encoding="utf-8"?>
<p:tagLst xmlns:p="http://schemas.openxmlformats.org/presentationml/2006/main">
  <p:tag name="KSO_WM_DIAGRAM_VIRTUALLY_FRAME" val="{&quot;height&quot;:424.7566929133858,&quot;left&quot;:280.8,&quot;top&quot;:92.65,&quot;width&quot;:580.9650393700788}"/>
</p:tagLst>
</file>

<file path=ppt/tags/tag392.xml><?xml version="1.0" encoding="utf-8"?>
<p:tagLst xmlns:p="http://schemas.openxmlformats.org/presentationml/2006/main">
  <p:tag name="KSO_WM_DIAGRAM_VIRTUALLY_FRAME" val="{&quot;height&quot;:424.7566929133858,&quot;left&quot;:280.8,&quot;top&quot;:92.65,&quot;width&quot;:580.9650393700788}"/>
</p:tagLst>
</file>

<file path=ppt/tags/tag393.xml><?xml version="1.0" encoding="utf-8"?>
<p:tagLst xmlns:p="http://schemas.openxmlformats.org/presentationml/2006/main">
  <p:tag name="KSO_WM_DIAGRAM_VIRTUALLY_FRAME" val="{&quot;height&quot;:424.7566929133858,&quot;left&quot;:280.8,&quot;top&quot;:92.65,&quot;width&quot;:580.9650393700788}"/>
</p:tagLst>
</file>

<file path=ppt/tags/tag394.xml><?xml version="1.0" encoding="utf-8"?>
<p:tagLst xmlns:p="http://schemas.openxmlformats.org/presentationml/2006/main">
  <p:tag name="KSO_WM_DIAGRAM_VIRTUALLY_FRAME" val="{&quot;height&quot;:424.7566929133858,&quot;left&quot;:280.8,&quot;top&quot;:92.65,&quot;width&quot;:580.9650393700788}"/>
</p:tagLst>
</file>

<file path=ppt/tags/tag395.xml><?xml version="1.0" encoding="utf-8"?>
<p:tagLst xmlns:p="http://schemas.openxmlformats.org/presentationml/2006/main">
  <p:tag name="KSO_WM_DIAGRAM_VIRTUALLY_FRAME" val="{&quot;height&quot;:424.7566929133858,&quot;left&quot;:280.8,&quot;top&quot;:92.65,&quot;width&quot;:580.9650393700788}"/>
</p:tagLst>
</file>

<file path=ppt/tags/tag396.xml><?xml version="1.0" encoding="utf-8"?>
<p:tagLst xmlns:p="http://schemas.openxmlformats.org/presentationml/2006/main">
  <p:tag name="KSO_WM_DIAGRAM_VIRTUALLY_FRAME" val="{&quot;height&quot;:424.7566929133858,&quot;left&quot;:280.8,&quot;top&quot;:92.65,&quot;width&quot;:580.9650393700788}"/>
</p:tagLst>
</file>

<file path=ppt/tags/tag397.xml><?xml version="1.0" encoding="utf-8"?>
<p:tagLst xmlns:p="http://schemas.openxmlformats.org/presentationml/2006/main">
  <p:tag name="KSO_WM_DIAGRAM_VIRTUALLY_FRAME" val="{&quot;height&quot;:424.7566929133858,&quot;left&quot;:280.8,&quot;top&quot;:92.65,&quot;width&quot;:580.9650393700788}"/>
</p:tagLst>
</file>

<file path=ppt/tags/tag398.xml><?xml version="1.0" encoding="utf-8"?>
<p:tagLst xmlns:p="http://schemas.openxmlformats.org/presentationml/2006/main">
  <p:tag name="KSO_WM_DIAGRAM_VIRTUALLY_FRAME" val="{&quot;height&quot;:424.7566929133858,&quot;left&quot;:280.8,&quot;top&quot;:92.65,&quot;width&quot;:580.9650393700788}"/>
</p:tagLst>
</file>

<file path=ppt/tags/tag399.xml><?xml version="1.0" encoding="utf-8"?>
<p:tagLst xmlns:p="http://schemas.openxmlformats.org/presentationml/2006/main">
  <p:tag name="KSO_WM_DIAGRAM_VIRTUALLY_FRAME" val="{&quot;height&quot;:424.7566929133858,&quot;left&quot;:280.8,&quot;top&quot;:92.65,&quot;width&quot;:580.9650393700788}"/>
</p:tagLst>
</file>

<file path=ppt/tags/tag400.xml><?xml version="1.0" encoding="utf-8"?>
<p:tagLst xmlns:p="http://schemas.openxmlformats.org/presentationml/2006/main">
  <p:tag name="KSO_WM_DIAGRAM_VIRTUALLY_FRAME" val="{&quot;height&quot;:424.7566929133858,&quot;left&quot;:280.8,&quot;top&quot;:92.65,&quot;width&quot;:580.9650393700788}"/>
</p:tagLst>
</file>

<file path=ppt/tags/tag401.xml><?xml version="1.0" encoding="utf-8"?>
<p:tagLst xmlns:p="http://schemas.openxmlformats.org/presentationml/2006/main">
  <p:tag name="KSO_WM_DIAGRAM_VIRTUALLY_FRAME" val="{&quot;height&quot;:424.7566929133858,&quot;left&quot;:280.8,&quot;top&quot;:92.65,&quot;width&quot;:580.9650393700788}"/>
</p:tagLst>
</file>

<file path=ppt/tags/tag402.xml><?xml version="1.0" encoding="utf-8"?>
<p:tagLst xmlns:p="http://schemas.openxmlformats.org/presentationml/2006/main">
  <p:tag name="KSO_WM_DIAGRAM_VIRTUALLY_FRAME" val="{&quot;height&quot;:424.7566929133858,&quot;left&quot;:280.8,&quot;top&quot;:92.65,&quot;width&quot;:580.9650393700788}"/>
</p:tagLst>
</file>

<file path=ppt/tags/tag403.xml><?xml version="1.0" encoding="utf-8"?>
<p:tagLst xmlns:p="http://schemas.openxmlformats.org/presentationml/2006/main">
  <p:tag name="KSO_WM_DIAGRAM_VIRTUALLY_FRAME" val="{&quot;height&quot;:424.7566929133858,&quot;left&quot;:280.8,&quot;top&quot;:92.65,&quot;width&quot;:580.9650393700788}"/>
</p:tagLst>
</file>

<file path=ppt/tags/tag404.xml><?xml version="1.0" encoding="utf-8"?>
<p:tagLst xmlns:p="http://schemas.openxmlformats.org/presentationml/2006/main">
  <p:tag name="KSO_WM_DIAGRAM_VIRTUALLY_FRAME" val="{&quot;height&quot;:424.7566929133858,&quot;left&quot;:280.8,&quot;top&quot;:92.65,&quot;width&quot;:580.9650393700788}"/>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DIAGRAM_VIRTUALLY_FRAME" val="{&quot;height&quot;:248.05,&quot;left&quot;:141.4,&quot;top&quot;:158.2,&quot;width&quot;:667.35}"/>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DIAGRAM_VIRTUALLY_FRAME" val="{&quot;height&quot;:417.7,&quot;left&quot;:44.7,&quot;top&quot;:113.5,&quot;width&quot;:490.8}"/>
</p:tagLst>
</file>

<file path=ppt/tags/tag531.xml><?xml version="1.0" encoding="utf-8"?>
<p:tagLst xmlns:p="http://schemas.openxmlformats.org/presentationml/2006/main">
  <p:tag name="KSO_WM_DIAGRAM_VIRTUALLY_FRAME" val="{&quot;height&quot;:417.7,&quot;left&quot;:44.7,&quot;top&quot;:113.5,&quot;width&quot;:490.8}"/>
</p:tagLst>
</file>

<file path=ppt/tags/tag532.xml><?xml version="1.0" encoding="utf-8"?>
<p:tagLst xmlns:p="http://schemas.openxmlformats.org/presentationml/2006/main">
  <p:tag name="KSO_WM_DIAGRAM_VIRTUALLY_FRAME" val="{&quot;height&quot;:417.7,&quot;left&quot;:44.7,&quot;top&quot;:113.5,&quot;width&quot;:490.8}"/>
</p:tagLst>
</file>

<file path=ppt/tags/tag533.xml><?xml version="1.0" encoding="utf-8"?>
<p:tagLst xmlns:p="http://schemas.openxmlformats.org/presentationml/2006/main">
  <p:tag name="KSO_WM_DIAGRAM_VIRTUALLY_FRAME" val="{&quot;height&quot;:417.7,&quot;left&quot;:44.7,&quot;top&quot;:113.5,&quot;width&quot;:490.8}"/>
</p:tagLst>
</file>

<file path=ppt/tags/tag534.xml><?xml version="1.0" encoding="utf-8"?>
<p:tagLst xmlns:p="http://schemas.openxmlformats.org/presentationml/2006/main">
  <p:tag name="KSO_WM_DIAGRAM_VIRTUALLY_FRAME" val="{&quot;height&quot;:417.7,&quot;left&quot;:44.7,&quot;top&quot;:113.5,&quot;width&quot;:490.8}"/>
</p:tagLst>
</file>

<file path=ppt/tags/tag535.xml><?xml version="1.0" encoding="utf-8"?>
<p:tagLst xmlns:p="http://schemas.openxmlformats.org/presentationml/2006/main">
  <p:tag name="KSO_WM_DIAGRAM_VIRTUALLY_FRAME" val="{&quot;height&quot;:417.7,&quot;left&quot;:44.7,&quot;top&quot;:113.5,&quot;width&quot;:490.8}"/>
</p:tagLst>
</file>

<file path=ppt/tags/tag536.xml><?xml version="1.0" encoding="utf-8"?>
<p:tagLst xmlns:p="http://schemas.openxmlformats.org/presentationml/2006/main">
  <p:tag name="KSO_WM_DIAGRAM_VIRTUALLY_FRAME" val="{&quot;height&quot;:417.7,&quot;left&quot;:44.7,&quot;top&quot;:113.5,&quot;width&quot;:490.8}"/>
</p:tagLst>
</file>

<file path=ppt/tags/tag537.xml><?xml version="1.0" encoding="utf-8"?>
<p:tagLst xmlns:p="http://schemas.openxmlformats.org/presentationml/2006/main">
  <p:tag name="KSO_WM_DIAGRAM_VIRTUALLY_FRAME" val="{&quot;height&quot;:417.7,&quot;left&quot;:44.7,&quot;top&quot;:113.5,&quot;width&quot;:490.8}"/>
</p:tagLst>
</file>

<file path=ppt/tags/tag538.xml><?xml version="1.0" encoding="utf-8"?>
<p:tagLst xmlns:p="http://schemas.openxmlformats.org/presentationml/2006/main">
  <p:tag name="KSO_WM_DIAGRAM_VIRTUALLY_FRAME" val="{&quot;height&quot;:417.7,&quot;left&quot;:44.7,&quot;top&quot;:113.5,&quot;width&quot;:490.8}"/>
</p:tagLst>
</file>

<file path=ppt/tags/tag539.xml><?xml version="1.0" encoding="utf-8"?>
<p:tagLst xmlns:p="http://schemas.openxmlformats.org/presentationml/2006/main">
  <p:tag name="KSO_WM_DIAGRAM_VIRTUALLY_FRAME" val="{&quot;height&quot;:417.7,&quot;left&quot;:44.7,&quot;top&quot;:113.5,&quot;width&quot;:490.8}"/>
</p:tagLst>
</file>

<file path=ppt/tags/tag540.xml><?xml version="1.0" encoding="utf-8"?>
<p:tagLst xmlns:p="http://schemas.openxmlformats.org/presentationml/2006/main">
  <p:tag name="KSO_WM_DIAGRAM_VIRTUALLY_FRAME" val="{&quot;height&quot;:417.7,&quot;left&quot;:44.7,&quot;top&quot;:113.5,&quot;width&quot;:490.8}"/>
</p:tagLst>
</file>

<file path=ppt/tags/tag541.xml><?xml version="1.0" encoding="utf-8"?>
<p:tagLst xmlns:p="http://schemas.openxmlformats.org/presentationml/2006/main">
  <p:tag name="KSO_WM_DIAGRAM_VIRTUALLY_FRAME" val="{&quot;height&quot;:417.7,&quot;left&quot;:44.7,&quot;top&quot;:113.5,&quot;width&quot;:490.8}"/>
</p:tagLst>
</file>

<file path=ppt/tags/tag542.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543.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544.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DIAGRAM_VIRTUALLY_FRAME" val="{&quot;height&quot;:424.7566929133858,&quot;left&quot;:280.8,&quot;top&quot;:92.65,&quot;width&quot;:580.9650393700788}"/>
</p:tagLst>
</file>

<file path=ppt/tags/tag569.xml><?xml version="1.0" encoding="utf-8"?>
<p:tagLst xmlns:p="http://schemas.openxmlformats.org/presentationml/2006/main">
  <p:tag name="KSO_WM_DIAGRAM_VIRTUALLY_FRAME" val="{&quot;height&quot;:424.7566929133858,&quot;left&quot;:280.8,&quot;top&quot;:92.65,&quot;width&quot;:580.9650393700788}"/>
</p:tagLst>
</file>

<file path=ppt/tags/tag570.xml><?xml version="1.0" encoding="utf-8"?>
<p:tagLst xmlns:p="http://schemas.openxmlformats.org/presentationml/2006/main">
  <p:tag name="KSO_WM_DIAGRAM_VIRTUALLY_FRAME" val="{&quot;height&quot;:424.7566929133858,&quot;left&quot;:280.8,&quot;top&quot;:92.65,&quot;width&quot;:580.9650393700788}"/>
</p:tagLst>
</file>

<file path=ppt/tags/tag571.xml><?xml version="1.0" encoding="utf-8"?>
<p:tagLst xmlns:p="http://schemas.openxmlformats.org/presentationml/2006/main">
  <p:tag name="KSO_WM_DIAGRAM_VIRTUALLY_FRAME" val="{&quot;height&quot;:424.7566929133858,&quot;left&quot;:280.8,&quot;top&quot;:92.65,&quot;width&quot;:580.9650393700788}"/>
</p:tagLst>
</file>

<file path=ppt/tags/tag572.xml><?xml version="1.0" encoding="utf-8"?>
<p:tagLst xmlns:p="http://schemas.openxmlformats.org/presentationml/2006/main">
  <p:tag name="KSO_WM_DIAGRAM_VIRTUALLY_FRAME" val="{&quot;height&quot;:424.7566929133858,&quot;left&quot;:280.8,&quot;top&quot;:92.65,&quot;width&quot;:580.9650393700788}"/>
</p:tagLst>
</file>

<file path=ppt/tags/tag573.xml><?xml version="1.0" encoding="utf-8"?>
<p:tagLst xmlns:p="http://schemas.openxmlformats.org/presentationml/2006/main">
  <p:tag name="KSO_WM_DIAGRAM_VIRTUALLY_FRAME" val="{&quot;height&quot;:424.7566929133858,&quot;left&quot;:280.8,&quot;top&quot;:92.65,&quot;width&quot;:580.9650393700788}"/>
</p:tagLst>
</file>

<file path=ppt/tags/tag574.xml><?xml version="1.0" encoding="utf-8"?>
<p:tagLst xmlns:p="http://schemas.openxmlformats.org/presentationml/2006/main">
  <p:tag name="KSO_WM_DIAGRAM_VIRTUALLY_FRAME" val="{&quot;height&quot;:424.7566929133858,&quot;left&quot;:280.8,&quot;top&quot;:92.65,&quot;width&quot;:580.9650393700788}"/>
</p:tagLst>
</file>

<file path=ppt/tags/tag575.xml><?xml version="1.0" encoding="utf-8"?>
<p:tagLst xmlns:p="http://schemas.openxmlformats.org/presentationml/2006/main">
  <p:tag name="KSO_WM_DIAGRAM_VIRTUALLY_FRAME" val="{&quot;height&quot;:424.7566929133858,&quot;left&quot;:280.8,&quot;top&quot;:92.65,&quot;width&quot;:580.9650393700788}"/>
</p:tagLst>
</file>

<file path=ppt/tags/tag576.xml><?xml version="1.0" encoding="utf-8"?>
<p:tagLst xmlns:p="http://schemas.openxmlformats.org/presentationml/2006/main">
  <p:tag name="KSO_WM_DIAGRAM_VIRTUALLY_FRAME" val="{&quot;height&quot;:424.7566929133858,&quot;left&quot;:280.8,&quot;top&quot;:92.65,&quot;width&quot;:580.9650393700788}"/>
</p:tagLst>
</file>

<file path=ppt/tags/tag577.xml><?xml version="1.0" encoding="utf-8"?>
<p:tagLst xmlns:p="http://schemas.openxmlformats.org/presentationml/2006/main">
  <p:tag name="KSO_WM_DIAGRAM_VIRTUALLY_FRAME" val="{&quot;height&quot;:424.7566929133858,&quot;left&quot;:280.8,&quot;top&quot;:92.65,&quot;width&quot;:580.9650393700788}"/>
</p:tagLst>
</file>

<file path=ppt/tags/tag578.xml><?xml version="1.0" encoding="utf-8"?>
<p:tagLst xmlns:p="http://schemas.openxmlformats.org/presentationml/2006/main">
  <p:tag name="KSO_WM_DIAGRAM_VIRTUALLY_FRAME" val="{&quot;height&quot;:424.7566929133858,&quot;left&quot;:280.8,&quot;top&quot;:92.65,&quot;width&quot;:580.9650393700788}"/>
</p:tagLst>
</file>

<file path=ppt/tags/tag579.xml><?xml version="1.0" encoding="utf-8"?>
<p:tagLst xmlns:p="http://schemas.openxmlformats.org/presentationml/2006/main">
  <p:tag name="KSO_WM_DIAGRAM_VIRTUALLY_FRAME" val="{&quot;height&quot;:424.7566929133858,&quot;left&quot;:280.8,&quot;top&quot;:92.65,&quot;width&quot;:580.9650393700788}"/>
</p:tagLst>
</file>

<file path=ppt/tags/tag580.xml><?xml version="1.0" encoding="utf-8"?>
<p:tagLst xmlns:p="http://schemas.openxmlformats.org/presentationml/2006/main">
  <p:tag name="KSO_WM_DIAGRAM_VIRTUALLY_FRAME" val="{&quot;height&quot;:424.7566929133858,&quot;left&quot;:280.8,&quot;top&quot;:92.65,&quot;width&quot;:580.9650393700788}"/>
</p:tagLst>
</file>

<file path=ppt/tags/tag581.xml><?xml version="1.0" encoding="utf-8"?>
<p:tagLst xmlns:p="http://schemas.openxmlformats.org/presentationml/2006/main">
  <p:tag name="KSO_WM_DIAGRAM_VIRTUALLY_FRAME" val="{&quot;height&quot;:424.7566929133858,&quot;left&quot;:280.8,&quot;top&quot;:92.65,&quot;width&quot;:580.9650393700788}"/>
</p:tagLst>
</file>

<file path=ppt/tags/tag582.xml><?xml version="1.0" encoding="utf-8"?>
<p:tagLst xmlns:p="http://schemas.openxmlformats.org/presentationml/2006/main">
  <p:tag name="KSO_WM_DIAGRAM_VIRTUALLY_FRAME" val="{&quot;height&quot;:424.7566929133858,&quot;left&quot;:280.8,&quot;top&quot;:92.65,&quot;width&quot;:580.9650393700788}"/>
</p:tagLst>
</file>

<file path=ppt/tags/tag583.xml><?xml version="1.0" encoding="utf-8"?>
<p:tagLst xmlns:p="http://schemas.openxmlformats.org/presentationml/2006/main">
  <p:tag name="KSO_WM_DIAGRAM_VIRTUALLY_FRAME" val="{&quot;height&quot;:424.7566929133858,&quot;left&quot;:280.8,&quot;top&quot;:92.65,&quot;width&quot;:580.9650393700788}"/>
</p:tagLst>
</file>

<file path=ppt/tags/tag584.xml><?xml version="1.0" encoding="utf-8"?>
<p:tagLst xmlns:p="http://schemas.openxmlformats.org/presentationml/2006/main">
  <p:tag name="KSO_WM_DIAGRAM_VIRTUALLY_FRAME" val="{&quot;height&quot;:424.7566929133858,&quot;left&quot;:280.8,&quot;top&quot;:92.65,&quot;width&quot;:580.9650393700788}"/>
</p:tagLst>
</file>

<file path=ppt/tags/tag585.xml><?xml version="1.0" encoding="utf-8"?>
<p:tagLst xmlns:p="http://schemas.openxmlformats.org/presentationml/2006/main">
  <p:tag name="KSO_WM_DIAGRAM_VIRTUALLY_FRAME" val="{&quot;height&quot;:424.7566929133858,&quot;left&quot;:280.8,&quot;top&quot;:92.65,&quot;width&quot;:580.9650393700788}"/>
</p:tagLst>
</file>

<file path=ppt/tags/tag586.xml><?xml version="1.0" encoding="utf-8"?>
<p:tagLst xmlns:p="http://schemas.openxmlformats.org/presentationml/2006/main">
  <p:tag name="KSO_WM_DIAGRAM_VIRTUALLY_FRAME" val="{&quot;height&quot;:424.7566929133858,&quot;left&quot;:280.8,&quot;top&quot;:92.65,&quot;width&quot;:580.9650393700788}"/>
</p:tagLst>
</file>

<file path=ppt/tags/tag587.xml><?xml version="1.0" encoding="utf-8"?>
<p:tagLst xmlns:p="http://schemas.openxmlformats.org/presentationml/2006/main">
  <p:tag name="KSO_WM_DIAGRAM_VIRTUALLY_FRAME" val="{&quot;height&quot;:424.7566929133858,&quot;left&quot;:280.8,&quot;top&quot;:92.65,&quot;width&quot;:580.9650393700788}"/>
</p:tagLst>
</file>

<file path=ppt/tags/tag588.xml><?xml version="1.0" encoding="utf-8"?>
<p:tagLst xmlns:p="http://schemas.openxmlformats.org/presentationml/2006/main">
  <p:tag name="KSO_WM_DIAGRAM_VIRTUALLY_FRAME" val="{&quot;height&quot;:424.7566929133858,&quot;left&quot;:280.8,&quot;top&quot;:92.65,&quot;width&quot;:580.9650393700788}"/>
</p:tagLst>
</file>

<file path=ppt/tags/tag589.xml><?xml version="1.0" encoding="utf-8"?>
<p:tagLst xmlns:p="http://schemas.openxmlformats.org/presentationml/2006/main">
  <p:tag name="KSO_WM_DIAGRAM_VIRTUALLY_FRAME" val="{&quot;height&quot;:424.7566929133858,&quot;left&quot;:280.8,&quot;top&quot;:92.65,&quot;width&quot;:580.9650393700788}"/>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DIAGRAM_VIRTUALLY_FRAME" val="{&quot;height&quot;:248.05,&quot;left&quot;:141.4,&quot;top&quot;:158.2,&quot;width&quot;:667.35}"/>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DIAGRAM_VIRTUALLY_FRAME" val="{&quot;height&quot;:417.7,&quot;left&quot;:44.7,&quot;top&quot;:113.5,&quot;width&quot;:490.8}"/>
</p:tagLst>
</file>

<file path=ppt/tags/tag690.xml><?xml version="1.0" encoding="utf-8"?>
<p:tagLst xmlns:p="http://schemas.openxmlformats.org/presentationml/2006/main">
  <p:tag name="KSO_WM_DIAGRAM_VIRTUALLY_FRAME" val="{&quot;height&quot;:417.7,&quot;left&quot;:44.7,&quot;top&quot;:113.5,&quot;width&quot;:490.8}"/>
</p:tagLst>
</file>

<file path=ppt/tags/tag691.xml><?xml version="1.0" encoding="utf-8"?>
<p:tagLst xmlns:p="http://schemas.openxmlformats.org/presentationml/2006/main">
  <p:tag name="KSO_WM_DIAGRAM_VIRTUALLY_FRAME" val="{&quot;height&quot;:417.7,&quot;left&quot;:44.7,&quot;top&quot;:113.5,&quot;width&quot;:490.8}"/>
</p:tagLst>
</file>

<file path=ppt/tags/tag692.xml><?xml version="1.0" encoding="utf-8"?>
<p:tagLst xmlns:p="http://schemas.openxmlformats.org/presentationml/2006/main">
  <p:tag name="KSO_WM_DIAGRAM_VIRTUALLY_FRAME" val="{&quot;height&quot;:417.7,&quot;left&quot;:44.7,&quot;top&quot;:113.5,&quot;width&quot;:490.8}"/>
</p:tagLst>
</file>

<file path=ppt/tags/tag693.xml><?xml version="1.0" encoding="utf-8"?>
<p:tagLst xmlns:p="http://schemas.openxmlformats.org/presentationml/2006/main">
  <p:tag name="KSO_WM_DIAGRAM_VIRTUALLY_FRAME" val="{&quot;height&quot;:417.7,&quot;left&quot;:44.7,&quot;top&quot;:113.5,&quot;width&quot;:490.8}"/>
</p:tagLst>
</file>

<file path=ppt/tags/tag694.xml><?xml version="1.0" encoding="utf-8"?>
<p:tagLst xmlns:p="http://schemas.openxmlformats.org/presentationml/2006/main">
  <p:tag name="KSO_WM_DIAGRAM_VIRTUALLY_FRAME" val="{&quot;height&quot;:417.7,&quot;left&quot;:44.7,&quot;top&quot;:113.5,&quot;width&quot;:490.8}"/>
</p:tagLst>
</file>

<file path=ppt/tags/tag695.xml><?xml version="1.0" encoding="utf-8"?>
<p:tagLst xmlns:p="http://schemas.openxmlformats.org/presentationml/2006/main">
  <p:tag name="KSO_WM_DIAGRAM_VIRTUALLY_FRAME" val="{&quot;height&quot;:417.7,&quot;left&quot;:44.7,&quot;top&quot;:113.5,&quot;width&quot;:490.8}"/>
</p:tagLst>
</file>

<file path=ppt/tags/tag696.xml><?xml version="1.0" encoding="utf-8"?>
<p:tagLst xmlns:p="http://schemas.openxmlformats.org/presentationml/2006/main">
  <p:tag name="KSO_WM_DIAGRAM_VIRTUALLY_FRAME" val="{&quot;height&quot;:417.7,&quot;left&quot;:44.7,&quot;top&quot;:113.5,&quot;width&quot;:490.8}"/>
</p:tagLst>
</file>

<file path=ppt/tags/tag697.xml><?xml version="1.0" encoding="utf-8"?>
<p:tagLst xmlns:p="http://schemas.openxmlformats.org/presentationml/2006/main">
  <p:tag name="KSO_WM_DIAGRAM_VIRTUALLY_FRAME" val="{&quot;height&quot;:417.7,&quot;left&quot;:44.7,&quot;top&quot;:113.5,&quot;width&quot;:490.8}"/>
</p:tagLst>
</file>

<file path=ppt/tags/tag698.xml><?xml version="1.0" encoding="utf-8"?>
<p:tagLst xmlns:p="http://schemas.openxmlformats.org/presentationml/2006/main">
  <p:tag name="KSO_WM_DIAGRAM_VIRTUALLY_FRAME" val="{&quot;height&quot;:417.7,&quot;left&quot;:44.7,&quot;top&quot;:113.5,&quot;width&quot;:490.8}"/>
</p:tagLst>
</file>

<file path=ppt/tags/tag699.xml><?xml version="1.0" encoding="utf-8"?>
<p:tagLst xmlns:p="http://schemas.openxmlformats.org/presentationml/2006/main">
  <p:tag name="KSO_WM_DIAGRAM_VIRTUALLY_FRAME" val="{&quot;height&quot;:417.7,&quot;left&quot;:44.7,&quot;top&quot;:113.5,&quot;width&quot;:490.8}"/>
</p:tagLst>
</file>

<file path=ppt/tags/tag700.xml><?xml version="1.0" encoding="utf-8"?>
<p:tagLst xmlns:p="http://schemas.openxmlformats.org/presentationml/2006/main">
  <p:tag name="KSO_WM_DIAGRAM_VIRTUALLY_FRAME" val="{&quot;height&quot;:417.7,&quot;left&quot;:44.7,&quot;top&quot;:113.5,&quot;width&quot;:490.8}"/>
</p:tagLst>
</file>

<file path=ppt/tags/tag701.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702.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703.xml><?xml version="1.0" encoding="utf-8"?>
<p:tagLst xmlns:p="http://schemas.openxmlformats.org/presentationml/2006/main">
  <p:tag name="KSO_WM_DIAGRAM_VIRTUALLY_FRAME" val="{&quot;height&quot;:417.7147244094488,&quot;left&quot;:44.69866141732284,&quot;top&quot;:113.48527559055117,&quot;width&quot;:490.77078740157475}"/>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DIAGRAM_VIRTUALLY_FRAME" val="{&quot;height&quot;:424.7566929133858,&quot;left&quot;:280.8,&quot;top&quot;:92.65,&quot;width&quot;:580.9650393700788}"/>
</p:tagLst>
</file>

<file path=ppt/tags/tag719.xml><?xml version="1.0" encoding="utf-8"?>
<p:tagLst xmlns:p="http://schemas.openxmlformats.org/presentationml/2006/main">
  <p:tag name="KSO_WM_DIAGRAM_VIRTUALLY_FRAME" val="{&quot;height&quot;:424.7566929133858,&quot;left&quot;:280.8,&quot;top&quot;:92.65,&quot;width&quot;:580.9650393700788}"/>
</p:tagLst>
</file>

<file path=ppt/tags/tag720.xml><?xml version="1.0" encoding="utf-8"?>
<p:tagLst xmlns:p="http://schemas.openxmlformats.org/presentationml/2006/main">
  <p:tag name="KSO_WM_DIAGRAM_VIRTUALLY_FRAME" val="{&quot;height&quot;:424.7566929133858,&quot;left&quot;:280.8,&quot;top&quot;:92.65,&quot;width&quot;:580.9650393700788}"/>
</p:tagLst>
</file>

<file path=ppt/tags/tag721.xml><?xml version="1.0" encoding="utf-8"?>
<p:tagLst xmlns:p="http://schemas.openxmlformats.org/presentationml/2006/main">
  <p:tag name="KSO_WM_DIAGRAM_VIRTUALLY_FRAME" val="{&quot;height&quot;:424.7566929133858,&quot;left&quot;:280.8,&quot;top&quot;:92.65,&quot;width&quot;:580.9650393700788}"/>
</p:tagLst>
</file>

<file path=ppt/tags/tag722.xml><?xml version="1.0" encoding="utf-8"?>
<p:tagLst xmlns:p="http://schemas.openxmlformats.org/presentationml/2006/main">
  <p:tag name="KSO_WM_DIAGRAM_VIRTUALLY_FRAME" val="{&quot;height&quot;:424.7566929133858,&quot;left&quot;:280.8,&quot;top&quot;:92.65,&quot;width&quot;:580.9650393700788}"/>
</p:tagLst>
</file>

<file path=ppt/tags/tag723.xml><?xml version="1.0" encoding="utf-8"?>
<p:tagLst xmlns:p="http://schemas.openxmlformats.org/presentationml/2006/main">
  <p:tag name="KSO_WM_DIAGRAM_VIRTUALLY_FRAME" val="{&quot;height&quot;:424.7566929133858,&quot;left&quot;:280.8,&quot;top&quot;:92.65,&quot;width&quot;:580.9650393700788}"/>
</p:tagLst>
</file>

<file path=ppt/tags/tag724.xml><?xml version="1.0" encoding="utf-8"?>
<p:tagLst xmlns:p="http://schemas.openxmlformats.org/presentationml/2006/main">
  <p:tag name="KSO_WM_DIAGRAM_VIRTUALLY_FRAME" val="{&quot;height&quot;:424.7566929133858,&quot;left&quot;:280.8,&quot;top&quot;:92.65,&quot;width&quot;:580.9650393700788}"/>
</p:tagLst>
</file>

<file path=ppt/tags/tag725.xml><?xml version="1.0" encoding="utf-8"?>
<p:tagLst xmlns:p="http://schemas.openxmlformats.org/presentationml/2006/main">
  <p:tag name="KSO_WM_DIAGRAM_VIRTUALLY_FRAME" val="{&quot;height&quot;:424.7566929133858,&quot;left&quot;:280.8,&quot;top&quot;:92.65,&quot;width&quot;:580.9650393700788}"/>
</p:tagLst>
</file>

<file path=ppt/tags/tag726.xml><?xml version="1.0" encoding="utf-8"?>
<p:tagLst xmlns:p="http://schemas.openxmlformats.org/presentationml/2006/main">
  <p:tag name="KSO_WM_DIAGRAM_VIRTUALLY_FRAME" val="{&quot;height&quot;:424.7566929133858,&quot;left&quot;:280.8,&quot;top&quot;:92.65,&quot;width&quot;:580.9650393700788}"/>
</p:tagLst>
</file>

<file path=ppt/tags/tag727.xml><?xml version="1.0" encoding="utf-8"?>
<p:tagLst xmlns:p="http://schemas.openxmlformats.org/presentationml/2006/main">
  <p:tag name="KSO_WM_DIAGRAM_VIRTUALLY_FRAME" val="{&quot;height&quot;:424.7566929133858,&quot;left&quot;:280.8,&quot;top&quot;:92.65,&quot;width&quot;:580.9650393700788}"/>
</p:tagLst>
</file>

<file path=ppt/tags/tag728.xml><?xml version="1.0" encoding="utf-8"?>
<p:tagLst xmlns:p="http://schemas.openxmlformats.org/presentationml/2006/main">
  <p:tag name="KSO_WM_DIAGRAM_VIRTUALLY_FRAME" val="{&quot;height&quot;:424.7566929133858,&quot;left&quot;:280.8,&quot;top&quot;:92.65,&quot;width&quot;:580.9650393700788}"/>
</p:tagLst>
</file>

<file path=ppt/tags/tag729.xml><?xml version="1.0" encoding="utf-8"?>
<p:tagLst xmlns:p="http://schemas.openxmlformats.org/presentationml/2006/main">
  <p:tag name="KSO_WM_DIAGRAM_VIRTUALLY_FRAME" val="{&quot;height&quot;:424.7566929133858,&quot;left&quot;:280.8,&quot;top&quot;:92.65,&quot;width&quot;:580.9650393700788}"/>
</p:tagLst>
</file>

<file path=ppt/tags/tag730.xml><?xml version="1.0" encoding="utf-8"?>
<p:tagLst xmlns:p="http://schemas.openxmlformats.org/presentationml/2006/main">
  <p:tag name="KSO_WM_DIAGRAM_VIRTUALLY_FRAME" val="{&quot;height&quot;:424.7566929133858,&quot;left&quot;:280.8,&quot;top&quot;:92.65,&quot;width&quot;:580.9650393700788}"/>
</p:tagLst>
</file>

<file path=ppt/tags/tag731.xml><?xml version="1.0" encoding="utf-8"?>
<p:tagLst xmlns:p="http://schemas.openxmlformats.org/presentationml/2006/main">
  <p:tag name="KSO_WM_DIAGRAM_VIRTUALLY_FRAME" val="{&quot;height&quot;:424.7566929133858,&quot;left&quot;:280.8,&quot;top&quot;:92.65,&quot;width&quot;:580.9650393700788}"/>
</p:tagLst>
</file>

<file path=ppt/tags/tag732.xml><?xml version="1.0" encoding="utf-8"?>
<p:tagLst xmlns:p="http://schemas.openxmlformats.org/presentationml/2006/main">
  <p:tag name="KSO_WM_DIAGRAM_VIRTUALLY_FRAME" val="{&quot;height&quot;:424.7566929133858,&quot;left&quot;:280.8,&quot;top&quot;:92.65,&quot;width&quot;:580.9650393700788}"/>
</p:tagLst>
</file>

<file path=ppt/tags/tag733.xml><?xml version="1.0" encoding="utf-8"?>
<p:tagLst xmlns:p="http://schemas.openxmlformats.org/presentationml/2006/main">
  <p:tag name="KSO_WM_DIAGRAM_VIRTUALLY_FRAME" val="{&quot;height&quot;:424.7566929133858,&quot;left&quot;:280.8,&quot;top&quot;:92.65,&quot;width&quot;:580.9650393700788}"/>
</p:tagLst>
</file>

<file path=ppt/tags/tag734.xml><?xml version="1.0" encoding="utf-8"?>
<p:tagLst xmlns:p="http://schemas.openxmlformats.org/presentationml/2006/main">
  <p:tag name="KSO_WM_DIAGRAM_VIRTUALLY_FRAME" val="{&quot;height&quot;:424.7566929133858,&quot;left&quot;:280.8,&quot;top&quot;:92.65,&quot;width&quot;:580.9650393700788}"/>
</p:tagLst>
</file>

<file path=ppt/tags/tag735.xml><?xml version="1.0" encoding="utf-8"?>
<p:tagLst xmlns:p="http://schemas.openxmlformats.org/presentationml/2006/main">
  <p:tag name="KSO_WM_DIAGRAM_VIRTUALLY_FRAME" val="{&quot;height&quot;:424.7566929133858,&quot;left&quot;:280.8,&quot;top&quot;:92.65,&quot;width&quot;:580.9650393700788}"/>
</p:tagLst>
</file>

<file path=ppt/tags/tag736.xml><?xml version="1.0" encoding="utf-8"?>
<p:tagLst xmlns:p="http://schemas.openxmlformats.org/presentationml/2006/main">
  <p:tag name="KSO_WM_DIAGRAM_VIRTUALLY_FRAME" val="{&quot;height&quot;:424.7566929133858,&quot;left&quot;:280.8,&quot;top&quot;:92.65,&quot;width&quot;:580.9650393700788}"/>
</p:tagLst>
</file>

<file path=ppt/tags/tag737.xml><?xml version="1.0" encoding="utf-8"?>
<p:tagLst xmlns:p="http://schemas.openxmlformats.org/presentationml/2006/main">
  <p:tag name="KSO_WM_DIAGRAM_VIRTUALLY_FRAME" val="{&quot;height&quot;:424.7566929133858,&quot;left&quot;:280.8,&quot;top&quot;:92.65,&quot;width&quot;:580.9650393700788}"/>
</p:tagLst>
</file>

<file path=ppt/tags/tag738.xml><?xml version="1.0" encoding="utf-8"?>
<p:tagLst xmlns:p="http://schemas.openxmlformats.org/presentationml/2006/main">
  <p:tag name="KSO_WM_DIAGRAM_VIRTUALLY_FRAME" val="{&quot;height&quot;:424.7566929133858,&quot;left&quot;:280.8,&quot;top&quot;:92.65,&quot;width&quot;:580.9650393700788}"/>
</p:tagLst>
</file>

<file path=ppt/tags/tag739.xml><?xml version="1.0" encoding="utf-8"?>
<p:tagLst xmlns:p="http://schemas.openxmlformats.org/presentationml/2006/main">
  <p:tag name="KSO_WM_DIAGRAM_VIRTUALLY_FRAME" val="{&quot;height&quot;:424.7566929133858,&quot;left&quot;:280.8,&quot;top&quot;:92.65,&quot;width&quot;:580.9650393700788}"/>
</p:tagLst>
</file>

<file path=ppt/tags/tag740.xml><?xml version="1.0" encoding="utf-8"?>
<p:tagLst xmlns:p="http://schemas.openxmlformats.org/presentationml/2006/main">
  <p:tag name="KSO_WM_DIAGRAM_VIRTUALLY_FRAME" val="{&quot;height&quot;:424.7566929133858,&quot;left&quot;:280.8,&quot;top&quot;:92.65,&quot;width&quot;:580.9650393700788}"/>
</p:tagLst>
</file>

<file path=ppt/tags/tag741.xml><?xml version="1.0" encoding="utf-8"?>
<p:tagLst xmlns:p="http://schemas.openxmlformats.org/presentationml/2006/main">
  <p:tag name="KSO_WM_DIAGRAM_VIRTUALLY_FRAME" val="{&quot;height&quot;:424.7566929133858,&quot;left&quot;:280.8,&quot;top&quot;:92.65,&quot;width&quot;:580.9650393700788}"/>
</p:tagLst>
</file>

<file path=ppt/tags/tag742.xml><?xml version="1.0" encoding="utf-8"?>
<p:tagLst xmlns:p="http://schemas.openxmlformats.org/presentationml/2006/main">
  <p:tag name="KSO_WM_DIAGRAM_VIRTUALLY_FRAME" val="{&quot;height&quot;:424.7566929133858,&quot;left&quot;:280.8,&quot;top&quot;:92.65,&quot;width&quot;:580.9650393700788}"/>
</p:tagLst>
</file>

<file path=ppt/tags/tag743.xml><?xml version="1.0" encoding="utf-8"?>
<p:tagLst xmlns:p="http://schemas.openxmlformats.org/presentationml/2006/main">
  <p:tag name="KSO_WM_DIAGRAM_VIRTUALLY_FRAME" val="{&quot;height&quot;:424.7566929133858,&quot;left&quot;:280.8,&quot;top&quot;:92.65,&quot;width&quot;:580.9650393700788}"/>
</p:tagLst>
</file>

<file path=ppt/tags/tag744.xml><?xml version="1.0" encoding="utf-8"?>
<p:tagLst xmlns:p="http://schemas.openxmlformats.org/presentationml/2006/main">
  <p:tag name="KSO_WM_DIAGRAM_VIRTUALLY_FRAME" val="{&quot;height&quot;:424.7566929133858,&quot;left&quot;:280.8,&quot;top&quot;:92.65,&quot;width&quot;:580.9650393700788}"/>
</p:tagLst>
</file>

<file path=ppt/tags/tag745.xml><?xml version="1.0" encoding="utf-8"?>
<p:tagLst xmlns:p="http://schemas.openxmlformats.org/presentationml/2006/main">
  <p:tag name="KSO_WM_DIAGRAM_VIRTUALLY_FRAME" val="{&quot;height&quot;:424.7566929133858,&quot;left&quot;:280.8,&quot;top&quot;:92.65,&quot;width&quot;:580.9650393700788}"/>
</p:tagLst>
</file>

<file path=ppt/tags/tag746.xml><?xml version="1.0" encoding="utf-8"?>
<p:tagLst xmlns:p="http://schemas.openxmlformats.org/presentationml/2006/main">
  <p:tag name="KSO_WM_DIAGRAM_VIRTUALLY_FRAME" val="{&quot;height&quot;:424.7566929133858,&quot;left&quot;:280.8,&quot;top&quot;:92.65,&quot;width&quot;:580.9650393700788}"/>
</p:tagLst>
</file>

<file path=ppt/tags/tag747.xml><?xml version="1.0" encoding="utf-8"?>
<p:tagLst xmlns:p="http://schemas.openxmlformats.org/presentationml/2006/main">
  <p:tag name="KSO_WM_DIAGRAM_VIRTUALLY_FRAME" val="{&quot;height&quot;:424.7566929133858,&quot;left&quot;:280.8,&quot;top&quot;:92.65,&quot;width&quot;:580.9650393700788}"/>
</p:tagLst>
</file>

<file path=ppt/tags/tag748.xml><?xml version="1.0" encoding="utf-8"?>
<p:tagLst xmlns:p="http://schemas.openxmlformats.org/presentationml/2006/main">
  <p:tag name="KSO_WM_DIAGRAM_VIRTUALLY_FRAME" val="{&quot;height&quot;:424.7566929133858,&quot;left&quot;:280.8,&quot;top&quot;:92.65,&quot;width&quot;:580.9650393700788}"/>
</p:tagLst>
</file>

<file path=ppt/tags/tag749.xml><?xml version="1.0" encoding="utf-8"?>
<p:tagLst xmlns:p="http://schemas.openxmlformats.org/presentationml/2006/main">
  <p:tag name="KSO_WM_DIAGRAM_VIRTUALLY_FRAME" val="{&quot;height&quot;:424.7566929133858,&quot;left&quot;:280.8,&quot;top&quot;:92.65,&quot;width&quot;:580.9650393700788}"/>
</p:tagLst>
</file>

<file path=ppt/tags/tag750.xml><?xml version="1.0" encoding="utf-8"?>
<p:tagLst xmlns:p="http://schemas.openxmlformats.org/presentationml/2006/main">
  <p:tag name="KSO_WM_DIAGRAM_VIRTUALLY_FRAME" val="{&quot;height&quot;:424.7566929133858,&quot;left&quot;:280.8,&quot;top&quot;:92.65,&quot;width&quot;:580.9650393700788}"/>
</p:tagLst>
</file>

<file path=ppt/tags/tag751.xml><?xml version="1.0" encoding="utf-8"?>
<p:tagLst xmlns:p="http://schemas.openxmlformats.org/presentationml/2006/main">
  <p:tag name="KSO_WM_DIAGRAM_VIRTUALLY_FRAME" val="{&quot;height&quot;:424.7566929133858,&quot;left&quot;:280.8,&quot;top&quot;:92.65,&quot;width&quot;:580.9650393700788}"/>
</p:tagLst>
</file>

<file path=ppt/tags/tag752.xml><?xml version="1.0" encoding="utf-8"?>
<p:tagLst xmlns:p="http://schemas.openxmlformats.org/presentationml/2006/main">
  <p:tag name="KSO_WM_DIAGRAM_VIRTUALLY_FRAME" val="{&quot;height&quot;:424.7566929133858,&quot;left&quot;:280.8,&quot;top&quot;:92.65,&quot;width&quot;:580.9650393700788}"/>
</p:tagLst>
</file>

<file path=ppt/tags/tag753.xml><?xml version="1.0" encoding="utf-8"?>
<p:tagLst xmlns:p="http://schemas.openxmlformats.org/presentationml/2006/main">
  <p:tag name="KSO_WM_DIAGRAM_VIRTUALLY_FRAME" val="{&quot;height&quot;:424.7566929133858,&quot;left&quot;:280.8,&quot;top&quot;:92.65,&quot;width&quot;:580.9650393700788}"/>
</p:tagLst>
</file>

<file path=ppt/tags/tag754.xml><?xml version="1.0" encoding="utf-8"?>
<p:tagLst xmlns:p="http://schemas.openxmlformats.org/presentationml/2006/main">
  <p:tag name="KSO_WM_DIAGRAM_VIRTUALLY_FRAME" val="{&quot;height&quot;:424.7566929133858,&quot;left&quot;:280.8,&quot;top&quot;:92.65,&quot;width&quot;:580.9650393700788}"/>
</p:tagLst>
</file>

<file path=ppt/tags/tag755.xml><?xml version="1.0" encoding="utf-8"?>
<p:tagLst xmlns:p="http://schemas.openxmlformats.org/presentationml/2006/main">
  <p:tag name="KSO_WM_DIAGRAM_VIRTUALLY_FRAME" val="{&quot;height&quot;:424.7566929133858,&quot;left&quot;:280.8,&quot;top&quot;:92.65,&quot;width&quot;:580.9650393700788}"/>
</p:tagLst>
</file>

<file path=ppt/tags/tag756.xml><?xml version="1.0" encoding="utf-8"?>
<p:tagLst xmlns:p="http://schemas.openxmlformats.org/presentationml/2006/main">
  <p:tag name="KSO_WM_DIAGRAM_VIRTUALLY_FRAME" val="{&quot;height&quot;:424.7566929133858,&quot;left&quot;:280.8,&quot;top&quot;:92.65,&quot;width&quot;:580.9650393700788}"/>
</p:tagLst>
</file>

<file path=ppt/tags/tag757.xml><?xml version="1.0" encoding="utf-8"?>
<p:tagLst xmlns:p="http://schemas.openxmlformats.org/presentationml/2006/main">
  <p:tag name="KSO_WM_DIAGRAM_VIRTUALLY_FRAME" val="{&quot;height&quot;:424.7566929133858,&quot;left&quot;:280.8,&quot;top&quot;:92.65,&quot;width&quot;:580.9650393700788}"/>
</p:tagLst>
</file>

<file path=ppt/tags/tag758.xml><?xml version="1.0" encoding="utf-8"?>
<p:tagLst xmlns:p="http://schemas.openxmlformats.org/presentationml/2006/main">
  <p:tag name="KSO_WM_DIAGRAM_VIRTUALLY_FRAME" val="{&quot;height&quot;:424.7566929133858,&quot;left&quot;:280.8,&quot;top&quot;:92.65,&quot;width&quot;:580.9650393700788}"/>
</p:tagLst>
</file>

<file path=ppt/tags/tag759.xml><?xml version="1.0" encoding="utf-8"?>
<p:tagLst xmlns:p="http://schemas.openxmlformats.org/presentationml/2006/main">
  <p:tag name="KSO_WM_DIAGRAM_VIRTUALLY_FRAME" val="{&quot;height&quot;:424.7566929133858,&quot;left&quot;:280.8,&quot;top&quot;:92.65,&quot;width&quot;:580.9650393700788}"/>
</p:tagLst>
</file>

<file path=ppt/tags/tag760.xml><?xml version="1.0" encoding="utf-8"?>
<p:tagLst xmlns:p="http://schemas.openxmlformats.org/presentationml/2006/main">
  <p:tag name="KSO_WM_DIAGRAM_VIRTUALLY_FRAME" val="{&quot;height&quot;:424.7566929133858,&quot;left&quot;:280.8,&quot;top&quot;:92.65,&quot;width&quot;:580.9650393700788}"/>
</p:tagLst>
</file>

<file path=ppt/tags/tag761.xml><?xml version="1.0" encoding="utf-8"?>
<p:tagLst xmlns:p="http://schemas.openxmlformats.org/presentationml/2006/main">
  <p:tag name="KSO_WM_DIAGRAM_VIRTUALLY_FRAME" val="{&quot;height&quot;:424.7566929133858,&quot;left&quot;:280.8,&quot;top&quot;:92.65,&quot;width&quot;:580.9650393700788}"/>
</p:tagLst>
</file>

<file path=ppt/tags/tag762.xml><?xml version="1.0" encoding="utf-8"?>
<p:tagLst xmlns:p="http://schemas.openxmlformats.org/presentationml/2006/main">
  <p:tag name="KSO_WM_DIAGRAM_VIRTUALLY_FRAME" val="{&quot;height&quot;:424.7566929133858,&quot;left&quot;:280.8,&quot;top&quot;:92.65,&quot;width&quot;:580.9650393700788}"/>
</p:tagLst>
</file>

<file path=ppt/tags/tag763.xml><?xml version="1.0" encoding="utf-8"?>
<p:tagLst xmlns:p="http://schemas.openxmlformats.org/presentationml/2006/main">
  <p:tag name="KSO_WM_DIAGRAM_VIRTUALLY_FRAME" val="{&quot;height&quot;:424.7566929133858,&quot;left&quot;:280.8,&quot;top&quot;:92.65,&quot;width&quot;:580.9650393700788}"/>
</p:tagLst>
</file>

<file path=ppt/tags/tag764.xml><?xml version="1.0" encoding="utf-8"?>
<p:tagLst xmlns:p="http://schemas.openxmlformats.org/presentationml/2006/main">
  <p:tag name="KSO_WM_DIAGRAM_VIRTUALLY_FRAME" val="{&quot;height&quot;:424.7566929133858,&quot;left&quot;:280.8,&quot;top&quot;:92.65,&quot;width&quot;:580.9650393700788}"/>
</p:tagLst>
</file>

<file path=ppt/tags/tag765.xml><?xml version="1.0" encoding="utf-8"?>
<p:tagLst xmlns:p="http://schemas.openxmlformats.org/presentationml/2006/main">
  <p:tag name="KSO_WM_DIAGRAM_VIRTUALLY_FRAME" val="{&quot;height&quot;:424.7566929133858,&quot;left&quot;:280.8,&quot;top&quot;:92.65,&quot;width&quot;:580.9650393700788}"/>
</p:tagLst>
</file>

<file path=ppt/tags/tag766.xml><?xml version="1.0" encoding="utf-8"?>
<p:tagLst xmlns:p="http://schemas.openxmlformats.org/presentationml/2006/main">
  <p:tag name="KSO_WM_DIAGRAM_VIRTUALLY_FRAME" val="{&quot;height&quot;:424.7566929133858,&quot;left&quot;:280.8,&quot;top&quot;:92.65,&quot;width&quot;:580.9650393700788}"/>
</p:tagLst>
</file>

<file path=ppt/tags/tag767.xml><?xml version="1.0" encoding="utf-8"?>
<p:tagLst xmlns:p="http://schemas.openxmlformats.org/presentationml/2006/main">
  <p:tag name="KSO_WM_DIAGRAM_VIRTUALLY_FRAME" val="{&quot;height&quot;:424.7566929133858,&quot;left&quot;:280.8,&quot;top&quot;:92.65,&quot;width&quot;:580.9650393700788}"/>
</p:tagLst>
</file>

<file path=ppt/tags/tag768.xml><?xml version="1.0" encoding="utf-8"?>
<p:tagLst xmlns:p="http://schemas.openxmlformats.org/presentationml/2006/main">
  <p:tag name="KSO_WM_DIAGRAM_VIRTUALLY_FRAME" val="{&quot;height&quot;:424.7566929133858,&quot;left&quot;:280.8,&quot;top&quot;:92.65,&quot;width&quot;:580.9650393700788}"/>
</p:tagLst>
</file>

<file path=ppt/tags/tag769.xml><?xml version="1.0" encoding="utf-8"?>
<p:tagLst xmlns:p="http://schemas.openxmlformats.org/presentationml/2006/main">
  <p:tag name="KSO_WM_DIAGRAM_VIRTUALLY_FRAME" val="{&quot;height&quot;:424.7566929133858,&quot;left&quot;:280.8,&quot;top&quot;:92.65,&quot;width&quot;:580.9650393700788}"/>
</p:tagLst>
</file>

<file path=ppt/tags/tag770.xml><?xml version="1.0" encoding="utf-8"?>
<p:tagLst xmlns:p="http://schemas.openxmlformats.org/presentationml/2006/main">
  <p:tag name="KSO_WM_DIAGRAM_VIRTUALLY_FRAME" val="{&quot;height&quot;:424.7566929133858,&quot;left&quot;:280.8,&quot;top&quot;:92.65,&quot;width&quot;:580.9650393700788}"/>
</p:tagLst>
</file>

<file path=ppt/tags/tag771.xml><?xml version="1.0" encoding="utf-8"?>
<p:tagLst xmlns:p="http://schemas.openxmlformats.org/presentationml/2006/main">
  <p:tag name="KSO_WM_DIAGRAM_VIRTUALLY_FRAME" val="{&quot;height&quot;:424.7566929133858,&quot;left&quot;:280.8,&quot;top&quot;:92.65,&quot;width&quot;:580.9650393700788}"/>
</p:tagLst>
</file>

<file path=ppt/tags/tag772.xml><?xml version="1.0" encoding="utf-8"?>
<p:tagLst xmlns:p="http://schemas.openxmlformats.org/presentationml/2006/main">
  <p:tag name="KSO_WM_DIAGRAM_VIRTUALLY_FRAME" val="{&quot;height&quot;:424.7566929133858,&quot;left&quot;:280.8,&quot;top&quot;:92.65,&quot;width&quot;:580.9650393700788}"/>
</p:tagLst>
</file>

<file path=ppt/tags/tag773.xml><?xml version="1.0" encoding="utf-8"?>
<p:tagLst xmlns:p="http://schemas.openxmlformats.org/presentationml/2006/main">
  <p:tag name="KSO_WM_DIAGRAM_VIRTUALLY_FRAME" val="{&quot;height&quot;:424.7566929133858,&quot;left&quot;:280.8,&quot;top&quot;:92.65,&quot;width&quot;:580.9650393700788}"/>
</p:tagLst>
</file>

<file path=ppt/tags/tag774.xml><?xml version="1.0" encoding="utf-8"?>
<p:tagLst xmlns:p="http://schemas.openxmlformats.org/presentationml/2006/main">
  <p:tag name="KSO_WM_DIAGRAM_VIRTUALLY_FRAME" val="{&quot;height&quot;:424.7566929133858,&quot;left&quot;:280.8,&quot;top&quot;:92.65,&quot;width&quot;:580.9650393700788}"/>
</p:tagLst>
</file>

<file path=ppt/tags/tag775.xml><?xml version="1.0" encoding="utf-8"?>
<p:tagLst xmlns:p="http://schemas.openxmlformats.org/presentationml/2006/main">
  <p:tag name="KSO_WM_DIAGRAM_VIRTUALLY_FRAME" val="{&quot;height&quot;:424.7566929133858,&quot;left&quot;:280.8,&quot;top&quot;:92.65,&quot;width&quot;:580.9650393700788}"/>
</p:tagLst>
</file>

<file path=ppt/tags/tag776.xml><?xml version="1.0" encoding="utf-8"?>
<p:tagLst xmlns:p="http://schemas.openxmlformats.org/presentationml/2006/main">
  <p:tag name="KSO_WM_DIAGRAM_VIRTUALLY_FRAME" val="{&quot;height&quot;:424.7566929133858,&quot;left&quot;:280.8,&quot;top&quot;:92.65,&quot;width&quot;:580.9650393700788}"/>
</p:tagLst>
</file>

<file path=ppt/tags/tag777.xml><?xml version="1.0" encoding="utf-8"?>
<p:tagLst xmlns:p="http://schemas.openxmlformats.org/presentationml/2006/main">
  <p:tag name="KSO_WM_DIAGRAM_VIRTUALLY_FRAME" val="{&quot;height&quot;:424.7566929133858,&quot;left&quot;:280.8,&quot;top&quot;:92.65,&quot;width&quot;:580.9650393700788}"/>
</p:tagLst>
</file>

<file path=ppt/tags/tag778.xml><?xml version="1.0" encoding="utf-8"?>
<p:tagLst xmlns:p="http://schemas.openxmlformats.org/presentationml/2006/main">
  <p:tag name="KSO_WM_DIAGRAM_VIRTUALLY_FRAME" val="{&quot;height&quot;:424.7566929133858,&quot;left&quot;:280.8,&quot;top&quot;:92.65,&quot;width&quot;:580.9650393700788}"/>
</p:tagLst>
</file>

<file path=ppt/tags/tag779.xml><?xml version="1.0" encoding="utf-8"?>
<p:tagLst xmlns:p="http://schemas.openxmlformats.org/presentationml/2006/main">
  <p:tag name="KSO_WM_DIAGRAM_VIRTUALLY_FRAME" val="{&quot;height&quot;:424.7566929133858,&quot;left&quot;:280.8,&quot;top&quot;:92.65,&quot;width&quot;:580.9650393700788}"/>
</p:tagLst>
</file>

<file path=ppt/tags/tag780.xml><?xml version="1.0" encoding="utf-8"?>
<p:tagLst xmlns:p="http://schemas.openxmlformats.org/presentationml/2006/main">
  <p:tag name="KSO_WM_DIAGRAM_VIRTUALLY_FRAME" val="{&quot;height&quot;:424.7566929133858,&quot;left&quot;:280.8,&quot;top&quot;:92.65,&quot;width&quot;:580.9650393700788}"/>
</p:tagLst>
</file>

<file path=ppt/tags/tag781.xml><?xml version="1.0" encoding="utf-8"?>
<p:tagLst xmlns:p="http://schemas.openxmlformats.org/presentationml/2006/main">
  <p:tag name="KSO_WM_DIAGRAM_VIRTUALLY_FRAME" val="{&quot;height&quot;:424.7566929133858,&quot;left&quot;:280.8,&quot;top&quot;:92.65,&quot;width&quot;:580.9650393700788}"/>
</p:tagLst>
</file>

<file path=ppt/tags/tag782.xml><?xml version="1.0" encoding="utf-8"?>
<p:tagLst xmlns:p="http://schemas.openxmlformats.org/presentationml/2006/main">
  <p:tag name="KSO_WM_DIAGRAM_VIRTUALLY_FRAME" val="{&quot;height&quot;:424.7566929133858,&quot;left&quot;:280.8,&quot;top&quot;:92.65,&quot;width&quot;:580.9650393700788}"/>
</p:tagLst>
</file>

<file path=ppt/tags/tag783.xml><?xml version="1.0" encoding="utf-8"?>
<p:tagLst xmlns:p="http://schemas.openxmlformats.org/presentationml/2006/main">
  <p:tag name="KSO_WM_DIAGRAM_VIRTUALLY_FRAME" val="{&quot;height&quot;:424.7566929133858,&quot;left&quot;:280.8,&quot;top&quot;:92.65,&quot;width&quot;:580.9650393700788}"/>
</p:tagLst>
</file>

<file path=ppt/tags/tag784.xml><?xml version="1.0" encoding="utf-8"?>
<p:tagLst xmlns:p="http://schemas.openxmlformats.org/presentationml/2006/main">
  <p:tag name="KSO_WM_DIAGRAM_VIRTUALLY_FRAME" val="{&quot;height&quot;:424.7566929133858,&quot;left&quot;:280.8,&quot;top&quot;:92.65,&quot;width&quot;:580.9650393700788}"/>
</p:tagLst>
</file>

<file path=ppt/tags/tag785.xml><?xml version="1.0" encoding="utf-8"?>
<p:tagLst xmlns:p="http://schemas.openxmlformats.org/presentationml/2006/main">
  <p:tag name="KSO_WM_DIAGRAM_VIRTUALLY_FRAME" val="{&quot;height&quot;:424.7566929133858,&quot;left&quot;:280.8,&quot;top&quot;:92.65,&quot;width&quot;:580.9650393700788}"/>
</p:tagLst>
</file>

<file path=ppt/tags/tag786.xml><?xml version="1.0" encoding="utf-8"?>
<p:tagLst xmlns:p="http://schemas.openxmlformats.org/presentationml/2006/main">
  <p:tag name="KSO_WM_DIAGRAM_VIRTUALLY_FRAME" val="{&quot;height&quot;:424.7566929133858,&quot;left&quot;:280.8,&quot;top&quot;:92.65,&quot;width&quot;:580.9650393700788}"/>
</p:tagLst>
</file>

<file path=ppt/tags/tag787.xml><?xml version="1.0" encoding="utf-8"?>
<p:tagLst xmlns:p="http://schemas.openxmlformats.org/presentationml/2006/main">
  <p:tag name="KSO_WM_DIAGRAM_VIRTUALLY_FRAME" val="{&quot;height&quot;:424.7566929133858,&quot;left&quot;:280.8,&quot;top&quot;:92.65,&quot;width&quot;:580.9650393700788}"/>
</p:tagLst>
</file>

<file path=ppt/tags/tag788.xml><?xml version="1.0" encoding="utf-8"?>
<p:tagLst xmlns:p="http://schemas.openxmlformats.org/presentationml/2006/main">
  <p:tag name="KSO_WM_DIAGRAM_VIRTUALLY_FRAME" val="{&quot;height&quot;:424.7566929133858,&quot;left&quot;:280.8,&quot;top&quot;:92.65,&quot;width&quot;:580.9650393700788}"/>
</p:tagLst>
</file>

<file path=ppt/tags/tag789.xml><?xml version="1.0" encoding="utf-8"?>
<p:tagLst xmlns:p="http://schemas.openxmlformats.org/presentationml/2006/main">
  <p:tag name="KSO_WM_DIAGRAM_VIRTUALLY_FRAME" val="{&quot;height&quot;:424.7566929133858,&quot;left&quot;:280.8,&quot;top&quot;:92.65,&quot;width&quot;:580.9650393700788}"/>
</p:tagLst>
</file>

<file path=ppt/tags/tag790.xml><?xml version="1.0" encoding="utf-8"?>
<p:tagLst xmlns:p="http://schemas.openxmlformats.org/presentationml/2006/main">
  <p:tag name="KSO_WM_DIAGRAM_VIRTUALLY_FRAME" val="{&quot;height&quot;:424.7566929133858,&quot;left&quot;:280.8,&quot;top&quot;:92.65,&quot;width&quot;:580.9650393700788}"/>
</p:tagLst>
</file>

<file path=ppt/tags/tag791.xml><?xml version="1.0" encoding="utf-8"?>
<p:tagLst xmlns:p="http://schemas.openxmlformats.org/presentationml/2006/main">
  <p:tag name="KSO_WM_DIAGRAM_VIRTUALLY_FRAME" val="{&quot;height&quot;:424.7566929133858,&quot;left&quot;:280.8,&quot;top&quot;:92.65,&quot;width&quot;:580.9650393700788}"/>
</p:tagLst>
</file>

<file path=ppt/tags/tag792.xml><?xml version="1.0" encoding="utf-8"?>
<p:tagLst xmlns:p="http://schemas.openxmlformats.org/presentationml/2006/main">
  <p:tag name="KSO_WM_DIAGRAM_VIRTUALLY_FRAME" val="{&quot;height&quot;:424.7566929133858,&quot;left&quot;:280.8,&quot;top&quot;:92.65,&quot;width&quot;:580.9650393700788}"/>
</p:tagLst>
</file>

<file path=ppt/tags/tag793.xml><?xml version="1.0" encoding="utf-8"?>
<p:tagLst xmlns:p="http://schemas.openxmlformats.org/presentationml/2006/main">
  <p:tag name="KSO_WM_DIAGRAM_VIRTUALLY_FRAME" val="{&quot;height&quot;:424.7566929133858,&quot;left&quot;:280.8,&quot;top&quot;:92.65,&quot;width&quot;:580.9650393700788}"/>
</p:tagLst>
</file>

<file path=ppt/tags/tag794.xml><?xml version="1.0" encoding="utf-8"?>
<p:tagLst xmlns:p="http://schemas.openxmlformats.org/presentationml/2006/main">
  <p:tag name="TABLE_ENDDRAG_ORIGIN_RECT" val="248*215"/>
  <p:tag name="TABLE_ENDDRAG_RECT" val="571*299*248*215"/>
</p:tagLst>
</file>

<file path=ppt/tags/tag795.xml><?xml version="1.0" encoding="utf-8"?>
<p:tagLst xmlns:p="http://schemas.openxmlformats.org/presentationml/2006/main">
  <p:tag name="TABLE_ENDDRAG_ORIGIN_RECT" val="881*462"/>
  <p:tag name="TABLE_ENDDRAG_RECT" val="39*65*881*463"/>
</p:tagLst>
</file>

<file path=ppt/tags/tag796.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797.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798.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799.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0.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1.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2.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3.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4.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5.xml><?xml version="1.0" encoding="utf-8"?>
<p:tagLst xmlns:p="http://schemas.openxmlformats.org/presentationml/2006/main">
  <p:tag name="KSO_WM_DIAGRAM_VIRTUALLY_FRAME" val="{&quot;height&quot;:287.9788188976378,&quot;left&quot;:44.60070866141732,&quot;top&quot;:226.527874015748,&quot;width&quot;:631.8858267716535}"/>
</p:tagLst>
</file>

<file path=ppt/tags/tag806.xml><?xml version="1.0" encoding="utf-8"?>
<p:tagLst xmlns:p="http://schemas.openxmlformats.org/presentationml/2006/main">
  <p:tag name="THINKCELLSHAPEDONOTDELETE" val="prssrFQS.K0.vA6rYM.A38w"/>
</p:tagLst>
</file>

<file path=ppt/tags/tag807.xml><?xml version="1.0" encoding="utf-8"?>
<p:tagLst xmlns:p="http://schemas.openxmlformats.org/presentationml/2006/main">
  <p:tag name="THINKCELLSHAPEDONOTDELETE" val="prssrFQS.K0.vA6rYM.A38w"/>
</p:tagLst>
</file>

<file path=ppt/tags/tag808.xml><?xml version="1.0" encoding="utf-8"?>
<p:tagLst xmlns:p="http://schemas.openxmlformats.org/presentationml/2006/main">
  <p:tag name="KSO_WM_DIAGRAM_VIRTUALLY_FRAME" val="{&quot;height&quot;:424.7566929133858,&quot;left&quot;:280.8,&quot;top&quot;:92.65,&quot;width&quot;:580.9650393700788}"/>
</p:tagLst>
</file>

<file path=ppt/tags/tag809.xml><?xml version="1.0" encoding="utf-8"?>
<p:tagLst xmlns:p="http://schemas.openxmlformats.org/presentationml/2006/main">
  <p:tag name="KSO_WM_DIAGRAM_VIRTUALLY_FRAME" val="{&quot;height&quot;:424.7566929133858,&quot;left&quot;:280.8,&quot;top&quot;:92.65,&quot;width&quot;:580.9650393700788}"/>
</p:tagLst>
</file>

<file path=ppt/tags/tag810.xml><?xml version="1.0" encoding="utf-8"?>
<p:tagLst xmlns:p="http://schemas.openxmlformats.org/presentationml/2006/main">
  <p:tag name="KSO_WM_DIAGRAM_VIRTUALLY_FRAME" val="{&quot;height&quot;:424.7566929133858,&quot;left&quot;:280.8,&quot;top&quot;:92.65,&quot;width&quot;:580.9650393700788}"/>
</p:tagLst>
</file>

<file path=ppt/tags/tag811.xml><?xml version="1.0" encoding="utf-8"?>
<p:tagLst xmlns:p="http://schemas.openxmlformats.org/presentationml/2006/main">
  <p:tag name="KSO_WM_DIAGRAM_VIRTUALLY_FRAME" val="{&quot;height&quot;:424.7566929133858,&quot;left&quot;:280.8,&quot;top&quot;:92.65,&quot;width&quot;:580.9650393700788}"/>
</p:tagLst>
</file>

<file path=ppt/tags/tag812.xml><?xml version="1.0" encoding="utf-8"?>
<p:tagLst xmlns:p="http://schemas.openxmlformats.org/presentationml/2006/main">
  <p:tag name="KSO_WM_DIAGRAM_VIRTUALLY_FRAME" val="{&quot;height&quot;:424.7566929133858,&quot;left&quot;:280.8,&quot;top&quot;:92.65,&quot;width&quot;:580.9650393700788}"/>
</p:tagLst>
</file>

<file path=ppt/tags/tag813.xml><?xml version="1.0" encoding="utf-8"?>
<p:tagLst xmlns:p="http://schemas.openxmlformats.org/presentationml/2006/main">
  <p:tag name="KSO_WM_DIAGRAM_VIRTUALLY_FRAME" val="{&quot;height&quot;:424.7566929133858,&quot;left&quot;:280.8,&quot;top&quot;:92.65,&quot;width&quot;:580.9650393700788}"/>
</p:tagLst>
</file>

<file path=ppt/tags/tag814.xml><?xml version="1.0" encoding="utf-8"?>
<p:tagLst xmlns:p="http://schemas.openxmlformats.org/presentationml/2006/main">
  <p:tag name="KSO_WM_DIAGRAM_VIRTUALLY_FRAME" val="{&quot;height&quot;:424.7566929133858,&quot;left&quot;:280.8,&quot;top&quot;:92.65,&quot;width&quot;:580.9650393700788}"/>
</p:tagLst>
</file>

<file path=ppt/tags/tag815.xml><?xml version="1.0" encoding="utf-8"?>
<p:tagLst xmlns:p="http://schemas.openxmlformats.org/presentationml/2006/main">
  <p:tag name="KSO_WM_DIAGRAM_VIRTUALLY_FRAME" val="{&quot;height&quot;:424.7566929133858,&quot;left&quot;:280.8,&quot;top&quot;:92.65,&quot;width&quot;:580.9650393700788}"/>
</p:tagLst>
</file>

<file path=ppt/tags/tag816.xml><?xml version="1.0" encoding="utf-8"?>
<p:tagLst xmlns:p="http://schemas.openxmlformats.org/presentationml/2006/main">
  <p:tag name="KSO_WM_DIAGRAM_VIRTUALLY_FRAME" val="{&quot;height&quot;:424.7566929133858,&quot;left&quot;:280.8,&quot;top&quot;:92.65,&quot;width&quot;:580.9650393700788}"/>
</p:tagLst>
</file>

<file path=ppt/tags/tag817.xml><?xml version="1.0" encoding="utf-8"?>
<p:tagLst xmlns:p="http://schemas.openxmlformats.org/presentationml/2006/main">
  <p:tag name="KSO_WM_DIAGRAM_VIRTUALLY_FRAME" val="{&quot;height&quot;:424.7566929133858,&quot;left&quot;:280.8,&quot;top&quot;:92.65,&quot;width&quot;:580.9650393700788}"/>
</p:tagLst>
</file>

<file path=ppt/tags/tag818.xml><?xml version="1.0" encoding="utf-8"?>
<p:tagLst xmlns:p="http://schemas.openxmlformats.org/presentationml/2006/main">
  <p:tag name="KSO_WM_DIAGRAM_VIRTUALLY_FRAME" val="{&quot;height&quot;:424.7566929133858,&quot;left&quot;:280.8,&quot;top&quot;:92.65,&quot;width&quot;:580.9650393700788}"/>
</p:tagLst>
</file>

<file path=ppt/tags/tag819.xml><?xml version="1.0" encoding="utf-8"?>
<p:tagLst xmlns:p="http://schemas.openxmlformats.org/presentationml/2006/main">
  <p:tag name="KSO_WM_DIAGRAM_VIRTUALLY_FRAME" val="{&quot;height&quot;:424.7566929133858,&quot;left&quot;:280.8,&quot;top&quot;:92.65,&quot;width&quot;:580.9650393700788}"/>
</p:tagLst>
</file>

<file path=ppt/tags/tag820.xml><?xml version="1.0" encoding="utf-8"?>
<p:tagLst xmlns:p="http://schemas.openxmlformats.org/presentationml/2006/main">
  <p:tag name="KSO_WM_DIAGRAM_VIRTUALLY_FRAME" val="{&quot;height&quot;:424.7566929133858,&quot;left&quot;:280.8,&quot;top&quot;:92.65,&quot;width&quot;:580.9650393700788}"/>
</p:tagLst>
</file>

<file path=ppt/tags/tag821.xml><?xml version="1.0" encoding="utf-8"?>
<p:tagLst xmlns:p="http://schemas.openxmlformats.org/presentationml/2006/main">
  <p:tag name="KSO_WM_DIAGRAM_VIRTUALLY_FRAME" val="{&quot;height&quot;:424.7566929133858,&quot;left&quot;:280.8,&quot;top&quot;:92.65,&quot;width&quot;:580.9650393700788}"/>
</p:tagLst>
</file>

<file path=ppt/tags/tag822.xml><?xml version="1.0" encoding="utf-8"?>
<p:tagLst xmlns:p="http://schemas.openxmlformats.org/presentationml/2006/main">
  <p:tag name="KSO_WM_DIAGRAM_VIRTUALLY_FRAME" val="{&quot;height&quot;:424.7566929133858,&quot;left&quot;:280.8,&quot;top&quot;:92.65,&quot;width&quot;:580.9650393700788}"/>
</p:tagLst>
</file>

<file path=ppt/tags/tag823.xml><?xml version="1.0" encoding="utf-8"?>
<p:tagLst xmlns:p="http://schemas.openxmlformats.org/presentationml/2006/main">
  <p:tag name="KSO_WM_DIAGRAM_VIRTUALLY_FRAME" val="{&quot;height&quot;:424.7566929133858,&quot;left&quot;:280.8,&quot;top&quot;:92.65,&quot;width&quot;:580.9650393700788}"/>
</p:tagLst>
</file>

<file path=ppt/tags/tag824.xml><?xml version="1.0" encoding="utf-8"?>
<p:tagLst xmlns:p="http://schemas.openxmlformats.org/presentationml/2006/main">
  <p:tag name="KSO_WM_DIAGRAM_VIRTUALLY_FRAME" val="{&quot;height&quot;:424.7566929133858,&quot;left&quot;:280.8,&quot;top&quot;:92.65,&quot;width&quot;:580.9650393700788}"/>
</p:tagLst>
</file>

<file path=ppt/tags/tag825.xml><?xml version="1.0" encoding="utf-8"?>
<p:tagLst xmlns:p="http://schemas.openxmlformats.org/presentationml/2006/main">
  <p:tag name="KSO_WM_DIAGRAM_VIRTUALLY_FRAME" val="{&quot;height&quot;:424.7566929133858,&quot;left&quot;:280.8,&quot;top&quot;:92.65,&quot;width&quot;:580.9650393700788}"/>
</p:tagLst>
</file>

<file path=ppt/tags/tag826.xml><?xml version="1.0" encoding="utf-8"?>
<p:tagLst xmlns:p="http://schemas.openxmlformats.org/presentationml/2006/main">
  <p:tag name="KSO_WM_DIAGRAM_VIRTUALLY_FRAME" val="{&quot;height&quot;:424.7566929133858,&quot;left&quot;:280.8,&quot;top&quot;:92.65,&quot;width&quot;:580.9650393700788}"/>
</p:tagLst>
</file>

<file path=ppt/tags/tag827.xml><?xml version="1.0" encoding="utf-8"?>
<p:tagLst xmlns:p="http://schemas.openxmlformats.org/presentationml/2006/main">
  <p:tag name="KSO_WM_DIAGRAM_VIRTUALLY_FRAME" val="{&quot;height&quot;:424.7566929133858,&quot;left&quot;:280.8,&quot;top&quot;:92.65,&quot;width&quot;:580.9650393700788}"/>
</p:tagLst>
</file>

<file path=ppt/tags/tag828.xml><?xml version="1.0" encoding="utf-8"?>
<p:tagLst xmlns:p="http://schemas.openxmlformats.org/presentationml/2006/main">
  <p:tag name="KSO_WM_DIAGRAM_VIRTUALLY_FRAME" val="{&quot;height&quot;:376.5418110236221,&quot;left&quot;:58.5,&quot;top&quot;:97.75488188976378,&quot;width&quot;:819.9}"/>
</p:tagLst>
</file>

<file path=ppt/tags/tag829.xml><?xml version="1.0" encoding="utf-8"?>
<p:tagLst xmlns:p="http://schemas.openxmlformats.org/presentationml/2006/main">
  <p:tag name="KSO_WM_DIAGRAM_VIRTUALLY_FRAME" val="{&quot;height&quot;:376.5418110236221,&quot;left&quot;:58.5,&quot;top&quot;:97.75488188976378,&quot;width&quot;:819.9}"/>
</p:tagLst>
</file>

<file path=ppt/tags/tag830.xml><?xml version="1.0" encoding="utf-8"?>
<p:tagLst xmlns:p="http://schemas.openxmlformats.org/presentationml/2006/main">
  <p:tag name="KSO_WM_DIAGRAM_VIRTUALLY_FRAME" val="{&quot;height&quot;:376.5418110236221,&quot;left&quot;:58.5,&quot;top&quot;:97.75488188976378,&quot;width&quot;:819.9}"/>
</p:tagLst>
</file>

<file path=ppt/tags/tag831.xml><?xml version="1.0" encoding="utf-8"?>
<p:tagLst xmlns:p="http://schemas.openxmlformats.org/presentationml/2006/main">
  <p:tag name="KSO_WM_DIAGRAM_VIRTUALLY_FRAME" val="{&quot;height&quot;:376.5418110236221,&quot;left&quot;:58.5,&quot;top&quot;:97.75488188976378,&quot;width&quot;:819.9}"/>
</p:tagLst>
</file>

<file path=ppt/tags/tag832.xml><?xml version="1.0" encoding="utf-8"?>
<p:tagLst xmlns:p="http://schemas.openxmlformats.org/presentationml/2006/main">
  <p:tag name="KSO_WM_DIAGRAM_VIRTUALLY_FRAME" val="{&quot;height&quot;:376.5418110236221,&quot;left&quot;:58.5,&quot;top&quot;:97.75488188976378,&quot;width&quot;:819.9}"/>
</p:tagLst>
</file>

<file path=ppt/tags/tag833.xml><?xml version="1.0" encoding="utf-8"?>
<p:tagLst xmlns:p="http://schemas.openxmlformats.org/presentationml/2006/main">
  <p:tag name="KSO_WM_DIAGRAM_VIRTUALLY_FRAME" val="{&quot;height&quot;:376.5418110236221,&quot;left&quot;:58.5,&quot;top&quot;:97.75488188976378,&quot;width&quot;:819.9}"/>
</p:tagLst>
</file>

<file path=ppt/tags/tag834.xml><?xml version="1.0" encoding="utf-8"?>
<p:tagLst xmlns:p="http://schemas.openxmlformats.org/presentationml/2006/main">
  <p:tag name="KSO_WM_DIAGRAM_VIRTUALLY_FRAME" val="{&quot;height&quot;:376.5418110236221,&quot;left&quot;:58.5,&quot;top&quot;:97.75488188976378,&quot;width&quot;:819.9}"/>
</p:tagLst>
</file>

<file path=ppt/tags/tag835.xml><?xml version="1.0" encoding="utf-8"?>
<p:tagLst xmlns:p="http://schemas.openxmlformats.org/presentationml/2006/main">
  <p:tag name="KSO_WM_DIAGRAM_VIRTUALLY_FRAME" val="{&quot;height&quot;:376.5418110236221,&quot;left&quot;:58.5,&quot;top&quot;:97.75488188976378,&quot;width&quot;:819.9}"/>
</p:tagLst>
</file>

<file path=ppt/tags/tag836.xml><?xml version="1.0" encoding="utf-8"?>
<p:tagLst xmlns:p="http://schemas.openxmlformats.org/presentationml/2006/main">
  <p:tag name="KSO_WM_DIAGRAM_VIRTUALLY_FRAME" val="{&quot;height&quot;:424.7566929133858,&quot;left&quot;:280.8,&quot;top&quot;:92.65,&quot;width&quot;:580.9650393700788}"/>
</p:tagLst>
</file>

<file path=ppt/tags/tag837.xml><?xml version="1.0" encoding="utf-8"?>
<p:tagLst xmlns:p="http://schemas.openxmlformats.org/presentationml/2006/main">
  <p:tag name="KSO_WM_DIAGRAM_VIRTUALLY_FRAME" val="{&quot;height&quot;:424.7566929133858,&quot;left&quot;:280.8,&quot;top&quot;:92.65,&quot;width&quot;:580.9650393700788}"/>
</p:tagLst>
</file>

<file path=ppt/tags/tag838.xml><?xml version="1.0" encoding="utf-8"?>
<p:tagLst xmlns:p="http://schemas.openxmlformats.org/presentationml/2006/main">
  <p:tag name="KSO_WM_DIAGRAM_VIRTUALLY_FRAME" val="{&quot;height&quot;:424.7566929133858,&quot;left&quot;:280.8,&quot;top&quot;:92.65,&quot;width&quot;:580.9650393700788}"/>
</p:tagLst>
</file>

<file path=ppt/tags/tag839.xml><?xml version="1.0" encoding="utf-8"?>
<p:tagLst xmlns:p="http://schemas.openxmlformats.org/presentationml/2006/main">
  <p:tag name="KSO_WM_DIAGRAM_VIRTUALLY_FRAME" val="{&quot;height&quot;:424.7566929133858,&quot;left&quot;:280.8,&quot;top&quot;:92.65,&quot;width&quot;:580.9650393700788}"/>
</p:tagLst>
</file>

<file path=ppt/tags/tag840.xml><?xml version="1.0" encoding="utf-8"?>
<p:tagLst xmlns:p="http://schemas.openxmlformats.org/presentationml/2006/main">
  <p:tag name="KSO_WM_DIAGRAM_VIRTUALLY_FRAME" val="{&quot;height&quot;:424.7566929133858,&quot;left&quot;:280.8,&quot;top&quot;:92.65,&quot;width&quot;:580.9650393700788}"/>
</p:tagLst>
</file>

<file path=ppt/tags/tag841.xml><?xml version="1.0" encoding="utf-8"?>
<p:tagLst xmlns:p="http://schemas.openxmlformats.org/presentationml/2006/main">
  <p:tag name="KSO_WM_DIAGRAM_VIRTUALLY_FRAME" val="{&quot;height&quot;:424.7566929133858,&quot;left&quot;:280.8,&quot;top&quot;:92.65,&quot;width&quot;:580.9650393700788}"/>
</p:tagLst>
</file>

<file path=ppt/tags/tag842.xml><?xml version="1.0" encoding="utf-8"?>
<p:tagLst xmlns:p="http://schemas.openxmlformats.org/presentationml/2006/main">
  <p:tag name="KSO_WM_DIAGRAM_VIRTUALLY_FRAME" val="{&quot;height&quot;:424.7566929133858,&quot;left&quot;:280.8,&quot;top&quot;:92.65,&quot;width&quot;:580.9650393700788}"/>
</p:tagLst>
</file>

<file path=ppt/tags/tag843.xml><?xml version="1.0" encoding="utf-8"?>
<p:tagLst xmlns:p="http://schemas.openxmlformats.org/presentationml/2006/main">
  <p:tag name="KSO_WM_DIAGRAM_VIRTUALLY_FRAME" val="{&quot;height&quot;:424.7566929133858,&quot;left&quot;:280.8,&quot;top&quot;:92.65,&quot;width&quot;:580.9650393700788}"/>
</p:tagLst>
</file>

<file path=ppt/tags/tag844.xml><?xml version="1.0" encoding="utf-8"?>
<p:tagLst xmlns:p="http://schemas.openxmlformats.org/presentationml/2006/main">
  <p:tag name="KSO_WM_DIAGRAM_VIRTUALLY_FRAME" val="{&quot;height&quot;:424.7566929133858,&quot;left&quot;:280.8,&quot;top&quot;:92.65,&quot;width&quot;:580.9650393700788}"/>
</p:tagLst>
</file>

<file path=ppt/tags/tag845.xml><?xml version="1.0" encoding="utf-8"?>
<p:tagLst xmlns:p="http://schemas.openxmlformats.org/presentationml/2006/main">
  <p:tag name="KSO_WM_DIAGRAM_VIRTUALLY_FRAME" val="{&quot;height&quot;:424.7566929133858,&quot;left&quot;:280.8,&quot;top&quot;:92.65,&quot;width&quot;:580.9650393700788}"/>
</p:tagLst>
</file>

<file path=ppt/tags/tag846.xml><?xml version="1.0" encoding="utf-8"?>
<p:tagLst xmlns:p="http://schemas.openxmlformats.org/presentationml/2006/main">
  <p:tag name="KSO_WM_DIAGRAM_VIRTUALLY_FRAME" val="{&quot;height&quot;:424.7566929133858,&quot;left&quot;:280.8,&quot;top&quot;:92.65,&quot;width&quot;:580.9650393700788}"/>
</p:tagLst>
</file>

<file path=ppt/tags/tag847.xml><?xml version="1.0" encoding="utf-8"?>
<p:tagLst xmlns:p="http://schemas.openxmlformats.org/presentationml/2006/main">
  <p:tag name="KSO_WM_DIAGRAM_VIRTUALLY_FRAME" val="{&quot;height&quot;:424.7566929133858,&quot;left&quot;:280.8,&quot;top&quot;:92.65,&quot;width&quot;:580.9650393700788}"/>
</p:tagLst>
</file>

<file path=ppt/tags/tag848.xml><?xml version="1.0" encoding="utf-8"?>
<p:tagLst xmlns:p="http://schemas.openxmlformats.org/presentationml/2006/main">
  <p:tag name="KSO_WM_DIAGRAM_VIRTUALLY_FRAME" val="{&quot;height&quot;:424.7566929133858,&quot;left&quot;:280.8,&quot;top&quot;:92.65,&quot;width&quot;:580.9650393700788}"/>
</p:tagLst>
</file>

<file path=ppt/tags/tag849.xml><?xml version="1.0" encoding="utf-8"?>
<p:tagLst xmlns:p="http://schemas.openxmlformats.org/presentationml/2006/main">
  <p:tag name="KSO_WM_DIAGRAM_VIRTUALLY_FRAME" val="{&quot;height&quot;:424.7566929133858,&quot;left&quot;:280.8,&quot;top&quot;:92.65,&quot;width&quot;:580.9650393700788}"/>
</p:tagLst>
</file>

<file path=ppt/tags/tag850.xml><?xml version="1.0" encoding="utf-8"?>
<p:tagLst xmlns:p="http://schemas.openxmlformats.org/presentationml/2006/main">
  <p:tag name="KSO_WM_DIAGRAM_VIRTUALLY_FRAME" val="{&quot;height&quot;:424.7566929133858,&quot;left&quot;:280.8,&quot;top&quot;:92.65,&quot;width&quot;:580.9650393700788}"/>
</p:tagLst>
</file>

<file path=ppt/tags/tag851.xml><?xml version="1.0" encoding="utf-8"?>
<p:tagLst xmlns:p="http://schemas.openxmlformats.org/presentationml/2006/main">
  <p:tag name="KSO_WM_DIAGRAM_VIRTUALLY_FRAME" val="{&quot;height&quot;:424.7566929133858,&quot;left&quot;:280.8,&quot;top&quot;:92.65,&quot;width&quot;:580.9650393700788}"/>
</p:tagLst>
</file>

<file path=ppt/tags/tag852.xml><?xml version="1.0" encoding="utf-8"?>
<p:tagLst xmlns:p="http://schemas.openxmlformats.org/presentationml/2006/main">
  <p:tag name="KSO_WM_DIAGRAM_VIRTUALLY_FRAME" val="{&quot;height&quot;:424.7566929133858,&quot;left&quot;:280.8,&quot;top&quot;:92.65,&quot;width&quot;:580.9650393700788}"/>
</p:tagLst>
</file>

<file path=ppt/tags/tag853.xml><?xml version="1.0" encoding="utf-8"?>
<p:tagLst xmlns:p="http://schemas.openxmlformats.org/presentationml/2006/main">
  <p:tag name="KSO_WM_DIAGRAM_VIRTUALLY_FRAME" val="{&quot;height&quot;:424.7566929133858,&quot;left&quot;:280.8,&quot;top&quot;:92.65,&quot;width&quot;:580.9650393700788}"/>
</p:tagLst>
</file>

<file path=ppt/tags/tag854.xml><?xml version="1.0" encoding="utf-8"?>
<p:tagLst xmlns:p="http://schemas.openxmlformats.org/presentationml/2006/main">
  <p:tag name="KSO_WM_DIAGRAM_VIRTUALLY_FRAME" val="{&quot;height&quot;:424.7566929133858,&quot;left&quot;:280.8,&quot;top&quot;:92.65,&quot;width&quot;:580.9650393700788}"/>
</p:tagLst>
</file>

<file path=ppt/tags/tag855.xml><?xml version="1.0" encoding="utf-8"?>
<p:tagLst xmlns:p="http://schemas.openxmlformats.org/presentationml/2006/main">
  <p:tag name="KSO_WM_DIAGRAM_VIRTUALLY_FRAME" val="{&quot;height&quot;:424.7566929133858,&quot;left&quot;:280.8,&quot;top&quot;:92.65,&quot;width&quot;:580.9650393700788}"/>
</p:tagLst>
</file>

<file path=ppt/tags/tag85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31_5*a*1"/>
  <p:tag name="KSO_WM_TEMPLATE_CATEGORY" val="diagram"/>
  <p:tag name="KSO_WM_TEMPLATE_INDEX" val="2023173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5"/>
  <p:tag name="KSO_WM_TEMPLATE_CATEGORY" val="diagram"/>
  <p:tag name="KSO_WM_TEMPLATE_INDEX" val="20231731"/>
  <p:tag name="KSO_WM_UNIT_LAYERLEVEL" val="1_1"/>
  <p:tag name="KSO_WM_TAG_VERSION" val="3.0"/>
  <p:tag name="KSO_WM_DIAGRAM_GROUP_CODE" val="l1-1"/>
  <p:tag name="KSO_WM_UNIT_TYPE" val="l_i"/>
  <p:tag name="KSO_WM_UNIT_INDEX" val="1_15"/>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6000000238418579,&quot;colorType&quot;:1,&quot;foreColorIndex&quot;:5,&quot;pos&quot;:0,&quot;transparency&quot;:0},{&quot;brightness&quot;:0,&quot;colorType&quot;:1,&quot;foreColorIndex&quot;:5,&quot;pos&quot;:0.9200000166893005,&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731_1*l_h_i*1_1_3"/>
  <p:tag name="KSO_WM_TEMPLATE_CATEGORY" val="diagram"/>
  <p:tag name="KSO_WM_TEMPLATE_INDEX" val="20231731"/>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SHADOW_SCHEMECOLOR_INDEX" val="5"/>
  <p:tag name="KSO_WM_UNIT_TEXT_FILL_FORE_SCHEMECOLOR_INDEX" val="2"/>
  <p:tag name="KSO_WM_UNIT_TEXT_FILL_TYPE" val="1"/>
  <p:tag name="KSO_WM_UNIT_USESOURCEFORMAT_APPLY" val="1"/>
</p:tagLst>
</file>

<file path=ppt/tags/tag8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731_1*l_h_i*1_1_2"/>
  <p:tag name="KSO_WM_TEMPLATE_CATEGORY" val="diagram"/>
  <p:tag name="KSO_WM_TEMPLATE_INDEX" val="20231731"/>
  <p:tag name="KSO_WM_UNIT_LAYERLEVEL" val="1_1_1"/>
  <p:tag name="KSO_WM_TAG_VERSION" val="3.0"/>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8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31_1*l_h_f*1_1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
  <p:tag name="KSO_WM_UNIT_TEXT_FILL_FORE_SCHEMECOLOR_INDEX" val="1"/>
  <p:tag name="KSO_WM_UNIT_TEXT_FILL_TYPE" val="1"/>
  <p:tag name="KSO_WM_UNIT_USESOURCEFORMAT_APPLY" val="1"/>
</p:tagLst>
</file>

<file path=ppt/tags/tag8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31_1*l_h_a*1_1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UNIT_USESOURCEFORMAT_APPLY" val="1"/>
</p:tagLst>
</file>

<file path=ppt/tags/tag8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731_1*l_h_i*1_1_1"/>
  <p:tag name="KSO_WM_TEMPLATE_CATEGORY" val="diagram"/>
  <p:tag name="KSO_WM_TEMPLATE_INDEX" val="20231731"/>
  <p:tag name="KSO_WM_UNIT_LAYERLEVEL" val="1_1_1"/>
  <p:tag name="KSO_WM_TAG_VERSION" val="3.0"/>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8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731_1*l_h_i*1_2_3"/>
  <p:tag name="KSO_WM_TEMPLATE_CATEGORY" val="diagram"/>
  <p:tag name="KSO_WM_TEMPLATE_INDEX" val="20231731"/>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SHADOW_SCHEMECOLOR_INDEX" val="6"/>
  <p:tag name="KSO_WM_UNIT_TEXT_FILL_FORE_SCHEMECOLOR_INDEX" val="2"/>
  <p:tag name="KSO_WM_UNIT_TEXT_FILL_TYPE" val="1"/>
  <p:tag name="KSO_WM_UNIT_USESOURCEFORMAT_APPLY" val="1"/>
</p:tagLst>
</file>

<file path=ppt/tags/tag8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731_1*l_h_i*1_2_2"/>
  <p:tag name="KSO_WM_TEMPLATE_CATEGORY" val="diagram"/>
  <p:tag name="KSO_WM_TEMPLATE_INDEX" val="20231731"/>
  <p:tag name="KSO_WM_UNIT_LAYERLEVEL" val="1_1_1"/>
  <p:tag name="KSO_WM_TAG_VERSION" val="3.0"/>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8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31_1*l_h_a*1_2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UNIT_USESOURCEFORMAT_APPLY" val="1"/>
</p:tagLst>
</file>

<file path=ppt/tags/tag8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731_1*l_h_i*1_2_1"/>
  <p:tag name="KSO_WM_TEMPLATE_CATEGORY" val="diagram"/>
  <p:tag name="KSO_WM_TEMPLATE_INDEX" val="20231731"/>
  <p:tag name="KSO_WM_UNIT_LAYERLEVEL" val="1_1_1"/>
  <p:tag name="KSO_WM_TAG_VERSION" val="3.0"/>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
  <p:tag name="KSO_WM_TEMPLATE_CATEGORY" val="diagram"/>
  <p:tag name="KSO_WM_TEMPLATE_INDEX" val="20231731"/>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quot;colorType&quot;:1,&quot;foreColorIndex&quot;:5,&quot;pos&quot;:0,&quot;transparency&quot;:0.8500000238418579},{&quot;brightness&quot;:0,&quot;colorType&quot;:1,&quot;foreColorIndex&quot;:5,&quot;pos&quot;:1,&quot;transparency&quot;:1}],&quot;type&quot;:3},&quot;glow&quot;:{&quot;colorType&quot;:0},&quot;line&quot;:{&quot;gradient&quot;:[{&quot;brightness&quot;:0,&quot;colorType&quot;:1,&quot;foreColorIndex&quot;:5,&quot;pos&quot;:0,&quot;transparency&quot;:0},{&quot;brightness&quot;:0,&quot;colorType&quot;:1,&quot;foreColorIndex&quot;:5,&quot;pos&quot;:0.8700000047683716,&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TEXT_FILL_FORE_SCHEMECOLOR_INDEX" val="2"/>
  <p:tag name="KSO_WM_UNIT_TEXT_FILL_TYPE" val="1"/>
  <p:tag name="KSO_WM_UNIT_USESOURCEFORMAT_APPLY" val="1"/>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2"/>
  <p:tag name="KSO_WM_TEMPLATE_CATEGORY" val="diagram"/>
  <p:tag name="KSO_WM_TEMPLATE_INDEX" val="20231731"/>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199999988079071,&quot;colorType&quot;:1,&quot;foreColorIndex&quot;:5,&quot;pos&quot;:0.009999999776482582,&quot;transparency&quot;:0},{&quot;brightness&quot;:-0.09000000357627869,&quot;colorType&quot;:1,&quot;foreColorIndex&quot;:5,&quot;pos&quot;:0.77999997138977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3"/>
  <p:tag name="KSO_WM_TEMPLATE_CATEGORY" val="diagram"/>
  <p:tag name="KSO_WM_TEMPLATE_INDEX" val="20231731"/>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4000000059604645,&quot;colorType&quot;:1,&quot;foreColorIndex&quot;:5,&quot;pos&quot;:0.1899999976158142,&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4"/>
  <p:tag name="KSO_WM_TEMPLATE_CATEGORY" val="diagram"/>
  <p:tag name="KSO_WM_TEMPLATE_INDEX" val="20231731"/>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5,&quot;colorType&quot;:1,&quot;foreColorIndex&quot;:5,&quot;pos&quot;:0,&quot;transparency&quot;:0},{&quot;brightness&quot;:0.1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5"/>
  <p:tag name="KSO_WM_TEMPLATE_CATEGORY" val="diagram"/>
  <p:tag name="KSO_WM_TEMPLATE_INDEX" val="20231731"/>
  <p:tag name="KSO_WM_UNIT_LAYERLEVEL" val="1_1"/>
  <p:tag name="KSO_WM_TAG_VERSION" val="3.0"/>
  <p:tag name="KSO_WM_DIAGRAM_GROUP_CODE" val="l1-1"/>
  <p:tag name="KSO_WM_UNIT_TYPE" val="l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5,&quot;colorType&quot;:1,&quot;foreColorIndex&quot;:5,&quot;pos&quot;:0.36000001430511475,&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6"/>
  <p:tag name="KSO_WM_TEMPLATE_CATEGORY" val="diagram"/>
  <p:tag name="KSO_WM_TEMPLATE_INDEX" val="20231731"/>
  <p:tag name="KSO_WM_UNIT_LAYERLEVEL" val="1_1"/>
  <p:tag name="KSO_WM_TAG_VERSION" val="3.0"/>
  <p:tag name="KSO_WM_DIAGRAM_GROUP_CODE" val="l1-1"/>
  <p:tag name="KSO_WM_UNIT_TYPE" val="l_i"/>
  <p:tag name="KSO_WM_UNIT_INDEX" val="1_6"/>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4000000059604645,&quot;colorType&quot;:1,&quot;foreColorIndex&quot;:5,&quot;pos&quot;:0.009999999776482582,&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7"/>
  <p:tag name="KSO_WM_TEMPLATE_CATEGORY" val="diagram"/>
  <p:tag name="KSO_WM_TEMPLATE_INDEX" val="20231731"/>
  <p:tag name="KSO_WM_UNIT_LAYERLEVEL" val="1_1"/>
  <p:tag name="KSO_WM_TAG_VERSION" val="3.0"/>
  <p:tag name="KSO_WM_DIAGRAM_GROUP_CODE" val="l1-1"/>
  <p:tag name="KSO_WM_UNIT_TYPE" val="l_i"/>
  <p:tag name="KSO_WM_UNIT_INDEX" val="1_7"/>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5,&quot;colorType&quot;:1,&quot;foreColorIndex&quot;:5,&quot;pos&quot;:0.2800000011920929,&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8"/>
  <p:tag name="KSO_WM_TEMPLATE_CATEGORY" val="diagram"/>
  <p:tag name="KSO_WM_TEMPLATE_INDEX" val="20231731"/>
  <p:tag name="KSO_WM_UNIT_LAYERLEVEL" val="1_1"/>
  <p:tag name="KSO_WM_TAG_VERSION" val="3.0"/>
  <p:tag name="KSO_WM_DIAGRAM_GROUP_CODE" val="l1-1"/>
  <p:tag name="KSO_WM_UNIT_TYPE" val="l_i"/>
  <p:tag name="KSO_WM_UNIT_INDEX" val="1_8"/>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9"/>
  <p:tag name="KSO_WM_TEMPLATE_CATEGORY" val="diagram"/>
  <p:tag name="KSO_WM_TEMPLATE_INDEX" val="20231731"/>
  <p:tag name="KSO_WM_UNIT_LAYERLEVEL" val="1_1"/>
  <p:tag name="KSO_WM_TAG_VERSION" val="3.0"/>
  <p:tag name="KSO_WM_DIAGRAM_GROUP_CODE" val="l1-1"/>
  <p:tag name="KSO_WM_UNIT_TYPE" val="l_i"/>
  <p:tag name="KSO_WM_UNIT_INDEX" val="1_9"/>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6399999856948853,&quot;colorType&quot;:1,&quot;foreColorIndex&quot;:5,&quot;pos&quot;:0,&quot;transparency&quot;:0},{&quot;brightness&quot;:0.23000000417232513,&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0"/>
  <p:tag name="KSO_WM_TEMPLATE_CATEGORY" val="diagram"/>
  <p:tag name="KSO_WM_TEMPLATE_INDEX" val="20231731"/>
  <p:tag name="KSO_WM_UNIT_LAYERLEVEL" val="1_1"/>
  <p:tag name="KSO_WM_TAG_VERSION" val="3.0"/>
  <p:tag name="KSO_WM_DIAGRAM_GROUP_CODE" val="l1-1"/>
  <p:tag name="KSO_WM_UNIT_TYPE" val="l_i"/>
  <p:tag name="KSO_WM_UNIT_INDEX" val="1_10"/>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1"/>
  <p:tag name="KSO_WM_TEMPLATE_CATEGORY" val="diagram"/>
  <p:tag name="KSO_WM_TEMPLATE_INDEX" val="20231731"/>
  <p:tag name="KSO_WM_UNIT_LAYERLEVEL" val="1_1"/>
  <p:tag name="KSO_WM_TAG_VERSION" val="3.0"/>
  <p:tag name="KSO_WM_DIAGRAM_GROUP_CODE" val="l1-1"/>
  <p:tag name="KSO_WM_UNIT_TYPE" val="l_i"/>
  <p:tag name="KSO_WM_UNIT_INDEX" val="1_11"/>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8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2"/>
  <p:tag name="KSO_WM_TEMPLATE_CATEGORY" val="diagram"/>
  <p:tag name="KSO_WM_TEMPLATE_INDEX" val="20231731"/>
  <p:tag name="KSO_WM_UNIT_LAYERLEVEL" val="1_1"/>
  <p:tag name="KSO_WM_TAG_VERSION" val="3.0"/>
  <p:tag name="KSO_WM_DIAGRAM_GROUP_CODE" val="l1-1"/>
  <p:tag name="KSO_WM_UNIT_TYPE" val="l_i"/>
  <p:tag name="KSO_WM_UNIT_INDEX" val="1_12"/>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gradient&quot;:[{&quot;brightness&quot;:0.4000000059604645,&quot;colorType&quot;:1,&quot;foreColorIndex&quot;:5,&quot;pos&quot;:0.009999999776482582,&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3"/>
  <p:tag name="KSO_WM_TEMPLATE_CATEGORY" val="diagram"/>
  <p:tag name="KSO_WM_TEMPLATE_INDEX" val="20231731"/>
  <p:tag name="KSO_WM_UNIT_LAYERLEVEL" val="1_1"/>
  <p:tag name="KSO_WM_TAG_VERSION" val="3.0"/>
  <p:tag name="KSO_WM_DIAGRAM_GROUP_CODE" val="l1-1"/>
  <p:tag name="KSO_WM_UNIT_TYPE" val="l_i"/>
  <p:tag name="KSO_WM_UNIT_INDEX" val="1_13"/>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1*l_i*1_14"/>
  <p:tag name="KSO_WM_TEMPLATE_CATEGORY" val="diagram"/>
  <p:tag name="KSO_WM_TEMPLATE_INDEX" val="20231731"/>
  <p:tag name="KSO_WM_UNIT_LAYERLEVEL" val="1_1"/>
  <p:tag name="KSO_WM_TAG_VERSION" val="3.0"/>
  <p:tag name="KSO_WM_DIAGRAM_GROUP_CODE" val="l1-1"/>
  <p:tag name="KSO_WM_UNIT_TYPE" val="l_i"/>
  <p:tag name="KSO_WM_UNIT_INDEX" val="1_14"/>
  <p:tag name="KSO_WM_DIAGRAM_VERSION" val="3"/>
  <p:tag name="KSO_WM_DIAGRAM_COLOR_TRICK" val="1"/>
  <p:tag name="KSO_WM_DIAGRAM_COLOR_TEXT_CAN_REMOVE" val="n"/>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gradient&quot;:[{&quot;brightness&quot;:0.800000011920929,&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8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31_1*l_h_f*1_2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1.43387487765165,&quot;left&quot;:67.61551181102362,&quot;top&quot;:122.73975547456003,&quot;width&quot;:797.13795275590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输入你的项正文"/>
  <p:tag name="KSO_WM_UNIT_TEXT_FILL_FORE_SCHEMECOLOR_INDEX" val="1"/>
  <p:tag name="KSO_WM_UNIT_TEXT_FILL_TYPE" val="1"/>
  <p:tag name="KSO_WM_UNIT_USESOURCEFORMAT_APPLY" val="1"/>
</p:tagLst>
</file>

<file path=ppt/tags/tag882.xml><?xml version="1.0" encoding="utf-8"?>
<p:tagLst xmlns:p="http://schemas.openxmlformats.org/presentationml/2006/main">
  <p:tag name="KSO_WM_SLIDE_ID" val="diagram2023173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31"/>
  <p:tag name="KSO_WM_SLIDE_TYPE" val="text"/>
  <p:tag name="KSO_WM_SLIDE_SUBTYPE" val="diag"/>
  <p:tag name="KSO_WM_SLIDE_SIZE" val="797.069*282.746"/>
  <p:tag name="KSO_WM_SLIDE_POSITION" val="81.4655*193.373"/>
  <p:tag name="KSO_WM_SLIDE_LAYOUT" val="a_l"/>
  <p:tag name="KSO_WM_SLIDE_LAYOUT_CNT" val="1_1"/>
  <p:tag name="KSO_WM_SPECIAL_SOURCE" val="bdnull"/>
  <p:tag name="KSO_WM_DIAGRAM_GROUP_CODE" val="l1-1"/>
  <p:tag name="KSO_WM_SLIDE_DIAGTYPE" val="l"/>
</p:tagLst>
</file>

<file path=ppt/tags/tag883.xml><?xml version="1.0" encoding="utf-8"?>
<p:tagLst xmlns:p="http://schemas.openxmlformats.org/presentationml/2006/main">
  <p:tag name="KSO_WM_DIAGRAM_VIRTUALLY_FRAME" val="{&quot;height&quot;:424.7566929133858,&quot;left&quot;:280.8,&quot;top&quot;:92.65,&quot;width&quot;:580.9650393700788}"/>
</p:tagLst>
</file>

<file path=ppt/tags/tag884.xml><?xml version="1.0" encoding="utf-8"?>
<p:tagLst xmlns:p="http://schemas.openxmlformats.org/presentationml/2006/main">
  <p:tag name="KSO_WM_DIAGRAM_VIRTUALLY_FRAME" val="{&quot;height&quot;:424.7566929133858,&quot;left&quot;:280.8,&quot;top&quot;:92.65,&quot;width&quot;:580.9650393700788}"/>
</p:tagLst>
</file>

<file path=ppt/tags/tag885.xml><?xml version="1.0" encoding="utf-8"?>
<p:tagLst xmlns:p="http://schemas.openxmlformats.org/presentationml/2006/main">
  <p:tag name="KSO_WM_DIAGRAM_VIRTUALLY_FRAME" val="{&quot;height&quot;:424.7566929133858,&quot;left&quot;:280.8,&quot;top&quot;:92.65,&quot;width&quot;:580.9650393700788}"/>
</p:tagLst>
</file>

<file path=ppt/tags/tag886.xml><?xml version="1.0" encoding="utf-8"?>
<p:tagLst xmlns:p="http://schemas.openxmlformats.org/presentationml/2006/main">
  <p:tag name="KSO_WM_DIAGRAM_VIRTUALLY_FRAME" val="{&quot;height&quot;:424.7566929133858,&quot;left&quot;:280.8,&quot;top&quot;:92.65,&quot;width&quot;:580.9650393700788}"/>
</p:tagLst>
</file>

<file path=ppt/tags/tag887.xml><?xml version="1.0" encoding="utf-8"?>
<p:tagLst xmlns:p="http://schemas.openxmlformats.org/presentationml/2006/main">
  <p:tag name="KSO_WM_DIAGRAM_VIRTUALLY_FRAME" val="{&quot;height&quot;:424.7566929133858,&quot;left&quot;:280.8,&quot;top&quot;:92.65,&quot;width&quot;:580.9650393700788}"/>
</p:tagLst>
</file>

<file path=ppt/tags/tag888.xml><?xml version="1.0" encoding="utf-8"?>
<p:tagLst xmlns:p="http://schemas.openxmlformats.org/presentationml/2006/main">
  <p:tag name="KSO_WM_DIAGRAM_VIRTUALLY_FRAME" val="{&quot;height&quot;:424.7566929133858,&quot;left&quot;:280.8,&quot;top&quot;:92.65,&quot;width&quot;:580.9650393700788}"/>
</p:tagLst>
</file>

<file path=ppt/tags/tag889.xml><?xml version="1.0" encoding="utf-8"?>
<p:tagLst xmlns:p="http://schemas.openxmlformats.org/presentationml/2006/main">
  <p:tag name="KSO_WM_DIAGRAM_VIRTUALLY_FRAME" val="{&quot;height&quot;:424.7566929133858,&quot;left&quot;:280.8,&quot;top&quot;:92.65,&quot;width&quot;:580.9650393700788}"/>
</p:tagLst>
</file>

<file path=ppt/tags/tag890.xml><?xml version="1.0" encoding="utf-8"?>
<p:tagLst xmlns:p="http://schemas.openxmlformats.org/presentationml/2006/main">
  <p:tag name="KSO_WM_DIAGRAM_VIRTUALLY_FRAME" val="{&quot;height&quot;:424.7566929133858,&quot;left&quot;:280.8,&quot;top&quot;:92.65,&quot;width&quot;:580.9650393700788}"/>
</p:tagLst>
</file>

<file path=ppt/tags/tag891.xml><?xml version="1.0" encoding="utf-8"?>
<p:tagLst xmlns:p="http://schemas.openxmlformats.org/presentationml/2006/main">
  <p:tag name="KSO_WM_DIAGRAM_VIRTUALLY_FRAME" val="{&quot;height&quot;:424.7566929133858,&quot;left&quot;:280.8,&quot;top&quot;:92.65,&quot;width&quot;:580.9650393700788}"/>
</p:tagLst>
</file>

<file path=ppt/tags/tag892.xml><?xml version="1.0" encoding="utf-8"?>
<p:tagLst xmlns:p="http://schemas.openxmlformats.org/presentationml/2006/main">
  <p:tag name="KSO_WM_DIAGRAM_VIRTUALLY_FRAME" val="{&quot;height&quot;:424.7566929133858,&quot;left&quot;:280.8,&quot;top&quot;:92.65,&quot;width&quot;:580.9650393700788}"/>
</p:tagLst>
</file>

<file path=ppt/tags/tag893.xml><?xml version="1.0" encoding="utf-8"?>
<p:tagLst xmlns:p="http://schemas.openxmlformats.org/presentationml/2006/main">
  <p:tag name="KSO_WM_DIAGRAM_VIRTUALLY_FRAME" val="{&quot;height&quot;:424.7566929133858,&quot;left&quot;:280.8,&quot;top&quot;:92.65,&quot;width&quot;:580.9650393700788}"/>
</p:tagLst>
</file>

<file path=ppt/tags/tag894.xml><?xml version="1.0" encoding="utf-8"?>
<p:tagLst xmlns:p="http://schemas.openxmlformats.org/presentationml/2006/main">
  <p:tag name="KSO_WM_DIAGRAM_VIRTUALLY_FRAME" val="{&quot;height&quot;:424.7566929133858,&quot;left&quot;:280.8,&quot;top&quot;:92.65,&quot;width&quot;:580.9650393700788}"/>
</p:tagLst>
</file>

<file path=ppt/tags/tag895.xml><?xml version="1.0" encoding="utf-8"?>
<p:tagLst xmlns:p="http://schemas.openxmlformats.org/presentationml/2006/main">
  <p:tag name="KSO_WM_DIAGRAM_VIRTUALLY_FRAME" val="{&quot;height&quot;:424.7566929133858,&quot;left&quot;:280.8,&quot;top&quot;:92.65,&quot;width&quot;:580.9650393700788}"/>
</p:tagLst>
</file>

<file path=ppt/tags/tag896.xml><?xml version="1.0" encoding="utf-8"?>
<p:tagLst xmlns:p="http://schemas.openxmlformats.org/presentationml/2006/main">
  <p:tag name="KSO_WM_DIAGRAM_VIRTUALLY_FRAME" val="{&quot;height&quot;:424.7566929133858,&quot;left&quot;:280.8,&quot;top&quot;:92.65,&quot;width&quot;:580.9650393700788}"/>
</p:tagLst>
</file>

<file path=ppt/tags/tag897.xml><?xml version="1.0" encoding="utf-8"?>
<p:tagLst xmlns:p="http://schemas.openxmlformats.org/presentationml/2006/main">
  <p:tag name="KSO_WM_DIAGRAM_VIRTUALLY_FRAME" val="{&quot;height&quot;:424.7566929133858,&quot;left&quot;:280.8,&quot;top&quot;:92.65,&quot;width&quot;:580.9650393700788}"/>
</p:tagLst>
</file>

<file path=ppt/tags/tag898.xml><?xml version="1.0" encoding="utf-8"?>
<p:tagLst xmlns:p="http://schemas.openxmlformats.org/presentationml/2006/main">
  <p:tag name="KSO_WM_DIAGRAM_VIRTUALLY_FRAME" val="{&quot;height&quot;:424.7566929133858,&quot;left&quot;:280.8,&quot;top&quot;:92.65,&quot;width&quot;:580.9650393700788}"/>
</p:tagLst>
</file>

<file path=ppt/tags/tag899.xml><?xml version="1.0" encoding="utf-8"?>
<p:tagLst xmlns:p="http://schemas.openxmlformats.org/presentationml/2006/main">
  <p:tag name="KSO_WM_DIAGRAM_VIRTUALLY_FRAME" val="{&quot;height&quot;:424.7566929133858,&quot;left&quot;:280.8,&quot;top&quot;:92.65,&quot;width&quot;:580.9650393700788}"/>
</p:tagLst>
</file>

<file path=ppt/tags/tag900.xml><?xml version="1.0" encoding="utf-8"?>
<p:tagLst xmlns:p="http://schemas.openxmlformats.org/presentationml/2006/main">
  <p:tag name="KSO_WM_DIAGRAM_VIRTUALLY_FRAME" val="{&quot;height&quot;:424.7566929133858,&quot;left&quot;:280.8,&quot;top&quot;:92.65,&quot;width&quot;:580.9650393700788}"/>
</p:tagLst>
</file>

<file path=ppt/tags/tag901.xml><?xml version="1.0" encoding="utf-8"?>
<p:tagLst xmlns:p="http://schemas.openxmlformats.org/presentationml/2006/main">
  <p:tag name="KSO_WM_DIAGRAM_VIRTUALLY_FRAME" val="{&quot;height&quot;:424.7566929133858,&quot;left&quot;:280.8,&quot;top&quot;:92.65,&quot;width&quot;:580.9650393700788}"/>
</p:tagLst>
</file>

<file path=ppt/tags/tag902.xml><?xml version="1.0" encoding="utf-8"?>
<p:tagLst xmlns:p="http://schemas.openxmlformats.org/presentationml/2006/main">
  <p:tag name="KSO_WM_DIAGRAM_VIRTUALLY_FRAME" val="{&quot;height&quot;:424.7566929133858,&quot;left&quot;:280.8,&quot;top&quot;:92.65,&quot;width&quot;:580.9650393700788}"/>
</p:tagLst>
</file>

<file path=ppt/tags/tag903.xml><?xml version="1.0" encoding="utf-8"?>
<p:tagLst xmlns:p="http://schemas.openxmlformats.org/presentationml/2006/main">
  <p:tag name="THINKCELLSHAPEDONOTDELETE" val="pVual0DSYGkWUlApHRL8W8Q"/>
</p:tagLst>
</file>

<file path=ppt/tags/tag904.xml><?xml version="1.0" encoding="utf-8"?>
<p:tagLst xmlns:p="http://schemas.openxmlformats.org/presentationml/2006/main">
  <p:tag name="KSO_WM_DIAGRAM_VIRTUALLY_FRAME" val="{&quot;height&quot;:429.96102362204726,&quot;left&quot;:22.874881889763778,&quot;top&quot;:98.49976377952756,&quot;width&quot;:706.1825984251968}"/>
</p:tagLst>
</file>

<file path=ppt/tags/tag905.xml><?xml version="1.0" encoding="utf-8"?>
<p:tagLst xmlns:p="http://schemas.openxmlformats.org/presentationml/2006/main">
  <p:tag name="KSO_WM_DIAGRAM_VIRTUALLY_FRAME" val="{&quot;height&quot;:429.96102362204726,&quot;left&quot;:22.874881889763778,&quot;top&quot;:98.49976377952756,&quot;width&quot;:706.1825984251968}"/>
</p:tagLst>
</file>

<file path=ppt/tags/tag906.xml><?xml version="1.0" encoding="utf-8"?>
<p:tagLst xmlns:p="http://schemas.openxmlformats.org/presentationml/2006/main">
  <p:tag name="KSO_WM_BEAUTIFY_FLAG" val=""/>
</p:tagLst>
</file>

<file path=ppt/tags/tag907.xml><?xml version="1.0" encoding="utf-8"?>
<p:tagLst xmlns:p="http://schemas.openxmlformats.org/presentationml/2006/main">
  <p:tag name="KSO_WM_BEAUTIFY_FLAG" val=""/>
</p:tagLst>
</file>

<file path=ppt/tags/tag908.xml><?xml version="1.0" encoding="utf-8"?>
<p:tagLst xmlns:p="http://schemas.openxmlformats.org/presentationml/2006/main">
  <p:tag name="KSO_WM_BEAUTIFY_FLAG" val=""/>
</p:tagLst>
</file>

<file path=ppt/tags/tag909.xml><?xml version="1.0" encoding="utf-8"?>
<p:tagLst xmlns:p="http://schemas.openxmlformats.org/presentationml/2006/main">
  <p:tag name="KSO_WM_BEAUTIFY_FLAG" val=""/>
</p:tagLst>
</file>

<file path=ppt/tags/tag910.xml><?xml version="1.0" encoding="utf-8"?>
<p:tagLst xmlns:p="http://schemas.openxmlformats.org/presentationml/2006/main">
  <p:tag name="KSO_WM_BEAUTIFY_FLAG" val=""/>
</p:tagLst>
</file>

<file path=ppt/tags/tag911.xml><?xml version="1.0" encoding="utf-8"?>
<p:tagLst xmlns:p="http://schemas.openxmlformats.org/presentationml/2006/main">
  <p:tag name="KSO_WM_BEAUTIFY_FLAG" val=""/>
</p:tagLst>
</file>

<file path=ppt/tags/tag912.xml><?xml version="1.0" encoding="utf-8"?>
<p:tagLst xmlns:p="http://schemas.openxmlformats.org/presentationml/2006/main">
  <p:tag name="KSO_WM_BEAUTIFY_FLAG" val=""/>
</p:tagLst>
</file>

<file path=ppt/tags/tag913.xml><?xml version="1.0" encoding="utf-8"?>
<p:tagLst xmlns:p="http://schemas.openxmlformats.org/presentationml/2006/main">
  <p:tag name="KSO_WM_BEAUTIFY_FLAG" val=""/>
</p:tagLst>
</file>

<file path=ppt/tags/tag914.xml><?xml version="1.0" encoding="utf-8"?>
<p:tagLst xmlns:p="http://schemas.openxmlformats.org/presentationml/2006/main">
  <p:tag name="KSO_WM_BEAUTIFY_FLAG" val=""/>
</p:tagLst>
</file>

<file path=ppt/tags/tag915.xml><?xml version="1.0" encoding="utf-8"?>
<p:tagLst xmlns:p="http://schemas.openxmlformats.org/presentationml/2006/main">
  <p:tag name="KSO_WM_BEAUTIFY_FLAG" val=""/>
</p:tagLst>
</file>

<file path=ppt/tags/tag916.xml><?xml version="1.0" encoding="utf-8"?>
<p:tagLst xmlns:p="http://schemas.openxmlformats.org/presentationml/2006/main">
  <p:tag name="KSO_WM_BEAUTIFY_FLAG" val=""/>
</p:tagLst>
</file>

<file path=ppt/tags/tag917.xml><?xml version="1.0" encoding="utf-8"?>
<p:tagLst xmlns:p="http://schemas.openxmlformats.org/presentationml/2006/main">
  <p:tag name="KSO_WM_BEAUTIFY_FLAG" val=""/>
</p:tagLst>
</file>

<file path=ppt/tags/tag918.xml><?xml version="1.0" encoding="utf-8"?>
<p:tagLst xmlns:p="http://schemas.openxmlformats.org/presentationml/2006/main">
  <p:tag name="KSO_WM_BEAUTIFY_FLAG" val=""/>
</p:tagLst>
</file>

<file path=ppt/tags/tag919.xml><?xml version="1.0" encoding="utf-8"?>
<p:tagLst xmlns:p="http://schemas.openxmlformats.org/presentationml/2006/main">
  <p:tag name="KSO_WM_BEAUTIFY_FLAG" val=""/>
</p:tagLst>
</file>

<file path=ppt/tags/tag920.xml><?xml version="1.0" encoding="utf-8"?>
<p:tagLst xmlns:p="http://schemas.openxmlformats.org/presentationml/2006/main">
  <p:tag name="KSO_WM_BEAUTIFY_FLAG" val=""/>
</p:tagLst>
</file>

<file path=ppt/tags/tag921.xml><?xml version="1.0" encoding="utf-8"?>
<p:tagLst xmlns:p="http://schemas.openxmlformats.org/presentationml/2006/main">
  <p:tag name="KSO_WM_BEAUTIFY_FLAG" val=""/>
</p:tagLst>
</file>

<file path=ppt/tags/tag922.xml><?xml version="1.0" encoding="utf-8"?>
<p:tagLst xmlns:p="http://schemas.openxmlformats.org/presentationml/2006/main">
  <p:tag name="KSO_WM_BEAUTIFY_FLAG" val=""/>
</p:tagLst>
</file>

<file path=ppt/tags/tag923.xml><?xml version="1.0" encoding="utf-8"?>
<p:tagLst xmlns:p="http://schemas.openxmlformats.org/presentationml/2006/main">
  <p:tag name="KSO_WM_BEAUTIFY_FLAG" val=""/>
</p:tagLst>
</file>

<file path=ppt/tags/tag924.xml><?xml version="1.0" encoding="utf-8"?>
<p:tagLst xmlns:p="http://schemas.openxmlformats.org/presentationml/2006/main">
  <p:tag name="KSO_WM_BEAUTIFY_FLAG" val=""/>
</p:tagLst>
</file>

<file path=ppt/tags/tag925.xml><?xml version="1.0" encoding="utf-8"?>
<p:tagLst xmlns:p="http://schemas.openxmlformats.org/presentationml/2006/main">
  <p:tag name="KSO_WM_BEAUTIFY_FLAG" val=""/>
</p:tagLst>
</file>

<file path=ppt/tags/tag926.xml><?xml version="1.0" encoding="utf-8"?>
<p:tagLst xmlns:p="http://schemas.openxmlformats.org/presentationml/2006/main">
  <p:tag name="KSO_WM_BEAUTIFY_FLAG" val=""/>
</p:tagLst>
</file>

<file path=ppt/tags/tag927.xml><?xml version="1.0" encoding="utf-8"?>
<p:tagLst xmlns:p="http://schemas.openxmlformats.org/presentationml/2006/main">
  <p:tag name="KSO_WM_BEAUTIFY_FLAG" val=""/>
</p:tagLst>
</file>

<file path=ppt/tags/tag928.xml><?xml version="1.0" encoding="utf-8"?>
<p:tagLst xmlns:p="http://schemas.openxmlformats.org/presentationml/2006/main">
  <p:tag name="KSO_WM_BEAUTIFY_FLAG" val=""/>
</p:tagLst>
</file>

<file path=ppt/tags/tag929.xml><?xml version="1.0" encoding="utf-8"?>
<p:tagLst xmlns:p="http://schemas.openxmlformats.org/presentationml/2006/main">
  <p:tag name="KSO_WM_BEAUTIFY_FLAG" val=""/>
</p:tagLst>
</file>

<file path=ppt/tags/tag930.xml><?xml version="1.0" encoding="utf-8"?>
<p:tagLst xmlns:p="http://schemas.openxmlformats.org/presentationml/2006/main">
  <p:tag name="KSO_WM_BEAUTIFY_FLAG" val=""/>
</p:tagLst>
</file>

<file path=ppt/tags/tag931.xml><?xml version="1.0" encoding="utf-8"?>
<p:tagLst xmlns:p="http://schemas.openxmlformats.org/presentationml/2006/main">
  <p:tag name="KSO_WM_BEAUTIFY_FLAG" val=""/>
</p:tagLst>
</file>

<file path=ppt/tags/tag932.xml><?xml version="1.0" encoding="utf-8"?>
<p:tagLst xmlns:p="http://schemas.openxmlformats.org/presentationml/2006/main">
  <p:tag name="KSO_WM_BEAUTIFY_FLAG" val=""/>
</p:tagLst>
</file>

<file path=ppt/tags/tag933.xml><?xml version="1.0" encoding="utf-8"?>
<p:tagLst xmlns:p="http://schemas.openxmlformats.org/presentationml/2006/main">
  <p:tag name="KSO_WM_BEAUTIFY_FLAG" val=""/>
</p:tagLst>
</file>

<file path=ppt/tags/tag934.xml><?xml version="1.0" encoding="utf-8"?>
<p:tagLst xmlns:p="http://schemas.openxmlformats.org/presentationml/2006/main">
  <p:tag name="KSO_WM_BEAUTIFY_FLAG" val=""/>
</p:tagLst>
</file>

<file path=ppt/tags/tag935.xml><?xml version="1.0" encoding="utf-8"?>
<p:tagLst xmlns:p="http://schemas.openxmlformats.org/presentationml/2006/main">
  <p:tag name="KSO_WM_BEAUTIFY_FLAG" val=""/>
</p:tagLst>
</file>

<file path=ppt/tags/tag936.xml><?xml version="1.0" encoding="utf-8"?>
<p:tagLst xmlns:p="http://schemas.openxmlformats.org/presentationml/2006/main">
  <p:tag name="KSO_WM_DIAGRAM_VIRTUALLY_FRAME" val="{&quot;height&quot;:424.7566929133858,&quot;left&quot;:280.8,&quot;top&quot;:92.65,&quot;width&quot;:580.9650393700788}"/>
</p:tagLst>
</file>

<file path=ppt/tags/tag937.xml><?xml version="1.0" encoding="utf-8"?>
<p:tagLst xmlns:p="http://schemas.openxmlformats.org/presentationml/2006/main">
  <p:tag name="KSO_WM_DIAGRAM_VIRTUALLY_FRAME" val="{&quot;height&quot;:424.7566929133858,&quot;left&quot;:280.8,&quot;top&quot;:92.65,&quot;width&quot;:580.9650393700788}"/>
</p:tagLst>
</file>

<file path=ppt/tags/tag938.xml><?xml version="1.0" encoding="utf-8"?>
<p:tagLst xmlns:p="http://schemas.openxmlformats.org/presentationml/2006/main">
  <p:tag name="KSO_WM_DIAGRAM_VIRTUALLY_FRAME" val="{&quot;height&quot;:424.7566929133858,&quot;left&quot;:280.8,&quot;top&quot;:92.65,&quot;width&quot;:580.9650393700788}"/>
</p:tagLst>
</file>

<file path=ppt/tags/tag939.xml><?xml version="1.0" encoding="utf-8"?>
<p:tagLst xmlns:p="http://schemas.openxmlformats.org/presentationml/2006/main">
  <p:tag name="KSO_WM_DIAGRAM_VIRTUALLY_FRAME" val="{&quot;height&quot;:424.7566929133858,&quot;left&quot;:280.8,&quot;top&quot;:92.65,&quot;width&quot;:580.9650393700788}"/>
</p:tagLst>
</file>

<file path=ppt/tags/tag940.xml><?xml version="1.0" encoding="utf-8"?>
<p:tagLst xmlns:p="http://schemas.openxmlformats.org/presentationml/2006/main">
  <p:tag name="KSO_WM_DIAGRAM_VIRTUALLY_FRAME" val="{&quot;height&quot;:424.7566929133858,&quot;left&quot;:280.8,&quot;top&quot;:92.65,&quot;width&quot;:580.9650393700788}"/>
</p:tagLst>
</file>

<file path=ppt/tags/tag941.xml><?xml version="1.0" encoding="utf-8"?>
<p:tagLst xmlns:p="http://schemas.openxmlformats.org/presentationml/2006/main">
  <p:tag name="KSO_WM_DIAGRAM_VIRTUALLY_FRAME" val="{&quot;height&quot;:424.7566929133858,&quot;left&quot;:280.8,&quot;top&quot;:92.65,&quot;width&quot;:580.9650393700788}"/>
</p:tagLst>
</file>

<file path=ppt/tags/tag942.xml><?xml version="1.0" encoding="utf-8"?>
<p:tagLst xmlns:p="http://schemas.openxmlformats.org/presentationml/2006/main">
  <p:tag name="KSO_WM_DIAGRAM_VIRTUALLY_FRAME" val="{&quot;height&quot;:424.7566929133858,&quot;left&quot;:280.8,&quot;top&quot;:92.65,&quot;width&quot;:580.9650393700788}"/>
</p:tagLst>
</file>

<file path=ppt/tags/tag943.xml><?xml version="1.0" encoding="utf-8"?>
<p:tagLst xmlns:p="http://schemas.openxmlformats.org/presentationml/2006/main">
  <p:tag name="KSO_WM_DIAGRAM_VIRTUALLY_FRAME" val="{&quot;height&quot;:424.7566929133858,&quot;left&quot;:280.8,&quot;top&quot;:92.65,&quot;width&quot;:580.9650393700788}"/>
</p:tagLst>
</file>

<file path=ppt/tags/tag944.xml><?xml version="1.0" encoding="utf-8"?>
<p:tagLst xmlns:p="http://schemas.openxmlformats.org/presentationml/2006/main">
  <p:tag name="KSO_WM_DIAGRAM_VIRTUALLY_FRAME" val="{&quot;height&quot;:424.7566929133858,&quot;left&quot;:280.8,&quot;top&quot;:92.65,&quot;width&quot;:580.9650393700788}"/>
</p:tagLst>
</file>

<file path=ppt/tags/tag945.xml><?xml version="1.0" encoding="utf-8"?>
<p:tagLst xmlns:p="http://schemas.openxmlformats.org/presentationml/2006/main">
  <p:tag name="KSO_WM_DIAGRAM_VIRTUALLY_FRAME" val="{&quot;height&quot;:424.7566929133858,&quot;left&quot;:280.8,&quot;top&quot;:92.65,&quot;width&quot;:580.9650393700788}"/>
</p:tagLst>
</file>

<file path=ppt/tags/tag946.xml><?xml version="1.0" encoding="utf-8"?>
<p:tagLst xmlns:p="http://schemas.openxmlformats.org/presentationml/2006/main">
  <p:tag name="KSO_WM_DIAGRAM_VIRTUALLY_FRAME" val="{&quot;height&quot;:424.7566929133858,&quot;left&quot;:280.8,&quot;top&quot;:92.65,&quot;width&quot;:580.9650393700788}"/>
</p:tagLst>
</file>

<file path=ppt/tags/tag947.xml><?xml version="1.0" encoding="utf-8"?>
<p:tagLst xmlns:p="http://schemas.openxmlformats.org/presentationml/2006/main">
  <p:tag name="KSO_WM_DIAGRAM_VIRTUALLY_FRAME" val="{&quot;height&quot;:424.7566929133858,&quot;left&quot;:280.8,&quot;top&quot;:92.65,&quot;width&quot;:580.9650393700788}"/>
</p:tagLst>
</file>

<file path=ppt/tags/tag948.xml><?xml version="1.0" encoding="utf-8"?>
<p:tagLst xmlns:p="http://schemas.openxmlformats.org/presentationml/2006/main">
  <p:tag name="KSO_WM_DIAGRAM_VIRTUALLY_FRAME" val="{&quot;height&quot;:424.7566929133858,&quot;left&quot;:280.8,&quot;top&quot;:92.65,&quot;width&quot;:580.9650393700788}"/>
</p:tagLst>
</file>

<file path=ppt/tags/tag949.xml><?xml version="1.0" encoding="utf-8"?>
<p:tagLst xmlns:p="http://schemas.openxmlformats.org/presentationml/2006/main">
  <p:tag name="KSO_WM_DIAGRAM_VIRTUALLY_FRAME" val="{&quot;height&quot;:424.7566929133858,&quot;left&quot;:280.8,&quot;top&quot;:92.65,&quot;width&quot;:580.9650393700788}"/>
</p:tagLst>
</file>

<file path=ppt/tags/tag950.xml><?xml version="1.0" encoding="utf-8"?>
<p:tagLst xmlns:p="http://schemas.openxmlformats.org/presentationml/2006/main">
  <p:tag name="KSO_WM_DIAGRAM_VIRTUALLY_FRAME" val="{&quot;height&quot;:424.7566929133858,&quot;left&quot;:280.8,&quot;top&quot;:92.65,&quot;width&quot;:580.9650393700788}"/>
</p:tagLst>
</file>

<file path=ppt/tags/tag951.xml><?xml version="1.0" encoding="utf-8"?>
<p:tagLst xmlns:p="http://schemas.openxmlformats.org/presentationml/2006/main">
  <p:tag name="KSO_WM_DIAGRAM_VIRTUALLY_FRAME" val="{&quot;height&quot;:424.7566929133858,&quot;left&quot;:280.8,&quot;top&quot;:92.65,&quot;width&quot;:580.9650393700788}"/>
</p:tagLst>
</file>

<file path=ppt/tags/tag952.xml><?xml version="1.0" encoding="utf-8"?>
<p:tagLst xmlns:p="http://schemas.openxmlformats.org/presentationml/2006/main">
  <p:tag name="KSO_WM_DIAGRAM_VIRTUALLY_FRAME" val="{&quot;height&quot;:424.7566929133858,&quot;left&quot;:280.8,&quot;top&quot;:92.65,&quot;width&quot;:580.9650393700788}"/>
</p:tagLst>
</file>

<file path=ppt/tags/tag953.xml><?xml version="1.0" encoding="utf-8"?>
<p:tagLst xmlns:p="http://schemas.openxmlformats.org/presentationml/2006/main">
  <p:tag name="KSO_WM_DIAGRAM_VIRTUALLY_FRAME" val="{&quot;height&quot;:424.7566929133858,&quot;left&quot;:280.8,&quot;top&quot;:92.65,&quot;width&quot;:580.9650393700788}"/>
</p:tagLst>
</file>

<file path=ppt/tags/tag954.xml><?xml version="1.0" encoding="utf-8"?>
<p:tagLst xmlns:p="http://schemas.openxmlformats.org/presentationml/2006/main">
  <p:tag name="KSO_WM_DIAGRAM_VIRTUALLY_FRAME" val="{&quot;height&quot;:424.7566929133858,&quot;left&quot;:280.8,&quot;top&quot;:92.65,&quot;width&quot;:580.9650393700788}"/>
</p:tagLst>
</file>

<file path=ppt/tags/tag955.xml><?xml version="1.0" encoding="utf-8"?>
<p:tagLst xmlns:p="http://schemas.openxmlformats.org/presentationml/2006/main">
  <p:tag name="KSO_WM_DIAGRAM_VIRTUALLY_FRAME" val="{&quot;height&quot;:424.7566929133858,&quot;left&quot;:280.8,&quot;top&quot;:92.65,&quot;width&quot;:580.9650393700788}"/>
</p:tagLst>
</file>

<file path=ppt/tags/tag956.xml><?xml version="1.0" encoding="utf-8"?>
<p:tagLst xmlns:p="http://schemas.openxmlformats.org/presentationml/2006/main">
  <p:tag name="KSO_WM_BEAUTIFY_FLAG" val=""/>
</p:tagLst>
</file>

<file path=ppt/tags/tag957.xml><?xml version="1.0" encoding="utf-8"?>
<p:tagLst xmlns:p="http://schemas.openxmlformats.org/presentationml/2006/main">
  <p:tag name="KSO_WM_BEAUTIFY_FLAG" val=""/>
</p:tagLst>
</file>

<file path=ppt/tags/tag958.xml><?xml version="1.0" encoding="utf-8"?>
<p:tagLst xmlns:p="http://schemas.openxmlformats.org/presentationml/2006/main">
  <p:tag name="KSO_WM_BEAUTIFY_FLAG" val=""/>
</p:tagLst>
</file>

<file path=ppt/tags/tag959.xml><?xml version="1.0" encoding="utf-8"?>
<p:tagLst xmlns:p="http://schemas.openxmlformats.org/presentationml/2006/main">
  <p:tag name="KSO_WM_BEAUTIFY_FLAG" val=""/>
</p:tagLst>
</file>

<file path=ppt/tags/tag960.xml><?xml version="1.0" encoding="utf-8"?>
<p:tagLst xmlns:p="http://schemas.openxmlformats.org/presentationml/2006/main">
  <p:tag name="KSO_WM_BEAUTIFY_FLAG" val=""/>
</p:tagLst>
</file>

<file path=ppt/tags/tag961.xml><?xml version="1.0" encoding="utf-8"?>
<p:tagLst xmlns:p="http://schemas.openxmlformats.org/presentationml/2006/main">
  <p:tag name="KSO_WM_BEAUTIFY_FLAG" val=""/>
</p:tagLst>
</file>

<file path=ppt/tags/tag962.xml><?xml version="1.0" encoding="utf-8"?>
<p:tagLst xmlns:p="http://schemas.openxmlformats.org/presentationml/2006/main">
  <p:tag name="KSO_WM_BEAUTIFY_FLAG" val=""/>
</p:tagLst>
</file>

<file path=ppt/tags/tag963.xml><?xml version="1.0" encoding="utf-8"?>
<p:tagLst xmlns:p="http://schemas.openxmlformats.org/presentationml/2006/main">
  <p:tag name="KSO_WM_BEAUTIFY_FLAG" val=""/>
</p:tagLst>
</file>

<file path=ppt/tags/tag964.xml><?xml version="1.0" encoding="utf-8"?>
<p:tagLst xmlns:p="http://schemas.openxmlformats.org/presentationml/2006/main">
  <p:tag name="KSO_WM_BEAUTIFY_FLAG" val=""/>
</p:tagLst>
</file>

<file path=ppt/tags/tag965.xml><?xml version="1.0" encoding="utf-8"?>
<p:tagLst xmlns:p="http://schemas.openxmlformats.org/presentationml/2006/main">
  <p:tag name="KSO_WM_BEAUTIFY_FLAG" val=""/>
</p:tagLst>
</file>

<file path=ppt/tags/tag966.xml><?xml version="1.0" encoding="utf-8"?>
<p:tagLst xmlns:p="http://schemas.openxmlformats.org/presentationml/2006/main">
  <p:tag name="KSO_WM_BEAUTIFY_FLAG" val=""/>
</p:tagLst>
</file>

<file path=ppt/tags/tag967.xml><?xml version="1.0" encoding="utf-8"?>
<p:tagLst xmlns:p="http://schemas.openxmlformats.org/presentationml/2006/main">
  <p:tag name="KSO_WM_BEAUTIFY_FLAG" val=""/>
</p:tagLst>
</file>

<file path=ppt/tags/tag968.xml><?xml version="1.0" encoding="utf-8"?>
<p:tagLst xmlns:p="http://schemas.openxmlformats.org/presentationml/2006/main">
  <p:tag name="KSO_WM_BEAUTIFY_FLAG" val=""/>
</p:tagLst>
</file>

<file path=ppt/tags/tag969.xml><?xml version="1.0" encoding="utf-8"?>
<p:tagLst xmlns:p="http://schemas.openxmlformats.org/presentationml/2006/main">
  <p:tag name="KSO_WM_BEAUTIFY_FLAG" val=""/>
</p:tagLst>
</file>

<file path=ppt/tags/tag970.xml><?xml version="1.0" encoding="utf-8"?>
<p:tagLst xmlns:p="http://schemas.openxmlformats.org/presentationml/2006/main">
  <p:tag name="KSO_WM_BEAUTIFY_FLAG" val=""/>
</p:tagLst>
</file>

<file path=ppt/tags/tag971.xml><?xml version="1.0" encoding="utf-8"?>
<p:tagLst xmlns:p="http://schemas.openxmlformats.org/presentationml/2006/main">
  <p:tag name="KSO_WM_BEAUTIFY_FLAG" val=""/>
</p:tagLst>
</file>

<file path=ppt/tags/tag972.xml><?xml version="1.0" encoding="utf-8"?>
<p:tagLst xmlns:p="http://schemas.openxmlformats.org/presentationml/2006/main">
  <p:tag name="KSO_WM_BEAUTIFY_FLAG" val=""/>
</p:tagLst>
</file>

<file path=ppt/tags/tag973.xml><?xml version="1.0" encoding="utf-8"?>
<p:tagLst xmlns:p="http://schemas.openxmlformats.org/presentationml/2006/main">
  <p:tag name="KSO_WM_BEAUTIFY_FLAG" val=""/>
</p:tagLst>
</file>

<file path=ppt/tags/tag974.xml><?xml version="1.0" encoding="utf-8"?>
<p:tagLst xmlns:p="http://schemas.openxmlformats.org/presentationml/2006/main">
  <p:tag name="KSO_WM_BEAUTIFY_FLAG" val=""/>
</p:tagLst>
</file>

<file path=ppt/tags/tag975.xml><?xml version="1.0" encoding="utf-8"?>
<p:tagLst xmlns:p="http://schemas.openxmlformats.org/presentationml/2006/main">
  <p:tag name="KSO_WM_DIAGRAM_VIRTUALLY_FRAME" val="{&quot;height&quot;:424.7566929133858,&quot;left&quot;:280.8,&quot;top&quot;:92.65,&quot;width&quot;:580.9650393700788}"/>
</p:tagLst>
</file>

<file path=ppt/tags/tag976.xml><?xml version="1.0" encoding="utf-8"?>
<p:tagLst xmlns:p="http://schemas.openxmlformats.org/presentationml/2006/main">
  <p:tag name="KSO_WM_DIAGRAM_VIRTUALLY_FRAME" val="{&quot;height&quot;:424.7566929133858,&quot;left&quot;:280.8,&quot;top&quot;:92.65,&quot;width&quot;:580.9650393700788}"/>
</p:tagLst>
</file>

<file path=ppt/tags/tag977.xml><?xml version="1.0" encoding="utf-8"?>
<p:tagLst xmlns:p="http://schemas.openxmlformats.org/presentationml/2006/main">
  <p:tag name="KSO_WM_DIAGRAM_VIRTUALLY_FRAME" val="{&quot;height&quot;:424.7566929133858,&quot;left&quot;:280.8,&quot;top&quot;:92.65,&quot;width&quot;:580.9650393700788}"/>
</p:tagLst>
</file>

<file path=ppt/tags/tag978.xml><?xml version="1.0" encoding="utf-8"?>
<p:tagLst xmlns:p="http://schemas.openxmlformats.org/presentationml/2006/main">
  <p:tag name="KSO_WM_DIAGRAM_VIRTUALLY_FRAME" val="{&quot;height&quot;:424.7566929133858,&quot;left&quot;:280.8,&quot;top&quot;:92.65,&quot;width&quot;:580.9650393700788}"/>
</p:tagLst>
</file>

<file path=ppt/tags/tag979.xml><?xml version="1.0" encoding="utf-8"?>
<p:tagLst xmlns:p="http://schemas.openxmlformats.org/presentationml/2006/main">
  <p:tag name="KSO_WM_DIAGRAM_VIRTUALLY_FRAME" val="{&quot;height&quot;:424.7566929133858,&quot;left&quot;:280.8,&quot;top&quot;:92.65,&quot;width&quot;:580.9650393700788}"/>
</p:tagLst>
</file>

<file path=ppt/tags/tag980.xml><?xml version="1.0" encoding="utf-8"?>
<p:tagLst xmlns:p="http://schemas.openxmlformats.org/presentationml/2006/main">
  <p:tag name="KSO_WM_DIAGRAM_VIRTUALLY_FRAME" val="{&quot;height&quot;:424.7566929133858,&quot;left&quot;:280.8,&quot;top&quot;:92.65,&quot;width&quot;:580.9650393700788}"/>
</p:tagLst>
</file>

<file path=ppt/tags/tag981.xml><?xml version="1.0" encoding="utf-8"?>
<p:tagLst xmlns:p="http://schemas.openxmlformats.org/presentationml/2006/main">
  <p:tag name="KSO_WM_DIAGRAM_VIRTUALLY_FRAME" val="{&quot;height&quot;:424.7566929133858,&quot;left&quot;:280.8,&quot;top&quot;:92.65,&quot;width&quot;:580.9650393700788}"/>
</p:tagLst>
</file>

<file path=ppt/tags/tag982.xml><?xml version="1.0" encoding="utf-8"?>
<p:tagLst xmlns:p="http://schemas.openxmlformats.org/presentationml/2006/main">
  <p:tag name="KSO_WM_DIAGRAM_VIRTUALLY_FRAME" val="{&quot;height&quot;:424.7566929133858,&quot;left&quot;:280.8,&quot;top&quot;:92.65,&quot;width&quot;:580.9650393700788}"/>
</p:tagLst>
</file>

<file path=ppt/tags/tag983.xml><?xml version="1.0" encoding="utf-8"?>
<p:tagLst xmlns:p="http://schemas.openxmlformats.org/presentationml/2006/main">
  <p:tag name="KSO_WM_DIAGRAM_VIRTUALLY_FRAME" val="{&quot;height&quot;:424.7566929133858,&quot;left&quot;:280.8,&quot;top&quot;:92.65,&quot;width&quot;:580.9650393700788}"/>
</p:tagLst>
</file>

<file path=ppt/tags/tag984.xml><?xml version="1.0" encoding="utf-8"?>
<p:tagLst xmlns:p="http://schemas.openxmlformats.org/presentationml/2006/main">
  <p:tag name="KSO_WM_DIAGRAM_VIRTUALLY_FRAME" val="{&quot;height&quot;:424.7566929133858,&quot;left&quot;:280.8,&quot;top&quot;:92.65,&quot;width&quot;:580.9650393700788}"/>
</p:tagLst>
</file>

<file path=ppt/tags/tag985.xml><?xml version="1.0" encoding="utf-8"?>
<p:tagLst xmlns:p="http://schemas.openxmlformats.org/presentationml/2006/main">
  <p:tag name="KSO_WM_DIAGRAM_VIRTUALLY_FRAME" val="{&quot;height&quot;:424.7566929133858,&quot;left&quot;:280.8,&quot;top&quot;:92.65,&quot;width&quot;:580.9650393700788}"/>
</p:tagLst>
</file>

<file path=ppt/tags/tag986.xml><?xml version="1.0" encoding="utf-8"?>
<p:tagLst xmlns:p="http://schemas.openxmlformats.org/presentationml/2006/main">
  <p:tag name="KSO_WM_DIAGRAM_VIRTUALLY_FRAME" val="{&quot;height&quot;:424.7566929133858,&quot;left&quot;:280.8,&quot;top&quot;:92.65,&quot;width&quot;:580.9650393700788}"/>
</p:tagLst>
</file>

<file path=ppt/tags/tag987.xml><?xml version="1.0" encoding="utf-8"?>
<p:tagLst xmlns:p="http://schemas.openxmlformats.org/presentationml/2006/main">
  <p:tag name="COMMONDATA" val="eyJoZGlkIjoiNWM1NjUyYTU3YzAzNWJlNjczNjM1NDdlYWVlNTBhZGIifQ=="/>
  <p:tag name="FULLTEXTBEAUTIFYED" val="1"/>
</p:tagLst>
</file>

<file path=ppt/theme/theme1.xml><?xml version="1.0" encoding="utf-8"?>
<a:theme xmlns:a="http://schemas.openxmlformats.org/drawingml/2006/main" name="Office 主题">
  <a:themeElements>
    <a:clrScheme name="">
      <a:dk1>
        <a:srgbClr val="000000"/>
      </a:dk1>
      <a:lt1>
        <a:srgbClr val="FFFFFF"/>
      </a:lt1>
      <a:dk2>
        <a:srgbClr val="44546A"/>
      </a:dk2>
      <a:lt2>
        <a:srgbClr val="FFFFFF"/>
      </a:lt2>
      <a:accent1>
        <a:srgbClr val="0C7F8A"/>
      </a:accent1>
      <a:accent2>
        <a:srgbClr val="EE9C22"/>
      </a:accent2>
      <a:accent3>
        <a:srgbClr val="1E929D"/>
      </a:accent3>
      <a:accent4>
        <a:srgbClr val="11AFBB"/>
      </a:accent4>
      <a:accent5>
        <a:srgbClr val="3DC5D2"/>
      </a:accent5>
      <a:accent6>
        <a:srgbClr val="EAF1F2"/>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30035</Words>
  <Application>WPS Office WWO_feishu_20241028185521-3ecd29d096</Application>
  <PresentationFormat>宽屏</PresentationFormat>
  <Paragraphs>5539</Paragraphs>
  <Slides>85</Slides>
  <Notes>25</Notes>
  <HiddenSlides>0</HiddenSlides>
  <MMClips>0</MMClips>
  <ScaleCrop>false</ScaleCrop>
  <HeadingPairs>
    <vt:vector size="8" baseType="variant">
      <vt:variant>
        <vt:lpstr>已用的字体</vt:lpstr>
      </vt:variant>
      <vt:variant>
        <vt:i4>39</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128" baseType="lpstr">
      <vt:lpstr>Arial</vt:lpstr>
      <vt:lpstr>宋体</vt:lpstr>
      <vt:lpstr>Wingdings</vt:lpstr>
      <vt:lpstr>微软雅黑</vt:lpstr>
      <vt:lpstr>汉仪旗黑KW 55S</vt:lpstr>
      <vt:lpstr>Calibri</vt:lpstr>
      <vt:lpstr>Alibaba PuHuiTi Bold</vt:lpstr>
      <vt:lpstr>汉仪书宋二KW</vt:lpstr>
      <vt:lpstr>Alibaba PuHuiTi H</vt:lpstr>
      <vt:lpstr>Alibaba PuHuiTi R</vt:lpstr>
      <vt:lpstr>阿里巴巴普惠体 R</vt:lpstr>
      <vt:lpstr>华文楷体</vt:lpstr>
      <vt:lpstr>楷体</vt:lpstr>
      <vt:lpstr>汉仪楷体KW</vt:lpstr>
      <vt:lpstr>Arial</vt:lpstr>
      <vt:lpstr>Helvetica Neue Medium</vt:lpstr>
      <vt:lpstr>FZLanTingHeiS-EB-GB</vt:lpstr>
      <vt:lpstr>Wingdings</vt:lpstr>
      <vt:lpstr>Alibaba PuHuiTi 2.0 55</vt:lpstr>
      <vt:lpstr>LF_Kai</vt:lpstr>
      <vt:lpstr>Times</vt:lpstr>
      <vt:lpstr>微软雅黑 Light</vt:lpstr>
      <vt:lpstr>Arial Unicode MS</vt:lpstr>
      <vt:lpstr>等线</vt:lpstr>
      <vt:lpstr>Inter</vt:lpstr>
      <vt:lpstr>华文仿宋</vt:lpstr>
      <vt:lpstr>Helvetica</vt:lpstr>
      <vt:lpstr>微软雅黑</vt:lpstr>
      <vt:lpstr>Helvetica Neue</vt:lpstr>
      <vt:lpstr>Marlett</vt:lpstr>
      <vt:lpstr>Calibri</vt:lpstr>
      <vt:lpstr>Arial Unicode MS</vt:lpstr>
      <vt:lpstr>Times New Roman</vt:lpstr>
      <vt:lpstr>MingLiU-ExtB</vt:lpstr>
      <vt:lpstr>MingLiU_HKSCS</vt:lpstr>
      <vt:lpstr>汉仪中等线KW</vt:lpstr>
      <vt:lpstr>汉仪仿宋KW</vt:lpstr>
      <vt:lpstr>Poppins ExtraLight</vt:lpstr>
      <vt:lpstr>Helvetica</vt:lpstr>
      <vt:lpstr>Office 主题</vt:lpstr>
      <vt:lpstr>TCLayout.ActiveDocument.1</vt:lpstr>
      <vt:lpstr>TCLayout.ActiveDocument.1</vt:lpstr>
      <vt:lpstr>TCLayout.ActiveDocument.1</vt:lpstr>
      <vt:lpstr>洲明科技-数据中台蓝图规划</vt:lpstr>
      <vt:lpstr>目录</vt:lpstr>
      <vt:lpstr>项目目标</vt:lpstr>
      <vt:lpstr>项目总体计划及进展</vt:lpstr>
      <vt:lpstr>需求调研工作汇总</vt:lpstr>
      <vt:lpstr>目录</vt:lpstr>
      <vt:lpstr>一体化的数据应用平台，赋能管理升级</vt:lpstr>
      <vt:lpstr>目录</vt:lpstr>
      <vt:lpstr>数据层面：根据企业数字化不同发展阶段拥有的数据资产，推动匹配的数据处理能力建设，实现数据价值的驱动</vt:lpstr>
      <vt:lpstr>指标分析现状</vt:lpstr>
      <vt:lpstr>指标分析需求</vt:lpstr>
      <vt:lpstr>目录</vt:lpstr>
      <vt:lpstr>洲明科技指标分析框架</vt:lpstr>
      <vt:lpstr>A-1/B-1：经营六要素-机会分析示例-指标穿透思路</vt:lpstr>
      <vt:lpstr>A-2：经营六要素-收入分析示例-指标穿透思路</vt:lpstr>
      <vt:lpstr>A-3：经营六要素-‘投入-主营成本’分析示例-指标穿透思路</vt:lpstr>
      <vt:lpstr>A-3：经营六要素-‘投入-经营费用’分析示例-指标打开思路</vt:lpstr>
      <vt:lpstr>A-3：经营六要素-‘投入-战略投入’分析示例-指标打开思路</vt:lpstr>
      <vt:lpstr>A-4：经营六要素-‘回报’分析示例-指标打开思路</vt:lpstr>
      <vt:lpstr>A-5：经营六要素-‘效率-应收’分析示例-指标穿透思路</vt:lpstr>
      <vt:lpstr>A-5：经营六要素-‘效率-库存’分析示例-指标穿透思路</vt:lpstr>
      <vt:lpstr>A-5：经营六要素-‘效率-人效’分析示例-指标穿透思路</vt:lpstr>
      <vt:lpstr>A-6：经营六要素-‘风险’分析示例-指标穿透思路</vt:lpstr>
      <vt:lpstr>B-2：经营六要素-收入分析示例-产品线视角-强化产品生命周期管理视角</vt:lpstr>
      <vt:lpstr>C-2：经营六要素-收入分析示例-销服视角-强化营销六要素视角</vt:lpstr>
      <vt:lpstr>目录</vt:lpstr>
      <vt:lpstr>销服主题分析框架：基于LTC</vt:lpstr>
      <vt:lpstr>营销六要素-国内</vt:lpstr>
      <vt:lpstr>A、销服体系经营分析-国内-待讨论</vt:lpstr>
      <vt:lpstr>1、市场拓展MTL</vt:lpstr>
      <vt:lpstr>市场规划分析专题</vt:lpstr>
      <vt:lpstr>竞争对手画像专题</vt:lpstr>
      <vt:lpstr>2、销售赢单LTO</vt:lpstr>
      <vt:lpstr>3、销售执行-履约收款（项目订单场景）</vt:lpstr>
      <vt:lpstr>3、销售执行-履约收款（B2B场景）</vt:lpstr>
      <vt:lpstr>4、服务满意ITR</vt:lpstr>
      <vt:lpstr>5、大客户持续经营MCR</vt:lpstr>
      <vt:lpstr>5、大客户画像指标体系（存量客户）</vt:lpstr>
      <vt:lpstr>5、大客户画像指标体系（潜在客户）</vt:lpstr>
      <vt:lpstr>5、渠道管理指标设计</vt:lpstr>
      <vt:lpstr>同步进行指标清单的整理：包括指标的计算逻辑、分析维度、初步数据探源，需要各部门一起讨论</vt:lpstr>
      <vt:lpstr>目录</vt:lpstr>
      <vt:lpstr>销服主题分析框架：基于LTC</vt:lpstr>
      <vt:lpstr>营销六要素-国际</vt:lpstr>
      <vt:lpstr>A、销服体系经营分析-国际-待讨论</vt:lpstr>
      <vt:lpstr>1、市场拓展MTL</vt:lpstr>
      <vt:lpstr>市场规划分析专题</vt:lpstr>
      <vt:lpstr>竞争对手画像专题</vt:lpstr>
      <vt:lpstr>2、销售赢单LTO</vt:lpstr>
      <vt:lpstr>3、销售执行-履约收款OTC</vt:lpstr>
      <vt:lpstr>4、服务满意ITR</vt:lpstr>
      <vt:lpstr>5、大客户持续经营MCR</vt:lpstr>
      <vt:lpstr>5、大客户画像指标体系</vt:lpstr>
      <vt:lpstr>5、渠道管理指标设计</vt:lpstr>
      <vt:lpstr>目录</vt:lpstr>
      <vt:lpstr>待补充</vt:lpstr>
      <vt:lpstr>目录</vt:lpstr>
      <vt:lpstr>产品基准价测算现状及主要诉求</vt:lpstr>
      <vt:lpstr>产品基准价测算目标：守住成本底线，支撑产品定价和报价</vt:lpstr>
      <vt:lpstr>目录</vt:lpstr>
      <vt:lpstr>产品基准价测算方案</vt:lpstr>
      <vt:lpstr>目录</vt:lpstr>
      <vt:lpstr>产品基准价测算详细方案：自动生成报价BOM</vt:lpstr>
      <vt:lpstr>产品基准价测算详细方案：自动生成报价BOM</vt:lpstr>
      <vt:lpstr>产品基准价测算详细方案：产品材料成本&amp;制费生成</vt:lpstr>
      <vt:lpstr>制费率生成当前痛点问题</vt:lpstr>
      <vt:lpstr>制费率生成建议解决方案</vt:lpstr>
      <vt:lpstr>产品基准价测算详细方案：产品基准价生成</vt:lpstr>
      <vt:lpstr>以多维盈利能力分析为核心，构建成本因素分析体系</vt:lpstr>
      <vt:lpstr>目录</vt:lpstr>
      <vt:lpstr> </vt:lpstr>
      <vt:lpstr>HR主数据管理需求分析</vt:lpstr>
      <vt:lpstr>目录</vt:lpstr>
      <vt:lpstr>数据治理整体方案</vt:lpstr>
      <vt:lpstr>目录</vt:lpstr>
      <vt:lpstr>数据治理体系建设</vt:lpstr>
      <vt:lpstr>主数据管理组织架构</vt:lpstr>
      <vt:lpstr>主数据管理体系-制度</vt:lpstr>
      <vt:lpstr>主数据管理体系-标准</vt:lpstr>
      <vt:lpstr>主数据管理体系-流程</vt:lpstr>
      <vt:lpstr>目录</vt:lpstr>
      <vt:lpstr>HR主数据应用</vt:lpstr>
      <vt:lpstr>整体业务流程</vt:lpstr>
      <vt:lpstr>目录</vt:lpstr>
      <vt:lpstr>项目下一步计划</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洲明科技-数据中台蓝图规划</dc:title>
  <dc:creator>MengPin</dc:creator>
  <cp:lastModifiedBy>Kevin</cp:lastModifiedBy>
  <dcterms:created xsi:type="dcterms:W3CDTF">2025-10-20T09:09:43Z</dcterms:created>
  <dcterms:modified xsi:type="dcterms:W3CDTF">2025-10-20T09:09:43Z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6FAEB04CFCC144DB98450D2C0B35F946_13</vt:lpwstr>
  </property>
  <property fmtid="{D5CDD505-2E9C-101B-9397-08002B2CF9AE}" pid="3" name="KSOProductBuildVer">
    <vt:lpwstr>2052-0.0.0.0</vt:lpwstr>
  </property>
</Properties>
</file>